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FFD966"/>
              </a:solidFill>
              <a:ln w="9525">
                <a:solidFill>
                  <a:srgbClr val="111827"/>
                </a:solidFill>
              </a:ln>
            </c:spPr>
          </c:dPt>
          <c:dPt>
            <c:idx val="2"/>
            <c:spPr>
              <a:solidFill>
                <a:srgbClr val="B6D7A8"/>
              </a:solidFill>
              <a:ln w="9525">
                <a:solidFill>
                  <a:srgbClr val="111827"/>
                </a:solidFill>
              </a:ln>
            </c:spPr>
          </c:dPt>
          <c:dPt>
            <c:idx val="3"/>
            <c:spPr>
              <a:solidFill>
                <a:srgbClr val="FFD966"/>
              </a:solidFill>
              <a:ln w="9525">
                <a:solidFill>
                  <a:srgbClr val="111827"/>
                </a:solidFill>
              </a:ln>
            </c:spPr>
          </c:dPt>
          <c:dPt>
            <c:idx val="4"/>
            <c:spPr>
              <a:solidFill>
                <a:srgbClr val="B6D7A8"/>
              </a:solidFill>
              <a:ln w="9525">
                <a:solidFill>
                  <a:srgbClr val="111827"/>
                </a:solidFill>
              </a:ln>
            </c:spPr>
          </c:dPt>
          <c:dPt>
            <c:idx val="5"/>
            <c:spPr>
              <a:solidFill>
                <a:srgbClr val="B6D7A8"/>
              </a:solidFill>
              <a:ln w="9525">
                <a:solidFill>
                  <a:srgbClr val="111827"/>
                </a:solidFill>
              </a:ln>
            </c:spPr>
          </c:dPt>
          <c:dPt>
            <c:idx val="6"/>
            <c:spPr>
              <a:solidFill>
                <a:srgbClr val="F6B26B"/>
              </a:solidFill>
              <a:ln w="9525">
                <a:solidFill>
                  <a:srgbClr val="111827"/>
                </a:solidFill>
              </a:ln>
            </c:spPr>
          </c:dPt>
          <c:dPt>
            <c:idx val="7"/>
            <c:spPr>
              <a:solidFill>
                <a:srgbClr val="F6B26B"/>
              </a:solidFill>
              <a:ln w="9525">
                <a:solidFill>
                  <a:srgbClr val="111827"/>
                </a:solidFill>
              </a:ln>
            </c:spPr>
          </c:dPt>
          <c:dPt>
            <c:idx val="8"/>
            <c:spPr>
              <a:solidFill>
                <a:srgbClr val="FFD966"/>
              </a:solidFill>
              <a:ln w="9525">
                <a:solidFill>
                  <a:srgbClr val="111827"/>
                </a:solidFill>
              </a:ln>
            </c:spPr>
          </c:dPt>
          <c:dPt>
            <c:idx val="9"/>
            <c:spPr>
              <a:solidFill>
                <a:srgbClr val="B6D7A8"/>
              </a:solidFill>
              <a:ln w="9525">
                <a:solidFill>
                  <a:srgbClr val="111827"/>
                </a:solidFill>
              </a:ln>
            </c:spPr>
          </c:dPt>
          <c:dPt>
            <c:idx val="10"/>
            <c:spPr>
              <a:solidFill>
                <a:srgbClr val="FFD966"/>
              </a:solidFill>
              <a:ln w="9525">
                <a:solidFill>
                  <a:srgbClr val="111827"/>
                </a:solidFill>
              </a:ln>
            </c:spPr>
          </c:dPt>
          <c:dPt>
            <c:idx val="11"/>
            <c:spPr>
              <a:solidFill>
                <a:srgbClr val="FFD966"/>
              </a:solidFill>
              <a:ln w="9525">
                <a:solidFill>
                  <a:srgbClr val="111827"/>
                </a:solidFill>
              </a:ln>
            </c:spPr>
          </c:dPt>
          <c:dPt>
            <c:idx val="12"/>
            <c:spPr>
              <a:solidFill>
                <a:srgbClr val="B6D7A8"/>
              </a:solidFill>
              <a:ln w="9525">
                <a:solidFill>
                  <a:srgbClr val="111827"/>
                </a:solidFill>
              </a:ln>
            </c:spPr>
          </c:dPt>
          <c:dPt>
            <c:idx val="13"/>
            <c:spPr>
              <a:solidFill>
                <a:srgbClr val="B6D7A8"/>
              </a:solidFill>
              <a:ln w="9525">
                <a:solidFill>
                  <a:srgbClr val="111827"/>
                </a:solidFill>
              </a:ln>
            </c:spPr>
          </c:dPt>
          <c:dPt>
            <c:idx val="14"/>
            <c:spPr>
              <a:solidFill>
                <a:srgbClr val="FFD966"/>
              </a:solidFill>
              <a:ln w="9525">
                <a:solidFill>
                  <a:srgbClr val="111827"/>
                </a:solidFill>
              </a:ln>
            </c:spPr>
          </c:dPt>
          <c:dPt>
            <c:idx val="15"/>
            <c:spPr>
              <a:solidFill>
                <a:srgbClr val="F6B26B"/>
              </a:solidFill>
              <a:ln w="9525">
                <a:solidFill>
                  <a:srgbClr val="111827"/>
                </a:solidFill>
              </a:ln>
            </c:spPr>
          </c:dPt>
          <c:dPt>
            <c:idx val="16"/>
            <c:spPr>
              <a:solidFill>
                <a:srgbClr val="F6B26B"/>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dPt>
            <c:idx val="20"/>
            <c:spPr>
              <a:solidFill>
                <a:srgbClr val="F6B26B"/>
              </a:solidFill>
              <a:ln w="9525">
                <a:solidFill>
                  <a:srgbClr val="111827"/>
                </a:solidFill>
              </a:ln>
            </c:spPr>
          </c:dPt>
          <c:dPt>
            <c:idx val="21"/>
            <c:spPr>
              <a:solidFill>
                <a:srgbClr val="FFD966"/>
              </a:solidFill>
              <a:ln w="9525">
                <a:solidFill>
                  <a:srgbClr val="111827"/>
                </a:solidFill>
              </a:ln>
            </c:spPr>
          </c:dPt>
          <c:dPt>
            <c:idx val="22"/>
            <c:spPr>
              <a:solidFill>
                <a:srgbClr val="B6D7A8"/>
              </a:solidFill>
              <a:ln w="9525">
                <a:solidFill>
                  <a:srgbClr val="111827"/>
                </a:solidFill>
              </a:ln>
            </c:spPr>
          </c:dPt>
          <c:dPt>
            <c:idx val="23"/>
            <c:spPr>
              <a:solidFill>
                <a:srgbClr val="B6D7A8"/>
              </a:solidFill>
              <a:ln w="9525">
                <a:solidFill>
                  <a:srgbClr val="111827"/>
                </a:solidFill>
              </a:ln>
            </c:spPr>
          </c:dPt>
          <c:dPt>
            <c:idx val="24"/>
            <c:spPr>
              <a:solidFill>
                <a:srgbClr val="FFD966"/>
              </a:solidFill>
              <a:ln w="9525">
                <a:solidFill>
                  <a:srgbClr val="111827"/>
                </a:solidFill>
              </a:ln>
            </c:spPr>
          </c:dPt>
          <c:dPt>
            <c:idx val="25"/>
            <c:spPr>
              <a:solidFill>
                <a:srgbClr val="FFD966"/>
              </a:solidFill>
              <a:ln w="9525">
                <a:solidFill>
                  <a:srgbClr val="111827"/>
                </a:solidFill>
              </a:ln>
            </c:spPr>
          </c:dPt>
          <c:dPt>
            <c:idx val="26"/>
            <c:spPr>
              <a:solidFill>
                <a:srgbClr val="FFD966"/>
              </a:solidFill>
              <a:ln w="9525">
                <a:solidFill>
                  <a:srgbClr val="111827"/>
                </a:solidFill>
              </a:ln>
            </c:spPr>
          </c:dPt>
          <c:dPt>
            <c:idx val="27"/>
            <c:spPr>
              <a:solidFill>
                <a:srgbClr val="FFD966"/>
              </a:solidFill>
              <a:ln w="9525">
                <a:solidFill>
                  <a:srgbClr val="111827"/>
                </a:solidFill>
              </a:ln>
            </c:spPr>
          </c:dPt>
          <c:dPt>
            <c:idx val="28"/>
            <c:spPr>
              <a:solidFill>
                <a:srgbClr val="F6B26B"/>
              </a:solidFill>
              <a:ln w="9525">
                <a:solidFill>
                  <a:srgbClr val="111827"/>
                </a:solidFill>
              </a:ln>
            </c:spPr>
          </c:dPt>
          <c:dPt>
            <c:idx val="29"/>
            <c:spPr>
              <a:solidFill>
                <a:srgbClr val="FFD966"/>
              </a:solidFill>
              <a:ln w="9525">
                <a:solidFill>
                  <a:srgbClr val="111827"/>
                </a:solidFill>
              </a:ln>
            </c:spPr>
          </c:dPt>
          <c:dPt>
            <c:idx val="30"/>
            <c:spPr>
              <a:solidFill>
                <a:srgbClr val="F6B26B"/>
              </a:solidFill>
              <a:ln w="9525">
                <a:solidFill>
                  <a:srgbClr val="111827"/>
                </a:solidFill>
              </a:ln>
            </c:spPr>
          </c:dPt>
          <c:dPt>
            <c:idx val="31"/>
            <c:spPr>
              <a:solidFill>
                <a:srgbClr val="F6B26B"/>
              </a:solidFill>
              <a:ln w="9525">
                <a:solidFill>
                  <a:srgbClr val="111827"/>
                </a:solidFill>
              </a:ln>
            </c:spPr>
          </c:dPt>
          <c:dPt>
            <c:idx val="32"/>
            <c:spPr>
              <a:solidFill>
                <a:srgbClr val="F6B26B"/>
              </a:solidFill>
              <a:ln w="9525">
                <a:solidFill>
                  <a:srgbClr val="111827"/>
                </a:solidFill>
              </a:ln>
            </c:spPr>
          </c:dPt>
          <c:dPt>
            <c:idx val="33"/>
            <c:spPr>
              <a:solidFill>
                <a:srgbClr val="FFD966"/>
              </a:solidFill>
              <a:ln w="9525">
                <a:solidFill>
                  <a:srgbClr val="111827"/>
                </a:solidFill>
              </a:ln>
            </c:spPr>
          </c:dPt>
          <c:dPt>
            <c:idx val="34"/>
            <c:spPr>
              <a:solidFill>
                <a:srgbClr val="FFD966"/>
              </a:solidFill>
              <a:ln w="9525">
                <a:solidFill>
                  <a:srgbClr val="111827"/>
                </a:solidFill>
              </a:ln>
            </c:spPr>
          </c:dPt>
          <c:dPt>
            <c:idx val="35"/>
            <c:spPr>
              <a:solidFill>
                <a:srgbClr val="FFD966"/>
              </a:solidFill>
              <a:ln w="9525">
                <a:solidFill>
                  <a:srgbClr val="111827"/>
                </a:solidFill>
              </a:ln>
            </c:spPr>
          </c:dPt>
          <c:dPt>
            <c:idx val="36"/>
            <c:spPr>
              <a:solidFill>
                <a:srgbClr val="B6D7A8"/>
              </a:solidFill>
              <a:ln w="9525">
                <a:solidFill>
                  <a:srgbClr val="111827"/>
                </a:solidFill>
              </a:ln>
            </c:spPr>
          </c:dPt>
          <c:dPt>
            <c:idx val="37"/>
            <c:spPr>
              <a:solidFill>
                <a:srgbClr val="FFD966"/>
              </a:solidFill>
              <a:ln w="9525">
                <a:solidFill>
                  <a:srgbClr val="111827"/>
                </a:solidFill>
              </a:ln>
            </c:spPr>
          </c:dPt>
          <c:dPt>
            <c:idx val="38"/>
            <c:spPr>
              <a:solidFill>
                <a:srgbClr val="FFD966"/>
              </a:solidFill>
              <a:ln w="9525">
                <a:solidFill>
                  <a:srgbClr val="111827"/>
                </a:solidFill>
              </a:ln>
            </c:spPr>
          </c:dPt>
          <c:dPt>
            <c:idx val="39"/>
            <c:spPr>
              <a:solidFill>
                <a:srgbClr val="FFD966"/>
              </a:solidFill>
              <a:ln w="9525">
                <a:solidFill>
                  <a:srgbClr val="111827"/>
                </a:solidFill>
              </a:ln>
            </c:spPr>
          </c:dPt>
          <c:dPt>
            <c:idx val="40"/>
            <c:spPr>
              <a:solidFill>
                <a:srgbClr val="FFD966"/>
              </a:solidFill>
              <a:ln w="9525">
                <a:solidFill>
                  <a:srgbClr val="111827"/>
                </a:solidFill>
              </a:ln>
            </c:spPr>
          </c:dPt>
          <c:dPt>
            <c:idx val="41"/>
            <c:spPr>
              <a:solidFill>
                <a:srgbClr val="F6B26B"/>
              </a:solidFill>
              <a:ln w="9525">
                <a:solidFill>
                  <a:srgbClr val="111827"/>
                </a:solidFill>
              </a:ln>
            </c:spPr>
          </c:dPt>
          <c:dPt>
            <c:idx val="42"/>
            <c:spPr>
              <a:solidFill>
                <a:srgbClr val="F6B26B"/>
              </a:solidFill>
              <a:ln w="9525">
                <a:solidFill>
                  <a:srgbClr val="111827"/>
                </a:solidFill>
              </a:ln>
            </c:spPr>
          </c:dPt>
          <c:dPt>
            <c:idx val="43"/>
            <c:spPr>
              <a:solidFill>
                <a:srgbClr val="FFD966"/>
              </a:solidFill>
              <a:ln w="9525">
                <a:solidFill>
                  <a:srgbClr val="111827"/>
                </a:solidFill>
              </a:ln>
            </c:spPr>
          </c:dPt>
          <c:cat>
            <c:strRef>
              <c:f>Sheet1!$A$2:$A$45</c:f>
              <c:strCache>
                <c:ptCount val="44"/>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pt idx="34">
                  <c:v>Q35</c:v>
                </c:pt>
                <c:pt idx="35">
                  <c:v>Q36</c:v>
                </c:pt>
                <c:pt idx="36">
                  <c:v>Q37</c:v>
                </c:pt>
                <c:pt idx="37">
                  <c:v>Q38</c:v>
                </c:pt>
                <c:pt idx="38">
                  <c:v>Q39</c:v>
                </c:pt>
                <c:pt idx="39">
                  <c:v>Q40</c:v>
                </c:pt>
                <c:pt idx="40">
                  <c:v>Q41</c:v>
                </c:pt>
                <c:pt idx="41">
                  <c:v>Q42</c:v>
                </c:pt>
                <c:pt idx="42">
                  <c:v>Q43</c:v>
                </c:pt>
                <c:pt idx="43">
                  <c:v>Q44</c:v>
                </c:pt>
              </c:strCache>
            </c:strRef>
          </c:cat>
          <c:val>
            <c:numRef>
              <c:f>Sheet1!$B$2:$B$45</c:f>
              <c:numCache>
                <c:formatCode>General</c:formatCode>
                <c:ptCount val="44"/>
                <c:pt idx="0">
                  <c:v>2.0</c:v>
                </c:pt>
                <c:pt idx="1">
                  <c:v>2.0</c:v>
                </c:pt>
                <c:pt idx="2">
                  <c:v>1.0</c:v>
                </c:pt>
                <c:pt idx="3">
                  <c:v>2.0</c:v>
                </c:pt>
                <c:pt idx="4">
                  <c:v>1.0</c:v>
                </c:pt>
                <c:pt idx="5">
                  <c:v>1.0</c:v>
                </c:pt>
                <c:pt idx="6">
                  <c:v>3.0</c:v>
                </c:pt>
                <c:pt idx="7">
                  <c:v>3.0</c:v>
                </c:pt>
                <c:pt idx="8">
                  <c:v>2.0</c:v>
                </c:pt>
                <c:pt idx="9">
                  <c:v>1.0</c:v>
                </c:pt>
                <c:pt idx="10">
                  <c:v>2.0</c:v>
                </c:pt>
                <c:pt idx="11">
                  <c:v>2.0</c:v>
                </c:pt>
                <c:pt idx="12">
                  <c:v>1.0</c:v>
                </c:pt>
                <c:pt idx="13">
                  <c:v>1.0</c:v>
                </c:pt>
                <c:pt idx="14">
                  <c:v>2.0</c:v>
                </c:pt>
                <c:pt idx="15">
                  <c:v>3.0</c:v>
                </c:pt>
                <c:pt idx="16">
                  <c:v>3.0</c:v>
                </c:pt>
                <c:pt idx="17">
                  <c:v>2.0</c:v>
                </c:pt>
                <c:pt idx="18">
                  <c:v>2.0</c:v>
                </c:pt>
                <c:pt idx="19">
                  <c:v>2.0</c:v>
                </c:pt>
                <c:pt idx="20">
                  <c:v>3.0</c:v>
                </c:pt>
                <c:pt idx="21">
                  <c:v>2.0</c:v>
                </c:pt>
                <c:pt idx="22">
                  <c:v>1.0</c:v>
                </c:pt>
                <c:pt idx="23">
                  <c:v>1.0</c:v>
                </c:pt>
                <c:pt idx="24">
                  <c:v>2.0</c:v>
                </c:pt>
                <c:pt idx="25">
                  <c:v>2.0</c:v>
                </c:pt>
                <c:pt idx="26">
                  <c:v>2.0</c:v>
                </c:pt>
                <c:pt idx="27">
                  <c:v>2.0</c:v>
                </c:pt>
                <c:pt idx="28">
                  <c:v>3.0</c:v>
                </c:pt>
                <c:pt idx="29">
                  <c:v>2.0</c:v>
                </c:pt>
                <c:pt idx="30">
                  <c:v>3.0</c:v>
                </c:pt>
                <c:pt idx="31">
                  <c:v>3.0</c:v>
                </c:pt>
                <c:pt idx="32">
                  <c:v>3.0</c:v>
                </c:pt>
                <c:pt idx="33">
                  <c:v>2.0</c:v>
                </c:pt>
                <c:pt idx="34">
                  <c:v>2.0</c:v>
                </c:pt>
                <c:pt idx="35">
                  <c:v>2.0</c:v>
                </c:pt>
                <c:pt idx="36">
                  <c:v>1.0</c:v>
                </c:pt>
                <c:pt idx="37">
                  <c:v>2.0</c:v>
                </c:pt>
                <c:pt idx="38">
                  <c:v>2.0</c:v>
                </c:pt>
                <c:pt idx="39">
                  <c:v>2.0</c:v>
                </c:pt>
                <c:pt idx="40">
                  <c:v>2.0</c:v>
                </c:pt>
                <c:pt idx="41">
                  <c:v>3.0</c:v>
                </c:pt>
                <c:pt idx="42">
                  <c:v>3.0</c:v>
                </c:pt>
                <c:pt idx="43">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In the printed solution the image of $Q$ is said to be taken about $l_2$; since $Q$ lies on $l_2$ it must be the image about $l_1$ (the bisector $-2x+3y-3=0$), which is what the numbers $\left(-\frac{17}{13},\frac{6}{13}\right)$ use. Corrected the wording only; the values and the final answer 348 are right.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printed solution writes $h=\frac{4}{3}$, but $2h=-\frac{8}{3}$ gives $h=-\frac{4}{3}$; its last line already uses $-\frac{4}{3}$ (it computes $3+5-\frac{4}{3}+\frac{22}{3}=14$), so only the sign in the line 'h = 4/3' is wrong and the answer 14 is right.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printed solution uses figure coordinates $B(2,2)$, $C(3,1)$ and writes $AB$ as $x-y-4=0$; with the given $B(-2,2)$, $C(3,-1)$ the line $AB$ is $x-y+4=0$. It also stops after finding the shifted-line constants for the three sides without comparing distances or fixing the inward sign. Redone with the correct equations and the distance comparison; the answer (A)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printed solution finds only the root $m=\frac{1}{7}$ of the $45^\circ$ condition and then writes the second line as $y=7x$; the other root is $m=-7$, i.e. $OP:y=-7x$ (its later value $P\left(-\frac{12}{25},\frac{84}{25}\right)$ is for $-7x$). Corrected the line; the answer 46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printed solution takes the negative branch, $-(3k-2h-5)=20$, giving $2h-3k=15$, $a=2$, $b=-3$ and $5a+2b=4$ (option B), which contradicts its own answer key (D). 'Above $AB$' means $3k-2h-5&gt;0$, so the correct branch is $3k-2h-5=20$, giving $-\frac{12}{5}$ (option D, the key).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printed solution gives the slope of the altitude from $C$ as $\frac{2}{3}$ and its equation as $y=\frac{2}{3}x$. It is perpendicular to $AB$ (slope $-\frac{2}{3}$), so its slope is $\frac{3}{2}$, $y=\frac{3}{2}x$ - which is what the next lines actually use ($-3x+2y=0$, $y=\frac{3}{2}\cdot\frac{1}{4}$). Corrected the slope; $C$, $a$, $b$ and the answer 16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Straight Line (JEE Main) — Paper Analysis</a:t>
            </a:r>
            <a:endParaRPr sz="4000">
              <a:solidFill>
                <a:srgbClr val="FFFFFF"/>
              </a:solidFill>
            </a:endParaRPr>
          </a:p>
          <a:p>
            <a:pPr algn="ctr"/>
            <a:r>
              <a:rPr sz="2200">
                <a:solidFill>
                  <a:srgbClr val="FFFFFF"/>
                </a:solidFill>
                <a:latin typeface="Arial"/>
              </a:rPr>
              <a:t>SHEET STRAIGHT LINE · Exercise J-M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Q06</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equations of the sides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of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respectively. Its vertex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on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and its orthocentre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length of the tangent from the point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to the part of the parabola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oMath>
                </a14:m>
                <a:r>
                  <a:rPr sz="2400" b="0">
                    <a:solidFill>
                      <a:srgbClr val="111827"/>
                    </a:solidFill>
                    <a:latin typeface="Arial"/>
                  </a:rPr>
                  <a:t> in the first quadrant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equations of the sides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$AC$</a:t>
                </a:r>
                <a:r>
                  <a:rPr sz="2400" b="0">
                    <a:solidFill>
                      <a:srgbClr val="111827"/>
                    </a:solidFill>
                    <a:latin typeface="Arial"/>
                  </a:rPr>
                  <a:t> of a triangle </a:t>
                </a:r>
                <a:r>
                  <a:rPr lang="en-IN" sz="2400">
                    <a:solidFill>
                      <a:srgbClr val="111827"/>
                    </a:solidFill>
                    <a:latin typeface="Cambria Math" panose="02040503050406030204" pitchFamily="18" charset="0"/>
                  </a:rPr>
                  <a:t>$ABC$</a:t>
                </a:r>
                <a:r>
                  <a:rPr sz="2400" b="0">
                    <a:solidFill>
                      <a:srgbClr val="111827"/>
                    </a:solidFill>
                    <a:latin typeface="Arial"/>
                  </a:rPr>
                  <a:t> are </a:t>
                </a:r>
                <a:r>
                  <a:rPr lang="en-IN" sz="2400">
                    <a:solidFill>
                      <a:srgbClr val="111827"/>
                    </a:solidFill>
                    <a:latin typeface="Cambria Math" panose="02040503050406030204" pitchFamily="18" charset="0"/>
                  </a:rPr>
                  <a:t>$(\lambda+1)x+\lambda y=4$</a:t>
                </a:r>
                <a:r>
                  <a:rPr sz="2400" b="0">
                    <a:solidFill>
                      <a:srgbClr val="111827"/>
                    </a:solidFill>
                    <a:latin typeface="Arial"/>
                  </a:rPr>
                  <a:t> and </a:t>
                </a:r>
                <a:r>
                  <a:rPr lang="en-IN" sz="2400">
                    <a:solidFill>
                      <a:srgbClr val="111827"/>
                    </a:solidFill>
                    <a:latin typeface="Cambria Math" panose="02040503050406030204" pitchFamily="18" charset="0"/>
                  </a:rPr>
                  <a:t>$\lambda x+(1-\lambda)y+\lambda=0$</a:t>
                </a:r>
                <a:r>
                  <a:rPr sz="2400" b="0">
                    <a:solidFill>
                      <a:srgbClr val="111827"/>
                    </a:solidFill>
                    <a:latin typeface="Arial"/>
                  </a:rPr>
                  <a:t> respectively. Its vertex </a:t>
                </a:r>
                <a:r>
                  <a:rPr lang="en-IN" sz="2400">
                    <a:solidFill>
                      <a:srgbClr val="111827"/>
                    </a:solidFill>
                    <a:latin typeface="Cambria Math" panose="02040503050406030204" pitchFamily="18" charset="0"/>
                  </a:rPr>
                  <a:t>$A$</a:t>
                </a:r>
                <a:r>
                  <a:rPr sz="2400" b="0">
                    <a:solidFill>
                      <a:srgbClr val="111827"/>
                    </a:solidFill>
                    <a:latin typeface="Arial"/>
                  </a:rPr>
                  <a:t> is on the </a:t>
                </a:r>
                <a:r>
                  <a:rPr lang="en-IN" sz="2400">
                    <a:solidFill>
                      <a:srgbClr val="111827"/>
                    </a:solidFill>
                    <a:latin typeface="Cambria Math" panose="02040503050406030204" pitchFamily="18" charset="0"/>
                  </a:rPr>
                  <a:t>$y$</a:t>
                </a:r>
                <a:r>
                  <a:rPr sz="2400" b="0">
                    <a:solidFill>
                      <a:srgbClr val="111827"/>
                    </a:solidFill>
                    <a:latin typeface="Arial"/>
                  </a:rPr>
                  <a:t>-axis and its orthocentre is </a:t>
                </a:r>
                <a:r>
                  <a:rPr lang="en-IN" sz="2400">
                    <a:solidFill>
                      <a:srgbClr val="111827"/>
                    </a:solidFill>
                    <a:latin typeface="Cambria Math" panose="02040503050406030204" pitchFamily="18" charset="0"/>
                  </a:rPr>
                  <a:t>$(1,2)$</a:t>
                </a:r>
                <a:r>
                  <a:rPr sz="2400" b="0">
                    <a:solidFill>
                      <a:srgbClr val="111827"/>
                    </a:solidFill>
                    <a:latin typeface="Arial"/>
                  </a:rPr>
                  <a:t>. The length of the tangent from the point </a:t>
                </a:r>
                <a:r>
                  <a:rPr lang="en-IN" sz="2400">
                    <a:solidFill>
                      <a:srgbClr val="111827"/>
                    </a:solidFill>
                    <a:latin typeface="Cambria Math" panose="02040503050406030204" pitchFamily="18" charset="0"/>
                  </a:rPr>
                  <a:t>$C$</a:t>
                </a:r>
                <a:r>
                  <a:rPr sz="2400" b="0">
                    <a:solidFill>
                      <a:srgbClr val="111827"/>
                    </a:solidFill>
                    <a:latin typeface="Arial"/>
                  </a:rPr>
                  <a:t> to the part of the parabola </a:t>
                </a:r>
                <a:r>
                  <a:rPr lang="en-IN" sz="2400">
                    <a:solidFill>
                      <a:srgbClr val="111827"/>
                    </a:solidFill>
                    <a:latin typeface="Cambria Math" panose="02040503050406030204" pitchFamily="18" charset="0"/>
                  </a:rPr>
                  <a:t>$y^2=6x$</a:t>
                </a:r>
                <a:r>
                  <a:rPr sz="2400" b="0">
                    <a:solidFill>
                      <a:srgbClr val="111827"/>
                    </a:solidFill>
                    <a:latin typeface="Arial"/>
                  </a:rPr>
                  <a:t> in the first quadrant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$2\sqrt{2}$</a:t>
                </a:r>
                <a:r>
                  <a:rPr sz="2400" b="0">
                    <a:solidFill>
                      <a:srgbClr val="111827"/>
                    </a:solidFill>
                    <a:latin typeface="Arial"/>
                  </a:rPr>
                  <a:t>   (B) </a:t>
                </a:r>
                <a:r>
                  <a:rPr lang="en-IN" sz="2400">
                    <a:solidFill>
                      <a:srgbClr val="111827"/>
                    </a:solidFill>
                    <a:latin typeface="Cambria Math" panose="02040503050406030204" pitchFamily="18" charset="0"/>
                  </a:rPr>
                  <a:t>$2$</a:t>
                </a:r>
                <a:r>
                  <a:rPr sz="2400" b="0">
                    <a:solidFill>
                      <a:srgbClr val="111827"/>
                    </a:solidFill>
                    <a:latin typeface="Arial"/>
                  </a:rPr>
                  <a:t>   (C) </a:t>
                </a:r>
                <a:r>
                  <a:rPr lang="en-IN" sz="2400">
                    <a:solidFill>
                      <a:srgbClr val="111827"/>
                    </a:solidFill>
                    <a:latin typeface="Cambria Math" panose="02040503050406030204" pitchFamily="18" charset="0"/>
                  </a:rPr>
                  <a:t>$4$</a:t>
                </a:r>
                <a:r>
                  <a:rPr sz="2400" b="0">
                    <a:solidFill>
                      <a:srgbClr val="111827"/>
                    </a:solidFill>
                    <a:latin typeface="Arial"/>
                  </a:rPr>
                  <a:t>   (D) </a:t>
                </a:r>
                <a:r>
                  <a:rPr lang="en-IN" sz="2400">
                    <a:solidFill>
                      <a:srgbClr val="111827"/>
                    </a:solidFill>
                    <a:latin typeface="Cambria Math" panose="02040503050406030204" pitchFamily="18" charset="0"/>
                  </a:rPr>
                  <a:t>$\sqrt{6}$</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of a triangle, Tangent to a parabola from an external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Altitude from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is perpendicular to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is fixed by one slope condition; then use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𝑚</m:t>
                        </m:r>
                      </m:den>
                    </m:f>
                  </m:oMath>
                </a14:m>
                <a:r>
                  <a:rPr sz="2400" b="0">
                    <a:solidFill>
                      <a:srgbClr val="78350F"/>
                    </a:solidFill>
                    <a:latin typeface="Arial"/>
                  </a:rPr>
                  <a:t> for the tangents.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Altitude from </a:t>
                </a:r>
                <a:r>
                  <a:rPr lang="en-IN" sz="2400">
                    <a:solidFill>
                      <a:srgbClr val="78350F"/>
                    </a:solidFill>
                    <a:latin typeface="Cambria Math" panose="02040503050406030204" pitchFamily="18" charset="0"/>
                  </a:rPr>
                  <a:t>$C$</a:t>
                </a:r>
                <a:r>
                  <a:rPr sz="2400" b="0">
                    <a:solidFill>
                      <a:srgbClr val="78350F"/>
                    </a:solidFill>
                    <a:latin typeface="Arial"/>
                  </a:rPr>
                  <a:t> is perpendicular to </a:t>
                </a:r>
                <a:r>
                  <a:rPr lang="en-IN" sz="2400">
                    <a:solidFill>
                      <a:srgbClr val="78350F"/>
                    </a:solidFill>
                    <a:latin typeface="Cambria Math" panose="02040503050406030204" pitchFamily="18" charset="0"/>
                  </a:rPr>
                  <a:t>$AB$</a:t>
                </a:r>
                <a:r>
                  <a:rPr sz="2400" b="0">
                    <a:solidFill>
                      <a:srgbClr val="78350F"/>
                    </a:solidFill>
                    <a:latin typeface="Arial"/>
                  </a:rPr>
                  <a:t>, so </a:t>
                </a:r>
                <a:r>
                  <a:rPr lang="en-IN" sz="2400">
                    <a:solidFill>
                      <a:srgbClr val="78350F"/>
                    </a:solidFill>
                    <a:latin typeface="Cambria Math" panose="02040503050406030204" pitchFamily="18" charset="0"/>
                  </a:rPr>
                  <a:t>$C$</a:t>
                </a:r>
                <a:r>
                  <a:rPr sz="2400" b="0">
                    <a:solidFill>
                      <a:srgbClr val="78350F"/>
                    </a:solidFill>
                    <a:latin typeface="Arial"/>
                  </a:rPr>
                  <a:t> is fixed by one slope condition; then use </a:t>
                </a:r>
                <a:r>
                  <a:rPr lang="en-IN" sz="2400">
                    <a:solidFill>
                      <a:srgbClr val="78350F"/>
                    </a:solidFill>
                    <a:latin typeface="Cambria Math" panose="02040503050406030204" pitchFamily="18" charset="0"/>
                  </a:rPr>
                  <a:t>$y=mx+\frac{a}{m}$</a:t>
                </a:r>
                <a:r>
                  <a:rPr sz="2400" b="0">
                    <a:solidFill>
                      <a:srgbClr val="78350F"/>
                    </a:solidFill>
                    <a:latin typeface="Arial"/>
                  </a:rPr>
                  <a:t> for the tangents.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lies on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so 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both sides: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λ</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give the same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λ</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lies on the </a:t>
                </a:r>
                <a:r>
                  <a:rPr lang="en-IN" sz="2400">
                    <a:solidFill>
                      <a:srgbClr val="111827"/>
                    </a:solidFill>
                    <a:latin typeface="Cambria Math" panose="02040503050406030204" pitchFamily="18" charset="0"/>
                  </a:rPr>
                  <a:t>$y$</a:t>
                </a:r>
                <a:r>
                  <a:rPr sz="2400" b="0">
                    <a:solidFill>
                      <a:srgbClr val="111827"/>
                    </a:solidFill>
                    <a:latin typeface="Arial"/>
                  </a:rPr>
                  <a:t>-axis, so put </a:t>
                </a:r>
                <a:r>
                  <a:rPr lang="en-IN" sz="2400">
                    <a:solidFill>
                      <a:srgbClr val="111827"/>
                    </a:solidFill>
                    <a:latin typeface="Cambria Math" panose="02040503050406030204" pitchFamily="18" charset="0"/>
                  </a:rPr>
                  <a:t>$x=0$</a:t>
                </a:r>
                <a:r>
                  <a:rPr sz="2400" b="0">
                    <a:solidFill>
                      <a:srgbClr val="111827"/>
                    </a:solidFill>
                    <a:latin typeface="Arial"/>
                  </a:rPr>
                  <a:t> in both sides: </a:t>
                </a:r>
                <a:r>
                  <a:rPr lang="en-IN" sz="2400">
                    <a:solidFill>
                      <a:srgbClr val="111827"/>
                    </a:solidFill>
                    <a:latin typeface="Cambria Math" panose="02040503050406030204" pitchFamily="18" charset="0"/>
                  </a:rPr>
                  <a:t>$AB$</a:t>
                </a:r>
                <a:r>
                  <a:rPr sz="2400" b="0">
                    <a:solidFill>
                      <a:srgbClr val="111827"/>
                    </a:solidFill>
                    <a:latin typeface="Arial"/>
                  </a:rPr>
                  <a:t> gives </a:t>
                </a:r>
                <a:r>
                  <a:rPr lang="en-IN" sz="2400">
                    <a:solidFill>
                      <a:srgbClr val="111827"/>
                    </a:solidFill>
                    <a:latin typeface="Cambria Math" panose="02040503050406030204" pitchFamily="18" charset="0"/>
                  </a:rPr>
                  <a:t>$y=\frac{4}{\lambda}$</a:t>
                </a:r>
                <a:r>
                  <a:rPr sz="2400" b="0">
                    <a:solidFill>
                      <a:srgbClr val="111827"/>
                    </a:solidFill>
                    <a:latin typeface="Arial"/>
                  </a:rPr>
                  <a:t> and </a:t>
                </a:r>
                <a:r>
                  <a:rPr lang="en-IN" sz="2400">
                    <a:solidFill>
                      <a:srgbClr val="111827"/>
                    </a:solidFill>
                    <a:latin typeface="Cambria Math" panose="02040503050406030204" pitchFamily="18" charset="0"/>
                  </a:rPr>
                  <a:t>$AC$</a:t>
                </a:r>
                <a:r>
                  <a:rPr sz="2400" b="0">
                    <a:solidFill>
                      <a:srgbClr val="111827"/>
                    </a:solidFill>
                    <a:latin typeface="Arial"/>
                  </a:rPr>
                  <a:t> gives </a:t>
                </a:r>
                <a:r>
                  <a:rPr lang="en-IN" sz="2400">
                    <a:solidFill>
                      <a:srgbClr val="111827"/>
                    </a:solidFill>
                    <a:latin typeface="Cambria Math" panose="02040503050406030204" pitchFamily="18" charset="0"/>
                  </a:rPr>
                  <a:t>$y=\frac{\lambda}{\lambda-1}$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give the same point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$\frac{4}{\lambda}=\frac{\lambda}{\lambda-1}\Rightarrow \lambda^2-4\lambda+4=0\Rightarrow\lambda=2$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$AB: 3x+2y=4$</a:t>
                </a:r>
                <a:r>
                  <a:rPr sz="2400" b="0">
                    <a:solidFill>
                      <a:srgbClr val="111827"/>
                    </a:solidFill>
                    <a:latin typeface="Arial"/>
                  </a:rPr>
                  <a:t>, </a:t>
                </a:r>
                <a:r>
                  <a:rPr lang="en-IN" sz="2400">
                    <a:solidFill>
                      <a:srgbClr val="111827"/>
                    </a:solidFill>
                    <a:latin typeface="Cambria Math" panose="02040503050406030204" pitchFamily="18" charset="0"/>
                  </a:rPr>
                  <a:t>$AC: 2x-y+2=0$</a:t>
                </a:r>
                <a:r>
                  <a:rPr sz="2400" b="0">
                    <a:solidFill>
                      <a:srgbClr val="111827"/>
                    </a:solidFill>
                    <a:latin typeface="Arial"/>
                  </a:rPr>
                  <a:t> and </a:t>
                </a:r>
                <a:r>
                  <a:rPr lang="en-IN" sz="2400">
                    <a:solidFill>
                      <a:srgbClr val="111827"/>
                    </a:solidFill>
                    <a:latin typeface="Cambria Math" panose="02040503050406030204" pitchFamily="18" charset="0"/>
                  </a:rPr>
                  <a:t>$A=(0,2)$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so let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orthocentre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on the altitude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which is perpendicular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$AC$</a:t>
                </a:r>
                <a:r>
                  <a:rPr sz="2400" b="0">
                    <a:solidFill>
                      <a:srgbClr val="111827"/>
                    </a:solidFill>
                    <a:latin typeface="Arial"/>
                  </a:rPr>
                  <a:t>, so let </a:t>
                </a:r>
                <a:r>
                  <a:rPr lang="en-IN" sz="2400">
                    <a:solidFill>
                      <a:srgbClr val="111827"/>
                    </a:solidFill>
                    <a:latin typeface="Cambria Math" panose="02040503050406030204" pitchFamily="18" charset="0"/>
                  </a:rPr>
                  <a:t>$C=(\alpha,2\alpha+2)$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orthocentre </a:t>
                </a:r>
                <a:r>
                  <a:rPr lang="en-IN" sz="2400">
                    <a:solidFill>
                      <a:srgbClr val="111827"/>
                    </a:solidFill>
                    <a:latin typeface="Cambria Math" panose="02040503050406030204" pitchFamily="18" charset="0"/>
                  </a:rPr>
                  <a:t>$H(1,2)$</a:t>
                </a:r>
                <a:r>
                  <a:rPr sz="2400" b="0">
                    <a:solidFill>
                      <a:srgbClr val="111827"/>
                    </a:solidFill>
                    <a:latin typeface="Arial"/>
                  </a:rPr>
                  <a:t> lies on the altitude from </a:t>
                </a:r>
                <a:r>
                  <a:rPr lang="en-IN" sz="2400">
                    <a:solidFill>
                      <a:srgbClr val="111827"/>
                    </a:solidFill>
                    <a:latin typeface="Cambria Math" panose="02040503050406030204" pitchFamily="18" charset="0"/>
                  </a:rPr>
                  <a:t>$C$</a:t>
                </a:r>
                <a:r>
                  <a:rPr sz="2400" b="0">
                    <a:solidFill>
                      <a:srgbClr val="111827"/>
                    </a:solidFill>
                    <a:latin typeface="Arial"/>
                  </a:rPr>
                  <a:t>, which is perpendicular to </a:t>
                </a:r>
                <a:r>
                  <a:rPr lang="en-IN" sz="2400">
                    <a:solidFill>
                      <a:srgbClr val="111827"/>
                    </a:solidFill>
                    <a:latin typeface="Cambria Math" panose="02040503050406030204" pitchFamily="18" charset="0"/>
                  </a:rPr>
                  <a:t>$AB$</a:t>
                </a:r>
                <a:r>
                  <a:rPr sz="2400" b="0">
                    <a:solidFill>
                      <a:srgbClr val="111827"/>
                    </a:solidFill>
                    <a:latin typeface="Arial"/>
                  </a:rPr>
                  <a:t> (slope </a:t>
                </a:r>
                <a:r>
                  <a:rPr lang="en-IN" sz="2400">
                    <a:solidFill>
                      <a:srgbClr val="111827"/>
                    </a:solidFill>
                    <a:latin typeface="Cambria Math" panose="02040503050406030204" pitchFamily="18" charset="0"/>
                  </a:rPr>
                  <a:t>$-\frac{3}{2}$</a:t>
                </a:r>
                <a:r>
                  <a:rPr sz="2400" b="0">
                    <a:solidFill>
                      <a:srgbClr val="111827"/>
                    </a:solidFill>
                    <a:latin typeface="Arial"/>
                  </a:rPr>
                  <a:t>): </a:t>
                </a:r>
                <a:r>
                  <a:rPr lang="en-IN" sz="2400">
                    <a:solidFill>
                      <a:srgbClr val="111827"/>
                    </a:solidFill>
                    <a:latin typeface="Cambria Math" panose="02040503050406030204" pitchFamily="18" charset="0"/>
                  </a:rPr>
                  <a:t>$\left(\frac{2\alpha}{\alpha-1}\right)\left(-\frac{3}{2}\right)=-1$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$3\alpha=\alpha-1$</a:t>
                </a:r>
                <a:r>
                  <a:rPr sz="2400" b="0">
                    <a:solidFill>
                      <a:srgbClr val="111827"/>
                    </a:solidFill>
                    <a:latin typeface="Arial"/>
                  </a:rPr>
                  <a:t>, giving </a:t>
                </a:r>
                <a:r>
                  <a:rPr lang="en-IN" sz="2400">
                    <a:solidFill>
                      <a:srgbClr val="111827"/>
                    </a:solidFill>
                    <a:latin typeface="Cambria Math" panose="02040503050406030204" pitchFamily="18" charset="0"/>
                  </a:rPr>
                  <a:t>$\alpha=-\frac{1}{2}$</a:t>
                </a:r>
                <a:r>
                  <a:rPr sz="2400" b="0">
                    <a:solidFill>
                      <a:srgbClr val="111827"/>
                    </a:solidFill>
                    <a:latin typeface="Arial"/>
                  </a:rPr>
                  <a:t> and </a:t>
                </a:r>
                <a:r>
                  <a:rPr lang="en-IN" sz="2400">
                    <a:solidFill>
                      <a:srgbClr val="111827"/>
                    </a:solidFill>
                    <a:latin typeface="Cambria Math" panose="02040503050406030204" pitchFamily="18" charset="0"/>
                  </a:rPr>
                  <a:t>$C=\left(-\frac{1}{2},1\right)$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oMath>
                </a14:m>
                <a:r>
                  <a:rPr sz="2400" b="0">
                    <a:solidFill>
                      <a:srgbClr val="111827"/>
                    </a:solidFill>
                    <a:latin typeface="Arial"/>
                  </a:rPr>
                  <a:t> we have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 tangent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den>
                    </m:f>
                  </m:oMath>
                </a14:m>
                <a:r>
                  <a:rPr sz="2400" b="0">
                    <a:solidFill>
                      <a:srgbClr val="111827"/>
                    </a:solidFill>
                    <a:latin typeface="Arial"/>
                  </a:rPr>
                  <a:t>. It passes through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of contact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𝑚</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oMath>
                </a14:m>
                <a:r>
                  <a:rPr sz="2400" b="0">
                    <a:solidFill>
                      <a:srgbClr val="111827"/>
                    </a:solidFill>
                    <a:latin typeface="Arial"/>
                  </a:rPr>
                  <a:t> (first quadrant);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(fourth quadrant).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length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$y^2=6x$</a:t>
                </a:r>
                <a:r>
                  <a:rPr sz="2400" b="0">
                    <a:solidFill>
                      <a:srgbClr val="111827"/>
                    </a:solidFill>
                    <a:latin typeface="Arial"/>
                  </a:rPr>
                  <a:t> we have </a:t>
                </a:r>
                <a:r>
                  <a:rPr lang="en-IN" sz="2400">
                    <a:solidFill>
                      <a:srgbClr val="111827"/>
                    </a:solidFill>
                    <a:latin typeface="Cambria Math" panose="02040503050406030204" pitchFamily="18" charset="0"/>
                  </a:rPr>
                  <a:t>$a=\frac{3}{2}$</a:t>
                </a:r>
                <a:r>
                  <a:rPr sz="2400" b="0">
                    <a:solidFill>
                      <a:srgbClr val="111827"/>
                    </a:solidFill>
                    <a:latin typeface="Arial"/>
                  </a:rPr>
                  <a:t>, so a tangent is </a:t>
                </a:r>
                <a:r>
                  <a:rPr lang="en-IN" sz="2400">
                    <a:solidFill>
                      <a:srgbClr val="111827"/>
                    </a:solidFill>
                    <a:latin typeface="Cambria Math" panose="02040503050406030204" pitchFamily="18" charset="0"/>
                  </a:rPr>
                  <a:t>$y=mx+\frac{3}{2m}$</a:t>
                </a:r>
                <a:r>
                  <a:rPr sz="2400" b="0">
                    <a:solidFill>
                      <a:srgbClr val="111827"/>
                    </a:solidFill>
                    <a:latin typeface="Arial"/>
                  </a:rPr>
                  <a:t>. It passes through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$1=-\frac{m}{2}+\frac{3}{2m}\Rightarrow m^2+2m-3=0\Rightarrow m=1,-3$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of contact is </a:t>
                </a:r>
                <a:r>
                  <a:rPr lang="en-IN" sz="2400">
                    <a:solidFill>
                      <a:srgbClr val="111827"/>
                    </a:solidFill>
                    <a:latin typeface="Cambria Math" panose="02040503050406030204" pitchFamily="18" charset="0"/>
                  </a:rPr>
                  <a:t>$\left(\frac{a}{m^2},\frac{2a}{m}\right)=\left(\frac{3}{2m^2},\frac{3}{m}\right)$</a:t>
                </a:r>
                <a:r>
                  <a:rPr sz="2400" b="0">
                    <a:solidFill>
                      <a:srgbClr val="111827"/>
                    </a:solidFill>
                    <a:latin typeface="Arial"/>
                  </a:rPr>
                  <a:t>. For </a:t>
                </a:r>
                <a:r>
                  <a:rPr lang="en-IN" sz="2400">
                    <a:solidFill>
                      <a:srgbClr val="111827"/>
                    </a:solidFill>
                    <a:latin typeface="Cambria Math" panose="02040503050406030204" pitchFamily="18" charset="0"/>
                  </a:rPr>
                  <a:t>$m=1$</a:t>
                </a:r>
                <a:r>
                  <a:rPr sz="2400" b="0">
                    <a:solidFill>
                      <a:srgbClr val="111827"/>
                    </a:solidFill>
                    <a:latin typeface="Arial"/>
                  </a:rPr>
                  <a:t> it is </a:t>
                </a:r>
                <a:r>
                  <a:rPr lang="en-IN" sz="2400">
                    <a:solidFill>
                      <a:srgbClr val="111827"/>
                    </a:solidFill>
                    <a:latin typeface="Cambria Math" panose="02040503050406030204" pitchFamily="18" charset="0"/>
                  </a:rPr>
                  <a:t>$T=\left(\frac{3}{2},3\right)$</a:t>
                </a:r>
                <a:r>
                  <a:rPr sz="2400" b="0">
                    <a:solidFill>
                      <a:srgbClr val="111827"/>
                    </a:solidFill>
                    <a:latin typeface="Arial"/>
                  </a:rPr>
                  <a:t> (first quadrant); for </a:t>
                </a:r>
                <a:r>
                  <a:rPr lang="en-IN" sz="2400">
                    <a:solidFill>
                      <a:srgbClr val="111827"/>
                    </a:solidFill>
                    <a:latin typeface="Cambria Math" panose="02040503050406030204" pitchFamily="18" charset="0"/>
                  </a:rPr>
                  <a:t>$m=-3$</a:t>
                </a:r>
                <a:r>
                  <a:rPr sz="2400" b="0">
                    <a:solidFill>
                      <a:srgbClr val="111827"/>
                    </a:solidFill>
                    <a:latin typeface="Arial"/>
                  </a:rPr>
                  <a:t> it is </a:t>
                </a:r>
                <a:r>
                  <a:rPr lang="en-IN" sz="2400">
                    <a:solidFill>
                      <a:srgbClr val="111827"/>
                    </a:solidFill>
                    <a:latin typeface="Cambria Math" panose="02040503050406030204" pitchFamily="18" charset="0"/>
                  </a:rPr>
                  <a:t>$\left(\frac{1}{6},-1\right)$</a:t>
                </a:r>
                <a:r>
                  <a:rPr sz="2400" b="0">
                    <a:solidFill>
                      <a:srgbClr val="111827"/>
                    </a:solidFill>
                    <a:latin typeface="Arial"/>
                  </a:rPr>
                  <a:t> (fourth quadrant).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length </a:t>
                </a:r>
                <a:r>
                  <a:rPr lang="en-IN" sz="2400">
                    <a:solidFill>
                      <a:srgbClr val="111827"/>
                    </a:solidFill>
                    <a:latin typeface="Cambria Math" panose="02040503050406030204" pitchFamily="18" charset="0"/>
                  </a:rPr>
                  <a:t>$CT=\sqrt{\left(\frac{3}{2}+\frac{1}{2}\right)^2+(3-1)^2}=\sqrt{4+4}=2\sqrt{2}$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$2\sqrt{2}$</a:t>
                </a:r>
                <a:endParaRPr sz="2800">
                  <a:solidFill>
                    <a:srgbClr val="15803D"/>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chord of contact </a:t>
                </a:r>
                <a14:m>
                  <m:oMath xmlns:m="http://schemas.openxmlformats.org/officeDocument/2006/math">
                    <m:r>
                      <a:rPr lang="en-IN" sz="2400" i="1">
                        <a:solidFill>
                          <a:srgbClr val="78350F"/>
                        </a:solidFill>
                        <a:latin typeface="Cambria Math" panose="02040503050406030204" pitchFamily="18" charset="0"/>
                      </a:rPr>
                      <m:t>𝑇</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of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with the parabola instead of the slope form of the tangent.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chord of contact </a:t>
                </a:r>
                <a:r>
                  <a:rPr lang="en-IN" sz="2400">
                    <a:solidFill>
                      <a:srgbClr val="78350F"/>
                    </a:solidFill>
                    <a:latin typeface="Cambria Math" panose="02040503050406030204" pitchFamily="18" charset="0"/>
                  </a:rPr>
                  <a:t>$T=0$</a:t>
                </a:r>
                <a:r>
                  <a:rPr sz="2400" b="0">
                    <a:solidFill>
                      <a:srgbClr val="78350F"/>
                    </a:solidFill>
                    <a:latin typeface="Arial"/>
                  </a:rPr>
                  <a:t> of </a:t>
                </a:r>
                <a:r>
                  <a:rPr lang="en-IN" sz="2400">
                    <a:solidFill>
                      <a:srgbClr val="78350F"/>
                    </a:solidFill>
                    <a:latin typeface="Cambria Math" panose="02040503050406030204" pitchFamily="18" charset="0"/>
                  </a:rPr>
                  <a:t>$C$</a:t>
                </a:r>
                <a:r>
                  <a:rPr sz="2400" b="0">
                    <a:solidFill>
                      <a:srgbClr val="78350F"/>
                    </a:solidFill>
                    <a:latin typeface="Arial"/>
                  </a:rPr>
                  <a:t> with the parabola instead of the slope form of the tangent.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in the main solution,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chord of contact of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Join it with the parabola: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in the main solution, </a:t>
                </a:r>
                <a:r>
                  <a:rPr lang="en-IN" sz="2400">
                    <a:solidFill>
                      <a:srgbClr val="111827"/>
                    </a:solidFill>
                    <a:latin typeface="Cambria Math" panose="02040503050406030204" pitchFamily="18" charset="0"/>
                  </a:rPr>
                  <a:t>$\lambda=2$</a:t>
                </a:r>
                <a:r>
                  <a:rPr sz="2400" b="0">
                    <a:solidFill>
                      <a:srgbClr val="111827"/>
                    </a:solidFill>
                    <a:latin typeface="Arial"/>
                  </a:rPr>
                  <a:t>, </a:t>
                </a:r>
                <a:r>
                  <a:rPr lang="en-IN" sz="2400">
                    <a:solidFill>
                      <a:srgbClr val="111827"/>
                    </a:solidFill>
                    <a:latin typeface="Cambria Math" panose="02040503050406030204" pitchFamily="18" charset="0"/>
                  </a:rPr>
                  <a:t>$A=(0,2)$</a:t>
                </a:r>
                <a:r>
                  <a:rPr sz="2400" b="0">
                    <a:solidFill>
                      <a:srgbClr val="111827"/>
                    </a:solidFill>
                    <a:latin typeface="Arial"/>
                  </a:rPr>
                  <a:t> and </a:t>
                </a:r>
                <a:r>
                  <a:rPr lang="en-IN" sz="2400">
                    <a:solidFill>
                      <a:srgbClr val="111827"/>
                    </a:solidFill>
                    <a:latin typeface="Cambria Math" panose="02040503050406030204" pitchFamily="18" charset="0"/>
                  </a:rPr>
                  <a:t>$C=\left(-\frac{1}{2},1\right)$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chord of contact of </a:t>
                </a:r>
                <a:r>
                  <a:rPr lang="en-IN" sz="2400">
                    <a:solidFill>
                      <a:srgbClr val="111827"/>
                    </a:solidFill>
                    <a:latin typeface="Cambria Math" panose="02040503050406030204" pitchFamily="18" charset="0"/>
                  </a:rPr>
                  <a:t>$C(x_1,y_1)$</a:t>
                </a:r>
                <a:r>
                  <a:rPr sz="2400" b="0">
                    <a:solidFill>
                      <a:srgbClr val="111827"/>
                    </a:solidFill>
                    <a:latin typeface="Arial"/>
                  </a:rPr>
                  <a:t> with </a:t>
                </a:r>
                <a:r>
                  <a:rPr lang="en-IN" sz="2400">
                    <a:solidFill>
                      <a:srgbClr val="111827"/>
                    </a:solidFill>
                    <a:latin typeface="Cambria Math" panose="02040503050406030204" pitchFamily="18" charset="0"/>
                  </a:rPr>
                  <a:t>$y^2=6x$</a:t>
                </a:r>
                <a:r>
                  <a:rPr sz="2400" b="0">
                    <a:solidFill>
                      <a:srgbClr val="111827"/>
                    </a:solidFill>
                    <a:latin typeface="Arial"/>
                  </a:rPr>
                  <a:t> is </a:t>
                </a:r>
                <a:r>
                  <a:rPr lang="en-IN" sz="2400">
                    <a:solidFill>
                      <a:srgbClr val="111827"/>
                    </a:solidFill>
                    <a:latin typeface="Cambria Math" panose="02040503050406030204" pitchFamily="18" charset="0"/>
                  </a:rPr>
                  <a:t>$yy_1=3(x+x_1)$</a:t>
                </a:r>
                <a:r>
                  <a:rPr sz="2400" b="0">
                    <a:solidFill>
                      <a:srgbClr val="111827"/>
                    </a:solidFill>
                    <a:latin typeface="Arial"/>
                  </a:rPr>
                  <a:t>, i.e. </a:t>
                </a:r>
                <a:r>
                  <a:rPr lang="en-IN" sz="2400">
                    <a:solidFill>
                      <a:srgbClr val="111827"/>
                    </a:solidFill>
                    <a:latin typeface="Cambria Math" panose="02040503050406030204" pitchFamily="18" charset="0"/>
                  </a:rPr>
                  <a:t>$y=3\left(x-\frac{1}{2}\right)=3x-\frac{3}{2}$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Join it with the parabola: </a:t>
                </a:r>
                <a:r>
                  <a:rPr lang="en-IN" sz="2400">
                    <a:solidFill>
                      <a:srgbClr val="111827"/>
                    </a:solidFill>
                    <a:latin typeface="Cambria Math" panose="02040503050406030204" pitchFamily="18" charset="0"/>
                  </a:rPr>
                  <a:t>$\left(3x-\frac{3}{2}\right)^2=6x\Rightarrow 12x^2-20x+3=0\Rightarrow(2x-3)(6x-1)=0$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first-quadrant contact point is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$x=\frac{3}{2}$</a:t>
                </a:r>
                <a:r>
                  <a:rPr sz="2400" b="0">
                    <a:solidFill>
                      <a:srgbClr val="111827"/>
                    </a:solidFill>
                    <a:latin typeface="Arial"/>
                  </a:rPr>
                  <a:t> (then </a:t>
                </a:r>
                <a:r>
                  <a:rPr lang="en-IN" sz="2400">
                    <a:solidFill>
                      <a:srgbClr val="111827"/>
                    </a:solidFill>
                    <a:latin typeface="Cambria Math" panose="02040503050406030204" pitchFamily="18" charset="0"/>
                  </a:rPr>
                  <a:t>$y=3$</a:t>
                </a:r>
                <a:r>
                  <a:rPr sz="2400" b="0">
                    <a:solidFill>
                      <a:srgbClr val="111827"/>
                    </a:solidFill>
                    <a:latin typeface="Arial"/>
                  </a:rPr>
                  <a:t>) or </a:t>
                </a:r>
                <a:r>
                  <a:rPr lang="en-IN" sz="2400">
                    <a:solidFill>
                      <a:srgbClr val="111827"/>
                    </a:solidFill>
                    <a:latin typeface="Cambria Math" panose="02040503050406030204" pitchFamily="18" charset="0"/>
                  </a:rPr>
                  <a:t>$x=\frac{1}{6}$</a:t>
                </a:r>
                <a:r>
                  <a:rPr sz="2400" b="0">
                    <a:solidFill>
                      <a:srgbClr val="111827"/>
                    </a:solidFill>
                    <a:latin typeface="Arial"/>
                  </a:rPr>
                  <a:t> (then </a:t>
                </a:r>
                <a:r>
                  <a:rPr lang="en-IN" sz="2400">
                    <a:solidFill>
                      <a:srgbClr val="111827"/>
                    </a:solidFill>
                    <a:latin typeface="Cambria Math" panose="02040503050406030204" pitchFamily="18" charset="0"/>
                  </a:rPr>
                  <a:t>$y=-1$</a:t>
                </a:r>
                <a:r>
                  <a:rPr sz="2400" b="0">
                    <a:solidFill>
                      <a:srgbClr val="111827"/>
                    </a:solidFill>
                    <a:latin typeface="Arial"/>
                  </a:rPr>
                  <a:t>). The first-quadrant contact point is </a:t>
                </a:r>
                <a:r>
                  <a:rPr lang="en-IN" sz="2400">
                    <a:solidFill>
                      <a:srgbClr val="111827"/>
                    </a:solidFill>
                    <a:latin typeface="Cambria Math" panose="02040503050406030204" pitchFamily="18" charset="0"/>
                  </a:rPr>
                  <a:t>$T=\left(\frac{3}{2},3\right)$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$CT=\sqrt{2^2+2^2}=2\sqrt{2}$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$2\sqrt{2}$</a:t>
                </a:r>
                <a:endParaRPr sz="2800">
                  <a:solidFill>
                    <a:srgbClr val="15803D"/>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tangent of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touching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 the chord of contact from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Altitudes: the orthocentre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 one slope condition fixes a vertex that moves on a known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on a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may be written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keep a single unknown.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$y^2=4ax$</a:t>
                </a:r>
                <a:r>
                  <a:rPr sz="2400" b="0">
                    <a:solidFill>
                      <a:srgbClr val="111827"/>
                    </a:solidFill>
                    <a:latin typeface="Arial"/>
                  </a:rPr>
                  <a:t>: tangent of slope </a:t>
                </a:r>
                <a:r>
                  <a:rPr lang="en-IN" sz="2400">
                    <a:solidFill>
                      <a:srgbClr val="111827"/>
                    </a:solidFill>
                    <a:latin typeface="Cambria Math" panose="02040503050406030204" pitchFamily="18" charset="0"/>
                  </a:rPr>
                  <a:t>$m$</a:t>
                </a:r>
                <a:r>
                  <a:rPr sz="2400" b="0">
                    <a:solidFill>
                      <a:srgbClr val="111827"/>
                    </a:solidFill>
                    <a:latin typeface="Arial"/>
                  </a:rPr>
                  <a:t> is </a:t>
                </a:r>
                <a:r>
                  <a:rPr lang="en-IN" sz="2400">
                    <a:solidFill>
                      <a:srgbClr val="111827"/>
                    </a:solidFill>
                    <a:latin typeface="Cambria Math" panose="02040503050406030204" pitchFamily="18" charset="0"/>
                  </a:rPr>
                  <a:t>$y=mx+\frac{a}{m}$</a:t>
                </a:r>
                <a:r>
                  <a:rPr sz="2400" b="0">
                    <a:solidFill>
                      <a:srgbClr val="111827"/>
                    </a:solidFill>
                    <a:latin typeface="Arial"/>
                  </a:rPr>
                  <a:t>, touching at </a:t>
                </a:r>
                <a:r>
                  <a:rPr lang="en-IN" sz="2400">
                    <a:solidFill>
                      <a:srgbClr val="111827"/>
                    </a:solidFill>
                    <a:latin typeface="Cambria Math" panose="02040503050406030204" pitchFamily="18" charset="0"/>
                  </a:rPr>
                  <a:t>$\left(\frac{a}{m^2},\frac{2a}{m}\right)$</a:t>
                </a:r>
                <a:r>
                  <a:rPr sz="2400" b="0">
                    <a:solidFill>
                      <a:srgbClr val="111827"/>
                    </a:solidFill>
                    <a:latin typeface="Arial"/>
                  </a:rPr>
                  <a:t>; the chord of contact from </a:t>
                </a:r>
                <a:r>
                  <a:rPr lang="en-IN" sz="2400">
                    <a:solidFill>
                      <a:srgbClr val="111827"/>
                    </a:solidFill>
                    <a:latin typeface="Cambria Math" panose="02040503050406030204" pitchFamily="18" charset="0"/>
                  </a:rPr>
                  <a:t>$(x_1,y_1)$</a:t>
                </a:r>
                <a:r>
                  <a:rPr sz="2400" b="0">
                    <a:solidFill>
                      <a:srgbClr val="111827"/>
                    </a:solidFill>
                    <a:latin typeface="Arial"/>
                  </a:rPr>
                  <a:t> is </a:t>
                </a:r>
                <a:r>
                  <a:rPr lang="en-IN" sz="2400">
                    <a:solidFill>
                      <a:srgbClr val="111827"/>
                    </a:solidFill>
                    <a:latin typeface="Cambria Math" panose="02040503050406030204" pitchFamily="18" charset="0"/>
                  </a:rPr>
                  <a:t>$yy_1=2a(x+x_1)$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Altitudes: the orthocentre </a:t>
                </a:r>
                <a:r>
                  <a:rPr lang="en-IN" sz="2400">
                    <a:solidFill>
                      <a:srgbClr val="111827"/>
                    </a:solidFill>
                    <a:latin typeface="Cambria Math" panose="02040503050406030204" pitchFamily="18" charset="0"/>
                  </a:rPr>
                  <a:t>$H$</a:t>
                </a:r>
                <a:r>
                  <a:rPr sz="2400" b="0">
                    <a:solidFill>
                      <a:srgbClr val="111827"/>
                    </a:solidFill>
                    <a:latin typeface="Arial"/>
                  </a:rPr>
                  <a:t> of </a:t>
                </a:r>
                <a:r>
                  <a:rPr lang="en-IN" sz="2400">
                    <a:solidFill>
                      <a:srgbClr val="111827"/>
                    </a:solidFill>
                    <a:latin typeface="Cambria Math" panose="02040503050406030204" pitchFamily="18" charset="0"/>
                  </a:rPr>
                  <a:t>$\triangle ABC$</a:t>
                </a:r>
                <a:r>
                  <a:rPr sz="2400" b="0">
                    <a:solidFill>
                      <a:srgbClr val="111827"/>
                    </a:solidFill>
                    <a:latin typeface="Arial"/>
                  </a:rPr>
                  <a:t> satisfies </a:t>
                </a:r>
                <a:r>
                  <a:rPr lang="en-IN" sz="2400">
                    <a:solidFill>
                      <a:srgbClr val="111827"/>
                    </a:solidFill>
                    <a:latin typeface="Cambria Math" panose="02040503050406030204" pitchFamily="18" charset="0"/>
                  </a:rPr>
                  <a:t>$CH\perp AB$</a:t>
                </a:r>
                <a:r>
                  <a:rPr sz="2400" b="0">
                    <a:solidFill>
                      <a:srgbClr val="111827"/>
                    </a:solidFill>
                    <a:latin typeface="Arial"/>
                  </a:rPr>
                  <a:t>, </a:t>
                </a:r>
                <a:r>
                  <a:rPr lang="en-IN" sz="2400">
                    <a:solidFill>
                      <a:srgbClr val="111827"/>
                    </a:solidFill>
                    <a:latin typeface="Cambria Math" panose="02040503050406030204" pitchFamily="18" charset="0"/>
                  </a:rPr>
                  <a:t>$AH\perp BC$</a:t>
                </a:r>
                <a:r>
                  <a:rPr sz="2400" b="0">
                    <a:solidFill>
                      <a:srgbClr val="111827"/>
                    </a:solidFill>
                    <a:latin typeface="Arial"/>
                  </a:rPr>
                  <a:t>, </a:t>
                </a:r>
                <a:r>
                  <a:rPr lang="en-IN" sz="2400">
                    <a:solidFill>
                      <a:srgbClr val="111827"/>
                    </a:solidFill>
                    <a:latin typeface="Cambria Math" panose="02040503050406030204" pitchFamily="18" charset="0"/>
                  </a:rPr>
                  <a:t>$BH\perp CA$</a:t>
                </a:r>
                <a:r>
                  <a:rPr sz="2400" b="0">
                    <a:solidFill>
                      <a:srgbClr val="111827"/>
                    </a:solidFill>
                    <a:latin typeface="Arial"/>
                  </a:rPr>
                  <a:t> - one slope condition fixes a vertex that moves on a known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on a line </a:t>
                </a:r>
                <a:r>
                  <a:rPr lang="en-IN" sz="2400">
                    <a:solidFill>
                      <a:srgbClr val="111827"/>
                    </a:solidFill>
                    <a:latin typeface="Cambria Math" panose="02040503050406030204" pitchFamily="18" charset="0"/>
                  </a:rPr>
                  <a:t>$y=px+q$</a:t>
                </a:r>
                <a:r>
                  <a:rPr sz="2400" b="0">
                    <a:solidFill>
                      <a:srgbClr val="111827"/>
                    </a:solidFill>
                    <a:latin typeface="Arial"/>
                  </a:rPr>
                  <a:t> may be written </a:t>
                </a:r>
                <a:r>
                  <a:rPr lang="en-IN" sz="2400">
                    <a:solidFill>
                      <a:srgbClr val="111827"/>
                    </a:solidFill>
                    <a:latin typeface="Cambria Math" panose="02040503050406030204" pitchFamily="18" charset="0"/>
                  </a:rPr>
                  <a:t>$(\alpha,p\alpha+q)$</a:t>
                </a:r>
                <a:r>
                  <a:rPr sz="2400" b="0">
                    <a:solidFill>
                      <a:srgbClr val="111827"/>
                    </a:solidFill>
                    <a:latin typeface="Arial"/>
                  </a:rPr>
                  <a:t> to keep a single unknown.</a:t>
                </a:r>
                <a:endParaRPr sz="2400">
                  <a:solidFill>
                    <a:srgbClr val="111827"/>
                  </a:solidFill>
                </a:endParaRP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be the two points on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are symmetric with respect to the origin. Suppose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 point 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an equilateral triangle. Then, the 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be the two points on the line </a:t>
                </a:r>
                <a:r>
                  <a:rPr lang="en-IN" sz="2400">
                    <a:solidFill>
                      <a:srgbClr val="111827"/>
                    </a:solidFill>
                    <a:latin typeface="Cambria Math" panose="02040503050406030204" pitchFamily="18" charset="0"/>
                  </a:rPr>
                  <a:t>$y+x=0$</a:t>
                </a:r>
                <a:r>
                  <a:rPr sz="2400" b="0">
                    <a:solidFill>
                      <a:srgbClr val="111827"/>
                    </a:solidFill>
                    <a:latin typeface="Arial"/>
                  </a:rPr>
                  <a:t> such that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are symmetric with respect to the origin. Suppose </a:t>
                </a:r>
                <a:r>
                  <a:rPr lang="en-IN" sz="2400">
                    <a:solidFill>
                      <a:srgbClr val="111827"/>
                    </a:solidFill>
                    <a:latin typeface="Cambria Math" panose="02040503050406030204" pitchFamily="18" charset="0"/>
                  </a:rPr>
                  <a:t>$A$</a:t>
                </a:r>
                <a:r>
                  <a:rPr sz="2400" b="0">
                    <a:solidFill>
                      <a:srgbClr val="111827"/>
                    </a:solidFill>
                    <a:latin typeface="Arial"/>
                  </a:rPr>
                  <a:t> is a point on </a:t>
                </a:r>
                <a:r>
                  <a:rPr lang="en-IN" sz="2400">
                    <a:solidFill>
                      <a:srgbClr val="111827"/>
                    </a:solidFill>
                    <a:latin typeface="Cambria Math" panose="02040503050406030204" pitchFamily="18" charset="0"/>
                  </a:rPr>
                  <a:t>$y-2x=2$</a:t>
                </a:r>
                <a:r>
                  <a:rPr sz="2400" b="0">
                    <a:solidFill>
                      <a:srgbClr val="111827"/>
                    </a:solidFill>
                    <a:latin typeface="Arial"/>
                  </a:rPr>
                  <a:t> such that </a:t>
                </a:r>
                <a:r>
                  <a:rPr lang="en-IN" sz="2400">
                    <a:solidFill>
                      <a:srgbClr val="111827"/>
                    </a:solidFill>
                    <a:latin typeface="Cambria Math" panose="02040503050406030204" pitchFamily="18" charset="0"/>
                  </a:rPr>
                  <a:t>$ABC$</a:t>
                </a:r>
                <a:r>
                  <a:rPr sz="2400" b="0">
                    <a:solidFill>
                      <a:srgbClr val="111827"/>
                    </a:solidFill>
                    <a:latin typeface="Arial"/>
                  </a:rPr>
                  <a:t> is an equilateral triangle. Then, the area of </a:t>
                </a:r>
                <a:r>
                  <a:rPr lang="en-IN" sz="2400">
                    <a:solidFill>
                      <a:srgbClr val="111827"/>
                    </a:solidFill>
                    <a:latin typeface="Cambria Math" panose="02040503050406030204" pitchFamily="18" charset="0"/>
                  </a:rPr>
                  <a:t>$\triangle ABC$</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$3\sqrt{3}$</a:t>
                </a:r>
                <a:r>
                  <a:rPr sz="2400" b="0">
                    <a:solidFill>
                      <a:srgbClr val="111827"/>
                    </a:solidFill>
                    <a:latin typeface="Arial"/>
                  </a:rPr>
                  <a:t>   (B) </a:t>
                </a:r>
                <a:r>
                  <a:rPr lang="en-IN" sz="2400">
                    <a:solidFill>
                      <a:srgbClr val="111827"/>
                    </a:solidFill>
                    <a:latin typeface="Cambria Math" panose="02040503050406030204" pitchFamily="18" charset="0"/>
                  </a:rPr>
                  <a:t>$2\sqrt{3}$</a:t>
                </a:r>
                <a:r>
                  <a:rPr sz="2400" b="0">
                    <a:solidFill>
                      <a:srgbClr val="111827"/>
                    </a:solidFill>
                    <a:latin typeface="Arial"/>
                  </a:rPr>
                  <a:t>   (C) </a:t>
                </a:r>
                <a:r>
                  <a:rPr lang="en-IN" sz="2400">
                    <a:solidFill>
                      <a:srgbClr val="111827"/>
                    </a:solidFill>
                    <a:latin typeface="Cambria Math" panose="02040503050406030204" pitchFamily="18" charset="0"/>
                  </a:rPr>
                  <a:t>$\frac{8}{\sqrt{3}}$</a:t>
                </a:r>
                <a:r>
                  <a:rPr sz="2400" b="0">
                    <a:solidFill>
                      <a:srgbClr val="111827"/>
                    </a:solidFill>
                    <a:latin typeface="Arial"/>
                  </a:rPr>
                  <a:t>   (D) </a:t>
                </a:r>
                <a:r>
                  <a:rPr lang="en-IN" sz="2400">
                    <a:solidFill>
                      <a:srgbClr val="111827"/>
                    </a:solidFill>
                    <a:latin typeface="Cambria Math" panose="02040503050406030204" pitchFamily="18" charset="0"/>
                  </a:rPr>
                  <a:t>$\frac{10}{\sqrt{3}}$</a:t>
                </a:r>
                <a:endParaRPr sz="2400">
                  <a:solidFill>
                    <a:srgbClr val="111827"/>
                  </a:solidFill>
                </a:endParaRPr>
              </a:p>
            </p:txBody>
          </p:sp>
        </mc:Fallback>
      </mc:AlternateContent>
      <p:sp>
        <p:nvSpPr>
          <p:cNvPr id="5" name="Rectangle 4"/>
          <p:cNvSpPr/>
          <p:nvPr/>
        </p:nvSpPr>
        <p:spPr>
          <a:xfrm>
            <a:off x="731520" y="4061968"/>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Equilateral triangle with symmetric vertices, Distance of a point from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origin is the midpoint of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so the median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𝑂</m:t>
                    </m:r>
                  </m:oMath>
                </a14:m>
                <a:r>
                  <a:rPr sz="2400" b="0">
                    <a:solidFill>
                      <a:srgbClr val="78350F"/>
                    </a:solidFill>
                    <a:latin typeface="Arial"/>
                  </a:rPr>
                  <a:t> is also the altitude and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lies on the line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origin is the midpoint of </a:t>
                </a:r>
                <a:r>
                  <a:rPr lang="en-IN" sz="2400">
                    <a:solidFill>
                      <a:srgbClr val="78350F"/>
                    </a:solidFill>
                    <a:latin typeface="Cambria Math" panose="02040503050406030204" pitchFamily="18" charset="0"/>
                  </a:rPr>
                  <a:t>$BC$</a:t>
                </a:r>
                <a:r>
                  <a:rPr sz="2400" b="0">
                    <a:solidFill>
                      <a:srgbClr val="78350F"/>
                    </a:solidFill>
                    <a:latin typeface="Arial"/>
                  </a:rPr>
                  <a:t>, so the median </a:t>
                </a:r>
                <a:r>
                  <a:rPr lang="en-IN" sz="2400">
                    <a:solidFill>
                      <a:srgbClr val="78350F"/>
                    </a:solidFill>
                    <a:latin typeface="Cambria Math" panose="02040503050406030204" pitchFamily="18" charset="0"/>
                  </a:rPr>
                  <a:t>$AO$</a:t>
                </a:r>
                <a:r>
                  <a:rPr sz="2400" b="0">
                    <a:solidFill>
                      <a:srgbClr val="78350F"/>
                    </a:solidFill>
                    <a:latin typeface="Arial"/>
                  </a:rPr>
                  <a:t> is also the altitude and </a:t>
                </a:r>
                <a:r>
                  <a:rPr lang="en-IN" sz="2400">
                    <a:solidFill>
                      <a:srgbClr val="78350F"/>
                    </a:solidFill>
                    <a:latin typeface="Cambria Math" panose="02040503050406030204" pitchFamily="18" charset="0"/>
                  </a:rPr>
                  <a:t>$A$</a:t>
                </a:r>
                <a:r>
                  <a:rPr sz="2400" b="0">
                    <a:solidFill>
                      <a:srgbClr val="78350F"/>
                    </a:solidFill>
                    <a:latin typeface="Arial"/>
                  </a:rPr>
                  <a:t> lies on the line </a:t>
                </a:r>
                <a:r>
                  <a:rPr lang="en-IN" sz="2400">
                    <a:solidFill>
                      <a:srgbClr val="78350F"/>
                    </a:solidFill>
                    <a:latin typeface="Cambria Math" panose="02040503050406030204" pitchFamily="18" charset="0"/>
                  </a:rPr>
                  <a:t>$y=x$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are symmetric about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equilateral triangle the median is the altitude,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 line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oMath>
                </a14:m>
                <a:r>
                  <a:rPr sz="2400" b="0">
                    <a:solidFill>
                      <a:srgbClr val="111827"/>
                    </a:solidFill>
                    <a:latin typeface="Arial"/>
                  </a:rPr>
                  <a:t> is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intersection of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are symmetric about </a:t>
                </a:r>
                <a:r>
                  <a:rPr lang="en-IN" sz="2400">
                    <a:solidFill>
                      <a:srgbClr val="111827"/>
                    </a:solidFill>
                    <a:latin typeface="Cambria Math" panose="02040503050406030204" pitchFamily="18" charset="0"/>
                  </a:rPr>
                  <a:t>$O$</a:t>
                </a:r>
                <a:r>
                  <a:rPr sz="2400" b="0">
                    <a:solidFill>
                      <a:srgbClr val="111827"/>
                    </a:solidFill>
                    <a:latin typeface="Arial"/>
                  </a:rPr>
                  <a:t>, so </a:t>
                </a:r>
                <a:r>
                  <a:rPr lang="en-IN" sz="2400">
                    <a:solidFill>
                      <a:srgbClr val="111827"/>
                    </a:solidFill>
                    <a:latin typeface="Cambria Math" panose="02040503050406030204" pitchFamily="18" charset="0"/>
                  </a:rPr>
                  <a:t>$O$</a:t>
                </a:r>
                <a:r>
                  <a:rPr sz="2400" b="0">
                    <a:solidFill>
                      <a:srgbClr val="111827"/>
                    </a:solidFill>
                    <a:latin typeface="Arial"/>
                  </a:rPr>
                  <a:t> is the midpoint of </a:t>
                </a:r>
                <a:r>
                  <a:rPr lang="en-IN" sz="2400">
                    <a:solidFill>
                      <a:srgbClr val="111827"/>
                    </a:solidFill>
                    <a:latin typeface="Cambria Math" panose="02040503050406030204" pitchFamily="18" charset="0"/>
                  </a:rPr>
                  <a:t>$BC$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equilateral triangle the median is the altitude, so </a:t>
                </a:r>
                <a:r>
                  <a:rPr lang="en-IN" sz="2400">
                    <a:solidFill>
                      <a:srgbClr val="111827"/>
                    </a:solidFill>
                    <a:latin typeface="Cambria Math" panose="02040503050406030204" pitchFamily="18" charset="0"/>
                  </a:rPr>
                  <a:t>$AO\perp BC$</a:t>
                </a:r>
                <a:r>
                  <a:rPr sz="2400" b="0">
                    <a:solidFill>
                      <a:srgbClr val="111827"/>
                    </a:solidFill>
                    <a:latin typeface="Arial"/>
                  </a:rPr>
                  <a:t>. The line </a:t>
                </a:r>
                <a:r>
                  <a:rPr lang="en-IN" sz="2400">
                    <a:solidFill>
                      <a:srgbClr val="111827"/>
                    </a:solidFill>
                    <a:latin typeface="Cambria Math" panose="02040503050406030204" pitchFamily="18" charset="0"/>
                  </a:rPr>
                  <a:t>$BC$</a:t>
                </a:r>
                <a:r>
                  <a:rPr sz="2400" b="0">
                    <a:solidFill>
                      <a:srgbClr val="111827"/>
                    </a:solidFill>
                    <a:latin typeface="Arial"/>
                  </a:rPr>
                  <a:t> is </a:t>
                </a:r>
                <a:r>
                  <a:rPr lang="en-IN" sz="2400">
                    <a:solidFill>
                      <a:srgbClr val="111827"/>
                    </a:solidFill>
                    <a:latin typeface="Cambria Math" panose="02040503050406030204" pitchFamily="18" charset="0"/>
                  </a:rPr>
                  <a:t>$x+y=0$</a:t>
                </a:r>
                <a:r>
                  <a:rPr sz="2400" b="0">
                    <a:solidFill>
                      <a:srgbClr val="111827"/>
                    </a:solidFill>
                    <a:latin typeface="Arial"/>
                  </a:rPr>
                  <a:t>, hence </a:t>
                </a:r>
                <a:r>
                  <a:rPr lang="en-IN" sz="2400">
                    <a:solidFill>
                      <a:srgbClr val="111827"/>
                    </a:solidFill>
                    <a:latin typeface="Cambria Math" panose="02040503050406030204" pitchFamily="18" charset="0"/>
                  </a:rPr>
                  <a:t>$AO$</a:t>
                </a:r>
                <a:r>
                  <a:rPr sz="2400" b="0">
                    <a:solidFill>
                      <a:srgbClr val="111827"/>
                    </a:solidFill>
                    <a:latin typeface="Arial"/>
                  </a:rPr>
                  <a:t> is the line </a:t>
                </a:r>
                <a:r>
                  <a:rPr lang="en-IN" sz="2400">
                    <a:solidFill>
                      <a:srgbClr val="111827"/>
                    </a:solidFill>
                    <a:latin typeface="Cambria Math" panose="02040503050406030204" pitchFamily="18" charset="0"/>
                  </a:rPr>
                  <a:t>$y=x$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is the intersection of </a:t>
                </a:r>
                <a:r>
                  <a:rPr lang="en-IN" sz="2400">
                    <a:solidFill>
                      <a:srgbClr val="111827"/>
                    </a:solidFill>
                    <a:latin typeface="Cambria Math" panose="02040503050406030204" pitchFamily="18" charset="0"/>
                  </a:rPr>
                  <a:t>$y=x$</a:t>
                </a:r>
                <a:r>
                  <a:rPr sz="2400" b="0">
                    <a:solidFill>
                      <a:srgbClr val="111827"/>
                    </a:solidFill>
                    <a:latin typeface="Arial"/>
                  </a:rPr>
                  <a:t> and </a:t>
                </a:r>
                <a:r>
                  <a:rPr lang="en-IN" sz="2400">
                    <a:solidFill>
                      <a:srgbClr val="111827"/>
                    </a:solidFill>
                    <a:latin typeface="Cambria Math" panose="02040503050406030204" pitchFamily="18" charset="0"/>
                  </a:rPr>
                  <a:t>$y-2x=2$</a:t>
                </a:r>
                <a:r>
                  <a:rPr sz="2400" b="0">
                    <a:solidFill>
                      <a:srgbClr val="111827"/>
                    </a:solidFill>
                    <a:latin typeface="Arial"/>
                  </a:rPr>
                  <a:t>: </a:t>
                </a:r>
                <a:r>
                  <a:rPr lang="en-IN" sz="2400">
                    <a:solidFill>
                      <a:srgbClr val="111827"/>
                    </a:solidFill>
                    <a:latin typeface="Cambria Math" panose="02040503050406030204" pitchFamily="18" charset="0"/>
                  </a:rPr>
                  <a:t>$x=y$</a:t>
                </a:r>
                <a:r>
                  <a:rPr sz="2400" b="0">
                    <a:solidFill>
                      <a:srgbClr val="111827"/>
                    </a:solidFill>
                    <a:latin typeface="Arial"/>
                  </a:rPr>
                  <a:t> gives </a:t>
                </a:r>
                <a:r>
                  <a:rPr lang="en-IN" sz="2400">
                    <a:solidFill>
                      <a:srgbClr val="111827"/>
                    </a:solidFill>
                    <a:latin typeface="Cambria Math" panose="02040503050406030204" pitchFamily="18" charset="0"/>
                  </a:rPr>
                  <a:t>$-x=2$</a:t>
                </a:r>
                <a:r>
                  <a:rPr sz="2400" b="0">
                    <a:solidFill>
                      <a:srgbClr val="111827"/>
                    </a:solidFill>
                    <a:latin typeface="Arial"/>
                  </a:rPr>
                  <a:t>, so </a:t>
                </a:r>
                <a:r>
                  <a:rPr lang="en-IN" sz="2400">
                    <a:solidFill>
                      <a:srgbClr val="111827"/>
                    </a:solidFill>
                    <a:latin typeface="Cambria Math" panose="02040503050406030204" pitchFamily="18" charset="0"/>
                  </a:rPr>
                  <a:t>$A=(-2,-2)$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height of the triangle is the distance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equilateral triangle with height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the side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and the area is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height of the triangle is the distance of </a:t>
                </a:r>
                <a:r>
                  <a:rPr lang="en-IN" sz="2400">
                    <a:solidFill>
                      <a:srgbClr val="111827"/>
                    </a:solidFill>
                    <a:latin typeface="Cambria Math" panose="02040503050406030204" pitchFamily="18" charset="0"/>
                  </a:rPr>
                  <a:t>$A$</a:t>
                </a:r>
                <a:r>
                  <a:rPr sz="2400" b="0">
                    <a:solidFill>
                      <a:srgbClr val="111827"/>
                    </a:solidFill>
                    <a:latin typeface="Arial"/>
                  </a:rPr>
                  <a:t> from </a:t>
                </a:r>
                <a:r>
                  <a:rPr lang="en-IN" sz="2400">
                    <a:solidFill>
                      <a:srgbClr val="111827"/>
                    </a:solidFill>
                    <a:latin typeface="Cambria Math" panose="02040503050406030204" pitchFamily="18" charset="0"/>
                  </a:rPr>
                  <a:t>$x+y=0$</a:t>
                </a:r>
                <a:r>
                  <a:rPr sz="2400" b="0">
                    <a:solidFill>
                      <a:srgbClr val="111827"/>
                    </a:solidFill>
                    <a:latin typeface="Arial"/>
                  </a:rPr>
                  <a:t>: </a:t>
                </a:r>
                <a:r>
                  <a:rPr lang="en-IN" sz="2400">
                    <a:solidFill>
                      <a:srgbClr val="111827"/>
                    </a:solidFill>
                    <a:latin typeface="Cambria Math" panose="02040503050406030204" pitchFamily="18" charset="0"/>
                  </a:rPr>
                  <a:t>$h=\frac{|-2-2|}{\sqrt{2}}=\frac{4}{\sqrt{2}}$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equilateral triangle with height </a:t>
                </a:r>
                <a:r>
                  <a:rPr lang="en-IN" sz="2400">
                    <a:solidFill>
                      <a:srgbClr val="111827"/>
                    </a:solidFill>
                    <a:latin typeface="Cambria Math" panose="02040503050406030204" pitchFamily="18" charset="0"/>
                  </a:rPr>
                  <a:t>$h$</a:t>
                </a:r>
                <a:r>
                  <a:rPr sz="2400" b="0">
                    <a:solidFill>
                      <a:srgbClr val="111827"/>
                    </a:solidFill>
                    <a:latin typeface="Arial"/>
                  </a:rPr>
                  <a:t>, the side is </a:t>
                </a:r>
                <a:r>
                  <a:rPr lang="en-IN" sz="2400">
                    <a:solidFill>
                      <a:srgbClr val="111827"/>
                    </a:solidFill>
                    <a:latin typeface="Cambria Math" panose="02040503050406030204" pitchFamily="18" charset="0"/>
                  </a:rPr>
                  <a:t>$\frac{h}{\sin 60^\circ}$</a:t>
                </a:r>
                <a:r>
                  <a:rPr sz="2400" b="0">
                    <a:solidFill>
                      <a:srgbClr val="111827"/>
                    </a:solidFill>
                    <a:latin typeface="Arial"/>
                  </a:rPr>
                  <a:t> and the area is </a:t>
                </a:r>
                <a:r>
                  <a:rPr lang="en-IN" sz="2400">
                    <a:solidFill>
                      <a:srgbClr val="111827"/>
                    </a:solidFill>
                    <a:latin typeface="Cambria Math" panose="02040503050406030204" pitchFamily="18" charset="0"/>
                  </a:rPr>
                  <a:t>$\frac{\sqrt{3}}{4}\cdot\frac{h^2}{\sin^2 60^\circ}$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$=\frac{\sqrt{3}}{4}\cdot\frac{8}{3/4}=\frac{8}{\sqrt{3}}$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$\frac{8}{\sqrt{3}}$</a:t>
                </a:r>
                <a:endParaRPr sz="2800">
                  <a:solidFill>
                    <a:srgbClr val="15803D"/>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equate </a:t>
                </a:r>
                <a14:m>
                  <m:oMath xmlns:m="http://schemas.openxmlformats.org/officeDocument/2006/math">
                    <m:r>
                      <a:rPr lang="en-IN" sz="2400" i="1">
                        <a:solidFill>
                          <a:srgbClr val="78350F"/>
                        </a:solidFill>
                        <a:latin typeface="Cambria Math" panose="02040503050406030204" pitchFamily="18" charset="0"/>
                      </a:rPr>
                      <m:t>𝐴</m:t>
                    </m:r>
                    <m:sSup>
                      <m:e>
                        <m:r>
                          <a:rPr lang="en-IN" sz="2400" i="1">
                            <a:solidFill>
                              <a:srgbClr val="78350F"/>
                            </a:solidFill>
                            <a:latin typeface="Cambria Math" panose="02040503050406030204" pitchFamily="18" charset="0"/>
                          </a:rPr>
                          <m:t>𝐵</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sSup>
                      <m:e>
                        <m:r>
                          <a:rPr lang="en-IN" sz="2400" i="1">
                            <a:solidFill>
                              <a:srgbClr val="78350F"/>
                            </a:solidFill>
                            <a:latin typeface="Cambria Math" panose="02040503050406030204" pitchFamily="18" charset="0"/>
                          </a:rPr>
                          <m:t>𝐶</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in coordinates instead of using the height formula.</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a:t>
                </a:r>
                <a:r>
                  <a:rPr lang="en-IN" sz="2400">
                    <a:solidFill>
                      <a:srgbClr val="78350F"/>
                    </a:solidFill>
                    <a:latin typeface="Cambria Math" panose="02040503050406030204" pitchFamily="18" charset="0"/>
                  </a:rPr>
                  <a:t>$B=(k,-k)$</a:t>
                </a:r>
                <a:r>
                  <a:rPr sz="2400" b="0">
                    <a:solidFill>
                      <a:srgbClr val="78350F"/>
                    </a:solidFill>
                    <a:latin typeface="Arial"/>
                  </a:rPr>
                  <a:t>, </a:t>
                </a:r>
                <a:r>
                  <a:rPr lang="en-IN" sz="2400">
                    <a:solidFill>
                      <a:srgbClr val="78350F"/>
                    </a:solidFill>
                    <a:latin typeface="Cambria Math" panose="02040503050406030204" pitchFamily="18" charset="0"/>
                  </a:rPr>
                  <a:t>$C=(-k,k)$</a:t>
                </a:r>
                <a:r>
                  <a:rPr sz="2400" b="0">
                    <a:solidFill>
                      <a:srgbClr val="78350F"/>
                    </a:solidFill>
                    <a:latin typeface="Arial"/>
                  </a:rPr>
                  <a:t> and equate </a:t>
                </a:r>
                <a:r>
                  <a:rPr lang="en-IN" sz="2400">
                    <a:solidFill>
                      <a:srgbClr val="78350F"/>
                    </a:solidFill>
                    <a:latin typeface="Cambria Math" panose="02040503050406030204" pitchFamily="18" charset="0"/>
                  </a:rPr>
                  <a:t>$AB^2=BC^2$</a:t>
                </a:r>
                <a:r>
                  <a:rPr sz="2400" b="0">
                    <a:solidFill>
                      <a:srgbClr val="78350F"/>
                    </a:solidFill>
                    <a:latin typeface="Arial"/>
                  </a:rPr>
                  <a:t> in coordinates instead of using the height formula.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lies 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Equilateral: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r>
                  <a:rPr lang="en-IN" sz="2400">
                    <a:solidFill>
                      <a:srgbClr val="111827"/>
                    </a:solidFill>
                    <a:latin typeface="Cambria Math" panose="02040503050406030204" pitchFamily="18" charset="0"/>
                  </a:rPr>
                  <a:t>$A=(-2,-2)$</a:t>
                </a:r>
                <a:r>
                  <a:rPr sz="2400" b="0">
                    <a:solidFill>
                      <a:srgbClr val="111827"/>
                    </a:solidFill>
                    <a:latin typeface="Arial"/>
                  </a:rPr>
                  <a:t> (it lies on </a:t>
                </a:r>
                <a:r>
                  <a:rPr lang="en-IN" sz="2400">
                    <a:solidFill>
                      <a:srgbClr val="111827"/>
                    </a:solidFill>
                    <a:latin typeface="Cambria Math" panose="02040503050406030204" pitchFamily="18" charset="0"/>
                  </a:rPr>
                  <a:t>$y=x$</a:t>
                </a:r>
                <a:r>
                  <a:rPr sz="2400" b="0">
                    <a:solidFill>
                      <a:srgbClr val="111827"/>
                    </a:solidFill>
                    <a:latin typeface="Arial"/>
                  </a:rPr>
                  <a:t> and on </a:t>
                </a:r>
                <a:r>
                  <a:rPr lang="en-IN" sz="2400">
                    <a:solidFill>
                      <a:srgbClr val="111827"/>
                    </a:solidFill>
                    <a:latin typeface="Cambria Math" panose="02040503050406030204" pitchFamily="18" charset="0"/>
                  </a:rPr>
                  <a:t>$y-2x=2$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$B=(k,-k)$</a:t>
                </a:r>
                <a:r>
                  <a:rPr sz="2400" b="0">
                    <a:solidFill>
                      <a:srgbClr val="111827"/>
                    </a:solidFill>
                    <a:latin typeface="Arial"/>
                  </a:rPr>
                  <a:t> and </a:t>
                </a:r>
                <a:r>
                  <a:rPr lang="en-IN" sz="2400">
                    <a:solidFill>
                      <a:srgbClr val="111827"/>
                    </a:solidFill>
                    <a:latin typeface="Cambria Math" panose="02040503050406030204" pitchFamily="18" charset="0"/>
                  </a:rPr>
                  <a:t>$C=(-k,k)$</a:t>
                </a:r>
                <a:r>
                  <a:rPr sz="2400" b="0">
                    <a:solidFill>
                      <a:srgbClr val="111827"/>
                    </a:solidFill>
                    <a:latin typeface="Arial"/>
                  </a:rPr>
                  <a:t>; then </a:t>
                </a:r>
                <a:r>
                  <a:rPr lang="en-IN" sz="2400">
                    <a:solidFill>
                      <a:srgbClr val="111827"/>
                    </a:solidFill>
                    <a:latin typeface="Cambria Math" panose="02040503050406030204" pitchFamily="18" charset="0"/>
                  </a:rPr>
                  <a:t>$BC^2=(2k)^2+(2k)^2=8k^2$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$AB^2=(k+2)^2+(-k+2)^2=2k^2+8$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Equilateral: </a:t>
                </a:r>
                <a:r>
                  <a:rPr lang="en-IN" sz="2400">
                    <a:solidFill>
                      <a:srgbClr val="111827"/>
                    </a:solidFill>
                    <a:latin typeface="Cambria Math" panose="02040503050406030204" pitchFamily="18" charset="0"/>
                  </a:rPr>
                  <a:t>$AB^2=BC^2\Rightarrow 2k^2+8=8k^2\Rightarrow k^2=\frac{4}{3}$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$=\frac{\sqrt{3}}{4}BC^2=\frac{\sqrt{3}}{4}\cdot 8k^2=2\sqrt{3}\cdot\frac{4}{3}=\frac{8\sqrt{3}}{3}=\frac{8}{\sqrt{3}}$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$\frac{8}{\sqrt{3}}$</a:t>
                </a:r>
                <a:endParaRPr sz="2800">
                  <a:solidFill>
                    <a:srgbClr val="15803D"/>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Equilateral triangle of side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height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𝑠</m:t>
                    </m:r>
                  </m:oMath>
                </a14:m>
                <a:r>
                  <a:rPr sz="2400" b="0">
                    <a:solidFill>
                      <a:srgbClr val="111827"/>
                    </a:solidFill>
                    <a:latin typeface="Arial"/>
                  </a:rPr>
                  <a:t>, area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base is centred at the origin and the triangle is equilateral (or isosceles), the apex lies on the line through the origin perpendicular to the base.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Points symmetric about the origin on a line through 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Equilateral triangle of side </a:t>
                </a:r>
                <a:r>
                  <a:rPr lang="en-IN" sz="2400">
                    <a:solidFill>
                      <a:srgbClr val="111827"/>
                    </a:solidFill>
                    <a:latin typeface="Cambria Math" panose="02040503050406030204" pitchFamily="18" charset="0"/>
                  </a:rPr>
                  <a:t>$s$</a:t>
                </a:r>
                <a:r>
                  <a:rPr sz="2400" b="0">
                    <a:solidFill>
                      <a:srgbClr val="111827"/>
                    </a:solidFill>
                    <a:latin typeface="Arial"/>
                  </a:rPr>
                  <a:t>: height </a:t>
                </a:r>
                <a:r>
                  <a:rPr lang="en-IN" sz="2400">
                    <a:solidFill>
                      <a:srgbClr val="111827"/>
                    </a:solidFill>
                    <a:latin typeface="Cambria Math" panose="02040503050406030204" pitchFamily="18" charset="0"/>
                  </a:rPr>
                  <a:t>$\frac{\sqrt{3}}{2}s$</a:t>
                </a:r>
                <a:r>
                  <a:rPr sz="2400" b="0">
                    <a:solidFill>
                      <a:srgbClr val="111827"/>
                    </a:solidFill>
                    <a:latin typeface="Arial"/>
                  </a:rPr>
                  <a:t>, area </a:t>
                </a:r>
                <a:r>
                  <a:rPr lang="en-IN" sz="2400">
                    <a:solidFill>
                      <a:srgbClr val="111827"/>
                    </a:solidFill>
                    <a:latin typeface="Cambria Math" panose="02040503050406030204" pitchFamily="18" charset="0"/>
                  </a:rPr>
                  <a:t>$\frac{\sqrt{3}}{4}s^2=\frac{h^2}{\sqrt{3}}$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base is centred at the origin and the triangle is equilateral (or isosceles), the apex lies on the line through the origin perpendicular to the base.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Points symmetric about the origin on a line through it: </a:t>
                </a:r>
                <a:r>
                  <a:rPr lang="en-IN" sz="2400">
                    <a:solidFill>
                      <a:srgbClr val="111827"/>
                    </a:solidFill>
                    <a:latin typeface="Cambria Math" panose="02040503050406030204" pitchFamily="18" charset="0"/>
                  </a:rPr>
                  <a:t>$(k,-k)$</a:t>
                </a:r>
                <a:r>
                  <a:rPr sz="2400" b="0">
                    <a:solidFill>
                      <a:srgbClr val="111827"/>
                    </a:solidFill>
                    <a:latin typeface="Arial"/>
                  </a:rPr>
                  <a:t> and </a:t>
                </a:r>
                <a:r>
                  <a:rPr lang="en-IN" sz="2400">
                    <a:solidFill>
                      <a:srgbClr val="111827"/>
                    </a:solidFill>
                    <a:latin typeface="Cambria Math" panose="02040503050406030204" pitchFamily="18" charset="0"/>
                  </a:rPr>
                  <a:t>$(-k,k)$</a:t>
                </a:r>
                <a:r>
                  <a:rPr sz="2400" b="0">
                    <a:solidFill>
                      <a:srgbClr val="111827"/>
                    </a:solidFill>
                    <a:latin typeface="Arial"/>
                  </a:rPr>
                  <a:t> for </a:t>
                </a:r>
                <a:r>
                  <a:rPr lang="en-IN" sz="2400">
                    <a:solidFill>
                      <a:srgbClr val="111827"/>
                    </a:solidFill>
                    <a:latin typeface="Cambria Math" panose="02040503050406030204" pitchFamily="18" charset="0"/>
                  </a:rPr>
                  <a:t>$x+y=0$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light ray emits from the origin making an angle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After getting reflected by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this ray intersects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then the abscissa of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light ray emits from the origin making an angle </a:t>
                </a:r>
                <a:r>
                  <a:rPr lang="en-IN" sz="2400">
                    <a:solidFill>
                      <a:srgbClr val="111827"/>
                    </a:solidFill>
                    <a:latin typeface="Cambria Math" panose="02040503050406030204" pitchFamily="18" charset="0"/>
                  </a:rPr>
                  <a:t>$30^\circ$</a:t>
                </a:r>
                <a:r>
                  <a:rPr sz="2400" b="0">
                    <a:solidFill>
                      <a:srgbClr val="111827"/>
                    </a:solidFill>
                    <a:latin typeface="Arial"/>
                  </a:rPr>
                  <a:t> with the positive </a:t>
                </a:r>
                <a:r>
                  <a:rPr lang="en-IN" sz="2400">
                    <a:solidFill>
                      <a:srgbClr val="111827"/>
                    </a:solidFill>
                    <a:latin typeface="Cambria Math" panose="02040503050406030204" pitchFamily="18" charset="0"/>
                  </a:rPr>
                  <a:t>$x$</a:t>
                </a:r>
                <a:r>
                  <a:rPr sz="2400" b="0">
                    <a:solidFill>
                      <a:srgbClr val="111827"/>
                    </a:solidFill>
                    <a:latin typeface="Arial"/>
                  </a:rPr>
                  <a:t>-axis. After getting reflected by the line </a:t>
                </a:r>
                <a:r>
                  <a:rPr lang="en-IN" sz="2400">
                    <a:solidFill>
                      <a:srgbClr val="111827"/>
                    </a:solidFill>
                    <a:latin typeface="Cambria Math" panose="02040503050406030204" pitchFamily="18" charset="0"/>
                  </a:rPr>
                  <a:t>$x+y=1$</a:t>
                </a:r>
                <a:r>
                  <a:rPr sz="2400" b="0">
                    <a:solidFill>
                      <a:srgbClr val="111827"/>
                    </a:solidFill>
                    <a:latin typeface="Arial"/>
                  </a:rPr>
                  <a:t>, if this ray intersects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$Q$</a:t>
                </a:r>
                <a:r>
                  <a:rPr sz="2400" b="0">
                    <a:solidFill>
                      <a:srgbClr val="111827"/>
                    </a:solidFill>
                    <a:latin typeface="Arial"/>
                  </a:rPr>
                  <a:t>, then the abscissa of </a:t>
                </a:r>
                <a:r>
                  <a:rPr lang="en-IN" sz="2400">
                    <a:solidFill>
                      <a:srgbClr val="111827"/>
                    </a:solidFill>
                    <a:latin typeface="Cambria Math" panose="02040503050406030204" pitchFamily="18" charset="0"/>
                  </a:rPr>
                  <a:t>$Q$</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$\frac{2}{3-\sqrt{3}}$</a:t>
                </a:r>
                <a:r>
                  <a:rPr sz="2400" b="0">
                    <a:solidFill>
                      <a:srgbClr val="111827"/>
                    </a:solidFill>
                    <a:latin typeface="Arial"/>
                  </a:rPr>
                  <a:t>   (B) </a:t>
                </a:r>
                <a:r>
                  <a:rPr lang="en-IN" sz="2400">
                    <a:solidFill>
                      <a:srgbClr val="111827"/>
                    </a:solidFill>
                    <a:latin typeface="Cambria Math" panose="02040503050406030204" pitchFamily="18" charset="0"/>
                  </a:rPr>
                  <a:t>$\frac{\sqrt{3}}{2(\sqrt{3}+1)}$</a:t>
                </a:r>
                <a:r>
                  <a:rPr sz="2400" b="0">
                    <a:solidFill>
                      <a:srgbClr val="111827"/>
                    </a:solidFill>
                    <a:latin typeface="Arial"/>
                  </a:rPr>
                  <a:t>   (C) </a:t>
                </a:r>
                <a:r>
                  <a:rPr lang="en-IN" sz="2400">
                    <a:solidFill>
                      <a:srgbClr val="111827"/>
                    </a:solidFill>
                    <a:latin typeface="Cambria Math" panose="02040503050406030204" pitchFamily="18" charset="0"/>
                  </a:rPr>
                  <a:t>$\frac{2}{\sqrt{3}-1}$</a:t>
                </a:r>
                <a:r>
                  <a:rPr sz="2400" b="0">
                    <a:solidFill>
                      <a:srgbClr val="111827"/>
                    </a:solidFill>
                    <a:latin typeface="Arial"/>
                  </a:rPr>
                  <a:t>   (D) </a:t>
                </a:r>
                <a:r>
                  <a:rPr lang="en-IN" sz="2400">
                    <a:solidFill>
                      <a:srgbClr val="111827"/>
                    </a:solidFill>
                    <a:latin typeface="Cambria Math" panose="02040503050406030204" pitchFamily="18" charset="0"/>
                  </a:rPr>
                  <a:t>$\frac{2}{3+\sqrt{3}}$</a:t>
                </a:r>
                <a:endParaRPr sz="2400">
                  <a:solidFill>
                    <a:srgbClr val="111827"/>
                  </a:solidFill>
                </a:endParaRPr>
              </a:p>
            </p:txBody>
          </p:sp>
        </mc:Fallback>
      </mc:AlternateContent>
      <p:sp>
        <p:nvSpPr>
          <p:cNvPr id="5" name="Rectangle 4"/>
          <p:cNvSpPr/>
          <p:nvPr/>
        </p:nvSpPr>
        <p:spPr>
          <a:xfrm>
            <a:off x="731520" y="45435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Reflection of a ray in a line, Image of a point in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reflected ray, extended backwards, passes through the image of the source in the mirror.</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image of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lies on the reflected ray: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image is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incident ray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It meets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reflected ray is the line through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image of </a:t>
                </a:r>
                <a:r>
                  <a:rPr lang="en-IN" sz="2400">
                    <a:solidFill>
                      <a:srgbClr val="111827"/>
                    </a:solidFill>
                    <a:latin typeface="Cambria Math" panose="02040503050406030204" pitchFamily="18" charset="0"/>
                  </a:rPr>
                  <a:t>$O(0,0)$</a:t>
                </a:r>
                <a:r>
                  <a:rPr sz="2400" b="0">
                    <a:solidFill>
                      <a:srgbClr val="111827"/>
                    </a:solidFill>
                    <a:latin typeface="Arial"/>
                  </a:rPr>
                  <a:t> in the line </a:t>
                </a:r>
                <a:r>
                  <a:rPr lang="en-IN" sz="2400">
                    <a:solidFill>
                      <a:srgbClr val="111827"/>
                    </a:solidFill>
                    <a:latin typeface="Cambria Math" panose="02040503050406030204" pitchFamily="18" charset="0"/>
                  </a:rPr>
                  <a:t>$x+y-1=0$</a:t>
                </a:r>
                <a:r>
                  <a:rPr sz="2400" b="0">
                    <a:solidFill>
                      <a:srgbClr val="111827"/>
                    </a:solidFill>
                    <a:latin typeface="Arial"/>
                  </a:rPr>
                  <a:t> lies on the reflected ray: </a:t>
                </a:r>
                <a:r>
                  <a:rPr lang="en-IN" sz="2400">
                    <a:solidFill>
                      <a:srgbClr val="111827"/>
                    </a:solidFill>
                    <a:latin typeface="Cambria Math" panose="02040503050406030204" pitchFamily="18" charset="0"/>
                  </a:rPr>
                  <a:t>$\frac{x-0}{1}=\frac{y-0}{1}=\frac{-2(0+0-1)}{2}=1$</a:t>
                </a:r>
                <a:r>
                  <a:rPr sz="2400" b="0">
                    <a:solidFill>
                      <a:srgbClr val="111827"/>
                    </a:solidFill>
                    <a:latin typeface="Arial"/>
                  </a:rPr>
                  <a:t>, so the image is </a:t>
                </a:r>
                <a:r>
                  <a:rPr lang="en-IN" sz="2400">
                    <a:solidFill>
                      <a:srgbClr val="111827"/>
                    </a:solidFill>
                    <a:latin typeface="Cambria Math" panose="02040503050406030204" pitchFamily="18" charset="0"/>
                  </a:rPr>
                  <a:t>$B(1,1)$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incident ray is </a:t>
                </a:r>
                <a:r>
                  <a:rPr lang="en-IN" sz="2400">
                    <a:solidFill>
                      <a:srgbClr val="111827"/>
                    </a:solidFill>
                    <a:latin typeface="Cambria Math" panose="02040503050406030204" pitchFamily="18" charset="0"/>
                  </a:rPr>
                  <a:t>$y=\frac{x}{\sqrt{3}}$</a:t>
                </a:r>
                <a:r>
                  <a:rPr sz="2400" b="0">
                    <a:solidFill>
                      <a:srgbClr val="111827"/>
                    </a:solidFill>
                    <a:latin typeface="Arial"/>
                  </a:rPr>
                  <a:t>. It meets </a:t>
                </a:r>
                <a:r>
                  <a:rPr lang="en-IN" sz="2400">
                    <a:solidFill>
                      <a:srgbClr val="111827"/>
                    </a:solidFill>
                    <a:latin typeface="Cambria Math" panose="02040503050406030204" pitchFamily="18" charset="0"/>
                  </a:rPr>
                  <a:t>$x+y=1$</a:t>
                </a:r>
                <a:r>
                  <a:rPr sz="2400" b="0">
                    <a:solidFill>
                      <a:srgbClr val="111827"/>
                    </a:solidFill>
                    <a:latin typeface="Arial"/>
                  </a:rPr>
                  <a:t> at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$x\left(1+\frac{1}{\sqrt{3}}\right)=1$</a:t>
                </a:r>
                <a:r>
                  <a:rPr sz="2400" b="0">
                    <a:solidFill>
                      <a:srgbClr val="111827"/>
                    </a:solidFill>
                    <a:latin typeface="Arial"/>
                  </a:rPr>
                  <a:t>, so </a:t>
                </a:r>
                <a:r>
                  <a:rPr lang="en-IN" sz="2400">
                    <a:solidFill>
                      <a:srgbClr val="111827"/>
                    </a:solidFill>
                    <a:latin typeface="Cambria Math" panose="02040503050406030204" pitchFamily="18" charset="0"/>
                  </a:rPr>
                  <a:t>$P=\left(\frac{3-\sqrt{3}}{2},\frac{\sqrt{3}-1}{2}\right)$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reflected ray is the line through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slope is </a:t>
                </a:r>
                <a14:m>
                  <m:oMath xmlns:m="http://schemas.openxmlformats.org/officeDocument/2006/math">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slope is </a:t>
                </a:r>
                <a:r>
                  <a:rPr lang="en-IN" sz="2400">
                    <a:solidFill>
                      <a:srgbClr val="111827"/>
                    </a:solidFill>
                    <a:latin typeface="Cambria Math" panose="02040503050406030204" pitchFamily="18" charset="0"/>
                  </a:rPr>
                  <a:t>$\frac{\frac{\sqrt{3}-1}{2}-1}{\frac{3-\sqrt{3}}{2}-1}=\frac{\sqrt{3}-3}{1-\sqrt{3}}=\sqrt{3}$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 of </a:t>
                </a:r>
                <a:r>
                  <a:rPr lang="en-IN" sz="2400">
                    <a:solidFill>
                      <a:srgbClr val="111827"/>
                    </a:solidFill>
                    <a:latin typeface="Cambria Math" panose="02040503050406030204" pitchFamily="18" charset="0"/>
                  </a:rPr>
                  <a:t>$BP$</a:t>
                </a:r>
                <a:r>
                  <a:rPr sz="2400" b="0">
                    <a:solidFill>
                      <a:srgbClr val="111827"/>
                    </a:solidFill>
                    <a:latin typeface="Arial"/>
                  </a:rPr>
                  <a:t>: </a:t>
                </a:r>
                <a:r>
                  <a:rPr lang="en-IN" sz="2400">
                    <a:solidFill>
                      <a:srgbClr val="111827"/>
                    </a:solidFill>
                    <a:latin typeface="Cambria Math" panose="02040503050406030204" pitchFamily="18" charset="0"/>
                  </a:rPr>
                  <a:t>$y-1=\sqrt{3}(x-1)$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$-\frac{1}{\sqrt{3}}=x-1$</a:t>
                </a:r>
                <a:r>
                  <a:rPr sz="2400" b="0">
                    <a:solidFill>
                      <a:srgbClr val="111827"/>
                    </a:solidFill>
                    <a:latin typeface="Arial"/>
                  </a:rPr>
                  <a:t>, so </a:t>
                </a:r>
                <a:r>
                  <a:rPr lang="en-IN" sz="2400">
                    <a:solidFill>
                      <a:srgbClr val="111827"/>
                    </a:solidFill>
                    <a:latin typeface="Cambria Math" panose="02040503050406030204" pitchFamily="18" charset="0"/>
                  </a:rPr>
                  <a:t>$x=1-\frac{1}{\sqrt{3}}=\frac{\sqrt{3}-1}{\sqrt{3}}=\frac{2}{3+\sqrt{3}}$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$\frac{2}{3+\sqrt{3}}$</a:t>
                </a:r>
                <a:endParaRPr sz="2800">
                  <a:solidFill>
                    <a:srgbClr val="15803D"/>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law of reflection on direction angles: the reflected inclination is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ϕ</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θ</m:t>
                    </m:r>
                  </m:oMath>
                </a14:m>
                <a:r>
                  <a:rPr sz="2400" b="0">
                    <a:solidFill>
                      <a:srgbClr val="78350F"/>
                    </a:solidFill>
                    <a:latin typeface="Arial"/>
                  </a:rPr>
                  <a:t> for a mirror of inclination </a:t>
                </a:r>
                <a14:m>
                  <m:oMath xmlns:m="http://schemas.openxmlformats.org/officeDocument/2006/math">
                    <m:r>
                      <a:rPr lang="en-IN" sz="2400" i="1">
                        <a:solidFill>
                          <a:srgbClr val="78350F"/>
                        </a:solidFill>
                        <a:latin typeface="Cambria Math" panose="02040503050406030204" pitchFamily="18" charset="0"/>
                      </a:rPr>
                      <m:t>ϕ</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law of reflection on direction angles: the reflected inclination is </a:t>
                </a:r>
                <a:r>
                  <a:rPr lang="en-IN" sz="2400">
                    <a:solidFill>
                      <a:srgbClr val="78350F"/>
                    </a:solidFill>
                    <a:latin typeface="Cambria Math" panose="02040503050406030204" pitchFamily="18" charset="0"/>
                  </a:rPr>
                  <a:t>$2\phi-\theta$</a:t>
                </a:r>
                <a:r>
                  <a:rPr sz="2400" b="0">
                    <a:solidFill>
                      <a:srgbClr val="78350F"/>
                    </a:solidFill>
                    <a:latin typeface="Arial"/>
                  </a:rPr>
                  <a:t> for a mirror of inclination </a:t>
                </a:r>
                <a:r>
                  <a:rPr lang="en-IN" sz="2400">
                    <a:solidFill>
                      <a:srgbClr val="78350F"/>
                    </a:solidFill>
                    <a:latin typeface="Cambria Math" panose="02040503050406030204" pitchFamily="18" charset="0"/>
                  </a:rPr>
                  <a:t>$\phi$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mirror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its inclination is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incident ray has inclination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reflected ray has inclination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270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240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i.e. slope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240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of incidence 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(solve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mirror </a:t>
                </a:r>
                <a:r>
                  <a:rPr lang="en-IN" sz="2400">
                    <a:solidFill>
                      <a:srgbClr val="111827"/>
                    </a:solidFill>
                    <a:latin typeface="Cambria Math" panose="02040503050406030204" pitchFamily="18" charset="0"/>
                  </a:rPr>
                  <a:t>$x+y=1$</a:t>
                </a:r>
                <a:r>
                  <a:rPr sz="2400" b="0">
                    <a:solidFill>
                      <a:srgbClr val="111827"/>
                    </a:solidFill>
                    <a:latin typeface="Arial"/>
                  </a:rPr>
                  <a:t> has slope </a:t>
                </a:r>
                <a:r>
                  <a:rPr lang="en-IN" sz="2400">
                    <a:solidFill>
                      <a:srgbClr val="111827"/>
                    </a:solidFill>
                    <a:latin typeface="Cambria Math" panose="02040503050406030204" pitchFamily="18" charset="0"/>
                  </a:rPr>
                  <a:t>$-1$</a:t>
                </a:r>
                <a:r>
                  <a:rPr sz="2400" b="0">
                    <a:solidFill>
                      <a:srgbClr val="111827"/>
                    </a:solidFill>
                    <a:latin typeface="Arial"/>
                  </a:rPr>
                  <a:t>, so its inclination is </a:t>
                </a:r>
                <a:r>
                  <a:rPr lang="en-IN" sz="2400">
                    <a:solidFill>
                      <a:srgbClr val="111827"/>
                    </a:solidFill>
                    <a:latin typeface="Cambria Math" panose="02040503050406030204" pitchFamily="18" charset="0"/>
                  </a:rPr>
                  <a:t>$\phi=135^\circ$</a:t>
                </a:r>
                <a:r>
                  <a:rPr sz="2400" b="0">
                    <a:solidFill>
                      <a:srgbClr val="111827"/>
                    </a:solidFill>
                    <a:latin typeface="Arial"/>
                  </a:rPr>
                  <a:t>. The incident ray has inclination </a:t>
                </a:r>
                <a:r>
                  <a:rPr lang="en-IN" sz="2400">
                    <a:solidFill>
                      <a:srgbClr val="111827"/>
                    </a:solidFill>
                    <a:latin typeface="Cambria Math" panose="02040503050406030204" pitchFamily="18" charset="0"/>
                  </a:rPr>
                  <a:t>$\theta=30^\circ$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reflected ray has inclination </a:t>
                </a:r>
                <a:r>
                  <a:rPr lang="en-IN" sz="2400">
                    <a:solidFill>
                      <a:srgbClr val="111827"/>
                    </a:solidFill>
                    <a:latin typeface="Cambria Math" panose="02040503050406030204" pitchFamily="18" charset="0"/>
                  </a:rPr>
                  <a:t>$2\phi-\theta=270^\circ-30^\circ=240^\circ$</a:t>
                </a:r>
                <a:r>
                  <a:rPr sz="2400" b="0">
                    <a:solidFill>
                      <a:srgbClr val="111827"/>
                    </a:solidFill>
                    <a:latin typeface="Arial"/>
                  </a:rPr>
                  <a:t>, i.e. slope </a:t>
                </a:r>
                <a:r>
                  <a:rPr lang="en-IN" sz="2400">
                    <a:solidFill>
                      <a:srgbClr val="111827"/>
                    </a:solidFill>
                    <a:latin typeface="Cambria Math" panose="02040503050406030204" pitchFamily="18" charset="0"/>
                  </a:rPr>
                  <a:t>$\tan 240^\circ=\sqrt{3}$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of incidence is </a:t>
                </a:r>
                <a:r>
                  <a:rPr lang="en-IN" sz="2400">
                    <a:solidFill>
                      <a:srgbClr val="111827"/>
                    </a:solidFill>
                    <a:latin typeface="Cambria Math" panose="02040503050406030204" pitchFamily="18" charset="0"/>
                  </a:rPr>
                  <a:t>$P=\left(\frac{3-\sqrt{3}}{2},\frac{\sqrt{3}-1}{2}\right)$</a:t>
                </a:r>
                <a:r>
                  <a:rPr sz="2400" b="0">
                    <a:solidFill>
                      <a:srgbClr val="111827"/>
                    </a:solidFill>
                    <a:latin typeface="Arial"/>
                  </a:rPr>
                  <a:t> (solve </a:t>
                </a:r>
                <a:r>
                  <a:rPr lang="en-IN" sz="2400">
                    <a:solidFill>
                      <a:srgbClr val="111827"/>
                    </a:solidFill>
                    <a:latin typeface="Cambria Math" panose="02040503050406030204" pitchFamily="18" charset="0"/>
                  </a:rPr>
                  <a:t>$y=\frac{x}{\sqrt{3}}$</a:t>
                </a:r>
                <a:r>
                  <a:rPr sz="2400" b="0">
                    <a:solidFill>
                      <a:srgbClr val="111827"/>
                    </a:solidFill>
                    <a:latin typeface="Arial"/>
                  </a:rPr>
                  <a:t> with </a:t>
                </a:r>
                <a:r>
                  <a:rPr lang="en-IN" sz="2400">
                    <a:solidFill>
                      <a:srgbClr val="111827"/>
                    </a:solidFill>
                    <a:latin typeface="Cambria Math" panose="02040503050406030204" pitchFamily="18" charset="0"/>
                  </a:rPr>
                  <a:t>$x+y=1$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Reflected ray: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𝑃</m:t>
                            </m:r>
                          </m:sub>
                        </m:sSub>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(rationalise: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Reflected ray: </a:t>
                </a:r>
                <a:r>
                  <a:rPr lang="en-IN" sz="2400">
                    <a:solidFill>
                      <a:srgbClr val="111827"/>
                    </a:solidFill>
                    <a:latin typeface="Cambria Math" panose="02040503050406030204" pitchFamily="18" charset="0"/>
                  </a:rPr>
                  <a:t>$y-y_P=\sqrt{3}(x-x_P)$</a:t>
                </a:r>
                <a:r>
                  <a:rPr sz="2400" b="0">
                    <a:solidFill>
                      <a:srgbClr val="111827"/>
                    </a:solidFill>
                    <a:latin typeface="Arial"/>
                  </a:rPr>
                  <a:t>. At </a:t>
                </a: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$x=x_P-\frac{y_P}{\sqrt{3}}=\frac{3-\sqrt{3}}{2}-\frac{\sqrt{3}-1}{2\sqrt{3}}=\frac{3-\sqrt{3}}{3}$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$x=1-\frac{1}{\sqrt{3}}=\frac{2}{3+\sqrt{3}}$</a:t>
                </a:r>
                <a:r>
                  <a:rPr sz="2400" b="0">
                    <a:solidFill>
                      <a:srgbClr val="111827"/>
                    </a:solidFill>
                    <a:latin typeface="Arial"/>
                  </a:rPr>
                  <a:t> (rationalise: </a:t>
                </a:r>
                <a:r>
                  <a:rPr lang="en-IN" sz="2400">
                    <a:solidFill>
                      <a:srgbClr val="111827"/>
                    </a:solidFill>
                    <a:latin typeface="Cambria Math" panose="02040503050406030204" pitchFamily="18" charset="0"/>
                  </a:rPr>
                  <a:t>$\frac{2}{3+\sqrt{3}}\cdot\frac{3-\sqrt{3}}{3-\sqrt{3}}=\frac{3-\sqrt{3}}{3}$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$\frac{2}{3+\sqrt{3}}$</a:t>
                </a:r>
                <a:endParaRPr sz="2800">
                  <a:solidFill>
                    <a:srgbClr val="15803D"/>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Image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Reflection law in angles: a ray of inclination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hitting a mirror of inclination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leaves with inclination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image method turns every reflection problem into a straight-line problem: the reflected ray is the line from the image of the source through the target.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Image of </a:t>
                </a:r>
                <a:r>
                  <a:rPr lang="en-IN" sz="2400">
                    <a:solidFill>
                      <a:srgbClr val="111827"/>
                    </a:solidFill>
                    <a:latin typeface="Cambria Math" panose="02040503050406030204" pitchFamily="18" charset="0"/>
                  </a:rPr>
                  <a:t>$(x_1,y_1)$</a:t>
                </a:r>
                <a:r>
                  <a:rPr sz="2400" b="0">
                    <a:solidFill>
                      <a:srgbClr val="111827"/>
                    </a:solidFill>
                    <a:latin typeface="Arial"/>
                  </a:rPr>
                  <a:t> in </a:t>
                </a:r>
                <a:r>
                  <a:rPr lang="en-IN" sz="2400">
                    <a:solidFill>
                      <a:srgbClr val="111827"/>
                    </a:solidFill>
                    <a:latin typeface="Cambria Math" panose="02040503050406030204" pitchFamily="18" charset="0"/>
                  </a:rPr>
                  <a:t>$ax+by+c=0$</a:t>
                </a:r>
                <a:r>
                  <a:rPr sz="2400" b="0">
                    <a:solidFill>
                      <a:srgbClr val="111827"/>
                    </a:solidFill>
                    <a:latin typeface="Arial"/>
                  </a:rPr>
                  <a:t>: </a:t>
                </a:r>
                <a:r>
                  <a:rPr lang="en-IN" sz="2400">
                    <a:solidFill>
                      <a:srgbClr val="111827"/>
                    </a:solidFill>
                    <a:latin typeface="Cambria Math" panose="02040503050406030204" pitchFamily="18" charset="0"/>
                  </a:rPr>
                  <a:t>$\frac{x-x_1}{a}=\frac{y-y_1}{b}=-\frac{2(ax_1+by_1+c)}{a^2+b^2}$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Reflection law in angles: a ray of inclination </a:t>
                </a:r>
                <a:r>
                  <a:rPr lang="en-IN" sz="2400">
                    <a:solidFill>
                      <a:srgbClr val="111827"/>
                    </a:solidFill>
                    <a:latin typeface="Cambria Math" panose="02040503050406030204" pitchFamily="18" charset="0"/>
                  </a:rPr>
                  <a:t>$\theta$</a:t>
                </a:r>
                <a:r>
                  <a:rPr sz="2400" b="0">
                    <a:solidFill>
                      <a:srgbClr val="111827"/>
                    </a:solidFill>
                    <a:latin typeface="Arial"/>
                  </a:rPr>
                  <a:t> hitting a mirror of inclination </a:t>
                </a:r>
                <a:r>
                  <a:rPr lang="en-IN" sz="2400">
                    <a:solidFill>
                      <a:srgbClr val="111827"/>
                    </a:solidFill>
                    <a:latin typeface="Cambria Math" panose="02040503050406030204" pitchFamily="18" charset="0"/>
                  </a:rPr>
                  <a:t>$\phi$</a:t>
                </a:r>
                <a:r>
                  <a:rPr sz="2400" b="0">
                    <a:solidFill>
                      <a:srgbClr val="111827"/>
                    </a:solidFill>
                    <a:latin typeface="Arial"/>
                  </a:rPr>
                  <a:t> leaves with inclination </a:t>
                </a:r>
                <a:r>
                  <a:rPr lang="en-IN" sz="2400">
                    <a:solidFill>
                      <a:srgbClr val="111827"/>
                    </a:solidFill>
                    <a:latin typeface="Cambria Math" panose="02040503050406030204" pitchFamily="18" charset="0"/>
                  </a:rPr>
                  <a:t>$2\phi-\theta$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image method turns every reflection problem into a straight-line problem: the reflected ray is the line from the image of the source through the target.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straight line cuts off the intercepts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on the positive directions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respectively. If the perpendicular from origin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to this line makes an angle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with positive direction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and the 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98</m:t>
                        </m:r>
                      </m:num>
                      <m:den>
                        <m:r>
                          <a:rPr lang="en-IN" sz="2400" i="1">
                            <a:solidFill>
                              <a:srgbClr val="111827"/>
                            </a:solidFill>
                            <a:latin typeface="Cambria Math" panose="02040503050406030204" pitchFamily="18" charset="0"/>
                          </a:rPr>
                          <m:t>3</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98</m:t>
                    </m:r>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196</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196</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392</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straight line cuts off the intercepts </a:t>
                </a:r>
                <a:r>
                  <a:rPr lang="en-IN" sz="2400">
                    <a:solidFill>
                      <a:srgbClr val="111827"/>
                    </a:solidFill>
                    <a:latin typeface="Cambria Math" panose="02040503050406030204" pitchFamily="18" charset="0"/>
                  </a:rPr>
                  <a:t>$OA=a$</a:t>
                </a:r>
                <a:r>
                  <a:rPr sz="2400" b="0">
                    <a:solidFill>
                      <a:srgbClr val="111827"/>
                    </a:solidFill>
                    <a:latin typeface="Arial"/>
                  </a:rPr>
                  <a:t> and </a:t>
                </a:r>
                <a:r>
                  <a:rPr lang="en-IN" sz="2400">
                    <a:solidFill>
                      <a:srgbClr val="111827"/>
                    </a:solidFill>
                    <a:latin typeface="Cambria Math" panose="02040503050406030204" pitchFamily="18" charset="0"/>
                  </a:rPr>
                  <a:t>$OB=b$</a:t>
                </a:r>
                <a:r>
                  <a:rPr sz="2400" b="0">
                    <a:solidFill>
                      <a:srgbClr val="111827"/>
                    </a:solidFill>
                    <a:latin typeface="Arial"/>
                  </a:rPr>
                  <a:t> on the positive directions of </a:t>
                </a:r>
                <a:r>
                  <a:rPr lang="en-IN" sz="2400">
                    <a:solidFill>
                      <a:srgbClr val="111827"/>
                    </a:solidFill>
                    <a:latin typeface="Cambria Math" panose="02040503050406030204" pitchFamily="18" charset="0"/>
                  </a:rPr>
                  <a:t>$x$</a:t>
                </a:r>
                <a:r>
                  <a:rPr sz="2400" b="0">
                    <a:solidFill>
                      <a:srgbClr val="111827"/>
                    </a:solidFill>
                    <a:latin typeface="Arial"/>
                  </a:rPr>
                  <a:t>-axis and </a:t>
                </a:r>
                <a:r>
                  <a:rPr lang="en-IN" sz="2400">
                    <a:solidFill>
                      <a:srgbClr val="111827"/>
                    </a:solidFill>
                    <a:latin typeface="Cambria Math" panose="02040503050406030204" pitchFamily="18" charset="0"/>
                  </a:rPr>
                  <a:t>$y$</a:t>
                </a:r>
                <a:r>
                  <a:rPr sz="2400" b="0">
                    <a:solidFill>
                      <a:srgbClr val="111827"/>
                    </a:solidFill>
                    <a:latin typeface="Arial"/>
                  </a:rPr>
                  <a:t>-axis respectively. If the perpendicular from origin </a:t>
                </a:r>
                <a:r>
                  <a:rPr lang="en-IN" sz="2400">
                    <a:solidFill>
                      <a:srgbClr val="111827"/>
                    </a:solidFill>
                    <a:latin typeface="Cambria Math" panose="02040503050406030204" pitchFamily="18" charset="0"/>
                  </a:rPr>
                  <a:t>$O$</a:t>
                </a:r>
                <a:r>
                  <a:rPr sz="2400" b="0">
                    <a:solidFill>
                      <a:srgbClr val="111827"/>
                    </a:solidFill>
                    <a:latin typeface="Arial"/>
                  </a:rPr>
                  <a:t> to this line makes an angle of </a:t>
                </a:r>
                <a:r>
                  <a:rPr lang="en-IN" sz="2400">
                    <a:solidFill>
                      <a:srgbClr val="111827"/>
                    </a:solidFill>
                    <a:latin typeface="Cambria Math" panose="02040503050406030204" pitchFamily="18" charset="0"/>
                  </a:rPr>
                  <a:t>$\frac{\pi}{6}$</a:t>
                </a:r>
                <a:r>
                  <a:rPr sz="2400" b="0">
                    <a:solidFill>
                      <a:srgbClr val="111827"/>
                    </a:solidFill>
                    <a:latin typeface="Arial"/>
                  </a:rPr>
                  <a:t> with positive direction of </a:t>
                </a:r>
                <a:r>
                  <a:rPr lang="en-IN" sz="2400">
                    <a:solidFill>
                      <a:srgbClr val="111827"/>
                    </a:solidFill>
                    <a:latin typeface="Cambria Math" panose="02040503050406030204" pitchFamily="18" charset="0"/>
                  </a:rPr>
                  <a:t>$y$</a:t>
                </a:r>
                <a:r>
                  <a:rPr sz="2400" b="0">
                    <a:solidFill>
                      <a:srgbClr val="111827"/>
                    </a:solidFill>
                    <a:latin typeface="Arial"/>
                  </a:rPr>
                  <a:t>-axis and the area of </a:t>
                </a:r>
                <a:r>
                  <a:rPr lang="en-IN" sz="2400">
                    <a:solidFill>
                      <a:srgbClr val="111827"/>
                    </a:solidFill>
                    <a:latin typeface="Cambria Math" panose="02040503050406030204" pitchFamily="18" charset="0"/>
                  </a:rPr>
                  <a:t>$\triangle OAB$</a:t>
                </a:r>
                <a:r>
                  <a:rPr sz="2400" b="0">
                    <a:solidFill>
                      <a:srgbClr val="111827"/>
                    </a:solidFill>
                    <a:latin typeface="Arial"/>
                  </a:rPr>
                  <a:t> is </a:t>
                </a:r>
                <a:r>
                  <a:rPr lang="en-IN" sz="2400">
                    <a:solidFill>
                      <a:srgbClr val="111827"/>
                    </a:solidFill>
                    <a:latin typeface="Cambria Math" panose="02040503050406030204" pitchFamily="18" charset="0"/>
                  </a:rPr>
                  <a:t>$\frac{98}{3}\sqrt{3}$</a:t>
                </a:r>
                <a:r>
                  <a:rPr sz="2400" b="0">
                    <a:solidFill>
                      <a:srgbClr val="111827"/>
                    </a:solidFill>
                    <a:latin typeface="Arial"/>
                  </a:rPr>
                  <a:t>, then </a:t>
                </a:r>
                <a:r>
                  <a:rPr lang="en-IN" sz="2400">
                    <a:solidFill>
                      <a:srgbClr val="111827"/>
                    </a:solidFill>
                    <a:latin typeface="Cambria Math" panose="02040503050406030204" pitchFamily="18" charset="0"/>
                  </a:rPr>
                  <a:t>$a^2-b^2$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$98$</a:t>
                </a:r>
                <a:r>
                  <a:rPr sz="2400" b="0">
                    <a:solidFill>
                      <a:srgbClr val="111827"/>
                    </a:solidFill>
                    <a:latin typeface="Arial"/>
                  </a:rPr>
                  <a:t>   (B) </a:t>
                </a:r>
                <a:r>
                  <a:rPr lang="en-IN" sz="2400">
                    <a:solidFill>
                      <a:srgbClr val="111827"/>
                    </a:solidFill>
                    <a:latin typeface="Cambria Math" panose="02040503050406030204" pitchFamily="18" charset="0"/>
                  </a:rPr>
                  <a:t>$\frac{196}{3}$</a:t>
                </a:r>
                <a:r>
                  <a:rPr sz="2400" b="0">
                    <a:solidFill>
                      <a:srgbClr val="111827"/>
                    </a:solidFill>
                    <a:latin typeface="Arial"/>
                  </a:rPr>
                  <a:t>   (C) </a:t>
                </a:r>
                <a:r>
                  <a:rPr lang="en-IN" sz="2400">
                    <a:solidFill>
                      <a:srgbClr val="111827"/>
                    </a:solidFill>
                    <a:latin typeface="Cambria Math" panose="02040503050406030204" pitchFamily="18" charset="0"/>
                  </a:rPr>
                  <a:t>$196$</a:t>
                </a:r>
                <a:r>
                  <a:rPr sz="2400" b="0">
                    <a:solidFill>
                      <a:srgbClr val="111827"/>
                    </a:solidFill>
                    <a:latin typeface="Arial"/>
                  </a:rPr>
                  <a:t>   (D) </a:t>
                </a:r>
                <a:r>
                  <a:rPr lang="en-IN" sz="2400">
                    <a:solidFill>
                      <a:srgbClr val="111827"/>
                    </a:solidFill>
                    <a:latin typeface="Cambria Math" panose="02040503050406030204" pitchFamily="18" charset="0"/>
                  </a:rPr>
                  <a:t>$\frac{392}{3}$</a:t>
                </a:r>
                <a:endParaRPr sz="2400">
                  <a:solidFill>
                    <a:srgbClr val="111827"/>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Intercept and normal forms of a straight line, Area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line in normal form with the perpendicular at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to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-axis and compare with the intercept form.</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line in normal form with the perpendicular at </a:t>
                </a:r>
                <a:r>
                  <a:rPr lang="en-IN" sz="2400">
                    <a:solidFill>
                      <a:srgbClr val="78350F"/>
                    </a:solidFill>
                    <a:latin typeface="Cambria Math" panose="02040503050406030204" pitchFamily="18" charset="0"/>
                  </a:rPr>
                  <a:t>$\frac{\pi}{3}$</a:t>
                </a:r>
                <a:r>
                  <a:rPr sz="2400" b="0">
                    <a:solidFill>
                      <a:srgbClr val="78350F"/>
                    </a:solidFill>
                    <a:latin typeface="Arial"/>
                  </a:rPr>
                  <a:t> to the </a:t>
                </a:r>
                <a:r>
                  <a:rPr lang="en-IN" sz="2400">
                    <a:solidFill>
                      <a:srgbClr val="78350F"/>
                    </a:solidFill>
                    <a:latin typeface="Cambria Math" panose="02040503050406030204" pitchFamily="18" charset="0"/>
                  </a:rPr>
                  <a:t>$x$</a:t>
                </a:r>
                <a:r>
                  <a:rPr sz="2400" b="0">
                    <a:solidFill>
                      <a:srgbClr val="78350F"/>
                    </a:solidFill>
                    <a:latin typeface="Arial"/>
                  </a:rPr>
                  <a:t>-axis and compare with the intercept form.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in intercept form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in intercept form is </a:t>
                </a:r>
                <a:r>
                  <a:rPr lang="en-IN" sz="2400">
                    <a:solidFill>
                      <a:srgbClr val="111827"/>
                    </a:solidFill>
                    <a:latin typeface="Cambria Math" panose="02040503050406030204" pitchFamily="18" charset="0"/>
                  </a:rPr>
                  <a:t>$\frac{x}{a}+\frac{y}{b}=1$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perpendicular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makes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with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with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Normal form: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98</m:t>
                        </m:r>
                      </m:num>
                      <m:den>
                        <m:r>
                          <a:rPr lang="en-IN" sz="2400" i="1">
                            <a:solidFill>
                              <a:srgbClr val="111827"/>
                            </a:solidFill>
                            <a:latin typeface="Cambria Math" panose="02040503050406030204" pitchFamily="18" charset="0"/>
                          </a:rPr>
                          <m:t>3</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392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perpendicular from </a:t>
                </a:r>
                <a:r>
                  <a:rPr lang="en-IN" sz="2400">
                    <a:solidFill>
                      <a:srgbClr val="111827"/>
                    </a:solidFill>
                    <a:latin typeface="Cambria Math" panose="02040503050406030204" pitchFamily="18" charset="0"/>
                  </a:rPr>
                  <a:t>$O$</a:t>
                </a:r>
                <a:r>
                  <a:rPr sz="2400" b="0">
                    <a:solidFill>
                      <a:srgbClr val="111827"/>
                    </a:solidFill>
                    <a:latin typeface="Arial"/>
                  </a:rPr>
                  <a:t> makes </a:t>
                </a:r>
                <a:r>
                  <a:rPr lang="en-IN" sz="2400">
                    <a:solidFill>
                      <a:srgbClr val="111827"/>
                    </a:solidFill>
                    <a:latin typeface="Cambria Math" panose="02040503050406030204" pitchFamily="18" charset="0"/>
                  </a:rPr>
                  <a:t>$\frac{\pi}{6}$</a:t>
                </a:r>
                <a:r>
                  <a:rPr sz="2400" b="0">
                    <a:solidFill>
                      <a:srgbClr val="111827"/>
                    </a:solidFill>
                    <a:latin typeface="Arial"/>
                  </a:rPr>
                  <a:t> with the </a:t>
                </a:r>
                <a:r>
                  <a:rPr lang="en-IN" sz="2400">
                    <a:solidFill>
                      <a:srgbClr val="111827"/>
                    </a:solidFill>
                    <a:latin typeface="Cambria Math" panose="02040503050406030204" pitchFamily="18" charset="0"/>
                  </a:rPr>
                  <a:t>$y$</a:t>
                </a:r>
                <a:r>
                  <a:rPr sz="2400" b="0">
                    <a:solidFill>
                      <a:srgbClr val="111827"/>
                    </a:solidFill>
                    <a:latin typeface="Arial"/>
                  </a:rPr>
                  <a:t>-axis, i.e. </a:t>
                </a:r>
                <a:r>
                  <a:rPr lang="en-IN" sz="2400">
                    <a:solidFill>
                      <a:srgbClr val="111827"/>
                    </a:solidFill>
                    <a:latin typeface="Cambria Math" panose="02040503050406030204" pitchFamily="18" charset="0"/>
                  </a:rPr>
                  <a:t>$\frac{\pi}{3}$</a:t>
                </a:r>
                <a:r>
                  <a:rPr sz="2400" b="0">
                    <a:solidFill>
                      <a:srgbClr val="111827"/>
                    </a:solidFill>
                    <a:latin typeface="Arial"/>
                  </a:rPr>
                  <a:t> with the </a:t>
                </a:r>
                <a:r>
                  <a:rPr lang="en-IN" sz="2400">
                    <a:solidFill>
                      <a:srgbClr val="111827"/>
                    </a:solidFill>
                    <a:latin typeface="Cambria Math" panose="02040503050406030204" pitchFamily="18" charset="0"/>
                  </a:rPr>
                  <a:t>$x$</a:t>
                </a:r>
                <a:r>
                  <a:rPr sz="2400" b="0">
                    <a:solidFill>
                      <a:srgbClr val="111827"/>
                    </a:solidFill>
                    <a:latin typeface="Arial"/>
                  </a:rPr>
                  <a:t>-axis. Normal form: </a:t>
                </a:r>
                <a:r>
                  <a:rPr lang="en-IN" sz="2400">
                    <a:solidFill>
                      <a:srgbClr val="111827"/>
                    </a:solidFill>
                    <a:latin typeface="Cambria Math" panose="02040503050406030204" pitchFamily="18" charset="0"/>
                  </a:rPr>
                  <a:t>$x\cos\frac{\pi}{3}+y\sin\frac{\pi}{3}=p$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$\frac{x}{2}+\frac{\sqrt{3}y}{2}=p$</a:t>
                </a:r>
                <a:r>
                  <a:rPr sz="2400" b="0">
                    <a:solidFill>
                      <a:srgbClr val="111827"/>
                    </a:solidFill>
                    <a:latin typeface="Arial"/>
                  </a:rPr>
                  <a:t>, i.e. </a:t>
                </a:r>
                <a:r>
                  <a:rPr lang="en-IN" sz="2400">
                    <a:solidFill>
                      <a:srgbClr val="111827"/>
                    </a:solidFill>
                    <a:latin typeface="Cambria Math" panose="02040503050406030204" pitchFamily="18" charset="0"/>
                  </a:rPr>
                  <a:t>$\frac{x}{2p}+\frac{y}{2p/\sqrt{3}}=1$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a:t>
                </a:r>
                <a:r>
                  <a:rPr lang="en-IN" sz="2400">
                    <a:solidFill>
                      <a:srgbClr val="111827"/>
                    </a:solidFill>
                    <a:latin typeface="Cambria Math" panose="02040503050406030204" pitchFamily="18" charset="0"/>
                  </a:rPr>
                  <a:t>$a=2p$</a:t>
                </a:r>
                <a:r>
                  <a:rPr sz="2400" b="0">
                    <a:solidFill>
                      <a:srgbClr val="111827"/>
                    </a:solidFill>
                    <a:latin typeface="Arial"/>
                  </a:rPr>
                  <a:t> and </a:t>
                </a:r>
                <a:r>
                  <a:rPr lang="en-IN" sz="2400">
                    <a:solidFill>
                      <a:srgbClr val="111827"/>
                    </a:solidFill>
                    <a:latin typeface="Cambria Math" panose="02040503050406030204" pitchFamily="18" charset="0"/>
                  </a:rPr>
                  <a:t>$b=\frac{2p}{\sqrt{3}}$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r>
                  <a:rPr lang="en-IN" sz="2400">
                    <a:solidFill>
                      <a:srgbClr val="111827"/>
                    </a:solidFill>
                    <a:latin typeface="Cambria Math" panose="02040503050406030204" pitchFamily="18" charset="0"/>
                  </a:rPr>
                  <a:t>$\triangle OAB=\frac{1}{2}ab=\frac{1}{2}\cdot 2p\cdot\frac{2p}{\sqrt{3}}=\frac{98}{3}\sqrt{3}$</a:t>
                </a:r>
                <a:r>
                  <a:rPr sz="2400" b="0">
                    <a:solidFill>
                      <a:srgbClr val="111827"/>
                    </a:solidFill>
                    <a:latin typeface="Arial"/>
                  </a:rPr>
                  <a:t>, so </a:t>
                </a:r>
                <a:r>
                  <a:rPr lang="en-IN" sz="2400">
                    <a:solidFill>
                      <a:srgbClr val="111827"/>
                    </a:solidFill>
                    <a:latin typeface="Cambria Math" panose="02040503050406030204" pitchFamily="18" charset="0"/>
                  </a:rPr>
                  <a:t>$p^2=49$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$a^2-b^2=4p^2-\frac{4p^2}{3}=\frac{8p^2}{3}=\frac{8}{3}\cdot 49=\frac{392}{3}$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392</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$\frac{392}{3}$</a:t>
                </a:r>
                <a:endParaRPr sz="2800">
                  <a:solidFill>
                    <a:srgbClr val="15803D"/>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perpendicular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𝐹</m:t>
                    </m:r>
                  </m:oMath>
                </a14:m>
                <a:r>
                  <a:rPr sz="2400" b="0">
                    <a:solidFill>
                      <a:srgbClr val="78350F"/>
                    </a:solidFill>
                    <a:latin typeface="Arial"/>
                  </a:rPr>
                  <a:t> makes the triangle's angles known: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perpendicular </a:t>
                </a:r>
                <a:r>
                  <a:rPr lang="en-IN" sz="2400">
                    <a:solidFill>
                      <a:srgbClr val="78350F"/>
                    </a:solidFill>
                    <a:latin typeface="Cambria Math" panose="02040503050406030204" pitchFamily="18" charset="0"/>
                  </a:rPr>
                  <a:t>$OF$</a:t>
                </a:r>
                <a:r>
                  <a:rPr sz="2400" b="0">
                    <a:solidFill>
                      <a:srgbClr val="78350F"/>
                    </a:solidFill>
                    <a:latin typeface="Arial"/>
                  </a:rPr>
                  <a:t> makes the triangle's angles known: </a:t>
                </a:r>
                <a:r>
                  <a:rPr lang="en-IN" sz="2400">
                    <a:solidFill>
                      <a:srgbClr val="78350F"/>
                    </a:solidFill>
                    <a:latin typeface="Cambria Math" panose="02040503050406030204" pitchFamily="18" charset="0"/>
                  </a:rPr>
                  <a:t>$\angle OAB=\frac{\pi}{6}$</a:t>
                </a:r>
                <a:r>
                  <a:rPr sz="2400" b="0">
                    <a:solidFill>
                      <a:srgbClr val="78350F"/>
                    </a:solidFill>
                    <a:latin typeface="Arial"/>
                  </a:rPr>
                  <a:t>, so </a:t>
                </a:r>
                <a:r>
                  <a:rPr lang="en-IN" sz="2400">
                    <a:solidFill>
                      <a:srgbClr val="78350F"/>
                    </a:solidFill>
                    <a:latin typeface="Cambria Math" panose="02040503050406030204" pitchFamily="18" charset="0"/>
                  </a:rPr>
                  <a:t>$b=a\tan\frac{\pi}{6}$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right triangle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𝐹</m:t>
                    </m:r>
                  </m:oMath>
                </a14:m>
                <a:r>
                  <a:rPr sz="2400" b="0">
                    <a:solidFill>
                      <a:srgbClr val="111827"/>
                    </a:solidFill>
                    <a:latin typeface="Arial"/>
                  </a:rPr>
                  <a:t> (right angle at the foot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in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right triangle </a:t>
                </a:r>
                <a:r>
                  <a:rPr lang="en-IN" sz="2400">
                    <a:solidFill>
                      <a:srgbClr val="111827"/>
                    </a:solidFill>
                    <a:latin typeface="Cambria Math" panose="02040503050406030204" pitchFamily="18" charset="0"/>
                  </a:rPr>
                  <a:t>$OBF$</a:t>
                </a:r>
                <a:r>
                  <a:rPr sz="2400" b="0">
                    <a:solidFill>
                      <a:srgbClr val="111827"/>
                    </a:solidFill>
                    <a:latin typeface="Arial"/>
                  </a:rPr>
                  <a:t> (right angle at the foot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$\angle BOF=\frac{\pi}{6}$</a:t>
                </a:r>
                <a:r>
                  <a:rPr sz="2400" b="0">
                    <a:solidFill>
                      <a:srgbClr val="111827"/>
                    </a:solidFill>
                    <a:latin typeface="Arial"/>
                  </a:rPr>
                  <a:t>, so </a:t>
                </a:r>
                <a:r>
                  <a:rPr lang="en-IN" sz="2400">
                    <a:solidFill>
                      <a:srgbClr val="111827"/>
                    </a:solidFill>
                    <a:latin typeface="Cambria Math" panose="02040503050406030204" pitchFamily="18" charset="0"/>
                  </a:rPr>
                  <a:t>$\angle OBA=\frac{\pi}{3}$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in right triangle </a:t>
                </a:r>
                <a:r>
                  <a:rPr lang="en-IN" sz="2400">
                    <a:solidFill>
                      <a:srgbClr val="111827"/>
                    </a:solidFill>
                    <a:latin typeface="Cambria Math" panose="02040503050406030204" pitchFamily="18" charset="0"/>
                  </a:rPr>
                  <a:t>$AOB$</a:t>
                </a:r>
                <a:r>
                  <a:rPr sz="2400" b="0">
                    <a:solidFill>
                      <a:srgbClr val="111827"/>
                    </a:solidFill>
                    <a:latin typeface="Arial"/>
                  </a:rPr>
                  <a:t>, </a:t>
                </a:r>
                <a:r>
                  <a:rPr lang="en-IN" sz="2400">
                    <a:solidFill>
                      <a:srgbClr val="111827"/>
                    </a:solidFill>
                    <a:latin typeface="Cambria Math" panose="02040503050406030204" pitchFamily="18" charset="0"/>
                  </a:rPr>
                  <a:t>$\angle OAB=\frac{\pi}{6}$</a:t>
                </a:r>
                <a:r>
                  <a:rPr sz="2400" b="0">
                    <a:solidFill>
                      <a:srgbClr val="111827"/>
                    </a:solidFill>
                    <a:latin typeface="Arial"/>
                  </a:rPr>
                  <a:t> and </a:t>
                </a:r>
                <a:r>
                  <a:rPr lang="en-IN" sz="2400">
                    <a:solidFill>
                      <a:srgbClr val="111827"/>
                    </a:solidFill>
                    <a:latin typeface="Cambria Math" panose="02040503050406030204" pitchFamily="18" charset="0"/>
                  </a:rPr>
                  <a:t>$\tan\angle OAB=\frac{b}{a}=\frac{1}{\sqrt{3}}$</a:t>
                </a:r>
                <a:r>
                  <a:rPr sz="2400" b="0">
                    <a:solidFill>
                      <a:srgbClr val="111827"/>
                    </a:solidFill>
                    <a:latin typeface="Arial"/>
                  </a:rPr>
                  <a:t>, i.e. </a:t>
                </a:r>
                <a:r>
                  <a:rPr lang="en-IN" sz="2400">
                    <a:solidFill>
                      <a:srgbClr val="111827"/>
                    </a:solidFill>
                    <a:latin typeface="Cambria Math" panose="02040503050406030204" pitchFamily="18" charset="0"/>
                  </a:rPr>
                  <a:t>$b=\frac{a}{\sqrt{3}}$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392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$=\frac{1}{2}ab=\frac{a^2}{2\sqrt{3}}=\frac{98\sqrt{3}}{3}\Rightarrow a^2=196$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$a^2-b^2=a^2\left(1-\frac{1}{3}\right)=\frac{2}{3}\cdot 196=\frac{392}{3}$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392</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$\frac{392}{3}$</a:t>
                </a:r>
                <a:endParaRPr sz="2800">
                  <a:solidFill>
                    <a:srgbClr val="15803D"/>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perpendicular from the origin to a line makes angle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with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and has length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the intercepts are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line meeting the axes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angle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satisfies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the intercept triangle: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perpendicular from the origin to a line makes angle </a:t>
                </a:r>
                <a:r>
                  <a:rPr lang="en-IN" sz="2400">
                    <a:solidFill>
                      <a:srgbClr val="111827"/>
                    </a:solidFill>
                    <a:latin typeface="Cambria Math" panose="02040503050406030204" pitchFamily="18" charset="0"/>
                  </a:rPr>
                  <a:t>$\alpha$</a:t>
                </a:r>
                <a:r>
                  <a:rPr sz="2400" b="0">
                    <a:solidFill>
                      <a:srgbClr val="111827"/>
                    </a:solidFill>
                    <a:latin typeface="Arial"/>
                  </a:rPr>
                  <a:t> with the </a:t>
                </a:r>
                <a:r>
                  <a:rPr lang="en-IN" sz="2400">
                    <a:solidFill>
                      <a:srgbClr val="111827"/>
                    </a:solidFill>
                    <a:latin typeface="Cambria Math" panose="02040503050406030204" pitchFamily="18" charset="0"/>
                  </a:rPr>
                  <a:t>$x$</a:t>
                </a:r>
                <a:r>
                  <a:rPr sz="2400" b="0">
                    <a:solidFill>
                      <a:srgbClr val="111827"/>
                    </a:solidFill>
                    <a:latin typeface="Arial"/>
                  </a:rPr>
                  <a:t>-axis and has length </a:t>
                </a:r>
                <a:r>
                  <a:rPr lang="en-IN" sz="2400">
                    <a:solidFill>
                      <a:srgbClr val="111827"/>
                    </a:solidFill>
                    <a:latin typeface="Cambria Math" panose="02040503050406030204" pitchFamily="18" charset="0"/>
                  </a:rPr>
                  <a:t>$p$</a:t>
                </a:r>
                <a:r>
                  <a:rPr sz="2400" b="0">
                    <a:solidFill>
                      <a:srgbClr val="111827"/>
                    </a:solidFill>
                    <a:latin typeface="Arial"/>
                  </a:rPr>
                  <a:t>, the intercepts are </a:t>
                </a:r>
                <a:r>
                  <a:rPr lang="en-IN" sz="2400">
                    <a:solidFill>
                      <a:srgbClr val="111827"/>
                    </a:solidFill>
                    <a:latin typeface="Cambria Math" panose="02040503050406030204" pitchFamily="18" charset="0"/>
                  </a:rPr>
                  <a:t>$a=\frac{p}{\cos\alpha}$</a:t>
                </a:r>
                <a:r>
                  <a:rPr sz="2400" b="0">
                    <a:solidFill>
                      <a:srgbClr val="111827"/>
                    </a:solidFill>
                    <a:latin typeface="Arial"/>
                  </a:rPr>
                  <a:t> and </a:t>
                </a:r>
                <a:r>
                  <a:rPr lang="en-IN" sz="2400">
                    <a:solidFill>
                      <a:srgbClr val="111827"/>
                    </a:solidFill>
                    <a:latin typeface="Cambria Math" panose="02040503050406030204" pitchFamily="18" charset="0"/>
                  </a:rPr>
                  <a:t>$b=\frac{p}{\sin\alpha}$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line meeting the axes at </a:t>
                </a:r>
                <a:r>
                  <a:rPr lang="en-IN" sz="2400">
                    <a:solidFill>
                      <a:srgbClr val="111827"/>
                    </a:solidFill>
                    <a:latin typeface="Cambria Math" panose="02040503050406030204" pitchFamily="18" charset="0"/>
                  </a:rPr>
                  <a:t>$A(a,0),B(0,b)$</a:t>
                </a:r>
                <a:r>
                  <a:rPr sz="2400" b="0">
                    <a:solidFill>
                      <a:srgbClr val="111827"/>
                    </a:solidFill>
                    <a:latin typeface="Arial"/>
                  </a:rPr>
                  <a:t> the angle </a:t>
                </a:r>
                <a:r>
                  <a:rPr lang="en-IN" sz="2400">
                    <a:solidFill>
                      <a:srgbClr val="111827"/>
                    </a:solidFill>
                    <a:latin typeface="Cambria Math" panose="02040503050406030204" pitchFamily="18" charset="0"/>
                  </a:rPr>
                  <a:t>$\angle OAB$</a:t>
                </a:r>
                <a:r>
                  <a:rPr sz="2400" b="0">
                    <a:solidFill>
                      <a:srgbClr val="111827"/>
                    </a:solidFill>
                    <a:latin typeface="Arial"/>
                  </a:rPr>
                  <a:t> satisfies </a:t>
                </a:r>
                <a:r>
                  <a:rPr lang="en-IN" sz="2400">
                    <a:solidFill>
                      <a:srgbClr val="111827"/>
                    </a:solidFill>
                    <a:latin typeface="Cambria Math" panose="02040503050406030204" pitchFamily="18" charset="0"/>
                  </a:rPr>
                  <a:t>$\tan\angle OAB=\frac{b}{a}$</a:t>
                </a:r>
                <a:r>
                  <a:rPr sz="2400" b="0">
                    <a:solidFill>
                      <a:srgbClr val="111827"/>
                    </a:solidFill>
                    <a:latin typeface="Arial"/>
                  </a:rPr>
                  <a:t>, and </a:t>
                </a:r>
                <a:r>
                  <a:rPr lang="en-IN" sz="2400">
                    <a:solidFill>
                      <a:srgbClr val="111827"/>
                    </a:solidFill>
                    <a:latin typeface="Cambria Math" panose="02040503050406030204" pitchFamily="18" charset="0"/>
                  </a:rPr>
                  <a:t>$p=\frac{ab}{\sqrt{a^2+b^2}}$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the intercept triangle: </a:t>
                </a:r>
                <a:r>
                  <a:rPr lang="en-IN" sz="2400">
                    <a:solidFill>
                      <a:srgbClr val="111827"/>
                    </a:solidFill>
                    <a:latin typeface="Cambria Math" panose="02040503050406030204" pitchFamily="18" charset="0"/>
                  </a:rPr>
                  <a:t>$\frac{1}{2}ab=\frac{p^2}{\sin 2\alpha}$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orthocenter of the triangle, whose vertices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quadratic equation whose roots are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β</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orthocenter of the triangle, whose vertices are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$(2,3)$</a:t>
                </a:r>
                <a:r>
                  <a:rPr sz="2400" b="0">
                    <a:solidFill>
                      <a:srgbClr val="111827"/>
                    </a:solidFill>
                    <a:latin typeface="Arial"/>
                  </a:rPr>
                  <a:t> and </a:t>
                </a:r>
                <a:r>
                  <a:rPr lang="en-IN" sz="2400">
                    <a:solidFill>
                      <a:srgbClr val="111827"/>
                    </a:solidFill>
                    <a:latin typeface="Cambria Math" panose="02040503050406030204" pitchFamily="18" charset="0"/>
                  </a:rPr>
                  <a:t>$(3,1)$</a:t>
                </a:r>
                <a:r>
                  <a:rPr sz="2400" b="0">
                    <a:solidFill>
                      <a:srgbClr val="111827"/>
                    </a:solidFill>
                    <a:latin typeface="Arial"/>
                  </a:rPr>
                  <a:t> is </a:t>
                </a:r>
                <a:r>
                  <a:rPr lang="en-IN" sz="2400">
                    <a:solidFill>
                      <a:srgbClr val="111827"/>
                    </a:solidFill>
                    <a:latin typeface="Cambria Math" panose="02040503050406030204" pitchFamily="18" charset="0"/>
                  </a:rPr>
                  <a:t>$(\alpha,\beta)$</a:t>
                </a:r>
                <a:r>
                  <a:rPr sz="2400" b="0">
                    <a:solidFill>
                      <a:srgbClr val="111827"/>
                    </a:solidFill>
                    <a:latin typeface="Arial"/>
                  </a:rPr>
                  <a:t>, then the quadratic equation whose roots are </a:t>
                </a:r>
                <a:r>
                  <a:rPr lang="en-IN" sz="2400">
                    <a:solidFill>
                      <a:srgbClr val="111827"/>
                    </a:solidFill>
                    <a:latin typeface="Cambria Math" panose="02040503050406030204" pitchFamily="18" charset="0"/>
                  </a:rPr>
                  <a:t>$\alpha+4\beta$</a:t>
                </a:r>
                <a:r>
                  <a:rPr sz="2400" b="0">
                    <a:solidFill>
                      <a:srgbClr val="111827"/>
                    </a:solidFill>
                    <a:latin typeface="Arial"/>
                  </a:rPr>
                  <a:t> and </a:t>
                </a:r>
                <a:r>
                  <a:rPr lang="en-IN" sz="2400">
                    <a:solidFill>
                      <a:srgbClr val="111827"/>
                    </a:solidFill>
                    <a:latin typeface="Cambria Math" panose="02040503050406030204" pitchFamily="18" charset="0"/>
                  </a:rPr>
                  <a:t>$4\alpha+\beta$</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$x^2-19x+90=0$</a:t>
                </a:r>
                <a:r>
                  <a:rPr sz="2400" b="0">
                    <a:solidFill>
                      <a:srgbClr val="111827"/>
                    </a:solidFill>
                    <a:latin typeface="Arial"/>
                  </a:rPr>
                  <a:t>   (B) </a:t>
                </a:r>
                <a:r>
                  <a:rPr lang="en-IN" sz="2400">
                    <a:solidFill>
                      <a:srgbClr val="111827"/>
                    </a:solidFill>
                    <a:latin typeface="Cambria Math" panose="02040503050406030204" pitchFamily="18" charset="0"/>
                  </a:rPr>
                  <a:t>$x^2-20x+99=0$</a:t>
                </a:r>
                <a:r>
                  <a:rPr sz="2400" b="0">
                    <a:solidFill>
                      <a:srgbClr val="111827"/>
                    </a:solidFill>
                    <a:latin typeface="Arial"/>
                  </a:rPr>
                  <a:t>   (C) </a:t>
                </a:r>
                <a:r>
                  <a:rPr lang="en-IN" sz="2400">
                    <a:solidFill>
                      <a:srgbClr val="111827"/>
                    </a:solidFill>
                    <a:latin typeface="Cambria Math" panose="02040503050406030204" pitchFamily="18" charset="0"/>
                  </a:rPr>
                  <a:t>$x^2-18x+80=0$</a:t>
                </a:r>
                <a:r>
                  <a:rPr sz="2400" b="0">
                    <a:solidFill>
                      <a:srgbClr val="111827"/>
                    </a:solidFill>
                    <a:latin typeface="Arial"/>
                  </a:rPr>
                  <a:t>   (D) </a:t>
                </a:r>
                <a:r>
                  <a:rPr lang="en-IN" sz="2400">
                    <a:solidFill>
                      <a:srgbClr val="111827"/>
                    </a:solidFill>
                    <a:latin typeface="Cambria Math" panose="02040503050406030204" pitchFamily="18" charset="0"/>
                  </a:rPr>
                  <a:t>$x^2-22x+120=0$</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of a triangle, Formation of a quadratic equation from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Intersect two altitudes to get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use sum and product of the roots.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Intersect two altitudes to get </a:t>
                </a:r>
                <a:r>
                  <a:rPr lang="en-IN" sz="2400">
                    <a:solidFill>
                      <a:srgbClr val="78350F"/>
                    </a:solidFill>
                    <a:latin typeface="Cambria Math" panose="02040503050406030204" pitchFamily="18" charset="0"/>
                  </a:rPr>
                  <a:t>$(\alpha,\beta)$</a:t>
                </a:r>
                <a:r>
                  <a:rPr sz="2400" b="0">
                    <a:solidFill>
                      <a:srgbClr val="78350F"/>
                    </a:solidFill>
                    <a:latin typeface="Arial"/>
                  </a:rPr>
                  <a:t>, then use sum and product of the roots.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Slope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altitude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altitude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has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(ii).</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a:t>
                </a:r>
                <a:r>
                  <a:rPr sz="2400" b="0">
                    <a:solidFill>
                      <a:srgbClr val="111827"/>
                    </a:solidFill>
                    <a:latin typeface="Arial"/>
                  </a:rPr>
                  <a:t>, </a:t>
                </a:r>
                <a:r>
                  <a:rPr lang="en-IN" sz="2400">
                    <a:solidFill>
                      <a:srgbClr val="111827"/>
                    </a:solidFill>
                    <a:latin typeface="Cambria Math" panose="02040503050406030204" pitchFamily="18" charset="0"/>
                  </a:rPr>
                  <a:t>$B(2,3)$</a:t>
                </a:r>
                <a:r>
                  <a:rPr sz="2400" b="0">
                    <a:solidFill>
                      <a:srgbClr val="111827"/>
                    </a:solidFill>
                    <a:latin typeface="Arial"/>
                  </a:rPr>
                  <a:t>, </a:t>
                </a:r>
                <a:r>
                  <a:rPr lang="en-IN" sz="2400">
                    <a:solidFill>
                      <a:srgbClr val="111827"/>
                    </a:solidFill>
                    <a:latin typeface="Cambria Math" panose="02040503050406030204" pitchFamily="18" charset="0"/>
                  </a:rPr>
                  <a:t>$C(3,1)$</a:t>
                </a:r>
                <a:r>
                  <a:rPr sz="2400" b="0">
                    <a:solidFill>
                      <a:srgbClr val="111827"/>
                    </a:solidFill>
                    <a:latin typeface="Arial"/>
                  </a:rPr>
                  <a:t>. Slope of </a:t>
                </a:r>
                <a:r>
                  <a:rPr lang="en-IN" sz="2400">
                    <a:solidFill>
                      <a:srgbClr val="111827"/>
                    </a:solidFill>
                    <a:latin typeface="Cambria Math" panose="02040503050406030204" pitchFamily="18" charset="0"/>
                  </a:rPr>
                  <a:t>$AB=\frac{3-2}{2-1}=1$</a:t>
                </a:r>
                <a:r>
                  <a:rPr sz="2400" b="0">
                    <a:solidFill>
                      <a:srgbClr val="111827"/>
                    </a:solidFill>
                    <a:latin typeface="Arial"/>
                  </a:rPr>
                  <a:t>, so the altitude </a:t>
                </a:r>
                <a:r>
                  <a:rPr lang="en-IN" sz="2400">
                    <a:solidFill>
                      <a:srgbClr val="111827"/>
                    </a:solidFill>
                    <a:latin typeface="Cambria Math" panose="02040503050406030204" pitchFamily="18" charset="0"/>
                  </a:rPr>
                  <a:t>$CE$</a:t>
                </a:r>
                <a:r>
                  <a:rPr sz="2400" b="0">
                    <a:solidFill>
                      <a:srgbClr val="111827"/>
                    </a:solidFill>
                    <a:latin typeface="Arial"/>
                  </a:rPr>
                  <a:t> has slope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 </a:t>
                </a:r>
                <a:r>
                  <a:rPr lang="en-IN" sz="2400">
                    <a:solidFill>
                      <a:srgbClr val="111827"/>
                    </a:solidFill>
                    <a:latin typeface="Cambria Math" panose="02040503050406030204" pitchFamily="18" charset="0"/>
                  </a:rPr>
                  <a:t>$CE$</a:t>
                </a:r>
                <a:r>
                  <a:rPr sz="2400" b="0">
                    <a:solidFill>
                      <a:srgbClr val="111827"/>
                    </a:solidFill>
                    <a:latin typeface="Arial"/>
                  </a:rPr>
                  <a:t>: </a:t>
                </a:r>
                <a:r>
                  <a:rPr lang="en-IN" sz="2400">
                    <a:solidFill>
                      <a:srgbClr val="111827"/>
                    </a:solidFill>
                    <a:latin typeface="Cambria Math" panose="02040503050406030204" pitchFamily="18" charset="0"/>
                  </a:rPr>
                  <a:t>$y-1=-1(x-3)\Rightarrow x+y=4$</a:t>
                </a:r>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$BC=\frac{1-3}{3-2}=-2$</a:t>
                </a:r>
                <a:r>
                  <a:rPr sz="2400" b="0">
                    <a:solidFill>
                      <a:srgbClr val="111827"/>
                    </a:solidFill>
                    <a:latin typeface="Arial"/>
                  </a:rPr>
                  <a:t>, so the altitude </a:t>
                </a:r>
                <a:r>
                  <a:rPr lang="en-IN" sz="2400">
                    <a:solidFill>
                      <a:srgbClr val="111827"/>
                    </a:solidFill>
                    <a:latin typeface="Cambria Math" panose="02040503050406030204" pitchFamily="18" charset="0"/>
                  </a:rPr>
                  <a:t>$AD$</a:t>
                </a:r>
                <a:r>
                  <a:rPr sz="2400" b="0">
                    <a:solidFill>
                      <a:srgbClr val="111827"/>
                    </a:solidFill>
                    <a:latin typeface="Arial"/>
                  </a:rPr>
                  <a:t> has slope </a:t>
                </a:r>
                <a:r>
                  <a:rPr lang="en-IN" sz="2400">
                    <a:solidFill>
                      <a:srgbClr val="111827"/>
                    </a:solidFill>
                    <a:latin typeface="Cambria Math" panose="02040503050406030204" pitchFamily="18" charset="0"/>
                  </a:rPr>
                  <a:t>$\frac{1}{2}$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 </a:t>
                </a:r>
                <a:r>
                  <a:rPr lang="en-IN" sz="2400">
                    <a:solidFill>
                      <a:srgbClr val="111827"/>
                    </a:solidFill>
                    <a:latin typeface="Cambria Math" panose="02040503050406030204" pitchFamily="18" charset="0"/>
                  </a:rPr>
                  <a:t>$AD$</a:t>
                </a:r>
                <a:r>
                  <a:rPr sz="2400" b="0">
                    <a:solidFill>
                      <a:srgbClr val="111827"/>
                    </a:solidFill>
                    <a:latin typeface="Arial"/>
                  </a:rPr>
                  <a:t>: </a:t>
                </a:r>
                <a:r>
                  <a:rPr lang="en-IN" sz="2400">
                    <a:solidFill>
                      <a:srgbClr val="111827"/>
                    </a:solidFill>
                    <a:latin typeface="Cambria Math" panose="02040503050406030204" pitchFamily="18" charset="0"/>
                  </a:rPr>
                  <a:t>$y-2=\frac{1}{2}(x-1)\Rightarrow x-2y+3=0$</a:t>
                </a:r>
                <a:r>
                  <a:rPr sz="2400" b="0">
                    <a:solidFill>
                      <a:srgbClr val="111827"/>
                    </a:solidFill>
                    <a:latin typeface="Arial"/>
                  </a:rPr>
                  <a:t> ... (ii).</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(i) and (ii):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𝑝𝑟𝑜𝑑𝑢𝑐𝑡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(i) and (ii): </a:t>
                </a:r>
                <a:r>
                  <a:rPr lang="en-IN" sz="2400">
                    <a:solidFill>
                      <a:srgbClr val="111827"/>
                    </a:solidFill>
                    <a:latin typeface="Cambria Math" panose="02040503050406030204" pitchFamily="18" charset="0"/>
                  </a:rPr>
                  <a:t>$\alpha=\frac{5}{3}$</a:t>
                </a:r>
                <a:r>
                  <a:rPr sz="2400" b="0">
                    <a:solidFill>
                      <a:srgbClr val="111827"/>
                    </a:solidFill>
                    <a:latin typeface="Arial"/>
                  </a:rPr>
                  <a:t>, </a:t>
                </a:r>
                <a:r>
                  <a:rPr lang="en-IN" sz="2400">
                    <a:solidFill>
                      <a:srgbClr val="111827"/>
                    </a:solidFill>
                    <a:latin typeface="Cambria Math" panose="02040503050406030204" pitchFamily="18" charset="0"/>
                  </a:rPr>
                  <a:t>$\beta=\frac{7}{3}$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$\alpha+4\beta=\frac{5}{3}+\frac{28}{3}=11$</a:t>
                </a:r>
                <a:r>
                  <a:rPr sz="2400" b="0">
                    <a:solidFill>
                      <a:srgbClr val="111827"/>
                    </a:solidFill>
                    <a:latin typeface="Arial"/>
                  </a:rPr>
                  <a:t> and </a:t>
                </a:r>
                <a:r>
                  <a:rPr lang="en-IN" sz="2400">
                    <a:solidFill>
                      <a:srgbClr val="111827"/>
                    </a:solidFill>
                    <a:latin typeface="Cambria Math" panose="02040503050406030204" pitchFamily="18" charset="0"/>
                  </a:rPr>
                  <a:t>$4\alpha+\beta=\frac{20}{3}+\frac{7}{3}=9$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r>
                  <a:rPr lang="en-IN" sz="2400">
                    <a:solidFill>
                      <a:srgbClr val="111827"/>
                    </a:solidFill>
                    <a:latin typeface="Cambria Math" panose="02040503050406030204" pitchFamily="18" charset="0"/>
                  </a:rPr>
                  <a:t>$=20$</a:t>
                </a:r>
                <a:r>
                  <a:rPr sz="2400" b="0">
                    <a:solidFill>
                      <a:srgbClr val="111827"/>
                    </a:solidFill>
                    <a:latin typeface="Arial"/>
                  </a:rPr>
                  <a:t>, product </a:t>
                </a:r>
                <a:r>
                  <a:rPr lang="en-IN" sz="2400">
                    <a:solidFill>
                      <a:srgbClr val="111827"/>
                    </a:solidFill>
                    <a:latin typeface="Cambria Math" panose="02040503050406030204" pitchFamily="18" charset="0"/>
                  </a:rPr>
                  <a:t>$=99$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 </a:t>
                </a:r>
                <a:r>
                  <a:rPr lang="en-IN" sz="2400">
                    <a:solidFill>
                      <a:srgbClr val="111827"/>
                    </a:solidFill>
                    <a:latin typeface="Cambria Math" panose="02040503050406030204" pitchFamily="18" charset="0"/>
                  </a:rPr>
                  <a:t>$x^2-(\text{sum})x+\text{product}=0\Rightarrow x^2-20x+99=0$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20</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$x^2-20x+99=0$</a:t>
                </a:r>
                <a:endParaRPr sz="2800">
                  <a:solidFill>
                    <a:srgbClr val="15803D"/>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vector identity </a:t>
                </a:r>
                <a14:m>
                  <m:oMath xmlns:m="http://schemas.openxmlformats.org/officeDocument/2006/math">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𝑂</m:t>
                    </m:r>
                  </m:oMath>
                </a14:m>
                <a:r>
                  <a:rPr sz="2400" b="0">
                    <a:solidFill>
                      <a:srgbClr val="78350F"/>
                    </a:solidFill>
                    <a:latin typeface="Arial"/>
                  </a:rPr>
                  <a:t> with the circumcentre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or equivalently </a:t>
                </a:r>
                <a14:m>
                  <m:oMath xmlns:m="http://schemas.openxmlformats.org/officeDocument/2006/math">
                    <m:r>
                      <a:rPr lang="en-IN" sz="2400" i="1">
                        <a:solidFill>
                          <a:srgbClr val="78350F"/>
                        </a:solidFill>
                        <a:latin typeface="Cambria Math" panose="02040503050406030204" pitchFamily="18" charset="0"/>
                      </a:rPr>
                      <m:t>𝐻</m:t>
                    </m:r>
                  </m:oMath>
                </a14:m>
                <a:r>
                  <a:rPr sz="2400" b="0">
                    <a:solidFill>
                      <a:srgbClr val="78350F"/>
                    </a:solidFill>
                    <a:latin typeface="Arial"/>
                  </a:rPr>
                  <a:t> from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𝐻</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𝐶</m:t>
                        </m:r>
                      </m:e>
                    </m:acc>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vector identity </a:t>
                </a:r>
                <a:r>
                  <a:rPr lang="en-IN" sz="2400">
                    <a:solidFill>
                      <a:srgbClr val="78350F"/>
                    </a:solidFill>
                    <a:latin typeface="Cambria Math" panose="02040503050406030204" pitchFamily="18" charset="0"/>
                  </a:rPr>
                  <a:t>$H=A+B+C-2O$</a:t>
                </a:r>
                <a:r>
                  <a:rPr sz="2400" b="0">
                    <a:solidFill>
                      <a:srgbClr val="78350F"/>
                    </a:solidFill>
                    <a:latin typeface="Arial"/>
                  </a:rPr>
                  <a:t> with the circumcentre </a:t>
                </a:r>
                <a:r>
                  <a:rPr lang="en-IN" sz="2400">
                    <a:solidFill>
                      <a:srgbClr val="78350F"/>
                    </a:solidFill>
                    <a:latin typeface="Cambria Math" panose="02040503050406030204" pitchFamily="18" charset="0"/>
                  </a:rPr>
                  <a:t>$O$</a:t>
                </a:r>
                <a:r>
                  <a:rPr sz="2400" b="0">
                    <a:solidFill>
                      <a:srgbClr val="78350F"/>
                    </a:solidFill>
                    <a:latin typeface="Arial"/>
                  </a:rPr>
                  <a:t>, or equivalently </a:t>
                </a:r>
                <a:r>
                  <a:rPr lang="en-IN" sz="2400">
                    <a:solidFill>
                      <a:srgbClr val="78350F"/>
                    </a:solidFill>
                    <a:latin typeface="Cambria Math" panose="02040503050406030204" pitchFamily="18" charset="0"/>
                  </a:rPr>
                  <a:t>$H$</a:t>
                </a:r>
                <a:r>
                  <a:rPr sz="2400" b="0">
                    <a:solidFill>
                      <a:srgbClr val="78350F"/>
                    </a:solidFill>
                    <a:latin typeface="Arial"/>
                  </a:rPr>
                  <a:t> from </a:t>
                </a:r>
                <a:r>
                  <a:rPr lang="en-IN" sz="2400">
                    <a:solidFill>
                      <a:srgbClr val="78350F"/>
                    </a:solidFill>
                    <a:latin typeface="Cambria Math" panose="02040503050406030204" pitchFamily="18" charset="0"/>
                  </a:rPr>
                  <a:t>$\vec{OH}=\vec{OA}+\vec{OB}+\vec{OC}$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Circumcentre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Circumcentre </a:t>
                </a:r>
                <a:r>
                  <a:rPr lang="en-IN" sz="2400">
                    <a:solidFill>
                      <a:srgbClr val="111827"/>
                    </a:solidFill>
                    <a:latin typeface="Cambria Math" panose="02040503050406030204" pitchFamily="18" charset="0"/>
                  </a:rPr>
                  <a:t>$O(p,q)$</a:t>
                </a:r>
                <a:r>
                  <a:rPr sz="2400" b="0">
                    <a:solidFill>
                      <a:srgbClr val="111827"/>
                    </a:solidFill>
                    <a:latin typeface="Arial"/>
                  </a:rPr>
                  <a:t> satisfies </a:t>
                </a:r>
                <a:r>
                  <a:rPr lang="en-IN" sz="2400">
                    <a:solidFill>
                      <a:srgbClr val="111827"/>
                    </a:solidFill>
                    <a:latin typeface="Cambria Math" panose="02040503050406030204" pitchFamily="18" charset="0"/>
                  </a:rPr>
                  <a:t>$OA=OB=OC$</a:t>
                </a:r>
                <a:r>
                  <a:rPr sz="2400" b="0">
                    <a:solidFill>
                      <a:srgbClr val="111827"/>
                    </a:solidFill>
                    <a:latin typeface="Arial"/>
                  </a:rPr>
                  <a:t>: </a:t>
                </a:r>
                <a:r>
                  <a:rPr lang="en-IN" sz="2400">
                    <a:solidFill>
                      <a:srgbClr val="111827"/>
                    </a:solidFill>
                    <a:latin typeface="Cambria Math" panose="02040503050406030204" pitchFamily="18" charset="0"/>
                  </a:rPr>
                  <a:t>$OA^2=OB^2$</a:t>
                </a:r>
                <a:r>
                  <a:rPr sz="2400" b="0">
                    <a:solidFill>
                      <a:srgbClr val="111827"/>
                    </a:solidFill>
                    <a:latin typeface="Arial"/>
                  </a:rPr>
                  <a:t> gives </a:t>
                </a:r>
                <a:r>
                  <a:rPr lang="en-IN" sz="2400">
                    <a:solidFill>
                      <a:srgbClr val="111827"/>
                    </a:solidFill>
                    <a:latin typeface="Cambria Math" panose="02040503050406030204" pitchFamily="18" charset="0"/>
                  </a:rPr>
                  <a:t>$-2p-4q+5=-4p-6q+13$</a:t>
                </a:r>
                <a:r>
                  <a:rPr sz="2400" b="0">
                    <a:solidFill>
                      <a:srgbClr val="111827"/>
                    </a:solidFill>
                    <a:latin typeface="Arial"/>
                  </a:rPr>
                  <a:t>, i.e. </a:t>
                </a:r>
                <a:r>
                  <a:rPr lang="en-IN" sz="2400">
                    <a:solidFill>
                      <a:srgbClr val="111827"/>
                    </a:solidFill>
                    <a:latin typeface="Cambria Math" panose="02040503050406030204" pitchFamily="18" charset="0"/>
                  </a:rPr>
                  <a:t>$p+q=4$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$OB^2=OC^2$</a:t>
                </a:r>
                <a:r>
                  <a:rPr sz="2400" b="0">
                    <a:solidFill>
                      <a:srgbClr val="111827"/>
                    </a:solidFill>
                    <a:latin typeface="Arial"/>
                  </a:rPr>
                  <a:t> gives </a:t>
                </a:r>
                <a:r>
                  <a:rPr lang="en-IN" sz="2400">
                    <a:solidFill>
                      <a:srgbClr val="111827"/>
                    </a:solidFill>
                    <a:latin typeface="Cambria Math" panose="02040503050406030204" pitchFamily="18" charset="0"/>
                  </a:rPr>
                  <a:t>$-4p-6q+13=-6p-2q+10$</a:t>
                </a:r>
                <a:r>
                  <a:rPr sz="2400" b="0">
                    <a:solidFill>
                      <a:srgbClr val="111827"/>
                    </a:solidFill>
                    <a:latin typeface="Arial"/>
                  </a:rPr>
                  <a:t>, i.e. </a:t>
                </a:r>
                <a:r>
                  <a:rPr lang="en-IN" sz="2400">
                    <a:solidFill>
                      <a:srgbClr val="111827"/>
                    </a:solidFill>
                    <a:latin typeface="Cambria Math" panose="02040503050406030204" pitchFamily="18" charset="0"/>
                  </a:rPr>
                  <a:t>$2p-4q=-3$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$p=\frac{13}{6}$</a:t>
                </a:r>
                <a:r>
                  <a:rPr sz="2400" b="0">
                    <a:solidFill>
                      <a:srgbClr val="111827"/>
                    </a:solidFill>
                    <a:latin typeface="Arial"/>
                  </a:rPr>
                  <a:t>, </a:t>
                </a:r>
                <a:r>
                  <a:rPr lang="en-IN" sz="2400">
                    <a:solidFill>
                      <a:srgbClr val="111827"/>
                    </a:solidFill>
                    <a:latin typeface="Cambria Math" panose="02040503050406030204" pitchFamily="18" charset="0"/>
                  </a:rPr>
                  <a:t>$q=\frac{11}{6}$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the same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the equation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$H=A+B+C-2O=(6,6)-\left(\frac{13}{3},\frac{11}{3}\right)=\left(\frac{5}{3},\frac{7}{3}\right)$</a:t>
                </a:r>
                <a:r>
                  <a:rPr sz="2400" b="0">
                    <a:solidFill>
                      <a:srgbClr val="111827"/>
                    </a:solidFill>
                    <a:latin typeface="Arial"/>
                  </a:rPr>
                  <a:t>, the same </a:t>
                </a:r>
                <a:r>
                  <a:rPr lang="en-IN" sz="2400">
                    <a:solidFill>
                      <a:srgbClr val="111827"/>
                    </a:solidFill>
                    <a:latin typeface="Cambria Math" panose="02040503050406030204" pitchFamily="18" charset="0"/>
                  </a:rPr>
                  <a:t>$(\alpha,\beta)$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$\alpha+4\beta=11$</a:t>
                </a:r>
                <a:r>
                  <a:rPr sz="2400" b="0">
                    <a:solidFill>
                      <a:srgbClr val="111827"/>
                    </a:solidFill>
                    <a:latin typeface="Arial"/>
                  </a:rPr>
                  <a:t>, </a:t>
                </a:r>
                <a:r>
                  <a:rPr lang="en-IN" sz="2400">
                    <a:solidFill>
                      <a:srgbClr val="111827"/>
                    </a:solidFill>
                    <a:latin typeface="Cambria Math" panose="02040503050406030204" pitchFamily="18" charset="0"/>
                  </a:rPr>
                  <a:t>$4\alpha+\beta=9$</a:t>
                </a:r>
                <a:r>
                  <a:rPr sz="2400" b="0">
                    <a:solidFill>
                      <a:srgbClr val="111827"/>
                    </a:solidFill>
                    <a:latin typeface="Arial"/>
                  </a:rPr>
                  <a:t>, and the equation is </a:t>
                </a:r>
                <a:r>
                  <a:rPr lang="en-IN" sz="2400">
                    <a:solidFill>
                      <a:srgbClr val="111827"/>
                    </a:solidFill>
                    <a:latin typeface="Cambria Math" panose="02040503050406030204" pitchFamily="18" charset="0"/>
                  </a:rPr>
                  <a:t>$x^2-20x+99=0$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20</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$x^2-20x+99=0$</a:t>
                </a:r>
                <a:endParaRPr sz="2800">
                  <a:solidFill>
                    <a:srgbClr val="15803D"/>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Orthocentre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centroid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circumcentre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satisfy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oMath>
                </a14:m>
                <a:r>
                  <a:rPr sz="2400" b="0">
                    <a:solidFill>
                      <a:srgbClr val="111827"/>
                    </a:solidFill>
                    <a:latin typeface="Arial"/>
                  </a:rPr>
                  <a:t>, i.e.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to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through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 with roots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Orthocentre </a:t>
                </a:r>
                <a:r>
                  <a:rPr lang="en-IN" sz="2400">
                    <a:solidFill>
                      <a:srgbClr val="111827"/>
                    </a:solidFill>
                    <a:latin typeface="Cambria Math" panose="02040503050406030204" pitchFamily="18" charset="0"/>
                  </a:rPr>
                  <a:t>$H$</a:t>
                </a:r>
                <a:r>
                  <a:rPr sz="2400" b="0">
                    <a:solidFill>
                      <a:srgbClr val="111827"/>
                    </a:solidFill>
                    <a:latin typeface="Arial"/>
                  </a:rPr>
                  <a:t>, centroid </a:t>
                </a:r>
                <a:r>
                  <a:rPr lang="en-IN" sz="2400">
                    <a:solidFill>
                      <a:srgbClr val="111827"/>
                    </a:solidFill>
                    <a:latin typeface="Cambria Math" panose="02040503050406030204" pitchFamily="18" charset="0"/>
                  </a:rPr>
                  <a:t>$G$</a:t>
                </a:r>
                <a:r>
                  <a:rPr sz="2400" b="0">
                    <a:solidFill>
                      <a:srgbClr val="111827"/>
                    </a:solidFill>
                    <a:latin typeface="Arial"/>
                  </a:rPr>
                  <a:t>, circumcentre </a:t>
                </a:r>
                <a:r>
                  <a:rPr lang="en-IN" sz="2400">
                    <a:solidFill>
                      <a:srgbClr val="111827"/>
                    </a:solidFill>
                    <a:latin typeface="Cambria Math" panose="02040503050406030204" pitchFamily="18" charset="0"/>
                  </a:rPr>
                  <a:t>$O$</a:t>
                </a:r>
                <a:r>
                  <a:rPr sz="2400" b="0">
                    <a:solidFill>
                      <a:srgbClr val="111827"/>
                    </a:solidFill>
                    <a:latin typeface="Arial"/>
                  </a:rPr>
                  <a:t> satisfy </a:t>
                </a:r>
                <a:r>
                  <a:rPr lang="en-IN" sz="2400">
                    <a:solidFill>
                      <a:srgbClr val="111827"/>
                    </a:solidFill>
                    <a:latin typeface="Cambria Math" panose="02040503050406030204" pitchFamily="18" charset="0"/>
                  </a:rPr>
                  <a:t>$H=3G-2O$</a:t>
                </a:r>
                <a:r>
                  <a:rPr sz="2400" b="0">
                    <a:solidFill>
                      <a:srgbClr val="111827"/>
                    </a:solidFill>
                    <a:latin typeface="Arial"/>
                  </a:rPr>
                  <a:t>, i.e. </a:t>
                </a:r>
                <a:r>
                  <a:rPr lang="en-IN" sz="2400">
                    <a:solidFill>
                      <a:srgbClr val="111827"/>
                    </a:solidFill>
                    <a:latin typeface="Cambria Math" panose="02040503050406030204" pitchFamily="18" charset="0"/>
                  </a:rPr>
                  <a:t>$\vec{OH}=\vec{OA}+\vec{OB}+\vec{OC}$</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divides </a:t>
                </a:r>
                <a:r>
                  <a:rPr lang="en-IN" sz="2400">
                    <a:solidFill>
                      <a:srgbClr val="111827"/>
                    </a:solidFill>
                    <a:latin typeface="Cambria Math" panose="02040503050406030204" pitchFamily="18" charset="0"/>
                  </a:rPr>
                  <a:t>$OH$</a:t>
                </a:r>
                <a:r>
                  <a:rPr sz="2400" b="0">
                    <a:solidFill>
                      <a:srgbClr val="111827"/>
                    </a:solidFill>
                    <a:latin typeface="Arial"/>
                  </a:rPr>
                  <a:t> in the ratio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r>
                  <a:rPr lang="en-IN" sz="2400">
                    <a:solidFill>
                      <a:srgbClr val="111827"/>
                    </a:solidFill>
                    <a:latin typeface="Cambria Math" panose="02040503050406030204" pitchFamily="18" charset="0"/>
                  </a:rPr>
                  <a:t>$C$</a:t>
                </a:r>
                <a:r>
                  <a:rPr sz="2400" b="0">
                    <a:solidFill>
                      <a:srgbClr val="111827"/>
                    </a:solidFill>
                    <a:latin typeface="Arial"/>
                  </a:rPr>
                  <a:t> to side </a:t>
                </a:r>
                <a:r>
                  <a:rPr lang="en-IN" sz="2400">
                    <a:solidFill>
                      <a:srgbClr val="111827"/>
                    </a:solidFill>
                    <a:latin typeface="Cambria Math" panose="02040503050406030204" pitchFamily="18" charset="0"/>
                  </a:rPr>
                  <a:t>$AB$</a:t>
                </a:r>
                <a:r>
                  <a:rPr sz="2400" b="0">
                    <a:solidFill>
                      <a:srgbClr val="111827"/>
                    </a:solidFill>
                    <a:latin typeface="Arial"/>
                  </a:rPr>
                  <a:t> of slope </a:t>
                </a:r>
                <a:r>
                  <a:rPr lang="en-IN" sz="2400">
                    <a:solidFill>
                      <a:srgbClr val="111827"/>
                    </a:solidFill>
                    <a:latin typeface="Cambria Math" panose="02040503050406030204" pitchFamily="18" charset="0"/>
                  </a:rPr>
                  <a:t>$m$</a:t>
                </a:r>
                <a:r>
                  <a:rPr sz="2400" b="0">
                    <a:solidFill>
                      <a:srgbClr val="111827"/>
                    </a:solidFill>
                    <a:latin typeface="Arial"/>
                  </a:rPr>
                  <a:t> has slope </a:t>
                </a:r>
                <a:r>
                  <a:rPr lang="en-IN" sz="2400">
                    <a:solidFill>
                      <a:srgbClr val="111827"/>
                    </a:solidFill>
                    <a:latin typeface="Cambria Math" panose="02040503050406030204" pitchFamily="18" charset="0"/>
                  </a:rPr>
                  <a:t>$-\frac{1}{m}$</a:t>
                </a:r>
                <a:r>
                  <a:rPr sz="2400" b="0">
                    <a:solidFill>
                      <a:srgbClr val="111827"/>
                    </a:solidFill>
                    <a:latin typeface="Arial"/>
                  </a:rPr>
                  <a:t> through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 with roots </a:t>
                </a:r>
                <a:r>
                  <a:rPr lang="en-IN" sz="2400">
                    <a:solidFill>
                      <a:srgbClr val="111827"/>
                    </a:solidFill>
                    <a:latin typeface="Cambria Math" panose="02040503050406030204" pitchFamily="18" charset="0"/>
                  </a:rPr>
                  <a:t>$r_1,r_2$</a:t>
                </a:r>
                <a:r>
                  <a:rPr sz="2400" b="0">
                    <a:solidFill>
                      <a:srgbClr val="111827"/>
                    </a:solidFill>
                    <a:latin typeface="Arial"/>
                  </a:rPr>
                  <a:t>: </a:t>
                </a:r>
                <a:r>
                  <a:rPr lang="en-IN" sz="2400">
                    <a:solidFill>
                      <a:srgbClr val="111827"/>
                    </a:solidFill>
                    <a:latin typeface="Cambria Math" panose="02040503050406030204" pitchFamily="18" charset="0"/>
                  </a:rPr>
                  <a:t>$x^2-(r_1+r_2)x+r_1r_2=0$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combined equation of the two lines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can be written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equation of the angle bisectors of the lines represented by the equation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combined equation of the two lines </a:t>
                </a:r>
                <a:r>
                  <a:rPr lang="en-IN" sz="2400">
                    <a:solidFill>
                      <a:srgbClr val="111827"/>
                    </a:solidFill>
                    <a:latin typeface="Cambria Math" panose="02040503050406030204" pitchFamily="18" charset="0"/>
                  </a:rPr>
                  <a:t>$ax+by+c=0$</a:t>
                </a:r>
                <a:r>
                  <a:rPr sz="2400" b="0">
                    <a:solidFill>
                      <a:srgbClr val="111827"/>
                    </a:solidFill>
                    <a:latin typeface="Arial"/>
                  </a:rPr>
                  <a:t> and </a:t>
                </a:r>
                <a:r>
                  <a:rPr lang="en-IN" sz="2400">
                    <a:solidFill>
                      <a:srgbClr val="111827"/>
                    </a:solidFill>
                    <a:latin typeface="Cambria Math" panose="02040503050406030204" pitchFamily="18" charset="0"/>
                  </a:rPr>
                  <a:t>$a'x+b'y+c'=0$</a:t>
                </a:r>
                <a:r>
                  <a:rPr sz="2400" b="0">
                    <a:solidFill>
                      <a:srgbClr val="111827"/>
                    </a:solidFill>
                    <a:latin typeface="Arial"/>
                  </a:rPr>
                  <a:t> can be written as </a:t>
                </a:r>
                <a:r>
                  <a:rPr lang="en-IN" sz="2400">
                    <a:solidFill>
                      <a:srgbClr val="111827"/>
                    </a:solidFill>
                    <a:latin typeface="Cambria Math" panose="02040503050406030204" pitchFamily="18" charset="0"/>
                  </a:rPr>
                  <a:t>$(ax+by+c)(a'x+b'y+c')=0$</a:t>
                </a:r>
                <a:r>
                  <a:rPr sz="2400" b="0">
                    <a:solidFill>
                      <a:srgbClr val="111827"/>
                    </a:solidFill>
                    <a:latin typeface="Arial"/>
                  </a:rPr>
                  <a:t>. The equation of the angle bisectors of the lines represented by the equation </a:t>
                </a:r>
                <a:r>
                  <a:rPr lang="en-IN" sz="2400">
                    <a:solidFill>
                      <a:srgbClr val="111827"/>
                    </a:solidFill>
                    <a:latin typeface="Cambria Math" panose="02040503050406030204" pitchFamily="18" charset="0"/>
                  </a:rPr>
                  <a:t>$2x^2+xy-3y^2=0$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$x^2-y^2-10xy=0$</a:t>
                </a:r>
                <a:r>
                  <a:rPr sz="2400" b="0">
                    <a:solidFill>
                      <a:srgbClr val="111827"/>
                    </a:solidFill>
                    <a:latin typeface="Arial"/>
                  </a:rPr>
                  <a:t>   (B) </a:t>
                </a:r>
                <a:r>
                  <a:rPr lang="en-IN" sz="2400">
                    <a:solidFill>
                      <a:srgbClr val="111827"/>
                    </a:solidFill>
                    <a:latin typeface="Cambria Math" panose="02040503050406030204" pitchFamily="18" charset="0"/>
                  </a:rPr>
                  <a:t>$3x^2+5xy+2y^2=0$</a:t>
                </a:r>
                <a:r>
                  <a:rPr sz="2400" b="0">
                    <a:solidFill>
                      <a:srgbClr val="111827"/>
                    </a:solidFill>
                    <a:latin typeface="Arial"/>
                  </a:rPr>
                  <a:t>   (C) </a:t>
                </a:r>
                <a:r>
                  <a:rPr lang="en-IN" sz="2400">
                    <a:solidFill>
                      <a:srgbClr val="111827"/>
                    </a:solidFill>
                    <a:latin typeface="Cambria Math" panose="02040503050406030204" pitchFamily="18" charset="0"/>
                  </a:rPr>
                  <a:t>$x^2-y^2+10xy=0$</a:t>
                </a:r>
                <a:r>
                  <a:rPr sz="2400" b="0">
                    <a:solidFill>
                      <a:srgbClr val="111827"/>
                    </a:solidFill>
                    <a:latin typeface="Arial"/>
                  </a:rPr>
                  <a:t>   (D) </a:t>
                </a:r>
                <a:r>
                  <a:rPr lang="en-IN" sz="2400">
                    <a:solidFill>
                      <a:srgbClr val="111827"/>
                    </a:solidFill>
                    <a:latin typeface="Cambria Math" panose="02040503050406030204" pitchFamily="18" charset="0"/>
                  </a:rPr>
                  <a:t>$3x^2+xy-2y^2=0$</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Pair of straight lines, Angle bisectors of a pair of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Compare with </a:t>
                </a:r>
                <a14:m>
                  <m:oMath xmlns:m="http://schemas.openxmlformats.org/officeDocument/2006/math">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ℎ</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use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ℎ</m:t>
                        </m:r>
                      </m:den>
                    </m:f>
                  </m:oMath>
                </a14:m>
                <a:r>
                  <a:rPr sz="2400" b="0">
                    <a:solidFill>
                      <a:srgbClr val="78350F"/>
                    </a:solidFill>
                    <a:latin typeface="Arial"/>
                  </a:rPr>
                  <a:t> for the bisectors.</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Compare with </a:t>
                </a:r>
                <a:r>
                  <a:rPr lang="en-IN" sz="2400">
                    <a:solidFill>
                      <a:srgbClr val="78350F"/>
                    </a:solidFill>
                    <a:latin typeface="Cambria Math" panose="02040503050406030204" pitchFamily="18" charset="0"/>
                  </a:rPr>
                  <a:t>$ax^2+2hxy+by^2=0$</a:t>
                </a:r>
                <a:r>
                  <a:rPr sz="2400" b="0">
                    <a:solidFill>
                      <a:srgbClr val="78350F"/>
                    </a:solidFill>
                    <a:latin typeface="Arial"/>
                  </a:rPr>
                  <a:t> and use </a:t>
                </a:r>
                <a:r>
                  <a:rPr lang="en-IN" sz="2400">
                    <a:solidFill>
                      <a:srgbClr val="78350F"/>
                    </a:solidFill>
                    <a:latin typeface="Cambria Math" panose="02040503050406030204" pitchFamily="18" charset="0"/>
                  </a:rPr>
                  <a:t>$\frac{x^2-y^2}{a-b}=\frac{xy}{h}$</a:t>
                </a:r>
                <a:r>
                  <a:rPr sz="2400" b="0">
                    <a:solidFill>
                      <a:srgbClr val="78350F"/>
                    </a:solidFill>
                    <a:latin typeface="Arial"/>
                  </a:rPr>
                  <a:t> for the bisectors.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Compare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bisectors of a pair of lines are given by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Compare </a:t>
                </a:r>
                <a:r>
                  <a:rPr lang="en-IN" sz="2400">
                    <a:solidFill>
                      <a:srgbClr val="111827"/>
                    </a:solidFill>
                    <a:latin typeface="Cambria Math" panose="02040503050406030204" pitchFamily="18" charset="0"/>
                  </a:rPr>
                  <a:t>$2x^2+xy-3y^2=0$</a:t>
                </a:r>
                <a:r>
                  <a:rPr sz="2400" b="0">
                    <a:solidFill>
                      <a:srgbClr val="111827"/>
                    </a:solidFill>
                    <a:latin typeface="Arial"/>
                  </a:rPr>
                  <a:t> with </a:t>
                </a:r>
                <a:r>
                  <a:rPr lang="en-IN" sz="2400">
                    <a:solidFill>
                      <a:srgbClr val="111827"/>
                    </a:solidFill>
                    <a:latin typeface="Cambria Math" panose="02040503050406030204" pitchFamily="18" charset="0"/>
                  </a:rPr>
                  <a:t>$ax^2+2hxy+by^2=0$</a:t>
                </a:r>
                <a:r>
                  <a:rPr sz="2400" b="0">
                    <a:solidFill>
                      <a:srgbClr val="111827"/>
                    </a:solidFill>
                    <a:latin typeface="Arial"/>
                  </a:rPr>
                  <a:t>: </a:t>
                </a:r>
                <a:r>
                  <a:rPr lang="en-IN" sz="2400">
                    <a:solidFill>
                      <a:srgbClr val="111827"/>
                    </a:solidFill>
                    <a:latin typeface="Cambria Math" panose="02040503050406030204" pitchFamily="18" charset="0"/>
                  </a:rPr>
                  <a:t>$a=2$</a:t>
                </a:r>
                <a:r>
                  <a:rPr sz="2400" b="0">
                    <a:solidFill>
                      <a:srgbClr val="111827"/>
                    </a:solidFill>
                    <a:latin typeface="Arial"/>
                  </a:rPr>
                  <a:t>, </a:t>
                </a:r>
                <a:r>
                  <a:rPr lang="en-IN" sz="2400">
                    <a:solidFill>
                      <a:srgbClr val="111827"/>
                    </a:solidFill>
                    <a:latin typeface="Cambria Math" panose="02040503050406030204" pitchFamily="18" charset="0"/>
                  </a:rPr>
                  <a:t>$2h=1$</a:t>
                </a:r>
                <a:r>
                  <a:rPr sz="2400" b="0">
                    <a:solidFill>
                      <a:srgbClr val="111827"/>
                    </a:solidFill>
                    <a:latin typeface="Arial"/>
                  </a:rPr>
                  <a:t> so </a:t>
                </a:r>
                <a:r>
                  <a:rPr lang="en-IN" sz="2400">
                    <a:solidFill>
                      <a:srgbClr val="111827"/>
                    </a:solidFill>
                    <a:latin typeface="Cambria Math" panose="02040503050406030204" pitchFamily="18" charset="0"/>
                  </a:rPr>
                  <a:t>$h=\frac{1}{2}$</a:t>
                </a:r>
                <a:r>
                  <a:rPr sz="2400" b="0">
                    <a:solidFill>
                      <a:srgbClr val="111827"/>
                    </a:solidFill>
                    <a:latin typeface="Arial"/>
                  </a:rPr>
                  <a:t>, and </a:t>
                </a:r>
                <a:r>
                  <a:rPr lang="en-IN" sz="2400">
                    <a:solidFill>
                      <a:srgbClr val="111827"/>
                    </a:solidFill>
                    <a:latin typeface="Cambria Math" panose="02040503050406030204" pitchFamily="18" charset="0"/>
                  </a:rPr>
                  <a:t>$b=-3$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bisectors of a pair of lines are given by </a:t>
                </a:r>
                <a:r>
                  <a:rPr lang="en-IN" sz="2400">
                    <a:solidFill>
                      <a:srgbClr val="111827"/>
                    </a:solidFill>
                    <a:latin typeface="Cambria Math" panose="02040503050406030204" pitchFamily="18" charset="0"/>
                  </a:rPr>
                  <a:t>$\frac{x^2-y^2}{a-b}=\frac{xy}{h}$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$\frac{x^2-y^2}{2+3}=\frac{xy}{1/2}$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of the angle bisectors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$\frac{x^2-y^2}{5}=2xy\Rightarrow x^2-y^2=10xy$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of the angle bisectors is </a:t>
                </a:r>
                <a:r>
                  <a:rPr lang="en-IN" sz="2400">
                    <a:solidFill>
                      <a:srgbClr val="111827"/>
                    </a:solidFill>
                    <a:latin typeface="Cambria Math" panose="02040503050406030204" pitchFamily="18" charset="0"/>
                  </a:rPr>
                  <a:t>$x^2-y^2-10xy=0$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m:t>
                    </m:r>
                    <m:r>
                      <a:rPr lang="en-IN" sz="2800" i="1">
                        <a:solidFill>
                          <a:srgbClr val="15803D"/>
                        </a:solidFill>
                        <a:latin typeface="Cambria Math" panose="02040503050406030204" pitchFamily="18" charset="0"/>
                      </a:rPr>
                      <m:t>𝑥</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$x^2-y^2-10xy=0$</a:t>
                </a:r>
                <a:endParaRPr sz="2800">
                  <a:solidFill>
                    <a:srgbClr val="15803D"/>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Factorise into two lines and find the bisector's inclination from </a:t>
                </a:r>
                <a14:m>
                  <m:oMath xmlns:m="http://schemas.openxmlformats.org/officeDocument/2006/math">
                    <m:r>
                      <m:rPr>
                        <m:sty m:val="p"/>
                      </m:rPr>
                      <a:rPr lang="en-IN" sz="2400">
                        <a:solidFill>
                          <a:srgbClr val="78350F"/>
                        </a:solidFill>
                        <a:latin typeface="Cambria Math" panose="02040503050406030204" pitchFamily="18" charset="0"/>
                      </a:rPr>
                      <m:t>tan</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θ</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θ</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using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ϕ</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Factorise into two lines and find the bisector's inclination from </a:t>
                </a:r>
                <a:r>
                  <a:rPr lang="en-IN" sz="2400">
                    <a:solidFill>
                      <a:srgbClr val="78350F"/>
                    </a:solidFill>
                    <a:latin typeface="Cambria Math" panose="02040503050406030204" pitchFamily="18" charset="0"/>
                  </a:rPr>
                  <a:t>$\tan(\theta_1+\theta_2)$</a:t>
                </a:r>
                <a:r>
                  <a:rPr sz="2400" b="0">
                    <a:solidFill>
                      <a:srgbClr val="78350F"/>
                    </a:solidFill>
                    <a:latin typeface="Arial"/>
                  </a:rPr>
                  <a:t> using </a:t>
                </a:r>
                <a:r>
                  <a:rPr lang="en-IN" sz="2400">
                    <a:solidFill>
                      <a:srgbClr val="78350F"/>
                    </a:solidFill>
                    <a:latin typeface="Cambria Math" panose="02040503050406030204" pitchFamily="18" charset="0"/>
                  </a:rPr>
                  <a:t>$\tan2\phi$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lines have slopes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lines have inclinations </a:t>
                </a:r>
                <a14:m>
                  <m:oMath xmlns:m="http://schemas.openxmlformats.org/officeDocument/2006/math">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 bisector has inclination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other bisector is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both.</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$2x^2+xy-3y^2=(2x+3y)(x-y)$</a:t>
                </a:r>
                <a:r>
                  <a:rPr sz="2400" b="0">
                    <a:solidFill>
                      <a:srgbClr val="111827"/>
                    </a:solidFill>
                    <a:latin typeface="Arial"/>
                  </a:rPr>
                  <a:t>, so the lines have slopes </a:t>
                </a:r>
                <a:r>
                  <a:rPr lang="en-IN" sz="2400">
                    <a:solidFill>
                      <a:srgbClr val="111827"/>
                    </a:solidFill>
                    <a:latin typeface="Cambria Math" panose="02040503050406030204" pitchFamily="18" charset="0"/>
                  </a:rPr>
                  <a:t>$m_1=-\frac{2}{3}$</a:t>
                </a:r>
                <a:r>
                  <a:rPr sz="2400" b="0">
                    <a:solidFill>
                      <a:srgbClr val="111827"/>
                    </a:solidFill>
                    <a:latin typeface="Arial"/>
                  </a:rPr>
                  <a:t> and </a:t>
                </a:r>
                <a:r>
                  <a:rPr lang="en-IN" sz="2400">
                    <a:solidFill>
                      <a:srgbClr val="111827"/>
                    </a:solidFill>
                    <a:latin typeface="Cambria Math" panose="02040503050406030204" pitchFamily="18" charset="0"/>
                  </a:rPr>
                  <a:t>$m_2=1$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lines have inclinations </a:t>
                </a:r>
                <a:r>
                  <a:rPr lang="en-IN" sz="2400">
                    <a:solidFill>
                      <a:srgbClr val="111827"/>
                    </a:solidFill>
                    <a:latin typeface="Cambria Math" panose="02040503050406030204" pitchFamily="18" charset="0"/>
                  </a:rPr>
                  <a:t>$\theta_1,\theta_2$</a:t>
                </a:r>
                <a:r>
                  <a:rPr sz="2400" b="0">
                    <a:solidFill>
                      <a:srgbClr val="111827"/>
                    </a:solidFill>
                    <a:latin typeface="Arial"/>
                  </a:rPr>
                  <a:t>, a bisector has inclination </a:t>
                </a:r>
                <a:r>
                  <a:rPr lang="en-IN" sz="2400">
                    <a:solidFill>
                      <a:srgbClr val="111827"/>
                    </a:solidFill>
                    <a:latin typeface="Cambria Math" panose="02040503050406030204" pitchFamily="18" charset="0"/>
                  </a:rPr>
                  <a:t>$\phi=\frac{\theta_1+\theta_2}{2}$</a:t>
                </a:r>
                <a:r>
                  <a:rPr sz="2400" b="0">
                    <a:solidFill>
                      <a:srgbClr val="111827"/>
                    </a:solidFill>
                    <a:latin typeface="Arial"/>
                  </a:rPr>
                  <a:t> (the other bisector is </a:t>
                </a:r>
                <a:r>
                  <a:rPr lang="en-IN" sz="2400">
                    <a:solidFill>
                      <a:srgbClr val="111827"/>
                    </a:solidFill>
                    <a:latin typeface="Cambria Math" panose="02040503050406030204" pitchFamily="18" charset="0"/>
                  </a:rPr>
                  <a:t>$\phi+\frac{\pi}{2}$</a:t>
                </a:r>
                <a:r>
                  <a:rPr sz="2400" b="0">
                    <a:solidFill>
                      <a:srgbClr val="111827"/>
                    </a:solidFill>
                    <a:latin typeface="Arial"/>
                  </a:rPr>
                  <a:t>), so </a:t>
                </a:r>
                <a:r>
                  <a:rPr lang="en-IN" sz="2400">
                    <a:solidFill>
                      <a:srgbClr val="111827"/>
                    </a:solidFill>
                    <a:latin typeface="Cambria Math" panose="02040503050406030204" pitchFamily="18" charset="0"/>
                  </a:rPr>
                  <a:t>$\tan 2\phi=\tan(\theta_1+\theta_2)$</a:t>
                </a:r>
                <a:r>
                  <a:rPr sz="2400" b="0">
                    <a:solidFill>
                      <a:srgbClr val="111827"/>
                    </a:solidFill>
                    <a:latin typeface="Arial"/>
                  </a:rPr>
                  <a:t> for both.</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$\tan(\theta_1+\theta_2)=\frac{m_1+m_2}{1-m_1m_2}=\frac{\frac{1}{3}}{1+\frac{2}{3}}=\frac{1}{5}$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ϕ</m:t>
                    </m:r>
                  </m:oMath>
                </a14:m>
                <a:r>
                  <a:rPr sz="2400" b="0">
                    <a:solidFill>
                      <a:srgbClr val="111827"/>
                    </a:solidFill>
                    <a:latin typeface="Arial"/>
                  </a:rPr>
                  <a:t> (the slope of a bisector):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$t=\tan\phi$</a:t>
                </a:r>
                <a:r>
                  <a:rPr sz="2400" b="0">
                    <a:solidFill>
                      <a:srgbClr val="111827"/>
                    </a:solidFill>
                    <a:latin typeface="Arial"/>
                  </a:rPr>
                  <a:t> (the slope of a bisector): </a:t>
                </a:r>
                <a:r>
                  <a:rPr lang="en-IN" sz="2400">
                    <a:solidFill>
                      <a:srgbClr val="111827"/>
                    </a:solidFill>
                    <a:latin typeface="Cambria Math" panose="02040503050406030204" pitchFamily="18" charset="0"/>
                  </a:rPr>
                  <a:t>$\frac{2t}{1-t^2}=\frac{1}{5}\Rightarrow t^2+10t-1=0$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r>
                  <a:rPr lang="en-IN" sz="2400">
                    <a:solidFill>
                      <a:srgbClr val="111827"/>
                    </a:solidFill>
                    <a:latin typeface="Cambria Math" panose="02040503050406030204" pitchFamily="18" charset="0"/>
                  </a:rPr>
                  <a:t>$t$</a:t>
                </a:r>
                <a:r>
                  <a:rPr sz="2400" b="0">
                    <a:solidFill>
                      <a:srgbClr val="111827"/>
                    </a:solidFill>
                    <a:latin typeface="Arial"/>
                  </a:rPr>
                  <a:t> by </a:t>
                </a:r>
                <a:r>
                  <a:rPr lang="en-IN" sz="2400">
                    <a:solidFill>
                      <a:srgbClr val="111827"/>
                    </a:solidFill>
                    <a:latin typeface="Cambria Math" panose="02040503050406030204" pitchFamily="18" charset="0"/>
                  </a:rPr>
                  <a:t>$\frac{y}{x}$</a:t>
                </a:r>
                <a:r>
                  <a:rPr sz="2400" b="0">
                    <a:solidFill>
                      <a:srgbClr val="111827"/>
                    </a:solidFill>
                    <a:latin typeface="Arial"/>
                  </a:rPr>
                  <a:t>: </a:t>
                </a:r>
                <a:r>
                  <a:rPr lang="en-IN" sz="2400">
                    <a:solidFill>
                      <a:srgbClr val="111827"/>
                    </a:solidFill>
                    <a:latin typeface="Cambria Math" panose="02040503050406030204" pitchFamily="18" charset="0"/>
                  </a:rPr>
                  <a:t>$y^2+10xy-x^2=0$</a:t>
                </a:r>
                <a:r>
                  <a:rPr sz="2400" b="0">
                    <a:solidFill>
                      <a:srgbClr val="111827"/>
                    </a:solidFill>
                    <a:latin typeface="Arial"/>
                  </a:rPr>
                  <a:t>, i.e. </a:t>
                </a:r>
                <a:r>
                  <a:rPr lang="en-IN" sz="2400">
                    <a:solidFill>
                      <a:srgbClr val="111827"/>
                    </a:solidFill>
                    <a:latin typeface="Cambria Math" panose="02040503050406030204" pitchFamily="18" charset="0"/>
                  </a:rPr>
                  <a:t>$x^2-y^2-10xy=0$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m:t>
                    </m:r>
                    <m:r>
                      <a:rPr lang="en-IN" sz="2800" i="1">
                        <a:solidFill>
                          <a:srgbClr val="15803D"/>
                        </a:solidFill>
                        <a:latin typeface="Cambria Math" panose="02040503050406030204" pitchFamily="18" charset="0"/>
                      </a:rPr>
                      <m:t>𝑥</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$x^2-y^2-10xy=0$</a:t>
                </a:r>
                <a:endParaRPr sz="2800">
                  <a:solidFill>
                    <a:srgbClr val="15803D"/>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bisector pair is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the two bisectors are always perpendicular.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the bisectors are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they are the axes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 bisector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ℎ</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two slopes have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$ax^2+2hxy+by^2=0$</a:t>
                </a:r>
                <a:r>
                  <a:rPr sz="2400" b="0">
                    <a:solidFill>
                      <a:srgbClr val="111827"/>
                    </a:solidFill>
                    <a:latin typeface="Arial"/>
                  </a:rPr>
                  <a:t> the bisector pair is </a:t>
                </a:r>
                <a:r>
                  <a:rPr lang="en-IN" sz="2400">
                    <a:solidFill>
                      <a:srgbClr val="111827"/>
                    </a:solidFill>
                    <a:latin typeface="Cambria Math" panose="02040503050406030204" pitchFamily="18" charset="0"/>
                  </a:rPr>
                  <a:t>$h(x^2-y^2)=(a-b)xy$</a:t>
                </a:r>
                <a:r>
                  <a:rPr sz="2400" b="0">
                    <a:solidFill>
                      <a:srgbClr val="111827"/>
                    </a:solidFill>
                    <a:latin typeface="Arial"/>
                  </a:rPr>
                  <a:t>; the two bisectors are always perpendicular.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$a=b$</a:t>
                </a:r>
                <a:r>
                  <a:rPr sz="2400" b="0">
                    <a:solidFill>
                      <a:srgbClr val="111827"/>
                    </a:solidFill>
                    <a:latin typeface="Arial"/>
                  </a:rPr>
                  <a:t> the bisectors are </a:t>
                </a:r>
                <a:r>
                  <a:rPr lang="en-IN" sz="2400">
                    <a:solidFill>
                      <a:srgbClr val="111827"/>
                    </a:solidFill>
                    <a:latin typeface="Cambria Math" panose="02040503050406030204" pitchFamily="18" charset="0"/>
                  </a:rPr>
                  <a:t>$x^2-y^2=0$</a:t>
                </a:r>
                <a:r>
                  <a:rPr sz="2400" b="0">
                    <a:solidFill>
                      <a:srgbClr val="111827"/>
                    </a:solidFill>
                    <a:latin typeface="Arial"/>
                  </a:rPr>
                  <a:t>, i.e. </a:t>
                </a:r>
                <a:r>
                  <a:rPr lang="en-IN" sz="2400">
                    <a:solidFill>
                      <a:srgbClr val="111827"/>
                    </a:solidFill>
                    <a:latin typeface="Cambria Math" panose="02040503050406030204" pitchFamily="18" charset="0"/>
                  </a:rPr>
                  <a:t>$y=\pm x$</a:t>
                </a:r>
                <a:r>
                  <a:rPr sz="2400" b="0">
                    <a:solidFill>
                      <a:srgbClr val="111827"/>
                    </a:solidFill>
                    <a:latin typeface="Arial"/>
                  </a:rPr>
                  <a:t>; if </a:t>
                </a:r>
                <a:r>
                  <a:rPr lang="en-IN" sz="2400">
                    <a:solidFill>
                      <a:srgbClr val="111827"/>
                    </a:solidFill>
                    <a:latin typeface="Cambria Math" panose="02040503050406030204" pitchFamily="18" charset="0"/>
                  </a:rPr>
                  <a:t>$h=0$</a:t>
                </a:r>
                <a:r>
                  <a:rPr sz="2400" b="0">
                    <a:solidFill>
                      <a:srgbClr val="111827"/>
                    </a:solidFill>
                    <a:latin typeface="Arial"/>
                  </a:rPr>
                  <a:t> they are the axes </a:t>
                </a:r>
                <a:r>
                  <a:rPr lang="en-IN" sz="2400">
                    <a:solidFill>
                      <a:srgbClr val="111827"/>
                    </a:solidFill>
                    <a:latin typeface="Cambria Math" panose="02040503050406030204" pitchFamily="18" charset="0"/>
                  </a:rPr>
                  <a:t>$xy=0$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 bisector </a:t>
                </a:r>
                <a:r>
                  <a:rPr lang="en-IN" sz="2400">
                    <a:solidFill>
                      <a:srgbClr val="111827"/>
                    </a:solidFill>
                    <a:latin typeface="Cambria Math" panose="02040503050406030204" pitchFamily="18" charset="0"/>
                  </a:rPr>
                  <a:t>$t$</a:t>
                </a:r>
                <a:r>
                  <a:rPr sz="2400" b="0">
                    <a:solidFill>
                      <a:srgbClr val="111827"/>
                    </a:solidFill>
                    <a:latin typeface="Arial"/>
                  </a:rPr>
                  <a:t> satisfies </a:t>
                </a:r>
                <a:r>
                  <a:rPr lang="en-IN" sz="2400">
                    <a:solidFill>
                      <a:srgbClr val="111827"/>
                    </a:solidFill>
                    <a:latin typeface="Cambria Math" panose="02040503050406030204" pitchFamily="18" charset="0"/>
                  </a:rPr>
                  <a:t>$ht^2+(a-b)t-h=0$</a:t>
                </a:r>
                <a:r>
                  <a:rPr sz="2400" b="0">
                    <a:solidFill>
                      <a:srgbClr val="111827"/>
                    </a:solidFill>
                    <a:latin typeface="Arial"/>
                  </a:rPr>
                  <a:t>, so the two slopes have product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Q07 – Q08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equations of the sides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of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respectively. 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centroid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equations of the sides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$BC$</a:t>
                </a:r>
                <a:r>
                  <a:rPr sz="2400" b="0">
                    <a:solidFill>
                      <a:srgbClr val="111827"/>
                    </a:solidFill>
                    <a:latin typeface="Arial"/>
                  </a:rPr>
                  <a:t> and </a:t>
                </a:r>
                <a:r>
                  <a:rPr lang="en-IN" sz="2400">
                    <a:solidFill>
                      <a:srgbClr val="111827"/>
                    </a:solidFill>
                    <a:latin typeface="Cambria Math" panose="02040503050406030204" pitchFamily="18" charset="0"/>
                  </a:rPr>
                  <a:t>$CA$</a:t>
                </a:r>
                <a:r>
                  <a:rPr sz="2400" b="0">
                    <a:solidFill>
                      <a:srgbClr val="111827"/>
                    </a:solidFill>
                    <a:latin typeface="Arial"/>
                  </a:rPr>
                  <a:t> of a triangle </a:t>
                </a:r>
                <a:r>
                  <a:rPr lang="en-IN" sz="2400">
                    <a:solidFill>
                      <a:srgbClr val="111827"/>
                    </a:solidFill>
                    <a:latin typeface="Cambria Math" panose="02040503050406030204" pitchFamily="18" charset="0"/>
                  </a:rPr>
                  <a:t>$ABC$</a:t>
                </a:r>
                <a:r>
                  <a:rPr sz="2400" b="0">
                    <a:solidFill>
                      <a:srgbClr val="111827"/>
                    </a:solidFill>
                    <a:latin typeface="Arial"/>
                  </a:rPr>
                  <a:t> are: </a:t>
                </a:r>
                <a:r>
                  <a:rPr lang="en-IN" sz="2400">
                    <a:solidFill>
                      <a:srgbClr val="111827"/>
                    </a:solidFill>
                    <a:latin typeface="Cambria Math" panose="02040503050406030204" pitchFamily="18" charset="0"/>
                  </a:rPr>
                  <a:t>$2x+y=0$</a:t>
                </a:r>
                <a:r>
                  <a:rPr sz="2400" b="0">
                    <a:solidFill>
                      <a:srgbClr val="111827"/>
                    </a:solidFill>
                    <a:latin typeface="Arial"/>
                  </a:rPr>
                  <a:t>, </a:t>
                </a:r>
                <a:r>
                  <a:rPr lang="en-IN" sz="2400">
                    <a:solidFill>
                      <a:srgbClr val="111827"/>
                    </a:solidFill>
                    <a:latin typeface="Cambria Math" panose="02040503050406030204" pitchFamily="18" charset="0"/>
                  </a:rPr>
                  <a:t>$x+py=21a$</a:t>
                </a:r>
                <a:r>
                  <a:rPr sz="2400" b="0">
                    <a:solidFill>
                      <a:srgbClr val="111827"/>
                    </a:solidFill>
                    <a:latin typeface="Arial"/>
                  </a:rPr>
                  <a:t>, </a:t>
                </a:r>
                <a:r>
                  <a:rPr lang="en-IN" sz="2400">
                    <a:solidFill>
                      <a:srgbClr val="111827"/>
                    </a:solidFill>
                    <a:latin typeface="Cambria Math" panose="02040503050406030204" pitchFamily="18" charset="0"/>
                  </a:rPr>
                  <a:t>$(a\neq0)$</a:t>
                </a:r>
                <a:r>
                  <a:rPr sz="2400" b="0">
                    <a:solidFill>
                      <a:srgbClr val="111827"/>
                    </a:solidFill>
                    <a:latin typeface="Arial"/>
                  </a:rPr>
                  <a:t> and </a:t>
                </a:r>
                <a:r>
                  <a:rPr lang="en-IN" sz="2400">
                    <a:solidFill>
                      <a:srgbClr val="111827"/>
                    </a:solidFill>
                    <a:latin typeface="Cambria Math" panose="02040503050406030204" pitchFamily="18" charset="0"/>
                  </a:rPr>
                  <a:t>$x-y=3$</a:t>
                </a:r>
                <a:r>
                  <a:rPr sz="2400" b="0">
                    <a:solidFill>
                      <a:srgbClr val="111827"/>
                    </a:solidFill>
                    <a:latin typeface="Arial"/>
                  </a:rPr>
                  <a:t> respectively. Let </a:t>
                </a:r>
                <a:r>
                  <a:rPr lang="en-IN" sz="2400">
                    <a:solidFill>
                      <a:srgbClr val="111827"/>
                    </a:solidFill>
                    <a:latin typeface="Cambria Math" panose="02040503050406030204" pitchFamily="18" charset="0"/>
                  </a:rPr>
                  <a:t>$P(2,a)$</a:t>
                </a:r>
                <a:r>
                  <a:rPr sz="2400" b="0">
                    <a:solidFill>
                      <a:srgbClr val="111827"/>
                    </a:solidFill>
                    <a:latin typeface="Arial"/>
                  </a:rPr>
                  <a:t> be the centroid of </a:t>
                </a:r>
                <a:r>
                  <a:rPr lang="en-IN" sz="2400">
                    <a:solidFill>
                      <a:srgbClr val="111827"/>
                    </a:solidFill>
                    <a:latin typeface="Cambria Math" panose="02040503050406030204" pitchFamily="18" charset="0"/>
                  </a:rPr>
                  <a:t>$\triangle ABC$</a:t>
                </a:r>
                <a:r>
                  <a:rPr sz="2400" b="0">
                    <a:solidFill>
                      <a:srgbClr val="111827"/>
                    </a:solidFill>
                    <a:latin typeface="Arial"/>
                  </a:rPr>
                  <a:t>. Then </a:t>
                </a:r>
                <a:r>
                  <a:rPr lang="en-IN" sz="2400">
                    <a:solidFill>
                      <a:srgbClr val="111827"/>
                    </a:solidFill>
                    <a:latin typeface="Cambria Math" panose="02040503050406030204" pitchFamily="18" charset="0"/>
                  </a:rPr>
                  <a:t>$(BC)^2$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Centroid of a triangle, Concurrency and vertices from sides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Vertices on the known sides carry one parameter each; the centroid gives two equations, then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on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give </a:t>
                </a:r>
                <a14:m>
                  <m:oMath xmlns:m="http://schemas.openxmlformats.org/officeDocument/2006/math">
                    <m:r>
                      <a:rPr lang="en-IN" sz="2400" i="1">
                        <a:solidFill>
                          <a:srgbClr val="78350F"/>
                        </a:solidFill>
                        <a:latin typeface="Cambria Math" panose="02040503050406030204" pitchFamily="18" charset="0"/>
                      </a:rPr>
                      <m:t>𝑝</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Vertices on the known sides carry one parameter each; the centroid gives two equations, then </a:t>
                </a:r>
                <a:r>
                  <a:rPr lang="en-IN" sz="2400">
                    <a:solidFill>
                      <a:srgbClr val="78350F"/>
                    </a:solidFill>
                    <a:latin typeface="Cambria Math" panose="02040503050406030204" pitchFamily="18" charset="0"/>
                  </a:rPr>
                  <a:t>$B,C$</a:t>
                </a:r>
                <a:r>
                  <a:rPr sz="2400" b="0">
                    <a:solidFill>
                      <a:srgbClr val="78350F"/>
                    </a:solidFill>
                    <a:latin typeface="Arial"/>
                  </a:rPr>
                  <a:t> on </a:t>
                </a:r>
                <a:r>
                  <a:rPr lang="en-IN" sz="2400">
                    <a:solidFill>
                      <a:srgbClr val="78350F"/>
                    </a:solidFill>
                    <a:latin typeface="Cambria Math" panose="02040503050406030204" pitchFamily="18" charset="0"/>
                  </a:rPr>
                  <a:t>$BC$</a:t>
                </a:r>
                <a:r>
                  <a:rPr sz="2400" b="0">
                    <a:solidFill>
                      <a:srgbClr val="78350F"/>
                    </a:solidFill>
                    <a:latin typeface="Arial"/>
                  </a:rPr>
                  <a:t> give </a:t>
                </a:r>
                <a:r>
                  <a:rPr lang="en-IN" sz="2400">
                    <a:solidFill>
                      <a:srgbClr val="78350F"/>
                    </a:solidFill>
                    <a:latin typeface="Cambria Math" panose="02040503050406030204" pitchFamily="18" charset="0"/>
                  </a:rPr>
                  <a:t>$p$</a:t>
                </a:r>
                <a:r>
                  <a:rPr sz="2400" b="0">
                    <a:solidFill>
                      <a:srgbClr val="78350F"/>
                    </a:solidFill>
                    <a:latin typeface="Arial"/>
                  </a:rPr>
                  <a:t> and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intersection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centroid 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 (2).</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is the intersection of </a:t>
                </a:r>
                <a:r>
                  <a:rPr lang="en-IN" sz="2400">
                    <a:solidFill>
                      <a:srgbClr val="111827"/>
                    </a:solidFill>
                    <a:latin typeface="Cambria Math" panose="02040503050406030204" pitchFamily="18" charset="0"/>
                  </a:rPr>
                  <a:t>$AB: 2x+y=0$</a:t>
                </a:r>
                <a:r>
                  <a:rPr sz="2400" b="0">
                    <a:solidFill>
                      <a:srgbClr val="111827"/>
                    </a:solidFill>
                    <a:latin typeface="Arial"/>
                  </a:rPr>
                  <a:t> and </a:t>
                </a:r>
                <a:r>
                  <a:rPr lang="en-IN" sz="2400">
                    <a:solidFill>
                      <a:srgbClr val="111827"/>
                    </a:solidFill>
                    <a:latin typeface="Cambria Math" panose="02040503050406030204" pitchFamily="18" charset="0"/>
                  </a:rPr>
                  <a:t>$CA: x-y=3$</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$y=-2$</a:t>
                </a:r>
                <a:r>
                  <a:rPr sz="2400" b="0">
                    <a:solidFill>
                      <a:srgbClr val="111827"/>
                    </a:solidFill>
                    <a:latin typeface="Arial"/>
                  </a:rPr>
                  <a:t>, so </a:t>
                </a:r>
                <a:r>
                  <a:rPr lang="en-IN" sz="2400">
                    <a:solidFill>
                      <a:srgbClr val="111827"/>
                    </a:solidFill>
                    <a:latin typeface="Cambria Math" panose="02040503050406030204" pitchFamily="18" charset="0"/>
                  </a:rPr>
                  <a:t>$A=(1,-2)$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lies on </a:t>
                </a:r>
                <a:r>
                  <a:rPr lang="en-IN" sz="2400">
                    <a:solidFill>
                      <a:srgbClr val="111827"/>
                    </a:solidFill>
                    <a:latin typeface="Cambria Math" panose="02040503050406030204" pitchFamily="18" charset="0"/>
                  </a:rPr>
                  <a:t>$2x+y=0$</a:t>
                </a:r>
                <a:r>
                  <a:rPr sz="2400" b="0">
                    <a:solidFill>
                      <a:srgbClr val="111827"/>
                    </a:solidFill>
                    <a:latin typeface="Arial"/>
                  </a:rPr>
                  <a:t>: let </a:t>
                </a:r>
                <a:r>
                  <a:rPr lang="en-IN" sz="2400">
                    <a:solidFill>
                      <a:srgbClr val="111827"/>
                    </a:solidFill>
                    <a:latin typeface="Cambria Math" panose="02040503050406030204" pitchFamily="18" charset="0"/>
                  </a:rPr>
                  <a:t>$B=(\beta,-2\beta)$</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$x-y=3$</a:t>
                </a:r>
                <a:r>
                  <a:rPr sz="2400" b="0">
                    <a:solidFill>
                      <a:srgbClr val="111827"/>
                    </a:solidFill>
                    <a:latin typeface="Arial"/>
                  </a:rPr>
                  <a:t>: let </a:t>
                </a:r>
                <a:r>
                  <a:rPr lang="en-IN" sz="2400">
                    <a:solidFill>
                      <a:srgbClr val="111827"/>
                    </a:solidFill>
                    <a:latin typeface="Cambria Math" panose="02040503050406030204" pitchFamily="18" charset="0"/>
                  </a:rPr>
                  <a:t>$C=(\alpha,\alpha-3)$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centroid is </a:t>
                </a:r>
                <a:r>
                  <a:rPr lang="en-IN" sz="2400">
                    <a:solidFill>
                      <a:srgbClr val="111827"/>
                    </a:solidFill>
                    <a:latin typeface="Cambria Math" panose="02040503050406030204" pitchFamily="18" charset="0"/>
                  </a:rPr>
                  <a:t>$P(2,a)$</a:t>
                </a:r>
                <a:r>
                  <a:rPr sz="2400" b="0">
                    <a:solidFill>
                      <a:srgbClr val="111827"/>
                    </a:solidFill>
                    <a:latin typeface="Arial"/>
                  </a:rPr>
                  <a:t>: </a:t>
                </a:r>
                <a:r>
                  <a:rPr lang="en-IN" sz="2400">
                    <a:solidFill>
                      <a:srgbClr val="111827"/>
                    </a:solidFill>
                    <a:latin typeface="Cambria Math" panose="02040503050406030204" pitchFamily="18" charset="0"/>
                  </a:rPr>
                  <a:t>$\frac{1+\alpha+\beta}{3}=2\Rightarrow\alpha+\beta=5$</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$\frac{-2-2\beta+\alpha-3}{3}=a\Rightarrow\alpha-2\beta=3a+5$</a:t>
                </a:r>
                <a:r>
                  <a:rPr sz="2400" b="0">
                    <a:solidFill>
                      <a:srgbClr val="111827"/>
                    </a:solidFill>
                    <a:latin typeface="Arial"/>
                  </a:rPr>
                  <a:t> ... (2).</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it too: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$\beta=-a$</a:t>
                </a:r>
                <a:r>
                  <a:rPr sz="2400" b="0">
                    <a:solidFill>
                      <a:srgbClr val="111827"/>
                    </a:solidFill>
                    <a:latin typeface="Arial"/>
                  </a:rPr>
                  <a:t> and </a:t>
                </a:r>
                <a:r>
                  <a:rPr lang="en-IN" sz="2400">
                    <a:solidFill>
                      <a:srgbClr val="111827"/>
                    </a:solidFill>
                    <a:latin typeface="Cambria Math" panose="02040503050406030204" pitchFamily="18" charset="0"/>
                  </a:rPr>
                  <a:t>$\alpha=a+5$</a:t>
                </a:r>
                <a:r>
                  <a:rPr sz="2400" b="0">
                    <a:solidFill>
                      <a:srgbClr val="111827"/>
                    </a:solidFill>
                    <a:latin typeface="Arial"/>
                  </a:rPr>
                  <a:t>. So </a:t>
                </a:r>
                <a:r>
                  <a:rPr lang="en-IN" sz="2400">
                    <a:solidFill>
                      <a:srgbClr val="111827"/>
                    </a:solidFill>
                    <a:latin typeface="Cambria Math" panose="02040503050406030204" pitchFamily="18" charset="0"/>
                  </a:rPr>
                  <a:t>$B=(-a,2a)$</a:t>
                </a:r>
                <a:r>
                  <a:rPr sz="2400" b="0">
                    <a:solidFill>
                      <a:srgbClr val="111827"/>
                    </a:solidFill>
                    <a:latin typeface="Arial"/>
                  </a:rPr>
                  <a:t> and </a:t>
                </a:r>
                <a:r>
                  <a:rPr lang="en-IN" sz="2400">
                    <a:solidFill>
                      <a:srgbClr val="111827"/>
                    </a:solidFill>
                    <a:latin typeface="Cambria Math" panose="02040503050406030204" pitchFamily="18" charset="0"/>
                  </a:rPr>
                  <a:t>$C=(a+5,a+2)$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lies on </a:t>
                </a:r>
                <a:r>
                  <a:rPr lang="en-IN" sz="2400">
                    <a:solidFill>
                      <a:srgbClr val="111827"/>
                    </a:solidFill>
                    <a:latin typeface="Cambria Math" panose="02040503050406030204" pitchFamily="18" charset="0"/>
                  </a:rPr>
                  <a:t>$x+py=21a$</a:t>
                </a:r>
                <a:r>
                  <a:rPr sz="2400" b="0">
                    <a:solidFill>
                      <a:srgbClr val="111827"/>
                    </a:solidFill>
                    <a:latin typeface="Arial"/>
                  </a:rPr>
                  <a:t>: </a:t>
                </a:r>
                <a:r>
                  <a:rPr lang="en-IN" sz="2400">
                    <a:solidFill>
                      <a:srgbClr val="111827"/>
                    </a:solidFill>
                    <a:latin typeface="Cambria Math" panose="02040503050406030204" pitchFamily="18" charset="0"/>
                  </a:rPr>
                  <a:t>$-a+2ap=21a\Rightarrow p=11$</a:t>
                </a:r>
                <a:r>
                  <a:rPr sz="2400" b="0">
                    <a:solidFill>
                      <a:srgbClr val="111827"/>
                    </a:solidFill>
                    <a:latin typeface="Arial"/>
                  </a:rPr>
                  <a:t> (as </a:t>
                </a:r>
                <a:r>
                  <a:rPr lang="en-IN" sz="2400">
                    <a:solidFill>
                      <a:srgbClr val="111827"/>
                    </a:solidFill>
                    <a:latin typeface="Cambria Math" panose="02040503050406030204" pitchFamily="18" charset="0"/>
                  </a:rPr>
                  <a:t>$a\neq0$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lies on it too: </a:t>
                </a:r>
                <a:r>
                  <a:rPr lang="en-IN" sz="2400">
                    <a:solidFill>
                      <a:srgbClr val="111827"/>
                    </a:solidFill>
                    <a:latin typeface="Cambria Math" panose="02040503050406030204" pitchFamily="18" charset="0"/>
                  </a:rPr>
                  <a:t>$(a+5)+11(a+2)=21a\Rightarrow 27=9a\Rightarrow 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$B=(-3,6)$</a:t>
                </a:r>
                <a:r>
                  <a:rPr sz="2400" b="0">
                    <a:solidFill>
                      <a:srgbClr val="111827"/>
                    </a:solidFill>
                    <a:latin typeface="Arial"/>
                  </a:rPr>
                  <a:t> and </a:t>
                </a:r>
                <a:r>
                  <a:rPr lang="en-IN" sz="2400">
                    <a:solidFill>
                      <a:srgbClr val="111827"/>
                    </a:solidFill>
                    <a:latin typeface="Cambria Math" panose="02040503050406030204" pitchFamily="18" charset="0"/>
                  </a:rPr>
                  <a:t>$C=(8,5)$</a:t>
                </a:r>
                <a:r>
                  <a:rPr sz="2400" b="0">
                    <a:solidFill>
                      <a:srgbClr val="111827"/>
                    </a:solidFill>
                    <a:latin typeface="Arial"/>
                  </a:rPr>
                  <a:t>, so </a:t>
                </a:r>
                <a:r>
                  <a:rPr lang="en-IN" sz="2400">
                    <a:solidFill>
                      <a:srgbClr val="111827"/>
                    </a:solidFill>
                    <a:latin typeface="Cambria Math" panose="02040503050406030204" pitchFamily="18" charset="0"/>
                  </a:rPr>
                  <a:t>$BC^2=(8+3)^2+(5-6)^2=121+1=122$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122</a:t>
            </a:r>
            <a:endParaRPr sz="2800">
              <a:solidFill>
                <a:srgbClr val="15803D"/>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the midpoint </a:t>
                </a:r>
                <a14:m>
                  <m:oMath xmlns:m="http://schemas.openxmlformats.org/officeDocument/2006/math">
                    <m:r>
                      <a:rPr lang="en-IN" sz="2400" i="1">
                        <a:solidFill>
                          <a:srgbClr val="78350F"/>
                        </a:solidFill>
                        <a:latin typeface="Cambria Math" panose="02040503050406030204" pitchFamily="18" charset="0"/>
                      </a:rPr>
                      <m:t>𝑀</m:t>
                    </m:r>
                  </m:oMath>
                </a14:m>
                <a:r>
                  <a:rPr sz="2400" b="0">
                    <a:solidFill>
                      <a:srgbClr val="78350F"/>
                    </a:solidFill>
                    <a:latin typeface="Arial"/>
                  </a:rPr>
                  <a:t> of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𝐺</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𝐺</m:t>
                    </m:r>
                    <m:r>
                      <a:rPr lang="en-IN" sz="2400" i="1">
                        <a:solidFill>
                          <a:srgbClr val="78350F"/>
                        </a:solidFill>
                        <a:latin typeface="Cambria Math" panose="02040503050406030204" pitchFamily="18" charset="0"/>
                      </a:rPr>
                      <m:t>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then use that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are reflections of each other in </a:t>
                </a:r>
                <a14:m>
                  <m:oMath xmlns:m="http://schemas.openxmlformats.org/officeDocument/2006/math">
                    <m:r>
                      <a:rPr lang="en-IN" sz="2400" i="1">
                        <a:solidFill>
                          <a:srgbClr val="78350F"/>
                        </a:solidFill>
                        <a:latin typeface="Cambria Math" panose="02040503050406030204" pitchFamily="18" charset="0"/>
                      </a:rPr>
                      <m:t>𝑀</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the midpoint </a:t>
                </a:r>
                <a:r>
                  <a:rPr lang="en-IN" sz="2400">
                    <a:solidFill>
                      <a:srgbClr val="78350F"/>
                    </a:solidFill>
                    <a:latin typeface="Cambria Math" panose="02040503050406030204" pitchFamily="18" charset="0"/>
                  </a:rPr>
                  <a:t>$M$</a:t>
                </a:r>
                <a:r>
                  <a:rPr sz="2400" b="0">
                    <a:solidFill>
                      <a:srgbClr val="78350F"/>
                    </a:solidFill>
                    <a:latin typeface="Arial"/>
                  </a:rPr>
                  <a:t> of </a:t>
                </a:r>
                <a:r>
                  <a:rPr lang="en-IN" sz="2400">
                    <a:solidFill>
                      <a:srgbClr val="78350F"/>
                    </a:solidFill>
                    <a:latin typeface="Cambria Math" panose="02040503050406030204" pitchFamily="18" charset="0"/>
                  </a:rPr>
                  <a:t>$BC$</a:t>
                </a:r>
                <a:r>
                  <a:rPr sz="2400" b="0">
                    <a:solidFill>
                      <a:srgbClr val="78350F"/>
                    </a:solidFill>
                    <a:latin typeface="Arial"/>
                  </a:rPr>
                  <a:t> from </a:t>
                </a:r>
                <a:r>
                  <a:rPr lang="en-IN" sz="2400">
                    <a:solidFill>
                      <a:srgbClr val="78350F"/>
                    </a:solidFill>
                    <a:latin typeface="Cambria Math" panose="02040503050406030204" pitchFamily="18" charset="0"/>
                  </a:rPr>
                  <a:t>$AG:GM=2:1$</a:t>
                </a:r>
                <a:r>
                  <a:rPr sz="2400" b="0">
                    <a:solidFill>
                      <a:srgbClr val="78350F"/>
                    </a:solidFill>
                    <a:latin typeface="Arial"/>
                  </a:rPr>
                  <a:t>, then use that </a:t>
                </a:r>
                <a:r>
                  <a:rPr lang="en-IN" sz="2400">
                    <a:solidFill>
                      <a:srgbClr val="78350F"/>
                    </a:solidFill>
                    <a:latin typeface="Cambria Math" panose="02040503050406030204" pitchFamily="18" charset="0"/>
                  </a:rPr>
                  <a:t>$B$</a:t>
                </a:r>
                <a:r>
                  <a:rPr sz="2400" b="0">
                    <a:solidFill>
                      <a:srgbClr val="78350F"/>
                    </a:solidFill>
                    <a:latin typeface="Arial"/>
                  </a:rPr>
                  <a:t> and </a:t>
                </a:r>
                <a:r>
                  <a:rPr lang="en-IN" sz="2400">
                    <a:solidFill>
                      <a:srgbClr val="78350F"/>
                    </a:solidFill>
                    <a:latin typeface="Cambria Math" panose="02040503050406030204" pitchFamily="18" charset="0"/>
                  </a:rPr>
                  <a:t>$C$</a:t>
                </a:r>
                <a:r>
                  <a:rPr sz="2400" b="0">
                    <a:solidFill>
                      <a:srgbClr val="78350F"/>
                    </a:solidFill>
                    <a:latin typeface="Arial"/>
                  </a:rPr>
                  <a:t> are reflections of each other in </a:t>
                </a:r>
                <a:r>
                  <a:rPr lang="en-IN" sz="2400">
                    <a:solidFill>
                      <a:srgbClr val="78350F"/>
                    </a:solidFill>
                    <a:latin typeface="Cambria Math" panose="02040503050406030204" pitchFamily="18" charset="0"/>
                  </a:rPr>
                  <a:t>$M$</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before. The centroid divides the median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$A=(1,-2)$</a:t>
                </a:r>
                <a:r>
                  <a:rPr sz="2400" b="0">
                    <a:solidFill>
                      <a:srgbClr val="111827"/>
                    </a:solidFill>
                    <a:latin typeface="Arial"/>
                  </a:rPr>
                  <a:t> as before. The centroid divides the median </a:t>
                </a:r>
                <a:r>
                  <a:rPr lang="en-IN" sz="2400">
                    <a:solidFill>
                      <a:srgbClr val="111827"/>
                    </a:solidFill>
                    <a:latin typeface="Cambria Math" panose="02040503050406030204" pitchFamily="18" charset="0"/>
                  </a:rPr>
                  <a:t>$AM$</a:t>
                </a:r>
                <a:r>
                  <a:rPr sz="2400" b="0">
                    <a:solidFill>
                      <a:srgbClr val="111827"/>
                    </a:solidFill>
                    <a:latin typeface="Arial"/>
                  </a:rPr>
                  <a:t> in the ratio </a:t>
                </a:r>
                <a:r>
                  <a:rPr lang="en-IN" sz="2400">
                    <a:solidFill>
                      <a:srgbClr val="111827"/>
                    </a:solidFill>
                    <a:latin typeface="Cambria Math" panose="02040503050406030204" pitchFamily="18" charset="0"/>
                  </a:rPr>
                  <a:t>$2:1$</a:t>
                </a:r>
                <a:r>
                  <a:rPr sz="2400" b="0">
                    <a:solidFill>
                      <a:srgbClr val="111827"/>
                    </a:solidFill>
                    <a:latin typeface="Arial"/>
                  </a:rPr>
                  <a:t>, so </a:t>
                </a:r>
                <a:r>
                  <a:rPr lang="en-IN" sz="2400">
                    <a:solidFill>
                      <a:srgbClr val="111827"/>
                    </a:solidFill>
                    <a:latin typeface="Cambria Math" panose="02040503050406030204" pitchFamily="18" charset="0"/>
                  </a:rPr>
                  <a:t>$M=\frac{3P-A}{2}=\left(\frac{5}{2},\frac{3a+2}{2}\right)$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$B=(t,-2t)$</a:t>
                </a:r>
                <a:r>
                  <a:rPr sz="2400" b="0">
                    <a:solidFill>
                      <a:srgbClr val="111827"/>
                    </a:solidFill>
                    <a:latin typeface="Arial"/>
                  </a:rPr>
                  <a:t> on </a:t>
                </a:r>
                <a:r>
                  <a:rPr lang="en-IN" sz="2400">
                    <a:solidFill>
                      <a:srgbClr val="111827"/>
                    </a:solidFill>
                    <a:latin typeface="Cambria Math" panose="02040503050406030204" pitchFamily="18" charset="0"/>
                  </a:rPr>
                  <a:t>$2x+y=0$</a:t>
                </a:r>
                <a:r>
                  <a:rPr sz="2400" b="0">
                    <a:solidFill>
                      <a:srgbClr val="111827"/>
                    </a:solidFill>
                    <a:latin typeface="Arial"/>
                  </a:rPr>
                  <a:t>. Since </a:t>
                </a:r>
                <a:r>
                  <a:rPr lang="en-IN" sz="2400">
                    <a:solidFill>
                      <a:srgbClr val="111827"/>
                    </a:solidFill>
                    <a:latin typeface="Cambria Math" panose="02040503050406030204" pitchFamily="18" charset="0"/>
                  </a:rPr>
                  <a:t>$M$</a:t>
                </a:r>
                <a:r>
                  <a:rPr sz="2400" b="0">
                    <a:solidFill>
                      <a:srgbClr val="111827"/>
                    </a:solidFill>
                    <a:latin typeface="Arial"/>
                  </a:rPr>
                  <a:t> is the midpoint of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$C=2M-B=(5-t,\,3a+2+2t)$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$x-y=3$</a:t>
                </a:r>
                <a:r>
                  <a:rPr sz="2400" b="0">
                    <a:solidFill>
                      <a:srgbClr val="111827"/>
                    </a:solidFill>
                    <a:latin typeface="Arial"/>
                  </a:rPr>
                  <a:t>: </a:t>
                </a:r>
                <a:r>
                  <a:rPr lang="en-IN" sz="2400">
                    <a:solidFill>
                      <a:srgbClr val="111827"/>
                    </a:solidFill>
                    <a:latin typeface="Cambria Math" panose="02040503050406030204" pitchFamily="18" charset="0"/>
                  </a:rPr>
                  <a:t>$(5-t)-(3a+2+2t)=3\Rightarrow-3t-3a=0\Rightarrow 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lie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$B=(-a,2a)$</a:t>
                </a:r>
                <a:r>
                  <a:rPr sz="2400" b="0">
                    <a:solidFill>
                      <a:srgbClr val="111827"/>
                    </a:solidFill>
                    <a:latin typeface="Arial"/>
                  </a:rPr>
                  <a:t> and </a:t>
                </a:r>
                <a:r>
                  <a:rPr lang="en-IN" sz="2400">
                    <a:solidFill>
                      <a:srgbClr val="111827"/>
                    </a:solidFill>
                    <a:latin typeface="Cambria Math" panose="02040503050406030204" pitchFamily="18" charset="0"/>
                  </a:rPr>
                  <a:t>$C=(a+5,a+2)$</a:t>
                </a:r>
                <a:r>
                  <a:rPr sz="2400" b="0">
                    <a:solidFill>
                      <a:srgbClr val="111827"/>
                    </a:solidFill>
                    <a:latin typeface="Arial"/>
                  </a:rPr>
                  <a:t>. Both lie on </a:t>
                </a:r>
                <a:r>
                  <a:rPr lang="en-IN" sz="2400">
                    <a:solidFill>
                      <a:srgbClr val="111827"/>
                    </a:solidFill>
                    <a:latin typeface="Cambria Math" panose="02040503050406030204" pitchFamily="18" charset="0"/>
                  </a:rPr>
                  <a:t>$x+py=21a$</a:t>
                </a:r>
                <a:r>
                  <a:rPr sz="2400" b="0">
                    <a:solidFill>
                      <a:srgbClr val="111827"/>
                    </a:solidFill>
                    <a:latin typeface="Arial"/>
                  </a:rPr>
                  <a:t>: </a:t>
                </a:r>
                <a:r>
                  <a:rPr lang="en-IN" sz="2400">
                    <a:solidFill>
                      <a:srgbClr val="111827"/>
                    </a:solidFill>
                    <a:latin typeface="Cambria Math" panose="02040503050406030204" pitchFamily="18" charset="0"/>
                  </a:rPr>
                  <a:t>$-a+2ap=21a\Rightarrow p=11$</a:t>
                </a:r>
                <a:r>
                  <a:rPr sz="2400" b="0">
                    <a:solidFill>
                      <a:srgbClr val="111827"/>
                    </a:solidFill>
                    <a:latin typeface="Arial"/>
                  </a:rPr>
                  <a:t>, and </a:t>
                </a:r>
                <a:r>
                  <a:rPr lang="en-IN" sz="2400">
                    <a:solidFill>
                      <a:srgbClr val="111827"/>
                    </a:solidFill>
                    <a:latin typeface="Cambria Math" panose="02040503050406030204" pitchFamily="18" charset="0"/>
                  </a:rPr>
                  <a:t>$a+5+11(a+2)=21a\Rightarrow 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$B=(-3,6)$</a:t>
                </a:r>
                <a:r>
                  <a:rPr sz="2400" b="0">
                    <a:solidFill>
                      <a:srgbClr val="111827"/>
                    </a:solidFill>
                    <a:latin typeface="Arial"/>
                  </a:rPr>
                  <a:t>, </a:t>
                </a:r>
                <a:r>
                  <a:rPr lang="en-IN" sz="2400">
                    <a:solidFill>
                      <a:srgbClr val="111827"/>
                    </a:solidFill>
                    <a:latin typeface="Cambria Math" panose="02040503050406030204" pitchFamily="18" charset="0"/>
                  </a:rPr>
                  <a:t>$C=(8,5)$</a:t>
                </a:r>
                <a:r>
                  <a:rPr sz="2400" b="0">
                    <a:solidFill>
                      <a:srgbClr val="111827"/>
                    </a:solidFill>
                    <a:latin typeface="Arial"/>
                  </a:rPr>
                  <a:t> and </a:t>
                </a:r>
                <a:r>
                  <a:rPr lang="en-IN" sz="2400">
                    <a:solidFill>
                      <a:srgbClr val="111827"/>
                    </a:solidFill>
                    <a:latin typeface="Cambria Math" panose="02040503050406030204" pitchFamily="18" charset="0"/>
                  </a:rPr>
                  <a:t>$BC^2=122$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122</a:t>
            </a:r>
            <a:endParaRPr sz="2800">
              <a:solidFill>
                <a:srgbClr val="15803D"/>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Centroid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it divides each median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the vertex,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the midpoint of the opposite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vertex on a given line needs only one parameter: write it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before using any other condition.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numerical answer needs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every point on the unknown line gives one equation - use both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Centroid </a:t>
                </a:r>
                <a:r>
                  <a:rPr lang="en-IN" sz="2400">
                    <a:solidFill>
                      <a:srgbClr val="111827"/>
                    </a:solidFill>
                    <a:latin typeface="Cambria Math" panose="02040503050406030204" pitchFamily="18" charset="0"/>
                  </a:rPr>
                  <a:t>$G=\left(\frac{x_1+x_2+x_3}{3},\frac{y_1+y_2+y_3}{3}\right)$</a:t>
                </a:r>
                <a:r>
                  <a:rPr sz="2400" b="0">
                    <a:solidFill>
                      <a:srgbClr val="111827"/>
                    </a:solidFill>
                    <a:latin typeface="Arial"/>
                  </a:rPr>
                  <a:t>; it divides each median </a:t>
                </a:r>
                <a:r>
                  <a:rPr lang="en-IN" sz="2400">
                    <a:solidFill>
                      <a:srgbClr val="111827"/>
                    </a:solidFill>
                    <a:latin typeface="Cambria Math" panose="02040503050406030204" pitchFamily="18" charset="0"/>
                  </a:rPr>
                  <a:t>$2:1$</a:t>
                </a:r>
                <a:r>
                  <a:rPr sz="2400" b="0">
                    <a:solidFill>
                      <a:srgbClr val="111827"/>
                    </a:solidFill>
                    <a:latin typeface="Arial"/>
                  </a:rPr>
                  <a:t> from the vertex, so </a:t>
                </a:r>
                <a:r>
                  <a:rPr lang="en-IN" sz="2400">
                    <a:solidFill>
                      <a:srgbClr val="111827"/>
                    </a:solidFill>
                    <a:latin typeface="Cambria Math" panose="02040503050406030204" pitchFamily="18" charset="0"/>
                  </a:rPr>
                  <a:t>$M=\frac{3G-A}{2}$</a:t>
                </a:r>
                <a:r>
                  <a:rPr sz="2400" b="0">
                    <a:solidFill>
                      <a:srgbClr val="111827"/>
                    </a:solidFill>
                    <a:latin typeface="Arial"/>
                  </a:rPr>
                  <a:t> for the midpoint of the opposite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vertex on a given line needs only one parameter: write it as </a:t>
                </a:r>
                <a:r>
                  <a:rPr lang="en-IN" sz="2400">
                    <a:solidFill>
                      <a:srgbClr val="111827"/>
                    </a:solidFill>
                    <a:latin typeface="Cambria Math" panose="02040503050406030204" pitchFamily="18" charset="0"/>
                  </a:rPr>
                  <a:t>$(t,mt+c)$</a:t>
                </a:r>
                <a:r>
                  <a:rPr sz="2400" b="0">
                    <a:solidFill>
                      <a:srgbClr val="111827"/>
                    </a:solidFill>
                    <a:latin typeface="Arial"/>
                  </a:rPr>
                  <a:t> before using any other condition.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numerical answer needs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$p$</a:t>
                </a:r>
                <a:r>
                  <a:rPr sz="2400" b="0">
                    <a:solidFill>
                      <a:srgbClr val="111827"/>
                    </a:solidFill>
                    <a:latin typeface="Arial"/>
                  </a:rPr>
                  <a:t>, every point on the unknown line gives one equation - use both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triangle is formed by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-axis,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-axis and the line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Then the number of points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lie strictly inside the triangle, where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an integer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triangle is formed by </a:t>
                </a:r>
                <a:r>
                  <a:rPr lang="en-IN" sz="2400">
                    <a:solidFill>
                      <a:srgbClr val="111827"/>
                    </a:solidFill>
                    <a:latin typeface="Cambria Math" panose="02040503050406030204" pitchFamily="18" charset="0"/>
                  </a:rPr>
                  <a:t>$X$</a:t>
                </a:r>
                <a:r>
                  <a:rPr sz="2400" b="0">
                    <a:solidFill>
                      <a:srgbClr val="111827"/>
                    </a:solidFill>
                    <a:latin typeface="Arial"/>
                  </a:rPr>
                  <a:t>-axis, </a:t>
                </a:r>
                <a:r>
                  <a:rPr lang="en-IN" sz="2400">
                    <a:solidFill>
                      <a:srgbClr val="111827"/>
                    </a:solidFill>
                    <a:latin typeface="Cambria Math" panose="02040503050406030204" pitchFamily="18" charset="0"/>
                  </a:rPr>
                  <a:t>$Y$</a:t>
                </a:r>
                <a:r>
                  <a:rPr sz="2400" b="0">
                    <a:solidFill>
                      <a:srgbClr val="111827"/>
                    </a:solidFill>
                    <a:latin typeface="Arial"/>
                  </a:rPr>
                  <a:t>-axis and the line </a:t>
                </a:r>
                <a:r>
                  <a:rPr lang="en-IN" sz="2400">
                    <a:solidFill>
                      <a:srgbClr val="111827"/>
                    </a:solidFill>
                    <a:latin typeface="Cambria Math" panose="02040503050406030204" pitchFamily="18" charset="0"/>
                  </a:rPr>
                  <a:t>$3x+4y=60$</a:t>
                </a:r>
                <a:r>
                  <a:rPr sz="2400" b="0">
                    <a:solidFill>
                      <a:srgbClr val="111827"/>
                    </a:solidFill>
                    <a:latin typeface="Arial"/>
                  </a:rPr>
                  <a:t>. Then the number of points </a:t>
                </a:r>
                <a:r>
                  <a:rPr lang="en-IN" sz="2400">
                    <a:solidFill>
                      <a:srgbClr val="111827"/>
                    </a:solidFill>
                    <a:latin typeface="Cambria Math" panose="02040503050406030204" pitchFamily="18" charset="0"/>
                  </a:rPr>
                  <a:t>$P(a,b)$</a:t>
                </a:r>
                <a:r>
                  <a:rPr sz="2400" b="0">
                    <a:solidFill>
                      <a:srgbClr val="111827"/>
                    </a:solidFill>
                    <a:latin typeface="Arial"/>
                  </a:rPr>
                  <a:t> which lie strictly inside the triangle, where </a:t>
                </a:r>
                <a:r>
                  <a:rPr lang="en-IN" sz="2400">
                    <a:solidFill>
                      <a:srgbClr val="111827"/>
                    </a:solidFill>
                    <a:latin typeface="Cambria Math" panose="02040503050406030204" pitchFamily="18" charset="0"/>
                  </a:rPr>
                  <a:t>$a$</a:t>
                </a:r>
                <a:r>
                  <a:rPr sz="2400" b="0">
                    <a:solidFill>
                      <a:srgbClr val="111827"/>
                    </a:solidFill>
                    <a:latin typeface="Arial"/>
                  </a:rPr>
                  <a:t> is an integer and </a:t>
                </a:r>
                <a:r>
                  <a:rPr lang="en-IN" sz="2400">
                    <a:solidFill>
                      <a:srgbClr val="111827"/>
                    </a:solidFill>
                    <a:latin typeface="Cambria Math" panose="02040503050406030204" pitchFamily="18" charset="0"/>
                  </a:rPr>
                  <a:t>$b$</a:t>
                </a:r>
                <a:r>
                  <a:rPr sz="2400" b="0">
                    <a:solidFill>
                      <a:srgbClr val="111827"/>
                    </a:solidFill>
                    <a:latin typeface="Arial"/>
                  </a:rPr>
                  <a:t> is a multiple of </a:t>
                </a:r>
                <a:r>
                  <a:rPr lang="en-IN" sz="2400">
                    <a:solidFill>
                      <a:srgbClr val="111827"/>
                    </a:solidFill>
                    <a:latin typeface="Cambria Math" panose="02040503050406030204" pitchFamily="18" charset="0"/>
                  </a:rPr>
                  <a:t>$a$</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Lattice points inside a triangle, Intercept form of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Inside means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60</m:t>
                    </m:r>
                  </m:oMath>
                </a14:m>
                <a:r>
                  <a:rPr sz="2400" b="0">
                    <a:solidFill>
                      <a:srgbClr val="78350F"/>
                    </a:solidFill>
                    <a:latin typeface="Arial"/>
                  </a:rPr>
                  <a:t>; count the multiples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of each integer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below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Inside means </a:t>
                </a:r>
                <a:r>
                  <a:rPr lang="en-IN" sz="2400">
                    <a:solidFill>
                      <a:srgbClr val="78350F"/>
                    </a:solidFill>
                    <a:latin typeface="Cambria Math" panose="02040503050406030204" pitchFamily="18" charset="0"/>
                  </a:rPr>
                  <a:t>$a&gt;0$</a:t>
                </a:r>
                <a:r>
                  <a:rPr sz="2400" b="0">
                    <a:solidFill>
                      <a:srgbClr val="78350F"/>
                    </a:solidFill>
                    <a:latin typeface="Arial"/>
                  </a:rPr>
                  <a:t>, </a:t>
                </a:r>
                <a:r>
                  <a:rPr lang="en-IN" sz="2400">
                    <a:solidFill>
                      <a:srgbClr val="78350F"/>
                    </a:solidFill>
                    <a:latin typeface="Cambria Math" panose="02040503050406030204" pitchFamily="18" charset="0"/>
                  </a:rPr>
                  <a:t>$b&gt;0$</a:t>
                </a:r>
                <a:r>
                  <a:rPr sz="2400" b="0">
                    <a:solidFill>
                      <a:srgbClr val="78350F"/>
                    </a:solidFill>
                    <a:latin typeface="Arial"/>
                  </a:rPr>
                  <a:t> and </a:t>
                </a:r>
                <a:r>
                  <a:rPr lang="en-IN" sz="2400">
                    <a:solidFill>
                      <a:srgbClr val="78350F"/>
                    </a:solidFill>
                    <a:latin typeface="Cambria Math" panose="02040503050406030204" pitchFamily="18" charset="0"/>
                  </a:rPr>
                  <a:t>$3a+4b&lt;60$</a:t>
                </a:r>
                <a:r>
                  <a:rPr sz="2400" b="0">
                    <a:solidFill>
                      <a:srgbClr val="78350F"/>
                    </a:solidFill>
                    <a:latin typeface="Arial"/>
                  </a:rPr>
                  <a:t>; count the multiples </a:t>
                </a:r>
                <a:r>
                  <a:rPr lang="en-IN" sz="2400">
                    <a:solidFill>
                      <a:srgbClr val="78350F"/>
                    </a:solidFill>
                    <a:latin typeface="Cambria Math" panose="02040503050406030204" pitchFamily="18" charset="0"/>
                  </a:rPr>
                  <a:t>$b$</a:t>
                </a:r>
                <a:r>
                  <a:rPr sz="2400" b="0">
                    <a:solidFill>
                      <a:srgbClr val="78350F"/>
                    </a:solidFill>
                    <a:latin typeface="Arial"/>
                  </a:rPr>
                  <a:t> of each integer </a:t>
                </a:r>
                <a:r>
                  <a:rPr lang="en-IN" sz="2400">
                    <a:solidFill>
                      <a:srgbClr val="78350F"/>
                    </a:solidFill>
                    <a:latin typeface="Cambria Math" panose="02040503050406030204" pitchFamily="18" charset="0"/>
                  </a:rPr>
                  <a:t>$a$</a:t>
                </a:r>
                <a:r>
                  <a:rPr sz="2400" b="0">
                    <a:solidFill>
                      <a:srgbClr val="78350F"/>
                    </a:solidFill>
                    <a:latin typeface="Arial"/>
                  </a:rPr>
                  <a:t> below </a:t>
                </a:r>
                <a:r>
                  <a:rPr lang="en-IN" sz="2400">
                    <a:solidFill>
                      <a:srgbClr val="78350F"/>
                    </a:solidFill>
                    <a:latin typeface="Cambria Math" panose="02040503050406030204" pitchFamily="18" charset="0"/>
                  </a:rPr>
                  <a:t>$y=\frac{60-3a}{4}$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triangle has vertices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strictly inside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57</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points.</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triangle has vertices </a:t>
                </a:r>
                <a:r>
                  <a:rPr lang="en-IN" sz="2400">
                    <a:solidFill>
                      <a:srgbClr val="111827"/>
                    </a:solidFill>
                    <a:latin typeface="Cambria Math" panose="02040503050406030204" pitchFamily="18" charset="0"/>
                  </a:rPr>
                  <a:t>$(0,0)$</a:t>
                </a:r>
                <a:r>
                  <a:rPr sz="2400" b="0">
                    <a:solidFill>
                      <a:srgbClr val="111827"/>
                    </a:solidFill>
                    <a:latin typeface="Arial"/>
                  </a:rPr>
                  <a:t>, </a:t>
                </a:r>
                <a:r>
                  <a:rPr lang="en-IN" sz="2400">
                    <a:solidFill>
                      <a:srgbClr val="111827"/>
                    </a:solidFill>
                    <a:latin typeface="Cambria Math" panose="02040503050406030204" pitchFamily="18" charset="0"/>
                  </a:rPr>
                  <a:t>$(20,0)$</a:t>
                </a:r>
                <a:r>
                  <a:rPr sz="2400" b="0">
                    <a:solidFill>
                      <a:srgbClr val="111827"/>
                    </a:solidFill>
                    <a:latin typeface="Arial"/>
                  </a:rPr>
                  <a:t>, </a:t>
                </a:r>
                <a:r>
                  <a:rPr lang="en-IN" sz="2400">
                    <a:solidFill>
                      <a:srgbClr val="111827"/>
                    </a:solidFill>
                    <a:latin typeface="Cambria Math" panose="02040503050406030204" pitchFamily="18" charset="0"/>
                  </a:rPr>
                  <a:t>$(0,15)$</a:t>
                </a:r>
                <a:r>
                  <a:rPr sz="2400" b="0">
                    <a:solidFill>
                      <a:srgbClr val="111827"/>
                    </a:solidFill>
                    <a:latin typeface="Arial"/>
                  </a:rPr>
                  <a:t>. A point </a:t>
                </a:r>
                <a:r>
                  <a:rPr lang="en-IN" sz="2400">
                    <a:solidFill>
                      <a:srgbClr val="111827"/>
                    </a:solidFill>
                    <a:latin typeface="Cambria Math" panose="02040503050406030204" pitchFamily="18" charset="0"/>
                  </a:rPr>
                  <a:t>$(a,b)$</a:t>
                </a:r>
                <a:r>
                  <a:rPr sz="2400" b="0">
                    <a:solidFill>
                      <a:srgbClr val="111827"/>
                    </a:solidFill>
                    <a:latin typeface="Arial"/>
                  </a:rPr>
                  <a:t> is strictly inside if </a:t>
                </a:r>
                <a:r>
                  <a:rPr lang="en-IN" sz="2400">
                    <a:solidFill>
                      <a:srgbClr val="111827"/>
                    </a:solidFill>
                    <a:latin typeface="Cambria Math" panose="02040503050406030204" pitchFamily="18" charset="0"/>
                  </a:rPr>
                  <a:t>$a&gt;0$</a:t>
                </a:r>
                <a:r>
                  <a:rPr sz="2400" b="0">
                    <a:solidFill>
                      <a:srgbClr val="111827"/>
                    </a:solidFill>
                    <a:latin typeface="Arial"/>
                  </a:rPr>
                  <a:t>, </a:t>
                </a:r>
                <a:r>
                  <a:rPr lang="en-IN" sz="2400">
                    <a:solidFill>
                      <a:srgbClr val="111827"/>
                    </a:solidFill>
                    <a:latin typeface="Cambria Math" panose="02040503050406030204" pitchFamily="18" charset="0"/>
                  </a:rPr>
                  <a:t>$b&gt;0$</a:t>
                </a:r>
                <a:r>
                  <a:rPr sz="2400" b="0">
                    <a:solidFill>
                      <a:srgbClr val="111827"/>
                    </a:solidFill>
                    <a:latin typeface="Arial"/>
                  </a:rPr>
                  <a:t> and </a:t>
                </a:r>
                <a:r>
                  <a:rPr lang="en-IN" sz="2400">
                    <a:solidFill>
                      <a:srgbClr val="111827"/>
                    </a:solidFill>
                    <a:latin typeface="Cambria Math" panose="02040503050406030204" pitchFamily="18" charset="0"/>
                  </a:rPr>
                  <a:t>$b&lt;\frac{60-3a}{4}$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$b&lt;\frac{57}{4}=14.25$</a:t>
                </a:r>
                <a:r>
                  <a:rPr sz="2400" b="0">
                    <a:solidFill>
                      <a:srgbClr val="111827"/>
                    </a:solidFill>
                    <a:latin typeface="Arial"/>
                  </a:rPr>
                  <a:t>; </a:t>
                </a:r>
                <a:r>
                  <a:rPr lang="en-IN" sz="2400">
                    <a:solidFill>
                      <a:srgbClr val="111827"/>
                    </a:solidFill>
                    <a:latin typeface="Cambria Math" panose="02040503050406030204" pitchFamily="18" charset="0"/>
                  </a:rPr>
                  <a:t>$b=1,2,\dots,14$</a:t>
                </a:r>
                <a:r>
                  <a:rPr sz="2400" b="0">
                    <a:solidFill>
                      <a:srgbClr val="111827"/>
                    </a:solidFill>
                    <a:latin typeface="Arial"/>
                  </a:rPr>
                  <a:t> gives </a:t>
                </a:r>
                <a:r>
                  <a:rPr lang="en-IN" sz="2400">
                    <a:solidFill>
                      <a:srgbClr val="111827"/>
                    </a:solidFill>
                    <a:latin typeface="Cambria Math" panose="02040503050406030204" pitchFamily="18" charset="0"/>
                  </a:rPr>
                  <a:t>$14$</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a:t>
                </a:r>
                <a:r>
                  <a:rPr sz="2400" b="0">
                    <a:solidFill>
                      <a:srgbClr val="111827"/>
                    </a:solidFill>
                    <a:latin typeface="Arial"/>
                  </a:rPr>
                  <a:t>: </a:t>
                </a:r>
                <a:r>
                  <a:rPr lang="en-IN" sz="2400">
                    <a:solidFill>
                      <a:srgbClr val="111827"/>
                    </a:solidFill>
                    <a:latin typeface="Cambria Math" panose="02040503050406030204" pitchFamily="18" charset="0"/>
                  </a:rPr>
                  <a:t>$b&lt;\frac{54}{4}=13.5$</a:t>
                </a:r>
                <a:r>
                  <a:rPr sz="2400" b="0">
                    <a:solidFill>
                      <a:srgbClr val="111827"/>
                    </a:solidFill>
                    <a:latin typeface="Arial"/>
                  </a:rPr>
                  <a:t>; </a:t>
                </a:r>
                <a:r>
                  <a:rPr lang="en-IN" sz="2400">
                    <a:solidFill>
                      <a:srgbClr val="111827"/>
                    </a:solidFill>
                    <a:latin typeface="Cambria Math" panose="02040503050406030204" pitchFamily="18" charset="0"/>
                  </a:rPr>
                  <a:t>$b=2,4,\dots,12$</a:t>
                </a:r>
                <a:r>
                  <a:rPr sz="2400" b="0">
                    <a:solidFill>
                      <a:srgbClr val="111827"/>
                    </a:solidFill>
                    <a:latin typeface="Arial"/>
                  </a:rPr>
                  <a:t> gives </a:t>
                </a:r>
                <a:r>
                  <a:rPr lang="en-IN" sz="2400">
                    <a:solidFill>
                      <a:srgbClr val="111827"/>
                    </a:solidFill>
                    <a:latin typeface="Cambria Math" panose="02040503050406030204" pitchFamily="18" charset="0"/>
                  </a:rPr>
                  <a:t>$6$</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$b&lt;\frac{51}{4}=12.75$</a:t>
                </a:r>
                <a:r>
                  <a:rPr sz="2400" b="0">
                    <a:solidFill>
                      <a:srgbClr val="111827"/>
                    </a:solidFill>
                    <a:latin typeface="Arial"/>
                  </a:rPr>
                  <a:t>; </a:t>
                </a:r>
                <a:r>
                  <a:rPr lang="en-IN" sz="2400">
                    <a:solidFill>
                      <a:srgbClr val="111827"/>
                    </a:solidFill>
                    <a:latin typeface="Cambria Math" panose="02040503050406030204" pitchFamily="18" charset="0"/>
                  </a:rPr>
                  <a:t>$b=3,6,9,12$</a:t>
                </a:r>
                <a:r>
                  <a:rPr sz="2400" b="0">
                    <a:solidFill>
                      <a:srgbClr val="111827"/>
                    </a:solidFill>
                    <a:latin typeface="Arial"/>
                  </a:rPr>
                  <a:t> gives </a:t>
                </a:r>
                <a:r>
                  <a:rPr lang="en-IN" sz="2400">
                    <a:solidFill>
                      <a:srgbClr val="111827"/>
                    </a:solidFill>
                    <a:latin typeface="Cambria Math" panose="02040503050406030204" pitchFamily="18" charset="0"/>
                  </a:rPr>
                  <a:t>$4$</a:t>
                </a:r>
                <a:r>
                  <a:rPr sz="2400" b="0">
                    <a:solidFill>
                      <a:srgbClr val="111827"/>
                    </a:solidFill>
                    <a:latin typeface="Arial"/>
                  </a:rPr>
                  <a:t> points.</a:t>
                </a:r>
                <a:endParaRPr sz="2400">
                  <a:solidFill>
                    <a:srgbClr val="111827"/>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points.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11.25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point.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9.75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point.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point.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8.25</m:t>
                    </m:r>
                  </m:oMath>
                </a14:m>
                <a:r>
                  <a:rPr sz="2400" b="0">
                    <a:solidFill>
                      <a:srgbClr val="111827"/>
                    </a:solidFill>
                    <a:latin typeface="Arial"/>
                  </a:rPr>
                  <a:t>, but the smallest multiple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is too large, so no point; larger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also give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$a=4$</a:t>
                </a:r>
                <a:r>
                  <a:rPr sz="2400" b="0">
                    <a:solidFill>
                      <a:srgbClr val="111827"/>
                    </a:solidFill>
                    <a:latin typeface="Arial"/>
                  </a:rPr>
                  <a:t>: </a:t>
                </a:r>
                <a:r>
                  <a:rPr lang="en-IN" sz="2400">
                    <a:solidFill>
                      <a:srgbClr val="111827"/>
                    </a:solidFill>
                    <a:latin typeface="Cambria Math" panose="02040503050406030204" pitchFamily="18" charset="0"/>
                  </a:rPr>
                  <a:t>$b&lt;12$</a:t>
                </a:r>
                <a:r>
                  <a:rPr sz="2400" b="0">
                    <a:solidFill>
                      <a:srgbClr val="111827"/>
                    </a:solidFill>
                    <a:latin typeface="Arial"/>
                  </a:rPr>
                  <a:t>; </a:t>
                </a:r>
                <a:r>
                  <a:rPr lang="en-IN" sz="2400">
                    <a:solidFill>
                      <a:srgbClr val="111827"/>
                    </a:solidFill>
                    <a:latin typeface="Cambria Math" panose="02040503050406030204" pitchFamily="18" charset="0"/>
                  </a:rPr>
                  <a:t>$b=4,8$</a:t>
                </a:r>
                <a:r>
                  <a:rPr sz="2400" b="0">
                    <a:solidFill>
                      <a:srgbClr val="111827"/>
                    </a:solidFill>
                    <a:latin typeface="Arial"/>
                  </a:rPr>
                  <a:t> gives </a:t>
                </a:r>
                <a:r>
                  <a:rPr lang="en-IN" sz="2400">
                    <a:solidFill>
                      <a:srgbClr val="111827"/>
                    </a:solidFill>
                    <a:latin typeface="Cambria Math" panose="02040503050406030204" pitchFamily="18" charset="0"/>
                  </a:rPr>
                  <a:t>$2$</a:t>
                </a:r>
                <a:r>
                  <a:rPr sz="2400" b="0">
                    <a:solidFill>
                      <a:srgbClr val="111827"/>
                    </a:solidFill>
                    <a:latin typeface="Arial"/>
                  </a:rPr>
                  <a:t> points. </a:t>
                </a:r>
                <a:r>
                  <a:rPr lang="en-IN" sz="2400">
                    <a:solidFill>
                      <a:srgbClr val="111827"/>
                    </a:solidFill>
                    <a:latin typeface="Cambria Math" panose="02040503050406030204" pitchFamily="18" charset="0"/>
                  </a:rPr>
                  <a:t>$a=5$</a:t>
                </a:r>
                <a:r>
                  <a:rPr sz="2400" b="0">
                    <a:solidFill>
                      <a:srgbClr val="111827"/>
                    </a:solidFill>
                    <a:latin typeface="Arial"/>
                  </a:rPr>
                  <a:t>: </a:t>
                </a:r>
                <a:r>
                  <a:rPr lang="en-IN" sz="2400">
                    <a:solidFill>
                      <a:srgbClr val="111827"/>
                    </a:solidFill>
                    <a:latin typeface="Cambria Math" panose="02040503050406030204" pitchFamily="18" charset="0"/>
                  </a:rPr>
                  <a:t>$b&lt;11.25$</a:t>
                </a:r>
                <a:r>
                  <a:rPr sz="2400" b="0">
                    <a:solidFill>
                      <a:srgbClr val="111827"/>
                    </a:solidFill>
                    <a:latin typeface="Arial"/>
                  </a:rPr>
                  <a:t>; </a:t>
                </a:r>
                <a:r>
                  <a:rPr lang="en-IN" sz="2400">
                    <a:solidFill>
                      <a:srgbClr val="111827"/>
                    </a:solidFill>
                    <a:latin typeface="Cambria Math" panose="02040503050406030204" pitchFamily="18" charset="0"/>
                  </a:rPr>
                  <a:t>$b=5,10$</a:t>
                </a:r>
                <a:r>
                  <a:rPr sz="2400" b="0">
                    <a:solidFill>
                      <a:srgbClr val="111827"/>
                    </a:solidFill>
                    <a:latin typeface="Arial"/>
                  </a:rPr>
                  <a:t> gives </a:t>
                </a:r>
                <a:r>
                  <a:rPr lang="en-IN" sz="2400">
                    <a:solidFill>
                      <a:srgbClr val="111827"/>
                    </a:solidFill>
                    <a:latin typeface="Cambria Math" panose="02040503050406030204" pitchFamily="18" charset="0"/>
                  </a:rPr>
                  <a:t>$2$</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$a=6$</a:t>
                </a:r>
                <a:r>
                  <a:rPr sz="2400" b="0">
                    <a:solidFill>
                      <a:srgbClr val="111827"/>
                    </a:solidFill>
                    <a:latin typeface="Arial"/>
                  </a:rPr>
                  <a:t>: </a:t>
                </a:r>
                <a:r>
                  <a:rPr lang="en-IN" sz="2400">
                    <a:solidFill>
                      <a:srgbClr val="111827"/>
                    </a:solidFill>
                    <a:latin typeface="Cambria Math" panose="02040503050406030204" pitchFamily="18" charset="0"/>
                  </a:rPr>
                  <a:t>$b&lt;10.5$</a:t>
                </a:r>
                <a:r>
                  <a:rPr sz="2400" b="0">
                    <a:solidFill>
                      <a:srgbClr val="111827"/>
                    </a:solidFill>
                    <a:latin typeface="Arial"/>
                  </a:rPr>
                  <a:t>; </a:t>
                </a:r>
                <a:r>
                  <a:rPr lang="en-IN" sz="2400">
                    <a:solidFill>
                      <a:srgbClr val="111827"/>
                    </a:solidFill>
                    <a:latin typeface="Cambria Math" panose="02040503050406030204" pitchFamily="18" charset="0"/>
                  </a:rPr>
                  <a:t>$b=6$</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point. </a:t>
                </a:r>
                <a:r>
                  <a:rPr lang="en-IN" sz="2400">
                    <a:solidFill>
                      <a:srgbClr val="111827"/>
                    </a:solidFill>
                    <a:latin typeface="Cambria Math" panose="02040503050406030204" pitchFamily="18" charset="0"/>
                  </a:rPr>
                  <a:t>$a=7$</a:t>
                </a:r>
                <a:r>
                  <a:rPr sz="2400" b="0">
                    <a:solidFill>
                      <a:srgbClr val="111827"/>
                    </a:solidFill>
                    <a:latin typeface="Arial"/>
                  </a:rPr>
                  <a:t>: </a:t>
                </a:r>
                <a:r>
                  <a:rPr lang="en-IN" sz="2400">
                    <a:solidFill>
                      <a:srgbClr val="111827"/>
                    </a:solidFill>
                    <a:latin typeface="Cambria Math" panose="02040503050406030204" pitchFamily="18" charset="0"/>
                  </a:rPr>
                  <a:t>$b&lt;9.75$</a:t>
                </a:r>
                <a:r>
                  <a:rPr sz="2400" b="0">
                    <a:solidFill>
                      <a:srgbClr val="111827"/>
                    </a:solidFill>
                    <a:latin typeface="Arial"/>
                  </a:rPr>
                  <a:t>; </a:t>
                </a:r>
                <a:r>
                  <a:rPr lang="en-IN" sz="2400">
                    <a:solidFill>
                      <a:srgbClr val="111827"/>
                    </a:solidFill>
                    <a:latin typeface="Cambria Math" panose="02040503050406030204" pitchFamily="18" charset="0"/>
                  </a:rPr>
                  <a:t>$b=7$</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point. </a:t>
                </a:r>
                <a:r>
                  <a:rPr lang="en-IN" sz="2400">
                    <a:solidFill>
                      <a:srgbClr val="111827"/>
                    </a:solidFill>
                    <a:latin typeface="Cambria Math" panose="02040503050406030204" pitchFamily="18" charset="0"/>
                  </a:rPr>
                  <a:t>$a=8$</a:t>
                </a:r>
                <a:r>
                  <a:rPr sz="2400" b="0">
                    <a:solidFill>
                      <a:srgbClr val="111827"/>
                    </a:solidFill>
                    <a:latin typeface="Arial"/>
                  </a:rPr>
                  <a:t>: </a:t>
                </a:r>
                <a:r>
                  <a:rPr lang="en-IN" sz="2400">
                    <a:solidFill>
                      <a:srgbClr val="111827"/>
                    </a:solidFill>
                    <a:latin typeface="Cambria Math" panose="02040503050406030204" pitchFamily="18" charset="0"/>
                  </a:rPr>
                  <a:t>$b&lt;9$</a:t>
                </a:r>
                <a:r>
                  <a:rPr sz="2400" b="0">
                    <a:solidFill>
                      <a:srgbClr val="111827"/>
                    </a:solidFill>
                    <a:latin typeface="Arial"/>
                  </a:rPr>
                  <a:t>; </a:t>
                </a:r>
                <a:r>
                  <a:rPr lang="en-IN" sz="2400">
                    <a:solidFill>
                      <a:srgbClr val="111827"/>
                    </a:solidFill>
                    <a:latin typeface="Cambria Math" panose="02040503050406030204" pitchFamily="18" charset="0"/>
                  </a:rPr>
                  <a:t>$b=8$</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point.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$a=9$</a:t>
                </a:r>
                <a:r>
                  <a:rPr sz="2400" b="0">
                    <a:solidFill>
                      <a:srgbClr val="111827"/>
                    </a:solidFill>
                    <a:latin typeface="Arial"/>
                  </a:rPr>
                  <a:t>: </a:t>
                </a:r>
                <a:r>
                  <a:rPr lang="en-IN" sz="2400">
                    <a:solidFill>
                      <a:srgbClr val="111827"/>
                    </a:solidFill>
                    <a:latin typeface="Cambria Math" panose="02040503050406030204" pitchFamily="18" charset="0"/>
                  </a:rPr>
                  <a:t>$b&lt;8.25$</a:t>
                </a:r>
                <a:r>
                  <a:rPr sz="2400" b="0">
                    <a:solidFill>
                      <a:srgbClr val="111827"/>
                    </a:solidFill>
                    <a:latin typeface="Arial"/>
                  </a:rPr>
                  <a:t>, but the smallest multiple </a:t>
                </a:r>
                <a:r>
                  <a:rPr lang="en-IN" sz="2400">
                    <a:solidFill>
                      <a:srgbClr val="111827"/>
                    </a:solidFill>
                    <a:latin typeface="Cambria Math" panose="02040503050406030204" pitchFamily="18" charset="0"/>
                  </a:rPr>
                  <a:t>$9$</a:t>
                </a:r>
                <a:r>
                  <a:rPr sz="2400" b="0">
                    <a:solidFill>
                      <a:srgbClr val="111827"/>
                    </a:solidFill>
                    <a:latin typeface="Arial"/>
                  </a:rPr>
                  <a:t> is too large, so no point; larger </a:t>
                </a:r>
                <a:r>
                  <a:rPr lang="en-IN" sz="2400">
                    <a:solidFill>
                      <a:srgbClr val="111827"/>
                    </a:solidFill>
                    <a:latin typeface="Cambria Math" panose="02040503050406030204" pitchFamily="18" charset="0"/>
                  </a:rPr>
                  <a:t>$a$</a:t>
                </a:r>
                <a:r>
                  <a:rPr sz="2400" b="0">
                    <a:solidFill>
                      <a:srgbClr val="111827"/>
                    </a:solidFill>
                    <a:latin typeface="Arial"/>
                  </a:rPr>
                  <a:t> also give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$=14+6+4+2+2+1+1+1=31$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31</a:t>
            </a:r>
            <a:endParaRPr sz="2800">
              <a:solidFill>
                <a:srgbClr val="15803D"/>
              </a:solidFil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along each ray through the origin: write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𝑎</m:t>
                    </m:r>
                  </m:oMath>
                </a14:m>
                <a:r>
                  <a:rPr sz="2400" b="0">
                    <a:solidFill>
                      <a:srgbClr val="78350F"/>
                    </a:solidFill>
                    <a:latin typeface="Arial"/>
                  </a:rPr>
                  <a:t> and count the integers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60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along each ray through the origin: write </a:t>
                </a:r>
                <a:r>
                  <a:rPr lang="en-IN" sz="2400">
                    <a:solidFill>
                      <a:srgbClr val="78350F"/>
                    </a:solidFill>
                    <a:latin typeface="Cambria Math" panose="02040503050406030204" pitchFamily="18" charset="0"/>
                  </a:rPr>
                  <a:t>$b=ka$</a:t>
                </a:r>
                <a:r>
                  <a:rPr sz="2400" b="0">
                    <a:solidFill>
                      <a:srgbClr val="78350F"/>
                    </a:solidFill>
                    <a:latin typeface="Arial"/>
                  </a:rPr>
                  <a:t> and count the integers </a:t>
                </a:r>
                <a:r>
                  <a:rPr lang="en-IN" sz="2400">
                    <a:solidFill>
                      <a:srgbClr val="78350F"/>
                    </a:solidFill>
                    <a:latin typeface="Cambria Math" panose="02040503050406030204" pitchFamily="18" charset="0"/>
                  </a:rPr>
                  <a:t>$a$</a:t>
                </a:r>
                <a:r>
                  <a:rPr sz="2400" b="0">
                    <a:solidFill>
                      <a:srgbClr val="78350F"/>
                    </a:solidFill>
                    <a:latin typeface="Arial"/>
                  </a:rPr>
                  <a:t> with </a:t>
                </a:r>
                <a:r>
                  <a:rPr lang="en-IN" sz="2400">
                    <a:solidFill>
                      <a:srgbClr val="78350F"/>
                    </a:solidFill>
                    <a:latin typeface="Cambria Math" panose="02040503050406030204" pitchFamily="18" charset="0"/>
                  </a:rPr>
                  <a:t>$a(3+4k)&lt;60$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𝑎</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 positive integer, and the point lies on the ray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Strictly inside: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den>
                    </m:f>
                  </m:oMath>
                </a14:m>
                <a:r>
                  <a:rPr sz="2400" b="0">
                    <a:solidFill>
                      <a:srgbClr val="111827"/>
                    </a:solidFill>
                    <a:latin typeface="Arial"/>
                  </a:rPr>
                  <a:t>, so the number of valid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the number of positive integers below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8.57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5.45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(strict);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$b=ka$</a:t>
                </a:r>
                <a:r>
                  <a:rPr sz="2400" b="0">
                    <a:solidFill>
                      <a:srgbClr val="111827"/>
                    </a:solidFill>
                    <a:latin typeface="Arial"/>
                  </a:rPr>
                  <a:t> with </a:t>
                </a:r>
                <a:r>
                  <a:rPr lang="en-IN" sz="2400">
                    <a:solidFill>
                      <a:srgbClr val="111827"/>
                    </a:solidFill>
                    <a:latin typeface="Cambria Math" panose="02040503050406030204" pitchFamily="18" charset="0"/>
                  </a:rPr>
                  <a:t>$b&gt;0$</a:t>
                </a:r>
                <a:r>
                  <a:rPr sz="2400" b="0">
                    <a:solidFill>
                      <a:srgbClr val="111827"/>
                    </a:solidFill>
                    <a:latin typeface="Arial"/>
                  </a:rPr>
                  <a:t> and </a:t>
                </a:r>
                <a:r>
                  <a:rPr lang="en-IN" sz="2400">
                    <a:solidFill>
                      <a:srgbClr val="111827"/>
                    </a:solidFill>
                    <a:latin typeface="Cambria Math" panose="02040503050406030204" pitchFamily="18" charset="0"/>
                  </a:rPr>
                  <a:t>$a&gt;0$</a:t>
                </a:r>
                <a:r>
                  <a:rPr sz="2400" b="0">
                    <a:solidFill>
                      <a:srgbClr val="111827"/>
                    </a:solidFill>
                    <a:latin typeface="Arial"/>
                  </a:rPr>
                  <a:t>, </a:t>
                </a:r>
                <a:r>
                  <a:rPr lang="en-IN" sz="2400">
                    <a:solidFill>
                      <a:srgbClr val="111827"/>
                    </a:solidFill>
                    <a:latin typeface="Cambria Math" panose="02040503050406030204" pitchFamily="18" charset="0"/>
                  </a:rPr>
                  <a:t>$k$</a:t>
                </a:r>
                <a:r>
                  <a:rPr sz="2400" b="0">
                    <a:solidFill>
                      <a:srgbClr val="111827"/>
                    </a:solidFill>
                    <a:latin typeface="Arial"/>
                  </a:rPr>
                  <a:t> is a positive integer, and the point lies on the ray </a:t>
                </a:r>
                <a:r>
                  <a:rPr lang="en-IN" sz="2400">
                    <a:solidFill>
                      <a:srgbClr val="111827"/>
                    </a:solidFill>
                    <a:latin typeface="Cambria Math" panose="02040503050406030204" pitchFamily="18" charset="0"/>
                  </a:rPr>
                  <a:t>$y=kx$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Strictly inside: </a:t>
                </a:r>
                <a:r>
                  <a:rPr lang="en-IN" sz="2400">
                    <a:solidFill>
                      <a:srgbClr val="111827"/>
                    </a:solidFill>
                    <a:latin typeface="Cambria Math" panose="02040503050406030204" pitchFamily="18" charset="0"/>
                  </a:rPr>
                  <a:t>$3a+4ka&lt;60\Rightarrow a&lt;\frac{60}{3+4k}$</a:t>
                </a:r>
                <a:r>
                  <a:rPr sz="2400" b="0">
                    <a:solidFill>
                      <a:srgbClr val="111827"/>
                    </a:solidFill>
                    <a:latin typeface="Arial"/>
                  </a:rPr>
                  <a:t>, so the number of valid </a:t>
                </a:r>
                <a:r>
                  <a:rPr lang="en-IN" sz="2400">
                    <a:solidFill>
                      <a:srgbClr val="111827"/>
                    </a:solidFill>
                    <a:latin typeface="Cambria Math" panose="02040503050406030204" pitchFamily="18" charset="0"/>
                  </a:rPr>
                  <a:t>$a$</a:t>
                </a:r>
                <a:r>
                  <a:rPr sz="2400" b="0">
                    <a:solidFill>
                      <a:srgbClr val="111827"/>
                    </a:solidFill>
                    <a:latin typeface="Arial"/>
                  </a:rPr>
                  <a:t> is the number of positive integers below </a:t>
                </a:r>
                <a:r>
                  <a:rPr lang="en-IN" sz="2400">
                    <a:solidFill>
                      <a:srgbClr val="111827"/>
                    </a:solidFill>
                    <a:latin typeface="Cambria Math" panose="02040503050406030204" pitchFamily="18" charset="0"/>
                  </a:rPr>
                  <a:t>$\frac{60}{3+4k}$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$k=1$</a:t>
                </a:r>
                <a:r>
                  <a:rPr sz="2400" b="0">
                    <a:solidFill>
                      <a:srgbClr val="111827"/>
                    </a:solidFill>
                    <a:latin typeface="Arial"/>
                  </a:rPr>
                  <a:t>: </a:t>
                </a:r>
                <a:r>
                  <a:rPr lang="en-IN" sz="2400">
                    <a:solidFill>
                      <a:srgbClr val="111827"/>
                    </a:solidFill>
                    <a:latin typeface="Cambria Math" panose="02040503050406030204" pitchFamily="18" charset="0"/>
                  </a:rPr>
                  <a:t>$a&lt;8.57\to8$</a:t>
                </a:r>
                <a:r>
                  <a:rPr sz="2400" b="0">
                    <a:solidFill>
                      <a:srgbClr val="111827"/>
                    </a:solidFill>
                    <a:latin typeface="Arial"/>
                  </a:rPr>
                  <a:t>; </a:t>
                </a:r>
                <a:r>
                  <a:rPr lang="en-IN" sz="2400">
                    <a:solidFill>
                      <a:srgbClr val="111827"/>
                    </a:solidFill>
                    <a:latin typeface="Cambria Math" panose="02040503050406030204" pitchFamily="18" charset="0"/>
                  </a:rPr>
                  <a:t>$k=2$</a:t>
                </a:r>
                <a:r>
                  <a:rPr sz="2400" b="0">
                    <a:solidFill>
                      <a:srgbClr val="111827"/>
                    </a:solidFill>
                    <a:latin typeface="Arial"/>
                  </a:rPr>
                  <a:t>: </a:t>
                </a:r>
                <a:r>
                  <a:rPr lang="en-IN" sz="2400">
                    <a:solidFill>
                      <a:srgbClr val="111827"/>
                    </a:solidFill>
                    <a:latin typeface="Cambria Math" panose="02040503050406030204" pitchFamily="18" charset="0"/>
                  </a:rPr>
                  <a:t>$a&lt;5.45\to5$</a:t>
                </a:r>
                <a:r>
                  <a:rPr sz="2400" b="0">
                    <a:solidFill>
                      <a:srgbClr val="111827"/>
                    </a:solidFill>
                    <a:latin typeface="Arial"/>
                  </a:rPr>
                  <a:t>; </a:t>
                </a:r>
                <a:r>
                  <a:rPr lang="en-IN" sz="2400">
                    <a:solidFill>
                      <a:srgbClr val="111827"/>
                    </a:solidFill>
                    <a:latin typeface="Cambria Math" panose="02040503050406030204" pitchFamily="18" charset="0"/>
                  </a:rPr>
                  <a:t>$k=3$</a:t>
                </a:r>
                <a:r>
                  <a:rPr sz="2400" b="0">
                    <a:solidFill>
                      <a:srgbClr val="111827"/>
                    </a:solidFill>
                    <a:latin typeface="Arial"/>
                  </a:rPr>
                  <a:t>: </a:t>
                </a:r>
                <a:r>
                  <a:rPr lang="en-IN" sz="2400">
                    <a:solidFill>
                      <a:srgbClr val="111827"/>
                    </a:solidFill>
                    <a:latin typeface="Cambria Math" panose="02040503050406030204" pitchFamily="18" charset="0"/>
                  </a:rPr>
                  <a:t>$a&lt;4\to3$</a:t>
                </a:r>
                <a:r>
                  <a:rPr sz="2400" b="0">
                    <a:solidFill>
                      <a:srgbClr val="111827"/>
                    </a:solidFill>
                    <a:latin typeface="Arial"/>
                  </a:rPr>
                  <a:t> (strict); </a:t>
                </a:r>
                <a:r>
                  <a:rPr lang="en-IN" sz="2400">
                    <a:solidFill>
                      <a:srgbClr val="111827"/>
                    </a:solidFill>
                    <a:latin typeface="Cambria Math" panose="02040503050406030204" pitchFamily="18" charset="0"/>
                  </a:rPr>
                  <a:t>$k=4$</a:t>
                </a:r>
                <a:r>
                  <a:rPr sz="2400" b="0">
                    <a:solidFill>
                      <a:srgbClr val="111827"/>
                    </a:solidFill>
                    <a:latin typeface="Arial"/>
                  </a:rPr>
                  <a:t>: </a:t>
                </a:r>
                <a:r>
                  <a:rPr lang="en-IN" sz="2400">
                    <a:solidFill>
                      <a:srgbClr val="111827"/>
                    </a:solidFill>
                    <a:latin typeface="Cambria Math" panose="02040503050406030204" pitchFamily="18" charset="0"/>
                  </a:rPr>
                  <a:t>$a&lt;3.16\to3$</a:t>
                </a:r>
                <a:r>
                  <a:rPr sz="2400" b="0">
                    <a:solidFill>
                      <a:srgbClr val="111827"/>
                    </a:solidFill>
                    <a:latin typeface="Arial"/>
                  </a:rPr>
                  <a:t>; </a:t>
                </a:r>
                <a:r>
                  <a:rPr lang="en-IN" sz="2400">
                    <a:solidFill>
                      <a:srgbClr val="111827"/>
                    </a:solidFill>
                    <a:latin typeface="Cambria Math" panose="02040503050406030204" pitchFamily="18" charset="0"/>
                  </a:rPr>
                  <a:t>$k=5$</a:t>
                </a:r>
                <a:r>
                  <a:rPr sz="2400" b="0">
                    <a:solidFill>
                      <a:srgbClr val="111827"/>
                    </a:solidFill>
                    <a:latin typeface="Arial"/>
                  </a:rPr>
                  <a:t>: </a:t>
                </a:r>
                <a:r>
                  <a:rPr lang="en-IN" sz="2400">
                    <a:solidFill>
                      <a:srgbClr val="111827"/>
                    </a:solidFill>
                    <a:latin typeface="Cambria Math" panose="02040503050406030204" pitchFamily="18" charset="0"/>
                  </a:rPr>
                  <a:t>$a&lt;2.6\to2$</a:t>
                </a:r>
                <a:r>
                  <a:rPr sz="2400" b="0">
                    <a:solidFill>
                      <a:srgbClr val="111827"/>
                    </a:solidFill>
                    <a:latin typeface="Arial"/>
                  </a:rPr>
                  <a:t>; </a:t>
                </a:r>
                <a:r>
                  <a:rPr lang="en-IN" sz="2400">
                    <a:solidFill>
                      <a:srgbClr val="111827"/>
                    </a:solidFill>
                    <a:latin typeface="Cambria Math" panose="02040503050406030204" pitchFamily="18" charset="0"/>
                  </a:rPr>
                  <a:t>$k=6$</a:t>
                </a:r>
                <a:r>
                  <a:rPr sz="2400" b="0">
                    <a:solidFill>
                      <a:srgbClr val="111827"/>
                    </a:solidFill>
                    <a:latin typeface="Arial"/>
                  </a:rPr>
                  <a:t>: </a:t>
                </a:r>
                <a:r>
                  <a:rPr lang="en-IN" sz="2400">
                    <a:solidFill>
                      <a:srgbClr val="111827"/>
                    </a:solidFill>
                    <a:latin typeface="Cambria Math" panose="02040503050406030204" pitchFamily="18" charset="0"/>
                  </a:rPr>
                  <a:t>$a&lt;2.2\to2$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den>
                    </m:f>
                  </m:oMath>
                </a14:m>
                <a:r>
                  <a:rPr sz="2400" b="0">
                    <a:solidFill>
                      <a:srgbClr val="111827"/>
                    </a:solidFill>
                    <a:latin typeface="Arial"/>
                  </a:rPr>
                  <a:t> lies between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59</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each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63</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so no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$k=7,8,\dots,14$</a:t>
                </a:r>
                <a:r>
                  <a:rPr sz="2400" b="0">
                    <a:solidFill>
                      <a:srgbClr val="111827"/>
                    </a:solidFill>
                    <a:latin typeface="Arial"/>
                  </a:rPr>
                  <a:t>: </a:t>
                </a:r>
                <a:r>
                  <a:rPr lang="en-IN" sz="2400">
                    <a:solidFill>
                      <a:srgbClr val="111827"/>
                    </a:solidFill>
                    <a:latin typeface="Cambria Math" panose="02040503050406030204" pitchFamily="18" charset="0"/>
                  </a:rPr>
                  <a:t>$\frac{60}{3+4k}$</a:t>
                </a:r>
                <a:r>
                  <a:rPr sz="2400" b="0">
                    <a:solidFill>
                      <a:srgbClr val="111827"/>
                    </a:solidFill>
                    <a:latin typeface="Arial"/>
                  </a:rPr>
                  <a:t> lies between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$2$</a:t>
                </a:r>
                <a:r>
                  <a:rPr sz="2400" b="0">
                    <a:solidFill>
                      <a:srgbClr val="111827"/>
                    </a:solidFill>
                    <a:latin typeface="Arial"/>
                  </a:rPr>
                  <a:t> (for </a:t>
                </a:r>
                <a:r>
                  <a:rPr lang="en-IN" sz="2400">
                    <a:solidFill>
                      <a:srgbClr val="111827"/>
                    </a:solidFill>
                    <a:latin typeface="Cambria Math" panose="02040503050406030204" pitchFamily="18" charset="0"/>
                  </a:rPr>
                  <a:t>$k=14$</a:t>
                </a:r>
                <a:r>
                  <a:rPr sz="2400" b="0">
                    <a:solidFill>
                      <a:srgbClr val="111827"/>
                    </a:solidFill>
                    <a:latin typeface="Arial"/>
                  </a:rPr>
                  <a:t> it is </a:t>
                </a:r>
                <a:r>
                  <a:rPr lang="en-IN" sz="2400">
                    <a:solidFill>
                      <a:srgbClr val="111827"/>
                    </a:solidFill>
                    <a:latin typeface="Cambria Math" panose="02040503050406030204" pitchFamily="18" charset="0"/>
                  </a:rPr>
                  <a:t>$\frac{60}{59}&gt;1$</a:t>
                </a:r>
                <a:r>
                  <a:rPr sz="2400" b="0">
                    <a:solidFill>
                      <a:srgbClr val="111827"/>
                    </a:solidFill>
                    <a:latin typeface="Arial"/>
                  </a:rPr>
                  <a:t>), so each gives </a:t>
                </a:r>
                <a:r>
                  <a:rPr lang="en-IN" sz="2400">
                    <a:solidFill>
                      <a:srgbClr val="111827"/>
                    </a:solidFill>
                    <a:latin typeface="Cambria Math" panose="02040503050406030204" pitchFamily="18" charset="0"/>
                  </a:rPr>
                  <a:t>$a=1$</a:t>
                </a:r>
                <a:r>
                  <a:rPr sz="2400" b="0">
                    <a:solidFill>
                      <a:srgbClr val="111827"/>
                    </a:solidFill>
                    <a:latin typeface="Arial"/>
                  </a:rPr>
                  <a:t> only: </a:t>
                </a:r>
                <a:r>
                  <a:rPr lang="en-IN" sz="2400">
                    <a:solidFill>
                      <a:srgbClr val="111827"/>
                    </a:solidFill>
                    <a:latin typeface="Cambria Math" panose="02040503050406030204" pitchFamily="18" charset="0"/>
                  </a:rPr>
                  <a:t>$8$</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$k\geq15$</a:t>
                </a:r>
                <a:r>
                  <a:rPr sz="2400" b="0">
                    <a:solidFill>
                      <a:srgbClr val="111827"/>
                    </a:solidFill>
                    <a:latin typeface="Arial"/>
                  </a:rPr>
                  <a:t>: </a:t>
                </a:r>
                <a:r>
                  <a:rPr lang="en-IN" sz="2400">
                    <a:solidFill>
                      <a:srgbClr val="111827"/>
                    </a:solidFill>
                    <a:latin typeface="Cambria Math" panose="02040503050406030204" pitchFamily="18" charset="0"/>
                  </a:rPr>
                  <a:t>$\frac{60}{3+4k}\le\frac{60}{63}&lt;1$</a:t>
                </a:r>
                <a:r>
                  <a:rPr sz="2400" b="0">
                    <a:solidFill>
                      <a:srgbClr val="111827"/>
                    </a:solidFill>
                    <a:latin typeface="Arial"/>
                  </a:rPr>
                  <a:t>, so no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$=8+5+3+3+2+2+8=31$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31</a:t>
            </a:r>
            <a:endParaRPr sz="2800">
              <a:solidFill>
                <a:srgbClr val="15803D"/>
              </a:solidFill>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strictly inside the triangle bounded by the axes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 the boundary is excluded.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Lattice-point counts can be organised by columns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fixed) or by rays through the origin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𝑎</m:t>
                    </m:r>
                  </m:oMath>
                </a14:m>
                <a:r>
                  <a:rPr sz="2400" b="0">
                    <a:solidFill>
                      <a:srgbClr val="111827"/>
                    </a:solidFill>
                    <a:latin typeface="Arial"/>
                  </a:rPr>
                  <a:t>); choose the one with fewer cases and cross-check with the other.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Watch the strict inequality when a lattice point lies exactly on the hypotenuse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on the line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so it is not inside).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point </a:t>
                </a:r>
                <a:r>
                  <a:rPr lang="en-IN" sz="2400">
                    <a:solidFill>
                      <a:srgbClr val="111827"/>
                    </a:solidFill>
                    <a:latin typeface="Cambria Math" panose="02040503050406030204" pitchFamily="18" charset="0"/>
                  </a:rPr>
                  <a:t>$(x,y)$</a:t>
                </a:r>
                <a:r>
                  <a:rPr sz="2400" b="0">
                    <a:solidFill>
                      <a:srgbClr val="111827"/>
                    </a:solidFill>
                    <a:latin typeface="Arial"/>
                  </a:rPr>
                  <a:t> is strictly inside the triangle bounded by the axes and </a:t>
                </a:r>
                <a:r>
                  <a:rPr lang="en-IN" sz="2400">
                    <a:solidFill>
                      <a:srgbClr val="111827"/>
                    </a:solidFill>
                    <a:latin typeface="Cambria Math" panose="02040503050406030204" pitchFamily="18" charset="0"/>
                  </a:rPr>
                  <a:t>$\frac{x}{p}+\frac{y}{q}=1$</a:t>
                </a:r>
                <a:r>
                  <a:rPr sz="2400" b="0">
                    <a:solidFill>
                      <a:srgbClr val="111827"/>
                    </a:solidFill>
                    <a:latin typeface="Arial"/>
                  </a:rPr>
                  <a:t> iff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$y&gt;0$</a:t>
                </a:r>
                <a:r>
                  <a:rPr sz="2400" b="0">
                    <a:solidFill>
                      <a:srgbClr val="111827"/>
                    </a:solidFill>
                    <a:latin typeface="Arial"/>
                  </a:rPr>
                  <a:t>, </a:t>
                </a:r>
                <a:r>
                  <a:rPr lang="en-IN" sz="2400">
                    <a:solidFill>
                      <a:srgbClr val="111827"/>
                    </a:solidFill>
                    <a:latin typeface="Cambria Math" panose="02040503050406030204" pitchFamily="18" charset="0"/>
                  </a:rPr>
                  <a:t>$\frac{x}{p}+\frac{y}{q}&lt;1$</a:t>
                </a:r>
                <a:r>
                  <a:rPr sz="2400" b="0">
                    <a:solidFill>
                      <a:srgbClr val="111827"/>
                    </a:solidFill>
                    <a:latin typeface="Arial"/>
                  </a:rPr>
                  <a:t> - the boundary is excluded.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Lattice-point counts can be organised by columns (</a:t>
                </a:r>
                <a:r>
                  <a:rPr lang="en-IN" sz="2400">
                    <a:solidFill>
                      <a:srgbClr val="111827"/>
                    </a:solidFill>
                    <a:latin typeface="Cambria Math" panose="02040503050406030204" pitchFamily="18" charset="0"/>
                  </a:rPr>
                  <a:t>$a$</a:t>
                </a:r>
                <a:r>
                  <a:rPr sz="2400" b="0">
                    <a:solidFill>
                      <a:srgbClr val="111827"/>
                    </a:solidFill>
                    <a:latin typeface="Arial"/>
                  </a:rPr>
                  <a:t> fixed) or by rays through the origin (</a:t>
                </a:r>
                <a:r>
                  <a:rPr lang="en-IN" sz="2400">
                    <a:solidFill>
                      <a:srgbClr val="111827"/>
                    </a:solidFill>
                    <a:latin typeface="Cambria Math" panose="02040503050406030204" pitchFamily="18" charset="0"/>
                  </a:rPr>
                  <a:t>$b=ka$</a:t>
                </a:r>
                <a:r>
                  <a:rPr sz="2400" b="0">
                    <a:solidFill>
                      <a:srgbClr val="111827"/>
                    </a:solidFill>
                    <a:latin typeface="Arial"/>
                  </a:rPr>
                  <a:t>); choose the one with fewer cases and cross-check with the other.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Watch the strict inequality when a lattice point lies exactly on the hypotenuse (here </a:t>
                </a:r>
                <a:r>
                  <a:rPr lang="en-IN" sz="2400">
                    <a:solidFill>
                      <a:srgbClr val="111827"/>
                    </a:solidFill>
                    <a:latin typeface="Cambria Math" panose="02040503050406030204" pitchFamily="18" charset="0"/>
                  </a:rPr>
                  <a:t>$(4,12)$</a:t>
                </a:r>
                <a:r>
                  <a:rPr sz="2400" b="0">
                    <a:solidFill>
                      <a:srgbClr val="111827"/>
                    </a:solidFill>
                    <a:latin typeface="Arial"/>
                  </a:rPr>
                  <a:t> is on the line </a:t>
                </a:r>
                <a:r>
                  <a:rPr lang="en-IN" sz="2400">
                    <a:solidFill>
                      <a:srgbClr val="111827"/>
                    </a:solidFill>
                    <a:latin typeface="Cambria Math" panose="02040503050406030204" pitchFamily="18" charset="0"/>
                  </a:rPr>
                  <a:t>$3x+4y=60$</a:t>
                </a:r>
                <a:r>
                  <a:rPr sz="2400" b="0">
                    <a:solidFill>
                      <a:srgbClr val="111827"/>
                    </a:solidFill>
                    <a:latin typeface="Arial"/>
                  </a:rPr>
                  <a:t>, so it is not inside).</a:t>
                </a:r>
                <a:endParaRPr sz="2400">
                  <a:solidFill>
                    <a:srgbClr val="111827"/>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Q09 – Q14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straight lines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pass through the origin and trisect the line segment of the line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between the axes. If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the slopes of the lines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then the point of intersection of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lies 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straight lines </a:t>
                </a:r>
                <a:r>
                  <a:rPr lang="en-IN" sz="2400">
                    <a:solidFill>
                      <a:srgbClr val="111827"/>
                    </a:solidFill>
                    <a:latin typeface="Cambria Math" panose="02040503050406030204" pitchFamily="18" charset="0"/>
                  </a:rPr>
                  <a:t>$l_1$</a:t>
                </a:r>
                <a:r>
                  <a:rPr sz="2400" b="0">
                    <a:solidFill>
                      <a:srgbClr val="111827"/>
                    </a:solidFill>
                    <a:latin typeface="Arial"/>
                  </a:rPr>
                  <a:t> and </a:t>
                </a:r>
                <a:r>
                  <a:rPr lang="en-IN" sz="2400">
                    <a:solidFill>
                      <a:srgbClr val="111827"/>
                    </a:solidFill>
                    <a:latin typeface="Cambria Math" panose="02040503050406030204" pitchFamily="18" charset="0"/>
                  </a:rPr>
                  <a:t>$l_2$</a:t>
                </a:r>
                <a:r>
                  <a:rPr sz="2400" b="0">
                    <a:solidFill>
                      <a:srgbClr val="111827"/>
                    </a:solidFill>
                    <a:latin typeface="Arial"/>
                  </a:rPr>
                  <a:t> pass through the origin and trisect the line segment of the line </a:t>
                </a:r>
                <a:r>
                  <a:rPr lang="en-IN" sz="2400">
                    <a:solidFill>
                      <a:srgbClr val="111827"/>
                    </a:solidFill>
                    <a:latin typeface="Cambria Math" panose="02040503050406030204" pitchFamily="18" charset="0"/>
                  </a:rPr>
                  <a:t>$L:9x+5y=45$</a:t>
                </a:r>
                <a:r>
                  <a:rPr sz="2400" b="0">
                    <a:solidFill>
                      <a:srgbClr val="111827"/>
                    </a:solidFill>
                    <a:latin typeface="Arial"/>
                  </a:rPr>
                  <a:t> between the axes. If </a:t>
                </a:r>
                <a:r>
                  <a:rPr lang="en-IN" sz="2400">
                    <a:solidFill>
                      <a:srgbClr val="111827"/>
                    </a:solidFill>
                    <a:latin typeface="Cambria Math" panose="02040503050406030204" pitchFamily="18" charset="0"/>
                  </a:rPr>
                  <a:t>$m_1$</a:t>
                </a:r>
                <a:r>
                  <a:rPr sz="2400" b="0">
                    <a:solidFill>
                      <a:srgbClr val="111827"/>
                    </a:solidFill>
                    <a:latin typeface="Arial"/>
                  </a:rPr>
                  <a:t> and </a:t>
                </a:r>
                <a:r>
                  <a:rPr lang="en-IN" sz="2400">
                    <a:solidFill>
                      <a:srgbClr val="111827"/>
                    </a:solidFill>
                    <a:latin typeface="Cambria Math" panose="02040503050406030204" pitchFamily="18" charset="0"/>
                  </a:rPr>
                  <a:t>$m_2$</a:t>
                </a:r>
                <a:r>
                  <a:rPr sz="2400" b="0">
                    <a:solidFill>
                      <a:srgbClr val="111827"/>
                    </a:solidFill>
                    <a:latin typeface="Arial"/>
                  </a:rPr>
                  <a:t> are the slopes of the lines </a:t>
                </a:r>
                <a:r>
                  <a:rPr lang="en-IN" sz="2400">
                    <a:solidFill>
                      <a:srgbClr val="111827"/>
                    </a:solidFill>
                    <a:latin typeface="Cambria Math" panose="02040503050406030204" pitchFamily="18" charset="0"/>
                  </a:rPr>
                  <a:t>$l_1$</a:t>
                </a:r>
                <a:r>
                  <a:rPr sz="2400" b="0">
                    <a:solidFill>
                      <a:srgbClr val="111827"/>
                    </a:solidFill>
                    <a:latin typeface="Arial"/>
                  </a:rPr>
                  <a:t> and </a:t>
                </a:r>
                <a:r>
                  <a:rPr lang="en-IN" sz="2400">
                    <a:solidFill>
                      <a:srgbClr val="111827"/>
                    </a:solidFill>
                    <a:latin typeface="Cambria Math" panose="02040503050406030204" pitchFamily="18" charset="0"/>
                  </a:rPr>
                  <a:t>$l_2$</a:t>
                </a:r>
                <a:r>
                  <a:rPr sz="2400" b="0">
                    <a:solidFill>
                      <a:srgbClr val="111827"/>
                    </a:solidFill>
                    <a:latin typeface="Arial"/>
                  </a:rPr>
                  <a:t> then the point of intersection of the line </a:t>
                </a:r>
                <a:r>
                  <a:rPr lang="en-IN" sz="2400">
                    <a:solidFill>
                      <a:srgbClr val="111827"/>
                    </a:solidFill>
                    <a:latin typeface="Cambria Math" panose="02040503050406030204" pitchFamily="18" charset="0"/>
                  </a:rPr>
                  <a:t>$y=(m_1+m_2)x$</a:t>
                </a:r>
                <a:r>
                  <a:rPr sz="2400" b="0">
                    <a:solidFill>
                      <a:srgbClr val="111827"/>
                    </a:solidFill>
                    <a:latin typeface="Arial"/>
                  </a:rPr>
                  <a:t> with </a:t>
                </a:r>
                <a:r>
                  <a:rPr lang="en-IN" sz="2400">
                    <a:solidFill>
                      <a:srgbClr val="111827"/>
                    </a:solidFill>
                    <a:latin typeface="Cambria Math" panose="02040503050406030204" pitchFamily="18" charset="0"/>
                  </a:rPr>
                  <a:t>$L$</a:t>
                </a:r>
                <a:r>
                  <a:rPr sz="2400" b="0">
                    <a:solidFill>
                      <a:srgbClr val="111827"/>
                    </a:solidFill>
                    <a:latin typeface="Arial"/>
                  </a:rPr>
                  <a:t> lies 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$6x+y=10$</a:t>
                </a:r>
                <a:r>
                  <a:rPr sz="2400" b="0">
                    <a:solidFill>
                      <a:srgbClr val="111827"/>
                    </a:solidFill>
                    <a:latin typeface="Arial"/>
                  </a:rPr>
                  <a:t>   (B) </a:t>
                </a:r>
                <a:r>
                  <a:rPr lang="en-IN" sz="2400">
                    <a:solidFill>
                      <a:srgbClr val="111827"/>
                    </a:solidFill>
                    <a:latin typeface="Cambria Math" panose="02040503050406030204" pitchFamily="18" charset="0"/>
                  </a:rPr>
                  <a:t>$y-2x=5$</a:t>
                </a:r>
                <a:r>
                  <a:rPr sz="2400" b="0">
                    <a:solidFill>
                      <a:srgbClr val="111827"/>
                    </a:solidFill>
                    <a:latin typeface="Arial"/>
                  </a:rPr>
                  <a:t>   (C) </a:t>
                </a:r>
                <a:r>
                  <a:rPr lang="en-IN" sz="2400">
                    <a:solidFill>
                      <a:srgbClr val="111827"/>
                    </a:solidFill>
                    <a:latin typeface="Cambria Math" panose="02040503050406030204" pitchFamily="18" charset="0"/>
                  </a:rPr>
                  <a:t>$y-x=5$</a:t>
                </a:r>
                <a:r>
                  <a:rPr sz="2400" b="0">
                    <a:solidFill>
                      <a:srgbClr val="111827"/>
                    </a:solidFill>
                    <a:latin typeface="Arial"/>
                  </a:rPr>
                  <a:t>   (D) </a:t>
                </a:r>
                <a:r>
                  <a:rPr lang="en-IN" sz="2400">
                    <a:solidFill>
                      <a:srgbClr val="111827"/>
                    </a:solidFill>
                    <a:latin typeface="Cambria Math" panose="02040503050406030204" pitchFamily="18" charset="0"/>
                  </a:rPr>
                  <a:t>$6x-y=15$</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Section formula and slopes of lines through the origin, Intersection of two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trisection points of the intercept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are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3</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e>
                    </m:d>
                  </m:oMath>
                </a14:m>
                <a:r>
                  <a:rPr sz="2400" b="0">
                    <a:solidFill>
                      <a:srgbClr val="78350F"/>
                    </a:solidFill>
                    <a:latin typeface="Arial"/>
                  </a:rPr>
                  <a:t> and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num>
                          <m:den>
                            <m:r>
                              <a:rPr lang="en-IN" sz="2400" i="1">
                                <a:solidFill>
                                  <a:srgbClr val="78350F"/>
                                </a:solidFill>
                                <a:latin typeface="Cambria Math" panose="02040503050406030204" pitchFamily="18" charset="0"/>
                              </a:rPr>
                              <m:t>3</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e>
                    </m:d>
                  </m:oMath>
                </a14:m>
                <a:r>
                  <a:rPr sz="2400" b="0">
                    <a:solidFill>
                      <a:srgbClr val="78350F"/>
                    </a:solidFill>
                    <a:latin typeface="Arial"/>
                  </a:rPr>
                  <a:t>; slopes follow directly.</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trisection points of the intercept </a:t>
                </a:r>
                <a:r>
                  <a:rPr lang="en-IN" sz="2400">
                    <a:solidFill>
                      <a:srgbClr val="78350F"/>
                    </a:solidFill>
                    <a:latin typeface="Cambria Math" panose="02040503050406030204" pitchFamily="18" charset="0"/>
                  </a:rPr>
                  <a:t>$(5,0)$</a:t>
                </a:r>
                <a:r>
                  <a:rPr sz="2400" b="0">
                    <a:solidFill>
                      <a:srgbClr val="78350F"/>
                    </a:solidFill>
                    <a:latin typeface="Arial"/>
                  </a:rPr>
                  <a:t>-</a:t>
                </a:r>
                <a:r>
                  <a:rPr lang="en-IN" sz="2400">
                    <a:solidFill>
                      <a:srgbClr val="78350F"/>
                    </a:solidFill>
                    <a:latin typeface="Cambria Math" panose="02040503050406030204" pitchFamily="18" charset="0"/>
                  </a:rPr>
                  <a:t>$(0,9)$</a:t>
                </a:r>
                <a:r>
                  <a:rPr sz="2400" b="0">
                    <a:solidFill>
                      <a:srgbClr val="78350F"/>
                    </a:solidFill>
                    <a:latin typeface="Arial"/>
                  </a:rPr>
                  <a:t> are </a:t>
                </a:r>
                <a:r>
                  <a:rPr lang="en-IN" sz="2400">
                    <a:solidFill>
                      <a:srgbClr val="78350F"/>
                    </a:solidFill>
                    <a:latin typeface="Cambria Math" panose="02040503050406030204" pitchFamily="18" charset="0"/>
                  </a:rPr>
                  <a:t>$\left(\frac{10}{3},3\right)$</a:t>
                </a:r>
                <a:r>
                  <a:rPr sz="2400" b="0">
                    <a:solidFill>
                      <a:srgbClr val="78350F"/>
                    </a:solidFill>
                    <a:latin typeface="Arial"/>
                  </a:rPr>
                  <a:t> and </a:t>
                </a:r>
                <a:r>
                  <a:rPr lang="en-IN" sz="2400">
                    <a:solidFill>
                      <a:srgbClr val="78350F"/>
                    </a:solidFill>
                    <a:latin typeface="Cambria Math" panose="02040503050406030204" pitchFamily="18" charset="0"/>
                  </a:rPr>
                  <a:t>$\left(\frac{5}{3},6\right)$</a:t>
                </a:r>
                <a:r>
                  <a:rPr sz="2400" b="0">
                    <a:solidFill>
                      <a:srgbClr val="78350F"/>
                    </a:solidFill>
                    <a:latin typeface="Arial"/>
                  </a:rPr>
                  <a:t>; slopes follow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meets the axes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trisection points divide it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through the origin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oMath>
                </a14:m>
                <a:r>
                  <a:rPr sz="2400" b="0">
                    <a:solidFill>
                      <a:srgbClr val="111827"/>
                    </a:solidFill>
                    <a:latin typeface="Arial"/>
                  </a:rPr>
                  <a:t> has slope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through the origin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d>
                  </m:oMath>
                </a14:m>
                <a:r>
                  <a:rPr sz="2400" b="0">
                    <a:solidFill>
                      <a:srgbClr val="111827"/>
                    </a:solidFill>
                    <a:latin typeface="Arial"/>
                  </a:rPr>
                  <a:t> has slope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t>
                </a:r>
                <a:r>
                  <a:rPr sz="2400" b="0">
                    <a:solidFill>
                      <a:srgbClr val="111827"/>
                    </a:solidFill>
                    <a:latin typeface="Arial"/>
                  </a:rPr>
                  <a:t> meets the axes at </a:t>
                </a:r>
                <a:r>
                  <a:rPr lang="en-IN" sz="2400">
                    <a:solidFill>
                      <a:srgbClr val="111827"/>
                    </a:solidFill>
                    <a:latin typeface="Cambria Math" panose="02040503050406030204" pitchFamily="18" charset="0"/>
                  </a:rPr>
                  <a:t>$(5,0)$</a:t>
                </a:r>
                <a:r>
                  <a:rPr sz="2400" b="0">
                    <a:solidFill>
                      <a:srgbClr val="111827"/>
                    </a:solidFill>
                    <a:latin typeface="Arial"/>
                  </a:rPr>
                  <a:t> and </a:t>
                </a:r>
                <a:r>
                  <a:rPr lang="en-IN" sz="2400">
                    <a:solidFill>
                      <a:srgbClr val="111827"/>
                    </a:solidFill>
                    <a:latin typeface="Cambria Math" panose="02040503050406030204" pitchFamily="18" charset="0"/>
                  </a:rPr>
                  <a:t>$(0,9)$</a:t>
                </a:r>
                <a:r>
                  <a:rPr sz="2400" b="0">
                    <a:solidFill>
                      <a:srgbClr val="111827"/>
                    </a:solidFill>
                    <a:latin typeface="Arial"/>
                  </a:rPr>
                  <a:t>. The trisection points divide it </a:t>
                </a:r>
                <a:r>
                  <a:rPr lang="en-IN" sz="2400">
                    <a:solidFill>
                      <a:srgbClr val="111827"/>
                    </a:solidFill>
                    <a:latin typeface="Cambria Math" panose="02040503050406030204" pitchFamily="18" charset="0"/>
                  </a:rPr>
                  <a:t>$1:2$</a:t>
                </a:r>
                <a:r>
                  <a:rPr sz="2400" b="0">
                    <a:solidFill>
                      <a:srgbClr val="111827"/>
                    </a:solidFill>
                    <a:latin typeface="Arial"/>
                  </a:rPr>
                  <a:t> and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$\left(\frac{10}{3},3\right)$</a:t>
                </a:r>
                <a:r>
                  <a:rPr sz="2400" b="0">
                    <a:solidFill>
                      <a:srgbClr val="111827"/>
                    </a:solidFill>
                    <a:latin typeface="Arial"/>
                  </a:rPr>
                  <a:t> and </a:t>
                </a:r>
                <a:r>
                  <a:rPr lang="en-IN" sz="2400">
                    <a:solidFill>
                      <a:srgbClr val="111827"/>
                    </a:solidFill>
                    <a:latin typeface="Cambria Math" panose="02040503050406030204" pitchFamily="18" charset="0"/>
                  </a:rPr>
                  <a:t>$\left(\frac{5}{3},6\right)$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through the origin and </a:t>
                </a:r>
                <a:r>
                  <a:rPr lang="en-IN" sz="2400">
                    <a:solidFill>
                      <a:srgbClr val="111827"/>
                    </a:solidFill>
                    <a:latin typeface="Cambria Math" panose="02040503050406030204" pitchFamily="18" charset="0"/>
                  </a:rPr>
                  <a:t>$\left(\frac{10}{3},3\right)$</a:t>
                </a:r>
                <a:r>
                  <a:rPr sz="2400" b="0">
                    <a:solidFill>
                      <a:srgbClr val="111827"/>
                    </a:solidFill>
                    <a:latin typeface="Arial"/>
                  </a:rPr>
                  <a:t> has slope </a:t>
                </a:r>
                <a:r>
                  <a:rPr lang="en-IN" sz="2400">
                    <a:solidFill>
                      <a:srgbClr val="111827"/>
                    </a:solidFill>
                    <a:latin typeface="Cambria Math" panose="02040503050406030204" pitchFamily="18" charset="0"/>
                  </a:rPr>
                  <a:t>$m_1=\frac{3}{10/3}=\frac{9}{10}$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through the origin and </a:t>
                </a:r>
                <a:r>
                  <a:rPr lang="en-IN" sz="2400">
                    <a:solidFill>
                      <a:srgbClr val="111827"/>
                    </a:solidFill>
                    <a:latin typeface="Cambria Math" panose="02040503050406030204" pitchFamily="18" charset="0"/>
                  </a:rPr>
                  <a:t>$\left(\frac{5}{3},6\right)$</a:t>
                </a:r>
                <a:r>
                  <a:rPr sz="2400" b="0">
                    <a:solidFill>
                      <a:srgbClr val="111827"/>
                    </a:solidFill>
                    <a:latin typeface="Arial"/>
                  </a:rPr>
                  <a:t> has slope </a:t>
                </a:r>
                <a:r>
                  <a:rPr lang="en-IN" sz="2400">
                    <a:solidFill>
                      <a:srgbClr val="111827"/>
                    </a:solidFill>
                    <a:latin typeface="Cambria Math" panose="02040503050406030204" pitchFamily="18" charset="0"/>
                  </a:rPr>
                  <a:t>$m_2=\frac{6}{5/3}=\frac{18}{5}$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the line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Solve with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the point lies 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$m_1+m_2=\frac{9+36}{10}=\frac{45}{10}=\frac{9}{2}$</a:t>
                </a:r>
                <a:r>
                  <a:rPr sz="2400" b="0">
                    <a:solidFill>
                      <a:srgbClr val="111827"/>
                    </a:solidFill>
                    <a:latin typeface="Arial"/>
                  </a:rPr>
                  <a:t>, so the line is </a:t>
                </a:r>
                <a:r>
                  <a:rPr lang="en-IN" sz="2400">
                    <a:solidFill>
                      <a:srgbClr val="111827"/>
                    </a:solidFill>
                    <a:latin typeface="Cambria Math" panose="02040503050406030204" pitchFamily="18" charset="0"/>
                  </a:rPr>
                  <a:t>$y=\frac{9}{2}x$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Solve with </a:t>
                </a:r>
                <a:r>
                  <a:rPr lang="en-IN" sz="2400">
                    <a:solidFill>
                      <a:srgbClr val="111827"/>
                    </a:solidFill>
                    <a:latin typeface="Cambria Math" panose="02040503050406030204" pitchFamily="18" charset="0"/>
                  </a:rPr>
                  <a:t>$9x+5y=45$</a:t>
                </a:r>
                <a:r>
                  <a:rPr sz="2400" b="0">
                    <a:solidFill>
                      <a:srgbClr val="111827"/>
                    </a:solidFill>
                    <a:latin typeface="Arial"/>
                  </a:rPr>
                  <a:t>: </a:t>
                </a:r>
                <a:r>
                  <a:rPr lang="en-IN" sz="2400">
                    <a:solidFill>
                      <a:srgbClr val="111827"/>
                    </a:solidFill>
                    <a:latin typeface="Cambria Math" panose="02040503050406030204" pitchFamily="18" charset="0"/>
                  </a:rPr>
                  <a:t>$2y=9x$</a:t>
                </a:r>
                <a:r>
                  <a:rPr sz="2400" b="0">
                    <a:solidFill>
                      <a:srgbClr val="111827"/>
                    </a:solidFill>
                    <a:latin typeface="Arial"/>
                  </a:rPr>
                  <a:t>, so </a:t>
                </a:r>
                <a:r>
                  <a:rPr lang="en-IN" sz="2400">
                    <a:solidFill>
                      <a:srgbClr val="111827"/>
                    </a:solidFill>
                    <a:latin typeface="Cambria Math" panose="02040503050406030204" pitchFamily="18" charset="0"/>
                  </a:rPr>
                  <a:t>$9x+5y=2y+5y=45\Rightarrow y=\frac{45}{7}$</a:t>
                </a:r>
                <a:r>
                  <a:rPr sz="2400" b="0">
                    <a:solidFill>
                      <a:srgbClr val="111827"/>
                    </a:solidFill>
                    <a:latin typeface="Arial"/>
                  </a:rPr>
                  <a:t>, </a:t>
                </a:r>
                <a:r>
                  <a:rPr lang="en-IN" sz="2400">
                    <a:solidFill>
                      <a:srgbClr val="111827"/>
                    </a:solidFill>
                    <a:latin typeface="Cambria Math" panose="02040503050406030204" pitchFamily="18" charset="0"/>
                  </a:rPr>
                  <a:t>$x=\frac{10}{7}$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$y-x=\frac{45}{7}-\frac{10}{7}=\frac{35}{7}=5$</a:t>
                </a:r>
                <a:r>
                  <a:rPr sz="2400" b="0">
                    <a:solidFill>
                      <a:srgbClr val="111827"/>
                    </a:solidFill>
                    <a:latin typeface="Arial"/>
                  </a:rPr>
                  <a:t>, so the point lies on </a:t>
                </a:r>
                <a:r>
                  <a:rPr lang="en-IN" sz="2400">
                    <a:solidFill>
                      <a:srgbClr val="111827"/>
                    </a:solidFill>
                    <a:latin typeface="Cambria Math" panose="02040503050406030204" pitchFamily="18" charset="0"/>
                  </a:rPr>
                  <a:t>$y-x=5$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$y-x=5$</a:t>
                </a:r>
                <a:endParaRPr sz="2800">
                  <a:solidFill>
                    <a:srgbClr val="15803D"/>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Intersect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m:t>
                        </m:r>
                      </m:num>
                      <m:den>
                        <m:r>
                          <a:rPr lang="en-IN" sz="2400" i="1">
                            <a:solidFill>
                              <a:srgbClr val="78350F"/>
                            </a:solidFill>
                            <a:latin typeface="Cambria Math" panose="02040503050406030204" pitchFamily="18" charset="0"/>
                          </a:rPr>
                          <m:t>2</m:t>
                        </m:r>
                      </m:den>
                    </m:f>
                    <m:r>
                      <a:rPr lang="en-IN" sz="2400" i="1">
                        <a:solidFill>
                          <a:srgbClr val="78350F"/>
                        </a:solidFill>
                        <a:latin typeface="Cambria Math" panose="02040503050406030204" pitchFamily="18" charset="0"/>
                      </a:rPr>
                      <m:t>𝑥</m:t>
                    </m:r>
                  </m:oMath>
                </a14:m>
                <a:r>
                  <a:rPr sz="2400" b="0">
                    <a:solidFill>
                      <a:srgbClr val="78350F"/>
                    </a:solidFill>
                    <a:latin typeface="Arial"/>
                  </a:rPr>
                  <a:t> with each option's line and test which intersection point lies on </a:t>
                </a:r>
                <a14:m>
                  <m:oMath xmlns:m="http://schemas.openxmlformats.org/officeDocument/2006/math">
                    <m:r>
                      <a:rPr lang="en-IN" sz="2400" i="1">
                        <a:solidFill>
                          <a:srgbClr val="78350F"/>
                        </a:solidFill>
                        <a:latin typeface="Cambria Math" panose="02040503050406030204" pitchFamily="18" charset="0"/>
                      </a:rPr>
                      <m:t>𝐿</m:t>
                    </m:r>
                  </m:oMath>
                </a14:m>
                <a:r>
                  <a:rPr sz="2400" b="0">
                    <a:solidFill>
                      <a:srgbClr val="78350F"/>
                    </a:solidFill>
                    <a:latin typeface="Arial"/>
                  </a:rPr>
                  <a:t> (elimination).</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Intersect </a:t>
                </a:r>
                <a:r>
                  <a:rPr lang="en-IN" sz="2400">
                    <a:solidFill>
                      <a:srgbClr val="78350F"/>
                    </a:solidFill>
                    <a:latin typeface="Cambria Math" panose="02040503050406030204" pitchFamily="18" charset="0"/>
                  </a:rPr>
                  <a:t>$y=\frac{9}{2}x$</a:t>
                </a:r>
                <a:r>
                  <a:rPr sz="2400" b="0">
                    <a:solidFill>
                      <a:srgbClr val="78350F"/>
                    </a:solidFill>
                    <a:latin typeface="Arial"/>
                  </a:rPr>
                  <a:t> with each option's line and test which intersection point lies on </a:t>
                </a:r>
                <a:r>
                  <a:rPr lang="en-IN" sz="2400">
                    <a:solidFill>
                      <a:srgbClr val="78350F"/>
                    </a:solidFill>
                    <a:latin typeface="Cambria Math" panose="02040503050406030204" pitchFamily="18" charset="0"/>
                  </a:rPr>
                  <a:t>$L$</a:t>
                </a:r>
                <a:r>
                  <a:rPr sz="2400" b="0">
                    <a:solidFill>
                      <a:srgbClr val="78350F"/>
                    </a:solidFill>
                    <a:latin typeface="Arial"/>
                  </a:rPr>
                  <a:t> (elimination).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oMath>
                </a14:m>
                <a:r>
                  <a:rPr sz="2400" b="0">
                    <a:solidFill>
                      <a:srgbClr val="111827"/>
                    </a:solidFill>
                    <a:latin typeface="Arial"/>
                  </a:rPr>
                  <a:t>, the left side of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63</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oMath>
                </a14:m>
                <a:r>
                  <a:rPr sz="2400" b="0">
                    <a:solidFill>
                      <a:srgbClr val="111827"/>
                    </a:solidFill>
                    <a:latin typeface="Arial"/>
                  </a:rPr>
                  <a:t>. So the intersection with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 it must satisfy the option's line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so the point does not lie on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Reject.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$y=\frac{9}{2}x$</a:t>
                </a:r>
                <a:r>
                  <a:rPr sz="2400" b="0">
                    <a:solidFill>
                      <a:srgbClr val="111827"/>
                    </a:solidFill>
                    <a:latin typeface="Arial"/>
                  </a:rPr>
                  <a:t>, the left side of </a:t>
                </a:r>
                <a:r>
                  <a:rPr lang="en-IN" sz="2400">
                    <a:solidFill>
                      <a:srgbClr val="111827"/>
                    </a:solidFill>
                    <a:latin typeface="Cambria Math" panose="02040503050406030204" pitchFamily="18" charset="0"/>
                  </a:rPr>
                  <a:t>$L$</a:t>
                </a:r>
                <a:r>
                  <a:rPr sz="2400" b="0">
                    <a:solidFill>
                      <a:srgbClr val="111827"/>
                    </a:solidFill>
                    <a:latin typeface="Arial"/>
                  </a:rPr>
                  <a:t> is </a:t>
                </a:r>
                <a:r>
                  <a:rPr lang="en-IN" sz="2400">
                    <a:solidFill>
                      <a:srgbClr val="111827"/>
                    </a:solidFill>
                    <a:latin typeface="Cambria Math" panose="02040503050406030204" pitchFamily="18" charset="0"/>
                  </a:rPr>
                  <a:t>$9x+5y=9x+\frac{45}{2}x=\frac{63}{2}x$</a:t>
                </a:r>
                <a:r>
                  <a:rPr sz="2400" b="0">
                    <a:solidFill>
                      <a:srgbClr val="111827"/>
                    </a:solidFill>
                    <a:latin typeface="Arial"/>
                  </a:rPr>
                  <a:t>. So the intersection with </a:t>
                </a:r>
                <a:r>
                  <a:rPr lang="en-IN" sz="2400">
                    <a:solidFill>
                      <a:srgbClr val="111827"/>
                    </a:solidFill>
                    <a:latin typeface="Cambria Math" panose="02040503050406030204" pitchFamily="18" charset="0"/>
                  </a:rPr>
                  <a:t>$L$</a:t>
                </a:r>
                <a:r>
                  <a:rPr sz="2400" b="0">
                    <a:solidFill>
                      <a:srgbClr val="111827"/>
                    </a:solidFill>
                    <a:latin typeface="Arial"/>
                  </a:rPr>
                  <a:t> has </a:t>
                </a:r>
                <a:r>
                  <a:rPr lang="en-IN" sz="2400">
                    <a:solidFill>
                      <a:srgbClr val="111827"/>
                    </a:solidFill>
                    <a:latin typeface="Cambria Math" panose="02040503050406030204" pitchFamily="18" charset="0"/>
                  </a:rPr>
                  <a:t>$x=\frac{10}{7}$</a:t>
                </a:r>
                <a:r>
                  <a:rPr sz="2400" b="0">
                    <a:solidFill>
                      <a:srgbClr val="111827"/>
                    </a:solidFill>
                    <a:latin typeface="Arial"/>
                  </a:rPr>
                  <a:t> - it must satisfy the option's line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$6x+y=10$</a:t>
                </a:r>
                <a:r>
                  <a:rPr sz="2400" b="0">
                    <a:solidFill>
                      <a:srgbClr val="111827"/>
                    </a:solidFill>
                    <a:latin typeface="Arial"/>
                  </a:rPr>
                  <a:t> with </a:t>
                </a:r>
                <a:r>
                  <a:rPr lang="en-IN" sz="2400">
                    <a:solidFill>
                      <a:srgbClr val="111827"/>
                    </a:solidFill>
                    <a:latin typeface="Cambria Math" panose="02040503050406030204" pitchFamily="18" charset="0"/>
                  </a:rPr>
                  <a:t>$y=\frac{9}{2}x$</a:t>
                </a:r>
                <a:r>
                  <a:rPr sz="2400" b="0">
                    <a:solidFill>
                      <a:srgbClr val="111827"/>
                    </a:solidFill>
                    <a:latin typeface="Arial"/>
                  </a:rPr>
                  <a:t>: </a:t>
                </a:r>
                <a:r>
                  <a:rPr lang="en-IN" sz="2400">
                    <a:solidFill>
                      <a:srgbClr val="111827"/>
                    </a:solidFill>
                    <a:latin typeface="Cambria Math" panose="02040503050406030204" pitchFamily="18" charset="0"/>
                  </a:rPr>
                  <a:t>$x=\frac{20}{21}\ne\frac{10}{7}$</a:t>
                </a:r>
                <a:r>
                  <a:rPr sz="2400" b="0">
                    <a:solidFill>
                      <a:srgbClr val="111827"/>
                    </a:solidFill>
                    <a:latin typeface="Arial"/>
                  </a:rPr>
                  <a:t>, so the point does not lie on </a:t>
                </a:r>
                <a:r>
                  <a:rPr lang="en-IN" sz="2400">
                    <a:solidFill>
                      <a:srgbClr val="111827"/>
                    </a:solidFill>
                    <a:latin typeface="Cambria Math" panose="02040503050406030204" pitchFamily="18" charset="0"/>
                  </a:rPr>
                  <a:t>$L$</a:t>
                </a:r>
                <a:r>
                  <a:rPr sz="2400" b="0">
                    <a:solidFill>
                      <a:srgbClr val="111827"/>
                    </a:solidFill>
                    <a:latin typeface="Arial"/>
                  </a:rPr>
                  <a:t>. Reject.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Reject. (D)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equal to the intersection abscissa. Accept.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$y-2x=5$</a:t>
                </a:r>
                <a:r>
                  <a:rPr sz="2400" b="0">
                    <a:solidFill>
                      <a:srgbClr val="111827"/>
                    </a:solidFill>
                    <a:latin typeface="Arial"/>
                  </a:rPr>
                  <a:t>: </a:t>
                </a:r>
                <a:r>
                  <a:rPr lang="en-IN" sz="2400">
                    <a:solidFill>
                      <a:srgbClr val="111827"/>
                    </a:solidFill>
                    <a:latin typeface="Cambria Math" panose="02040503050406030204" pitchFamily="18" charset="0"/>
                  </a:rPr>
                  <a:t>$\frac{5}{2}x=5\Rightarrow x=2\neq\frac{10}{7}$</a:t>
                </a:r>
                <a:r>
                  <a:rPr sz="2400" b="0">
                    <a:solidFill>
                      <a:srgbClr val="111827"/>
                    </a:solidFill>
                    <a:latin typeface="Arial"/>
                  </a:rPr>
                  <a:t>. Reject. (D) </a:t>
                </a:r>
                <a:r>
                  <a:rPr lang="en-IN" sz="2400">
                    <a:solidFill>
                      <a:srgbClr val="111827"/>
                    </a:solidFill>
                    <a:latin typeface="Cambria Math" panose="02040503050406030204" pitchFamily="18" charset="0"/>
                  </a:rPr>
                  <a:t>$6x-y=15$</a:t>
                </a:r>
                <a:r>
                  <a:rPr sz="2400" b="0">
                    <a:solidFill>
                      <a:srgbClr val="111827"/>
                    </a:solidFill>
                    <a:latin typeface="Arial"/>
                  </a:rPr>
                  <a:t>: </a:t>
                </a:r>
                <a:r>
                  <a:rPr lang="en-IN" sz="2400">
                    <a:solidFill>
                      <a:srgbClr val="111827"/>
                    </a:solidFill>
                    <a:latin typeface="Cambria Math" panose="02040503050406030204" pitchFamily="18" charset="0"/>
                  </a:rPr>
                  <a:t>$\frac{3}{2}x=15\Rightarrow x=10\neq\frac{10}{7}$</a:t>
                </a:r>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$y-x=5$</a:t>
                </a:r>
                <a:r>
                  <a:rPr sz="2400" b="0">
                    <a:solidFill>
                      <a:srgbClr val="111827"/>
                    </a:solidFill>
                    <a:latin typeface="Arial"/>
                  </a:rPr>
                  <a:t>: </a:t>
                </a:r>
                <a:r>
                  <a:rPr lang="en-IN" sz="2400">
                    <a:solidFill>
                      <a:srgbClr val="111827"/>
                    </a:solidFill>
                    <a:latin typeface="Cambria Math" panose="02040503050406030204" pitchFamily="18" charset="0"/>
                  </a:rPr>
                  <a:t>$\frac{7}{2}x=5\Rightarrow x=\frac{10}{7}$</a:t>
                </a:r>
                <a:r>
                  <a:rPr sz="2400" b="0">
                    <a:solidFill>
                      <a:srgbClr val="111827"/>
                    </a:solidFill>
                    <a:latin typeface="Arial"/>
                  </a:rPr>
                  <a:t>, equal to the intersection abscissa. Accept.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$y-x=5$</a:t>
                </a:r>
                <a:endParaRPr sz="2800">
                  <a:solidFill>
                    <a:srgbClr val="15803D"/>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points dividing the segment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e>
                    </m:d>
                  </m:oMath>
                </a14:m>
                <a:r>
                  <a:rPr sz="2400" b="0">
                    <a:solidFill>
                      <a:srgbClr val="111827"/>
                    </a:solidFill>
                    <a:latin typeface="Arial"/>
                  </a:rPr>
                  <a:t>; trisection points use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slope of the line from the origin to a point is just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 no equation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final locus/point must lie on one of four lines, test the options with the intersection abscissa instead of solving each pair fully.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points dividing the segment </a:t>
                </a:r>
                <a:r>
                  <a:rPr lang="en-IN" sz="2400">
                    <a:solidFill>
                      <a:srgbClr val="111827"/>
                    </a:solidFill>
                    <a:latin typeface="Cambria Math" panose="02040503050406030204" pitchFamily="18" charset="0"/>
                  </a:rPr>
                  <a:t>$A(x_1,y_1)B(x_2,y_2)$</a:t>
                </a:r>
                <a:r>
                  <a:rPr sz="2400" b="0">
                    <a:solidFill>
                      <a:srgbClr val="111827"/>
                    </a:solidFill>
                    <a:latin typeface="Arial"/>
                  </a:rPr>
                  <a:t> in the ratio </a:t>
                </a:r>
                <a:r>
                  <a:rPr lang="en-IN" sz="2400">
                    <a:solidFill>
                      <a:srgbClr val="111827"/>
                    </a:solidFill>
                    <a:latin typeface="Cambria Math" panose="02040503050406030204" pitchFamily="18" charset="0"/>
                  </a:rPr>
                  <a:t>$m:n$</a:t>
                </a:r>
                <a:r>
                  <a:rPr sz="2400" b="0">
                    <a:solidFill>
                      <a:srgbClr val="111827"/>
                    </a:solidFill>
                    <a:latin typeface="Arial"/>
                  </a:rPr>
                  <a:t> are </a:t>
                </a:r>
                <a:r>
                  <a:rPr lang="en-IN" sz="2400">
                    <a:solidFill>
                      <a:srgbClr val="111827"/>
                    </a:solidFill>
                    <a:latin typeface="Cambria Math" panose="02040503050406030204" pitchFamily="18" charset="0"/>
                  </a:rPr>
                  <a:t>$\left(\frac{mx_2+nx_1}{m+n},\frac{my_2+ny_1}{m+n}\right)$</a:t>
                </a:r>
                <a:r>
                  <a:rPr sz="2400" b="0">
                    <a:solidFill>
                      <a:srgbClr val="111827"/>
                    </a:solidFill>
                    <a:latin typeface="Arial"/>
                  </a:rPr>
                  <a:t>; trisection points use </a:t>
                </a:r>
                <a:r>
                  <a:rPr lang="en-IN" sz="2400">
                    <a:solidFill>
                      <a:srgbClr val="111827"/>
                    </a:solidFill>
                    <a:latin typeface="Cambria Math" panose="02040503050406030204" pitchFamily="18" charset="0"/>
                  </a:rPr>
                  <a:t>$1:2$</a:t>
                </a:r>
                <a:r>
                  <a:rPr sz="2400" b="0">
                    <a:solidFill>
                      <a:srgbClr val="111827"/>
                    </a:solidFill>
                    <a:latin typeface="Arial"/>
                  </a:rPr>
                  <a:t> and </a:t>
                </a:r>
                <a:r>
                  <a:rPr lang="en-IN" sz="2400">
                    <a:solidFill>
                      <a:srgbClr val="111827"/>
                    </a:solidFill>
                    <a:latin typeface="Cambria Math" panose="02040503050406030204" pitchFamily="18" charset="0"/>
                  </a:rPr>
                  <a:t>$2:1$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slope of the line from the origin to a point is just </a:t>
                </a:r>
                <a:r>
                  <a:rPr lang="en-IN" sz="2400">
                    <a:solidFill>
                      <a:srgbClr val="111827"/>
                    </a:solidFill>
                    <a:latin typeface="Cambria Math" panose="02040503050406030204" pitchFamily="18" charset="0"/>
                  </a:rPr>
                  <a:t>$\frac{y}{x}$</a:t>
                </a:r>
                <a:r>
                  <a:rPr sz="2400" b="0">
                    <a:solidFill>
                      <a:srgbClr val="111827"/>
                    </a:solidFill>
                    <a:latin typeface="Arial"/>
                  </a:rPr>
                  <a:t> - no equation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final locus/point must lie on one of four lines, test the options with the intersection abscissa instead of solving each pair fully.</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circumcenter of the triangle formed by the lines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15</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$C(\alpha,\beta)$</a:t>
                </a:r>
                <a:r>
                  <a:rPr sz="2400" b="0">
                    <a:solidFill>
                      <a:srgbClr val="111827"/>
                    </a:solidFill>
                    <a:latin typeface="Arial"/>
                  </a:rPr>
                  <a:t> be the circumcenter of the triangle formed by the lines </a:t>
                </a:r>
                <a:r>
                  <a:rPr lang="en-IN" sz="2400">
                    <a:solidFill>
                      <a:srgbClr val="111827"/>
                    </a:solidFill>
                    <a:latin typeface="Cambria Math" panose="02040503050406030204" pitchFamily="18" charset="0"/>
                  </a:rPr>
                  <a:t>$4x+3y=69$</a:t>
                </a:r>
                <a:r>
                  <a:rPr sz="2400" b="0">
                    <a:solidFill>
                      <a:srgbClr val="111827"/>
                    </a:solidFill>
                    <a:latin typeface="Arial"/>
                  </a:rPr>
                  <a:t>, </a:t>
                </a:r>
                <a:r>
                  <a:rPr lang="en-IN" sz="2400">
                    <a:solidFill>
                      <a:srgbClr val="111827"/>
                    </a:solidFill>
                    <a:latin typeface="Cambria Math" panose="02040503050406030204" pitchFamily="18" charset="0"/>
                  </a:rPr>
                  <a:t>$4y-3x=17$</a:t>
                </a:r>
                <a:r>
                  <a:rPr sz="2400" b="0">
                    <a:solidFill>
                      <a:srgbClr val="111827"/>
                    </a:solidFill>
                    <a:latin typeface="Arial"/>
                  </a:rPr>
                  <a:t>, and </a:t>
                </a:r>
                <a:r>
                  <a:rPr lang="en-IN" sz="2400">
                    <a:solidFill>
                      <a:srgbClr val="111827"/>
                    </a:solidFill>
                    <a:latin typeface="Cambria Math" panose="02040503050406030204" pitchFamily="18" charset="0"/>
                  </a:rPr>
                  <a:t>$x+7y=61$</a:t>
                </a:r>
                <a:r>
                  <a:rPr sz="2400" b="0">
                    <a:solidFill>
                      <a:srgbClr val="111827"/>
                    </a:solidFill>
                    <a:latin typeface="Arial"/>
                  </a:rPr>
                  <a:t>. Then </a:t>
                </a:r>
                <a:r>
                  <a:rPr lang="en-IN" sz="2400">
                    <a:solidFill>
                      <a:srgbClr val="111827"/>
                    </a:solidFill>
                    <a:latin typeface="Cambria Math" panose="02040503050406030204" pitchFamily="18" charset="0"/>
                  </a:rPr>
                  <a:t>$(\alpha-\beta)^2+\alpha+\beta$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$18$</a:t>
                </a:r>
                <a:r>
                  <a:rPr sz="2400" b="0">
                    <a:solidFill>
                      <a:srgbClr val="111827"/>
                    </a:solidFill>
                    <a:latin typeface="Arial"/>
                  </a:rPr>
                  <a:t>   (B) </a:t>
                </a:r>
                <a:r>
                  <a:rPr lang="en-IN" sz="2400">
                    <a:solidFill>
                      <a:srgbClr val="111827"/>
                    </a:solidFill>
                    <a:latin typeface="Cambria Math" panose="02040503050406030204" pitchFamily="18" charset="0"/>
                  </a:rPr>
                  <a:t>$17$</a:t>
                </a:r>
                <a:r>
                  <a:rPr sz="2400" b="0">
                    <a:solidFill>
                      <a:srgbClr val="111827"/>
                    </a:solidFill>
                    <a:latin typeface="Arial"/>
                  </a:rPr>
                  <a:t>   (C) </a:t>
                </a:r>
                <a:r>
                  <a:rPr lang="en-IN" sz="2400">
                    <a:solidFill>
                      <a:srgbClr val="111827"/>
                    </a:solidFill>
                    <a:latin typeface="Cambria Math" panose="02040503050406030204" pitchFamily="18" charset="0"/>
                  </a:rPr>
                  <a:t>$16$</a:t>
                </a:r>
                <a:r>
                  <a:rPr sz="2400" b="0">
                    <a:solidFill>
                      <a:srgbClr val="111827"/>
                    </a:solidFill>
                    <a:latin typeface="Arial"/>
                  </a:rPr>
                  <a:t>   (D) </a:t>
                </a:r>
                <a:r>
                  <a:rPr lang="en-IN" sz="2400">
                    <a:solidFill>
                      <a:srgbClr val="111827"/>
                    </a:solidFill>
                    <a:latin typeface="Cambria Math" panose="02040503050406030204" pitchFamily="18" charset="0"/>
                  </a:rPr>
                  <a:t>$15$</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Circumcentre of a triangle formed by three lines, Perpendicular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lines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69</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17</m:t>
                    </m:r>
                  </m:oMath>
                </a14:m>
                <a:r>
                  <a:rPr sz="2400" b="0">
                    <a:solidFill>
                      <a:srgbClr val="78350F"/>
                    </a:solidFill>
                    <a:latin typeface="Arial"/>
                  </a:rPr>
                  <a:t> are perpendicular, so the triangle is right-angled and the circumcentre is the midpoint of the hypotenuse.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lines </a:t>
                </a:r>
                <a:r>
                  <a:rPr lang="en-IN" sz="2400">
                    <a:solidFill>
                      <a:srgbClr val="78350F"/>
                    </a:solidFill>
                    <a:latin typeface="Cambria Math" panose="02040503050406030204" pitchFamily="18" charset="0"/>
                  </a:rPr>
                  <a:t>$4x+3y=69$</a:t>
                </a:r>
                <a:r>
                  <a:rPr sz="2400" b="0">
                    <a:solidFill>
                      <a:srgbClr val="78350F"/>
                    </a:solidFill>
                    <a:latin typeface="Arial"/>
                  </a:rPr>
                  <a:t> and </a:t>
                </a:r>
                <a:r>
                  <a:rPr lang="en-IN" sz="2400">
                    <a:solidFill>
                      <a:srgbClr val="78350F"/>
                    </a:solidFill>
                    <a:latin typeface="Cambria Math" panose="02040503050406030204" pitchFamily="18" charset="0"/>
                  </a:rPr>
                  <a:t>$4y-3x=17$</a:t>
                </a:r>
                <a:r>
                  <a:rPr sz="2400" b="0">
                    <a:solidFill>
                      <a:srgbClr val="78350F"/>
                    </a:solidFill>
                    <a:latin typeface="Arial"/>
                  </a:rPr>
                  <a:t> are perpendicular, so the triangle is right-angled and the circumcentre is the midpoint of the hypotenuse.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Intersect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m:t>
                    </m:r>
                  </m:oMath>
                </a14:m>
                <a:r>
                  <a:rPr sz="2400" b="0">
                    <a:solidFill>
                      <a:srgbClr val="111827"/>
                    </a:solidFill>
                    <a:latin typeface="Arial"/>
                  </a:rPr>
                  <a:t>: eliminating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Vertex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Vertex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vertex is the intersection of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namely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These two lines have slopes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angle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the hypotenuse.</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Intersect </a:t>
                </a:r>
                <a:r>
                  <a:rPr lang="en-IN" sz="2400">
                    <a:solidFill>
                      <a:srgbClr val="111827"/>
                    </a:solidFill>
                    <a:latin typeface="Cambria Math" panose="02040503050406030204" pitchFamily="18" charset="0"/>
                  </a:rPr>
                  <a:t>$4x+3y=69$</a:t>
                </a:r>
                <a:r>
                  <a:rPr sz="2400" b="0">
                    <a:solidFill>
                      <a:srgbClr val="111827"/>
                    </a:solidFill>
                    <a:latin typeface="Arial"/>
                  </a:rPr>
                  <a:t> with </a:t>
                </a:r>
                <a:r>
                  <a:rPr lang="en-IN" sz="2400">
                    <a:solidFill>
                      <a:srgbClr val="111827"/>
                    </a:solidFill>
                    <a:latin typeface="Cambria Math" panose="02040503050406030204" pitchFamily="18" charset="0"/>
                  </a:rPr>
                  <a:t>$x+7y=61$</a:t>
                </a:r>
                <a:r>
                  <a:rPr sz="2400" b="0">
                    <a:solidFill>
                      <a:srgbClr val="111827"/>
                    </a:solidFill>
                    <a:latin typeface="Arial"/>
                  </a:rPr>
                  <a:t>: eliminating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$25y=175$</a:t>
                </a:r>
                <a:r>
                  <a:rPr sz="2400" b="0">
                    <a:solidFill>
                      <a:srgbClr val="111827"/>
                    </a:solidFill>
                    <a:latin typeface="Arial"/>
                  </a:rPr>
                  <a:t>, so </a:t>
                </a:r>
                <a:r>
                  <a:rPr lang="en-IN" sz="2400">
                    <a:solidFill>
                      <a:srgbClr val="111827"/>
                    </a:solidFill>
                    <a:latin typeface="Cambria Math" panose="02040503050406030204" pitchFamily="18" charset="0"/>
                  </a:rPr>
                  <a:t>$y=7$</a:t>
                </a:r>
                <a:r>
                  <a:rPr sz="2400" b="0">
                    <a:solidFill>
                      <a:srgbClr val="111827"/>
                    </a:solidFill>
                    <a:latin typeface="Arial"/>
                  </a:rPr>
                  <a:t>, </a:t>
                </a:r>
                <a:r>
                  <a:rPr lang="en-IN" sz="2400">
                    <a:solidFill>
                      <a:srgbClr val="111827"/>
                    </a:solidFill>
                    <a:latin typeface="Cambria Math" panose="02040503050406030204" pitchFamily="18" charset="0"/>
                  </a:rPr>
                  <a:t>$x=12$</a:t>
                </a:r>
                <a:r>
                  <a:rPr sz="2400" b="0">
                    <a:solidFill>
                      <a:srgbClr val="111827"/>
                    </a:solidFill>
                    <a:latin typeface="Arial"/>
                  </a:rPr>
                  <a:t>. Vertex </a:t>
                </a:r>
                <a:r>
                  <a:rPr lang="en-IN" sz="2400">
                    <a:solidFill>
                      <a:srgbClr val="111827"/>
                    </a:solidFill>
                    <a:latin typeface="Cambria Math" panose="02040503050406030204" pitchFamily="18" charset="0"/>
                  </a:rPr>
                  <a:t>$A(12,7)$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 </a:t>
                </a:r>
                <a:r>
                  <a:rPr lang="en-IN" sz="2400">
                    <a:solidFill>
                      <a:srgbClr val="111827"/>
                    </a:solidFill>
                    <a:latin typeface="Cambria Math" panose="02040503050406030204" pitchFamily="18" charset="0"/>
                  </a:rPr>
                  <a:t>$-3x+4y=17$</a:t>
                </a:r>
                <a:r>
                  <a:rPr sz="2400" b="0">
                    <a:solidFill>
                      <a:srgbClr val="111827"/>
                    </a:solidFill>
                    <a:latin typeface="Arial"/>
                  </a:rPr>
                  <a:t> with </a:t>
                </a:r>
                <a:r>
                  <a:rPr lang="en-IN" sz="2400">
                    <a:solidFill>
                      <a:srgbClr val="111827"/>
                    </a:solidFill>
                    <a:latin typeface="Cambria Math" panose="02040503050406030204" pitchFamily="18" charset="0"/>
                  </a:rPr>
                  <a:t>$x+7y=61$</a:t>
                </a:r>
                <a:r>
                  <a:rPr sz="2400" b="0">
                    <a:solidFill>
                      <a:srgbClr val="111827"/>
                    </a:solidFill>
                    <a:latin typeface="Arial"/>
                  </a:rPr>
                  <a:t>: </a:t>
                </a:r>
                <a:r>
                  <a:rPr lang="en-IN" sz="2400">
                    <a:solidFill>
                      <a:srgbClr val="111827"/>
                    </a:solidFill>
                    <a:latin typeface="Cambria Math" panose="02040503050406030204" pitchFamily="18" charset="0"/>
                  </a:rPr>
                  <a:t>$25y=200$</a:t>
                </a:r>
                <a:r>
                  <a:rPr sz="2400" b="0">
                    <a:solidFill>
                      <a:srgbClr val="111827"/>
                    </a:solidFill>
                    <a:latin typeface="Arial"/>
                  </a:rPr>
                  <a:t>, so </a:t>
                </a:r>
                <a:r>
                  <a:rPr lang="en-IN" sz="2400">
                    <a:solidFill>
                      <a:srgbClr val="111827"/>
                    </a:solidFill>
                    <a:latin typeface="Cambria Math" panose="02040503050406030204" pitchFamily="18" charset="0"/>
                  </a:rPr>
                  <a:t>$y=8$</a:t>
                </a:r>
                <a:r>
                  <a:rPr sz="2400" b="0">
                    <a:solidFill>
                      <a:srgbClr val="111827"/>
                    </a:solidFill>
                    <a:latin typeface="Arial"/>
                  </a:rPr>
                  <a:t>, </a:t>
                </a:r>
                <a:r>
                  <a:rPr lang="en-IN" sz="2400">
                    <a:solidFill>
                      <a:srgbClr val="111827"/>
                    </a:solidFill>
                    <a:latin typeface="Cambria Math" panose="02040503050406030204" pitchFamily="18" charset="0"/>
                  </a:rPr>
                  <a:t>$x=5$</a:t>
                </a:r>
                <a:r>
                  <a:rPr sz="2400" b="0">
                    <a:solidFill>
                      <a:srgbClr val="111827"/>
                    </a:solidFill>
                    <a:latin typeface="Arial"/>
                  </a:rPr>
                  <a:t>. Vertex </a:t>
                </a:r>
                <a:r>
                  <a:rPr lang="en-IN" sz="2400">
                    <a:solidFill>
                      <a:srgbClr val="111827"/>
                    </a:solidFill>
                    <a:latin typeface="Cambria Math" panose="02040503050406030204" pitchFamily="18" charset="0"/>
                  </a:rPr>
                  <a:t>$B(5,8)$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vertex is the intersection of </a:t>
                </a:r>
                <a:r>
                  <a:rPr lang="en-IN" sz="2400">
                    <a:solidFill>
                      <a:srgbClr val="111827"/>
                    </a:solidFill>
                    <a:latin typeface="Cambria Math" panose="02040503050406030204" pitchFamily="18" charset="0"/>
                  </a:rPr>
                  <a:t>$4x+3y=69$</a:t>
                </a:r>
                <a:r>
                  <a:rPr sz="2400" b="0">
                    <a:solidFill>
                      <a:srgbClr val="111827"/>
                    </a:solidFill>
                    <a:latin typeface="Arial"/>
                  </a:rPr>
                  <a:t> and </a:t>
                </a:r>
                <a:r>
                  <a:rPr lang="en-IN" sz="2400">
                    <a:solidFill>
                      <a:srgbClr val="111827"/>
                    </a:solidFill>
                    <a:latin typeface="Cambria Math" panose="02040503050406030204" pitchFamily="18" charset="0"/>
                  </a:rPr>
                  <a:t>$4y-3x=17$</a:t>
                </a:r>
                <a:r>
                  <a:rPr sz="2400" b="0">
                    <a:solidFill>
                      <a:srgbClr val="111827"/>
                    </a:solidFill>
                    <a:latin typeface="Arial"/>
                  </a:rPr>
                  <a:t>, namely </a:t>
                </a:r>
                <a:r>
                  <a:rPr lang="en-IN" sz="2400">
                    <a:solidFill>
                      <a:srgbClr val="111827"/>
                    </a:solidFill>
                    <a:latin typeface="Cambria Math" panose="02040503050406030204" pitchFamily="18" charset="0"/>
                  </a:rPr>
                  <a:t>$(9,11)$</a:t>
                </a:r>
                <a:r>
                  <a:rPr sz="2400" b="0">
                    <a:solidFill>
                      <a:srgbClr val="111827"/>
                    </a:solidFill>
                    <a:latin typeface="Arial"/>
                  </a:rPr>
                  <a:t>. These two lines have slopes </a:t>
                </a:r>
                <a:r>
                  <a:rPr lang="en-IN" sz="2400">
                    <a:solidFill>
                      <a:srgbClr val="111827"/>
                    </a:solidFill>
                    <a:latin typeface="Cambria Math" panose="02040503050406030204" pitchFamily="18" charset="0"/>
                  </a:rPr>
                  <a:t>$-\frac{4}{3}$</a:t>
                </a:r>
                <a:r>
                  <a:rPr sz="2400" b="0">
                    <a:solidFill>
                      <a:srgbClr val="111827"/>
                    </a:solidFill>
                    <a:latin typeface="Arial"/>
                  </a:rPr>
                  <a:t> and </a:t>
                </a:r>
                <a:r>
                  <a:rPr lang="en-IN" sz="2400">
                    <a:solidFill>
                      <a:srgbClr val="111827"/>
                    </a:solidFill>
                    <a:latin typeface="Cambria Math" panose="02040503050406030204" pitchFamily="18" charset="0"/>
                  </a:rPr>
                  <a:t>$\frac{3}{4}$</a:t>
                </a:r>
                <a:r>
                  <a:rPr sz="2400" b="0">
                    <a:solidFill>
                      <a:srgbClr val="111827"/>
                    </a:solidFill>
                    <a:latin typeface="Arial"/>
                  </a:rPr>
                  <a:t> (product </a:t>
                </a:r>
                <a:r>
                  <a:rPr lang="en-IN" sz="2400">
                    <a:solidFill>
                      <a:srgbClr val="111827"/>
                    </a:solidFill>
                    <a:latin typeface="Cambria Math" panose="02040503050406030204" pitchFamily="18" charset="0"/>
                  </a:rPr>
                  <a:t>$-1$</a:t>
                </a:r>
                <a:r>
                  <a:rPr sz="2400" b="0">
                    <a:solidFill>
                      <a:srgbClr val="111827"/>
                    </a:solidFill>
                    <a:latin typeface="Arial"/>
                  </a:rPr>
                  <a:t>), so the angle at </a:t>
                </a:r>
                <a:r>
                  <a:rPr lang="en-IN" sz="2400">
                    <a:solidFill>
                      <a:srgbClr val="111827"/>
                    </a:solidFill>
                    <a:latin typeface="Cambria Math" panose="02040503050406030204" pitchFamily="18" charset="0"/>
                  </a:rPr>
                  <a:t>$(9,11)$</a:t>
                </a:r>
                <a:r>
                  <a:rPr sz="2400" b="0">
                    <a:solidFill>
                      <a:srgbClr val="111827"/>
                    </a:solidFill>
                    <a:latin typeface="Arial"/>
                  </a:rPr>
                  <a:t> is </a:t>
                </a:r>
                <a:r>
                  <a:rPr lang="en-IN" sz="2400">
                    <a:solidFill>
                      <a:srgbClr val="111827"/>
                    </a:solidFill>
                    <a:latin typeface="Cambria Math" panose="02040503050406030204" pitchFamily="18" charset="0"/>
                  </a:rPr>
                  <a:t>$90^\circ$</a:t>
                </a:r>
                <a:r>
                  <a:rPr sz="2400" b="0">
                    <a:solidFill>
                      <a:srgbClr val="111827"/>
                    </a:solidFill>
                    <a:latin typeface="Arial"/>
                  </a:rPr>
                  <a:t> and </a:t>
                </a:r>
                <a:r>
                  <a:rPr lang="en-IN" sz="2400">
                    <a:solidFill>
                      <a:srgbClr val="111827"/>
                    </a:solidFill>
                    <a:latin typeface="Cambria Math" panose="02040503050406030204" pitchFamily="18" charset="0"/>
                  </a:rPr>
                  <a:t>$AB$</a:t>
                </a:r>
                <a:r>
                  <a:rPr sz="2400" b="0">
                    <a:solidFill>
                      <a:srgbClr val="111827"/>
                    </a:solidFill>
                    <a:latin typeface="Arial"/>
                  </a:rPr>
                  <a:t> is the hypotenuse.</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of a right triangle is the midpoint of the hypotenuse: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of a right triangle is the midpoint of the hypotenuse: </a:t>
                </a:r>
                <a:r>
                  <a:rPr lang="en-IN" sz="2400">
                    <a:solidFill>
                      <a:srgbClr val="111827"/>
                    </a:solidFill>
                    <a:latin typeface="Cambria Math" panose="02040503050406030204" pitchFamily="18" charset="0"/>
                  </a:rPr>
                  <a:t>$C=\left(\frac{12+5}{2},\frac{7+8}{2}\right)=\left(\frac{17}{2},\frac{15}{2}\right)$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$\alpha=\frac{17}{2}$</a:t>
                </a:r>
                <a:r>
                  <a:rPr sz="2400" b="0">
                    <a:solidFill>
                      <a:srgbClr val="111827"/>
                    </a:solidFill>
                    <a:latin typeface="Arial"/>
                  </a:rPr>
                  <a:t>, </a:t>
                </a:r>
                <a:r>
                  <a:rPr lang="en-IN" sz="2400">
                    <a:solidFill>
                      <a:srgbClr val="111827"/>
                    </a:solidFill>
                    <a:latin typeface="Cambria Math" panose="02040503050406030204" pitchFamily="18" charset="0"/>
                  </a:rPr>
                  <a:t>$\beta=\frac{15}{2}$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$(\alpha-\beta)^2+\alpha+\beta=1+16=17$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17</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$17$</a:t>
                </a:r>
                <a:endParaRPr sz="2800">
                  <a:solidFill>
                    <a:srgbClr val="15803D"/>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 not use the right angle: intersect two perpendicular bisectors of the sides.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Vertices: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and midpoint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its perpendicular bisector has slope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has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midpoint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d>
                  </m:oMath>
                </a14:m>
                <a:r>
                  <a:rPr sz="2400" b="0">
                    <a:solidFill>
                      <a:srgbClr val="111827"/>
                    </a:solidFill>
                    <a:latin typeface="Arial"/>
                  </a:rPr>
                  <a:t>; its perpendicular bisector has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Vertices: </a:t>
                </a:r>
                <a:r>
                  <a:rPr lang="en-IN" sz="2400">
                    <a:solidFill>
                      <a:srgbClr val="111827"/>
                    </a:solidFill>
                    <a:latin typeface="Cambria Math" panose="02040503050406030204" pitchFamily="18" charset="0"/>
                  </a:rPr>
                  <a:t>$A(12,7)$</a:t>
                </a:r>
                <a:r>
                  <a:rPr sz="2400" b="0">
                    <a:solidFill>
                      <a:srgbClr val="111827"/>
                    </a:solidFill>
                    <a:latin typeface="Arial"/>
                  </a:rPr>
                  <a:t>, </a:t>
                </a:r>
                <a:r>
                  <a:rPr lang="en-IN" sz="2400">
                    <a:solidFill>
                      <a:srgbClr val="111827"/>
                    </a:solidFill>
                    <a:latin typeface="Cambria Math" panose="02040503050406030204" pitchFamily="18" charset="0"/>
                  </a:rPr>
                  <a:t>$B(5,8)$</a:t>
                </a:r>
                <a:r>
                  <a:rPr sz="2400" b="0">
                    <a:solidFill>
                      <a:srgbClr val="111827"/>
                    </a:solidFill>
                    <a:latin typeface="Arial"/>
                  </a:rPr>
                  <a:t>, </a:t>
                </a:r>
                <a:r>
                  <a:rPr lang="en-IN" sz="2400">
                    <a:solidFill>
                      <a:srgbClr val="111827"/>
                    </a:solidFill>
                    <a:latin typeface="Cambria Math" panose="02040503050406030204" pitchFamily="18" charset="0"/>
                  </a:rPr>
                  <a:t>$D(9,11)$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r>
                  <a:rPr lang="en-IN" sz="2400">
                    <a:solidFill>
                      <a:srgbClr val="111827"/>
                    </a:solidFill>
                    <a:latin typeface="Cambria Math" panose="02040503050406030204" pitchFamily="18" charset="0"/>
                  </a:rPr>
                  <a:t>$AB$</a:t>
                </a:r>
                <a:r>
                  <a:rPr sz="2400" b="0">
                    <a:solidFill>
                      <a:srgbClr val="111827"/>
                    </a:solidFill>
                    <a:latin typeface="Arial"/>
                  </a:rPr>
                  <a:t> has slope </a:t>
                </a:r>
                <a:r>
                  <a:rPr lang="en-IN" sz="2400">
                    <a:solidFill>
                      <a:srgbClr val="111827"/>
                    </a:solidFill>
                    <a:latin typeface="Cambria Math" panose="02040503050406030204" pitchFamily="18" charset="0"/>
                  </a:rPr>
                  <a:t>$-\frac{1}{7}$</a:t>
                </a:r>
                <a:r>
                  <a:rPr sz="2400" b="0">
                    <a:solidFill>
                      <a:srgbClr val="111827"/>
                    </a:solidFill>
                    <a:latin typeface="Arial"/>
                  </a:rPr>
                  <a:t> and midpoint </a:t>
                </a:r>
                <a:r>
                  <a:rPr lang="en-IN" sz="2400">
                    <a:solidFill>
                      <a:srgbClr val="111827"/>
                    </a:solidFill>
                    <a:latin typeface="Cambria Math" panose="02040503050406030204" pitchFamily="18" charset="0"/>
                  </a:rPr>
                  <a:t>$\left(\frac{17}{2},\frac{15}{2}\right)$</a:t>
                </a:r>
                <a:r>
                  <a:rPr sz="2400" b="0">
                    <a:solidFill>
                      <a:srgbClr val="111827"/>
                    </a:solidFill>
                    <a:latin typeface="Arial"/>
                  </a:rPr>
                  <a:t>; its perpendicular bisector has slope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$y=7x-52$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r>
                  <a:rPr lang="en-IN" sz="2400">
                    <a:solidFill>
                      <a:srgbClr val="111827"/>
                    </a:solidFill>
                    <a:latin typeface="Cambria Math" panose="02040503050406030204" pitchFamily="18" charset="0"/>
                  </a:rPr>
                  <a:t>$AD$</a:t>
                </a:r>
                <a:r>
                  <a:rPr sz="2400" b="0">
                    <a:solidFill>
                      <a:srgbClr val="111827"/>
                    </a:solidFill>
                    <a:latin typeface="Arial"/>
                  </a:rPr>
                  <a:t> has slope </a:t>
                </a:r>
                <a:r>
                  <a:rPr lang="en-IN" sz="2400">
                    <a:solidFill>
                      <a:srgbClr val="111827"/>
                    </a:solidFill>
                    <a:latin typeface="Cambria Math" panose="02040503050406030204" pitchFamily="18" charset="0"/>
                  </a:rPr>
                  <a:t>$\frac{11-7}{9-12}=-\frac{4}{3}$</a:t>
                </a:r>
                <a:r>
                  <a:rPr sz="2400" b="0">
                    <a:solidFill>
                      <a:srgbClr val="111827"/>
                    </a:solidFill>
                    <a:latin typeface="Arial"/>
                  </a:rPr>
                  <a:t> and midpoint </a:t>
                </a:r>
                <a:r>
                  <a:rPr lang="en-IN" sz="2400">
                    <a:solidFill>
                      <a:srgbClr val="111827"/>
                    </a:solidFill>
                    <a:latin typeface="Cambria Math" panose="02040503050406030204" pitchFamily="18" charset="0"/>
                  </a:rPr>
                  <a:t>$\left(\frac{21}{2},9\right)$</a:t>
                </a:r>
                <a:r>
                  <a:rPr sz="2400" b="0">
                    <a:solidFill>
                      <a:srgbClr val="111827"/>
                    </a:solidFill>
                    <a:latin typeface="Arial"/>
                  </a:rPr>
                  <a:t>; its perpendicular bisector has slope </a:t>
                </a:r>
                <a:r>
                  <a:rPr lang="en-IN" sz="2400">
                    <a:solidFill>
                      <a:srgbClr val="111827"/>
                    </a:solidFill>
                    <a:latin typeface="Cambria Math" panose="02040503050406030204" pitchFamily="18" charset="0"/>
                  </a:rPr>
                  <a:t>$\frac{3}{4}$</a:t>
                </a:r>
                <a:r>
                  <a:rPr sz="2400" b="0">
                    <a:solidFill>
                      <a:srgbClr val="111827"/>
                    </a:solidFill>
                    <a:latin typeface="Arial"/>
                  </a:rPr>
                  <a:t>: </a:t>
                </a:r>
                <a:r>
                  <a:rPr lang="en-IN" sz="2400">
                    <a:solidFill>
                      <a:srgbClr val="111827"/>
                    </a:solidFill>
                    <a:latin typeface="Cambria Math" panose="02040503050406030204" pitchFamily="18" charset="0"/>
                  </a:rPr>
                  <a:t>$y=\frac{3}{4}x+\frac{9}{8}$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425</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a:t>
                </a:r>
                <a:r>
                  <a:rPr lang="en-IN" sz="2400">
                    <a:solidFill>
                      <a:srgbClr val="111827"/>
                    </a:solidFill>
                    <a:latin typeface="Cambria Math" panose="02040503050406030204" pitchFamily="18" charset="0"/>
                  </a:rPr>
                  <a:t>$7x-52=\frac{3}{4}x+\frac{9}{8}\Rightarrow\frac{25}{4}x=\frac{425}{8}\Rightarrow x=\frac{17}{2}$</a:t>
                </a:r>
                <a:r>
                  <a:rPr sz="2400" b="0">
                    <a:solidFill>
                      <a:srgbClr val="111827"/>
                    </a:solidFill>
                    <a:latin typeface="Arial"/>
                  </a:rPr>
                  <a:t>, so </a:t>
                </a:r>
                <a:r>
                  <a:rPr lang="en-IN" sz="2400">
                    <a:solidFill>
                      <a:srgbClr val="111827"/>
                    </a:solidFill>
                    <a:latin typeface="Cambria Math" panose="02040503050406030204" pitchFamily="18" charset="0"/>
                  </a:rPr>
                  <a:t>$y=\frac{15}{2}$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$(\alpha-\beta)^2+\alpha+\beta=1+16=17$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17</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$17$</a:t>
                </a:r>
                <a:endParaRPr sz="2800">
                  <a:solidFill>
                    <a:srgbClr val="15803D"/>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lines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perpendicular iff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spot this before any computation.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Circumcentre of a right triangle = midpoint of the hypotenuse (circumradius = half the hypotenuse).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Circumcentre lies on every perpendicular bisector; two of them suffice.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lines </a:t>
                </a:r>
                <a:r>
                  <a:rPr lang="en-IN" sz="2400">
                    <a:solidFill>
                      <a:srgbClr val="111827"/>
                    </a:solidFill>
                    <a:latin typeface="Cambria Math" panose="02040503050406030204" pitchFamily="18" charset="0"/>
                  </a:rPr>
                  <a:t>$a_1x+b_1y+c_1=0$</a:t>
                </a:r>
                <a:r>
                  <a:rPr sz="2400" b="0">
                    <a:solidFill>
                      <a:srgbClr val="111827"/>
                    </a:solidFill>
                    <a:latin typeface="Arial"/>
                  </a:rPr>
                  <a:t> and </a:t>
                </a:r>
                <a:r>
                  <a:rPr lang="en-IN" sz="2400">
                    <a:solidFill>
                      <a:srgbClr val="111827"/>
                    </a:solidFill>
                    <a:latin typeface="Cambria Math" panose="02040503050406030204" pitchFamily="18" charset="0"/>
                  </a:rPr>
                  <a:t>$a_2x+b_2y+c_2=0$</a:t>
                </a:r>
                <a:r>
                  <a:rPr sz="2400" b="0">
                    <a:solidFill>
                      <a:srgbClr val="111827"/>
                    </a:solidFill>
                    <a:latin typeface="Arial"/>
                  </a:rPr>
                  <a:t> are perpendicular iff </a:t>
                </a:r>
                <a:r>
                  <a:rPr lang="en-IN" sz="2400">
                    <a:solidFill>
                      <a:srgbClr val="111827"/>
                    </a:solidFill>
                    <a:latin typeface="Cambria Math" panose="02040503050406030204" pitchFamily="18" charset="0"/>
                  </a:rPr>
                  <a:t>$a_1a_2+b_1b_2=0$</a:t>
                </a:r>
                <a:r>
                  <a:rPr sz="2400" b="0">
                    <a:solidFill>
                      <a:srgbClr val="111827"/>
                    </a:solidFill>
                    <a:latin typeface="Arial"/>
                  </a:rPr>
                  <a:t> - spot this before any computation.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Circumcentre of a right triangle = midpoint of the hypotenuse (circumradius = half the hypotenuse).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Circumcentre lies on every perpendicular bisector; two of them suffice.</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rectangle given by the lines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such that the line segment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divides the area of the rectangle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lies on 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circle   (B) straight line   (C) hyperbola   (D) parabola</a:t>
                </a:r>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a rectangle given by the lines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$y=0$</a:t>
                </a:r>
                <a:r>
                  <a:rPr sz="2400" b="0">
                    <a:solidFill>
                      <a:srgbClr val="111827"/>
                    </a:solidFill>
                    <a:latin typeface="Arial"/>
                  </a:rPr>
                  <a:t> and </a:t>
                </a:r>
                <a:r>
                  <a:rPr lang="en-IN" sz="2400">
                    <a:solidFill>
                      <a:srgbClr val="111827"/>
                    </a:solidFill>
                    <a:latin typeface="Cambria Math" panose="02040503050406030204" pitchFamily="18" charset="0"/>
                  </a:rPr>
                  <a:t>$y=5$</a:t>
                </a:r>
                <a:r>
                  <a:rPr sz="2400" b="0">
                    <a:solidFill>
                      <a:srgbClr val="111827"/>
                    </a:solidFill>
                    <a:latin typeface="Arial"/>
                  </a:rPr>
                  <a:t>. Let </a:t>
                </a:r>
                <a:r>
                  <a:rPr lang="en-IN" sz="2400">
                    <a:solidFill>
                      <a:srgbClr val="111827"/>
                    </a:solidFill>
                    <a:latin typeface="Cambria Math" panose="02040503050406030204" pitchFamily="18" charset="0"/>
                  </a:rPr>
                  <a:t>$A(\alpha,0)$</a:t>
                </a:r>
                <a:r>
                  <a:rPr sz="2400" b="0">
                    <a:solidFill>
                      <a:srgbClr val="111827"/>
                    </a:solidFill>
                    <a:latin typeface="Arial"/>
                  </a:rPr>
                  <a:t> and </a:t>
                </a:r>
                <a:r>
                  <a:rPr lang="en-IN" sz="2400">
                    <a:solidFill>
                      <a:srgbClr val="111827"/>
                    </a:solidFill>
                    <a:latin typeface="Cambria Math" panose="02040503050406030204" pitchFamily="18" charset="0"/>
                  </a:rPr>
                  <a:t>$B(0,\beta)$</a:t>
                </a:r>
                <a:r>
                  <a:rPr sz="2400" b="0">
                    <a:solidFill>
                      <a:srgbClr val="111827"/>
                    </a:solidFill>
                    <a:latin typeface="Arial"/>
                  </a:rPr>
                  <a:t>, </a:t>
                </a:r>
                <a:r>
                  <a:rPr lang="en-IN" sz="2400">
                    <a:solidFill>
                      <a:srgbClr val="111827"/>
                    </a:solidFill>
                    <a:latin typeface="Cambria Math" panose="02040503050406030204" pitchFamily="18" charset="0"/>
                  </a:rPr>
                  <a:t>$\alpha\in[0,2]$</a:t>
                </a:r>
                <a:r>
                  <a:rPr sz="2400" b="0">
                    <a:solidFill>
                      <a:srgbClr val="111827"/>
                    </a:solidFill>
                    <a:latin typeface="Arial"/>
                  </a:rPr>
                  <a:t> and </a:t>
                </a:r>
                <a:r>
                  <a:rPr lang="en-IN" sz="2400">
                    <a:solidFill>
                      <a:srgbClr val="111827"/>
                    </a:solidFill>
                    <a:latin typeface="Cambria Math" panose="02040503050406030204" pitchFamily="18" charset="0"/>
                  </a:rPr>
                  <a:t>$\beta\in[0,5]$</a:t>
                </a:r>
                <a:r>
                  <a:rPr sz="2400" b="0">
                    <a:solidFill>
                      <a:srgbClr val="111827"/>
                    </a:solidFill>
                    <a:latin typeface="Arial"/>
                  </a:rPr>
                  <a:t>, be such that the line segment </a:t>
                </a:r>
                <a:r>
                  <a:rPr lang="en-IN" sz="2400">
                    <a:solidFill>
                      <a:srgbClr val="111827"/>
                    </a:solidFill>
                    <a:latin typeface="Cambria Math" panose="02040503050406030204" pitchFamily="18" charset="0"/>
                  </a:rPr>
                  <a:t>$AB$</a:t>
                </a:r>
                <a:r>
                  <a:rPr sz="2400" b="0">
                    <a:solidFill>
                      <a:srgbClr val="111827"/>
                    </a:solidFill>
                    <a:latin typeface="Arial"/>
                  </a:rPr>
                  <a:t> divides the area of the rectangle </a:t>
                </a:r>
                <a:r>
                  <a:rPr lang="en-IN" sz="2400">
                    <a:solidFill>
                      <a:srgbClr val="111827"/>
                    </a:solidFill>
                    <a:latin typeface="Cambria Math" panose="02040503050406030204" pitchFamily="18" charset="0"/>
                  </a:rPr>
                  <a:t>$R$</a:t>
                </a:r>
                <a:r>
                  <a:rPr sz="2400" b="0">
                    <a:solidFill>
                      <a:srgbClr val="111827"/>
                    </a:solidFill>
                    <a:latin typeface="Arial"/>
                  </a:rPr>
                  <a:t> in the ratio </a:t>
                </a:r>
                <a:r>
                  <a:rPr lang="en-IN" sz="2400">
                    <a:solidFill>
                      <a:srgbClr val="111827"/>
                    </a:solidFill>
                    <a:latin typeface="Cambria Math" panose="02040503050406030204" pitchFamily="18" charset="0"/>
                  </a:rPr>
                  <a:t>$4:1$</a:t>
                </a:r>
                <a:r>
                  <a:rPr sz="2400" b="0">
                    <a:solidFill>
                      <a:srgbClr val="111827"/>
                    </a:solidFill>
                    <a:latin typeface="Arial"/>
                  </a:rPr>
                  <a:t>. Then, the mid-point of </a:t>
                </a:r>
                <a:r>
                  <a:rPr lang="en-IN" sz="2400">
                    <a:solidFill>
                      <a:srgbClr val="111827"/>
                    </a:solidFill>
                    <a:latin typeface="Cambria Math" panose="02040503050406030204" pitchFamily="18" charset="0"/>
                  </a:rPr>
                  <a:t>$AB$</a:t>
                </a:r>
                <a:r>
                  <a:rPr sz="2400" b="0">
                    <a:solidFill>
                      <a:srgbClr val="111827"/>
                    </a:solidFill>
                    <a:latin typeface="Arial"/>
                  </a:rPr>
                  <a:t> lies on 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circle   (B) straight line   (C) hyperbola   (D) parabola</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Locus of the mid-point of a variable segment, Area division by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cut-off corner triangle has area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 of the rectangle, so </a:t>
                </a:r>
                <a14:m>
                  <m:oMath xmlns:m="http://schemas.openxmlformats.org/officeDocument/2006/math">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β</m:t>
                    </m:r>
                  </m:oMath>
                </a14:m>
                <a:r>
                  <a:rPr sz="2400" b="0">
                    <a:solidFill>
                      <a:srgbClr val="78350F"/>
                    </a:solidFill>
                    <a:latin typeface="Arial"/>
                  </a:rPr>
                  <a:t> is constant.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cut-off corner triangle has area </a:t>
                </a:r>
                <a:r>
                  <a:rPr lang="en-IN" sz="2400">
                    <a:solidFill>
                      <a:srgbClr val="78350F"/>
                    </a:solidFill>
                    <a:latin typeface="Cambria Math" panose="02040503050406030204" pitchFamily="18" charset="0"/>
                  </a:rPr>
                  <a:t>$\frac{1}{5}$</a:t>
                </a:r>
                <a:r>
                  <a:rPr sz="2400" b="0">
                    <a:solidFill>
                      <a:srgbClr val="78350F"/>
                    </a:solidFill>
                    <a:latin typeface="Arial"/>
                  </a:rPr>
                  <a:t> of the rectangle, so </a:t>
                </a:r>
                <a:r>
                  <a:rPr lang="en-IN" sz="2400">
                    <a:solidFill>
                      <a:srgbClr val="78350F"/>
                    </a:solidFill>
                    <a:latin typeface="Cambria Math" panose="02040503050406030204" pitchFamily="18" charset="0"/>
                  </a:rPr>
                  <a:t>$\alpha\beta$</a:t>
                </a:r>
                <a:r>
                  <a:rPr sz="2400" b="0">
                    <a:solidFill>
                      <a:srgbClr val="78350F"/>
                    </a:solidFill>
                    <a:latin typeface="Arial"/>
                  </a:rPr>
                  <a:t> is constant.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area of the rectangle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cuts off the corner triangle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area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two parts are in the ratio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the other assignment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is impossible since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area of the rectangle is </a:t>
                </a:r>
                <a:r>
                  <a:rPr lang="en-IN" sz="2400">
                    <a:solidFill>
                      <a:srgbClr val="111827"/>
                    </a:solidFill>
                    <a:latin typeface="Cambria Math" panose="02040503050406030204" pitchFamily="18" charset="0"/>
                  </a:rPr>
                  <a:t>$2\times5=10$</a:t>
                </a:r>
                <a:r>
                  <a:rPr sz="2400" b="0">
                    <a:solidFill>
                      <a:srgbClr val="111827"/>
                    </a:solidFill>
                    <a:latin typeface="Arial"/>
                  </a:rPr>
                  <a:t>. </a:t>
                </a:r>
                <a:r>
                  <a:rPr lang="en-IN" sz="2400">
                    <a:solidFill>
                      <a:srgbClr val="111827"/>
                    </a:solidFill>
                    <a:latin typeface="Cambria Math" panose="02040503050406030204" pitchFamily="18" charset="0"/>
                  </a:rPr>
                  <a:t>$AB$</a:t>
                </a:r>
                <a:r>
                  <a:rPr sz="2400" b="0">
                    <a:solidFill>
                      <a:srgbClr val="111827"/>
                    </a:solidFill>
                    <a:latin typeface="Arial"/>
                  </a:rPr>
                  <a:t> cuts off the corner triangle </a:t>
                </a:r>
                <a:r>
                  <a:rPr lang="en-IN" sz="2400">
                    <a:solidFill>
                      <a:srgbClr val="111827"/>
                    </a:solidFill>
                    <a:latin typeface="Cambria Math" panose="02040503050406030204" pitchFamily="18" charset="0"/>
                  </a:rPr>
                  <a:t>$OAB$</a:t>
                </a:r>
                <a:r>
                  <a:rPr sz="2400" b="0">
                    <a:solidFill>
                      <a:srgbClr val="111827"/>
                    </a:solidFill>
                    <a:latin typeface="Arial"/>
                  </a:rPr>
                  <a:t> of area </a:t>
                </a:r>
                <a:r>
                  <a:rPr lang="en-IN" sz="2400">
                    <a:solidFill>
                      <a:srgbClr val="111827"/>
                    </a:solidFill>
                    <a:latin typeface="Cambria Math" panose="02040503050406030204" pitchFamily="18" charset="0"/>
                  </a:rPr>
                  <a:t>$\frac{1}{2}\alpha\beta$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two parts are in the ratio </a:t>
                </a:r>
                <a:r>
                  <a:rPr lang="en-IN" sz="2400">
                    <a:solidFill>
                      <a:srgbClr val="111827"/>
                    </a:solidFill>
                    <a:latin typeface="Cambria Math" panose="02040503050406030204" pitchFamily="18" charset="0"/>
                  </a:rPr>
                  <a:t>$4:1$</a:t>
                </a:r>
                <a:r>
                  <a:rPr sz="2400" b="0">
                    <a:solidFill>
                      <a:srgbClr val="111827"/>
                    </a:solidFill>
                    <a:latin typeface="Arial"/>
                  </a:rPr>
                  <a:t>: </a:t>
                </a:r>
                <a:r>
                  <a:rPr lang="en-IN" sz="2400">
                    <a:solidFill>
                      <a:srgbClr val="111827"/>
                    </a:solidFill>
                    <a:latin typeface="Cambria Math" panose="02040503050406030204" pitchFamily="18" charset="0"/>
                  </a:rPr>
                  <a:t>$\frac{10-\frac{1}{2}\alpha\beta}{\frac{1}{2}\alpha\beta}=\frac{4}{1}\Rightarrow20-\alpha\beta=4\alpha\beta$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$\alpha\beta=4$</a:t>
                </a:r>
                <a:r>
                  <a:rPr sz="2400" b="0">
                    <a:solidFill>
                      <a:srgbClr val="111827"/>
                    </a:solidFill>
                    <a:latin typeface="Arial"/>
                  </a:rPr>
                  <a:t> (and the other assignment </a:t>
                </a:r>
                <a:r>
                  <a:rPr lang="en-IN" sz="2400">
                    <a:solidFill>
                      <a:srgbClr val="111827"/>
                    </a:solidFill>
                    <a:latin typeface="Cambria Math" panose="02040503050406030204" pitchFamily="18" charset="0"/>
                  </a:rPr>
                  <a:t>$\frac{1}{2}\alpha\beta=8$</a:t>
                </a:r>
                <a:r>
                  <a:rPr sz="2400" b="0">
                    <a:solidFill>
                      <a:srgbClr val="111827"/>
                    </a:solidFill>
                    <a:latin typeface="Arial"/>
                  </a:rPr>
                  <a:t> is impossible since </a:t>
                </a:r>
                <a:r>
                  <a:rPr lang="en-IN" sz="2400">
                    <a:solidFill>
                      <a:srgbClr val="111827"/>
                    </a:solidFill>
                    <a:latin typeface="Cambria Math" panose="02040503050406030204" pitchFamily="18" charset="0"/>
                  </a:rPr>
                  <a:t>$\alpha\beta\le10$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midpoint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locus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rectangular hyperbola.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midpoint be </a:t>
                </a:r>
                <a:r>
                  <a:rPr lang="en-IN" sz="2400">
                    <a:solidFill>
                      <a:srgbClr val="111827"/>
                    </a:solidFill>
                    <a:latin typeface="Cambria Math" panose="02040503050406030204" pitchFamily="18" charset="0"/>
                  </a:rPr>
                  <a:t>$(h,k)$</a:t>
                </a:r>
                <a:r>
                  <a:rPr sz="2400" b="0">
                    <a:solidFill>
                      <a:srgbClr val="111827"/>
                    </a:solidFill>
                    <a:latin typeface="Arial"/>
                  </a:rPr>
                  <a:t>: </a:t>
                </a:r>
                <a:r>
                  <a:rPr lang="en-IN" sz="2400">
                    <a:solidFill>
                      <a:srgbClr val="111827"/>
                    </a:solidFill>
                    <a:latin typeface="Cambria Math" panose="02040503050406030204" pitchFamily="18" charset="0"/>
                  </a:rPr>
                  <a:t>$h=\frac{\alpha}{2}$</a:t>
                </a:r>
                <a:r>
                  <a:rPr sz="2400" b="0">
                    <a:solidFill>
                      <a:srgbClr val="111827"/>
                    </a:solidFill>
                    <a:latin typeface="Arial"/>
                  </a:rPr>
                  <a:t>, </a:t>
                </a:r>
                <a:r>
                  <a:rPr lang="en-IN" sz="2400">
                    <a:solidFill>
                      <a:srgbClr val="111827"/>
                    </a:solidFill>
                    <a:latin typeface="Cambria Math" panose="02040503050406030204" pitchFamily="18" charset="0"/>
                  </a:rPr>
                  <a:t>$k=\frac{\beta}{2}$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$4hk=\alpha\beta=4$</a:t>
                </a:r>
                <a:r>
                  <a:rPr sz="2400" b="0">
                    <a:solidFill>
                      <a:srgbClr val="111827"/>
                    </a:solidFill>
                    <a:latin typeface="Arial"/>
                  </a:rPr>
                  <a:t>, so </a:t>
                </a:r>
                <a:r>
                  <a:rPr lang="en-IN" sz="2400">
                    <a:solidFill>
                      <a:srgbClr val="111827"/>
                    </a:solidFill>
                    <a:latin typeface="Cambria Math" panose="02040503050406030204" pitchFamily="18" charset="0"/>
                  </a:rPr>
                  <a:t>$hk=1$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locus </a:t>
                </a:r>
                <a:r>
                  <a:rPr lang="en-IN" sz="2400">
                    <a:solidFill>
                      <a:srgbClr val="111827"/>
                    </a:solidFill>
                    <a:latin typeface="Cambria Math" panose="02040503050406030204" pitchFamily="18" charset="0"/>
                  </a:rPr>
                  <a:t>$xy=1$</a:t>
                </a:r>
                <a:r>
                  <a:rPr sz="2400" b="0">
                    <a:solidFill>
                      <a:srgbClr val="111827"/>
                    </a:solidFill>
                    <a:latin typeface="Arial"/>
                  </a:rPr>
                  <a:t> is a rectangular hyperbola.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hyperbola</a:t>
            </a:r>
            <a:endParaRPr sz="2800">
              <a:solidFill>
                <a:srgbClr val="15803D"/>
              </a:solidFil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cutting the axes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cuts off the corner triangle of area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oMath>
                </a14:m>
                <a:r>
                  <a:rPr sz="2400" b="0">
                    <a:solidFill>
                      <a:srgbClr val="111827"/>
                    </a:solidFill>
                    <a:latin typeface="Arial"/>
                  </a:rPr>
                  <a:t>; a fixed area gives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𝑐𝑜𝑛𝑠𝑡</m:t>
                    </m:r>
                  </m:oMath>
                </a14:m>
                <a:r>
                  <a:rPr sz="2400" b="0">
                    <a:solidFill>
                      <a:srgbClr val="111827"/>
                    </a:solidFill>
                    <a:latin typeface="Arial"/>
                  </a:rPr>
                  <a:t>, and the midpoint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traces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𝑐𝑜𝑛𝑠𝑡</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 rectangular hyperbola.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segment of fixed length between the axes, the midpoint traces a circle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instead.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which of the two parts has the small area; if one assignment violates the bounds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discard 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cutting the axes at </a:t>
                </a:r>
                <a:r>
                  <a:rPr lang="en-IN" sz="2400">
                    <a:solidFill>
                      <a:srgbClr val="111827"/>
                    </a:solidFill>
                    <a:latin typeface="Cambria Math" panose="02040503050406030204" pitchFamily="18" charset="0"/>
                  </a:rPr>
                  <a:t>$A(\alpha,0)$</a:t>
                </a:r>
                <a:r>
                  <a:rPr sz="2400" b="0">
                    <a:solidFill>
                      <a:srgbClr val="111827"/>
                    </a:solidFill>
                    <a:latin typeface="Arial"/>
                  </a:rPr>
                  <a:t>, </a:t>
                </a:r>
                <a:r>
                  <a:rPr lang="en-IN" sz="2400">
                    <a:solidFill>
                      <a:srgbClr val="111827"/>
                    </a:solidFill>
                    <a:latin typeface="Cambria Math" panose="02040503050406030204" pitchFamily="18" charset="0"/>
                  </a:rPr>
                  <a:t>$B(0,\beta)$</a:t>
                </a:r>
                <a:r>
                  <a:rPr sz="2400" b="0">
                    <a:solidFill>
                      <a:srgbClr val="111827"/>
                    </a:solidFill>
                    <a:latin typeface="Arial"/>
                  </a:rPr>
                  <a:t> cuts off the corner triangle of area </a:t>
                </a:r>
                <a:r>
                  <a:rPr lang="en-IN" sz="2400">
                    <a:solidFill>
                      <a:srgbClr val="111827"/>
                    </a:solidFill>
                    <a:latin typeface="Cambria Math" panose="02040503050406030204" pitchFamily="18" charset="0"/>
                  </a:rPr>
                  <a:t>$\frac{1}{2}\alpha\beta$</a:t>
                </a:r>
                <a:r>
                  <a:rPr sz="2400" b="0">
                    <a:solidFill>
                      <a:srgbClr val="111827"/>
                    </a:solidFill>
                    <a:latin typeface="Arial"/>
                  </a:rPr>
                  <a:t>; a fixed area gives </a:t>
                </a:r>
                <a:r>
                  <a:rPr lang="en-IN" sz="2400">
                    <a:solidFill>
                      <a:srgbClr val="111827"/>
                    </a:solidFill>
                    <a:latin typeface="Cambria Math" panose="02040503050406030204" pitchFamily="18" charset="0"/>
                  </a:rPr>
                  <a:t>$\alpha\beta=\text{const}$</a:t>
                </a:r>
                <a:r>
                  <a:rPr sz="2400" b="0">
                    <a:solidFill>
                      <a:srgbClr val="111827"/>
                    </a:solidFill>
                    <a:latin typeface="Arial"/>
                  </a:rPr>
                  <a:t>, and the midpoint </a:t>
                </a:r>
                <a:r>
                  <a:rPr lang="en-IN" sz="2400">
                    <a:solidFill>
                      <a:srgbClr val="111827"/>
                    </a:solidFill>
                    <a:latin typeface="Cambria Math" panose="02040503050406030204" pitchFamily="18" charset="0"/>
                  </a:rPr>
                  <a:t>$(\frac{\alpha}{2},\frac{\beta}{2})$</a:t>
                </a:r>
                <a:r>
                  <a:rPr sz="2400" b="0">
                    <a:solidFill>
                      <a:srgbClr val="111827"/>
                    </a:solidFill>
                    <a:latin typeface="Arial"/>
                  </a:rPr>
                  <a:t> traces </a:t>
                </a:r>
                <a:r>
                  <a:rPr lang="en-IN" sz="2400">
                    <a:solidFill>
                      <a:srgbClr val="111827"/>
                    </a:solidFill>
                    <a:latin typeface="Cambria Math" panose="02040503050406030204" pitchFamily="18" charset="0"/>
                  </a:rPr>
                  <a:t>$xy=\frac{\text{const}}{4}$</a:t>
                </a:r>
                <a:r>
                  <a:rPr sz="2400" b="0">
                    <a:solidFill>
                      <a:srgbClr val="111827"/>
                    </a:solidFill>
                    <a:latin typeface="Arial"/>
                  </a:rPr>
                  <a:t>, a rectangular hyperbola.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segment of fixed length between the axes, the midpoint traces a circle </a:t>
                </a:r>
                <a:r>
                  <a:rPr lang="en-IN" sz="2400">
                    <a:solidFill>
                      <a:srgbClr val="111827"/>
                    </a:solidFill>
                    <a:latin typeface="Cambria Math" panose="02040503050406030204" pitchFamily="18" charset="0"/>
                  </a:rPr>
                  <a:t>$x^2+y^2=\frac{l^2}{4}$</a:t>
                </a:r>
                <a:r>
                  <a:rPr sz="2400" b="0">
                    <a:solidFill>
                      <a:srgbClr val="111827"/>
                    </a:solidFill>
                    <a:latin typeface="Arial"/>
                  </a:rPr>
                  <a:t> instead.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which of the two parts has the small area; if one assignment violates the bounds (</a:t>
                </a:r>
                <a:r>
                  <a:rPr lang="en-IN" sz="2400">
                    <a:solidFill>
                      <a:srgbClr val="111827"/>
                    </a:solidFill>
                    <a:latin typeface="Cambria Math" panose="02040503050406030204" pitchFamily="18" charset="0"/>
                  </a:rPr>
                  <a:t>$\alpha\le2$</a:t>
                </a:r>
                <a:r>
                  <a:rPr sz="2400" b="0">
                    <a:solidFill>
                      <a:srgbClr val="111827"/>
                    </a:solidFill>
                    <a:latin typeface="Arial"/>
                  </a:rPr>
                  <a:t>, </a:t>
                </a:r>
                <a:r>
                  <a:rPr lang="en-IN" sz="2400">
                    <a:solidFill>
                      <a:srgbClr val="111827"/>
                    </a:solidFill>
                    <a:latin typeface="Cambria Math" panose="02040503050406030204" pitchFamily="18" charset="0"/>
                  </a:rPr>
                  <a:t>$\beta\le5$</a:t>
                </a:r>
                <a:r>
                  <a:rPr sz="2400" b="0">
                    <a:solidFill>
                      <a:srgbClr val="111827"/>
                    </a:solidFill>
                    <a:latin typeface="Arial"/>
                  </a:rPr>
                  <a:t>), discard it.</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lies on the curve traced by the mid-points of the line segments of the lines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between the co-ordinates axes, then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7</m:t>
                    </m:r>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point </a:t>
                </a:r>
                <a:r>
                  <a:rPr lang="en-IN" sz="2400">
                    <a:solidFill>
                      <a:srgbClr val="111827"/>
                    </a:solidFill>
                    <a:latin typeface="Cambria Math" panose="02040503050406030204" pitchFamily="18" charset="0"/>
                  </a:rPr>
                  <a:t>$\left(\alpha,\frac{7\sqrt{3}}{3}\right)$</a:t>
                </a:r>
                <a:r>
                  <a:rPr sz="2400" b="0">
                    <a:solidFill>
                      <a:srgbClr val="111827"/>
                    </a:solidFill>
                    <a:latin typeface="Arial"/>
                  </a:rPr>
                  <a:t> lies on the curve traced by the mid-points of the line segments of the lines </a:t>
                </a:r>
                <a:r>
                  <a:rPr lang="en-IN" sz="2400">
                    <a:solidFill>
                      <a:srgbClr val="111827"/>
                    </a:solidFill>
                    <a:latin typeface="Cambria Math" panose="02040503050406030204" pitchFamily="18" charset="0"/>
                  </a:rPr>
                  <a:t>$x\cos\theta+y\sin\theta=7$</a:t>
                </a:r>
                <a:r>
                  <a:rPr sz="2400" b="0">
                    <a:solidFill>
                      <a:srgbClr val="111827"/>
                    </a:solidFill>
                    <a:latin typeface="Arial"/>
                  </a:rPr>
                  <a:t>, </a:t>
                </a:r>
                <a:r>
                  <a:rPr lang="en-IN" sz="2400">
                    <a:solidFill>
                      <a:srgbClr val="111827"/>
                    </a:solidFill>
                    <a:latin typeface="Cambria Math" panose="02040503050406030204" pitchFamily="18" charset="0"/>
                  </a:rPr>
                  <a:t>$\theta\in\left(0,\frac{\pi}{2}\right)$</a:t>
                </a:r>
                <a:r>
                  <a:rPr sz="2400" b="0">
                    <a:solidFill>
                      <a:srgbClr val="111827"/>
                    </a:solidFill>
                    <a:latin typeface="Arial"/>
                  </a:rPr>
                  <a:t> between the co-ordinates axes, then </a:t>
                </a:r>
                <a:r>
                  <a:rPr lang="en-IN" sz="2400">
                    <a:solidFill>
                      <a:srgbClr val="111827"/>
                    </a:solidFill>
                    <a:latin typeface="Cambria Math" panose="02040503050406030204" pitchFamily="18" charset="0"/>
                  </a:rPr>
                  <a:t>$\alpha$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$7\sqrt{3}$</a:t>
                </a:r>
                <a:r>
                  <a:rPr sz="2400" b="0">
                    <a:solidFill>
                      <a:srgbClr val="111827"/>
                    </a:solidFill>
                    <a:latin typeface="Arial"/>
                  </a:rPr>
                  <a:t>   (B) </a:t>
                </a:r>
                <a:r>
                  <a:rPr lang="en-IN" sz="2400">
                    <a:solidFill>
                      <a:srgbClr val="111827"/>
                    </a:solidFill>
                    <a:latin typeface="Cambria Math" panose="02040503050406030204" pitchFamily="18" charset="0"/>
                  </a:rPr>
                  <a:t>$-7\sqrt{3}$</a:t>
                </a:r>
                <a:r>
                  <a:rPr sz="2400" b="0">
                    <a:solidFill>
                      <a:srgbClr val="111827"/>
                    </a:solidFill>
                    <a:latin typeface="Arial"/>
                  </a:rPr>
                  <a:t>   (C) </a:t>
                </a:r>
                <a:r>
                  <a:rPr lang="en-IN" sz="2400">
                    <a:solidFill>
                      <a:srgbClr val="111827"/>
                    </a:solidFill>
                    <a:latin typeface="Cambria Math" panose="02040503050406030204" pitchFamily="18" charset="0"/>
                  </a:rPr>
                  <a:t>$-7$</a:t>
                </a:r>
                <a:r>
                  <a:rPr sz="2400" b="0">
                    <a:solidFill>
                      <a:srgbClr val="111827"/>
                    </a:solidFill>
                    <a:latin typeface="Arial"/>
                  </a:rPr>
                  <a:t>   (D) </a:t>
                </a:r>
                <a:r>
                  <a:rPr lang="en-IN" sz="2400">
                    <a:solidFill>
                      <a:srgbClr val="111827"/>
                    </a:solidFill>
                    <a:latin typeface="Cambria Math" panose="02040503050406030204" pitchFamily="18" charset="0"/>
                  </a:rPr>
                  <a:t>$7$</a:t>
                </a:r>
                <a:endParaRPr sz="2400">
                  <a:solidFill>
                    <a:srgbClr val="111827"/>
                  </a:solidFill>
                </a:endParaRPr>
              </a:p>
            </p:txBody>
          </p:sp>
        </mc:Fallback>
      </mc:AlternateContent>
      <p:sp>
        <p:nvSpPr>
          <p:cNvPr id="5" name="Rectangle 4"/>
          <p:cNvSpPr/>
          <p:nvPr/>
        </p:nvSpPr>
        <p:spPr>
          <a:xfrm>
            <a:off x="731520" y="37998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Locus of the mid-point of a line segment between the axes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midpoint of the intercepts is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den>
                        </m:f>
                      </m:e>
                    </m:d>
                  </m:oMath>
                </a14:m>
                <a:r>
                  <a:rPr sz="2400" b="0">
                    <a:solidFill>
                      <a:srgbClr val="78350F"/>
                    </a:solidFill>
                    <a:latin typeface="Arial"/>
                  </a:rPr>
                  <a:t>; eliminate </a:t>
                </a:r>
                <a14:m>
                  <m:oMath xmlns:m="http://schemas.openxmlformats.org/officeDocument/2006/math">
                    <m:r>
                      <a:rPr lang="en-IN" sz="2400" i="1">
                        <a:solidFill>
                          <a:srgbClr val="78350F"/>
                        </a:solidFill>
                        <a:latin typeface="Cambria Math" panose="02040503050406030204" pitchFamily="18" charset="0"/>
                      </a:rPr>
                      <m:t>θ</m:t>
                    </m:r>
                  </m:oMath>
                </a14:m>
                <a:r>
                  <a:rPr sz="2400" b="0">
                    <a:solidFill>
                      <a:srgbClr val="78350F"/>
                    </a:solidFill>
                    <a:latin typeface="Arial"/>
                  </a:rPr>
                  <a:t> with </a:t>
                </a:r>
                <a14:m>
                  <m:oMath xmlns:m="http://schemas.openxmlformats.org/officeDocument/2006/math">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sin</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midpoint of the intercepts is </a:t>
                </a:r>
                <a:r>
                  <a:rPr lang="en-IN" sz="2400">
                    <a:solidFill>
                      <a:srgbClr val="78350F"/>
                    </a:solidFill>
                    <a:latin typeface="Cambria Math" panose="02040503050406030204" pitchFamily="18" charset="0"/>
                  </a:rPr>
                  <a:t>$\left(\frac{7}{2\cos\theta},\frac{7}{2\sin\theta}\right)$</a:t>
                </a:r>
                <a:r>
                  <a:rPr sz="2400" b="0">
                    <a:solidFill>
                      <a:srgbClr val="78350F"/>
                    </a:solidFill>
                    <a:latin typeface="Arial"/>
                  </a:rPr>
                  <a:t>; eliminate </a:t>
                </a:r>
                <a:r>
                  <a:rPr lang="en-IN" sz="2400">
                    <a:solidFill>
                      <a:srgbClr val="78350F"/>
                    </a:solidFill>
                    <a:latin typeface="Cambria Math" panose="02040503050406030204" pitchFamily="18" charset="0"/>
                  </a:rPr>
                  <a:t>$\theta$</a:t>
                </a:r>
                <a:r>
                  <a:rPr sz="2400" b="0">
                    <a:solidFill>
                      <a:srgbClr val="78350F"/>
                    </a:solidFill>
                    <a:latin typeface="Arial"/>
                  </a:rPr>
                  <a:t> with </a:t>
                </a:r>
                <a:r>
                  <a:rPr lang="en-IN" sz="2400">
                    <a:solidFill>
                      <a:srgbClr val="78350F"/>
                    </a:solidFill>
                    <a:latin typeface="Cambria Math" panose="02040503050406030204" pitchFamily="18" charset="0"/>
                  </a:rPr>
                  <a:t>$\cos^2\theta+\sin^2\theta=1$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meets the axes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49</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49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r>
                  <a:rPr lang="en-IN" sz="2400">
                    <a:solidFill>
                      <a:srgbClr val="111827"/>
                    </a:solidFill>
                    <a:latin typeface="Cambria Math" panose="02040503050406030204" pitchFamily="18" charset="0"/>
                  </a:rPr>
                  <a:t>$x\cos\theta+y\sin\theta=7$</a:t>
                </a:r>
                <a:r>
                  <a:rPr sz="2400" b="0">
                    <a:solidFill>
                      <a:srgbClr val="111827"/>
                    </a:solidFill>
                    <a:latin typeface="Arial"/>
                  </a:rPr>
                  <a:t> meets the axes at </a:t>
                </a:r>
                <a:r>
                  <a:rPr lang="en-IN" sz="2400">
                    <a:solidFill>
                      <a:srgbClr val="111827"/>
                    </a:solidFill>
                    <a:latin typeface="Cambria Math" panose="02040503050406030204" pitchFamily="18" charset="0"/>
                  </a:rPr>
                  <a:t>$\left(\frac{7}{\cos\theta},0\right)$</a:t>
                </a:r>
                <a:r>
                  <a:rPr sz="2400" b="0">
                    <a:solidFill>
                      <a:srgbClr val="111827"/>
                    </a:solidFill>
                    <a:latin typeface="Arial"/>
                  </a:rPr>
                  <a:t> and </a:t>
                </a:r>
                <a:r>
                  <a:rPr lang="en-IN" sz="2400">
                    <a:solidFill>
                      <a:srgbClr val="111827"/>
                    </a:solidFill>
                    <a:latin typeface="Cambria Math" panose="02040503050406030204" pitchFamily="18" charset="0"/>
                  </a:rPr>
                  <a:t>$\left(0,\frac{7}{\sin\theta}\right)$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 is </a:t>
                </a:r>
                <a:r>
                  <a:rPr lang="en-IN" sz="2400">
                    <a:solidFill>
                      <a:srgbClr val="111827"/>
                    </a:solidFill>
                    <a:latin typeface="Cambria Math" panose="02040503050406030204" pitchFamily="18" charset="0"/>
                  </a:rPr>
                  <a:t>$(h,k)=\left(\frac{7}{2\cos\theta},\frac{7}{2\sin\theta}\right)$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$\frac{1}{h^2}=\frac{4\cos^2\theta}{49}$</a:t>
                </a:r>
                <a:r>
                  <a:rPr sz="2400" b="0">
                    <a:solidFill>
                      <a:srgbClr val="111827"/>
                    </a:solidFill>
                    <a:latin typeface="Arial"/>
                  </a:rPr>
                  <a:t> and </a:t>
                </a:r>
                <a:r>
                  <a:rPr lang="en-IN" sz="2400">
                    <a:solidFill>
                      <a:srgbClr val="111827"/>
                    </a:solidFill>
                    <a:latin typeface="Cambria Math" panose="02040503050406030204" pitchFamily="18" charset="0"/>
                  </a:rPr>
                  <a:t>$\frac{1}{k^2}=\frac{4\sin^2\theta}{49}$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49</m:t>
                        </m:r>
                      </m:den>
                    </m:f>
                  </m:oMath>
                </a14:m>
                <a:r>
                  <a:rPr sz="2400" b="0">
                    <a:solidFill>
                      <a:srgbClr val="111827"/>
                    </a:solidFill>
                    <a:latin typeface="Arial"/>
                  </a:rPr>
                  <a:t>. Locus: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lies on it: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 mid-point has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$\frac{1}{h^2}+\frac{1}{k^2}=\frac{4}{49}$</a:t>
                </a:r>
                <a:r>
                  <a:rPr sz="2400" b="0">
                    <a:solidFill>
                      <a:srgbClr val="111827"/>
                    </a:solidFill>
                    <a:latin typeface="Arial"/>
                  </a:rPr>
                  <a:t>. Locus: </a:t>
                </a:r>
                <a:r>
                  <a:rPr lang="en-IN" sz="2400">
                    <a:solidFill>
                      <a:srgbClr val="111827"/>
                    </a:solidFill>
                    <a:latin typeface="Cambria Math" panose="02040503050406030204" pitchFamily="18" charset="0"/>
                  </a:rPr>
                  <a:t>$\frac{1}{x^2}+\frac{1}{y^2}=\frac{4}{49}$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r>
                  <a:rPr lang="en-IN" sz="2400">
                    <a:solidFill>
                      <a:srgbClr val="111827"/>
                    </a:solidFill>
                    <a:latin typeface="Cambria Math" panose="02040503050406030204" pitchFamily="18" charset="0"/>
                  </a:rPr>
                  <a:t>$\left(\alpha,\frac{7\sqrt{3}}{3}\right)$</a:t>
                </a:r>
                <a:r>
                  <a:rPr sz="2400" b="0">
                    <a:solidFill>
                      <a:srgbClr val="111827"/>
                    </a:solidFill>
                    <a:latin typeface="Arial"/>
                  </a:rPr>
                  <a:t> lies on it: </a:t>
                </a:r>
                <a:r>
                  <a:rPr lang="en-IN" sz="2400">
                    <a:solidFill>
                      <a:srgbClr val="111827"/>
                    </a:solidFill>
                    <a:latin typeface="Cambria Math" panose="02040503050406030204" pitchFamily="18" charset="0"/>
                  </a:rPr>
                  <a:t>$\frac{1}{\alpha^2}+\frac{3}{49}=\frac{4}{49}$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$\frac{1}{\alpha^2}=\frac{1}{49}\Rightarrow\alpha=\pm7$</a:t>
                </a:r>
                <a:r>
                  <a:rPr sz="2400" b="0">
                    <a:solidFill>
                      <a:srgbClr val="111827"/>
                    </a:solidFill>
                    <a:latin typeface="Arial"/>
                  </a:rPr>
                  <a:t>. Since </a:t>
                </a:r>
                <a:r>
                  <a:rPr lang="en-IN" sz="2400">
                    <a:solidFill>
                      <a:srgbClr val="111827"/>
                    </a:solidFill>
                    <a:latin typeface="Cambria Math" panose="02040503050406030204" pitchFamily="18" charset="0"/>
                  </a:rPr>
                  <a:t>$\theta\in\left(0,\frac{\pi}{2}\right)$</a:t>
                </a:r>
                <a:r>
                  <a:rPr sz="2400" b="0">
                    <a:solidFill>
                      <a:srgbClr val="111827"/>
                    </a:solidFill>
                    <a:latin typeface="Arial"/>
                  </a:rPr>
                  <a:t>, the mid-point has </a:t>
                </a:r>
                <a:r>
                  <a:rPr lang="en-IN" sz="2400">
                    <a:solidFill>
                      <a:srgbClr val="111827"/>
                    </a:solidFill>
                    <a:latin typeface="Cambria Math" panose="02040503050406030204" pitchFamily="18" charset="0"/>
                  </a:rPr>
                  <a:t>$h&gt;0$</a:t>
                </a:r>
                <a:r>
                  <a:rPr sz="2400" b="0">
                    <a:solidFill>
                      <a:srgbClr val="111827"/>
                    </a:solidFill>
                    <a:latin typeface="Arial"/>
                  </a:rPr>
                  <a:t>, so </a:t>
                </a:r>
                <a:r>
                  <a:rPr lang="en-IN" sz="2400">
                    <a:solidFill>
                      <a:srgbClr val="111827"/>
                    </a:solidFill>
                    <a:latin typeface="Cambria Math" panose="02040503050406030204" pitchFamily="18" charset="0"/>
                  </a:rPr>
                  <a:t>$\alpha=7$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 not eliminate </a:t>
                </a:r>
                <a14:m>
                  <m:oMath xmlns:m="http://schemas.openxmlformats.org/officeDocument/2006/math">
                    <m:r>
                      <a:rPr lang="en-IN" sz="2400" i="1">
                        <a:solidFill>
                          <a:srgbClr val="78350F"/>
                        </a:solidFill>
                        <a:latin typeface="Cambria Math" panose="02040503050406030204" pitchFamily="18" charset="0"/>
                      </a:rPr>
                      <m:t>θ</m:t>
                    </m:r>
                  </m:oMath>
                </a14:m>
                <a:r>
                  <a:rPr sz="2400" b="0">
                    <a:solidFill>
                      <a:srgbClr val="78350F"/>
                    </a:solidFill>
                    <a:latin typeface="Arial"/>
                  </a:rPr>
                  <a:t>: read </a:t>
                </a:r>
                <a14:m>
                  <m:oMath xmlns:m="http://schemas.openxmlformats.org/officeDocument/2006/math">
                    <m:r>
                      <a:rPr lang="en-IN" sz="2400" i="1">
                        <a:solidFill>
                          <a:srgbClr val="78350F"/>
                        </a:solidFill>
                        <a:latin typeface="Cambria Math" panose="02040503050406030204" pitchFamily="18" charset="0"/>
                      </a:rPr>
                      <m:t>θ</m:t>
                    </m:r>
                  </m:oMath>
                </a14:m>
                <a:r>
                  <a:rPr sz="2400" b="0">
                    <a:solidFill>
                      <a:srgbClr val="78350F"/>
                    </a:solidFill>
                    <a:latin typeface="Arial"/>
                  </a:rPr>
                  <a:t> off the given ordinate and compute the abscissa.</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 not eliminate </a:t>
                </a:r>
                <a:r>
                  <a:rPr lang="en-IN" sz="2400">
                    <a:solidFill>
                      <a:srgbClr val="78350F"/>
                    </a:solidFill>
                    <a:latin typeface="Cambria Math" panose="02040503050406030204" pitchFamily="18" charset="0"/>
                  </a:rPr>
                  <a:t>$\theta$</a:t>
                </a:r>
                <a:r>
                  <a:rPr sz="2400" b="0">
                    <a:solidFill>
                      <a:srgbClr val="78350F"/>
                    </a:solidFill>
                    <a:latin typeface="Arial"/>
                  </a:rPr>
                  <a:t>: read </a:t>
                </a:r>
                <a:r>
                  <a:rPr lang="en-IN" sz="2400">
                    <a:solidFill>
                      <a:srgbClr val="78350F"/>
                    </a:solidFill>
                    <a:latin typeface="Cambria Math" panose="02040503050406030204" pitchFamily="18" charset="0"/>
                  </a:rPr>
                  <a:t>$\theta$</a:t>
                </a:r>
                <a:r>
                  <a:rPr sz="2400" b="0">
                    <a:solidFill>
                      <a:srgbClr val="78350F"/>
                    </a:solidFill>
                    <a:latin typeface="Arial"/>
                  </a:rPr>
                  <a:t> off the given ordinate and compute the abscissa.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point on the locus, the ordinate is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with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point on the locus, the ordinate is </a:t>
                </a:r>
                <a:r>
                  <a:rPr lang="en-IN" sz="2400">
                    <a:solidFill>
                      <a:srgbClr val="111827"/>
                    </a:solidFill>
                    <a:latin typeface="Cambria Math" panose="02040503050406030204" pitchFamily="18" charset="0"/>
                  </a:rPr>
                  <a:t>$k=\frac{7}{2\sin\theta}=\frac{7\sqrt{3}}{3}$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$\sin\theta=\frac{7\cdot3}{2\cdot7\sqrt{3}}=\frac{\sqrt{3}}{2}$</a:t>
                </a:r>
                <a:r>
                  <a:rPr sz="2400" b="0">
                    <a:solidFill>
                      <a:srgbClr val="111827"/>
                    </a:solidFill>
                    <a:latin typeface="Arial"/>
                  </a:rPr>
                  <a:t>, and with </a:t>
                </a:r>
                <a:r>
                  <a:rPr lang="en-IN" sz="2400">
                    <a:solidFill>
                      <a:srgbClr val="111827"/>
                    </a:solidFill>
                    <a:latin typeface="Cambria Math" panose="02040503050406030204" pitchFamily="18" charset="0"/>
                  </a:rPr>
                  <a:t>$\theta\in\left(0,\frac{\pi}{2}\right)$</a:t>
                </a:r>
                <a:r>
                  <a:rPr sz="2400" b="0">
                    <a:solidFill>
                      <a:srgbClr val="111827"/>
                    </a:solidFill>
                    <a:latin typeface="Arial"/>
                  </a:rPr>
                  <a:t> we get </a:t>
                </a:r>
                <a:r>
                  <a:rPr lang="en-IN" sz="2400">
                    <a:solidFill>
                      <a:srgbClr val="111827"/>
                    </a:solidFill>
                    <a:latin typeface="Cambria Math" panose="02040503050406030204" pitchFamily="18" charset="0"/>
                  </a:rPr>
                  <a:t>$\theta=\frac{\pi}{3}$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$\alpha=h=\frac{7}{2\cos\frac{\pi}{3}}=\frac{7}{2\cdot\frac{1}{2}}=7$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mid-point of the part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between the axes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e>
                    </m:d>
                  </m:oMath>
                </a14:m>
                <a:r>
                  <a:rPr sz="2400" b="0">
                    <a:solidFill>
                      <a:srgbClr val="111827"/>
                    </a:solidFill>
                    <a:latin typeface="Arial"/>
                  </a:rPr>
                  <a:t>, and its locus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form: the locus of the mid-point of a segment of the line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fixed perpendicular distance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from the origin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parameter given by one coordinate can often be recovered directly, avoiding elimination.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mid-point of the part of </a:t>
                </a:r>
                <a:r>
                  <a:rPr lang="en-IN" sz="2400">
                    <a:solidFill>
                      <a:srgbClr val="111827"/>
                    </a:solidFill>
                    <a:latin typeface="Cambria Math" panose="02040503050406030204" pitchFamily="18" charset="0"/>
                  </a:rPr>
                  <a:t>$x\cos\theta+y\sin\theta=p$</a:t>
                </a:r>
                <a:r>
                  <a:rPr sz="2400" b="0">
                    <a:solidFill>
                      <a:srgbClr val="111827"/>
                    </a:solidFill>
                    <a:latin typeface="Arial"/>
                  </a:rPr>
                  <a:t> between the axes is </a:t>
                </a:r>
                <a:r>
                  <a:rPr lang="en-IN" sz="2400">
                    <a:solidFill>
                      <a:srgbClr val="111827"/>
                    </a:solidFill>
                    <a:latin typeface="Cambria Math" panose="02040503050406030204" pitchFamily="18" charset="0"/>
                  </a:rPr>
                  <a:t>$\left(\frac{p}{2\cos\theta},\frac{p}{2\sin\theta}\right)$</a:t>
                </a:r>
                <a:r>
                  <a:rPr sz="2400" b="0">
                    <a:solidFill>
                      <a:srgbClr val="111827"/>
                    </a:solidFill>
                    <a:latin typeface="Arial"/>
                  </a:rPr>
                  <a:t>, and its locus is </a:t>
                </a:r>
                <a:r>
                  <a:rPr lang="en-IN" sz="2400">
                    <a:solidFill>
                      <a:srgbClr val="111827"/>
                    </a:solidFill>
                    <a:latin typeface="Cambria Math" panose="02040503050406030204" pitchFamily="18" charset="0"/>
                  </a:rPr>
                  <a:t>$\frac{1}{x^2}+\frac{1}{y^2}=\frac{4}{p^2}$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form: the locus of the mid-point of a segment of the line </a:t>
                </a:r>
                <a:r>
                  <a:rPr lang="en-IN" sz="2400">
                    <a:solidFill>
                      <a:srgbClr val="111827"/>
                    </a:solidFill>
                    <a:latin typeface="Cambria Math" panose="02040503050406030204" pitchFamily="18" charset="0"/>
                  </a:rPr>
                  <a:t>$\frac{x}{a}+\frac{y}{b}=1$</a:t>
                </a:r>
                <a:r>
                  <a:rPr sz="2400" b="0">
                    <a:solidFill>
                      <a:srgbClr val="111827"/>
                    </a:solidFill>
                    <a:latin typeface="Arial"/>
                  </a:rPr>
                  <a:t> with fixed perpendicular distance </a:t>
                </a:r>
                <a:r>
                  <a:rPr lang="en-IN" sz="2400">
                    <a:solidFill>
                      <a:srgbClr val="111827"/>
                    </a:solidFill>
                    <a:latin typeface="Cambria Math" panose="02040503050406030204" pitchFamily="18" charset="0"/>
                  </a:rPr>
                  <a:t>$p$</a:t>
                </a:r>
                <a:r>
                  <a:rPr sz="2400" b="0">
                    <a:solidFill>
                      <a:srgbClr val="111827"/>
                    </a:solidFill>
                    <a:latin typeface="Arial"/>
                  </a:rPr>
                  <a:t> from the origin is </a:t>
                </a:r>
                <a:r>
                  <a:rPr lang="en-IN" sz="2400">
                    <a:solidFill>
                      <a:srgbClr val="111827"/>
                    </a:solidFill>
                    <a:latin typeface="Cambria Math" panose="02040503050406030204" pitchFamily="18" charset="0"/>
                  </a:rPr>
                  <a:t>$\frac{1}{x^2}+\frac{1}{y^2}=\frac{4}{p^2}$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parameter given by one coordinate can often be recovered directly, avoiding elimination.</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centroid of the triangle formed by the lines </a:t>
                </a:r>
                <a14:m>
                  <m:oMath xmlns:m="http://schemas.openxmlformats.org/officeDocument/2006/math">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are the roots of the equation: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$(\alpha,\beta)$</a:t>
                </a:r>
                <a:r>
                  <a:rPr sz="2400" b="0">
                    <a:solidFill>
                      <a:srgbClr val="111827"/>
                    </a:solidFill>
                    <a:latin typeface="Arial"/>
                  </a:rPr>
                  <a:t> be the centroid of the triangle formed by the lines </a:t>
                </a:r>
                <a:r>
                  <a:rPr lang="en-IN" sz="2400">
                    <a:solidFill>
                      <a:srgbClr val="111827"/>
                    </a:solidFill>
                    <a:latin typeface="Cambria Math" panose="02040503050406030204" pitchFamily="18" charset="0"/>
                  </a:rPr>
                  <a:t>$15x-y=82$</a:t>
                </a:r>
                <a:r>
                  <a:rPr sz="2400" b="0">
                    <a:solidFill>
                      <a:srgbClr val="111827"/>
                    </a:solidFill>
                    <a:latin typeface="Arial"/>
                  </a:rPr>
                  <a:t>, </a:t>
                </a:r>
                <a:r>
                  <a:rPr lang="en-IN" sz="2400">
                    <a:solidFill>
                      <a:srgbClr val="111827"/>
                    </a:solidFill>
                    <a:latin typeface="Cambria Math" panose="02040503050406030204" pitchFamily="18" charset="0"/>
                  </a:rPr>
                  <a:t>$6x-5y=-4$</a:t>
                </a:r>
                <a:r>
                  <a:rPr sz="2400" b="0">
                    <a:solidFill>
                      <a:srgbClr val="111827"/>
                    </a:solidFill>
                    <a:latin typeface="Arial"/>
                  </a:rPr>
                  <a:t> and </a:t>
                </a:r>
                <a:r>
                  <a:rPr lang="en-IN" sz="2400">
                    <a:solidFill>
                      <a:srgbClr val="111827"/>
                    </a:solidFill>
                    <a:latin typeface="Cambria Math" panose="02040503050406030204" pitchFamily="18" charset="0"/>
                  </a:rPr>
                  <a:t>$9x+4y=17$</a:t>
                </a:r>
                <a:r>
                  <a:rPr sz="2400" b="0">
                    <a:solidFill>
                      <a:srgbClr val="111827"/>
                    </a:solidFill>
                    <a:latin typeface="Arial"/>
                  </a:rPr>
                  <a:t>. Then </a:t>
                </a:r>
                <a:r>
                  <a:rPr lang="en-IN" sz="2400">
                    <a:solidFill>
                      <a:srgbClr val="111827"/>
                    </a:solidFill>
                    <a:latin typeface="Cambria Math" panose="02040503050406030204" pitchFamily="18" charset="0"/>
                  </a:rPr>
                  <a:t>$\alpha+2\beta$</a:t>
                </a:r>
                <a:r>
                  <a:rPr sz="2400" b="0">
                    <a:solidFill>
                      <a:srgbClr val="111827"/>
                    </a:solidFill>
                    <a:latin typeface="Arial"/>
                  </a:rPr>
                  <a:t> and </a:t>
                </a:r>
                <a:r>
                  <a:rPr lang="en-IN" sz="2400">
                    <a:solidFill>
                      <a:srgbClr val="111827"/>
                    </a:solidFill>
                    <a:latin typeface="Cambria Math" panose="02040503050406030204" pitchFamily="18" charset="0"/>
                  </a:rPr>
                  <a:t>$2\alpha-\beta$</a:t>
                </a:r>
                <a:r>
                  <a:rPr sz="2400" b="0">
                    <a:solidFill>
                      <a:srgbClr val="111827"/>
                    </a:solidFill>
                    <a:latin typeface="Arial"/>
                  </a:rPr>
                  <a:t> are the roots of the equation: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$x^2-7x+12=0$</a:t>
                </a:r>
                <a:r>
                  <a:rPr sz="2400" b="0">
                    <a:solidFill>
                      <a:srgbClr val="111827"/>
                    </a:solidFill>
                    <a:latin typeface="Arial"/>
                  </a:rPr>
                  <a:t>   (B) </a:t>
                </a:r>
                <a:r>
                  <a:rPr lang="en-IN" sz="2400">
                    <a:solidFill>
                      <a:srgbClr val="111827"/>
                    </a:solidFill>
                    <a:latin typeface="Cambria Math" panose="02040503050406030204" pitchFamily="18" charset="0"/>
                  </a:rPr>
                  <a:t>$x^2-13x+42=0$</a:t>
                </a:r>
                <a:r>
                  <a:rPr sz="2400" b="0">
                    <a:solidFill>
                      <a:srgbClr val="111827"/>
                    </a:solidFill>
                    <a:latin typeface="Arial"/>
                  </a:rPr>
                  <a:t>   (C) </a:t>
                </a:r>
                <a:r>
                  <a:rPr lang="en-IN" sz="2400">
                    <a:solidFill>
                      <a:srgbClr val="111827"/>
                    </a:solidFill>
                    <a:latin typeface="Cambria Math" panose="02040503050406030204" pitchFamily="18" charset="0"/>
                  </a:rPr>
                  <a:t>$x^2-10x+25=0$</a:t>
                </a:r>
                <a:r>
                  <a:rPr sz="2400" b="0">
                    <a:solidFill>
                      <a:srgbClr val="111827"/>
                    </a:solidFill>
                    <a:latin typeface="Arial"/>
                  </a:rPr>
                  <a:t>   (D) </a:t>
                </a:r>
                <a:r>
                  <a:rPr lang="en-IN" sz="2400">
                    <a:solidFill>
                      <a:srgbClr val="111827"/>
                    </a:solidFill>
                    <a:latin typeface="Cambria Math" panose="02040503050406030204" pitchFamily="18" charset="0"/>
                  </a:rPr>
                  <a:t>$x^2-14x+48=0$</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Centroid of the triangle formed by three lines, Quadratic equation from its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three vertices by pairwise intersection, average them, then form the quadratic.</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meet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meet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meet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$6x-5y=-4$</a:t>
                </a:r>
                <a:r>
                  <a:rPr sz="2400" b="0">
                    <a:solidFill>
                      <a:srgbClr val="111827"/>
                    </a:solidFill>
                    <a:latin typeface="Arial"/>
                  </a:rPr>
                  <a:t> and </a:t>
                </a:r>
                <a:r>
                  <a:rPr lang="en-IN" sz="2400">
                    <a:solidFill>
                      <a:srgbClr val="111827"/>
                    </a:solidFill>
                    <a:latin typeface="Cambria Math" panose="02040503050406030204" pitchFamily="18" charset="0"/>
                  </a:rPr>
                  <a:t>$9x+4y=17$</a:t>
                </a:r>
                <a:r>
                  <a:rPr sz="2400" b="0">
                    <a:solidFill>
                      <a:srgbClr val="111827"/>
                    </a:solidFill>
                    <a:latin typeface="Arial"/>
                  </a:rPr>
                  <a:t> meet at </a:t>
                </a:r>
                <a:r>
                  <a:rPr lang="en-IN" sz="2400">
                    <a:solidFill>
                      <a:srgbClr val="111827"/>
                    </a:solidFill>
                    <a:latin typeface="Cambria Math" panose="02040503050406030204" pitchFamily="18" charset="0"/>
                  </a:rPr>
                  <a:t>$A(1,2)$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$15x-y=82$</a:t>
                </a:r>
                <a:r>
                  <a:rPr sz="2400" b="0">
                    <a:solidFill>
                      <a:srgbClr val="111827"/>
                    </a:solidFill>
                    <a:latin typeface="Arial"/>
                  </a:rPr>
                  <a:t> and </a:t>
                </a:r>
                <a:r>
                  <a:rPr lang="en-IN" sz="2400">
                    <a:solidFill>
                      <a:srgbClr val="111827"/>
                    </a:solidFill>
                    <a:latin typeface="Cambria Math" panose="02040503050406030204" pitchFamily="18" charset="0"/>
                  </a:rPr>
                  <a:t>$9x+4y=17$</a:t>
                </a:r>
                <a:r>
                  <a:rPr sz="2400" b="0">
                    <a:solidFill>
                      <a:srgbClr val="111827"/>
                    </a:solidFill>
                    <a:latin typeface="Arial"/>
                  </a:rPr>
                  <a:t> meet at </a:t>
                </a:r>
                <a:r>
                  <a:rPr lang="en-IN" sz="2400">
                    <a:solidFill>
                      <a:srgbClr val="111827"/>
                    </a:solidFill>
                    <a:latin typeface="Cambria Math" panose="02040503050406030204" pitchFamily="18" charset="0"/>
                  </a:rPr>
                  <a:t>$B(5,-7)$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$15x-y=82$</a:t>
                </a:r>
                <a:r>
                  <a:rPr sz="2400" b="0">
                    <a:solidFill>
                      <a:srgbClr val="111827"/>
                    </a:solidFill>
                    <a:latin typeface="Arial"/>
                  </a:rPr>
                  <a:t> and </a:t>
                </a:r>
                <a:r>
                  <a:rPr lang="en-IN" sz="2400">
                    <a:solidFill>
                      <a:srgbClr val="111827"/>
                    </a:solidFill>
                    <a:latin typeface="Cambria Math" panose="02040503050406030204" pitchFamily="18" charset="0"/>
                  </a:rPr>
                  <a:t>$6x-5y=-4$</a:t>
                </a:r>
                <a:r>
                  <a:rPr sz="2400" b="0">
                    <a:solidFill>
                      <a:srgbClr val="111827"/>
                    </a:solidFill>
                    <a:latin typeface="Arial"/>
                  </a:rPr>
                  <a:t> meet at </a:t>
                </a:r>
                <a:r>
                  <a:rPr lang="en-IN" sz="2400">
                    <a:solidFill>
                      <a:srgbClr val="111827"/>
                    </a:solidFill>
                    <a:latin typeface="Cambria Math" panose="02040503050406030204" pitchFamily="18" charset="0"/>
                  </a:rPr>
                  <a:t>$C(6,8)$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centroid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so the equation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centroid is </a:t>
                </a:r>
                <a:r>
                  <a:rPr lang="en-IN" sz="2400">
                    <a:solidFill>
                      <a:srgbClr val="111827"/>
                    </a:solidFill>
                    <a:latin typeface="Cambria Math" panose="02040503050406030204" pitchFamily="18" charset="0"/>
                  </a:rPr>
                  <a:t>$(\alpha,\beta)=\left(\frac{1+5+6}{3},\frac{2-7+8}{3}\right)=(4,1)$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$\alpha+2\beta=6$</a:t>
                </a:r>
                <a:r>
                  <a:rPr sz="2400" b="0">
                    <a:solidFill>
                      <a:srgbClr val="111827"/>
                    </a:solidFill>
                    <a:latin typeface="Arial"/>
                  </a:rPr>
                  <a:t> and </a:t>
                </a:r>
                <a:r>
                  <a:rPr lang="en-IN" sz="2400">
                    <a:solidFill>
                      <a:srgbClr val="111827"/>
                    </a:solidFill>
                    <a:latin typeface="Cambria Math" panose="02040503050406030204" pitchFamily="18" charset="0"/>
                  </a:rPr>
                  <a:t>$2\alpha-\beta=7$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r>
                  <a:rPr lang="en-IN" sz="2400">
                    <a:solidFill>
                      <a:srgbClr val="111827"/>
                    </a:solidFill>
                    <a:latin typeface="Cambria Math" panose="02040503050406030204" pitchFamily="18" charset="0"/>
                  </a:rPr>
                  <a:t>$=13$</a:t>
                </a:r>
                <a:r>
                  <a:rPr sz="2400" b="0">
                    <a:solidFill>
                      <a:srgbClr val="111827"/>
                    </a:solidFill>
                    <a:latin typeface="Arial"/>
                  </a:rPr>
                  <a:t>, product </a:t>
                </a:r>
                <a:r>
                  <a:rPr lang="en-IN" sz="2400">
                    <a:solidFill>
                      <a:srgbClr val="111827"/>
                    </a:solidFill>
                    <a:latin typeface="Cambria Math" panose="02040503050406030204" pitchFamily="18" charset="0"/>
                  </a:rPr>
                  <a:t>$=42$</a:t>
                </a:r>
                <a:r>
                  <a:rPr sz="2400" b="0">
                    <a:solidFill>
                      <a:srgbClr val="111827"/>
                    </a:solidFill>
                    <a:latin typeface="Arial"/>
                  </a:rPr>
                  <a:t>, so the equation is </a:t>
                </a:r>
                <a:r>
                  <a:rPr lang="en-IN" sz="2400">
                    <a:solidFill>
                      <a:srgbClr val="111827"/>
                    </a:solidFill>
                    <a:latin typeface="Cambria Math" panose="02040503050406030204" pitchFamily="18" charset="0"/>
                  </a:rPr>
                  <a:t>$x^2-13x+42=0$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13</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42</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$x^2-13x+42=0$</a:t>
                </a:r>
                <a:endParaRPr sz="2800">
                  <a:solidFill>
                    <a:srgbClr val="15803D"/>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Centroid of the triangle formed by three lines = average of its three pairwise intersection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of a computed vertex: it must satisfy both lines that meet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roots are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equation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here the options differ in sum and product, so even the sum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alone selects (B).</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Centroid of the triangle formed by three lines = average of its three pairwise intersection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of a computed vertex: it must satisfy both lines that meet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roots are </a:t>
                </a:r>
                <a:r>
                  <a:rPr lang="en-IN" sz="2400">
                    <a:solidFill>
                      <a:srgbClr val="111827"/>
                    </a:solidFill>
                    <a:latin typeface="Cambria Math" panose="02040503050406030204" pitchFamily="18" charset="0"/>
                  </a:rPr>
                  <a:t>$r_1,r_2$</a:t>
                </a:r>
                <a:r>
                  <a:rPr sz="2400" b="0">
                    <a:solidFill>
                      <a:srgbClr val="111827"/>
                    </a:solidFill>
                    <a:latin typeface="Arial"/>
                  </a:rPr>
                  <a:t> the equation is </a:t>
                </a:r>
                <a:r>
                  <a:rPr lang="en-IN" sz="2400">
                    <a:solidFill>
                      <a:srgbClr val="111827"/>
                    </a:solidFill>
                    <a:latin typeface="Cambria Math" panose="02040503050406030204" pitchFamily="18" charset="0"/>
                  </a:rPr>
                  <a:t>$x^2-(r_1+r_2)x+r_1r_2=0$</a:t>
                </a:r>
                <a:r>
                  <a:rPr sz="2400" b="0">
                    <a:solidFill>
                      <a:srgbClr val="111827"/>
                    </a:solidFill>
                    <a:latin typeface="Arial"/>
                  </a:rPr>
                  <a:t>; here the options differ in sum and product, so even the sum </a:t>
                </a:r>
                <a:r>
                  <a:rPr lang="en-IN" sz="2400">
                    <a:solidFill>
                      <a:srgbClr val="111827"/>
                    </a:solidFill>
                    <a:latin typeface="Cambria Math" panose="02040503050406030204" pitchFamily="18" charset="0"/>
                  </a:rPr>
                  <a:t>$13$</a:t>
                </a:r>
                <a:r>
                  <a:rPr sz="2400" b="0">
                    <a:solidFill>
                      <a:srgbClr val="111827"/>
                    </a:solidFill>
                    <a:latin typeface="Arial"/>
                  </a:rPr>
                  <a:t> alone selects (B).</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orthocenter of the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with vertices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25</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$(\alpha,\beta)$</a:t>
                </a:r>
                <a:r>
                  <a:rPr sz="2400" b="0">
                    <a:solidFill>
                      <a:srgbClr val="111827"/>
                    </a:solidFill>
                    <a:latin typeface="Arial"/>
                  </a:rPr>
                  <a:t> is the orthocenter of the triangle </a:t>
                </a:r>
                <a:r>
                  <a:rPr lang="en-IN" sz="2400">
                    <a:solidFill>
                      <a:srgbClr val="111827"/>
                    </a:solidFill>
                    <a:latin typeface="Cambria Math" panose="02040503050406030204" pitchFamily="18" charset="0"/>
                  </a:rPr>
                  <a:t>$ABC$</a:t>
                </a:r>
                <a:r>
                  <a:rPr sz="2400" b="0">
                    <a:solidFill>
                      <a:srgbClr val="111827"/>
                    </a:solidFill>
                    <a:latin typeface="Arial"/>
                  </a:rPr>
                  <a:t> with vertices </a:t>
                </a:r>
                <a:r>
                  <a:rPr lang="en-IN" sz="2400">
                    <a:solidFill>
                      <a:srgbClr val="111827"/>
                    </a:solidFill>
                    <a:latin typeface="Cambria Math" panose="02040503050406030204" pitchFamily="18" charset="0"/>
                  </a:rPr>
                  <a:t>$A(3,-7)$</a:t>
                </a:r>
                <a:r>
                  <a:rPr sz="2400" b="0">
                    <a:solidFill>
                      <a:srgbClr val="111827"/>
                    </a:solidFill>
                    <a:latin typeface="Arial"/>
                  </a:rPr>
                  <a:t>, </a:t>
                </a:r>
                <a:r>
                  <a:rPr lang="en-IN" sz="2400">
                    <a:solidFill>
                      <a:srgbClr val="111827"/>
                    </a:solidFill>
                    <a:latin typeface="Cambria Math" panose="02040503050406030204" pitchFamily="18" charset="0"/>
                  </a:rPr>
                  <a:t>$B(-1,2)$</a:t>
                </a:r>
                <a:r>
                  <a:rPr sz="2400" b="0">
                    <a:solidFill>
                      <a:srgbClr val="111827"/>
                    </a:solidFill>
                    <a:latin typeface="Arial"/>
                  </a:rPr>
                  <a:t> and </a:t>
                </a:r>
                <a:r>
                  <a:rPr lang="en-IN" sz="2400">
                    <a:solidFill>
                      <a:srgbClr val="111827"/>
                    </a:solidFill>
                    <a:latin typeface="Cambria Math" panose="02040503050406030204" pitchFamily="18" charset="0"/>
                  </a:rPr>
                  <a:t>$C(4,5)$</a:t>
                </a:r>
                <a:r>
                  <a:rPr sz="2400" b="0">
                    <a:solidFill>
                      <a:srgbClr val="111827"/>
                    </a:solidFill>
                    <a:latin typeface="Arial"/>
                  </a:rPr>
                  <a:t>, then </a:t>
                </a:r>
                <a:r>
                  <a:rPr lang="en-IN" sz="2400">
                    <a:solidFill>
                      <a:srgbClr val="111827"/>
                    </a:solidFill>
                    <a:latin typeface="Cambria Math" panose="02040503050406030204" pitchFamily="18" charset="0"/>
                  </a:rPr>
                  <a:t>$9\alpha-6\beta+60$</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$30$</a:t>
                </a:r>
                <a:r>
                  <a:rPr sz="2400" b="0">
                    <a:solidFill>
                      <a:srgbClr val="111827"/>
                    </a:solidFill>
                    <a:latin typeface="Arial"/>
                  </a:rPr>
                  <a:t>   (B) </a:t>
                </a:r>
                <a:r>
                  <a:rPr lang="en-IN" sz="2400">
                    <a:solidFill>
                      <a:srgbClr val="111827"/>
                    </a:solidFill>
                    <a:latin typeface="Cambria Math" panose="02040503050406030204" pitchFamily="18" charset="0"/>
                  </a:rPr>
                  <a:t>$35$</a:t>
                </a:r>
                <a:r>
                  <a:rPr sz="2400" b="0">
                    <a:solidFill>
                      <a:srgbClr val="111827"/>
                    </a:solidFill>
                    <a:latin typeface="Arial"/>
                  </a:rPr>
                  <a:t>   (C) </a:t>
                </a:r>
                <a:r>
                  <a:rPr lang="en-IN" sz="2400">
                    <a:solidFill>
                      <a:srgbClr val="111827"/>
                    </a:solidFill>
                    <a:latin typeface="Cambria Math" panose="02040503050406030204" pitchFamily="18" charset="0"/>
                  </a:rPr>
                  <a:t>$40$</a:t>
                </a:r>
                <a:r>
                  <a:rPr sz="2400" b="0">
                    <a:solidFill>
                      <a:srgbClr val="111827"/>
                    </a:solidFill>
                    <a:latin typeface="Arial"/>
                  </a:rPr>
                  <a:t>   (D) </a:t>
                </a:r>
                <a:r>
                  <a:rPr lang="en-IN" sz="2400">
                    <a:solidFill>
                      <a:srgbClr val="111827"/>
                    </a:solidFill>
                    <a:latin typeface="Cambria Math" panose="02040503050406030204" pitchFamily="18" charset="0"/>
                  </a:rPr>
                  <a:t>$25$</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Intersect two altitudes: each is perpendicular to a side through the opposite vertex.</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the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the altitude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$BC=\frac{5-2}{4+1}=\frac{3}{5}$</a:t>
                </a:r>
                <a:r>
                  <a:rPr sz="2400" b="0">
                    <a:solidFill>
                      <a:srgbClr val="111827"/>
                    </a:solidFill>
                    <a:latin typeface="Arial"/>
                  </a:rPr>
                  <a:t>, so the altitude from </a:t>
                </a:r>
                <a:r>
                  <a:rPr lang="en-IN" sz="2400">
                    <a:solidFill>
                      <a:srgbClr val="111827"/>
                    </a:solidFill>
                    <a:latin typeface="Cambria Math" panose="02040503050406030204" pitchFamily="18" charset="0"/>
                  </a:rPr>
                  <a:t>$A$</a:t>
                </a:r>
                <a:r>
                  <a:rPr sz="2400" b="0">
                    <a:solidFill>
                      <a:srgbClr val="111827"/>
                    </a:solidFill>
                    <a:latin typeface="Arial"/>
                  </a:rPr>
                  <a:t> has slope </a:t>
                </a:r>
                <a:r>
                  <a:rPr lang="en-IN" sz="2400">
                    <a:solidFill>
                      <a:srgbClr val="111827"/>
                    </a:solidFill>
                    <a:latin typeface="Cambria Math" panose="02040503050406030204" pitchFamily="18" charset="0"/>
                  </a:rPr>
                  <a:t>$-\frac{5}{3}$</a:t>
                </a:r>
                <a:r>
                  <a:rPr sz="2400" b="0">
                    <a:solidFill>
                      <a:srgbClr val="111827"/>
                    </a:solidFill>
                    <a:latin typeface="Arial"/>
                  </a:rPr>
                  <a:t>: </a:t>
                </a:r>
                <a:r>
                  <a:rPr lang="en-IN" sz="2400">
                    <a:solidFill>
                      <a:srgbClr val="111827"/>
                    </a:solidFill>
                    <a:latin typeface="Cambria Math" panose="02040503050406030204" pitchFamily="18" charset="0"/>
                  </a:rPr>
                  <a:t>$y+7=-\frac{5}{3}(x-3)$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r>
                  <a:rPr lang="en-IN" sz="2400">
                    <a:solidFill>
                      <a:srgbClr val="111827"/>
                    </a:solidFill>
                    <a:latin typeface="Cambria Math" panose="02040503050406030204" pitchFamily="18" charset="0"/>
                  </a:rPr>
                  <a:t>$3y+21=-5x+15$</a:t>
                </a:r>
                <a:r>
                  <a:rPr sz="2400" b="0">
                    <a:solidFill>
                      <a:srgbClr val="111827"/>
                    </a:solidFill>
                    <a:latin typeface="Arial"/>
                  </a:rPr>
                  <a:t>, i.e. </a:t>
                </a:r>
                <a:r>
                  <a:rPr lang="en-IN" sz="2400">
                    <a:solidFill>
                      <a:srgbClr val="111827"/>
                    </a:solidFill>
                    <a:latin typeface="Cambria Math" panose="02040503050406030204" pitchFamily="18" charset="0"/>
                  </a:rPr>
                  <a:t>$5x+3y+6=0$</a:t>
                </a:r>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$AC=\frac{5+7}{4-3}=12$</a:t>
                </a:r>
                <a:r>
                  <a:rPr sz="2400" b="0">
                    <a:solidFill>
                      <a:srgbClr val="111827"/>
                    </a:solidFill>
                    <a:latin typeface="Arial"/>
                  </a:rPr>
                  <a:t>, so the altitude from </a:t>
                </a:r>
                <a:r>
                  <a:rPr lang="en-IN" sz="2400">
                    <a:solidFill>
                      <a:srgbClr val="111827"/>
                    </a:solidFill>
                    <a:latin typeface="Cambria Math" panose="02040503050406030204" pitchFamily="18" charset="0"/>
                  </a:rPr>
                  <a:t>$B$</a:t>
                </a:r>
                <a:r>
                  <a:rPr sz="2400" b="0">
                    <a:solidFill>
                      <a:srgbClr val="111827"/>
                    </a:solidFill>
                    <a:latin typeface="Arial"/>
                  </a:rPr>
                  <a:t> has slope </a:t>
                </a:r>
                <a:r>
                  <a:rPr lang="en-IN" sz="2400">
                    <a:solidFill>
                      <a:srgbClr val="111827"/>
                    </a:solidFill>
                    <a:latin typeface="Cambria Math" panose="02040503050406030204" pitchFamily="18" charset="0"/>
                  </a:rPr>
                  <a:t>$-\frac{1}{12}$</a:t>
                </a:r>
                <a:r>
                  <a:rPr sz="2400" b="0">
                    <a:solidFill>
                      <a:srgbClr val="111827"/>
                    </a:solidFill>
                    <a:latin typeface="Arial"/>
                  </a:rPr>
                  <a:t>: </a:t>
                </a:r>
                <a:r>
                  <a:rPr lang="en-IN" sz="2400">
                    <a:solidFill>
                      <a:srgbClr val="111827"/>
                    </a:solidFill>
                    <a:latin typeface="Cambria Math" panose="02040503050406030204" pitchFamily="18" charset="0"/>
                  </a:rPr>
                  <a:t>$y-2=-\frac{1}{12}(x+1)$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That is </a:t>
                </a:r>
                <a14:m>
                  <m:oMath xmlns:m="http://schemas.openxmlformats.org/officeDocument/2006/math">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(i) and (ii):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num>
                          <m:den>
                            <m:r>
                              <a:rPr lang="en-IN" sz="2400" i="1">
                                <a:solidFill>
                                  <a:srgbClr val="111827"/>
                                </a:solidFill>
                                <a:latin typeface="Cambria Math" panose="02040503050406030204" pitchFamily="18" charset="0"/>
                              </a:rPr>
                              <m:t>57</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423</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242</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That is </a:t>
                </a:r>
                <a:r>
                  <a:rPr lang="en-IN" sz="2400">
                    <a:solidFill>
                      <a:srgbClr val="111827"/>
                    </a:solidFill>
                    <a:latin typeface="Cambria Math" panose="02040503050406030204" pitchFamily="18" charset="0"/>
                  </a:rPr>
                  <a:t>$12y-24=-x-1$</a:t>
                </a:r>
                <a:r>
                  <a:rPr sz="2400" b="0">
                    <a:solidFill>
                      <a:srgbClr val="111827"/>
                    </a:solidFill>
                    <a:latin typeface="Arial"/>
                  </a:rPr>
                  <a:t>, i.e. </a:t>
                </a:r>
                <a:r>
                  <a:rPr lang="en-IN" sz="2400">
                    <a:solidFill>
                      <a:srgbClr val="111827"/>
                    </a:solidFill>
                    <a:latin typeface="Cambria Math" panose="02040503050406030204" pitchFamily="18" charset="0"/>
                  </a:rPr>
                  <a:t>$x+12y=23$</a:t>
                </a:r>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(i) and (ii): </a:t>
                </a:r>
                <a:r>
                  <a:rPr lang="en-IN" sz="2400">
                    <a:solidFill>
                      <a:srgbClr val="111827"/>
                    </a:solidFill>
                    <a:latin typeface="Cambria Math" panose="02040503050406030204" pitchFamily="18" charset="0"/>
                  </a:rPr>
                  <a:t>$(\alpha,\beta)=\left(-\frac{47}{19},\frac{121}{57}\right)$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$9\alpha-6\beta+60=-\frac{423}{19}-\frac{242}{19}+60=-35+60=25$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25</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$25$</a:t>
                </a:r>
                <a:endParaRPr sz="2800">
                  <a:solidFill>
                    <a:srgbClr val="15803D"/>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the circumcentre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first and use the Euler relation </a:t>
                </a:r>
                <a14:m>
                  <m:oMath xmlns:m="http://schemas.openxmlformats.org/officeDocument/2006/math">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𝑂</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the circumcentre </a:t>
                </a:r>
                <a:r>
                  <a:rPr lang="en-IN" sz="2400">
                    <a:solidFill>
                      <a:srgbClr val="78350F"/>
                    </a:solidFill>
                    <a:latin typeface="Cambria Math" panose="02040503050406030204" pitchFamily="18" charset="0"/>
                  </a:rPr>
                  <a:t>$O$</a:t>
                </a:r>
                <a:r>
                  <a:rPr sz="2400" b="0">
                    <a:solidFill>
                      <a:srgbClr val="78350F"/>
                    </a:solidFill>
                    <a:latin typeface="Arial"/>
                  </a:rPr>
                  <a:t> first and use the Euler relation </a:t>
                </a:r>
                <a:r>
                  <a:rPr lang="en-IN" sz="2400">
                    <a:solidFill>
                      <a:srgbClr val="78350F"/>
                    </a:solidFill>
                    <a:latin typeface="Cambria Math" panose="02040503050406030204" pitchFamily="18" charset="0"/>
                  </a:rPr>
                  <a:t>$H=A+B+C-2O$</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Circumcentre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161</m:t>
                        </m:r>
                      </m:num>
                      <m:den>
                        <m:r>
                          <a:rPr lang="en-IN" sz="2400" i="1">
                            <a:solidFill>
                              <a:srgbClr val="111827"/>
                            </a:solidFill>
                            <a:latin typeface="Cambria Math" panose="02040503050406030204" pitchFamily="18" charset="0"/>
                          </a:rPr>
                          <m:t>38</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num>
                      <m:den>
                        <m:r>
                          <a:rPr lang="en-IN" sz="2400" i="1">
                            <a:solidFill>
                              <a:srgbClr val="111827"/>
                            </a:solidFill>
                            <a:latin typeface="Cambria Math" panose="02040503050406030204" pitchFamily="18" charset="0"/>
                          </a:rPr>
                          <m:t>114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161</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num>
                          <m:den>
                            <m:r>
                              <a:rPr lang="en-IN" sz="2400" i="1">
                                <a:solidFill>
                                  <a:srgbClr val="111827"/>
                                </a:solidFill>
                                <a:latin typeface="Cambria Math" panose="02040503050406030204" pitchFamily="18" charset="0"/>
                              </a:rPr>
                              <m:t>57</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num>
                          <m:den>
                            <m:r>
                              <a:rPr lang="en-IN" sz="2400" i="1">
                                <a:solidFill>
                                  <a:srgbClr val="111827"/>
                                </a:solidFill>
                                <a:latin typeface="Cambria Math" panose="02040503050406030204" pitchFamily="18" charset="0"/>
                              </a:rPr>
                              <m:t>57</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the same as before.</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Circumcentre </a:t>
                </a:r>
                <a:r>
                  <a:rPr lang="en-IN" sz="2400">
                    <a:solidFill>
                      <a:srgbClr val="111827"/>
                    </a:solidFill>
                    <a:latin typeface="Cambria Math" panose="02040503050406030204" pitchFamily="18" charset="0"/>
                  </a:rPr>
                  <a:t>$O(p,q)$</a:t>
                </a:r>
                <a:r>
                  <a:rPr sz="2400" b="0">
                    <a:solidFill>
                      <a:srgbClr val="111827"/>
                    </a:solidFill>
                    <a:latin typeface="Arial"/>
                  </a:rPr>
                  <a:t>: </a:t>
                </a:r>
                <a:r>
                  <a:rPr lang="en-IN" sz="2400">
                    <a:solidFill>
                      <a:srgbClr val="111827"/>
                    </a:solidFill>
                    <a:latin typeface="Cambria Math" panose="02040503050406030204" pitchFamily="18" charset="0"/>
                  </a:rPr>
                  <a:t>$OA^2=OB^2$</a:t>
                </a:r>
                <a:r>
                  <a:rPr sz="2400" b="0">
                    <a:solidFill>
                      <a:srgbClr val="111827"/>
                    </a:solidFill>
                    <a:latin typeface="Arial"/>
                  </a:rPr>
                  <a:t> gives </a:t>
                </a:r>
                <a:r>
                  <a:rPr lang="en-IN" sz="2400">
                    <a:solidFill>
                      <a:srgbClr val="111827"/>
                    </a:solidFill>
                    <a:latin typeface="Cambria Math" panose="02040503050406030204" pitchFamily="18" charset="0"/>
                  </a:rPr>
                  <a:t>$-8p+18q=-53$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$OB^2=OC^2$</a:t>
                </a:r>
                <a:r>
                  <a:rPr sz="2400" b="0">
                    <a:solidFill>
                      <a:srgbClr val="111827"/>
                    </a:solidFill>
                    <a:latin typeface="Arial"/>
                  </a:rPr>
                  <a:t> gives </a:t>
                </a:r>
                <a:r>
                  <a:rPr lang="en-IN" sz="2400">
                    <a:solidFill>
                      <a:srgbClr val="111827"/>
                    </a:solidFill>
                    <a:latin typeface="Cambria Math" panose="02040503050406030204" pitchFamily="18" charset="0"/>
                  </a:rPr>
                  <a:t>$10p+6q=36$</a:t>
                </a:r>
                <a:r>
                  <a:rPr sz="2400" b="0">
                    <a:solidFill>
                      <a:srgbClr val="111827"/>
                    </a:solidFill>
                    <a:latin typeface="Arial"/>
                  </a:rPr>
                  <a:t>, i.e. </a:t>
                </a:r>
                <a:r>
                  <a:rPr lang="en-IN" sz="2400">
                    <a:solidFill>
                      <a:srgbClr val="111827"/>
                    </a:solidFill>
                    <a:latin typeface="Cambria Math" panose="02040503050406030204" pitchFamily="18" charset="0"/>
                  </a:rPr>
                  <a:t>$5p+3q=18$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$p=\frac{161}{38}$</a:t>
                </a:r>
                <a:r>
                  <a:rPr sz="2400" b="0">
                    <a:solidFill>
                      <a:srgbClr val="111827"/>
                    </a:solidFill>
                    <a:latin typeface="Arial"/>
                  </a:rPr>
                  <a:t>, </a:t>
                </a:r>
                <a:r>
                  <a:rPr lang="en-IN" sz="2400">
                    <a:solidFill>
                      <a:srgbClr val="111827"/>
                    </a:solidFill>
                    <a:latin typeface="Cambria Math" panose="02040503050406030204" pitchFamily="18" charset="0"/>
                  </a:rPr>
                  <a:t>$q=-\frac{121}{114}$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$H=A+B+C-2O=(6,0)-\left(\frac{161}{19},-\frac{121}{57}\right)=\left(-\frac{47}{19},\frac{121}{57}\right)$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$9\alpha-6\beta+60=25$</a:t>
                </a:r>
                <a:r>
                  <a:rPr sz="2400" b="0">
                    <a:solidFill>
                      <a:srgbClr val="111827"/>
                    </a:solidFill>
                    <a:latin typeface="Arial"/>
                  </a:rPr>
                  <a:t>, the same as before.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25</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$25$</a:t>
                </a:r>
                <a:endParaRPr sz="2800">
                  <a:solidFill>
                    <a:srgbClr val="15803D"/>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Euler relation: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oMath>
                </a14:m>
                <a:r>
                  <a:rPr sz="2400" b="0">
                    <a:solidFill>
                      <a:srgbClr val="111827"/>
                    </a:solidFill>
                    <a:latin typeface="Arial"/>
                  </a:rPr>
                  <a:t> (with vectors from any origin), and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 vertex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of a side of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two altitudes fix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and the third is automatic.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Keep fractions exact: the orthocentre of a lattice triangle is usually not a lattice point.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Euler relation: </a:t>
                </a:r>
                <a:r>
                  <a:rPr lang="en-IN" sz="2400">
                    <a:solidFill>
                      <a:srgbClr val="111827"/>
                    </a:solidFill>
                    <a:latin typeface="Cambria Math" panose="02040503050406030204" pitchFamily="18" charset="0"/>
                  </a:rPr>
                  <a:t>$H=A+B+C-2O$</a:t>
                </a:r>
                <a:r>
                  <a:rPr sz="2400" b="0">
                    <a:solidFill>
                      <a:srgbClr val="111827"/>
                    </a:solidFill>
                    <a:latin typeface="Arial"/>
                  </a:rPr>
                  <a:t> (with vectors from any origin), and </a:t>
                </a:r>
                <a:r>
                  <a:rPr lang="en-IN" sz="2400">
                    <a:solidFill>
                      <a:srgbClr val="111827"/>
                    </a:solidFill>
                    <a:latin typeface="Cambria Math" panose="02040503050406030204" pitchFamily="18" charset="0"/>
                  </a:rPr>
                  <a:t>$G=\frac{A+B+C}{3}$</a:t>
                </a:r>
                <a:r>
                  <a:rPr sz="2400" b="0">
                    <a:solidFill>
                      <a:srgbClr val="111827"/>
                    </a:solidFill>
                    <a:latin typeface="Arial"/>
                  </a:rPr>
                  <a:t> divides </a:t>
                </a:r>
                <a:r>
                  <a:rPr lang="en-IN" sz="2400">
                    <a:solidFill>
                      <a:srgbClr val="111827"/>
                    </a:solidFill>
                    <a:latin typeface="Cambria Math" panose="02040503050406030204" pitchFamily="18" charset="0"/>
                  </a:rPr>
                  <a:t>$OH$</a:t>
                </a:r>
                <a:r>
                  <a:rPr sz="2400" b="0">
                    <a:solidFill>
                      <a:srgbClr val="111827"/>
                    </a:solidFill>
                    <a:latin typeface="Arial"/>
                  </a:rPr>
                  <a:t> in the ratio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 vertex </a:t>
                </a:r>
                <a:r>
                  <a:rPr lang="en-IN" sz="2400">
                    <a:solidFill>
                      <a:srgbClr val="111827"/>
                    </a:solidFill>
                    <a:latin typeface="Cambria Math" panose="02040503050406030204" pitchFamily="18" charset="0"/>
                  </a:rPr>
                  <a:t>$V$</a:t>
                </a:r>
                <a:r>
                  <a:rPr sz="2400" b="0">
                    <a:solidFill>
                      <a:srgbClr val="111827"/>
                    </a:solidFill>
                    <a:latin typeface="Arial"/>
                  </a:rPr>
                  <a:t> of a side of slope </a:t>
                </a:r>
                <a:r>
                  <a:rPr lang="en-IN" sz="2400">
                    <a:solidFill>
                      <a:srgbClr val="111827"/>
                    </a:solidFill>
                    <a:latin typeface="Cambria Math" panose="02040503050406030204" pitchFamily="18" charset="0"/>
                  </a:rPr>
                  <a:t>$m$</a:t>
                </a:r>
                <a:r>
                  <a:rPr sz="2400" b="0">
                    <a:solidFill>
                      <a:srgbClr val="111827"/>
                    </a:solidFill>
                    <a:latin typeface="Arial"/>
                  </a:rPr>
                  <a:t> has slope </a:t>
                </a:r>
                <a:r>
                  <a:rPr lang="en-IN" sz="2400">
                    <a:solidFill>
                      <a:srgbClr val="111827"/>
                    </a:solidFill>
                    <a:latin typeface="Cambria Math" panose="02040503050406030204" pitchFamily="18" charset="0"/>
                  </a:rPr>
                  <a:t>$-\frac{1}{m}$</a:t>
                </a:r>
                <a:r>
                  <a:rPr sz="2400" b="0">
                    <a:solidFill>
                      <a:srgbClr val="111827"/>
                    </a:solidFill>
                    <a:latin typeface="Arial"/>
                  </a:rPr>
                  <a:t>; two altitudes fix </a:t>
                </a:r>
                <a:r>
                  <a:rPr lang="en-IN" sz="2400">
                    <a:solidFill>
                      <a:srgbClr val="111827"/>
                    </a:solidFill>
                    <a:latin typeface="Cambria Math" panose="02040503050406030204" pitchFamily="18" charset="0"/>
                  </a:rPr>
                  <a:t>$H$</a:t>
                </a:r>
                <a:r>
                  <a:rPr sz="2400" b="0">
                    <a:solidFill>
                      <a:srgbClr val="111827"/>
                    </a:solidFill>
                    <a:latin typeface="Arial"/>
                  </a:rPr>
                  <a:t> and the third is automatic.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Keep fractions exact: the orthocentre of a lattice triangle is usually not a lattice point.</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Q15 – Q17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equations of two adjacent sides of a 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If the equation of its one diagonal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and the distance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from the other diagonal is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50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equations of two adjacent sides of a parallelogram </a:t>
                </a:r>
                <a:r>
                  <a:rPr lang="en-IN" sz="2400">
                    <a:solidFill>
                      <a:srgbClr val="111827"/>
                    </a:solidFill>
                    <a:latin typeface="Cambria Math" panose="02040503050406030204" pitchFamily="18" charset="0"/>
                  </a:rPr>
                  <a:t>$ABCD$</a:t>
                </a:r>
                <a:r>
                  <a:rPr sz="2400" b="0">
                    <a:solidFill>
                      <a:srgbClr val="111827"/>
                    </a:solidFill>
                    <a:latin typeface="Arial"/>
                  </a:rPr>
                  <a:t> be </a:t>
                </a:r>
                <a:r>
                  <a:rPr lang="en-IN" sz="2400">
                    <a:solidFill>
                      <a:srgbClr val="111827"/>
                    </a:solidFill>
                    <a:latin typeface="Cambria Math" panose="02040503050406030204" pitchFamily="18" charset="0"/>
                  </a:rPr>
                  <a:t>$2x-3y=-23$</a:t>
                </a:r>
                <a:r>
                  <a:rPr sz="2400" b="0">
                    <a:solidFill>
                      <a:srgbClr val="111827"/>
                    </a:solidFill>
                    <a:latin typeface="Arial"/>
                  </a:rPr>
                  <a:t> and </a:t>
                </a:r>
                <a:r>
                  <a:rPr lang="en-IN" sz="2400">
                    <a:solidFill>
                      <a:srgbClr val="111827"/>
                    </a:solidFill>
                    <a:latin typeface="Cambria Math" panose="02040503050406030204" pitchFamily="18" charset="0"/>
                  </a:rPr>
                  <a:t>$5x+4y=23$</a:t>
                </a:r>
                <a:r>
                  <a:rPr sz="2400" b="0">
                    <a:solidFill>
                      <a:srgbClr val="111827"/>
                    </a:solidFill>
                    <a:latin typeface="Arial"/>
                  </a:rPr>
                  <a:t>. If the equation of its one diagonal </a:t>
                </a:r>
                <a:r>
                  <a:rPr lang="en-IN" sz="2400">
                    <a:solidFill>
                      <a:srgbClr val="111827"/>
                    </a:solidFill>
                    <a:latin typeface="Cambria Math" panose="02040503050406030204" pitchFamily="18" charset="0"/>
                  </a:rPr>
                  <a:t>$AC$</a:t>
                </a:r>
                <a:r>
                  <a:rPr sz="2400" b="0">
                    <a:solidFill>
                      <a:srgbClr val="111827"/>
                    </a:solidFill>
                    <a:latin typeface="Arial"/>
                  </a:rPr>
                  <a:t> is </a:t>
                </a:r>
                <a:r>
                  <a:rPr lang="en-IN" sz="2400">
                    <a:solidFill>
                      <a:srgbClr val="111827"/>
                    </a:solidFill>
                    <a:latin typeface="Cambria Math" panose="02040503050406030204" pitchFamily="18" charset="0"/>
                  </a:rPr>
                  <a:t>$3x+7y=23$</a:t>
                </a:r>
                <a:r>
                  <a:rPr sz="2400" b="0">
                    <a:solidFill>
                      <a:srgbClr val="111827"/>
                    </a:solidFill>
                    <a:latin typeface="Arial"/>
                  </a:rPr>
                  <a:t> and the distance of </a:t>
                </a:r>
                <a:r>
                  <a:rPr lang="en-IN" sz="2400">
                    <a:solidFill>
                      <a:srgbClr val="111827"/>
                    </a:solidFill>
                    <a:latin typeface="Cambria Math" panose="02040503050406030204" pitchFamily="18" charset="0"/>
                  </a:rPr>
                  <a:t>$A$</a:t>
                </a:r>
                <a:r>
                  <a:rPr sz="2400" b="0">
                    <a:solidFill>
                      <a:srgbClr val="111827"/>
                    </a:solidFill>
                    <a:latin typeface="Arial"/>
                  </a:rPr>
                  <a:t> from the other diagonal is </a:t>
                </a:r>
                <a:r>
                  <a:rPr lang="en-IN" sz="2400">
                    <a:solidFill>
                      <a:srgbClr val="111827"/>
                    </a:solidFill>
                    <a:latin typeface="Cambria Math" panose="02040503050406030204" pitchFamily="18" charset="0"/>
                  </a:rPr>
                  <a:t>$d$</a:t>
                </a:r>
                <a:r>
                  <a:rPr sz="2400" b="0">
                    <a:solidFill>
                      <a:srgbClr val="111827"/>
                    </a:solidFill>
                    <a:latin typeface="Arial"/>
                  </a:rPr>
                  <a:t>, then </a:t>
                </a:r>
                <a:r>
                  <a:rPr lang="en-IN" sz="2400">
                    <a:solidFill>
                      <a:srgbClr val="111827"/>
                    </a:solidFill>
                    <a:latin typeface="Cambria Math" panose="02040503050406030204" pitchFamily="18" charset="0"/>
                  </a:rPr>
                  <a:t>$50d^2$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Parallelogram and its diagonals, Distance of a point from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diagonals bisect each other: the midpoint of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and the common vertex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of the two given sides determine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diagonals bisect each other: the midpoint of </a:t>
                </a:r>
                <a:r>
                  <a:rPr lang="en-IN" sz="2400">
                    <a:solidFill>
                      <a:srgbClr val="78350F"/>
                    </a:solidFill>
                    <a:latin typeface="Cambria Math" panose="02040503050406030204" pitchFamily="18" charset="0"/>
                  </a:rPr>
                  <a:t>$AC$</a:t>
                </a:r>
                <a:r>
                  <a:rPr sz="2400" b="0">
                    <a:solidFill>
                      <a:srgbClr val="78350F"/>
                    </a:solidFill>
                    <a:latin typeface="Arial"/>
                  </a:rPr>
                  <a:t> and the common vertex </a:t>
                </a:r>
                <a:r>
                  <a:rPr lang="en-IN" sz="2400">
                    <a:solidFill>
                      <a:srgbClr val="78350F"/>
                    </a:solidFill>
                    <a:latin typeface="Cambria Math" panose="02040503050406030204" pitchFamily="18" charset="0"/>
                  </a:rPr>
                  <a:t>$B$</a:t>
                </a:r>
                <a:r>
                  <a:rPr sz="2400" b="0">
                    <a:solidFill>
                      <a:srgbClr val="78350F"/>
                    </a:solidFill>
                    <a:latin typeface="Arial"/>
                  </a:rPr>
                  <a:t> of the two given sides determine </a:t>
                </a:r>
                <a:r>
                  <a:rPr lang="en-IN" sz="2400">
                    <a:solidFill>
                      <a:srgbClr val="78350F"/>
                    </a:solidFill>
                    <a:latin typeface="Cambria Math" panose="02040503050406030204" pitchFamily="18" charset="0"/>
                  </a:rPr>
                  <a:t>$BD$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given sides meet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diagonal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meets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it is also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given sides meet at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$2x-3y=-23$</a:t>
                </a:r>
                <a:r>
                  <a:rPr sz="2400" b="0">
                    <a:solidFill>
                      <a:srgbClr val="111827"/>
                    </a:solidFill>
                    <a:latin typeface="Arial"/>
                  </a:rPr>
                  <a:t> and </a:t>
                </a:r>
                <a:r>
                  <a:rPr lang="en-IN" sz="2400">
                    <a:solidFill>
                      <a:srgbClr val="111827"/>
                    </a:solidFill>
                    <a:latin typeface="Cambria Math" panose="02040503050406030204" pitchFamily="18" charset="0"/>
                  </a:rPr>
                  <a:t>$5x+4y=23$</a:t>
                </a:r>
                <a:r>
                  <a:rPr sz="2400" b="0">
                    <a:solidFill>
                      <a:srgbClr val="111827"/>
                    </a:solidFill>
                    <a:latin typeface="Arial"/>
                  </a:rPr>
                  <a:t> give </a:t>
                </a:r>
                <a:r>
                  <a:rPr lang="en-IN" sz="2400">
                    <a:solidFill>
                      <a:srgbClr val="111827"/>
                    </a:solidFill>
                    <a:latin typeface="Cambria Math" panose="02040503050406030204" pitchFamily="18" charset="0"/>
                  </a:rPr>
                  <a:t>$B=(-1,7)$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diagonal </a:t>
                </a:r>
                <a:r>
                  <a:rPr lang="en-IN" sz="2400">
                    <a:solidFill>
                      <a:srgbClr val="111827"/>
                    </a:solidFill>
                    <a:latin typeface="Cambria Math" panose="02040503050406030204" pitchFamily="18" charset="0"/>
                  </a:rPr>
                  <a:t>$AC$</a:t>
                </a:r>
                <a:r>
                  <a:rPr sz="2400" b="0">
                    <a:solidFill>
                      <a:srgbClr val="111827"/>
                    </a:solidFill>
                    <a:latin typeface="Arial"/>
                  </a:rPr>
                  <a:t> meets </a:t>
                </a:r>
                <a:r>
                  <a:rPr lang="en-IN" sz="2400">
                    <a:solidFill>
                      <a:srgbClr val="111827"/>
                    </a:solidFill>
                    <a:latin typeface="Cambria Math" panose="02040503050406030204" pitchFamily="18" charset="0"/>
                  </a:rPr>
                  <a:t>$2x-3y=-23$</a:t>
                </a:r>
                <a:r>
                  <a:rPr sz="2400" b="0">
                    <a:solidFill>
                      <a:srgbClr val="111827"/>
                    </a:solidFill>
                    <a:latin typeface="Arial"/>
                  </a:rPr>
                  <a:t> at </a:t>
                </a:r>
                <a:r>
                  <a:rPr lang="en-IN" sz="2400">
                    <a:solidFill>
                      <a:srgbClr val="111827"/>
                    </a:solidFill>
                    <a:latin typeface="Cambria Math" panose="02040503050406030204" pitchFamily="18" charset="0"/>
                  </a:rPr>
                  <a:t>$A=(-4,5)$</a:t>
                </a:r>
                <a:r>
                  <a:rPr sz="2400" b="0">
                    <a:solidFill>
                      <a:srgbClr val="111827"/>
                    </a:solidFill>
                    <a:latin typeface="Arial"/>
                  </a:rPr>
                  <a:t> and </a:t>
                </a:r>
                <a:r>
                  <a:rPr lang="en-IN" sz="2400">
                    <a:solidFill>
                      <a:srgbClr val="111827"/>
                    </a:solidFill>
                    <a:latin typeface="Cambria Math" panose="02040503050406030204" pitchFamily="18" charset="0"/>
                  </a:rPr>
                  <a:t>$5x+4y=23$</a:t>
                </a:r>
                <a:r>
                  <a:rPr sz="2400" b="0">
                    <a:solidFill>
                      <a:srgbClr val="111827"/>
                    </a:solidFill>
                    <a:latin typeface="Arial"/>
                  </a:rPr>
                  <a:t> at </a:t>
                </a:r>
                <a:r>
                  <a:rPr lang="en-IN" sz="2400">
                    <a:solidFill>
                      <a:srgbClr val="111827"/>
                    </a:solidFill>
                    <a:latin typeface="Cambria Math" panose="02040503050406030204" pitchFamily="18" charset="0"/>
                  </a:rPr>
                  <a:t>$C=(3,2)$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 of </a:t>
                </a:r>
                <a:r>
                  <a:rPr lang="en-IN" sz="2400">
                    <a:solidFill>
                      <a:srgbClr val="111827"/>
                    </a:solidFill>
                    <a:latin typeface="Cambria Math" panose="02040503050406030204" pitchFamily="18" charset="0"/>
                  </a:rPr>
                  <a:t>$AC$</a:t>
                </a:r>
                <a:r>
                  <a:rPr sz="2400" b="0">
                    <a:solidFill>
                      <a:srgbClr val="111827"/>
                    </a:solidFill>
                    <a:latin typeface="Arial"/>
                  </a:rPr>
                  <a:t> is </a:t>
                </a:r>
                <a:r>
                  <a:rPr lang="en-IN" sz="2400">
                    <a:solidFill>
                      <a:srgbClr val="111827"/>
                    </a:solidFill>
                    <a:latin typeface="Cambria Math" panose="02040503050406030204" pitchFamily="18" charset="0"/>
                  </a:rPr>
                  <a:t>$\left(-\frac{1}{2},\frac{7}{2}\right)$</a:t>
                </a:r>
                <a:r>
                  <a:rPr sz="2400" b="0">
                    <a:solidFill>
                      <a:srgbClr val="111827"/>
                    </a:solidFill>
                    <a:latin typeface="Arial"/>
                  </a:rPr>
                  <a:t>; it is also the midpoint of </a:t>
                </a:r>
                <a:r>
                  <a:rPr lang="en-IN" sz="2400">
                    <a:solidFill>
                      <a:srgbClr val="111827"/>
                    </a:solidFill>
                    <a:latin typeface="Cambria Math" panose="02040503050406030204" pitchFamily="18" charset="0"/>
                  </a:rPr>
                  <a:t>$BD$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slope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(through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midpoint)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50</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50</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slope of </a:t>
                </a:r>
                <a:r>
                  <a:rPr lang="en-IN" sz="2400">
                    <a:solidFill>
                      <a:srgbClr val="111827"/>
                    </a:solidFill>
                    <a:latin typeface="Cambria Math" panose="02040503050406030204" pitchFamily="18" charset="0"/>
                  </a:rPr>
                  <a:t>$BD$</a:t>
                </a:r>
                <a:r>
                  <a:rPr sz="2400" b="0">
                    <a:solidFill>
                      <a:srgbClr val="111827"/>
                    </a:solidFill>
                    <a:latin typeface="Arial"/>
                  </a:rPr>
                  <a:t> (through </a:t>
                </a:r>
                <a:r>
                  <a:rPr lang="en-IN" sz="2400">
                    <a:solidFill>
                      <a:srgbClr val="111827"/>
                    </a:solidFill>
                    <a:latin typeface="Cambria Math" panose="02040503050406030204" pitchFamily="18" charset="0"/>
                  </a:rPr>
                  <a:t>$B(-1,7)$</a:t>
                </a:r>
                <a:r>
                  <a:rPr sz="2400" b="0">
                    <a:solidFill>
                      <a:srgbClr val="111827"/>
                    </a:solidFill>
                    <a:latin typeface="Arial"/>
                  </a:rPr>
                  <a:t> and the midpoint) is </a:t>
                </a:r>
                <a:r>
                  <a:rPr lang="en-IN" sz="2400">
                    <a:solidFill>
                      <a:srgbClr val="111827"/>
                    </a:solidFill>
                    <a:latin typeface="Cambria Math" panose="02040503050406030204" pitchFamily="18" charset="0"/>
                  </a:rPr>
                  <a:t>$\frac{7/2-7}{-1/2+1}=-7$</a:t>
                </a:r>
                <a:r>
                  <a:rPr sz="2400" b="0">
                    <a:solidFill>
                      <a:srgbClr val="111827"/>
                    </a:solidFill>
                    <a:latin typeface="Arial"/>
                  </a:rPr>
                  <a:t>, so </a:t>
                </a:r>
                <a:r>
                  <a:rPr lang="en-IN" sz="2400">
                    <a:solidFill>
                      <a:srgbClr val="111827"/>
                    </a:solidFill>
                    <a:latin typeface="Cambria Math" panose="02040503050406030204" pitchFamily="18" charset="0"/>
                  </a:rPr>
                  <a:t>$BD$</a:t>
                </a:r>
                <a:r>
                  <a:rPr sz="2400" b="0">
                    <a:solidFill>
                      <a:srgbClr val="111827"/>
                    </a:solidFill>
                    <a:latin typeface="Arial"/>
                  </a:rPr>
                  <a:t>: </a:t>
                </a:r>
                <a:r>
                  <a:rPr lang="en-IN" sz="2400">
                    <a:solidFill>
                      <a:srgbClr val="111827"/>
                    </a:solidFill>
                    <a:latin typeface="Cambria Math" panose="02040503050406030204" pitchFamily="18" charset="0"/>
                  </a:rPr>
                  <a:t>$y-\frac{7}{2}=-7\left(x+\frac{1}{2}\right)\Rightarrow7x+y=0$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$A(-4,5)$</a:t>
                </a:r>
                <a:r>
                  <a:rPr sz="2400" b="0">
                    <a:solidFill>
                      <a:srgbClr val="111827"/>
                    </a:solidFill>
                    <a:latin typeface="Arial"/>
                  </a:rPr>
                  <a:t> from </a:t>
                </a:r>
                <a:r>
                  <a:rPr lang="en-IN" sz="2400">
                    <a:solidFill>
                      <a:srgbClr val="111827"/>
                    </a:solidFill>
                    <a:latin typeface="Cambria Math" panose="02040503050406030204" pitchFamily="18" charset="0"/>
                  </a:rPr>
                  <a:t>$7x+y=0$</a:t>
                </a:r>
                <a:r>
                  <a:rPr sz="2400" b="0">
                    <a:solidFill>
                      <a:srgbClr val="111827"/>
                    </a:solidFill>
                    <a:latin typeface="Arial"/>
                  </a:rPr>
                  <a:t>: </a:t>
                </a:r>
                <a:r>
                  <a:rPr lang="en-IN" sz="2400">
                    <a:solidFill>
                      <a:srgbClr val="111827"/>
                    </a:solidFill>
                    <a:latin typeface="Cambria Math" panose="02040503050406030204" pitchFamily="18" charset="0"/>
                  </a:rPr>
                  <a:t>$d=\frac{|7(-4)+5|}{\sqrt{50}}=\frac{23}{\sqrt{50}}$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$50d^2=23^2=529$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529</a:t>
            </a:r>
            <a:endParaRPr sz="2800">
              <a:solidFill>
                <a:srgbClr val="15803D"/>
              </a:solidFill>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areas: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den>
                    </m:f>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areas: </a:t>
                </a:r>
                <a:r>
                  <a:rPr lang="en-IN" sz="2400">
                    <a:solidFill>
                      <a:srgbClr val="78350F"/>
                    </a:solidFill>
                    <a:latin typeface="Cambria Math" panose="02040503050406030204" pitchFamily="18" charset="0"/>
                  </a:rPr>
                  <a:t>$d=\frac{2[\triangle ABD]}{BD}$</a:t>
                </a:r>
                <a:r>
                  <a:rPr sz="2400" b="0">
                    <a:solidFill>
                      <a:srgbClr val="78350F"/>
                    </a:solidFill>
                    <a:latin typeface="Arial"/>
                  </a:rPr>
                  <a:t> with </a:t>
                </a:r>
                <a:r>
                  <a:rPr lang="en-IN" sz="2400">
                    <a:solidFill>
                      <a:srgbClr val="78350F"/>
                    </a:solidFill>
                    <a:latin typeface="Cambria Math" panose="02040503050406030204" pitchFamily="18" charset="0"/>
                  </a:rPr>
                  <a:t>$D=A+C-B$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before. In a parallelogram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50</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$B=(-1,7)$</a:t>
                </a:r>
                <a:r>
                  <a:rPr sz="2400" b="0">
                    <a:solidFill>
                      <a:srgbClr val="111827"/>
                    </a:solidFill>
                    <a:latin typeface="Arial"/>
                  </a:rPr>
                  <a:t>, </a:t>
                </a:r>
                <a:r>
                  <a:rPr lang="en-IN" sz="2400">
                    <a:solidFill>
                      <a:srgbClr val="111827"/>
                    </a:solidFill>
                    <a:latin typeface="Cambria Math" panose="02040503050406030204" pitchFamily="18" charset="0"/>
                  </a:rPr>
                  <a:t>$A=(-4,5)$</a:t>
                </a:r>
                <a:r>
                  <a:rPr sz="2400" b="0">
                    <a:solidFill>
                      <a:srgbClr val="111827"/>
                    </a:solidFill>
                    <a:latin typeface="Arial"/>
                  </a:rPr>
                  <a:t>, </a:t>
                </a:r>
                <a:r>
                  <a:rPr lang="en-IN" sz="2400">
                    <a:solidFill>
                      <a:srgbClr val="111827"/>
                    </a:solidFill>
                    <a:latin typeface="Cambria Math" panose="02040503050406030204" pitchFamily="18" charset="0"/>
                  </a:rPr>
                  <a:t>$C=(3,2)$</a:t>
                </a:r>
                <a:r>
                  <a:rPr sz="2400" b="0">
                    <a:solidFill>
                      <a:srgbClr val="111827"/>
                    </a:solidFill>
                    <a:latin typeface="Arial"/>
                  </a:rPr>
                  <a:t> as before. In a parallelogram </a:t>
                </a:r>
                <a:r>
                  <a:rPr lang="en-IN" sz="2400">
                    <a:solidFill>
                      <a:srgbClr val="111827"/>
                    </a:solidFill>
                    <a:latin typeface="Cambria Math" panose="02040503050406030204" pitchFamily="18" charset="0"/>
                  </a:rPr>
                  <a:t>$D=A+C-B=(0,0)$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$BD=\sqrt{1+49}=\sqrt{50}$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(using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is the height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m:t>
                            </m:r>
                          </m:den>
                        </m:f>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50</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50</m:t>
                            </m:r>
                          </m:e>
                        </m:rad>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$[\triangle ABD]=\frac{1}{2}\left|(B-A)\times(D-A)\right|=\frac{1}{2}|3\cdot(-5)-2\cdot4|=\frac{23}{2}$</a:t>
                </a:r>
                <a:r>
                  <a:rPr sz="2400" b="0">
                    <a:solidFill>
                      <a:srgbClr val="111827"/>
                    </a:solidFill>
                    <a:latin typeface="Arial"/>
                  </a:rPr>
                  <a:t> (using </a:t>
                </a:r>
                <a:r>
                  <a:rPr lang="en-IN" sz="2400">
                    <a:solidFill>
                      <a:srgbClr val="111827"/>
                    </a:solidFill>
                    <a:latin typeface="Cambria Math" panose="02040503050406030204" pitchFamily="18" charset="0"/>
                  </a:rPr>
                  <a:t>$B-A=(3,2)$</a:t>
                </a:r>
                <a:r>
                  <a:rPr sz="2400" b="0">
                    <a:solidFill>
                      <a:srgbClr val="111827"/>
                    </a:solidFill>
                    <a:latin typeface="Arial"/>
                  </a:rPr>
                  <a:t>, </a:t>
                </a:r>
                <a:r>
                  <a:rPr lang="en-IN" sz="2400">
                    <a:solidFill>
                      <a:srgbClr val="111827"/>
                    </a:solidFill>
                    <a:latin typeface="Cambria Math" panose="02040503050406030204" pitchFamily="18" charset="0"/>
                  </a:rPr>
                  <a:t>$D-A=(4,-5)$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a:t>
                </a:r>
                <a:r>
                  <a:rPr sz="2400" b="0">
                    <a:solidFill>
                      <a:srgbClr val="111827"/>
                    </a:solidFill>
                    <a:latin typeface="Arial"/>
                  </a:rPr>
                  <a:t> is the height from </a:t>
                </a:r>
                <a:r>
                  <a:rPr lang="en-IN" sz="2400">
                    <a:solidFill>
                      <a:srgbClr val="111827"/>
                    </a:solidFill>
                    <a:latin typeface="Cambria Math" panose="02040503050406030204" pitchFamily="18" charset="0"/>
                  </a:rPr>
                  <a:t>$A$</a:t>
                </a:r>
                <a:r>
                  <a:rPr sz="2400" b="0">
                    <a:solidFill>
                      <a:srgbClr val="111827"/>
                    </a:solidFill>
                    <a:latin typeface="Arial"/>
                  </a:rPr>
                  <a:t> on </a:t>
                </a:r>
                <a:r>
                  <a:rPr lang="en-IN" sz="2400">
                    <a:solidFill>
                      <a:srgbClr val="111827"/>
                    </a:solidFill>
                    <a:latin typeface="Cambria Math" panose="02040503050406030204" pitchFamily="18" charset="0"/>
                  </a:rPr>
                  <a:t>$BD$</a:t>
                </a:r>
                <a:r>
                  <a:rPr sz="2400" b="0">
                    <a:solidFill>
                      <a:srgbClr val="111827"/>
                    </a:solidFill>
                    <a:latin typeface="Arial"/>
                  </a:rPr>
                  <a:t>: </a:t>
                </a:r>
                <a:r>
                  <a:rPr lang="en-IN" sz="2400">
                    <a:solidFill>
                      <a:srgbClr val="111827"/>
                    </a:solidFill>
                    <a:latin typeface="Cambria Math" panose="02040503050406030204" pitchFamily="18" charset="0"/>
                  </a:rPr>
                  <a:t>$d=\frac{2\cdot\frac{23}{2}}{\sqrt{50}}=\frac{23}{\sqrt{50}}$</a:t>
                </a:r>
                <a:r>
                  <a:rPr sz="2400" b="0">
                    <a:solidFill>
                      <a:srgbClr val="111827"/>
                    </a:solidFill>
                    <a:latin typeface="Arial"/>
                  </a:rPr>
                  <a:t>, so </a:t>
                </a:r>
                <a:r>
                  <a:rPr lang="en-IN" sz="2400">
                    <a:solidFill>
                      <a:srgbClr val="111827"/>
                    </a:solidFill>
                    <a:latin typeface="Cambria Math" panose="02040503050406030204" pitchFamily="18" charset="0"/>
                  </a:rPr>
                  <a:t>$50d^2=529$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529</a:t>
            </a:r>
            <a:endParaRPr sz="2800">
              <a:solidFill>
                <a:srgbClr val="15803D"/>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Diagonals of a parallelogram bisect each other: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 point from the line through two points =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𝑎𝑟𝑒𝑎 𝑜𝑓 𝑡ℎ𝑒 𝑡𝑟𝑖𝑎𝑛𝑔𝑙𝑒</m:t>
                        </m:r>
                      </m:num>
                      <m:den>
                        <m:r>
                          <m:rPr>
                            <m:nor/>
                          </m:rPr>
                          <a:rPr lang="en-IN" sz="2400" i="1">
                            <a:solidFill>
                              <a:srgbClr val="111827"/>
                            </a:solidFill>
                            <a:latin typeface="Cambria Math" panose="02040503050406030204" pitchFamily="18" charset="0"/>
                          </a:rPr>
                          <m:t>𝑙𝑒𝑛𝑔𝑡ℎ 𝑜𝑓 𝑡ℎ𝑒 𝑠𝑒𝑔𝑚𝑒𝑛𝑡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vertex of a parallelogram is the intersection of two adjacent sides; a diagonal meets the sides at the other two vertices adjacent to 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Diagonals of a parallelogram bisect each other: </a:t>
                </a:r>
                <a:r>
                  <a:rPr lang="en-IN" sz="2400">
                    <a:solidFill>
                      <a:srgbClr val="111827"/>
                    </a:solidFill>
                    <a:latin typeface="Cambria Math" panose="02040503050406030204" pitchFamily="18" charset="0"/>
                  </a:rPr>
                  <a:t>$A+C=B+D$</a:t>
                </a:r>
                <a:r>
                  <a:rPr sz="2400" b="0">
                    <a:solidFill>
                      <a:srgbClr val="111827"/>
                    </a:solidFill>
                    <a:latin typeface="Arial"/>
                  </a:rPr>
                  <a:t>, so </a:t>
                </a:r>
                <a:r>
                  <a:rPr lang="en-IN" sz="2400">
                    <a:solidFill>
                      <a:srgbClr val="111827"/>
                    </a:solidFill>
                    <a:latin typeface="Cambria Math" panose="02040503050406030204" pitchFamily="18" charset="0"/>
                  </a:rPr>
                  <a:t>$D=A+C-B$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 point from the line through two points = </a:t>
                </a:r>
                <a:r>
                  <a:rPr lang="en-IN" sz="2400">
                    <a:solidFill>
                      <a:srgbClr val="111827"/>
                    </a:solidFill>
                    <a:latin typeface="Cambria Math" panose="02040503050406030204" pitchFamily="18" charset="0"/>
                  </a:rPr>
                  <a:t>$\frac{2\times\text{area of the triangle}}{\text{length of the segment}}$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vertex of a parallelogram is the intersection of two adjacent sides; a diagonal meets the sides at the other two vertices adjacent to it.</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line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the angular bisector of the lines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line </a:t>
                </a:r>
                <a:r>
                  <a:rPr lang="en-IN" sz="2400">
                    <a:solidFill>
                      <a:srgbClr val="111827"/>
                    </a:solidFill>
                    <a:latin typeface="Cambria Math" panose="02040503050406030204" pitchFamily="18" charset="0"/>
                  </a:rPr>
                  <a:t>$l_1:3y-2x=3$</a:t>
                </a:r>
                <a:r>
                  <a:rPr sz="2400" b="0">
                    <a:solidFill>
                      <a:srgbClr val="111827"/>
                    </a:solidFill>
                    <a:latin typeface="Arial"/>
                  </a:rPr>
                  <a:t> is the angular bisector of the lines </a:t>
                </a:r>
                <a:r>
                  <a:rPr lang="en-IN" sz="2400">
                    <a:solidFill>
                      <a:srgbClr val="111827"/>
                    </a:solidFill>
                    <a:latin typeface="Cambria Math" panose="02040503050406030204" pitchFamily="18" charset="0"/>
                  </a:rPr>
                  <a:t>$l_2:x-y+1=0$</a:t>
                </a:r>
                <a:r>
                  <a:rPr sz="2400" b="0">
                    <a:solidFill>
                      <a:srgbClr val="111827"/>
                    </a:solidFill>
                    <a:latin typeface="Arial"/>
                  </a:rPr>
                  <a:t> and </a:t>
                </a:r>
                <a:r>
                  <a:rPr lang="en-IN" sz="2400">
                    <a:solidFill>
                      <a:srgbClr val="111827"/>
                    </a:solidFill>
                    <a:latin typeface="Cambria Math" panose="02040503050406030204" pitchFamily="18" charset="0"/>
                  </a:rPr>
                  <a:t>$l_3:\alpha x+\beta y+17=0$</a:t>
                </a:r>
                <a:r>
                  <a:rPr sz="2400" b="0">
                    <a:solidFill>
                      <a:srgbClr val="111827"/>
                    </a:solidFill>
                    <a:latin typeface="Arial"/>
                  </a:rPr>
                  <a:t>, then </a:t>
                </a:r>
                <a:r>
                  <a:rPr lang="en-IN" sz="2400">
                    <a:solidFill>
                      <a:srgbClr val="111827"/>
                    </a:solidFill>
                    <a:latin typeface="Cambria Math" panose="02040503050406030204" pitchFamily="18" charset="0"/>
                  </a:rPr>
                  <a:t>$\alpha^2+\beta^2-\alpha-\beta$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bisector of two lines, Image of a point in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bisector sends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to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by reflection: the image of a point of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in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lies on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as does the common point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bisector sends </a:t>
                </a:r>
                <a:r>
                  <a:rPr lang="en-IN" sz="2400">
                    <a:solidFill>
                      <a:srgbClr val="78350F"/>
                    </a:solidFill>
                    <a:latin typeface="Cambria Math" panose="02040503050406030204" pitchFamily="18" charset="0"/>
                  </a:rPr>
                  <a:t>$l_2$</a:t>
                </a:r>
                <a:r>
                  <a:rPr sz="2400" b="0">
                    <a:solidFill>
                      <a:srgbClr val="78350F"/>
                    </a:solidFill>
                    <a:latin typeface="Arial"/>
                  </a:rPr>
                  <a:t> to </a:t>
                </a:r>
                <a:r>
                  <a:rPr lang="en-IN" sz="2400">
                    <a:solidFill>
                      <a:srgbClr val="78350F"/>
                    </a:solidFill>
                    <a:latin typeface="Cambria Math" panose="02040503050406030204" pitchFamily="18" charset="0"/>
                  </a:rPr>
                  <a:t>$l_3$</a:t>
                </a:r>
                <a:r>
                  <a:rPr sz="2400" b="0">
                    <a:solidFill>
                      <a:srgbClr val="78350F"/>
                    </a:solidFill>
                    <a:latin typeface="Arial"/>
                  </a:rPr>
                  <a:t> by reflection: the image of a point of </a:t>
                </a:r>
                <a:r>
                  <a:rPr lang="en-IN" sz="2400">
                    <a:solidFill>
                      <a:srgbClr val="78350F"/>
                    </a:solidFill>
                    <a:latin typeface="Cambria Math" panose="02040503050406030204" pitchFamily="18" charset="0"/>
                  </a:rPr>
                  <a:t>$l_2$</a:t>
                </a:r>
                <a:r>
                  <a:rPr sz="2400" b="0">
                    <a:solidFill>
                      <a:srgbClr val="78350F"/>
                    </a:solidFill>
                    <a:latin typeface="Arial"/>
                  </a:rPr>
                  <a:t> in </a:t>
                </a:r>
                <a:r>
                  <a:rPr lang="en-IN" sz="2400">
                    <a:solidFill>
                      <a:srgbClr val="78350F"/>
                    </a:solidFill>
                    <a:latin typeface="Cambria Math" panose="02040503050406030204" pitchFamily="18" charset="0"/>
                  </a:rPr>
                  <a:t>$l_1$</a:t>
                </a:r>
                <a:r>
                  <a:rPr sz="2400" b="0">
                    <a:solidFill>
                      <a:srgbClr val="78350F"/>
                    </a:solidFill>
                    <a:latin typeface="Arial"/>
                  </a:rPr>
                  <a:t> lies on </a:t>
                </a:r>
                <a:r>
                  <a:rPr lang="en-IN" sz="2400">
                    <a:solidFill>
                      <a:srgbClr val="78350F"/>
                    </a:solidFill>
                    <a:latin typeface="Cambria Math" panose="02040503050406030204" pitchFamily="18" charset="0"/>
                  </a:rPr>
                  <a:t>$l_3$</a:t>
                </a:r>
                <a:r>
                  <a:rPr sz="2400" b="0">
                    <a:solidFill>
                      <a:srgbClr val="78350F"/>
                    </a:solidFill>
                    <a:latin typeface="Arial"/>
                  </a:rPr>
                  <a:t>, as does the common point </a:t>
                </a:r>
                <a:r>
                  <a:rPr lang="en-IN" sz="2400">
                    <a:solidFill>
                      <a:srgbClr val="78350F"/>
                    </a:solidFill>
                    <a:latin typeface="Cambria Math" panose="02040503050406030204" pitchFamily="18" charset="0"/>
                  </a:rPr>
                  <a:t>$l_1\cap l_2$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meet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three lines are concurrent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on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 point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Its image </a:t>
                </a:r>
                <a14:m>
                  <m:oMath xmlns:m="http://schemas.openxmlformats.org/officeDocument/2006/math">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lies on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$l_1$</a:t>
                </a:r>
                <a:r>
                  <a:rPr sz="2400" b="0">
                    <a:solidFill>
                      <a:srgbClr val="111827"/>
                    </a:solidFill>
                    <a:latin typeface="Arial"/>
                  </a:rPr>
                  <a:t> and </a:t>
                </a:r>
                <a:r>
                  <a:rPr lang="en-IN" sz="2400">
                    <a:solidFill>
                      <a:srgbClr val="111827"/>
                    </a:solidFill>
                    <a:latin typeface="Cambria Math" panose="02040503050406030204" pitchFamily="18" charset="0"/>
                  </a:rPr>
                  <a:t>$l_2$</a:t>
                </a:r>
                <a:r>
                  <a:rPr sz="2400" b="0">
                    <a:solidFill>
                      <a:srgbClr val="111827"/>
                    </a:solidFill>
                    <a:latin typeface="Arial"/>
                  </a:rPr>
                  <a:t> meet at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$y=x+1$</a:t>
                </a:r>
                <a:r>
                  <a:rPr sz="2400" b="0">
                    <a:solidFill>
                      <a:srgbClr val="111827"/>
                    </a:solidFill>
                    <a:latin typeface="Arial"/>
                  </a:rPr>
                  <a:t> in </a:t>
                </a:r>
                <a:r>
                  <a:rPr lang="en-IN" sz="2400">
                    <a:solidFill>
                      <a:srgbClr val="111827"/>
                    </a:solidFill>
                    <a:latin typeface="Cambria Math" panose="02040503050406030204" pitchFamily="18" charset="0"/>
                  </a:rPr>
                  <a:t>$3y-2x=3$</a:t>
                </a:r>
                <a:r>
                  <a:rPr sz="2400" b="0">
                    <a:solidFill>
                      <a:srgbClr val="111827"/>
                    </a:solidFill>
                    <a:latin typeface="Arial"/>
                  </a:rPr>
                  <a:t> gives </a:t>
                </a:r>
                <a:r>
                  <a:rPr lang="en-IN" sz="2400">
                    <a:solidFill>
                      <a:srgbClr val="111827"/>
                    </a:solidFill>
                    <a:latin typeface="Cambria Math" panose="02040503050406030204" pitchFamily="18" charset="0"/>
                  </a:rPr>
                  <a:t>$x=0$</a:t>
                </a:r>
                <a:r>
                  <a:rPr sz="2400" b="0">
                    <a:solidFill>
                      <a:srgbClr val="111827"/>
                    </a:solidFill>
                    <a:latin typeface="Arial"/>
                  </a:rPr>
                  <a:t>, so </a:t>
                </a:r>
                <a:r>
                  <a:rPr lang="en-IN" sz="2400">
                    <a:solidFill>
                      <a:srgbClr val="111827"/>
                    </a:solidFill>
                    <a:latin typeface="Cambria Math" panose="02040503050406030204" pitchFamily="18" charset="0"/>
                  </a:rPr>
                  <a:t>$P=(0,1)$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three lines are concurrent at </a:t>
                </a:r>
                <a:r>
                  <a:rPr lang="en-IN" sz="2400">
                    <a:solidFill>
                      <a:srgbClr val="111827"/>
                    </a:solidFill>
                    <a:latin typeface="Cambria Math" panose="02040503050406030204" pitchFamily="18" charset="0"/>
                  </a:rPr>
                  <a:t>$P$</a:t>
                </a:r>
                <a:r>
                  <a:rPr sz="2400" b="0">
                    <a:solidFill>
                      <a:srgbClr val="111827"/>
                    </a:solidFill>
                    <a:latin typeface="Arial"/>
                  </a:rPr>
                  <a:t>, so </a:t>
                </a:r>
                <a:r>
                  <a:rPr lang="en-IN" sz="2400">
                    <a:solidFill>
                      <a:srgbClr val="111827"/>
                    </a:solidFill>
                    <a:latin typeface="Cambria Math" panose="02040503050406030204" pitchFamily="18" charset="0"/>
                  </a:rPr>
                  <a:t>$P$</a:t>
                </a:r>
                <a:r>
                  <a:rPr sz="2400" b="0">
                    <a:solidFill>
                      <a:srgbClr val="111827"/>
                    </a:solidFill>
                    <a:latin typeface="Arial"/>
                  </a:rPr>
                  <a:t> lies on </a:t>
                </a:r>
                <a:r>
                  <a:rPr lang="en-IN" sz="2400">
                    <a:solidFill>
                      <a:srgbClr val="111827"/>
                    </a:solidFill>
                    <a:latin typeface="Cambria Math" panose="02040503050406030204" pitchFamily="18" charset="0"/>
                  </a:rPr>
                  <a:t>$l_3$</a:t>
                </a:r>
                <a:r>
                  <a:rPr sz="2400" b="0">
                    <a:solidFill>
                      <a:srgbClr val="111827"/>
                    </a:solidFill>
                    <a:latin typeface="Arial"/>
                  </a:rPr>
                  <a:t>: </a:t>
                </a:r>
                <a:r>
                  <a:rPr lang="en-IN" sz="2400">
                    <a:solidFill>
                      <a:srgbClr val="111827"/>
                    </a:solidFill>
                    <a:latin typeface="Cambria Math" panose="02040503050406030204" pitchFamily="18" charset="0"/>
                  </a:rPr>
                  <a:t>$\beta+17=0\Rightarrow\beta=-17$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 point </a:t>
                </a:r>
                <a:r>
                  <a:rPr lang="en-IN" sz="2400">
                    <a:solidFill>
                      <a:srgbClr val="111827"/>
                    </a:solidFill>
                    <a:latin typeface="Cambria Math" panose="02040503050406030204" pitchFamily="18" charset="0"/>
                  </a:rPr>
                  <a:t>$Q(-1,0)$</a:t>
                </a:r>
                <a:r>
                  <a:rPr sz="2400" b="0">
                    <a:solidFill>
                      <a:srgbClr val="111827"/>
                    </a:solidFill>
                    <a:latin typeface="Arial"/>
                  </a:rPr>
                  <a:t> on </a:t>
                </a:r>
                <a:r>
                  <a:rPr lang="en-IN" sz="2400">
                    <a:solidFill>
                      <a:srgbClr val="111827"/>
                    </a:solidFill>
                    <a:latin typeface="Cambria Math" panose="02040503050406030204" pitchFamily="18" charset="0"/>
                  </a:rPr>
                  <a:t>$l_2$</a:t>
                </a:r>
                <a:r>
                  <a:rPr sz="2400" b="0">
                    <a:solidFill>
                      <a:srgbClr val="111827"/>
                    </a:solidFill>
                    <a:latin typeface="Arial"/>
                  </a:rPr>
                  <a:t>. Its image </a:t>
                </a:r>
                <a:r>
                  <a:rPr lang="en-IN" sz="2400">
                    <a:solidFill>
                      <a:srgbClr val="111827"/>
                    </a:solidFill>
                    <a:latin typeface="Cambria Math" panose="02040503050406030204" pitchFamily="18" charset="0"/>
                  </a:rPr>
                  <a:t>$Q'$</a:t>
                </a:r>
                <a:r>
                  <a:rPr sz="2400" b="0">
                    <a:solidFill>
                      <a:srgbClr val="111827"/>
                    </a:solidFill>
                    <a:latin typeface="Arial"/>
                  </a:rPr>
                  <a:t> in </a:t>
                </a:r>
                <a:r>
                  <a:rPr lang="en-IN" sz="2400">
                    <a:solidFill>
                      <a:srgbClr val="111827"/>
                    </a:solidFill>
                    <a:latin typeface="Cambria Math" panose="02040503050406030204" pitchFamily="18" charset="0"/>
                  </a:rPr>
                  <a:t>$l_1$</a:t>
                </a:r>
                <a:r>
                  <a:rPr sz="2400" b="0">
                    <a:solidFill>
                      <a:srgbClr val="111827"/>
                    </a:solidFill>
                    <a:latin typeface="Arial"/>
                  </a:rPr>
                  <a:t> (</a:t>
                </a:r>
                <a:r>
                  <a:rPr lang="en-IN" sz="2400">
                    <a:solidFill>
                      <a:srgbClr val="111827"/>
                    </a:solidFill>
                    <a:latin typeface="Cambria Math" panose="02040503050406030204" pitchFamily="18" charset="0"/>
                  </a:rPr>
                  <a:t>$-2x+3y-3=0$</a:t>
                </a:r>
                <a:r>
                  <a:rPr sz="2400" b="0">
                    <a:solidFill>
                      <a:srgbClr val="111827"/>
                    </a:solidFill>
                    <a:latin typeface="Arial"/>
                  </a:rPr>
                  <a:t>) lies on </a:t>
                </a:r>
                <a:r>
                  <a:rPr lang="en-IN" sz="2400">
                    <a:solidFill>
                      <a:srgbClr val="111827"/>
                    </a:solidFill>
                    <a:latin typeface="Cambria Math" panose="02040503050406030204" pitchFamily="18" charset="0"/>
                  </a:rPr>
                  <a:t>$l_3$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13</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lies on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$\frac{x+1}{-2}=\frac{y-0}{3}=-\frac{2(2-3)}{13}=\frac{2}{13}$</a:t>
                </a:r>
                <a:r>
                  <a:rPr sz="2400" b="0">
                    <a:solidFill>
                      <a:srgbClr val="111827"/>
                    </a:solidFill>
                    <a:latin typeface="Arial"/>
                  </a:rPr>
                  <a:t>, so </a:t>
                </a:r>
                <a:r>
                  <a:rPr lang="en-IN" sz="2400">
                    <a:solidFill>
                      <a:srgbClr val="111827"/>
                    </a:solidFill>
                    <a:latin typeface="Cambria Math" panose="02040503050406030204" pitchFamily="18" charset="0"/>
                  </a:rPr>
                  <a:t>$Q'=\left(-\frac{17}{13},\frac{6}{13}\right)$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a:t>
                </a:r>
                <a:r>
                  <a:rPr sz="2400" b="0">
                    <a:solidFill>
                      <a:srgbClr val="111827"/>
                    </a:solidFill>
                    <a:latin typeface="Arial"/>
                  </a:rPr>
                  <a:t> lies on </a:t>
                </a:r>
                <a:r>
                  <a:rPr lang="en-IN" sz="2400">
                    <a:solidFill>
                      <a:srgbClr val="111827"/>
                    </a:solidFill>
                    <a:latin typeface="Cambria Math" panose="02040503050406030204" pitchFamily="18" charset="0"/>
                  </a:rPr>
                  <a:t>$l_3$</a:t>
                </a:r>
                <a:r>
                  <a:rPr sz="2400" b="0">
                    <a:solidFill>
                      <a:srgbClr val="111827"/>
                    </a:solidFill>
                    <a:latin typeface="Arial"/>
                  </a:rPr>
                  <a:t>: </a:t>
                </a:r>
                <a:r>
                  <a:rPr lang="en-IN" sz="2400">
                    <a:solidFill>
                      <a:srgbClr val="111827"/>
                    </a:solidFill>
                    <a:latin typeface="Cambria Math" panose="02040503050406030204" pitchFamily="18" charset="0"/>
                  </a:rPr>
                  <a:t>$-\frac{17\alpha}{13}-\frac{17\cdot6}{13}+17=0\Rightarrow\alpha=7$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$\alpha^2+\beta^2-\alpha-\beta=49+289-7+17=348$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348</a:t>
            </a:r>
            <a:endParaRPr sz="2800">
              <a:solidFill>
                <a:srgbClr val="15803D"/>
              </a:solidFil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Equal angles: the angle from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to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equals the angle from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to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so find the slope of </a:t>
                </a:r>
                <a14:m>
                  <m:oMath xmlns:m="http://schemas.openxmlformats.org/officeDocument/2006/math">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with the tangent formula.</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Equal angles: the angle from </a:t>
                </a:r>
                <a:r>
                  <a:rPr lang="en-IN" sz="2400">
                    <a:solidFill>
                      <a:srgbClr val="78350F"/>
                    </a:solidFill>
                    <a:latin typeface="Cambria Math" panose="02040503050406030204" pitchFamily="18" charset="0"/>
                  </a:rPr>
                  <a:t>$l_2$</a:t>
                </a:r>
                <a:r>
                  <a:rPr sz="2400" b="0">
                    <a:solidFill>
                      <a:srgbClr val="78350F"/>
                    </a:solidFill>
                    <a:latin typeface="Arial"/>
                  </a:rPr>
                  <a:t> to </a:t>
                </a:r>
                <a:r>
                  <a:rPr lang="en-IN" sz="2400">
                    <a:solidFill>
                      <a:srgbClr val="78350F"/>
                    </a:solidFill>
                    <a:latin typeface="Cambria Math" panose="02040503050406030204" pitchFamily="18" charset="0"/>
                  </a:rPr>
                  <a:t>$l_1$</a:t>
                </a:r>
                <a:r>
                  <a:rPr sz="2400" b="0">
                    <a:solidFill>
                      <a:srgbClr val="78350F"/>
                    </a:solidFill>
                    <a:latin typeface="Arial"/>
                  </a:rPr>
                  <a:t> equals the angle from </a:t>
                </a:r>
                <a:r>
                  <a:rPr lang="en-IN" sz="2400">
                    <a:solidFill>
                      <a:srgbClr val="78350F"/>
                    </a:solidFill>
                    <a:latin typeface="Cambria Math" panose="02040503050406030204" pitchFamily="18" charset="0"/>
                  </a:rPr>
                  <a:t>$l_1$</a:t>
                </a:r>
                <a:r>
                  <a:rPr sz="2400" b="0">
                    <a:solidFill>
                      <a:srgbClr val="78350F"/>
                    </a:solidFill>
                    <a:latin typeface="Arial"/>
                  </a:rPr>
                  <a:t> to </a:t>
                </a:r>
                <a:r>
                  <a:rPr lang="en-IN" sz="2400">
                    <a:solidFill>
                      <a:srgbClr val="78350F"/>
                    </a:solidFill>
                    <a:latin typeface="Cambria Math" panose="02040503050406030204" pitchFamily="18" charset="0"/>
                  </a:rPr>
                  <a:t>$l_3$</a:t>
                </a:r>
                <a:r>
                  <a:rPr sz="2400" b="0">
                    <a:solidFill>
                      <a:srgbClr val="78350F"/>
                    </a:solidFill>
                    <a:latin typeface="Arial"/>
                  </a:rPr>
                  <a:t>, so find the slope of </a:t>
                </a:r>
                <a:r>
                  <a:rPr lang="en-IN" sz="2400">
                    <a:solidFill>
                      <a:srgbClr val="78350F"/>
                    </a:solidFill>
                    <a:latin typeface="Cambria Math" panose="02040503050406030204" pitchFamily="18" charset="0"/>
                  </a:rPr>
                  <a:t>$l_3$</a:t>
                </a:r>
                <a:r>
                  <a:rPr sz="2400" b="0">
                    <a:solidFill>
                      <a:srgbClr val="78350F"/>
                    </a:solidFill>
                    <a:latin typeface="Arial"/>
                  </a:rPr>
                  <a:t> with the tangent formula.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Slopes: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has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has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on all three lines,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has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(slope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is on the other side of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with the same angle: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Slopes: </a:t>
                </a:r>
                <a:r>
                  <a:rPr lang="en-IN" sz="2400">
                    <a:solidFill>
                      <a:srgbClr val="111827"/>
                    </a:solidFill>
                    <a:latin typeface="Cambria Math" panose="02040503050406030204" pitchFamily="18" charset="0"/>
                  </a:rPr>
                  <a:t>$l_1$</a:t>
                </a:r>
                <a:r>
                  <a:rPr sz="2400" b="0">
                    <a:solidFill>
                      <a:srgbClr val="111827"/>
                    </a:solidFill>
                    <a:latin typeface="Arial"/>
                  </a:rPr>
                  <a:t> has </a:t>
                </a:r>
                <a:r>
                  <a:rPr lang="en-IN" sz="2400">
                    <a:solidFill>
                      <a:srgbClr val="111827"/>
                    </a:solidFill>
                    <a:latin typeface="Cambria Math" panose="02040503050406030204" pitchFamily="18" charset="0"/>
                  </a:rPr>
                  <a:t>$m_1=\frac{2}{3}$</a:t>
                </a:r>
                <a:r>
                  <a:rPr sz="2400" b="0">
                    <a:solidFill>
                      <a:srgbClr val="111827"/>
                    </a:solidFill>
                    <a:latin typeface="Arial"/>
                  </a:rPr>
                  <a:t>, </a:t>
                </a:r>
                <a:r>
                  <a:rPr lang="en-IN" sz="2400">
                    <a:solidFill>
                      <a:srgbClr val="111827"/>
                    </a:solidFill>
                    <a:latin typeface="Cambria Math" panose="02040503050406030204" pitchFamily="18" charset="0"/>
                  </a:rPr>
                  <a:t>$l_2$</a:t>
                </a:r>
                <a:r>
                  <a:rPr sz="2400" b="0">
                    <a:solidFill>
                      <a:srgbClr val="111827"/>
                    </a:solidFill>
                    <a:latin typeface="Arial"/>
                  </a:rPr>
                  <a:t> has </a:t>
                </a:r>
                <a:r>
                  <a:rPr lang="en-IN" sz="2400">
                    <a:solidFill>
                      <a:srgbClr val="111827"/>
                    </a:solidFill>
                    <a:latin typeface="Cambria Math" panose="02040503050406030204" pitchFamily="18" charset="0"/>
                  </a:rPr>
                  <a:t>$m_2=1$</a:t>
                </a:r>
                <a:r>
                  <a:rPr sz="2400" b="0">
                    <a:solidFill>
                      <a:srgbClr val="111827"/>
                    </a:solidFill>
                    <a:latin typeface="Arial"/>
                  </a:rPr>
                  <a:t>. </a:t>
                </a:r>
                <a:r>
                  <a:rPr lang="en-IN" sz="2400">
                    <a:solidFill>
                      <a:srgbClr val="111827"/>
                    </a:solidFill>
                    <a:latin typeface="Cambria Math" panose="02040503050406030204" pitchFamily="18" charset="0"/>
                  </a:rPr>
                  <a:t>$P(0,1)$</a:t>
                </a:r>
                <a:r>
                  <a:rPr sz="2400" b="0">
                    <a:solidFill>
                      <a:srgbClr val="111827"/>
                    </a:solidFill>
                    <a:latin typeface="Arial"/>
                  </a:rPr>
                  <a:t> lies on all three lines, so </a:t>
                </a:r>
                <a:r>
                  <a:rPr lang="en-IN" sz="2400">
                    <a:solidFill>
                      <a:srgbClr val="111827"/>
                    </a:solidFill>
                    <a:latin typeface="Cambria Math" panose="02040503050406030204" pitchFamily="18" charset="0"/>
                  </a:rPr>
                  <a:t>$\beta=-17$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a:t>
                </a:r>
                <a:r>
                  <a:rPr lang="en-IN" sz="2400">
                    <a:solidFill>
                      <a:srgbClr val="111827"/>
                    </a:solidFill>
                    <a:latin typeface="Cambria Math" panose="02040503050406030204" pitchFamily="18" charset="0"/>
                  </a:rPr>
                  <a:t>$l_2$</a:t>
                </a:r>
                <a:r>
                  <a:rPr sz="2400" b="0">
                    <a:solidFill>
                      <a:srgbClr val="111827"/>
                    </a:solidFill>
                    <a:latin typeface="Arial"/>
                  </a:rPr>
                  <a:t> and </a:t>
                </a:r>
                <a:r>
                  <a:rPr lang="en-IN" sz="2400">
                    <a:solidFill>
                      <a:srgbClr val="111827"/>
                    </a:solidFill>
                    <a:latin typeface="Cambria Math" panose="02040503050406030204" pitchFamily="18" charset="0"/>
                  </a:rPr>
                  <a:t>$l_1$</a:t>
                </a:r>
                <a:r>
                  <a:rPr sz="2400" b="0">
                    <a:solidFill>
                      <a:srgbClr val="111827"/>
                    </a:solidFill>
                    <a:latin typeface="Arial"/>
                  </a:rPr>
                  <a:t> has </a:t>
                </a:r>
                <a:r>
                  <a:rPr lang="en-IN" sz="2400">
                    <a:solidFill>
                      <a:srgbClr val="111827"/>
                    </a:solidFill>
                    <a:latin typeface="Cambria Math" panose="02040503050406030204" pitchFamily="18" charset="0"/>
                  </a:rPr>
                  <a:t>$\tan=\frac{m_2-m_1}{1+m_1m_2}=\frac{1-\frac{2}{3}}{1+\frac{2}{3}}=\frac{1}{5}$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$l_3$</a:t>
                </a:r>
                <a:r>
                  <a:rPr sz="2400" b="0">
                    <a:solidFill>
                      <a:srgbClr val="111827"/>
                    </a:solidFill>
                    <a:latin typeface="Arial"/>
                  </a:rPr>
                  <a:t> (slope </a:t>
                </a:r>
                <a:r>
                  <a:rPr lang="en-IN" sz="2400">
                    <a:solidFill>
                      <a:srgbClr val="111827"/>
                    </a:solidFill>
                    <a:latin typeface="Cambria Math" panose="02040503050406030204" pitchFamily="18" charset="0"/>
                  </a:rPr>
                  <a:t>$m_3$</a:t>
                </a:r>
                <a:r>
                  <a:rPr sz="2400" b="0">
                    <a:solidFill>
                      <a:srgbClr val="111827"/>
                    </a:solidFill>
                    <a:latin typeface="Arial"/>
                  </a:rPr>
                  <a:t>) is on the other side of </a:t>
                </a:r>
                <a:r>
                  <a:rPr lang="en-IN" sz="2400">
                    <a:solidFill>
                      <a:srgbClr val="111827"/>
                    </a:solidFill>
                    <a:latin typeface="Cambria Math" panose="02040503050406030204" pitchFamily="18" charset="0"/>
                  </a:rPr>
                  <a:t>$l_1$</a:t>
                </a:r>
                <a:r>
                  <a:rPr sz="2400" b="0">
                    <a:solidFill>
                      <a:srgbClr val="111827"/>
                    </a:solidFill>
                    <a:latin typeface="Arial"/>
                  </a:rPr>
                  <a:t> with the same angle: </a:t>
                </a:r>
                <a:r>
                  <a:rPr lang="en-IN" sz="2400">
                    <a:solidFill>
                      <a:srgbClr val="111827"/>
                    </a:solidFill>
                    <a:latin typeface="Cambria Math" panose="02040503050406030204" pitchFamily="18" charset="0"/>
                  </a:rPr>
                  <a:t>$\frac{m_1-m_3}{1+m_1m_3}=\frac{1}{5}$</a:t>
                </a:r>
                <a:r>
                  <a:rPr sz="2400" b="0">
                    <a:solidFill>
                      <a:srgbClr val="111827"/>
                    </a:solidFill>
                    <a:latin typeface="Arial"/>
                  </a:rPr>
                  <a:t>, i.e. </a:t>
                </a:r>
                <a:r>
                  <a:rPr lang="en-IN" sz="2400">
                    <a:solidFill>
                      <a:srgbClr val="111827"/>
                    </a:solidFill>
                    <a:latin typeface="Cambria Math" panose="02040503050406030204" pitchFamily="18" charset="0"/>
                  </a:rPr>
                  <a:t>$\frac{\frac{2}{3}-m_3}{1+\frac{2}{3}m_3}=\frac{1}{5}$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3</m:t>
                        </m:r>
                      </m:den>
                    </m:f>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17</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the value is </a:t>
                </a:r>
                <a14:m>
                  <m:oMath xmlns:m="http://schemas.openxmlformats.org/officeDocument/2006/math">
                    <m:r>
                      <a:rPr lang="en-IN" sz="2400" i="1">
                        <a:solidFill>
                          <a:srgbClr val="111827"/>
                        </a:solidFill>
                        <a:latin typeface="Cambria Math" panose="02040503050406030204" pitchFamily="18" charset="0"/>
                      </a:rPr>
                      <m:t>348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$\frac{10}{3}-5m_3=1+\frac{2}{3}m_3\Rightarrow\frac{17}{3}m_3=\frac{7}{3}\Rightarrow m_3=\frac{7}{17}$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$l_3$</a:t>
                </a:r>
                <a:r>
                  <a:rPr sz="2400" b="0">
                    <a:solidFill>
                      <a:srgbClr val="111827"/>
                    </a:solidFill>
                    <a:latin typeface="Arial"/>
                  </a:rPr>
                  <a:t> is </a:t>
                </a:r>
                <a:r>
                  <a:rPr lang="en-IN" sz="2400">
                    <a:solidFill>
                      <a:srgbClr val="111827"/>
                    </a:solidFill>
                    <a:latin typeface="Cambria Math" panose="02040503050406030204" pitchFamily="18" charset="0"/>
                  </a:rPr>
                  <a:t>$-\frac{\alpha}{\beta}=\frac{\alpha}{17}=\frac{7}{17}$</a:t>
                </a:r>
                <a:r>
                  <a:rPr sz="2400" b="0">
                    <a:solidFill>
                      <a:srgbClr val="111827"/>
                    </a:solidFill>
                    <a:latin typeface="Arial"/>
                  </a:rPr>
                  <a:t>, so </a:t>
                </a:r>
                <a:r>
                  <a:rPr lang="en-IN" sz="2400">
                    <a:solidFill>
                      <a:srgbClr val="111827"/>
                    </a:solidFill>
                    <a:latin typeface="Cambria Math" panose="02040503050406030204" pitchFamily="18" charset="0"/>
                  </a:rPr>
                  <a:t>$\alpha=7$</a:t>
                </a:r>
                <a:r>
                  <a:rPr sz="2400" b="0">
                    <a:solidFill>
                      <a:srgbClr val="111827"/>
                    </a:solidFill>
                    <a:latin typeface="Arial"/>
                  </a:rPr>
                  <a:t> and the value is </a:t>
                </a:r>
                <a:r>
                  <a:rPr lang="en-IN" sz="2400">
                    <a:solidFill>
                      <a:srgbClr val="111827"/>
                    </a:solidFill>
                    <a:latin typeface="Cambria Math" panose="02040503050406030204" pitchFamily="18" charset="0"/>
                  </a:rPr>
                  <a:t>$348$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348</a:t>
            </a:r>
            <a:endParaRPr sz="2800">
              <a:solidFill>
                <a:srgbClr val="15803D"/>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bisects the angle between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the reflection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and all three lines are concurrent.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tangent of the angle between lines of slopes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e>
                    </m:d>
                  </m:oMath>
                </a14:m>
                <a:r>
                  <a:rPr sz="2400" b="0">
                    <a:solidFill>
                      <a:srgbClr val="111827"/>
                    </a:solidFill>
                    <a:latin typeface="Arial"/>
                  </a:rPr>
                  <a:t>; equal angles on either side of a bisector give a one-line equation for the missing slope.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Image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$L$</a:t>
                </a:r>
                <a:r>
                  <a:rPr sz="2400" b="0">
                    <a:solidFill>
                      <a:srgbClr val="111827"/>
                    </a:solidFill>
                    <a:latin typeface="Arial"/>
                  </a:rPr>
                  <a:t> bisects the angle between </a:t>
                </a:r>
                <a:r>
                  <a:rPr lang="en-IN" sz="2400">
                    <a:solidFill>
                      <a:srgbClr val="111827"/>
                    </a:solidFill>
                    <a:latin typeface="Cambria Math" panose="02040503050406030204" pitchFamily="18" charset="0"/>
                  </a:rPr>
                  <a:t>$L_1$</a:t>
                </a:r>
                <a:r>
                  <a:rPr sz="2400" b="0">
                    <a:solidFill>
                      <a:srgbClr val="111827"/>
                    </a:solidFill>
                    <a:latin typeface="Arial"/>
                  </a:rPr>
                  <a:t> and </a:t>
                </a:r>
                <a:r>
                  <a:rPr lang="en-IN" sz="2400">
                    <a:solidFill>
                      <a:srgbClr val="111827"/>
                    </a:solidFill>
                    <a:latin typeface="Cambria Math" panose="02040503050406030204" pitchFamily="18" charset="0"/>
                  </a:rPr>
                  <a:t>$L_2$</a:t>
                </a:r>
                <a:r>
                  <a:rPr sz="2400" b="0">
                    <a:solidFill>
                      <a:srgbClr val="111827"/>
                    </a:solidFill>
                    <a:latin typeface="Arial"/>
                  </a:rPr>
                  <a:t>, then </a:t>
                </a:r>
                <a:r>
                  <a:rPr lang="en-IN" sz="2400">
                    <a:solidFill>
                      <a:srgbClr val="111827"/>
                    </a:solidFill>
                    <a:latin typeface="Cambria Math" panose="02040503050406030204" pitchFamily="18" charset="0"/>
                  </a:rPr>
                  <a:t>$L_2$</a:t>
                </a:r>
                <a:r>
                  <a:rPr sz="2400" b="0">
                    <a:solidFill>
                      <a:srgbClr val="111827"/>
                    </a:solidFill>
                    <a:latin typeface="Arial"/>
                  </a:rPr>
                  <a:t> is the reflection of </a:t>
                </a:r>
                <a:r>
                  <a:rPr lang="en-IN" sz="2400">
                    <a:solidFill>
                      <a:srgbClr val="111827"/>
                    </a:solidFill>
                    <a:latin typeface="Cambria Math" panose="02040503050406030204" pitchFamily="18" charset="0"/>
                  </a:rPr>
                  <a:t>$L_1$</a:t>
                </a:r>
                <a:r>
                  <a:rPr sz="2400" b="0">
                    <a:solidFill>
                      <a:srgbClr val="111827"/>
                    </a:solidFill>
                    <a:latin typeface="Arial"/>
                  </a:rPr>
                  <a:t> in </a:t>
                </a:r>
                <a:r>
                  <a:rPr lang="en-IN" sz="2400">
                    <a:solidFill>
                      <a:srgbClr val="111827"/>
                    </a:solidFill>
                    <a:latin typeface="Cambria Math" panose="02040503050406030204" pitchFamily="18" charset="0"/>
                  </a:rPr>
                  <a:t>$L$</a:t>
                </a:r>
                <a:r>
                  <a:rPr sz="2400" b="0">
                    <a:solidFill>
                      <a:srgbClr val="111827"/>
                    </a:solidFill>
                    <a:latin typeface="Arial"/>
                  </a:rPr>
                  <a:t>, and all three lines are concurrent.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tangent of the angle between lines of slopes </a:t>
                </a:r>
                <a:r>
                  <a:rPr lang="en-IN" sz="2400">
                    <a:solidFill>
                      <a:srgbClr val="111827"/>
                    </a:solidFill>
                    <a:latin typeface="Cambria Math" panose="02040503050406030204" pitchFamily="18" charset="0"/>
                  </a:rPr>
                  <a:t>$m_1,m_2$</a:t>
                </a:r>
                <a:r>
                  <a:rPr sz="2400" b="0">
                    <a:solidFill>
                      <a:srgbClr val="111827"/>
                    </a:solidFill>
                    <a:latin typeface="Arial"/>
                  </a:rPr>
                  <a:t> is </a:t>
                </a:r>
                <a:r>
                  <a:rPr lang="en-IN" sz="2400">
                    <a:solidFill>
                      <a:srgbClr val="111827"/>
                    </a:solidFill>
                    <a:latin typeface="Cambria Math" panose="02040503050406030204" pitchFamily="18" charset="0"/>
                  </a:rPr>
                  <a:t>$\left|\frac{m_1-m_2}{1+m_1m_2}\right|$</a:t>
                </a:r>
                <a:r>
                  <a:rPr sz="2400" b="0">
                    <a:solidFill>
                      <a:srgbClr val="111827"/>
                    </a:solidFill>
                    <a:latin typeface="Arial"/>
                  </a:rPr>
                  <a:t>; equal angles on either side of a bisector give a one-line equation for the missing slope.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Image of </a:t>
                </a:r>
                <a:r>
                  <a:rPr lang="en-IN" sz="2400">
                    <a:solidFill>
                      <a:srgbClr val="111827"/>
                    </a:solidFill>
                    <a:latin typeface="Cambria Math" panose="02040503050406030204" pitchFamily="18" charset="0"/>
                  </a:rPr>
                  <a:t>$(x_1,y_1)$</a:t>
                </a:r>
                <a:r>
                  <a:rPr sz="2400" b="0">
                    <a:solidFill>
                      <a:srgbClr val="111827"/>
                    </a:solidFill>
                    <a:latin typeface="Arial"/>
                  </a:rPr>
                  <a:t> in </a:t>
                </a:r>
                <a:r>
                  <a:rPr lang="en-IN" sz="2400">
                    <a:solidFill>
                      <a:srgbClr val="111827"/>
                    </a:solidFill>
                    <a:latin typeface="Cambria Math" panose="02040503050406030204" pitchFamily="18" charset="0"/>
                  </a:rPr>
                  <a:t>$ax+by+c=0$</a:t>
                </a:r>
                <a:r>
                  <a:rPr sz="2400" b="0">
                    <a:solidFill>
                      <a:srgbClr val="111827"/>
                    </a:solidFill>
                    <a:latin typeface="Arial"/>
                  </a:rPr>
                  <a:t>: </a:t>
                </a:r>
                <a:r>
                  <a:rPr lang="en-IN" sz="2400">
                    <a:solidFill>
                      <a:srgbClr val="111827"/>
                    </a:solidFill>
                    <a:latin typeface="Cambria Math" panose="02040503050406030204" pitchFamily="18" charset="0"/>
                  </a:rPr>
                  <a:t>$\frac{x-x_1}{a}=\frac{y-y_1}{b}=-\frac{2(ax_1+by_1+c)}{a^2+b^2}$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triangle with vertices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maximum and the minimum perimeters of such triangles are obtained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respectively, then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β</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triangle with vertices </a:t>
                </a:r>
                <a:r>
                  <a:rPr lang="en-IN" sz="2400">
                    <a:solidFill>
                      <a:srgbClr val="111827"/>
                    </a:solidFill>
                    <a:latin typeface="Cambria Math" panose="02040503050406030204" pitchFamily="18" charset="0"/>
                  </a:rPr>
                  <a:t>$A(2,1)$</a:t>
                </a:r>
                <a:r>
                  <a:rPr sz="2400" b="0">
                    <a:solidFill>
                      <a:srgbClr val="111827"/>
                    </a:solidFill>
                    <a:latin typeface="Arial"/>
                  </a:rPr>
                  <a:t>, </a:t>
                </a:r>
                <a:r>
                  <a:rPr lang="en-IN" sz="2400">
                    <a:solidFill>
                      <a:srgbClr val="111827"/>
                    </a:solidFill>
                    <a:latin typeface="Cambria Math" panose="02040503050406030204" pitchFamily="18" charset="0"/>
                  </a:rPr>
                  <a:t>$B(0,0)$</a:t>
                </a:r>
                <a:r>
                  <a:rPr sz="2400" b="0">
                    <a:solidFill>
                      <a:srgbClr val="111827"/>
                    </a:solidFill>
                    <a:latin typeface="Arial"/>
                  </a:rPr>
                  <a:t> and </a:t>
                </a:r>
                <a:r>
                  <a:rPr lang="en-IN" sz="2400">
                    <a:solidFill>
                      <a:srgbClr val="111827"/>
                    </a:solidFill>
                    <a:latin typeface="Cambria Math" panose="02040503050406030204" pitchFamily="18" charset="0"/>
                  </a:rPr>
                  <a:t>$C(t,4)$</a:t>
                </a:r>
                <a:r>
                  <a:rPr sz="2400" b="0">
                    <a:solidFill>
                      <a:srgbClr val="111827"/>
                    </a:solidFill>
                    <a:latin typeface="Arial"/>
                  </a:rPr>
                  <a:t>, </a:t>
                </a:r>
                <a:r>
                  <a:rPr lang="en-IN" sz="2400">
                    <a:solidFill>
                      <a:srgbClr val="111827"/>
                    </a:solidFill>
                    <a:latin typeface="Cambria Math" panose="02040503050406030204" pitchFamily="18" charset="0"/>
                  </a:rPr>
                  <a:t>$t\in[0,4]$</a:t>
                </a:r>
                <a:r>
                  <a:rPr sz="2400" b="0">
                    <a:solidFill>
                      <a:srgbClr val="111827"/>
                    </a:solidFill>
                    <a:latin typeface="Arial"/>
                  </a:rPr>
                  <a:t>. If the maximum and the minimum perimeters of such triangles are obtained at </a:t>
                </a:r>
                <a:r>
                  <a:rPr lang="en-IN" sz="2400">
                    <a:solidFill>
                      <a:srgbClr val="111827"/>
                    </a:solidFill>
                    <a:latin typeface="Cambria Math" panose="02040503050406030204" pitchFamily="18" charset="0"/>
                  </a:rPr>
                  <a:t>$t=\alpha$</a:t>
                </a:r>
                <a:r>
                  <a:rPr sz="2400" b="0">
                    <a:solidFill>
                      <a:srgbClr val="111827"/>
                    </a:solidFill>
                    <a:latin typeface="Arial"/>
                  </a:rPr>
                  <a:t> and </a:t>
                </a:r>
                <a:r>
                  <a:rPr lang="en-IN" sz="2400">
                    <a:solidFill>
                      <a:srgbClr val="111827"/>
                    </a:solidFill>
                    <a:latin typeface="Cambria Math" panose="02040503050406030204" pitchFamily="18" charset="0"/>
                  </a:rPr>
                  <a:t>$t=\beta$</a:t>
                </a:r>
                <a:r>
                  <a:rPr sz="2400" b="0">
                    <a:solidFill>
                      <a:srgbClr val="111827"/>
                    </a:solidFill>
                    <a:latin typeface="Arial"/>
                  </a:rPr>
                  <a:t> respectively, then </a:t>
                </a:r>
                <a:r>
                  <a:rPr lang="en-IN" sz="2400">
                    <a:solidFill>
                      <a:srgbClr val="111827"/>
                    </a:solidFill>
                    <a:latin typeface="Cambria Math" panose="02040503050406030204" pitchFamily="18" charset="0"/>
                  </a:rPr>
                  <a:t>$6\alpha+21\beta$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Minimum and maximum of a sum of distances, Reflection in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minimum of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𝐴</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on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comes from reflecting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in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the maximum of this convex sum is at an end of the interval.</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minimum of </a:t>
                </a:r>
                <a:r>
                  <a:rPr lang="en-IN" sz="2400">
                    <a:solidFill>
                      <a:srgbClr val="78350F"/>
                    </a:solidFill>
                    <a:latin typeface="Cambria Math" panose="02040503050406030204" pitchFamily="18" charset="0"/>
                  </a:rPr>
                  <a:t>$BC+CA$</a:t>
                </a:r>
                <a:r>
                  <a:rPr sz="2400" b="0">
                    <a:solidFill>
                      <a:srgbClr val="78350F"/>
                    </a:solidFill>
                    <a:latin typeface="Arial"/>
                  </a:rPr>
                  <a:t> for </a:t>
                </a:r>
                <a:r>
                  <a:rPr lang="en-IN" sz="2400">
                    <a:solidFill>
                      <a:srgbClr val="78350F"/>
                    </a:solidFill>
                    <a:latin typeface="Cambria Math" panose="02040503050406030204" pitchFamily="18" charset="0"/>
                  </a:rPr>
                  <a:t>$C$</a:t>
                </a:r>
                <a:r>
                  <a:rPr sz="2400" b="0">
                    <a:solidFill>
                      <a:srgbClr val="78350F"/>
                    </a:solidFill>
                    <a:latin typeface="Arial"/>
                  </a:rPr>
                  <a:t> on </a:t>
                </a:r>
                <a:r>
                  <a:rPr lang="en-IN" sz="2400">
                    <a:solidFill>
                      <a:srgbClr val="78350F"/>
                    </a:solidFill>
                    <a:latin typeface="Cambria Math" panose="02040503050406030204" pitchFamily="18" charset="0"/>
                  </a:rPr>
                  <a:t>$y=4$</a:t>
                </a:r>
                <a:r>
                  <a:rPr sz="2400" b="0">
                    <a:solidFill>
                      <a:srgbClr val="78350F"/>
                    </a:solidFill>
                    <a:latin typeface="Arial"/>
                  </a:rPr>
                  <a:t> comes from reflecting </a:t>
                </a:r>
                <a:r>
                  <a:rPr lang="en-IN" sz="2400">
                    <a:solidFill>
                      <a:srgbClr val="78350F"/>
                    </a:solidFill>
                    <a:latin typeface="Cambria Math" panose="02040503050406030204" pitchFamily="18" charset="0"/>
                  </a:rPr>
                  <a:t>$B$</a:t>
                </a:r>
                <a:r>
                  <a:rPr sz="2400" b="0">
                    <a:solidFill>
                      <a:srgbClr val="78350F"/>
                    </a:solidFill>
                    <a:latin typeface="Arial"/>
                  </a:rPr>
                  <a:t> in </a:t>
                </a:r>
                <a:r>
                  <a:rPr lang="en-IN" sz="2400">
                    <a:solidFill>
                      <a:srgbClr val="78350F"/>
                    </a:solidFill>
                    <a:latin typeface="Cambria Math" panose="02040503050406030204" pitchFamily="18" charset="0"/>
                  </a:rPr>
                  <a:t>$y=4$</a:t>
                </a:r>
                <a:r>
                  <a:rPr sz="2400" b="0">
                    <a:solidFill>
                      <a:srgbClr val="78350F"/>
                    </a:solidFill>
                    <a:latin typeface="Arial"/>
                  </a:rPr>
                  <a:t>; the maximum of this convex sum is at an end of the interval.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is fixed, so the perimeter varies only through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moving 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reflect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to get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oMath>
                </a14:m>
                <a:r>
                  <a:rPr sz="2400" b="0">
                    <a:solidFill>
                      <a:srgbClr val="111827"/>
                    </a:solidFill>
                    <a:latin typeface="Arial"/>
                  </a:rPr>
                  <a:t>, with equality when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on segment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$AB=\sqrt{5}$</a:t>
                </a:r>
                <a:r>
                  <a:rPr sz="2400" b="0">
                    <a:solidFill>
                      <a:srgbClr val="111827"/>
                    </a:solidFill>
                    <a:latin typeface="Arial"/>
                  </a:rPr>
                  <a:t> is fixed, so the perimeter varies only through </a:t>
                </a:r>
                <a:r>
                  <a:rPr lang="en-IN" sz="2400">
                    <a:solidFill>
                      <a:srgbClr val="111827"/>
                    </a:solidFill>
                    <a:latin typeface="Cambria Math" panose="02040503050406030204" pitchFamily="18" charset="0"/>
                  </a:rPr>
                  <a:t>$BC+CA$</a:t>
                </a:r>
                <a:r>
                  <a:rPr sz="2400" b="0">
                    <a:solidFill>
                      <a:srgbClr val="111827"/>
                    </a:solidFill>
                    <a:latin typeface="Arial"/>
                  </a:rPr>
                  <a:t> with </a:t>
                </a:r>
                <a:r>
                  <a:rPr lang="en-IN" sz="2400">
                    <a:solidFill>
                      <a:srgbClr val="111827"/>
                    </a:solidFill>
                    <a:latin typeface="Cambria Math" panose="02040503050406030204" pitchFamily="18" charset="0"/>
                  </a:rPr>
                  <a:t>$C$</a:t>
                </a:r>
                <a:r>
                  <a:rPr sz="2400" b="0">
                    <a:solidFill>
                      <a:srgbClr val="111827"/>
                    </a:solidFill>
                    <a:latin typeface="Arial"/>
                  </a:rPr>
                  <a:t> moving on </a:t>
                </a:r>
                <a:r>
                  <a:rPr lang="en-IN" sz="2400">
                    <a:solidFill>
                      <a:srgbClr val="111827"/>
                    </a:solidFill>
                    <a:latin typeface="Cambria Math" panose="02040503050406030204" pitchFamily="18" charset="0"/>
                  </a:rPr>
                  <a:t>$y=4$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reflect </a:t>
                </a:r>
                <a:r>
                  <a:rPr lang="en-IN" sz="2400">
                    <a:solidFill>
                      <a:srgbClr val="111827"/>
                    </a:solidFill>
                    <a:latin typeface="Cambria Math" panose="02040503050406030204" pitchFamily="18" charset="0"/>
                  </a:rPr>
                  <a:t>$B$</a:t>
                </a:r>
                <a:r>
                  <a:rPr sz="2400" b="0">
                    <a:solidFill>
                      <a:srgbClr val="111827"/>
                    </a:solidFill>
                    <a:latin typeface="Arial"/>
                  </a:rPr>
                  <a:t> in </a:t>
                </a:r>
                <a:r>
                  <a:rPr lang="en-IN" sz="2400">
                    <a:solidFill>
                      <a:srgbClr val="111827"/>
                    </a:solidFill>
                    <a:latin typeface="Cambria Math" panose="02040503050406030204" pitchFamily="18" charset="0"/>
                  </a:rPr>
                  <a:t>$y=4$</a:t>
                </a:r>
                <a:r>
                  <a:rPr sz="2400" b="0">
                    <a:solidFill>
                      <a:srgbClr val="111827"/>
                    </a:solidFill>
                    <a:latin typeface="Arial"/>
                  </a:rPr>
                  <a:t> to get </a:t>
                </a:r>
                <a:r>
                  <a:rPr lang="en-IN" sz="2400">
                    <a:solidFill>
                      <a:srgbClr val="111827"/>
                    </a:solidFill>
                    <a:latin typeface="Cambria Math" panose="02040503050406030204" pitchFamily="18" charset="0"/>
                  </a:rPr>
                  <a:t>$D(0,8)$</a:t>
                </a:r>
                <a:r>
                  <a:rPr sz="2400" b="0">
                    <a:solidFill>
                      <a:srgbClr val="111827"/>
                    </a:solidFill>
                    <a:latin typeface="Arial"/>
                  </a:rPr>
                  <a:t>. Then </a:t>
                </a:r>
                <a:r>
                  <a:rPr lang="en-IN" sz="2400">
                    <a:solidFill>
                      <a:srgbClr val="111827"/>
                    </a:solidFill>
                    <a:latin typeface="Cambria Math" panose="02040503050406030204" pitchFamily="18" charset="0"/>
                  </a:rPr>
                  <a:t>$BC=DC$</a:t>
                </a:r>
                <a:r>
                  <a:rPr sz="2400" b="0">
                    <a:solidFill>
                      <a:srgbClr val="111827"/>
                    </a:solidFill>
                    <a:latin typeface="Arial"/>
                  </a:rPr>
                  <a:t>, so </a:t>
                </a:r>
                <a:r>
                  <a:rPr lang="en-IN" sz="2400">
                    <a:solidFill>
                      <a:srgbClr val="111827"/>
                    </a:solidFill>
                    <a:latin typeface="Cambria Math" panose="02040503050406030204" pitchFamily="18" charset="0"/>
                  </a:rPr>
                  <a:t>$BC+CA=DC+CA\ge DA$</a:t>
                </a:r>
                <a:r>
                  <a:rPr sz="2400" b="0">
                    <a:solidFill>
                      <a:srgbClr val="111827"/>
                    </a:solidFill>
                    <a:latin typeface="Arial"/>
                  </a:rPr>
                  <a:t>, with equality when </a:t>
                </a:r>
                <a:r>
                  <a:rPr lang="en-IN" sz="2400">
                    <a:solidFill>
                      <a:srgbClr val="111827"/>
                    </a:solidFill>
                    <a:latin typeface="Cambria Math" panose="02040503050406030204" pitchFamily="18" charset="0"/>
                  </a:rPr>
                  <a:t>$C$</a:t>
                </a:r>
                <a:r>
                  <a:rPr sz="2400" b="0">
                    <a:solidFill>
                      <a:srgbClr val="111827"/>
                    </a:solidFill>
                    <a:latin typeface="Arial"/>
                  </a:rPr>
                  <a:t> is on segment </a:t>
                </a:r>
                <a:r>
                  <a:rPr lang="en-IN" sz="2400">
                    <a:solidFill>
                      <a:srgbClr val="111827"/>
                    </a:solidFill>
                    <a:latin typeface="Cambria Math" panose="02040503050406030204" pitchFamily="18" charset="0"/>
                  </a:rPr>
                  <a:t>$DA$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 </a:t>
                </a:r>
                <a:r>
                  <a:rPr lang="en-IN" sz="2400">
                    <a:solidFill>
                      <a:srgbClr val="111827"/>
                    </a:solidFill>
                    <a:latin typeface="Cambria Math" panose="02040503050406030204" pitchFamily="18" charset="0"/>
                  </a:rPr>
                  <a:t>$AD$</a:t>
                </a:r>
                <a:r>
                  <a:rPr sz="2400" b="0">
                    <a:solidFill>
                      <a:srgbClr val="111827"/>
                    </a:solidFill>
                    <a:latin typeface="Arial"/>
                  </a:rPr>
                  <a:t>: slope </a:t>
                </a:r>
                <a:r>
                  <a:rPr lang="en-IN" sz="2400">
                    <a:solidFill>
                      <a:srgbClr val="111827"/>
                    </a:solidFill>
                    <a:latin typeface="Cambria Math" panose="02040503050406030204" pitchFamily="18" charset="0"/>
                  </a:rPr>
                  <a:t>$\frac{8-1}{0-2}=-\frac{7}{2}$</a:t>
                </a:r>
                <a:r>
                  <a:rPr sz="2400" b="0">
                    <a:solidFill>
                      <a:srgbClr val="111827"/>
                    </a:solidFill>
                    <a:latin typeface="Arial"/>
                  </a:rPr>
                  <a:t>, so </a:t>
                </a:r>
                <a:r>
                  <a:rPr lang="en-IN" sz="2400">
                    <a:solidFill>
                      <a:srgbClr val="111827"/>
                    </a:solidFill>
                    <a:latin typeface="Cambria Math" panose="02040503050406030204" pitchFamily="18" charset="0"/>
                  </a:rPr>
                  <a:t>$y-1=-\frac{7}{2}(x-2)$</a:t>
                </a:r>
                <a:r>
                  <a:rPr sz="2400" b="0">
                    <a:solidFill>
                      <a:srgbClr val="111827"/>
                    </a:solidFill>
                    <a:latin typeface="Arial"/>
                  </a:rPr>
                  <a:t>, i.e. </a:t>
                </a:r>
                <a:r>
                  <a:rPr lang="en-IN" sz="2400">
                    <a:solidFill>
                      <a:srgbClr val="111827"/>
                    </a:solidFill>
                    <a:latin typeface="Cambria Math" panose="02040503050406030204" pitchFamily="18" charset="0"/>
                  </a:rPr>
                  <a:t>$7x+2y=16$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𝐸</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d>
                  </m:oMath>
                </a14:m>
                <a:r>
                  <a:rPr sz="2400" b="0">
                    <a:solidFill>
                      <a:srgbClr val="111827"/>
                    </a:solidFill>
                    <a:latin typeface="Arial"/>
                  </a:rPr>
                  <a:t>, which is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oMath>
                </a14:m>
                <a:r>
                  <a:rPr sz="2400" b="0">
                    <a:solidFill>
                      <a:srgbClr val="111827"/>
                    </a:solidFill>
                    <a:latin typeface="Arial"/>
                  </a:rPr>
                  <a:t> is convex (sum of distances from a moving point on a line), so its maximum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an end.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9.26</m:t>
                    </m:r>
                  </m:oMath>
                </a14:m>
                <a:r>
                  <a:rPr sz="2400" b="0">
                    <a:solidFill>
                      <a:srgbClr val="111827"/>
                    </a:solidFill>
                    <a:latin typeface="Arial"/>
                  </a:rPr>
                  <a:t>, so the maximum is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$y=4$</a:t>
                </a:r>
                <a:r>
                  <a:rPr sz="2400" b="0">
                    <a:solidFill>
                      <a:srgbClr val="111827"/>
                    </a:solidFill>
                    <a:latin typeface="Arial"/>
                  </a:rPr>
                  <a:t>: </a:t>
                </a:r>
                <a:r>
                  <a:rPr lang="en-IN" sz="2400">
                    <a:solidFill>
                      <a:srgbClr val="111827"/>
                    </a:solidFill>
                    <a:latin typeface="Cambria Math" panose="02040503050406030204" pitchFamily="18" charset="0"/>
                  </a:rPr>
                  <a:t>$7x=8$</a:t>
                </a:r>
                <a:r>
                  <a:rPr sz="2400" b="0">
                    <a:solidFill>
                      <a:srgbClr val="111827"/>
                    </a:solidFill>
                    <a:latin typeface="Arial"/>
                  </a:rPr>
                  <a:t>, so </a:t>
                </a:r>
                <a:r>
                  <a:rPr lang="en-IN" sz="2400">
                    <a:solidFill>
                      <a:srgbClr val="111827"/>
                    </a:solidFill>
                    <a:latin typeface="Cambria Math" panose="02040503050406030204" pitchFamily="18" charset="0"/>
                  </a:rPr>
                  <a:t>$E\left(\frac{8}{7},4\right)$</a:t>
                </a:r>
                <a:r>
                  <a:rPr sz="2400" b="0">
                    <a:solidFill>
                      <a:srgbClr val="111827"/>
                    </a:solidFill>
                    <a:latin typeface="Arial"/>
                  </a:rPr>
                  <a:t>, which is in </a:t>
                </a:r>
                <a:r>
                  <a:rPr lang="en-IN" sz="2400">
                    <a:solidFill>
                      <a:srgbClr val="111827"/>
                    </a:solidFill>
                    <a:latin typeface="Cambria Math" panose="02040503050406030204" pitchFamily="18" charset="0"/>
                  </a:rPr>
                  <a:t>$[0,4]$</a:t>
                </a:r>
                <a:r>
                  <a:rPr sz="2400" b="0">
                    <a:solidFill>
                      <a:srgbClr val="111827"/>
                    </a:solidFill>
                    <a:latin typeface="Arial"/>
                  </a:rPr>
                  <a:t>. Hence </a:t>
                </a:r>
                <a:r>
                  <a:rPr lang="en-IN" sz="2400">
                    <a:solidFill>
                      <a:srgbClr val="111827"/>
                    </a:solidFill>
                    <a:latin typeface="Cambria Math" panose="02040503050406030204" pitchFamily="18" charset="0"/>
                  </a:rPr>
                  <a:t>$\beta=\frac{8}{7}$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a:t>
                </a:r>
                <a:r>
                  <a:rPr lang="en-IN" sz="2400">
                    <a:solidFill>
                      <a:srgbClr val="111827"/>
                    </a:solidFill>
                    <a:latin typeface="Cambria Math" panose="02040503050406030204" pitchFamily="18" charset="0"/>
                  </a:rPr>
                  <a:t>$f(t)=\sqrt{t^2+16}+\sqrt{(t-2)^2+9}$</a:t>
                </a:r>
                <a:r>
                  <a:rPr sz="2400" b="0">
                    <a:solidFill>
                      <a:srgbClr val="111827"/>
                    </a:solidFill>
                    <a:latin typeface="Arial"/>
                  </a:rPr>
                  <a:t> is convex (sum of distances from a moving point on a line), so its maximum on </a:t>
                </a:r>
                <a:r>
                  <a:rPr lang="en-IN" sz="2400">
                    <a:solidFill>
                      <a:srgbClr val="111827"/>
                    </a:solidFill>
                    <a:latin typeface="Cambria Math" panose="02040503050406030204" pitchFamily="18" charset="0"/>
                  </a:rPr>
                  <a:t>$[0,4]$</a:t>
                </a:r>
                <a:r>
                  <a:rPr sz="2400" b="0">
                    <a:solidFill>
                      <a:srgbClr val="111827"/>
                    </a:solidFill>
                    <a:latin typeface="Arial"/>
                  </a:rPr>
                  <a:t> is at an end. </a:t>
                </a:r>
                <a:r>
                  <a:rPr lang="en-IN" sz="2400">
                    <a:solidFill>
                      <a:srgbClr val="111827"/>
                    </a:solidFill>
                    <a:latin typeface="Cambria Math" panose="02040503050406030204" pitchFamily="18" charset="0"/>
                  </a:rPr>
                  <a:t>$f(0)=4+\sqrt{13}\approx7.61$</a:t>
                </a:r>
                <a:r>
                  <a:rPr sz="2400" b="0">
                    <a:solidFill>
                      <a:srgbClr val="111827"/>
                    </a:solidFill>
                    <a:latin typeface="Arial"/>
                  </a:rPr>
                  <a:t> and </a:t>
                </a:r>
                <a:r>
                  <a:rPr lang="en-IN" sz="2400">
                    <a:solidFill>
                      <a:srgbClr val="111827"/>
                    </a:solidFill>
                    <a:latin typeface="Cambria Math" panose="02040503050406030204" pitchFamily="18" charset="0"/>
                  </a:rPr>
                  <a:t>$f(4)=\sqrt{32}+\sqrt{13}\approx9.26$</a:t>
                </a:r>
                <a:r>
                  <a:rPr sz="2400" b="0">
                    <a:solidFill>
                      <a:srgbClr val="111827"/>
                    </a:solidFill>
                    <a:latin typeface="Arial"/>
                  </a:rPr>
                  <a:t>, so the maximum is at </a:t>
                </a:r>
                <a:r>
                  <a:rPr lang="en-IN" sz="2400">
                    <a:solidFill>
                      <a:srgbClr val="111827"/>
                    </a:solidFill>
                    <a:latin typeface="Cambria Math" panose="02040503050406030204" pitchFamily="18" charset="0"/>
                  </a:rPr>
                  <a:t>$t=4$</a:t>
                </a:r>
                <a:r>
                  <a:rPr sz="2400" b="0">
                    <a:solidFill>
                      <a:srgbClr val="111827"/>
                    </a:solidFill>
                    <a:latin typeface="Arial"/>
                  </a:rPr>
                  <a:t>, i.e. </a:t>
                </a:r>
                <a:r>
                  <a:rPr lang="en-IN" sz="2400">
                    <a:solidFill>
                      <a:srgbClr val="111827"/>
                    </a:solidFill>
                    <a:latin typeface="Cambria Math" panose="02040503050406030204" pitchFamily="18" charset="0"/>
                  </a:rPr>
                  <a:t>$C(4,4)$</a:t>
                </a:r>
                <a:r>
                  <a:rPr sz="2400" b="0">
                    <a:solidFill>
                      <a:srgbClr val="111827"/>
                    </a:solidFill>
                    <a:latin typeface="Arial"/>
                  </a:rPr>
                  <a:t> and </a:t>
                </a:r>
                <a:r>
                  <a:rPr lang="en-IN" sz="2400">
                    <a:solidFill>
                      <a:srgbClr val="111827"/>
                    </a:solidFill>
                    <a:latin typeface="Cambria Math" panose="02040503050406030204" pitchFamily="18" charset="0"/>
                  </a:rPr>
                  <a:t>$\alpha=4$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$6\alpha+21\beta=24+21\cdot\frac{8}{7}=24+24=48$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48</a:t>
            </a:r>
            <a:endParaRPr sz="2800">
              <a:solidFill>
                <a:srgbClr val="15803D"/>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Differentiate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𝐴</m:t>
                    </m:r>
                  </m:oMath>
                </a14:m>
                <a:r>
                  <a:rPr sz="2400" b="0">
                    <a:solidFill>
                      <a:srgbClr val="78350F"/>
                    </a:solidFill>
                    <a:latin typeface="Arial"/>
                  </a:rPr>
                  <a:t> and solve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 the minimum; use convexity for the maximum.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Differentiate </a:t>
                </a:r>
                <a:r>
                  <a:rPr lang="en-IN" sz="2400">
                    <a:solidFill>
                      <a:srgbClr val="78350F"/>
                    </a:solidFill>
                    <a:latin typeface="Cambria Math" panose="02040503050406030204" pitchFamily="18" charset="0"/>
                  </a:rPr>
                  <a:t>$f(t)=BC+CA$</a:t>
                </a:r>
                <a:r>
                  <a:rPr sz="2400" b="0">
                    <a:solidFill>
                      <a:srgbClr val="78350F"/>
                    </a:solidFill>
                    <a:latin typeface="Arial"/>
                  </a:rPr>
                  <a:t> and solve </a:t>
                </a:r>
                <a:r>
                  <a:rPr lang="en-IN" sz="2400">
                    <a:solidFill>
                      <a:srgbClr val="78350F"/>
                    </a:solidFill>
                    <a:latin typeface="Cambria Math" panose="02040503050406030204" pitchFamily="18" charset="0"/>
                  </a:rPr>
                  <a:t>$f'(t)=0$</a:t>
                </a:r>
                <a:r>
                  <a:rPr sz="2400" b="0">
                    <a:solidFill>
                      <a:srgbClr val="78350F"/>
                    </a:solidFill>
                    <a:latin typeface="Arial"/>
                  </a:rPr>
                  <a:t> for the minimum; use convexity for the maximum.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means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den>
                    </m:f>
                  </m:oMath>
                </a14:m>
                <a:r>
                  <a:rPr sz="2400" b="0">
                    <a:solidFill>
                      <a:srgbClr val="111827"/>
                    </a:solidFill>
                    <a:latin typeface="Arial"/>
                  </a:rPr>
                  <a:t>, which needs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$f(t)=\sqrt{t^2+16}+\sqrt{(t-2)^2+9}$</a:t>
                </a:r>
                <a:r>
                  <a:rPr sz="2400" b="0">
                    <a:solidFill>
                      <a:srgbClr val="111827"/>
                    </a:solidFill>
                    <a:latin typeface="Arial"/>
                  </a:rPr>
                  <a:t>, so </a:t>
                </a:r>
                <a:r>
                  <a:rPr lang="en-IN" sz="2400">
                    <a:solidFill>
                      <a:srgbClr val="111827"/>
                    </a:solidFill>
                    <a:latin typeface="Cambria Math" panose="02040503050406030204" pitchFamily="18" charset="0"/>
                  </a:rPr>
                  <a:t>$f'(t)=\frac{t}{\sqrt{t^2+16}}+\frac{t-2}{\sqrt{(t-2)^2+9}}$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$f'(t)=0$</a:t>
                </a:r>
                <a:r>
                  <a:rPr sz="2400" b="0">
                    <a:solidFill>
                      <a:srgbClr val="111827"/>
                    </a:solidFill>
                    <a:latin typeface="Arial"/>
                  </a:rPr>
                  <a:t> means </a:t>
                </a:r>
                <a:r>
                  <a:rPr lang="en-IN" sz="2400">
                    <a:solidFill>
                      <a:srgbClr val="111827"/>
                    </a:solidFill>
                    <a:latin typeface="Cambria Math" panose="02040503050406030204" pitchFamily="18" charset="0"/>
                  </a:rPr>
                  <a:t>$\frac{t}{\sqrt{t^2+16}}=\frac{2-t}{\sqrt{(t-2)^2+9}}$</a:t>
                </a:r>
                <a:r>
                  <a:rPr sz="2400" b="0">
                    <a:solidFill>
                      <a:srgbClr val="111827"/>
                    </a:solidFill>
                    <a:latin typeface="Arial"/>
                  </a:rPr>
                  <a:t>, which needs </a:t>
                </a:r>
                <a:r>
                  <a:rPr lang="en-IN" sz="2400">
                    <a:solidFill>
                      <a:srgbClr val="111827"/>
                    </a:solidFill>
                    <a:latin typeface="Cambria Math" panose="02040503050406030204" pitchFamily="18" charset="0"/>
                  </a:rPr>
                  <a:t>$0&lt;t&lt;2$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t>
                </a:r>
                <a:r>
                  <a:rPr lang="en-IN" sz="2400">
                    <a:solidFill>
                      <a:srgbClr val="111827"/>
                    </a:solidFill>
                    <a:latin typeface="Cambria Math" panose="02040503050406030204" pitchFamily="18" charset="0"/>
                  </a:rPr>
                  <a:t>$t^2\left[(t-2)^2+9\right]=(2-t)^2(t^2+16)\Rightarrow9t^2=16(t-2)^2\Rightarrow3t=4(2-t)\Rightarrow t=\frac{8}{7}$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this is the minimum: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convex, so its maximum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$f''(t)&gt;0$</a:t>
                </a:r>
                <a:r>
                  <a:rPr sz="2400" b="0">
                    <a:solidFill>
                      <a:srgbClr val="111827"/>
                    </a:solidFill>
                    <a:latin typeface="Arial"/>
                  </a:rPr>
                  <a:t>, so this is the minimum: </a:t>
                </a:r>
                <a:r>
                  <a:rPr lang="en-IN" sz="2400">
                    <a:solidFill>
                      <a:srgbClr val="111827"/>
                    </a:solidFill>
                    <a:latin typeface="Cambria Math" panose="02040503050406030204" pitchFamily="18" charset="0"/>
                  </a:rPr>
                  <a:t>$\beta=\frac{8}{7}$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convex, so its maximum on </a:t>
                </a:r>
                <a:r>
                  <a:rPr lang="en-IN" sz="2400">
                    <a:solidFill>
                      <a:srgbClr val="111827"/>
                    </a:solidFill>
                    <a:latin typeface="Cambria Math" panose="02040503050406030204" pitchFamily="18" charset="0"/>
                  </a:rPr>
                  <a:t>$[0,4]$</a:t>
                </a:r>
                <a:r>
                  <a:rPr sz="2400" b="0">
                    <a:solidFill>
                      <a:srgbClr val="111827"/>
                    </a:solidFill>
                    <a:latin typeface="Arial"/>
                  </a:rPr>
                  <a:t> is at </a:t>
                </a:r>
                <a:r>
                  <a:rPr lang="en-IN" sz="2400">
                    <a:solidFill>
                      <a:srgbClr val="111827"/>
                    </a:solidFill>
                    <a:latin typeface="Cambria Math" panose="02040503050406030204" pitchFamily="18" charset="0"/>
                  </a:rPr>
                  <a:t>$t=0$</a:t>
                </a:r>
                <a:r>
                  <a:rPr sz="2400" b="0">
                    <a:solidFill>
                      <a:srgbClr val="111827"/>
                    </a:solidFill>
                    <a:latin typeface="Arial"/>
                  </a:rPr>
                  <a:t> or </a:t>
                </a:r>
                <a:r>
                  <a:rPr lang="en-IN" sz="2400">
                    <a:solidFill>
                      <a:srgbClr val="111827"/>
                    </a:solidFill>
                    <a:latin typeface="Cambria Math" panose="02040503050406030204" pitchFamily="18" charset="0"/>
                  </a:rPr>
                  <a:t>$t=4$</a:t>
                </a:r>
                <a:r>
                  <a:rPr sz="2400" b="0">
                    <a:solidFill>
                      <a:srgbClr val="111827"/>
                    </a:solidFill>
                    <a:latin typeface="Arial"/>
                  </a:rPr>
                  <a:t>; </a:t>
                </a:r>
                <a:r>
                  <a:rPr lang="en-IN" sz="2400">
                    <a:solidFill>
                      <a:srgbClr val="111827"/>
                    </a:solidFill>
                    <a:latin typeface="Cambria Math" panose="02040503050406030204" pitchFamily="18" charset="0"/>
                  </a:rPr>
                  <a:t>$f(4)&gt;f(0)$</a:t>
                </a:r>
                <a:r>
                  <a:rPr sz="2400" b="0">
                    <a:solidFill>
                      <a:srgbClr val="111827"/>
                    </a:solidFill>
                    <a:latin typeface="Arial"/>
                  </a:rPr>
                  <a:t> gives </a:t>
                </a:r>
                <a:r>
                  <a:rPr lang="en-IN" sz="2400">
                    <a:solidFill>
                      <a:srgbClr val="111827"/>
                    </a:solidFill>
                    <a:latin typeface="Cambria Math" panose="02040503050406030204" pitchFamily="18" charset="0"/>
                  </a:rPr>
                  <a:t>$\alpha=4$</a:t>
                </a:r>
                <a:r>
                  <a:rPr sz="2400" b="0">
                    <a:solidFill>
                      <a:srgbClr val="111827"/>
                    </a:solidFill>
                    <a:latin typeface="Arial"/>
                  </a:rPr>
                  <a:t>, and </a:t>
                </a:r>
                <a:r>
                  <a:rPr lang="en-IN" sz="2400">
                    <a:solidFill>
                      <a:srgbClr val="111827"/>
                    </a:solidFill>
                    <a:latin typeface="Cambria Math" panose="02040503050406030204" pitchFamily="18" charset="0"/>
                  </a:rPr>
                  <a:t>$6\alpha+21\beta=48$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48</a:t>
            </a:r>
            <a:endParaRPr sz="2800">
              <a:solidFill>
                <a:srgbClr val="15803D"/>
              </a:solidFil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Shortest path touching a line: reflect one point in the line and join (the reflection principle).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distances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moving on a line is convex in the position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its maximum on a closed interval occurs at an endpoint.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points are on opposite sides of the line,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minimised at the intersection of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with the line; if on the same side, reflect one of them.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Shortest path touching a line: reflect one point in the line and join (the reflection principle).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distances </a:t>
                </a:r>
                <a:r>
                  <a:rPr lang="en-IN" sz="2400">
                    <a:solidFill>
                      <a:srgbClr val="111827"/>
                    </a:solidFill>
                    <a:latin typeface="Cambria Math" panose="02040503050406030204" pitchFamily="18" charset="0"/>
                  </a:rPr>
                  <a:t>$|PX|+|QX|$</a:t>
                </a:r>
                <a:r>
                  <a:rPr sz="2400" b="0">
                    <a:solidFill>
                      <a:srgbClr val="111827"/>
                    </a:solidFill>
                    <a:latin typeface="Arial"/>
                  </a:rPr>
                  <a:t> with </a:t>
                </a:r>
                <a:r>
                  <a:rPr lang="en-IN" sz="2400">
                    <a:solidFill>
                      <a:srgbClr val="111827"/>
                    </a:solidFill>
                    <a:latin typeface="Cambria Math" panose="02040503050406030204" pitchFamily="18" charset="0"/>
                  </a:rPr>
                  <a:t>$X$</a:t>
                </a:r>
                <a:r>
                  <a:rPr sz="2400" b="0">
                    <a:solidFill>
                      <a:srgbClr val="111827"/>
                    </a:solidFill>
                    <a:latin typeface="Arial"/>
                  </a:rPr>
                  <a:t> moving on a line is convex in the position of </a:t>
                </a:r>
                <a:r>
                  <a:rPr lang="en-IN" sz="2400">
                    <a:solidFill>
                      <a:srgbClr val="111827"/>
                    </a:solidFill>
                    <a:latin typeface="Cambria Math" panose="02040503050406030204" pitchFamily="18" charset="0"/>
                  </a:rPr>
                  <a:t>$X$</a:t>
                </a:r>
                <a:r>
                  <a:rPr sz="2400" b="0">
                    <a:solidFill>
                      <a:srgbClr val="111827"/>
                    </a:solidFill>
                    <a:latin typeface="Arial"/>
                  </a:rPr>
                  <a:t>: its maximum on a closed interval occurs at an endpoint.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points are on opposite sides of the line, </a:t>
                </a:r>
                <a:r>
                  <a:rPr lang="en-IN" sz="2400">
                    <a:solidFill>
                      <a:srgbClr val="111827"/>
                    </a:solidFill>
                    <a:latin typeface="Cambria Math" panose="02040503050406030204" pitchFamily="18" charset="0"/>
                  </a:rPr>
                  <a:t>$|PX|+|QX|$</a:t>
                </a:r>
                <a:r>
                  <a:rPr sz="2400" b="0">
                    <a:solidFill>
                      <a:srgbClr val="111827"/>
                    </a:solidFill>
                    <a:latin typeface="Arial"/>
                  </a:rPr>
                  <a:t> is minimised at the intersection of </a:t>
                </a:r>
                <a:r>
                  <a:rPr lang="en-IN" sz="2400">
                    <a:solidFill>
                      <a:srgbClr val="111827"/>
                    </a:solidFill>
                    <a:latin typeface="Cambria Math" panose="02040503050406030204" pitchFamily="18" charset="0"/>
                  </a:rPr>
                  <a:t>$PQ$</a:t>
                </a:r>
                <a:r>
                  <a:rPr sz="2400" b="0">
                    <a:solidFill>
                      <a:srgbClr val="111827"/>
                    </a:solidFill>
                    <a:latin typeface="Arial"/>
                  </a:rPr>
                  <a:t> with the line; if on the same side, reflect one of them.</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Q18 – Q27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portion of the line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in the first quadrant is trisected by the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passing through the origin. The tangent of an angle between the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41</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41</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portion of the line </a:t>
                </a:r>
                <a:r>
                  <a:rPr lang="en-IN" sz="2400">
                    <a:solidFill>
                      <a:srgbClr val="111827"/>
                    </a:solidFill>
                    <a:latin typeface="Cambria Math" panose="02040503050406030204" pitchFamily="18" charset="0"/>
                  </a:rPr>
                  <a:t>$4x+5y=20$</a:t>
                </a:r>
                <a:r>
                  <a:rPr sz="2400" b="0">
                    <a:solidFill>
                      <a:srgbClr val="111827"/>
                    </a:solidFill>
                    <a:latin typeface="Arial"/>
                  </a:rPr>
                  <a:t> in the first quadrant is trisected by the lines </a:t>
                </a:r>
                <a:r>
                  <a:rPr lang="en-IN" sz="2400">
                    <a:solidFill>
                      <a:srgbClr val="111827"/>
                    </a:solidFill>
                    <a:latin typeface="Cambria Math" panose="02040503050406030204" pitchFamily="18" charset="0"/>
                  </a:rPr>
                  <a:t>$L_1$</a:t>
                </a:r>
                <a:r>
                  <a:rPr sz="2400" b="0">
                    <a:solidFill>
                      <a:srgbClr val="111827"/>
                    </a:solidFill>
                    <a:latin typeface="Arial"/>
                  </a:rPr>
                  <a:t> and </a:t>
                </a:r>
                <a:r>
                  <a:rPr lang="en-IN" sz="2400">
                    <a:solidFill>
                      <a:srgbClr val="111827"/>
                    </a:solidFill>
                    <a:latin typeface="Cambria Math" panose="02040503050406030204" pitchFamily="18" charset="0"/>
                  </a:rPr>
                  <a:t>$L_2$</a:t>
                </a:r>
                <a:r>
                  <a:rPr sz="2400" b="0">
                    <a:solidFill>
                      <a:srgbClr val="111827"/>
                    </a:solidFill>
                    <a:latin typeface="Arial"/>
                  </a:rPr>
                  <a:t> passing through the origin. The tangent of an angle between the lines </a:t>
                </a:r>
                <a:r>
                  <a:rPr lang="en-IN" sz="2400">
                    <a:solidFill>
                      <a:srgbClr val="111827"/>
                    </a:solidFill>
                    <a:latin typeface="Cambria Math" panose="02040503050406030204" pitchFamily="18" charset="0"/>
                  </a:rPr>
                  <a:t>$L_1$</a:t>
                </a:r>
                <a:r>
                  <a:rPr sz="2400" b="0">
                    <a:solidFill>
                      <a:srgbClr val="111827"/>
                    </a:solidFill>
                    <a:latin typeface="Arial"/>
                  </a:rPr>
                  <a:t> and </a:t>
                </a:r>
                <a:r>
                  <a:rPr lang="en-IN" sz="2400">
                    <a:solidFill>
                      <a:srgbClr val="111827"/>
                    </a:solidFill>
                    <a:latin typeface="Cambria Math" panose="02040503050406030204" pitchFamily="18" charset="0"/>
                  </a:rPr>
                  <a:t>$L_2$</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$\frac{8}{5}$</a:t>
                </a:r>
                <a:r>
                  <a:rPr sz="2400" b="0">
                    <a:solidFill>
                      <a:srgbClr val="111827"/>
                    </a:solidFill>
                    <a:latin typeface="Arial"/>
                  </a:rPr>
                  <a:t>   (B) </a:t>
                </a:r>
                <a:r>
                  <a:rPr lang="en-IN" sz="2400">
                    <a:solidFill>
                      <a:srgbClr val="111827"/>
                    </a:solidFill>
                    <a:latin typeface="Cambria Math" panose="02040503050406030204" pitchFamily="18" charset="0"/>
                  </a:rPr>
                  <a:t>$\frac{2}{5}$</a:t>
                </a:r>
                <a:r>
                  <a:rPr sz="2400" b="0">
                    <a:solidFill>
                      <a:srgbClr val="111827"/>
                    </a:solidFill>
                    <a:latin typeface="Arial"/>
                  </a:rPr>
                  <a:t>   (C) </a:t>
                </a:r>
                <a:r>
                  <a:rPr lang="en-IN" sz="2400">
                    <a:solidFill>
                      <a:srgbClr val="111827"/>
                    </a:solidFill>
                    <a:latin typeface="Cambria Math" panose="02040503050406030204" pitchFamily="18" charset="0"/>
                  </a:rPr>
                  <a:t>$\frac{30}{41}$</a:t>
                </a:r>
                <a:r>
                  <a:rPr sz="2400" b="0">
                    <a:solidFill>
                      <a:srgbClr val="111827"/>
                    </a:solidFill>
                    <a:latin typeface="Arial"/>
                  </a:rPr>
                  <a:t>   (D) </a:t>
                </a:r>
                <a:r>
                  <a:rPr lang="en-IN" sz="2400">
                    <a:solidFill>
                      <a:srgbClr val="111827"/>
                    </a:solidFill>
                    <a:latin typeface="Cambria Math" panose="02040503050406030204" pitchFamily="18" charset="0"/>
                  </a:rPr>
                  <a:t>$\frac{25}{41}$</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Section formula and angle between two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Trisection points give the slopes of </a:t>
                </a:r>
                <a14:m>
                  <m:oMath xmlns:m="http://schemas.openxmlformats.org/officeDocument/2006/math">
                    <m:sSub>
                      <m:e>
                        <m:r>
                          <a:rPr lang="en-IN" sz="2400" i="1">
                            <a:solidFill>
                              <a:srgbClr val="78350F"/>
                            </a:solidFill>
                            <a:latin typeface="Cambria Math" panose="02040503050406030204" pitchFamily="18" charset="0"/>
                          </a:rPr>
                          <m:t>𝐿</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𝐿</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then use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sSub>
                              <m:e>
                                <m:r>
                                  <a:rPr lang="en-IN" sz="2400" i="1">
                                    <a:solidFill>
                                      <a:srgbClr val="78350F"/>
                                    </a:solidFill>
                                    <a:latin typeface="Cambria Math" panose="02040503050406030204" pitchFamily="18" charset="0"/>
                                  </a:rPr>
                                  <m:t>𝑚</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𝑚</m:t>
                                </m:r>
                              </m:e>
                              <m:sub>
                                <m:r>
                                  <a:rPr lang="en-IN" sz="2400" i="1">
                                    <a:solidFill>
                                      <a:srgbClr val="78350F"/>
                                    </a:solidFill>
                                    <a:latin typeface="Cambria Math" panose="02040503050406030204" pitchFamily="18" charset="0"/>
                                  </a:rPr>
                                  <m:t>1</m:t>
                                </m:r>
                              </m:sub>
                            </m:sSub>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𝑚</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𝑚</m:t>
                                </m:r>
                              </m:e>
                              <m:sub>
                                <m:r>
                                  <a:rPr lang="en-IN" sz="2400" i="1">
                                    <a:solidFill>
                                      <a:srgbClr val="78350F"/>
                                    </a:solidFill>
                                    <a:latin typeface="Cambria Math" panose="02040503050406030204" pitchFamily="18" charset="0"/>
                                  </a:rPr>
                                  <m:t>2</m:t>
                                </m:r>
                              </m:sub>
                            </m:sSub>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Trisection points give the slopes of </a:t>
                </a:r>
                <a:r>
                  <a:rPr lang="en-IN" sz="2400">
                    <a:solidFill>
                      <a:srgbClr val="78350F"/>
                    </a:solidFill>
                    <a:latin typeface="Cambria Math" panose="02040503050406030204" pitchFamily="18" charset="0"/>
                  </a:rPr>
                  <a:t>$L_1,L_2$</a:t>
                </a:r>
                <a:r>
                  <a:rPr sz="2400" b="0">
                    <a:solidFill>
                      <a:srgbClr val="78350F"/>
                    </a:solidFill>
                    <a:latin typeface="Arial"/>
                  </a:rPr>
                  <a:t>; then use </a:t>
                </a:r>
                <a:r>
                  <a:rPr lang="en-IN" sz="2400">
                    <a:solidFill>
                      <a:srgbClr val="78350F"/>
                    </a:solidFill>
                    <a:latin typeface="Cambria Math" panose="02040503050406030204" pitchFamily="18" charset="0"/>
                  </a:rPr>
                  <a:t>$\tan\theta=\left|\frac{m_2-m_1}{1+m_1m_2}\right|$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meets the axes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trisection points are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Slope of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41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41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meets the axes at </a:t>
                </a:r>
                <a:r>
                  <a:rPr lang="en-IN" sz="2400">
                    <a:solidFill>
                      <a:srgbClr val="111827"/>
                    </a:solidFill>
                    <a:latin typeface="Cambria Math" panose="02040503050406030204" pitchFamily="18" charset="0"/>
                  </a:rPr>
                  <a:t>$P(5,0)$</a:t>
                </a:r>
                <a:r>
                  <a:rPr sz="2400" b="0">
                    <a:solidFill>
                      <a:srgbClr val="111827"/>
                    </a:solidFill>
                    <a:latin typeface="Arial"/>
                  </a:rPr>
                  <a:t> and </a:t>
                </a:r>
                <a:r>
                  <a:rPr lang="en-IN" sz="2400">
                    <a:solidFill>
                      <a:srgbClr val="111827"/>
                    </a:solidFill>
                    <a:latin typeface="Cambria Math" panose="02040503050406030204" pitchFamily="18" charset="0"/>
                  </a:rPr>
                  <a:t>$Q(0,4)$</a:t>
                </a:r>
                <a:r>
                  <a:rPr sz="2400" b="0">
                    <a:solidFill>
                      <a:srgbClr val="111827"/>
                    </a:solidFill>
                    <a:latin typeface="Arial"/>
                  </a:rPr>
                  <a:t>; its trisection points are </a:t>
                </a:r>
                <a:r>
                  <a:rPr lang="en-IN" sz="2400">
                    <a:solidFill>
                      <a:srgbClr val="111827"/>
                    </a:solidFill>
                    <a:latin typeface="Cambria Math" panose="02040503050406030204" pitchFamily="18" charset="0"/>
                  </a:rPr>
                  <a:t>$A\left(\frac{5}{3},\frac{8}{3}\right)$</a:t>
                </a:r>
                <a:r>
                  <a:rPr sz="2400" b="0">
                    <a:solidFill>
                      <a:srgbClr val="111827"/>
                    </a:solidFill>
                    <a:latin typeface="Arial"/>
                  </a:rPr>
                  <a:t> and </a:t>
                </a:r>
                <a:r>
                  <a:rPr lang="en-IN" sz="2400">
                    <a:solidFill>
                      <a:srgbClr val="111827"/>
                    </a:solidFill>
                    <a:latin typeface="Cambria Math" panose="02040503050406030204" pitchFamily="18" charset="0"/>
                  </a:rPr>
                  <a:t>$B\left(\frac{10}{3},\frac{4}{3}\right)$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$OA$</a:t>
                </a:r>
                <a:r>
                  <a:rPr sz="2400" b="0">
                    <a:solidFill>
                      <a:srgbClr val="111827"/>
                    </a:solidFill>
                    <a:latin typeface="Arial"/>
                  </a:rPr>
                  <a:t>: </a:t>
                </a:r>
                <a:r>
                  <a:rPr lang="en-IN" sz="2400">
                    <a:solidFill>
                      <a:srgbClr val="111827"/>
                    </a:solidFill>
                    <a:latin typeface="Cambria Math" panose="02040503050406030204" pitchFamily="18" charset="0"/>
                  </a:rPr>
                  <a:t>$m_2=\frac{8}{5}$</a:t>
                </a:r>
                <a:r>
                  <a:rPr sz="2400" b="0">
                    <a:solidFill>
                      <a:srgbClr val="111827"/>
                    </a:solidFill>
                    <a:latin typeface="Arial"/>
                  </a:rPr>
                  <a:t>. Slope of </a:t>
                </a:r>
                <a:r>
                  <a:rPr lang="en-IN" sz="2400">
                    <a:solidFill>
                      <a:srgbClr val="111827"/>
                    </a:solidFill>
                    <a:latin typeface="Cambria Math" panose="02040503050406030204" pitchFamily="18" charset="0"/>
                  </a:rPr>
                  <a:t>$OB$</a:t>
                </a:r>
                <a:r>
                  <a:rPr sz="2400" b="0">
                    <a:solidFill>
                      <a:srgbClr val="111827"/>
                    </a:solidFill>
                    <a:latin typeface="Arial"/>
                  </a:rPr>
                  <a:t>: </a:t>
                </a:r>
                <a:r>
                  <a:rPr lang="en-IN" sz="2400">
                    <a:solidFill>
                      <a:srgbClr val="111827"/>
                    </a:solidFill>
                    <a:latin typeface="Cambria Math" panose="02040503050406030204" pitchFamily="18" charset="0"/>
                  </a:rPr>
                  <a:t>$m_1=\frac{2}{5}$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$\tan\theta=\left|\frac{m_2-m_1}{1+m_1m_2}\right|=\frac{\frac{8}{5}-\frac{2}{5}}{1+\frac{8}{5}\cdot\frac{2}{5}}$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$=\frac{6/5}{1+16/25}=\frac{6}{5}\cdot\frac{25}{41}=\frac{30}{41}$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30</m:t>
                        </m:r>
                      </m:num>
                      <m:den>
                        <m:r>
                          <a:rPr lang="en-IN" sz="2800" i="1">
                            <a:solidFill>
                              <a:srgbClr val="15803D"/>
                            </a:solidFill>
                            <a:latin typeface="Cambria Math" panose="02040503050406030204" pitchFamily="18" charset="0"/>
                          </a:rPr>
                          <m:t>41</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$\frac{30}{41}$</a:t>
                </a:r>
                <a:endParaRPr sz="2800">
                  <a:solidFill>
                    <a:srgbClr val="15803D"/>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position vectors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num>
                      <m:den>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e>
                        </m:acc>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position vectors of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 </a:t>
                </a:r>
                <a:r>
                  <a:rPr lang="en-IN" sz="2400">
                    <a:solidFill>
                      <a:srgbClr val="78350F"/>
                    </a:solidFill>
                    <a:latin typeface="Cambria Math" panose="02040503050406030204" pitchFamily="18" charset="0"/>
                  </a:rPr>
                  <a:t>$\tan\theta=\frac{|\vec{OA}\times\vec{OB}|}{\vec{OA}\cdot\vec{OB}}$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(the trisection points), the angle between the lines is the angle between these vectors.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 product magnitude: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$\vec{OA}=\left(\frac{5}{3},\frac{8}{3}\right)$</a:t>
                </a:r>
                <a:r>
                  <a:rPr sz="2400" b="0">
                    <a:solidFill>
                      <a:srgbClr val="111827"/>
                    </a:solidFill>
                    <a:latin typeface="Arial"/>
                  </a:rPr>
                  <a:t> and </a:t>
                </a:r>
                <a:r>
                  <a:rPr lang="en-IN" sz="2400">
                    <a:solidFill>
                      <a:srgbClr val="111827"/>
                    </a:solidFill>
                    <a:latin typeface="Cambria Math" panose="02040503050406030204" pitchFamily="18" charset="0"/>
                  </a:rPr>
                  <a:t>$\vec{OB}=\left(\frac{10}{3},\frac{4}{3}\right)$</a:t>
                </a:r>
                <a:r>
                  <a:rPr sz="2400" b="0">
                    <a:solidFill>
                      <a:srgbClr val="111827"/>
                    </a:solidFill>
                    <a:latin typeface="Arial"/>
                  </a:rPr>
                  <a:t> (the trisection points), the angle between the lines is the angle between these vectors.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 product magnitude: </a:t>
                </a:r>
                <a:r>
                  <a:rPr lang="en-IN" sz="2400">
                    <a:solidFill>
                      <a:srgbClr val="111827"/>
                    </a:solidFill>
                    <a:latin typeface="Cambria Math" panose="02040503050406030204" pitchFamily="18" charset="0"/>
                  </a:rPr>
                  <a:t>$\left|\frac{5}{3}\cdot\frac{4}{3}-\frac{8}{3}\cdot\frac{10}{3}\right|=\frac{60}{9}$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product: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41</m:t>
                        </m:r>
                      </m:den>
                    </m:f>
                  </m:oMath>
                </a14:m>
                <a:r>
                  <a:rPr sz="2400" b="0">
                    <a:solidFill>
                      <a:srgbClr val="111827"/>
                    </a:solidFill>
                    <a:latin typeface="Arial"/>
                  </a:rPr>
                  <a:t> (no slopes or fractions of fractions needed).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product: </a:t>
                </a:r>
                <a:r>
                  <a:rPr lang="en-IN" sz="2400">
                    <a:solidFill>
                      <a:srgbClr val="111827"/>
                    </a:solidFill>
                    <a:latin typeface="Cambria Math" panose="02040503050406030204" pitchFamily="18" charset="0"/>
                  </a:rPr>
                  <a:t>$\frac{5}{3}\cdot\frac{10}{3}+\frac{8}{3}\cdot\frac{4}{3}=\frac{82}{9}$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$\tan\theta=\frac{60/9}{82/9}=\frac{30}{41}$</a:t>
                </a:r>
                <a:r>
                  <a:rPr sz="2400" b="0">
                    <a:solidFill>
                      <a:srgbClr val="111827"/>
                    </a:solidFill>
                    <a:latin typeface="Arial"/>
                  </a:rPr>
                  <a:t> (no slopes or fractions of fractions needed).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30</m:t>
                        </m:r>
                      </m:num>
                      <m:den>
                        <m:r>
                          <a:rPr lang="en-IN" sz="2800" i="1">
                            <a:solidFill>
                              <a:srgbClr val="15803D"/>
                            </a:solidFill>
                            <a:latin typeface="Cambria Math" panose="02040503050406030204" pitchFamily="18" charset="0"/>
                          </a:rPr>
                          <m:t>41</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$\frac{30}{41}$</a:t>
                </a:r>
                <a:endParaRPr sz="2800">
                  <a:solidFill>
                    <a:srgbClr val="15803D"/>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between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satisfies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den>
                    </m:f>
                  </m:oMath>
                </a14:m>
                <a:r>
                  <a:rPr sz="2400" b="0">
                    <a:solidFill>
                      <a:srgbClr val="111827"/>
                    </a:solidFill>
                    <a:latin typeface="Arial"/>
                  </a:rPr>
                  <a:t> (here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Trisection points of the segment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Slopes of the two trisecting lines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𝑝</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a:t>
                </a:r>
                <a:r>
                  <a:rPr lang="en-IN" sz="2400">
                    <a:solidFill>
                      <a:srgbClr val="111827"/>
                    </a:solidFill>
                    <a:latin typeface="Cambria Math" panose="02040503050406030204" pitchFamily="18" charset="0"/>
                  </a:rPr>
                  <a:t>$\theta$</a:t>
                </a:r>
                <a:r>
                  <a:rPr sz="2400" b="0">
                    <a:solidFill>
                      <a:srgbClr val="111827"/>
                    </a:solidFill>
                    <a:latin typeface="Arial"/>
                  </a:rPr>
                  <a:t> between vectors </a:t>
                </a:r>
                <a:r>
                  <a:rPr lang="en-IN" sz="2400">
                    <a:solidFill>
                      <a:srgbClr val="111827"/>
                    </a:solidFill>
                    <a:latin typeface="Cambria Math" panose="02040503050406030204" pitchFamily="18" charset="0"/>
                  </a:rPr>
                  <a:t>$\vec{u},\vec{v}$</a:t>
                </a:r>
                <a:r>
                  <a:rPr sz="2400" b="0">
                    <a:solidFill>
                      <a:srgbClr val="111827"/>
                    </a:solidFill>
                    <a:latin typeface="Arial"/>
                  </a:rPr>
                  <a:t> satisfies </a:t>
                </a:r>
                <a:r>
                  <a:rPr lang="en-IN" sz="2400">
                    <a:solidFill>
                      <a:srgbClr val="111827"/>
                    </a:solidFill>
                    <a:latin typeface="Cambria Math" panose="02040503050406030204" pitchFamily="18" charset="0"/>
                  </a:rPr>
                  <a:t>$\tan\theta=\frac{|\vec{u}\times\vec{v}|}{\vec{u}\cdot\vec{v}}$</a:t>
                </a:r>
                <a:r>
                  <a:rPr sz="2400" b="0">
                    <a:solidFill>
                      <a:srgbClr val="111827"/>
                    </a:solidFill>
                    <a:latin typeface="Arial"/>
                  </a:rPr>
                  <a:t> (here </a:t>
                </a:r>
                <a:r>
                  <a:rPr lang="en-IN" sz="2400">
                    <a:solidFill>
                      <a:srgbClr val="111827"/>
                    </a:solidFill>
                    <a:latin typeface="Cambria Math" panose="02040503050406030204" pitchFamily="18" charset="0"/>
                  </a:rPr>
                  <a:t>$\vec u\times\vec v=u_1v_2-u_2v_1$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Trisection points of the segment from </a:t>
                </a:r>
                <a:r>
                  <a:rPr lang="en-IN" sz="2400">
                    <a:solidFill>
                      <a:srgbClr val="111827"/>
                    </a:solidFill>
                    <a:latin typeface="Cambria Math" panose="02040503050406030204" pitchFamily="18" charset="0"/>
                  </a:rPr>
                  <a:t>$(p,0)$</a:t>
                </a:r>
                <a:r>
                  <a:rPr sz="2400" b="0">
                    <a:solidFill>
                      <a:srgbClr val="111827"/>
                    </a:solidFill>
                    <a:latin typeface="Arial"/>
                  </a:rPr>
                  <a:t> to </a:t>
                </a:r>
                <a:r>
                  <a:rPr lang="en-IN" sz="2400">
                    <a:solidFill>
                      <a:srgbClr val="111827"/>
                    </a:solidFill>
                    <a:latin typeface="Cambria Math" panose="02040503050406030204" pitchFamily="18" charset="0"/>
                  </a:rPr>
                  <a:t>$(0,q)$</a:t>
                </a:r>
                <a:r>
                  <a:rPr sz="2400" b="0">
                    <a:solidFill>
                      <a:srgbClr val="111827"/>
                    </a:solidFill>
                    <a:latin typeface="Arial"/>
                  </a:rPr>
                  <a:t>: </a:t>
                </a:r>
                <a:r>
                  <a:rPr lang="en-IN" sz="2400">
                    <a:solidFill>
                      <a:srgbClr val="111827"/>
                    </a:solidFill>
                    <a:latin typeface="Cambria Math" panose="02040503050406030204" pitchFamily="18" charset="0"/>
                  </a:rPr>
                  <a:t>$\left(\frac{2p}{3},\frac{q}{3}\right)$</a:t>
                </a:r>
                <a:r>
                  <a:rPr sz="2400" b="0">
                    <a:solidFill>
                      <a:srgbClr val="111827"/>
                    </a:solidFill>
                    <a:latin typeface="Arial"/>
                  </a:rPr>
                  <a:t> and </a:t>
                </a:r>
                <a:r>
                  <a:rPr lang="en-IN" sz="2400">
                    <a:solidFill>
                      <a:srgbClr val="111827"/>
                    </a:solidFill>
                    <a:latin typeface="Cambria Math" panose="02040503050406030204" pitchFamily="18" charset="0"/>
                  </a:rPr>
                  <a:t>$\left(\frac{p}{3},\frac{2q}{3}\right)$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Slopes of the two trisecting lines are </a:t>
                </a:r>
                <a:r>
                  <a:rPr lang="en-IN" sz="2400">
                    <a:solidFill>
                      <a:srgbClr val="111827"/>
                    </a:solidFill>
                    <a:latin typeface="Cambria Math" panose="02040503050406030204" pitchFamily="18" charset="0"/>
                  </a:rPr>
                  <a:t>$\frac{q}{2p}$</a:t>
                </a:r>
                <a:r>
                  <a:rPr sz="2400" b="0">
                    <a:solidFill>
                      <a:srgbClr val="111827"/>
                    </a:solidFill>
                    <a:latin typeface="Arial"/>
                  </a:rPr>
                  <a:t> and </a:t>
                </a:r>
                <a:r>
                  <a:rPr lang="en-IN" sz="2400">
                    <a:solidFill>
                      <a:srgbClr val="111827"/>
                    </a:solidFill>
                    <a:latin typeface="Cambria Math" panose="02040503050406030204" pitchFamily="18" charset="0"/>
                  </a:rPr>
                  <a:t>$\frac{2q}{p}$</a:t>
                </a:r>
                <a:r>
                  <a:rPr sz="2400" b="0">
                    <a:solidFill>
                      <a:srgbClr val="111827"/>
                    </a:solidFill>
                    <a:latin typeface="Arial"/>
                  </a:rPr>
                  <a:t>; here </a:t>
                </a:r>
                <a:r>
                  <a:rPr lang="en-IN" sz="2400">
                    <a:solidFill>
                      <a:srgbClr val="111827"/>
                    </a:solidFill>
                    <a:latin typeface="Cambria Math" panose="02040503050406030204" pitchFamily="18" charset="0"/>
                  </a:rPr>
                  <a:t>$\frac{4}{10}=\frac{2}{5}$</a:t>
                </a:r>
                <a:r>
                  <a:rPr sz="2400" b="0">
                    <a:solidFill>
                      <a:srgbClr val="111827"/>
                    </a:solidFill>
                    <a:latin typeface="Arial"/>
                  </a:rPr>
                  <a:t> and </a:t>
                </a:r>
                <a:r>
                  <a:rPr lang="en-IN" sz="2400">
                    <a:solidFill>
                      <a:srgbClr val="111827"/>
                    </a:solidFill>
                    <a:latin typeface="Cambria Math" panose="02040503050406030204" pitchFamily="18" charset="0"/>
                  </a:rPr>
                  <a:t>$\frac{8}{5}$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1660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the interior region between the lines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containing the origin. The set of all values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for which the points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lie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p:txBody>
          </p:sp>
        </mc:Choice>
        <mc:Fallback>
          <p:sp>
            <p:nvSpPr>
              <p:cNvPr id="4" name="Rounded Rectangle 3"/>
              <p:cNvSpPr/>
              <p:nvPr/>
            </p:nvSpPr>
            <p:spPr>
              <a:xfrm>
                <a:off x="731520" y="1280160"/>
                <a:ext cx="10725912" cy="381660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the interior region between the lines </a:t>
                </a:r>
                <a:r>
                  <a:rPr lang="en-IN" sz="2400">
                    <a:solidFill>
                      <a:srgbClr val="111827"/>
                    </a:solidFill>
                    <a:latin typeface="Cambria Math" panose="02040503050406030204" pitchFamily="18" charset="0"/>
                  </a:rPr>
                  <a:t>$3x-y+1=0$</a:t>
                </a:r>
                <a:r>
                  <a:rPr sz="2400" b="0">
                    <a:solidFill>
                      <a:srgbClr val="111827"/>
                    </a:solidFill>
                    <a:latin typeface="Arial"/>
                  </a:rPr>
                  <a:t> and </a:t>
                </a:r>
                <a:r>
                  <a:rPr lang="en-IN" sz="2400">
                    <a:solidFill>
                      <a:srgbClr val="111827"/>
                    </a:solidFill>
                    <a:latin typeface="Cambria Math" panose="02040503050406030204" pitchFamily="18" charset="0"/>
                  </a:rPr>
                  <a:t>$x+2y-5=0$</a:t>
                </a:r>
                <a:r>
                  <a:rPr sz="2400" b="0">
                    <a:solidFill>
                      <a:srgbClr val="111827"/>
                    </a:solidFill>
                    <a:latin typeface="Arial"/>
                  </a:rPr>
                  <a:t> containing the origin. The set of all values of </a:t>
                </a:r>
                <a:r>
                  <a:rPr lang="en-IN" sz="2400">
                    <a:solidFill>
                      <a:srgbClr val="111827"/>
                    </a:solidFill>
                    <a:latin typeface="Cambria Math" panose="02040503050406030204" pitchFamily="18" charset="0"/>
                  </a:rPr>
                  <a:t>$a$</a:t>
                </a:r>
                <a:r>
                  <a:rPr sz="2400" b="0">
                    <a:solidFill>
                      <a:srgbClr val="111827"/>
                    </a:solidFill>
                    <a:latin typeface="Arial"/>
                  </a:rPr>
                  <a:t>, for which the points </a:t>
                </a:r>
                <a:r>
                  <a:rPr lang="en-IN" sz="2400">
                    <a:solidFill>
                      <a:srgbClr val="111827"/>
                    </a:solidFill>
                    <a:latin typeface="Cambria Math" panose="02040503050406030204" pitchFamily="18" charset="0"/>
                  </a:rPr>
                  <a:t>$\left(a^2,a+1\right)$</a:t>
                </a:r>
                <a:r>
                  <a:rPr sz="2400" b="0">
                    <a:solidFill>
                      <a:srgbClr val="111827"/>
                    </a:solidFill>
                    <a:latin typeface="Arial"/>
                  </a:rPr>
                  <a:t> lie in </a:t>
                </a:r>
                <a:r>
                  <a:rPr lang="en-IN" sz="2400">
                    <a:solidFill>
                      <a:srgbClr val="111827"/>
                    </a:solidFill>
                    <a:latin typeface="Cambria Math" panose="02040503050406030204" pitchFamily="18" charset="0"/>
                  </a:rPr>
                  <a:t>$R$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$(-3,-1)\cup\left(-\frac{1}{3},1\right)$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$(-3,-1)\cup\left(\frac{1}{3},1\right)$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$(-3,0)\cup\left(\frac{1}{3},1\right)$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$(-3,0)\cup\left(\frac{2}{3},1\right)$</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Region represented by linear inequalities, Position of a point relative to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point lies in the region iff it is on the same side as the origin of each line: </a:t>
                </a:r>
                <a14:m>
                  <m:oMath xmlns:m="http://schemas.openxmlformats.org/officeDocument/2006/math">
                    <m:r>
                      <a:rPr lang="en-IN" sz="2400" i="1">
                        <a:solidFill>
                          <a:srgbClr val="78350F"/>
                        </a:solidFill>
                        <a:latin typeface="Cambria Math" panose="02040503050406030204" pitchFamily="18" charset="0"/>
                      </a:rPr>
                      <m:t>𝐿</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𝐿</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for both.</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point lies in the region iff it is on the same side as the origin of each line: </a:t>
                </a:r>
                <a:r>
                  <a:rPr lang="en-IN" sz="2400">
                    <a:solidFill>
                      <a:srgbClr val="78350F"/>
                    </a:solidFill>
                    <a:latin typeface="Cambria Math" panose="02040503050406030204" pitchFamily="18" charset="0"/>
                  </a:rPr>
                  <a:t>$L(0)\cdot L(P)&gt;0$</a:t>
                </a:r>
                <a:r>
                  <a:rPr sz="2400" b="0">
                    <a:solidFill>
                      <a:srgbClr val="78350F"/>
                    </a:solidFill>
                    <a:latin typeface="Arial"/>
                  </a:rPr>
                  <a:t> for both.</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the origin must lie on the same side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$P(a^2,a+1)$</a:t>
                </a:r>
                <a:r>
                  <a:rPr sz="2400" b="0">
                    <a:solidFill>
                      <a:srgbClr val="111827"/>
                    </a:solidFill>
                    <a:latin typeface="Arial"/>
                  </a:rPr>
                  <a:t>, </a:t>
                </a:r>
                <a:r>
                  <a:rPr lang="en-IN" sz="2400">
                    <a:solidFill>
                      <a:srgbClr val="111827"/>
                    </a:solidFill>
                    <a:latin typeface="Cambria Math" panose="02040503050406030204" pitchFamily="18" charset="0"/>
                  </a:rPr>
                  <a:t>$L_1=3x-y+1$</a:t>
                </a:r>
                <a:r>
                  <a:rPr sz="2400" b="0">
                    <a:solidFill>
                      <a:srgbClr val="111827"/>
                    </a:solidFill>
                    <a:latin typeface="Arial"/>
                  </a:rPr>
                  <a:t> and </a:t>
                </a:r>
                <a:r>
                  <a:rPr lang="en-IN" sz="2400">
                    <a:solidFill>
                      <a:srgbClr val="111827"/>
                    </a:solidFill>
                    <a:latin typeface="Cambria Math" panose="02040503050406030204" pitchFamily="18" charset="0"/>
                  </a:rPr>
                  <a:t>$L_2=x+2y-5$</a:t>
                </a:r>
                <a:r>
                  <a:rPr sz="2400" b="0">
                    <a:solidFill>
                      <a:srgbClr val="111827"/>
                    </a:solidFill>
                    <a:latin typeface="Arial"/>
                  </a:rPr>
                  <a:t>. </a:t>
                </a:r>
                <a:r>
                  <a:rPr lang="en-IN" sz="2400">
                    <a:solidFill>
                      <a:srgbClr val="111827"/>
                    </a:solidFill>
                    <a:latin typeface="Cambria Math" panose="02040503050406030204" pitchFamily="18" charset="0"/>
                  </a:rPr>
                  <a:t>$P$</a:t>
                </a:r>
                <a:r>
                  <a:rPr sz="2400" b="0">
                    <a:solidFill>
                      <a:srgbClr val="111827"/>
                    </a:solidFill>
                    <a:latin typeface="Arial"/>
                  </a:rPr>
                  <a:t> and the origin must lie on the same side of </a:t>
                </a:r>
                <a:r>
                  <a:rPr lang="en-IN" sz="2400">
                    <a:solidFill>
                      <a:srgbClr val="111827"/>
                    </a:solidFill>
                    <a:latin typeface="Cambria Math" panose="02040503050406030204" pitchFamily="18" charset="0"/>
                  </a:rPr>
                  <a:t>$L_1$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$L_1(0)\cdot L_1(P)&gt;0$</a:t>
                </a:r>
                <a:r>
                  <a:rPr sz="2400" b="0">
                    <a:solidFill>
                      <a:srgbClr val="111827"/>
                    </a:solidFill>
                    <a:latin typeface="Arial"/>
                  </a:rPr>
                  <a:t> with </a:t>
                </a:r>
                <a:r>
                  <a:rPr lang="en-IN" sz="2400">
                    <a:solidFill>
                      <a:srgbClr val="111827"/>
                    </a:solidFill>
                    <a:latin typeface="Cambria Math" panose="02040503050406030204" pitchFamily="18" charset="0"/>
                  </a:rPr>
                  <a:t>$L_1(0)=1$</a:t>
                </a:r>
                <a:r>
                  <a:rPr sz="2400" b="0">
                    <a:solidFill>
                      <a:srgbClr val="111827"/>
                    </a:solidFill>
                    <a:latin typeface="Arial"/>
                  </a:rPr>
                  <a:t>: </a:t>
                </a:r>
                <a:r>
                  <a:rPr lang="en-IN" sz="2400">
                    <a:solidFill>
                      <a:srgbClr val="111827"/>
                    </a:solidFill>
                    <a:latin typeface="Cambria Math" panose="02040503050406030204" pitchFamily="18" charset="0"/>
                  </a:rPr>
                  <a:t>$3a^2-(a+1)+1&gt;0\Rightarrow3a^2-a&gt;0$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the origin must also lie on the same side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Intersection of (1) and (2):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$a\in(-\infty,0)\cup\left(\frac{1}{3},\infty\right)$</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and the origin must also lie on the same side of </a:t>
                </a:r>
                <a:r>
                  <a:rPr lang="en-IN" sz="2400">
                    <a:solidFill>
                      <a:srgbClr val="111827"/>
                    </a:solidFill>
                    <a:latin typeface="Cambria Math" panose="02040503050406030204" pitchFamily="18" charset="0"/>
                  </a:rPr>
                  <a:t>$L_2$</a:t>
                </a:r>
                <a:r>
                  <a:rPr sz="2400" b="0">
                    <a:solidFill>
                      <a:srgbClr val="111827"/>
                    </a:solidFill>
                    <a:latin typeface="Arial"/>
                  </a:rPr>
                  <a:t>: </a:t>
                </a:r>
                <a:r>
                  <a:rPr lang="en-IN" sz="2400">
                    <a:solidFill>
                      <a:srgbClr val="111827"/>
                    </a:solidFill>
                    <a:latin typeface="Cambria Math" panose="02040503050406030204" pitchFamily="18" charset="0"/>
                  </a:rPr>
                  <a:t>$L_2(0)=-5&lt;0$</a:t>
                </a:r>
                <a:r>
                  <a:rPr sz="2400" b="0">
                    <a:solidFill>
                      <a:srgbClr val="111827"/>
                    </a:solidFill>
                    <a:latin typeface="Arial"/>
                  </a:rPr>
                  <a:t>, so </a:t>
                </a:r>
                <a:r>
                  <a:rPr lang="en-IN" sz="2400">
                    <a:solidFill>
                      <a:srgbClr val="111827"/>
                    </a:solidFill>
                    <a:latin typeface="Cambria Math" panose="02040503050406030204" pitchFamily="18" charset="0"/>
                  </a:rPr>
                  <a:t>$L_2(P)&lt;0$</a:t>
                </a:r>
                <a:r>
                  <a:rPr sz="2400" b="0">
                    <a:solidFill>
                      <a:srgbClr val="111827"/>
                    </a:solidFill>
                    <a:latin typeface="Arial"/>
                  </a:rPr>
                  <a:t>: </a:t>
                </a:r>
                <a:r>
                  <a:rPr lang="en-IN" sz="2400">
                    <a:solidFill>
                      <a:srgbClr val="111827"/>
                    </a:solidFill>
                    <a:latin typeface="Cambria Math" panose="02040503050406030204" pitchFamily="18" charset="0"/>
                  </a:rPr>
                  <a:t>$a^2+2(a+1)-5&lt;0\Rightarrow a^2+2a-3&lt;0$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$(a+3)(a-1)&lt;0\Rightarrow a\in(-3,1)$</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Intersection of (1) and (2): </a:t>
                </a:r>
                <a:r>
                  <a:rPr lang="en-IN" sz="2400">
                    <a:solidFill>
                      <a:srgbClr val="111827"/>
                    </a:solidFill>
                    <a:latin typeface="Cambria Math" panose="02040503050406030204" pitchFamily="18" charset="0"/>
                  </a:rPr>
                  <a:t>$a\in(-3,0)\cup\left(\frac{1}{3},1\right)$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$(-3,0)\cup\left(\frac{1}{3},1\right)$</a:t>
                </a:r>
                <a:endParaRPr sz="2800">
                  <a:solidFill>
                    <a:srgbClr val="15803D"/>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where the curve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crosses each line, then test one value of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in every interval.</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where the curve </a:t>
                </a:r>
                <a:r>
                  <a:rPr lang="en-IN" sz="2400">
                    <a:solidFill>
                      <a:srgbClr val="78350F"/>
                    </a:solidFill>
                    <a:latin typeface="Cambria Math" panose="02040503050406030204" pitchFamily="18" charset="0"/>
                  </a:rPr>
                  <a:t>$(a^2,a+1)$</a:t>
                </a:r>
                <a:r>
                  <a:rPr sz="2400" b="0">
                    <a:solidFill>
                      <a:srgbClr val="78350F"/>
                    </a:solidFill>
                    <a:latin typeface="Arial"/>
                  </a:rPr>
                  <a:t> crosses each line, then test one value of </a:t>
                </a:r>
                <a:r>
                  <a:rPr lang="en-IN" sz="2400">
                    <a:solidFill>
                      <a:srgbClr val="78350F"/>
                    </a:solidFill>
                    <a:latin typeface="Cambria Math" panose="02040503050406030204" pitchFamily="18" charset="0"/>
                  </a:rPr>
                  <a:t>$a$</a:t>
                </a:r>
                <a:r>
                  <a:rPr sz="2400" b="0">
                    <a:solidFill>
                      <a:srgbClr val="78350F"/>
                    </a:solidFill>
                    <a:latin typeface="Arial"/>
                  </a:rPr>
                  <a:t> in every interval.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 crosses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crosses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critical values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 wrong side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Outside.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 both same as the origin. Inside.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 crosses </a:t>
                </a:r>
                <a:r>
                  <a:rPr lang="en-IN" sz="2400">
                    <a:solidFill>
                      <a:srgbClr val="111827"/>
                    </a:solidFill>
                    <a:latin typeface="Cambria Math" panose="02040503050406030204" pitchFamily="18" charset="0"/>
                  </a:rPr>
                  <a:t>$L_1$</a:t>
                </a:r>
                <a:r>
                  <a:rPr sz="2400" b="0">
                    <a:solidFill>
                      <a:srgbClr val="111827"/>
                    </a:solidFill>
                    <a:latin typeface="Arial"/>
                  </a:rPr>
                  <a:t> when </a:t>
                </a:r>
                <a:r>
                  <a:rPr lang="en-IN" sz="2400">
                    <a:solidFill>
                      <a:srgbClr val="111827"/>
                    </a:solidFill>
                    <a:latin typeface="Cambria Math" panose="02040503050406030204" pitchFamily="18" charset="0"/>
                  </a:rPr>
                  <a:t>$3a^2-a=0$</a:t>
                </a:r>
                <a:r>
                  <a:rPr sz="2400" b="0">
                    <a:solidFill>
                      <a:srgbClr val="111827"/>
                    </a:solidFill>
                    <a:latin typeface="Arial"/>
                  </a:rPr>
                  <a:t>, i.e. </a:t>
                </a:r>
                <a:r>
                  <a:rPr lang="en-IN" sz="2400">
                    <a:solidFill>
                      <a:srgbClr val="111827"/>
                    </a:solidFill>
                    <a:latin typeface="Cambria Math" panose="02040503050406030204" pitchFamily="18" charset="0"/>
                  </a:rPr>
                  <a:t>$a=0,\frac{1}{3}$</a:t>
                </a:r>
                <a:r>
                  <a:rPr sz="2400" b="0">
                    <a:solidFill>
                      <a:srgbClr val="111827"/>
                    </a:solidFill>
                    <a:latin typeface="Arial"/>
                  </a:rPr>
                  <a:t>, and crosses </a:t>
                </a:r>
                <a:r>
                  <a:rPr lang="en-IN" sz="2400">
                    <a:solidFill>
                      <a:srgbClr val="111827"/>
                    </a:solidFill>
                    <a:latin typeface="Cambria Math" panose="02040503050406030204" pitchFamily="18" charset="0"/>
                  </a:rPr>
                  <a:t>$L_2$</a:t>
                </a:r>
                <a:r>
                  <a:rPr sz="2400" b="0">
                    <a:solidFill>
                      <a:srgbClr val="111827"/>
                    </a:solidFill>
                    <a:latin typeface="Arial"/>
                  </a:rPr>
                  <a:t> when </a:t>
                </a:r>
                <a:r>
                  <a:rPr lang="en-IN" sz="2400">
                    <a:solidFill>
                      <a:srgbClr val="111827"/>
                    </a:solidFill>
                    <a:latin typeface="Cambria Math" panose="02040503050406030204" pitchFamily="18" charset="0"/>
                  </a:rPr>
                  <a:t>$a^2+2a-3=0$</a:t>
                </a:r>
                <a:r>
                  <a:rPr sz="2400" b="0">
                    <a:solidFill>
                      <a:srgbClr val="111827"/>
                    </a:solidFill>
                    <a:latin typeface="Arial"/>
                  </a:rPr>
                  <a:t>, i.e. </a:t>
                </a:r>
                <a:r>
                  <a:rPr lang="en-IN" sz="2400">
                    <a:solidFill>
                      <a:srgbClr val="111827"/>
                    </a:solidFill>
                    <a:latin typeface="Cambria Math" panose="02040503050406030204" pitchFamily="18" charset="0"/>
                  </a:rPr>
                  <a:t>$a=-3,1$</a:t>
                </a:r>
                <a:r>
                  <a:rPr sz="2400" b="0">
                    <a:solidFill>
                      <a:srgbClr val="111827"/>
                    </a:solidFill>
                    <a:latin typeface="Arial"/>
                  </a:rPr>
                  <a:t>. The critical values are </a:t>
                </a:r>
                <a:r>
                  <a:rPr lang="en-IN" sz="2400">
                    <a:solidFill>
                      <a:srgbClr val="111827"/>
                    </a:solidFill>
                    <a:latin typeface="Cambria Math" panose="02040503050406030204" pitchFamily="18" charset="0"/>
                  </a:rPr>
                  <a:t>$-3,0,\frac{1}{3},1$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$a=-4$</a:t>
                </a:r>
                <a:r>
                  <a:rPr sz="2400" b="0">
                    <a:solidFill>
                      <a:srgbClr val="111827"/>
                    </a:solidFill>
                    <a:latin typeface="Arial"/>
                  </a:rPr>
                  <a:t>: </a:t>
                </a:r>
                <a:r>
                  <a:rPr lang="en-IN" sz="2400">
                    <a:solidFill>
                      <a:srgbClr val="111827"/>
                    </a:solidFill>
                    <a:latin typeface="Cambria Math" panose="02040503050406030204" pitchFamily="18" charset="0"/>
                  </a:rPr>
                  <a:t>$P(16,-3)$</a:t>
                </a:r>
                <a:r>
                  <a:rPr sz="2400" b="0">
                    <a:solidFill>
                      <a:srgbClr val="111827"/>
                    </a:solidFill>
                    <a:latin typeface="Arial"/>
                  </a:rPr>
                  <a:t>, </a:t>
                </a:r>
                <a:r>
                  <a:rPr lang="en-IN" sz="2400">
                    <a:solidFill>
                      <a:srgbClr val="111827"/>
                    </a:solidFill>
                    <a:latin typeface="Cambria Math" panose="02040503050406030204" pitchFamily="18" charset="0"/>
                  </a:rPr>
                  <a:t>$L_2(P)=16-6-5=5&gt;0$</a:t>
                </a:r>
                <a:r>
                  <a:rPr sz="2400" b="0">
                    <a:solidFill>
                      <a:srgbClr val="111827"/>
                    </a:solidFill>
                    <a:latin typeface="Arial"/>
                  </a:rPr>
                  <a:t> - wrong side of </a:t>
                </a:r>
                <a:r>
                  <a:rPr lang="en-IN" sz="2400">
                    <a:solidFill>
                      <a:srgbClr val="111827"/>
                    </a:solidFill>
                    <a:latin typeface="Cambria Math" panose="02040503050406030204" pitchFamily="18" charset="0"/>
                  </a:rPr>
                  <a:t>$L_2$</a:t>
                </a:r>
                <a:r>
                  <a:rPr sz="2400" b="0">
                    <a:solidFill>
                      <a:srgbClr val="111827"/>
                    </a:solidFill>
                    <a:latin typeface="Arial"/>
                  </a:rPr>
                  <a:t>. Outside.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$P(1,0)$</a:t>
                </a:r>
                <a:r>
                  <a:rPr sz="2400" b="0">
                    <a:solidFill>
                      <a:srgbClr val="111827"/>
                    </a:solidFill>
                    <a:latin typeface="Arial"/>
                  </a:rPr>
                  <a:t>, </a:t>
                </a:r>
                <a:r>
                  <a:rPr lang="en-IN" sz="2400">
                    <a:solidFill>
                      <a:srgbClr val="111827"/>
                    </a:solidFill>
                    <a:latin typeface="Cambria Math" panose="02040503050406030204" pitchFamily="18" charset="0"/>
                  </a:rPr>
                  <a:t>$L_1=4&gt;0$</a:t>
                </a:r>
                <a:r>
                  <a:rPr sz="2400" b="0">
                    <a:solidFill>
                      <a:srgbClr val="111827"/>
                    </a:solidFill>
                    <a:latin typeface="Arial"/>
                  </a:rPr>
                  <a:t>, </a:t>
                </a:r>
                <a:r>
                  <a:rPr lang="en-IN" sz="2400">
                    <a:solidFill>
                      <a:srgbClr val="111827"/>
                    </a:solidFill>
                    <a:latin typeface="Cambria Math" panose="02040503050406030204" pitchFamily="18" charset="0"/>
                  </a:rPr>
                  <a:t>$L_2=1-5=-4&lt;0$</a:t>
                </a:r>
                <a:r>
                  <a:rPr sz="2400" b="0">
                    <a:solidFill>
                      <a:srgbClr val="111827"/>
                    </a:solidFill>
                    <a:latin typeface="Arial"/>
                  </a:rPr>
                  <a:t> - both same as the origin. Inside.</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 wrong side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Outside.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Inside. Test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Outside.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Inside exactly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$a=0.1$</a:t>
                </a:r>
                <a:r>
                  <a:rPr sz="2400" b="0">
                    <a:solidFill>
                      <a:srgbClr val="111827"/>
                    </a:solidFill>
                    <a:latin typeface="Arial"/>
                  </a:rPr>
                  <a:t>: </a:t>
                </a:r>
                <a:r>
                  <a:rPr lang="en-IN" sz="2400">
                    <a:solidFill>
                      <a:srgbClr val="111827"/>
                    </a:solidFill>
                    <a:latin typeface="Cambria Math" panose="02040503050406030204" pitchFamily="18" charset="0"/>
                  </a:rPr>
                  <a:t>$P(0.01,1.1)$</a:t>
                </a:r>
                <a:r>
                  <a:rPr sz="2400" b="0">
                    <a:solidFill>
                      <a:srgbClr val="111827"/>
                    </a:solidFill>
                    <a:latin typeface="Arial"/>
                  </a:rPr>
                  <a:t>, </a:t>
                </a:r>
                <a:r>
                  <a:rPr lang="en-IN" sz="2400">
                    <a:solidFill>
                      <a:srgbClr val="111827"/>
                    </a:solidFill>
                    <a:latin typeface="Cambria Math" panose="02040503050406030204" pitchFamily="18" charset="0"/>
                  </a:rPr>
                  <a:t>$L_1=0.03-1.1+1&lt;0$</a:t>
                </a:r>
                <a:r>
                  <a:rPr sz="2400" b="0">
                    <a:solidFill>
                      <a:srgbClr val="111827"/>
                    </a:solidFill>
                    <a:latin typeface="Arial"/>
                  </a:rPr>
                  <a:t> - wrong side of </a:t>
                </a:r>
                <a:r>
                  <a:rPr lang="en-IN" sz="2400">
                    <a:solidFill>
                      <a:srgbClr val="111827"/>
                    </a:solidFill>
                    <a:latin typeface="Cambria Math" panose="02040503050406030204" pitchFamily="18" charset="0"/>
                  </a:rPr>
                  <a:t>$L_1$</a:t>
                </a:r>
                <a:r>
                  <a:rPr sz="2400" b="0">
                    <a:solidFill>
                      <a:srgbClr val="111827"/>
                    </a:solidFill>
                    <a:latin typeface="Arial"/>
                  </a:rPr>
                  <a:t>. Outside.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$a=0.5$</a:t>
                </a:r>
                <a:r>
                  <a:rPr sz="2400" b="0">
                    <a:solidFill>
                      <a:srgbClr val="111827"/>
                    </a:solidFill>
                    <a:latin typeface="Arial"/>
                  </a:rPr>
                  <a:t>: </a:t>
                </a:r>
                <a:r>
                  <a:rPr lang="en-IN" sz="2400">
                    <a:solidFill>
                      <a:srgbClr val="111827"/>
                    </a:solidFill>
                    <a:latin typeface="Cambria Math" panose="02040503050406030204" pitchFamily="18" charset="0"/>
                  </a:rPr>
                  <a:t>$P(0.25,1.5)$</a:t>
                </a:r>
                <a:r>
                  <a:rPr sz="2400" b="0">
                    <a:solidFill>
                      <a:srgbClr val="111827"/>
                    </a:solidFill>
                    <a:latin typeface="Arial"/>
                  </a:rPr>
                  <a:t>, </a:t>
                </a:r>
                <a:r>
                  <a:rPr lang="en-IN" sz="2400">
                    <a:solidFill>
                      <a:srgbClr val="111827"/>
                    </a:solidFill>
                    <a:latin typeface="Cambria Math" panose="02040503050406030204" pitchFamily="18" charset="0"/>
                  </a:rPr>
                  <a:t>$L_1=0.25&gt;0$</a:t>
                </a:r>
                <a:r>
                  <a:rPr sz="2400" b="0">
                    <a:solidFill>
                      <a:srgbClr val="111827"/>
                    </a:solidFill>
                    <a:latin typeface="Arial"/>
                  </a:rPr>
                  <a:t>, </a:t>
                </a:r>
                <a:r>
                  <a:rPr lang="en-IN" sz="2400">
                    <a:solidFill>
                      <a:srgbClr val="111827"/>
                    </a:solidFill>
                    <a:latin typeface="Cambria Math" panose="02040503050406030204" pitchFamily="18" charset="0"/>
                  </a:rPr>
                  <a:t>$L_2=0.25+3-5&lt;0$</a:t>
                </a:r>
                <a:r>
                  <a:rPr sz="2400" b="0">
                    <a:solidFill>
                      <a:srgbClr val="111827"/>
                    </a:solidFill>
                    <a:latin typeface="Arial"/>
                  </a:rPr>
                  <a:t>. Inside. Test </a:t>
                </a:r>
                <a:r>
                  <a:rPr lang="en-IN" sz="2400">
                    <a:solidFill>
                      <a:srgbClr val="111827"/>
                    </a:solidFill>
                    <a:latin typeface="Cambria Math" panose="02040503050406030204" pitchFamily="18" charset="0"/>
                  </a:rPr>
                  <a:t>$a=2$</a:t>
                </a:r>
                <a:r>
                  <a:rPr sz="2400" b="0">
                    <a:solidFill>
                      <a:srgbClr val="111827"/>
                    </a:solidFill>
                    <a:latin typeface="Arial"/>
                  </a:rPr>
                  <a:t>: </a:t>
                </a:r>
                <a:r>
                  <a:rPr lang="en-IN" sz="2400">
                    <a:solidFill>
                      <a:srgbClr val="111827"/>
                    </a:solidFill>
                    <a:latin typeface="Cambria Math" panose="02040503050406030204" pitchFamily="18" charset="0"/>
                  </a:rPr>
                  <a:t>$P(4,3)$</a:t>
                </a:r>
                <a:r>
                  <a:rPr sz="2400" b="0">
                    <a:solidFill>
                      <a:srgbClr val="111827"/>
                    </a:solidFill>
                    <a:latin typeface="Arial"/>
                  </a:rPr>
                  <a:t>, </a:t>
                </a:r>
                <a:r>
                  <a:rPr lang="en-IN" sz="2400">
                    <a:solidFill>
                      <a:srgbClr val="111827"/>
                    </a:solidFill>
                    <a:latin typeface="Cambria Math" panose="02040503050406030204" pitchFamily="18" charset="0"/>
                  </a:rPr>
                  <a:t>$L_2=4+6-5=5&gt;0$</a:t>
                </a:r>
                <a:r>
                  <a:rPr sz="2400" b="0">
                    <a:solidFill>
                      <a:srgbClr val="111827"/>
                    </a:solidFill>
                    <a:latin typeface="Arial"/>
                  </a:rPr>
                  <a:t>. Outside.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Inside exactly for </a:t>
                </a:r>
                <a:r>
                  <a:rPr lang="en-IN" sz="2400">
                    <a:solidFill>
                      <a:srgbClr val="111827"/>
                    </a:solidFill>
                    <a:latin typeface="Cambria Math" panose="02040503050406030204" pitchFamily="18" charset="0"/>
                  </a:rPr>
                  <a:t>$a\in(-3,0)\cup\left(\frac{1}{3},1\right)$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$(-3,0)\cup\left(\frac{1}{3},1\right)$</a:t>
                </a:r>
                <a:endParaRPr sz="2800">
                  <a:solidFill>
                    <a:srgbClr val="15803D"/>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region containing the origin of a line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use this for every boundary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curve in parametric form, the sign of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changes only at the roots of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test one point per interval between consecutive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Exclude boundary values (strict inequalities) when the region is described as an interior.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region containing the origin of a line </a:t>
                </a:r>
                <a:r>
                  <a:rPr lang="en-IN" sz="2400">
                    <a:solidFill>
                      <a:srgbClr val="111827"/>
                    </a:solidFill>
                    <a:latin typeface="Cambria Math" panose="02040503050406030204" pitchFamily="18" charset="0"/>
                  </a:rPr>
                  <a:t>$L(x,y)=0$</a:t>
                </a:r>
                <a:r>
                  <a:rPr sz="2400" b="0">
                    <a:solidFill>
                      <a:srgbClr val="111827"/>
                    </a:solidFill>
                    <a:latin typeface="Arial"/>
                  </a:rPr>
                  <a:t> is </a:t>
                </a:r>
                <a:r>
                  <a:rPr lang="en-IN" sz="2400">
                    <a:solidFill>
                      <a:srgbClr val="111827"/>
                    </a:solidFill>
                    <a:latin typeface="Cambria Math" panose="02040503050406030204" pitchFamily="18" charset="0"/>
                  </a:rPr>
                  <a:t>$L(x,y)\cdot L(0,0)&gt;0$</a:t>
                </a:r>
                <a:r>
                  <a:rPr sz="2400" b="0">
                    <a:solidFill>
                      <a:srgbClr val="111827"/>
                    </a:solidFill>
                    <a:latin typeface="Arial"/>
                  </a:rPr>
                  <a:t>; use this for every boundary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curve in parametric form, the sign of </a:t>
                </a:r>
                <a:r>
                  <a:rPr lang="en-IN" sz="2400">
                    <a:solidFill>
                      <a:srgbClr val="111827"/>
                    </a:solidFill>
                    <a:latin typeface="Cambria Math" panose="02040503050406030204" pitchFamily="18" charset="0"/>
                  </a:rPr>
                  <a:t>$L(P(a))$</a:t>
                </a:r>
                <a:r>
                  <a:rPr sz="2400" b="0">
                    <a:solidFill>
                      <a:srgbClr val="111827"/>
                    </a:solidFill>
                    <a:latin typeface="Arial"/>
                  </a:rPr>
                  <a:t> changes only at the roots of </a:t>
                </a:r>
                <a:r>
                  <a:rPr lang="en-IN" sz="2400">
                    <a:solidFill>
                      <a:srgbClr val="111827"/>
                    </a:solidFill>
                    <a:latin typeface="Cambria Math" panose="02040503050406030204" pitchFamily="18" charset="0"/>
                  </a:rPr>
                  <a:t>$L(P(a))=0$</a:t>
                </a:r>
                <a:r>
                  <a:rPr sz="2400" b="0">
                    <a:solidFill>
                      <a:srgbClr val="111827"/>
                    </a:solidFill>
                    <a:latin typeface="Arial"/>
                  </a:rPr>
                  <a:t>, so test one point per interval between consecutive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Exclude boundary values (strict inequalities) when the region is described as an interior.</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be the circumcenter of a triangle with vertices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denote the circumradius,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denote the area and </a:t>
                </a:r>
                <a14:m>
                  <m:oMath xmlns:m="http://schemas.openxmlformats.org/officeDocument/2006/math">
                    <m:r>
                      <a:rPr lang="en-IN" sz="2400" i="1">
                        <a:solidFill>
                          <a:srgbClr val="111827"/>
                        </a:solidFill>
                        <a:latin typeface="Cambria Math" panose="02040503050406030204" pitchFamily="18" charset="0"/>
                      </a:rPr>
                      <m:t>γ</m:t>
                    </m:r>
                  </m:oMath>
                </a14:m>
                <a:r>
                  <a:rPr sz="2400" b="0">
                    <a:solidFill>
                      <a:srgbClr val="111827"/>
                    </a:solidFill>
                    <a:latin typeface="Arial"/>
                  </a:rPr>
                  <a:t> denote the perimeter of the triangle.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30</m:t>
                    </m:r>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$\left(5,\frac{a}{4}\right)$</a:t>
                </a:r>
                <a:r>
                  <a:rPr sz="2400" b="0">
                    <a:solidFill>
                      <a:srgbClr val="111827"/>
                    </a:solidFill>
                    <a:latin typeface="Arial"/>
                  </a:rPr>
                  <a:t> be the circumcenter of a triangle with vertices </a:t>
                </a:r>
                <a:r>
                  <a:rPr lang="en-IN" sz="2400">
                    <a:solidFill>
                      <a:srgbClr val="111827"/>
                    </a:solidFill>
                    <a:latin typeface="Cambria Math" panose="02040503050406030204" pitchFamily="18" charset="0"/>
                  </a:rPr>
                  <a:t>$A(a,-2)$</a:t>
                </a:r>
                <a:r>
                  <a:rPr sz="2400" b="0">
                    <a:solidFill>
                      <a:srgbClr val="111827"/>
                    </a:solidFill>
                    <a:latin typeface="Arial"/>
                  </a:rPr>
                  <a:t>, </a:t>
                </a:r>
                <a:r>
                  <a:rPr lang="en-IN" sz="2400">
                    <a:solidFill>
                      <a:srgbClr val="111827"/>
                    </a:solidFill>
                    <a:latin typeface="Cambria Math" panose="02040503050406030204" pitchFamily="18" charset="0"/>
                  </a:rPr>
                  <a:t>$B(a,6)$</a:t>
                </a:r>
                <a:r>
                  <a:rPr sz="2400" b="0">
                    <a:solidFill>
                      <a:srgbClr val="111827"/>
                    </a:solidFill>
                    <a:latin typeface="Arial"/>
                  </a:rPr>
                  <a:t> and </a:t>
                </a:r>
                <a:r>
                  <a:rPr lang="en-IN" sz="2400">
                    <a:solidFill>
                      <a:srgbClr val="111827"/>
                    </a:solidFill>
                    <a:latin typeface="Cambria Math" panose="02040503050406030204" pitchFamily="18" charset="0"/>
                  </a:rPr>
                  <a:t>$C\left(\frac{a}{4},-2\right)$</a:t>
                </a:r>
                <a:r>
                  <a:rPr sz="2400" b="0">
                    <a:solidFill>
                      <a:srgbClr val="111827"/>
                    </a:solidFill>
                    <a:latin typeface="Arial"/>
                  </a:rPr>
                  <a:t>. Let </a:t>
                </a:r>
                <a:r>
                  <a:rPr lang="en-IN" sz="2400">
                    <a:solidFill>
                      <a:srgbClr val="111827"/>
                    </a:solidFill>
                    <a:latin typeface="Cambria Math" panose="02040503050406030204" pitchFamily="18" charset="0"/>
                  </a:rPr>
                  <a:t>$\alpha$</a:t>
                </a:r>
                <a:r>
                  <a:rPr sz="2400" b="0">
                    <a:solidFill>
                      <a:srgbClr val="111827"/>
                    </a:solidFill>
                    <a:latin typeface="Arial"/>
                  </a:rPr>
                  <a:t> denote the circumradius, </a:t>
                </a:r>
                <a:r>
                  <a:rPr lang="en-IN" sz="2400">
                    <a:solidFill>
                      <a:srgbClr val="111827"/>
                    </a:solidFill>
                    <a:latin typeface="Cambria Math" panose="02040503050406030204" pitchFamily="18" charset="0"/>
                  </a:rPr>
                  <a:t>$\beta$</a:t>
                </a:r>
                <a:r>
                  <a:rPr sz="2400" b="0">
                    <a:solidFill>
                      <a:srgbClr val="111827"/>
                    </a:solidFill>
                    <a:latin typeface="Arial"/>
                  </a:rPr>
                  <a:t> denote the area and </a:t>
                </a:r>
                <a:r>
                  <a:rPr lang="en-IN" sz="2400">
                    <a:solidFill>
                      <a:srgbClr val="111827"/>
                    </a:solidFill>
                    <a:latin typeface="Cambria Math" panose="02040503050406030204" pitchFamily="18" charset="0"/>
                  </a:rPr>
                  <a:t>$\gamma$</a:t>
                </a:r>
                <a:r>
                  <a:rPr sz="2400" b="0">
                    <a:solidFill>
                      <a:srgbClr val="111827"/>
                    </a:solidFill>
                    <a:latin typeface="Arial"/>
                  </a:rPr>
                  <a:t> denote the perimeter of the triangle. Then </a:t>
                </a:r>
                <a:r>
                  <a:rPr lang="en-IN" sz="2400">
                    <a:solidFill>
                      <a:srgbClr val="111827"/>
                    </a:solidFill>
                    <a:latin typeface="Cambria Math" panose="02040503050406030204" pitchFamily="18" charset="0"/>
                  </a:rPr>
                  <a:t>$\alpha+\beta+\gamma$</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$53$</a:t>
                </a:r>
                <a:r>
                  <a:rPr sz="2400" b="0">
                    <a:solidFill>
                      <a:srgbClr val="111827"/>
                    </a:solidFill>
                    <a:latin typeface="Arial"/>
                  </a:rPr>
                  <a:t>   (B) </a:t>
                </a:r>
                <a:r>
                  <a:rPr lang="en-IN" sz="2400">
                    <a:solidFill>
                      <a:srgbClr val="111827"/>
                    </a:solidFill>
                    <a:latin typeface="Cambria Math" panose="02040503050406030204" pitchFamily="18" charset="0"/>
                  </a:rPr>
                  <a:t>$60$</a:t>
                </a:r>
                <a:r>
                  <a:rPr sz="2400" b="0">
                    <a:solidFill>
                      <a:srgbClr val="111827"/>
                    </a:solidFill>
                    <a:latin typeface="Arial"/>
                  </a:rPr>
                  <a:t>   (C) </a:t>
                </a:r>
                <a:r>
                  <a:rPr lang="en-IN" sz="2400">
                    <a:solidFill>
                      <a:srgbClr val="111827"/>
                    </a:solidFill>
                    <a:latin typeface="Cambria Math" panose="02040503050406030204" pitchFamily="18" charset="0"/>
                  </a:rPr>
                  <a:t>$62$</a:t>
                </a:r>
                <a:r>
                  <a:rPr sz="2400" b="0">
                    <a:solidFill>
                      <a:srgbClr val="111827"/>
                    </a:solidFill>
                    <a:latin typeface="Arial"/>
                  </a:rPr>
                  <a:t>   (D) </a:t>
                </a:r>
                <a:r>
                  <a:rPr lang="en-IN" sz="2400">
                    <a:solidFill>
                      <a:srgbClr val="111827"/>
                    </a:solidFill>
                    <a:latin typeface="Cambria Math" panose="02040503050406030204" pitchFamily="18" charset="0"/>
                  </a:rPr>
                  <a:t>$30$</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Circumcentre, circumradius, area and perimeter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circumcentre lies on the perpendicular bisector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of the vertical side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which fixes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circumcentre lies on the perpendicular bisector </a:t>
                </a:r>
                <a:r>
                  <a:rPr lang="en-IN" sz="2400">
                    <a:solidFill>
                      <a:srgbClr val="78350F"/>
                    </a:solidFill>
                    <a:latin typeface="Cambria Math" panose="02040503050406030204" pitchFamily="18" charset="0"/>
                  </a:rPr>
                  <a:t>$y=2$</a:t>
                </a:r>
                <a:r>
                  <a:rPr sz="2400" b="0">
                    <a:solidFill>
                      <a:srgbClr val="78350F"/>
                    </a:solidFill>
                    <a:latin typeface="Arial"/>
                  </a:rPr>
                  <a:t> of the vertical side </a:t>
                </a:r>
                <a:r>
                  <a:rPr lang="en-IN" sz="2400">
                    <a:solidFill>
                      <a:srgbClr val="78350F"/>
                    </a:solidFill>
                    <a:latin typeface="Cambria Math" panose="02040503050406030204" pitchFamily="18" charset="0"/>
                  </a:rPr>
                  <a:t>$AB$</a:t>
                </a:r>
                <a:r>
                  <a:rPr sz="2400" b="0">
                    <a:solidFill>
                      <a:srgbClr val="78350F"/>
                    </a:solidFill>
                    <a:latin typeface="Arial"/>
                  </a:rPr>
                  <a:t>, which fixes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the vertical segment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its perpendicular bisector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circumcentre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lies on it,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(vertical)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(horizontal), so the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Hypotenuse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Perimeter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a:t>
                </a:r>
                <a:r>
                  <a:rPr sz="2400" b="0">
                    <a:solidFill>
                      <a:srgbClr val="111827"/>
                    </a:solidFill>
                    <a:latin typeface="Arial"/>
                  </a:rPr>
                  <a:t> is the vertical segment </a:t>
                </a:r>
                <a:r>
                  <a:rPr lang="en-IN" sz="2400">
                    <a:solidFill>
                      <a:srgbClr val="111827"/>
                    </a:solidFill>
                    <a:latin typeface="Cambria Math" panose="02040503050406030204" pitchFamily="18" charset="0"/>
                  </a:rPr>
                  <a:t>$x=a$</a:t>
                </a:r>
                <a:r>
                  <a:rPr sz="2400" b="0">
                    <a:solidFill>
                      <a:srgbClr val="111827"/>
                    </a:solidFill>
                    <a:latin typeface="Arial"/>
                  </a:rPr>
                  <a:t> from </a:t>
                </a:r>
                <a:r>
                  <a:rPr lang="en-IN" sz="2400">
                    <a:solidFill>
                      <a:srgbClr val="111827"/>
                    </a:solidFill>
                    <a:latin typeface="Cambria Math" panose="02040503050406030204" pitchFamily="18" charset="0"/>
                  </a:rPr>
                  <a:t>$y=-2$</a:t>
                </a:r>
                <a:r>
                  <a:rPr sz="2400" b="0">
                    <a:solidFill>
                      <a:srgbClr val="111827"/>
                    </a:solidFill>
                    <a:latin typeface="Arial"/>
                  </a:rPr>
                  <a:t> to </a:t>
                </a:r>
                <a:r>
                  <a:rPr lang="en-IN" sz="2400">
                    <a:solidFill>
                      <a:srgbClr val="111827"/>
                    </a:solidFill>
                    <a:latin typeface="Cambria Math" panose="02040503050406030204" pitchFamily="18" charset="0"/>
                  </a:rPr>
                  <a:t>$y=6$</a:t>
                </a:r>
                <a:r>
                  <a:rPr sz="2400" b="0">
                    <a:solidFill>
                      <a:srgbClr val="111827"/>
                    </a:solidFill>
                    <a:latin typeface="Arial"/>
                  </a:rPr>
                  <a:t>; its perpendicular bisector is </a:t>
                </a:r>
                <a:r>
                  <a:rPr lang="en-IN" sz="2400">
                    <a:solidFill>
                      <a:srgbClr val="111827"/>
                    </a:solidFill>
                    <a:latin typeface="Cambria Math" panose="02040503050406030204" pitchFamily="18" charset="0"/>
                  </a:rPr>
                  <a:t>$y=2$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circumcentre </a:t>
                </a:r>
                <a:r>
                  <a:rPr lang="en-IN" sz="2400">
                    <a:solidFill>
                      <a:srgbClr val="111827"/>
                    </a:solidFill>
                    <a:latin typeface="Cambria Math" panose="02040503050406030204" pitchFamily="18" charset="0"/>
                  </a:rPr>
                  <a:t>$\left(5,\frac{a}{4}\right)$</a:t>
                </a:r>
                <a:r>
                  <a:rPr sz="2400" b="0">
                    <a:solidFill>
                      <a:srgbClr val="111827"/>
                    </a:solidFill>
                    <a:latin typeface="Arial"/>
                  </a:rPr>
                  <a:t> lies on it, so </a:t>
                </a:r>
                <a:r>
                  <a:rPr lang="en-IN" sz="2400">
                    <a:solidFill>
                      <a:srgbClr val="111827"/>
                    </a:solidFill>
                    <a:latin typeface="Cambria Math" panose="02040503050406030204" pitchFamily="18" charset="0"/>
                  </a:rPr>
                  <a:t>$\frac{a}{4}=2\Rightarrow a=8$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Vertices: </a:t>
                </a:r>
                <a:r>
                  <a:rPr lang="en-IN" sz="2400">
                    <a:solidFill>
                      <a:srgbClr val="111827"/>
                    </a:solidFill>
                    <a:latin typeface="Cambria Math" panose="02040503050406030204" pitchFamily="18" charset="0"/>
                  </a:rPr>
                  <a:t>$A(8,-2)$</a:t>
                </a:r>
                <a:r>
                  <a:rPr sz="2400" b="0">
                    <a:solidFill>
                      <a:srgbClr val="111827"/>
                    </a:solidFill>
                    <a:latin typeface="Arial"/>
                  </a:rPr>
                  <a:t>, </a:t>
                </a:r>
                <a:r>
                  <a:rPr lang="en-IN" sz="2400">
                    <a:solidFill>
                      <a:srgbClr val="111827"/>
                    </a:solidFill>
                    <a:latin typeface="Cambria Math" panose="02040503050406030204" pitchFamily="18" charset="0"/>
                  </a:rPr>
                  <a:t>$B(8,6)$</a:t>
                </a:r>
                <a:r>
                  <a:rPr sz="2400" b="0">
                    <a:solidFill>
                      <a:srgbClr val="111827"/>
                    </a:solidFill>
                    <a:latin typeface="Arial"/>
                  </a:rPr>
                  <a:t>, </a:t>
                </a:r>
                <a:r>
                  <a:rPr lang="en-IN" sz="2400">
                    <a:solidFill>
                      <a:srgbClr val="111827"/>
                    </a:solidFill>
                    <a:latin typeface="Cambria Math" panose="02040503050406030204" pitchFamily="18" charset="0"/>
                  </a:rPr>
                  <a:t>$C(2,-2)$</a:t>
                </a:r>
                <a:r>
                  <a:rPr sz="2400" b="0">
                    <a:solidFill>
                      <a:srgbClr val="111827"/>
                    </a:solidFill>
                    <a:latin typeface="Arial"/>
                  </a:rPr>
                  <a:t>. </a:t>
                </a:r>
                <a:r>
                  <a:rPr lang="en-IN" sz="2400">
                    <a:solidFill>
                      <a:srgbClr val="111827"/>
                    </a:solidFill>
                    <a:latin typeface="Cambria Math" panose="02040503050406030204" pitchFamily="18" charset="0"/>
                  </a:rPr>
                  <a:t>$AB=8$</a:t>
                </a:r>
                <a:r>
                  <a:rPr sz="2400" b="0">
                    <a:solidFill>
                      <a:srgbClr val="111827"/>
                    </a:solidFill>
                    <a:latin typeface="Arial"/>
                  </a:rPr>
                  <a:t> (vertical) and </a:t>
                </a:r>
                <a:r>
                  <a:rPr lang="en-IN" sz="2400">
                    <a:solidFill>
                      <a:srgbClr val="111827"/>
                    </a:solidFill>
                    <a:latin typeface="Cambria Math" panose="02040503050406030204" pitchFamily="18" charset="0"/>
                  </a:rPr>
                  <a:t>$AC=6$</a:t>
                </a:r>
                <a:r>
                  <a:rPr sz="2400" b="0">
                    <a:solidFill>
                      <a:srgbClr val="111827"/>
                    </a:solidFill>
                    <a:latin typeface="Arial"/>
                  </a:rPr>
                  <a:t> (horizontal), so the angle at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$90^\circ$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Hypotenuse </a:t>
                </a:r>
                <a:r>
                  <a:rPr lang="en-IN" sz="2400">
                    <a:solidFill>
                      <a:srgbClr val="111827"/>
                    </a:solidFill>
                    <a:latin typeface="Cambria Math" panose="02040503050406030204" pitchFamily="18" charset="0"/>
                  </a:rPr>
                  <a:t>$BC=\sqrt{6^2+8^2}=10$</a:t>
                </a:r>
                <a:r>
                  <a:rPr sz="2400" b="0">
                    <a:solidFill>
                      <a:srgbClr val="111827"/>
                    </a:solidFill>
                    <a:latin typeface="Arial"/>
                  </a:rPr>
                  <a:t>. Perimeter </a:t>
                </a:r>
                <a:r>
                  <a:rPr lang="en-IN" sz="2400">
                    <a:solidFill>
                      <a:srgbClr val="111827"/>
                    </a:solidFill>
                    <a:latin typeface="Cambria Math" panose="02040503050406030204" pitchFamily="18" charset="0"/>
                  </a:rPr>
                  <a:t>$\gamma=6+8+10=24$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Circumradius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ℎ𝑦𝑝𝑜𝑡𝑒𝑛𝑢𝑠𝑒</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$\beta=\frac{6\times8}{2}=24$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Circumradius </a:t>
                </a:r>
                <a:r>
                  <a:rPr lang="en-IN" sz="2400">
                    <a:solidFill>
                      <a:srgbClr val="111827"/>
                    </a:solidFill>
                    <a:latin typeface="Cambria Math" panose="02040503050406030204" pitchFamily="18" charset="0"/>
                  </a:rPr>
                  <a:t>$\alpha=\frac{\text{hypotenuse}}{2}=5$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$\alpha+\beta+\gamma=5+24+24=53$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53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$53$</a:t>
                </a:r>
                <a:endParaRPr sz="2800">
                  <a:solidFill>
                    <a:srgbClr val="15803D"/>
                  </a:solidFill>
                </a:endParaRPr>
              </a:p>
            </p:txBody>
          </p:sp>
        </mc:Fallback>
      </mc:AlternateContent>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right angle at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from the start: the circumcentre is the midpoint of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which gives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in one equation.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right angle at </a:t>
                </a:r>
                <a:r>
                  <a:rPr lang="en-IN" sz="2400">
                    <a:solidFill>
                      <a:srgbClr val="78350F"/>
                    </a:solidFill>
                    <a:latin typeface="Cambria Math" panose="02040503050406030204" pitchFamily="18" charset="0"/>
                  </a:rPr>
                  <a:t>$A$</a:t>
                </a:r>
                <a:r>
                  <a:rPr sz="2400" b="0">
                    <a:solidFill>
                      <a:srgbClr val="78350F"/>
                    </a:solidFill>
                    <a:latin typeface="Arial"/>
                  </a:rPr>
                  <a:t> from the start: the circumcentre is the midpoint of </a:t>
                </a:r>
                <a:r>
                  <a:rPr lang="en-IN" sz="2400">
                    <a:solidFill>
                      <a:srgbClr val="78350F"/>
                    </a:solidFill>
                    <a:latin typeface="Cambria Math" panose="02040503050406030204" pitchFamily="18" charset="0"/>
                  </a:rPr>
                  <a:t>$BC$</a:t>
                </a:r>
                <a:r>
                  <a:rPr sz="2400" b="0">
                    <a:solidFill>
                      <a:srgbClr val="78350F"/>
                    </a:solidFill>
                    <a:latin typeface="Arial"/>
                  </a:rPr>
                  <a:t>, which gives </a:t>
                </a:r>
                <a:r>
                  <a:rPr lang="en-IN" sz="2400">
                    <a:solidFill>
                      <a:srgbClr val="78350F"/>
                    </a:solidFill>
                    <a:latin typeface="Cambria Math" panose="02040503050406030204" pitchFamily="18" charset="0"/>
                  </a:rPr>
                  <a:t>$a$</a:t>
                </a:r>
                <a:r>
                  <a:rPr sz="2400" b="0">
                    <a:solidFill>
                      <a:srgbClr val="78350F"/>
                    </a:solidFill>
                    <a:latin typeface="Arial"/>
                  </a:rPr>
                  <a:t> in one equation.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vertical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is horizontal,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the circumcentre is the midpoint of hypotenuse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Midpoint of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a:t>
                </a:r>
                <a:r>
                  <a:rPr sz="2400" b="0">
                    <a:solidFill>
                      <a:srgbClr val="111827"/>
                    </a:solidFill>
                    <a:latin typeface="Arial"/>
                  </a:rPr>
                  <a:t> is vertical and </a:t>
                </a:r>
                <a:r>
                  <a:rPr lang="en-IN" sz="2400">
                    <a:solidFill>
                      <a:srgbClr val="111827"/>
                    </a:solidFill>
                    <a:latin typeface="Cambria Math" panose="02040503050406030204" pitchFamily="18" charset="0"/>
                  </a:rPr>
                  <a:t>$AC$</a:t>
                </a:r>
                <a:r>
                  <a:rPr sz="2400" b="0">
                    <a:solidFill>
                      <a:srgbClr val="111827"/>
                    </a:solidFill>
                    <a:latin typeface="Arial"/>
                  </a:rPr>
                  <a:t> is horizontal, so </a:t>
                </a:r>
                <a:r>
                  <a:rPr lang="en-IN" sz="2400">
                    <a:solidFill>
                      <a:srgbClr val="111827"/>
                    </a:solidFill>
                    <a:latin typeface="Cambria Math" panose="02040503050406030204" pitchFamily="18" charset="0"/>
                  </a:rPr>
                  <a:t>$\angle A=90^\circ$</a:t>
                </a:r>
                <a:r>
                  <a:rPr sz="2400" b="0">
                    <a:solidFill>
                      <a:srgbClr val="111827"/>
                    </a:solidFill>
                    <a:latin typeface="Arial"/>
                  </a:rPr>
                  <a:t> and the circumcentre is the midpoint of hypotenuse </a:t>
                </a:r>
                <a:r>
                  <a:rPr lang="en-IN" sz="2400">
                    <a:solidFill>
                      <a:srgbClr val="111827"/>
                    </a:solidFill>
                    <a:latin typeface="Cambria Math" panose="02040503050406030204" pitchFamily="18" charset="0"/>
                  </a:rPr>
                  <a:t>$BC$</a:t>
                </a:r>
                <a:r>
                  <a:rPr sz="2400" b="0">
                    <a:solidFill>
                      <a:srgbClr val="111827"/>
                    </a:solidFill>
                    <a:latin typeface="Arial"/>
                  </a:rPr>
                  <a:t> for every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Midpoint of </a:t>
                </a:r>
                <a:r>
                  <a:rPr lang="en-IN" sz="2400">
                    <a:solidFill>
                      <a:srgbClr val="111827"/>
                    </a:solidFill>
                    <a:latin typeface="Cambria Math" panose="02040503050406030204" pitchFamily="18" charset="0"/>
                  </a:rPr>
                  <a:t>$B(a,6)$</a:t>
                </a:r>
                <a:r>
                  <a:rPr sz="2400" b="0">
                    <a:solidFill>
                      <a:srgbClr val="111827"/>
                    </a:solidFill>
                    <a:latin typeface="Arial"/>
                  </a:rPr>
                  <a:t> and </a:t>
                </a:r>
                <a:r>
                  <a:rPr lang="en-IN" sz="2400">
                    <a:solidFill>
                      <a:srgbClr val="111827"/>
                    </a:solidFill>
                    <a:latin typeface="Cambria Math" panose="02040503050406030204" pitchFamily="18" charset="0"/>
                  </a:rPr>
                  <a:t>$C\left(\frac{a}{4},-2\right)$</a:t>
                </a:r>
                <a:r>
                  <a:rPr sz="2400" b="0">
                    <a:solidFill>
                      <a:srgbClr val="111827"/>
                    </a:solidFill>
                    <a:latin typeface="Arial"/>
                  </a:rPr>
                  <a:t> is </a:t>
                </a:r>
                <a:r>
                  <a:rPr lang="en-IN" sz="2400">
                    <a:solidFill>
                      <a:srgbClr val="111827"/>
                    </a:solidFill>
                    <a:latin typeface="Cambria Math" panose="02040503050406030204" pitchFamily="18" charset="0"/>
                  </a:rPr>
                  <a:t>$\left(\frac{5a}{8},2\right)$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to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checks the ordinate.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Legs are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hypotenuse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so the sum is </a:t>
                </a:r>
                <a14:m>
                  <m:oMath xmlns:m="http://schemas.openxmlformats.org/officeDocument/2006/math">
                    <m:r>
                      <a:rPr lang="en-IN" sz="2400" i="1">
                        <a:solidFill>
                          <a:srgbClr val="111827"/>
                        </a:solidFill>
                        <a:latin typeface="Cambria Math" panose="02040503050406030204" pitchFamily="18" charset="0"/>
                      </a:rPr>
                      <m:t>53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to </a:t>
                </a:r>
                <a:r>
                  <a:rPr lang="en-IN" sz="2400">
                    <a:solidFill>
                      <a:srgbClr val="111827"/>
                    </a:solidFill>
                    <a:latin typeface="Cambria Math" panose="02040503050406030204" pitchFamily="18" charset="0"/>
                  </a:rPr>
                  <a:t>$\left(5,\frac{a}{4}\right)$</a:t>
                </a:r>
                <a:r>
                  <a:rPr sz="2400" b="0">
                    <a:solidFill>
                      <a:srgbClr val="111827"/>
                    </a:solidFill>
                    <a:latin typeface="Arial"/>
                  </a:rPr>
                  <a:t>: </a:t>
                </a:r>
                <a:r>
                  <a:rPr lang="en-IN" sz="2400">
                    <a:solidFill>
                      <a:srgbClr val="111827"/>
                    </a:solidFill>
                    <a:latin typeface="Cambria Math" panose="02040503050406030204" pitchFamily="18" charset="0"/>
                  </a:rPr>
                  <a:t>$\frac{5a}{8}=5\Rightarrow a=8$</a:t>
                </a:r>
                <a:r>
                  <a:rPr sz="2400" b="0">
                    <a:solidFill>
                      <a:srgbClr val="111827"/>
                    </a:solidFill>
                    <a:latin typeface="Arial"/>
                  </a:rPr>
                  <a:t>, and then </a:t>
                </a:r>
                <a:r>
                  <a:rPr lang="en-IN" sz="2400">
                    <a:solidFill>
                      <a:srgbClr val="111827"/>
                    </a:solidFill>
                    <a:latin typeface="Cambria Math" panose="02040503050406030204" pitchFamily="18" charset="0"/>
                  </a:rPr>
                  <a:t>$\frac{a}{4}=2$</a:t>
                </a:r>
                <a:r>
                  <a:rPr sz="2400" b="0">
                    <a:solidFill>
                      <a:srgbClr val="111827"/>
                    </a:solidFill>
                    <a:latin typeface="Arial"/>
                  </a:rPr>
                  <a:t> checks the ordinate.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Legs are </a:t>
                </a:r>
                <a:r>
                  <a:rPr lang="en-IN" sz="2400">
                    <a:solidFill>
                      <a:srgbClr val="111827"/>
                    </a:solidFill>
                    <a:latin typeface="Cambria Math" panose="02040503050406030204" pitchFamily="18" charset="0"/>
                  </a:rPr>
                  <a:t>$6$</a:t>
                </a:r>
                <a:r>
                  <a:rPr sz="2400" b="0">
                    <a:solidFill>
                      <a:srgbClr val="111827"/>
                    </a:solidFill>
                    <a:latin typeface="Arial"/>
                  </a:rPr>
                  <a:t> and </a:t>
                </a:r>
                <a:r>
                  <a:rPr lang="en-IN" sz="2400">
                    <a:solidFill>
                      <a:srgbClr val="111827"/>
                    </a:solidFill>
                    <a:latin typeface="Cambria Math" panose="02040503050406030204" pitchFamily="18" charset="0"/>
                  </a:rPr>
                  <a:t>$8$</a:t>
                </a:r>
                <a:r>
                  <a:rPr sz="2400" b="0">
                    <a:solidFill>
                      <a:srgbClr val="111827"/>
                    </a:solidFill>
                    <a:latin typeface="Arial"/>
                  </a:rPr>
                  <a:t>, hypotenuse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$\alpha=5$</a:t>
                </a:r>
                <a:r>
                  <a:rPr sz="2400" b="0">
                    <a:solidFill>
                      <a:srgbClr val="111827"/>
                    </a:solidFill>
                    <a:latin typeface="Arial"/>
                  </a:rPr>
                  <a:t>, </a:t>
                </a:r>
                <a:r>
                  <a:rPr lang="en-IN" sz="2400">
                    <a:solidFill>
                      <a:srgbClr val="111827"/>
                    </a:solidFill>
                    <a:latin typeface="Cambria Math" panose="02040503050406030204" pitchFamily="18" charset="0"/>
                  </a:rPr>
                  <a:t>$\beta=24$</a:t>
                </a:r>
                <a:r>
                  <a:rPr sz="2400" b="0">
                    <a:solidFill>
                      <a:srgbClr val="111827"/>
                    </a:solidFill>
                    <a:latin typeface="Arial"/>
                  </a:rPr>
                  <a:t>, </a:t>
                </a:r>
                <a:r>
                  <a:rPr lang="en-IN" sz="2400">
                    <a:solidFill>
                      <a:srgbClr val="111827"/>
                    </a:solidFill>
                    <a:latin typeface="Cambria Math" panose="02040503050406030204" pitchFamily="18" charset="0"/>
                  </a:rPr>
                  <a:t>$\gamma=24$</a:t>
                </a:r>
                <a:r>
                  <a:rPr sz="2400" b="0">
                    <a:solidFill>
                      <a:srgbClr val="111827"/>
                    </a:solidFill>
                    <a:latin typeface="Arial"/>
                  </a:rPr>
                  <a:t>, so the sum is </a:t>
                </a:r>
                <a:r>
                  <a:rPr lang="en-IN" sz="2400">
                    <a:solidFill>
                      <a:srgbClr val="111827"/>
                    </a:solidFill>
                    <a:latin typeface="Cambria Math" panose="02040503050406030204" pitchFamily="18" charset="0"/>
                  </a:rPr>
                  <a:t>$53$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53</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$53$</a:t>
                </a:r>
                <a:endParaRPr sz="2800">
                  <a:solidFill>
                    <a:srgbClr val="15803D"/>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right triangle the circumcentre is the midpoint of the hypotenuse and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ℎ𝑦𝑝𝑜𝑡𝑒𝑛𝑢𝑠𝑒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triangle with one horizontal and one vertical side is right-angled - check axis-parallel sides before any heavy calculation.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triangle has area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perimeter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and circumradius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 recognise the Pythagorean triples.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right triangle the circumcentre is the midpoint of the hypotenuse and </a:t>
                </a:r>
                <a:r>
                  <a:rPr lang="en-IN" sz="2400">
                    <a:solidFill>
                      <a:srgbClr val="111827"/>
                    </a:solidFill>
                    <a:latin typeface="Cambria Math" panose="02040503050406030204" pitchFamily="18" charset="0"/>
                  </a:rPr>
                  <a:t>$R=\frac{\text{hypotenuse}}{2}$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triangle with one horizontal and one vertical side is right-angled - check axis-parallel sides before any heavy calculation.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a:t>
                </a:r>
                <a:r>
                  <a:rPr sz="2400" b="0">
                    <a:solidFill>
                      <a:srgbClr val="111827"/>
                    </a:solidFill>
                    <a:latin typeface="Arial"/>
                  </a:rPr>
                  <a:t>-</a:t>
                </a:r>
                <a:r>
                  <a:rPr lang="en-IN" sz="2400">
                    <a:solidFill>
                      <a:srgbClr val="111827"/>
                    </a:solidFill>
                    <a:latin typeface="Cambria Math" panose="02040503050406030204" pitchFamily="18" charset="0"/>
                  </a:rPr>
                  <a:t>$8$</a:t>
                </a:r>
                <a:r>
                  <a:rPr sz="2400" b="0">
                    <a:solidFill>
                      <a:srgbClr val="111827"/>
                    </a:solidFill>
                    <a:latin typeface="Arial"/>
                  </a:rPr>
                  <a:t>-</a:t>
                </a:r>
                <a:r>
                  <a:rPr lang="en-IN" sz="2400">
                    <a:solidFill>
                      <a:srgbClr val="111827"/>
                    </a:solidFill>
                    <a:latin typeface="Cambria Math" panose="02040503050406030204" pitchFamily="18" charset="0"/>
                  </a:rPr>
                  <a:t>$10$</a:t>
                </a:r>
                <a:r>
                  <a:rPr sz="2400" b="0">
                    <a:solidFill>
                      <a:srgbClr val="111827"/>
                    </a:solidFill>
                    <a:latin typeface="Arial"/>
                  </a:rPr>
                  <a:t> triangle has area </a:t>
                </a:r>
                <a:r>
                  <a:rPr lang="en-IN" sz="2400">
                    <a:solidFill>
                      <a:srgbClr val="111827"/>
                    </a:solidFill>
                    <a:latin typeface="Cambria Math" panose="02040503050406030204" pitchFamily="18" charset="0"/>
                  </a:rPr>
                  <a:t>$24$</a:t>
                </a:r>
                <a:r>
                  <a:rPr sz="2400" b="0">
                    <a:solidFill>
                      <a:srgbClr val="111827"/>
                    </a:solidFill>
                    <a:latin typeface="Arial"/>
                  </a:rPr>
                  <a:t>, perimeter </a:t>
                </a:r>
                <a:r>
                  <a:rPr lang="en-IN" sz="2400">
                    <a:solidFill>
                      <a:srgbClr val="111827"/>
                    </a:solidFill>
                    <a:latin typeface="Cambria Math" panose="02040503050406030204" pitchFamily="18" charset="0"/>
                  </a:rPr>
                  <a:t>$24$</a:t>
                </a:r>
                <a:r>
                  <a:rPr sz="2400" b="0">
                    <a:solidFill>
                      <a:srgbClr val="111827"/>
                    </a:solidFill>
                    <a:latin typeface="Arial"/>
                  </a:rPr>
                  <a:t> and circumradius </a:t>
                </a:r>
                <a:r>
                  <a:rPr lang="en-IN" sz="2400">
                    <a:solidFill>
                      <a:srgbClr val="111827"/>
                    </a:solidFill>
                    <a:latin typeface="Cambria Math" panose="02040503050406030204" pitchFamily="18" charset="0"/>
                  </a:rPr>
                  <a:t>$5$</a:t>
                </a:r>
                <a:r>
                  <a:rPr sz="2400" b="0">
                    <a:solidFill>
                      <a:srgbClr val="111827"/>
                    </a:solidFill>
                    <a:latin typeface="Arial"/>
                  </a:rPr>
                  <a:t> - recognise the Pythagorean triples.</a:t>
                </a:r>
                <a:endParaRPr sz="2400">
                  <a:solidFill>
                    <a:srgbClr val="111827"/>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suppose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the equation of the bisector of the angle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the equation of the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the points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respectively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39</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42</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a:t>
                </a:r>
                <a:r>
                  <a:rPr lang="en-IN" sz="2400">
                    <a:solidFill>
                      <a:srgbClr val="111827"/>
                    </a:solidFill>
                    <a:latin typeface="Cambria Math" panose="02040503050406030204" pitchFamily="18" charset="0"/>
                  </a:rPr>
                  <a:t>$\triangle ABC$</a:t>
                </a:r>
                <a:r>
                  <a:rPr sz="2400" b="0">
                    <a:solidFill>
                      <a:srgbClr val="111827"/>
                    </a:solidFill>
                    <a:latin typeface="Arial"/>
                  </a:rPr>
                  <a:t>, suppose </a:t>
                </a:r>
                <a:r>
                  <a:rPr lang="en-IN" sz="2400">
                    <a:solidFill>
                      <a:srgbClr val="111827"/>
                    </a:solidFill>
                    <a:latin typeface="Cambria Math" panose="02040503050406030204" pitchFamily="18" charset="0"/>
                  </a:rPr>
                  <a:t>$y=x$</a:t>
                </a:r>
                <a:r>
                  <a:rPr sz="2400" b="0">
                    <a:solidFill>
                      <a:srgbClr val="111827"/>
                    </a:solidFill>
                    <a:latin typeface="Arial"/>
                  </a:rPr>
                  <a:t> is the equation of the bisector of the angle </a:t>
                </a:r>
                <a:r>
                  <a:rPr lang="en-IN" sz="2400">
                    <a:solidFill>
                      <a:srgbClr val="111827"/>
                    </a:solidFill>
                    <a:latin typeface="Cambria Math" panose="02040503050406030204" pitchFamily="18" charset="0"/>
                  </a:rPr>
                  <a:t>$B$</a:t>
                </a:r>
                <a:r>
                  <a:rPr sz="2400" b="0">
                    <a:solidFill>
                      <a:srgbClr val="111827"/>
                    </a:solidFill>
                    <a:latin typeface="Arial"/>
                  </a:rPr>
                  <a:t> and the equation of the side </a:t>
                </a:r>
                <a:r>
                  <a:rPr lang="en-IN" sz="2400">
                    <a:solidFill>
                      <a:srgbClr val="111827"/>
                    </a:solidFill>
                    <a:latin typeface="Cambria Math" panose="02040503050406030204" pitchFamily="18" charset="0"/>
                  </a:rPr>
                  <a:t>$AC$</a:t>
                </a:r>
                <a:r>
                  <a:rPr sz="2400" b="0">
                    <a:solidFill>
                      <a:srgbClr val="111827"/>
                    </a:solidFill>
                    <a:latin typeface="Arial"/>
                  </a:rPr>
                  <a:t> is </a:t>
                </a:r>
                <a:r>
                  <a:rPr lang="en-IN" sz="2400">
                    <a:solidFill>
                      <a:srgbClr val="111827"/>
                    </a:solidFill>
                    <a:latin typeface="Cambria Math" panose="02040503050406030204" pitchFamily="18" charset="0"/>
                  </a:rPr>
                  <a:t>$2x-y=2$</a:t>
                </a:r>
                <a:r>
                  <a:rPr sz="2400" b="0">
                    <a:solidFill>
                      <a:srgbClr val="111827"/>
                    </a:solidFill>
                    <a:latin typeface="Arial"/>
                  </a:rPr>
                  <a:t>. If </a:t>
                </a:r>
                <a:r>
                  <a:rPr lang="en-IN" sz="2400">
                    <a:solidFill>
                      <a:srgbClr val="111827"/>
                    </a:solidFill>
                    <a:latin typeface="Cambria Math" panose="02040503050406030204" pitchFamily="18" charset="0"/>
                  </a:rPr>
                  <a:t>$2AB=BC$</a:t>
                </a:r>
                <a:r>
                  <a:rPr sz="2400" b="0">
                    <a:solidFill>
                      <a:srgbClr val="111827"/>
                    </a:solidFill>
                    <a:latin typeface="Arial"/>
                  </a:rPr>
                  <a:t> and the points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respectively </a:t>
                </a:r>
                <a:r>
                  <a:rPr lang="en-IN" sz="2400">
                    <a:solidFill>
                      <a:srgbClr val="111827"/>
                    </a:solidFill>
                    <a:latin typeface="Cambria Math" panose="02040503050406030204" pitchFamily="18" charset="0"/>
                  </a:rPr>
                  <a:t>$(4,6)$</a:t>
                </a:r>
                <a:r>
                  <a:rPr sz="2400" b="0">
                    <a:solidFill>
                      <a:srgbClr val="111827"/>
                    </a:solidFill>
                    <a:latin typeface="Arial"/>
                  </a:rPr>
                  <a:t> and </a:t>
                </a:r>
                <a:r>
                  <a:rPr lang="en-IN" sz="2400">
                    <a:solidFill>
                      <a:srgbClr val="111827"/>
                    </a:solidFill>
                    <a:latin typeface="Cambria Math" panose="02040503050406030204" pitchFamily="18" charset="0"/>
                  </a:rPr>
                  <a:t>$(\alpha,\beta)$</a:t>
                </a:r>
                <a:r>
                  <a:rPr sz="2400" b="0">
                    <a:solidFill>
                      <a:srgbClr val="111827"/>
                    </a:solidFill>
                    <a:latin typeface="Arial"/>
                  </a:rPr>
                  <a:t>, then </a:t>
                </a:r>
                <a:r>
                  <a:rPr lang="en-IN" sz="2400">
                    <a:solidFill>
                      <a:srgbClr val="111827"/>
                    </a:solidFill>
                    <a:latin typeface="Cambria Math" panose="02040503050406030204" pitchFamily="18" charset="0"/>
                  </a:rPr>
                  <a:t>$\alpha+2\beta$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$48$</a:t>
                </a:r>
                <a:r>
                  <a:rPr sz="2400" b="0">
                    <a:solidFill>
                      <a:srgbClr val="111827"/>
                    </a:solidFill>
                    <a:latin typeface="Arial"/>
                  </a:rPr>
                  <a:t>   (B) </a:t>
                </a:r>
                <a:r>
                  <a:rPr lang="en-IN" sz="2400">
                    <a:solidFill>
                      <a:srgbClr val="111827"/>
                    </a:solidFill>
                    <a:latin typeface="Cambria Math" panose="02040503050406030204" pitchFamily="18" charset="0"/>
                  </a:rPr>
                  <a:t>$39$</a:t>
                </a:r>
                <a:r>
                  <a:rPr sz="2400" b="0">
                    <a:solidFill>
                      <a:srgbClr val="111827"/>
                    </a:solidFill>
                    <a:latin typeface="Arial"/>
                  </a:rPr>
                  <a:t>   (C) </a:t>
                </a:r>
                <a:r>
                  <a:rPr lang="en-IN" sz="2400">
                    <a:solidFill>
                      <a:srgbClr val="111827"/>
                    </a:solidFill>
                    <a:latin typeface="Cambria Math" panose="02040503050406030204" pitchFamily="18" charset="0"/>
                  </a:rPr>
                  <a:t>$45$</a:t>
                </a:r>
                <a:r>
                  <a:rPr sz="2400" b="0">
                    <a:solidFill>
                      <a:srgbClr val="111827"/>
                    </a:solidFill>
                    <a:latin typeface="Arial"/>
                  </a:rPr>
                  <a:t>   (D) </a:t>
                </a:r>
                <a:r>
                  <a:rPr lang="en-IN" sz="2400">
                    <a:solidFill>
                      <a:srgbClr val="111827"/>
                    </a:solidFill>
                    <a:latin typeface="Cambria Math" panose="02040503050406030204" pitchFamily="18" charset="0"/>
                  </a:rPr>
                  <a:t>$42$</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bisector theorem and reflection in the bisector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reflection </a:t>
                </a:r>
                <a14:m>
                  <m:oMath xmlns:m="http://schemas.openxmlformats.org/officeDocument/2006/math">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in the bisector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lies on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and the bisector divides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in the ratio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reflection </a:t>
                </a:r>
                <a:r>
                  <a:rPr lang="en-IN" sz="2400">
                    <a:solidFill>
                      <a:srgbClr val="78350F"/>
                    </a:solidFill>
                    <a:latin typeface="Cambria Math" panose="02040503050406030204" pitchFamily="18" charset="0"/>
                  </a:rPr>
                  <a:t>$A'$</a:t>
                </a:r>
                <a:r>
                  <a:rPr sz="2400" b="0">
                    <a:solidFill>
                      <a:srgbClr val="78350F"/>
                    </a:solidFill>
                    <a:latin typeface="Arial"/>
                  </a:rPr>
                  <a:t> of </a:t>
                </a:r>
                <a:r>
                  <a:rPr lang="en-IN" sz="2400">
                    <a:solidFill>
                      <a:srgbClr val="78350F"/>
                    </a:solidFill>
                    <a:latin typeface="Cambria Math" panose="02040503050406030204" pitchFamily="18" charset="0"/>
                  </a:rPr>
                  <a:t>$A$</a:t>
                </a:r>
                <a:r>
                  <a:rPr sz="2400" b="0">
                    <a:solidFill>
                      <a:srgbClr val="78350F"/>
                    </a:solidFill>
                    <a:latin typeface="Arial"/>
                  </a:rPr>
                  <a:t> in the bisector </a:t>
                </a:r>
                <a:r>
                  <a:rPr lang="en-IN" sz="2400">
                    <a:solidFill>
                      <a:srgbClr val="78350F"/>
                    </a:solidFill>
                    <a:latin typeface="Cambria Math" panose="02040503050406030204" pitchFamily="18" charset="0"/>
                  </a:rPr>
                  <a:t>$y=x$</a:t>
                </a:r>
                <a:r>
                  <a:rPr sz="2400" b="0">
                    <a:solidFill>
                      <a:srgbClr val="78350F"/>
                    </a:solidFill>
                    <a:latin typeface="Arial"/>
                  </a:rPr>
                  <a:t> lies on </a:t>
                </a:r>
                <a:r>
                  <a:rPr lang="en-IN" sz="2400">
                    <a:solidFill>
                      <a:srgbClr val="78350F"/>
                    </a:solidFill>
                    <a:latin typeface="Cambria Math" panose="02040503050406030204" pitchFamily="18" charset="0"/>
                  </a:rPr>
                  <a:t>$BC$</a:t>
                </a:r>
                <a:r>
                  <a:rPr sz="2400" b="0">
                    <a:solidFill>
                      <a:srgbClr val="78350F"/>
                    </a:solidFill>
                    <a:latin typeface="Arial"/>
                  </a:rPr>
                  <a:t>, and the bisector divides </a:t>
                </a:r>
                <a:r>
                  <a:rPr lang="en-IN" sz="2400">
                    <a:solidFill>
                      <a:srgbClr val="78350F"/>
                    </a:solidFill>
                    <a:latin typeface="Cambria Math" panose="02040503050406030204" pitchFamily="18" charset="0"/>
                  </a:rPr>
                  <a:t>$AC$</a:t>
                </a:r>
                <a:r>
                  <a:rPr sz="2400" b="0">
                    <a:solidFill>
                      <a:srgbClr val="78350F"/>
                    </a:solidFill>
                    <a:latin typeface="Arial"/>
                  </a:rPr>
                  <a:t> in the ratio </a:t>
                </a:r>
                <a:r>
                  <a:rPr lang="en-IN" sz="2400">
                    <a:solidFill>
                      <a:srgbClr val="78350F"/>
                    </a:solidFill>
                    <a:latin typeface="Cambria Math" panose="02040503050406030204" pitchFamily="18" charset="0"/>
                  </a:rPr>
                  <a:t>$AB:BC=1:2$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lies on its own bisector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bisector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meet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By the angle bisector theorem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lies on its own bisector </a:t>
                </a:r>
                <a:r>
                  <a:rPr lang="en-IN" sz="2400">
                    <a:solidFill>
                      <a:srgbClr val="111827"/>
                    </a:solidFill>
                    <a:latin typeface="Cambria Math" panose="02040503050406030204" pitchFamily="18" charset="0"/>
                  </a:rPr>
                  <a:t>$y=x$</a:t>
                </a:r>
                <a:r>
                  <a:rPr sz="2400" b="0">
                    <a:solidFill>
                      <a:srgbClr val="111827"/>
                    </a:solidFill>
                    <a:latin typeface="Arial"/>
                  </a:rPr>
                  <a:t>, so </a:t>
                </a:r>
                <a:r>
                  <a:rPr lang="en-IN" sz="2400">
                    <a:solidFill>
                      <a:srgbClr val="111827"/>
                    </a:solidFill>
                    <a:latin typeface="Cambria Math" panose="02040503050406030204" pitchFamily="18" charset="0"/>
                  </a:rPr>
                  <a:t>$\beta=\alpha$</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$2x-y=2$</a:t>
                </a:r>
                <a:r>
                  <a:rPr sz="2400" b="0">
                    <a:solidFill>
                      <a:srgbClr val="111827"/>
                    </a:solidFill>
                    <a:latin typeface="Arial"/>
                  </a:rPr>
                  <a:t>: let </a:t>
                </a:r>
                <a:r>
                  <a:rPr lang="en-IN" sz="2400">
                    <a:solidFill>
                      <a:srgbClr val="111827"/>
                    </a:solidFill>
                    <a:latin typeface="Cambria Math" panose="02040503050406030204" pitchFamily="18" charset="0"/>
                  </a:rPr>
                  <a:t>$C=(\lambda,2\lambda-2)$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bisector </a:t>
                </a:r>
                <a:r>
                  <a:rPr lang="en-IN" sz="2400">
                    <a:solidFill>
                      <a:srgbClr val="111827"/>
                    </a:solidFill>
                    <a:latin typeface="Cambria Math" panose="02040503050406030204" pitchFamily="18" charset="0"/>
                  </a:rPr>
                  <a:t>$BD$</a:t>
                </a:r>
                <a:r>
                  <a:rPr sz="2400" b="0">
                    <a:solidFill>
                      <a:srgbClr val="111827"/>
                    </a:solidFill>
                    <a:latin typeface="Arial"/>
                  </a:rPr>
                  <a:t> meet </a:t>
                </a:r>
                <a:r>
                  <a:rPr lang="en-IN" sz="2400">
                    <a:solidFill>
                      <a:srgbClr val="111827"/>
                    </a:solidFill>
                    <a:latin typeface="Cambria Math" panose="02040503050406030204" pitchFamily="18" charset="0"/>
                  </a:rPr>
                  <a:t>$AC$</a:t>
                </a:r>
                <a:r>
                  <a:rPr sz="2400" b="0">
                    <a:solidFill>
                      <a:srgbClr val="111827"/>
                    </a:solidFill>
                    <a:latin typeface="Arial"/>
                  </a:rPr>
                  <a:t> at </a:t>
                </a:r>
                <a:r>
                  <a:rPr lang="en-IN" sz="2400">
                    <a:solidFill>
                      <a:srgbClr val="111827"/>
                    </a:solidFill>
                    <a:latin typeface="Cambria Math" panose="02040503050406030204" pitchFamily="18" charset="0"/>
                  </a:rPr>
                  <a:t>$D$</a:t>
                </a:r>
                <a:r>
                  <a:rPr sz="2400" b="0">
                    <a:solidFill>
                      <a:srgbClr val="111827"/>
                    </a:solidFill>
                    <a:latin typeface="Arial"/>
                  </a:rPr>
                  <a:t>. By the angle bisector theorem </a:t>
                </a:r>
                <a:r>
                  <a:rPr lang="en-IN" sz="2400">
                    <a:solidFill>
                      <a:srgbClr val="111827"/>
                    </a:solidFill>
                    <a:latin typeface="Cambria Math" panose="02040503050406030204" pitchFamily="18" charset="0"/>
                  </a:rPr>
                  <a:t>$\frac{AD}{DC}=\frac{AB}{BC}=\frac{1}{2}$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$D=\frac{2A+C}{3}=\left(\frac{\lambda+8}{3},\frac{2\lambda+10}{3}\right)$</a:t>
                </a:r>
                <a:r>
                  <a:rPr sz="2400" b="0">
                    <a:solidFill>
                      <a:srgbClr val="111827"/>
                    </a:solidFill>
                    <a:latin typeface="Arial"/>
                  </a:rPr>
                  <a:t> (as </a:t>
                </a:r>
                <a:r>
                  <a:rPr lang="en-IN" sz="2400">
                    <a:solidFill>
                      <a:srgbClr val="111827"/>
                    </a:solidFill>
                    <a:latin typeface="Cambria Math" panose="02040503050406030204" pitchFamily="18" charset="0"/>
                  </a:rPr>
                  <a:t>$2\lambda-2+12=2\lambda+10$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a:t>
                </a:r>
                <a:r>
                  <a:rPr sz="2400" b="0">
                    <a:solidFill>
                      <a:srgbClr val="111827"/>
                    </a:solidFill>
                    <a:latin typeface="Arial"/>
                  </a:rPr>
                  <a:t> lies on </a:t>
                </a:r>
                <a:r>
                  <a:rPr lang="en-IN" sz="2400">
                    <a:solidFill>
                      <a:srgbClr val="111827"/>
                    </a:solidFill>
                    <a:latin typeface="Cambria Math" panose="02040503050406030204" pitchFamily="18" charset="0"/>
                  </a:rPr>
                  <a:t>$y=x$</a:t>
                </a:r>
                <a:r>
                  <a:rPr sz="2400" b="0">
                    <a:solidFill>
                      <a:srgbClr val="111827"/>
                    </a:solidFill>
                    <a:latin typeface="Arial"/>
                  </a:rPr>
                  <a:t>: </a:t>
                </a:r>
                <a:r>
                  <a:rPr lang="en-IN" sz="2400">
                    <a:solidFill>
                      <a:srgbClr val="111827"/>
                    </a:solidFill>
                    <a:latin typeface="Cambria Math" panose="02040503050406030204" pitchFamily="18" charset="0"/>
                  </a:rPr>
                  <a:t>$\lambda+8=2\lambda+10\Rightarrow\lambda=-2$</a:t>
                </a:r>
                <a:r>
                  <a:rPr sz="2400" b="0">
                    <a:solidFill>
                      <a:srgbClr val="111827"/>
                    </a:solidFill>
                    <a:latin typeface="Arial"/>
                  </a:rPr>
                  <a:t>, so </a:t>
                </a:r>
                <a:r>
                  <a:rPr lang="en-IN" sz="2400">
                    <a:solidFill>
                      <a:srgbClr val="111827"/>
                    </a:solidFill>
                    <a:latin typeface="Cambria Math" panose="02040503050406030204" pitchFamily="18" charset="0"/>
                  </a:rPr>
                  <a:t>$C=(-2,-6)$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image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in the bisector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it lies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So slope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 slope of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image of </a:t>
                </a:r>
                <a:r>
                  <a:rPr lang="en-IN" sz="2400">
                    <a:solidFill>
                      <a:srgbClr val="111827"/>
                    </a:solidFill>
                    <a:latin typeface="Cambria Math" panose="02040503050406030204" pitchFamily="18" charset="0"/>
                  </a:rPr>
                  <a:t>$A$</a:t>
                </a:r>
                <a:r>
                  <a:rPr sz="2400" b="0">
                    <a:solidFill>
                      <a:srgbClr val="111827"/>
                    </a:solidFill>
                    <a:latin typeface="Arial"/>
                  </a:rPr>
                  <a:t> in the bisector </a:t>
                </a:r>
                <a:r>
                  <a:rPr lang="en-IN" sz="2400">
                    <a:solidFill>
                      <a:srgbClr val="111827"/>
                    </a:solidFill>
                    <a:latin typeface="Cambria Math" panose="02040503050406030204" pitchFamily="18" charset="0"/>
                  </a:rPr>
                  <a:t>$y=x$</a:t>
                </a:r>
                <a:r>
                  <a:rPr sz="2400" b="0">
                    <a:solidFill>
                      <a:srgbClr val="111827"/>
                    </a:solidFill>
                    <a:latin typeface="Arial"/>
                  </a:rPr>
                  <a:t> is </a:t>
                </a:r>
                <a:r>
                  <a:rPr lang="en-IN" sz="2400">
                    <a:solidFill>
                      <a:srgbClr val="111827"/>
                    </a:solidFill>
                    <a:latin typeface="Cambria Math" panose="02040503050406030204" pitchFamily="18" charset="0"/>
                  </a:rPr>
                  <a:t>$A'(6,4)$</a:t>
                </a:r>
                <a:r>
                  <a:rPr sz="2400" b="0">
                    <a:solidFill>
                      <a:srgbClr val="111827"/>
                    </a:solidFill>
                    <a:latin typeface="Arial"/>
                  </a:rPr>
                  <a:t>, and it lies on </a:t>
                </a:r>
                <a:r>
                  <a:rPr lang="en-IN" sz="2400">
                    <a:solidFill>
                      <a:srgbClr val="111827"/>
                    </a:solidFill>
                    <a:latin typeface="Cambria Math" panose="02040503050406030204" pitchFamily="18" charset="0"/>
                  </a:rPr>
                  <a:t>$BC$</a:t>
                </a:r>
                <a:r>
                  <a:rPr sz="2400" b="0">
                    <a:solidFill>
                      <a:srgbClr val="111827"/>
                    </a:solidFill>
                    <a:latin typeface="Arial"/>
                  </a:rPr>
                  <a:t>. So slope of </a:t>
                </a:r>
                <a:r>
                  <a:rPr lang="en-IN" sz="2400">
                    <a:solidFill>
                      <a:srgbClr val="111827"/>
                    </a:solidFill>
                    <a:latin typeface="Cambria Math" panose="02040503050406030204" pitchFamily="18" charset="0"/>
                  </a:rPr>
                  <a:t>$BC$</a:t>
                </a:r>
                <a:r>
                  <a:rPr sz="2400" b="0">
                    <a:solidFill>
                      <a:srgbClr val="111827"/>
                    </a:solidFill>
                    <a:latin typeface="Arial"/>
                  </a:rPr>
                  <a:t> = slope of </a:t>
                </a:r>
                <a:r>
                  <a:rPr lang="en-IN" sz="2400">
                    <a:solidFill>
                      <a:srgbClr val="111827"/>
                    </a:solidFill>
                    <a:latin typeface="Cambria Math" panose="02040503050406030204" pitchFamily="18" charset="0"/>
                  </a:rPr>
                  <a:t>$A'C$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$\frac{\alpha+6}{\alpha+2}=\frac{4+6}{6+2}=\frac{5}{4}\Rightarrow4\alpha+24=5\alpha+10\Rightarrow\alpha=14=\beta$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$\alpha+2\beta=14+28=42$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42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$42$</a:t>
                </a:r>
                <a:endParaRPr sz="2800">
                  <a:solidFill>
                    <a:srgbClr val="15803D"/>
                  </a:solidFill>
                </a:endParaRPr>
              </a:p>
            </p:txBody>
          </p:sp>
        </mc:Fallback>
      </mc:AlternateContent>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t>
                </a:r>
                <a14:m>
                  <m:oMath xmlns:m="http://schemas.openxmlformats.org/officeDocument/2006/math">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at once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meets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t>
                </a:r>
                <a:r>
                  <a:rPr lang="en-IN" sz="2400">
                    <a:solidFill>
                      <a:srgbClr val="78350F"/>
                    </a:solidFill>
                    <a:latin typeface="Cambria Math" panose="02040503050406030204" pitchFamily="18" charset="0"/>
                  </a:rPr>
                  <a:t>$D=AC\cap BD$</a:t>
                </a:r>
                <a:r>
                  <a:rPr sz="2400" b="0">
                    <a:solidFill>
                      <a:srgbClr val="78350F"/>
                    </a:solidFill>
                    <a:latin typeface="Arial"/>
                  </a:rPr>
                  <a:t> at once (</a:t>
                </a:r>
                <a:r>
                  <a:rPr lang="en-IN" sz="2400">
                    <a:solidFill>
                      <a:srgbClr val="78350F"/>
                    </a:solidFill>
                    <a:latin typeface="Cambria Math" panose="02040503050406030204" pitchFamily="18" charset="0"/>
                  </a:rPr>
                  <a:t>$y=x$</a:t>
                </a:r>
                <a:r>
                  <a:rPr sz="2400" b="0">
                    <a:solidFill>
                      <a:srgbClr val="78350F"/>
                    </a:solidFill>
                    <a:latin typeface="Arial"/>
                  </a:rPr>
                  <a:t> meets </a:t>
                </a:r>
                <a:r>
                  <a:rPr lang="en-IN" sz="2400">
                    <a:solidFill>
                      <a:srgbClr val="78350F"/>
                    </a:solidFill>
                    <a:latin typeface="Cambria Math" panose="02040503050406030204" pitchFamily="18" charset="0"/>
                  </a:rPr>
                  <a:t>$2x-y=2$</a:t>
                </a:r>
                <a:r>
                  <a:rPr sz="2400" b="0">
                    <a:solidFill>
                      <a:srgbClr val="78350F"/>
                    </a:solidFill>
                    <a:latin typeface="Arial"/>
                  </a:rPr>
                  <a:t> at </a:t>
                </a:r>
                <a:r>
                  <a:rPr lang="en-IN" sz="2400">
                    <a:solidFill>
                      <a:srgbClr val="78350F"/>
                    </a:solidFill>
                    <a:latin typeface="Cambria Math" panose="02040503050406030204" pitchFamily="18" charset="0"/>
                  </a:rPr>
                  <a:t>$(2,2)$</a:t>
                </a:r>
                <a:r>
                  <a:rPr sz="2400" b="0">
                    <a:solidFill>
                      <a:srgbClr val="78350F"/>
                    </a:solidFill>
                    <a:latin typeface="Arial"/>
                  </a:rPr>
                  <a:t>), then </a:t>
                </a:r>
                <a:r>
                  <a:rPr lang="en-IN" sz="2400">
                    <a:solidFill>
                      <a:srgbClr val="78350F"/>
                    </a:solidFill>
                    <a:latin typeface="Cambria Math" panose="02040503050406030204" pitchFamily="18" charset="0"/>
                  </a:rPr>
                  <a:t>$C=3D-2A$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meet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angle bisector theorem gives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reflection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Line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𝐶</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a:t>
                </a:r>
                <a:r>
                  <a:rPr sz="2400" b="0">
                    <a:solidFill>
                      <a:srgbClr val="111827"/>
                    </a:solidFill>
                    <a:latin typeface="Arial"/>
                  </a:rPr>
                  <a:t> and </a:t>
                </a:r>
                <a:r>
                  <a:rPr lang="en-IN" sz="2400">
                    <a:solidFill>
                      <a:srgbClr val="111827"/>
                    </a:solidFill>
                    <a:latin typeface="Cambria Math" panose="02040503050406030204" pitchFamily="18" charset="0"/>
                  </a:rPr>
                  <a:t>$2x-y=2$</a:t>
                </a:r>
                <a:r>
                  <a:rPr sz="2400" b="0">
                    <a:solidFill>
                      <a:srgbClr val="111827"/>
                    </a:solidFill>
                    <a:latin typeface="Arial"/>
                  </a:rPr>
                  <a:t> meet at </a:t>
                </a:r>
                <a:r>
                  <a:rPr lang="en-IN" sz="2400">
                    <a:solidFill>
                      <a:srgbClr val="111827"/>
                    </a:solidFill>
                    <a:latin typeface="Cambria Math" panose="02040503050406030204" pitchFamily="18" charset="0"/>
                  </a:rPr>
                  <a:t>$D(2,2)$</a:t>
                </a:r>
                <a:r>
                  <a:rPr sz="2400" b="0">
                    <a:solidFill>
                      <a:srgbClr val="111827"/>
                    </a:solidFill>
                    <a:latin typeface="Arial"/>
                  </a:rPr>
                  <a:t>. The angle bisector theorem gives </a:t>
                </a:r>
                <a:r>
                  <a:rPr lang="en-IN" sz="2400">
                    <a:solidFill>
                      <a:srgbClr val="111827"/>
                    </a:solidFill>
                    <a:latin typeface="Cambria Math" panose="02040503050406030204" pitchFamily="18" charset="0"/>
                  </a:rPr>
                  <a:t>$AD:DC=AB:BC=1:2$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$D=\frac{2A+C}{3}\Rightarrow C=3D-2A=(6-8,6-12)=(-2,-6)$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$A'(6,4)$</a:t>
                </a:r>
                <a:r>
                  <a:rPr sz="2400" b="0">
                    <a:solidFill>
                      <a:srgbClr val="111827"/>
                    </a:solidFill>
                    <a:latin typeface="Arial"/>
                  </a:rPr>
                  <a:t>, the reflection of </a:t>
                </a:r>
                <a:r>
                  <a:rPr lang="en-IN" sz="2400">
                    <a:solidFill>
                      <a:srgbClr val="111827"/>
                    </a:solidFill>
                    <a:latin typeface="Cambria Math" panose="02040503050406030204" pitchFamily="18" charset="0"/>
                  </a:rPr>
                  <a:t>$A$</a:t>
                </a:r>
                <a:r>
                  <a:rPr sz="2400" b="0">
                    <a:solidFill>
                      <a:srgbClr val="111827"/>
                    </a:solidFill>
                    <a:latin typeface="Arial"/>
                  </a:rPr>
                  <a:t> in </a:t>
                </a:r>
                <a:r>
                  <a:rPr lang="en-IN" sz="2400">
                    <a:solidFill>
                      <a:srgbClr val="111827"/>
                    </a:solidFill>
                    <a:latin typeface="Cambria Math" panose="02040503050406030204" pitchFamily="18" charset="0"/>
                  </a:rPr>
                  <a:t>$y=x$</a:t>
                </a:r>
                <a:r>
                  <a:rPr sz="2400" b="0">
                    <a:solidFill>
                      <a:srgbClr val="111827"/>
                    </a:solidFill>
                    <a:latin typeface="Arial"/>
                  </a:rPr>
                  <a:t>, lies on </a:t>
                </a:r>
                <a:r>
                  <a:rPr lang="en-IN" sz="2400">
                    <a:solidFill>
                      <a:srgbClr val="111827"/>
                    </a:solidFill>
                    <a:latin typeface="Cambria Math" panose="02040503050406030204" pitchFamily="18" charset="0"/>
                  </a:rPr>
                  <a:t>$BC$</a:t>
                </a:r>
                <a:r>
                  <a:rPr sz="2400" b="0">
                    <a:solidFill>
                      <a:srgbClr val="111827"/>
                    </a:solidFill>
                    <a:latin typeface="Arial"/>
                  </a:rPr>
                  <a:t>. Line </a:t>
                </a:r>
                <a:r>
                  <a:rPr lang="en-IN" sz="2400">
                    <a:solidFill>
                      <a:srgbClr val="111827"/>
                    </a:solidFill>
                    <a:latin typeface="Cambria Math" panose="02040503050406030204" pitchFamily="18" charset="0"/>
                  </a:rPr>
                  <a:t>$A'C$</a:t>
                </a:r>
                <a:r>
                  <a:rPr sz="2400" b="0">
                    <a:solidFill>
                      <a:srgbClr val="111827"/>
                    </a:solidFill>
                    <a:latin typeface="Arial"/>
                  </a:rPr>
                  <a:t>: slope </a:t>
                </a:r>
                <a:r>
                  <a:rPr lang="en-IN" sz="2400">
                    <a:solidFill>
                      <a:srgbClr val="111827"/>
                    </a:solidFill>
                    <a:latin typeface="Cambria Math" panose="02040503050406030204" pitchFamily="18" charset="0"/>
                  </a:rPr>
                  <a:t>$\frac{4+6}{6+2}=\frac{5}{4}$</a:t>
                </a:r>
                <a:r>
                  <a:rPr sz="2400" b="0">
                    <a:solidFill>
                      <a:srgbClr val="111827"/>
                    </a:solidFill>
                    <a:latin typeface="Arial"/>
                  </a:rPr>
                  <a:t>, so </a:t>
                </a:r>
                <a:r>
                  <a:rPr lang="en-IN" sz="2400">
                    <a:solidFill>
                      <a:srgbClr val="111827"/>
                    </a:solidFill>
                    <a:latin typeface="Cambria Math" panose="02040503050406030204" pitchFamily="18" charset="0"/>
                  </a:rPr>
                  <a:t>$y-4=\frac{5}{4}(x-6)$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where this meets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164</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656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is where this meets </a:t>
                </a:r>
                <a:r>
                  <a:rPr lang="en-IN" sz="2400">
                    <a:solidFill>
                      <a:srgbClr val="111827"/>
                    </a:solidFill>
                    <a:latin typeface="Cambria Math" panose="02040503050406030204" pitchFamily="18" charset="0"/>
                  </a:rPr>
                  <a:t>$y=x$</a:t>
                </a:r>
                <a:r>
                  <a:rPr sz="2400" b="0">
                    <a:solidFill>
                      <a:srgbClr val="111827"/>
                    </a:solidFill>
                    <a:latin typeface="Arial"/>
                  </a:rPr>
                  <a:t>: </a:t>
                </a:r>
                <a:r>
                  <a:rPr lang="en-IN" sz="2400">
                    <a:solidFill>
                      <a:srgbClr val="111827"/>
                    </a:solidFill>
                    <a:latin typeface="Cambria Math" panose="02040503050406030204" pitchFamily="18" charset="0"/>
                  </a:rPr>
                  <a:t>$x-4=\frac{5}{4}x-\frac{15}{2}\Rightarrow\frac{x}{4}=\frac{7}{2}\Rightarrow x=14$</a:t>
                </a:r>
                <a:r>
                  <a:rPr sz="2400" b="0">
                    <a:solidFill>
                      <a:srgbClr val="111827"/>
                    </a:solidFill>
                    <a:latin typeface="Arial"/>
                  </a:rPr>
                  <a:t>, so </a:t>
                </a:r>
                <a:r>
                  <a:rPr lang="en-IN" sz="2400">
                    <a:solidFill>
                      <a:srgbClr val="111827"/>
                    </a:solidFill>
                    <a:latin typeface="Cambria Math" panose="02040503050406030204" pitchFamily="18" charset="0"/>
                  </a:rPr>
                  <a:t>$B=(14,14)$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$\alpha+2\beta=14+28=42$</a:t>
                </a:r>
                <a:r>
                  <a:rPr sz="2400" b="0">
                    <a:solidFill>
                      <a:srgbClr val="111827"/>
                    </a:solidFill>
                    <a:latin typeface="Arial"/>
                  </a:rPr>
                  <a:t>. (Check: </a:t>
                </a:r>
                <a:r>
                  <a:rPr lang="en-IN" sz="2400">
                    <a:solidFill>
                      <a:srgbClr val="111827"/>
                    </a:solidFill>
                    <a:latin typeface="Cambria Math" panose="02040503050406030204" pitchFamily="18" charset="0"/>
                  </a:rPr>
                  <a:t>$AB=\sqrt{164}$</a:t>
                </a:r>
                <a:r>
                  <a:rPr sz="2400" b="0">
                    <a:solidFill>
                      <a:srgbClr val="111827"/>
                    </a:solidFill>
                    <a:latin typeface="Arial"/>
                  </a:rPr>
                  <a:t>, </a:t>
                </a:r>
                <a:r>
                  <a:rPr lang="en-IN" sz="2400">
                    <a:solidFill>
                      <a:srgbClr val="111827"/>
                    </a:solidFill>
                    <a:latin typeface="Cambria Math" panose="02040503050406030204" pitchFamily="18" charset="0"/>
                  </a:rPr>
                  <a:t>$BC=\sqrt{656}=2AB$</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42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$42$</a:t>
                </a:r>
                <a:endParaRPr sz="2800">
                  <a:solidFill>
                    <a:srgbClr val="15803D"/>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reflection of a point on one arm of an angle in the angle's bisector lies on the other arm.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bisector theorem: the bisector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meets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 degenerate roots with care: here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also satisfies the distance relation, but it puts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 degenerate triangle) and is rejected.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reflection of a point on one arm of an angle in the angle's bisector lies on the other arm.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bisector theorem: the bisector from </a:t>
                </a:r>
                <a:r>
                  <a:rPr lang="en-IN" sz="2400">
                    <a:solidFill>
                      <a:srgbClr val="111827"/>
                    </a:solidFill>
                    <a:latin typeface="Cambria Math" panose="02040503050406030204" pitchFamily="18" charset="0"/>
                  </a:rPr>
                  <a:t>$B$</a:t>
                </a:r>
                <a:r>
                  <a:rPr sz="2400" b="0">
                    <a:solidFill>
                      <a:srgbClr val="111827"/>
                    </a:solidFill>
                    <a:latin typeface="Arial"/>
                  </a:rPr>
                  <a:t> meets </a:t>
                </a:r>
                <a:r>
                  <a:rPr lang="en-IN" sz="2400">
                    <a:solidFill>
                      <a:srgbClr val="111827"/>
                    </a:solidFill>
                    <a:latin typeface="Cambria Math" panose="02040503050406030204" pitchFamily="18" charset="0"/>
                  </a:rPr>
                  <a:t>$AC$</a:t>
                </a:r>
                <a:r>
                  <a:rPr sz="2400" b="0">
                    <a:solidFill>
                      <a:srgbClr val="111827"/>
                    </a:solidFill>
                    <a:latin typeface="Arial"/>
                  </a:rPr>
                  <a:t> at </a:t>
                </a:r>
                <a:r>
                  <a:rPr lang="en-IN" sz="2400">
                    <a:solidFill>
                      <a:srgbClr val="111827"/>
                    </a:solidFill>
                    <a:latin typeface="Cambria Math" panose="02040503050406030204" pitchFamily="18" charset="0"/>
                  </a:rPr>
                  <a:t>$D$</a:t>
                </a:r>
                <a:r>
                  <a:rPr sz="2400" b="0">
                    <a:solidFill>
                      <a:srgbClr val="111827"/>
                    </a:solidFill>
                    <a:latin typeface="Arial"/>
                  </a:rPr>
                  <a:t> with </a:t>
                </a:r>
                <a:r>
                  <a:rPr lang="en-IN" sz="2400">
                    <a:solidFill>
                      <a:srgbClr val="111827"/>
                    </a:solidFill>
                    <a:latin typeface="Cambria Math" panose="02040503050406030204" pitchFamily="18" charset="0"/>
                  </a:rPr>
                  <a:t>$AD:DC=AB:BC$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 degenerate roots with care: here </a:t>
                </a:r>
                <a:r>
                  <a:rPr lang="en-IN" sz="2400">
                    <a:solidFill>
                      <a:srgbClr val="111827"/>
                    </a:solidFill>
                    <a:latin typeface="Cambria Math" panose="02040503050406030204" pitchFamily="18" charset="0"/>
                  </a:rPr>
                  <a:t>$\alpha=2$</a:t>
                </a:r>
                <a:r>
                  <a:rPr sz="2400" b="0">
                    <a:solidFill>
                      <a:srgbClr val="111827"/>
                    </a:solidFill>
                    <a:latin typeface="Arial"/>
                  </a:rPr>
                  <a:t> also satisfies the distance relation, but it puts </a:t>
                </a:r>
                <a:r>
                  <a:rPr lang="en-IN" sz="2400">
                    <a:solidFill>
                      <a:srgbClr val="111827"/>
                    </a:solidFill>
                    <a:latin typeface="Cambria Math" panose="02040503050406030204" pitchFamily="18" charset="0"/>
                  </a:rPr>
                  <a:t>$B$</a:t>
                </a:r>
                <a:r>
                  <a:rPr sz="2400" b="0">
                    <a:solidFill>
                      <a:srgbClr val="111827"/>
                    </a:solidFill>
                    <a:latin typeface="Arial"/>
                  </a:rPr>
                  <a:t> on </a:t>
                </a:r>
                <a:r>
                  <a:rPr lang="en-IN" sz="2400">
                    <a:solidFill>
                      <a:srgbClr val="111827"/>
                    </a:solidFill>
                    <a:latin typeface="Cambria Math" panose="02040503050406030204" pitchFamily="18" charset="0"/>
                  </a:rPr>
                  <a:t>$AC$</a:t>
                </a:r>
                <a:r>
                  <a:rPr sz="2400" b="0">
                    <a:solidFill>
                      <a:srgbClr val="111827"/>
                    </a:solidFill>
                    <a:latin typeface="Arial"/>
                  </a:rPr>
                  <a:t> (a degenerate triangle) and is rejected.</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distance of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the line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measured parallel to the line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distance of the point </a:t>
                </a:r>
                <a:r>
                  <a:rPr lang="en-IN" sz="2400">
                    <a:solidFill>
                      <a:srgbClr val="111827"/>
                    </a:solidFill>
                    <a:latin typeface="Cambria Math" panose="02040503050406030204" pitchFamily="18" charset="0"/>
                  </a:rPr>
                  <a:t>$(2,3)$</a:t>
                </a:r>
                <a:r>
                  <a:rPr sz="2400" b="0">
                    <a:solidFill>
                      <a:srgbClr val="111827"/>
                    </a:solidFill>
                    <a:latin typeface="Arial"/>
                  </a:rPr>
                  <a:t> from the line </a:t>
                </a:r>
                <a:r>
                  <a:rPr lang="en-IN" sz="2400">
                    <a:solidFill>
                      <a:srgbClr val="111827"/>
                    </a:solidFill>
                    <a:latin typeface="Cambria Math" panose="02040503050406030204" pitchFamily="18" charset="0"/>
                  </a:rPr>
                  <a:t>$2x-3y+28=0$</a:t>
                </a:r>
                <a:r>
                  <a:rPr sz="2400" b="0">
                    <a:solidFill>
                      <a:srgbClr val="111827"/>
                    </a:solidFill>
                    <a:latin typeface="Arial"/>
                  </a:rPr>
                  <a:t>, measured parallel to the line </a:t>
                </a:r>
                <a:r>
                  <a:rPr lang="en-IN" sz="2400">
                    <a:solidFill>
                      <a:srgbClr val="111827"/>
                    </a:solidFill>
                    <a:latin typeface="Cambria Math" panose="02040503050406030204" pitchFamily="18" charset="0"/>
                  </a:rPr>
                  <a:t>$\sqrt{3}x-y+1=0$</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$4+6\sqrt{3}$</a:t>
                </a:r>
                <a:r>
                  <a:rPr sz="2400" b="0">
                    <a:solidFill>
                      <a:srgbClr val="111827"/>
                    </a:solidFill>
                    <a:latin typeface="Arial"/>
                  </a:rPr>
                  <a:t>   (B) </a:t>
                </a:r>
                <a:r>
                  <a:rPr lang="en-IN" sz="2400">
                    <a:solidFill>
                      <a:srgbClr val="111827"/>
                    </a:solidFill>
                    <a:latin typeface="Cambria Math" panose="02040503050406030204" pitchFamily="18" charset="0"/>
                  </a:rPr>
                  <a:t>$4\sqrt{2}$</a:t>
                </a:r>
                <a:r>
                  <a:rPr sz="2400" b="0">
                    <a:solidFill>
                      <a:srgbClr val="111827"/>
                    </a:solidFill>
                    <a:latin typeface="Arial"/>
                  </a:rPr>
                  <a:t>   (C) </a:t>
                </a:r>
                <a:r>
                  <a:rPr lang="en-IN" sz="2400">
                    <a:solidFill>
                      <a:srgbClr val="111827"/>
                    </a:solidFill>
                    <a:latin typeface="Cambria Math" panose="02040503050406030204" pitchFamily="18" charset="0"/>
                  </a:rPr>
                  <a:t>$6\sqrt{3}$</a:t>
                </a:r>
                <a:r>
                  <a:rPr sz="2400" b="0">
                    <a:solidFill>
                      <a:srgbClr val="111827"/>
                    </a:solidFill>
                    <a:latin typeface="Arial"/>
                  </a:rPr>
                  <a:t>   (D) </a:t>
                </a:r>
                <a:r>
                  <a:rPr lang="en-IN" sz="2400">
                    <a:solidFill>
                      <a:srgbClr val="111827"/>
                    </a:solidFill>
                    <a:latin typeface="Cambria Math" panose="02040503050406030204" pitchFamily="18" charset="0"/>
                  </a:rPr>
                  <a:t>$3+4\sqrt{2}$</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Distance of a point from a line measured along a given direction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Move from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along the direction of inclination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by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and impose that the point lies on the given line.</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Move from </a:t>
                </a:r>
                <a:r>
                  <a:rPr lang="en-IN" sz="2400">
                    <a:solidFill>
                      <a:srgbClr val="78350F"/>
                    </a:solidFill>
                    <a:latin typeface="Cambria Math" panose="02040503050406030204" pitchFamily="18" charset="0"/>
                  </a:rPr>
                  <a:t>$(2,3)$</a:t>
                </a:r>
                <a:r>
                  <a:rPr sz="2400" b="0">
                    <a:solidFill>
                      <a:srgbClr val="78350F"/>
                    </a:solidFill>
                    <a:latin typeface="Arial"/>
                  </a:rPr>
                  <a:t> along the direction of inclination </a:t>
                </a:r>
                <a:r>
                  <a:rPr lang="en-IN" sz="2400">
                    <a:solidFill>
                      <a:srgbClr val="78350F"/>
                    </a:solidFill>
                    <a:latin typeface="Cambria Math" panose="02040503050406030204" pitchFamily="18" charset="0"/>
                  </a:rPr>
                  <a:t>$\frac{\pi}{3}$</a:t>
                </a:r>
                <a:r>
                  <a:rPr sz="2400" b="0">
                    <a:solidFill>
                      <a:srgbClr val="78350F"/>
                    </a:solidFill>
                    <a:latin typeface="Arial"/>
                  </a:rPr>
                  <a:t> by </a:t>
                </a:r>
                <a:r>
                  <a:rPr lang="en-IN" sz="2400">
                    <a:solidFill>
                      <a:srgbClr val="78350F"/>
                    </a:solidFill>
                    <a:latin typeface="Cambria Math" panose="02040503050406030204" pitchFamily="18" charset="0"/>
                  </a:rPr>
                  <a:t>$r$</a:t>
                </a:r>
                <a:r>
                  <a:rPr sz="2400" b="0">
                    <a:solidFill>
                      <a:srgbClr val="78350F"/>
                    </a:solidFill>
                    <a:latin typeface="Arial"/>
                  </a:rPr>
                  <a:t> and impose that the point lies on the given line.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slope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its inclination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point at distance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this direction is </a:t>
                </a:r>
                <a14:m>
                  <m:oMath xmlns:m="http://schemas.openxmlformats.org/officeDocument/2006/math">
                    <m:r>
                      <a:rPr lang="en-IN" sz="2400" i="1">
                        <a:solidFill>
                          <a:srgbClr val="111827"/>
                        </a:solidFill>
                        <a:latin typeface="Cambria Math" panose="02040503050406030204" pitchFamily="18" charset="0"/>
                      </a:rPr>
                      <m:t>𝑃</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r>
                  <a:rPr lang="en-IN" sz="2400">
                    <a:solidFill>
                      <a:srgbClr val="111827"/>
                    </a:solidFill>
                    <a:latin typeface="Cambria Math" panose="02040503050406030204" pitchFamily="18" charset="0"/>
                  </a:rPr>
                  <a:t>$y=\sqrt{3}x+1$</a:t>
                </a:r>
                <a:r>
                  <a:rPr sz="2400" b="0">
                    <a:solidFill>
                      <a:srgbClr val="111827"/>
                    </a:solidFill>
                    <a:latin typeface="Arial"/>
                  </a:rPr>
                  <a:t> has slope </a:t>
                </a:r>
                <a:r>
                  <a:rPr lang="en-IN" sz="2400">
                    <a:solidFill>
                      <a:srgbClr val="111827"/>
                    </a:solidFill>
                    <a:latin typeface="Cambria Math" panose="02040503050406030204" pitchFamily="18" charset="0"/>
                  </a:rPr>
                  <a:t>$\sqrt{3}$</a:t>
                </a:r>
                <a:r>
                  <a:rPr sz="2400" b="0">
                    <a:solidFill>
                      <a:srgbClr val="111827"/>
                    </a:solidFill>
                    <a:latin typeface="Arial"/>
                  </a:rPr>
                  <a:t>, so its inclination is </a:t>
                </a:r>
                <a:r>
                  <a:rPr lang="en-IN" sz="2400">
                    <a:solidFill>
                      <a:srgbClr val="111827"/>
                    </a:solidFill>
                    <a:latin typeface="Cambria Math" panose="02040503050406030204" pitchFamily="18" charset="0"/>
                  </a:rPr>
                  <a:t>$\frac{\pi}{3}$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point at distance </a:t>
                </a:r>
                <a:r>
                  <a:rPr lang="en-IN" sz="2400">
                    <a:solidFill>
                      <a:srgbClr val="111827"/>
                    </a:solidFill>
                    <a:latin typeface="Cambria Math" panose="02040503050406030204" pitchFamily="18" charset="0"/>
                  </a:rPr>
                  <a:t>$r$</a:t>
                </a:r>
                <a:r>
                  <a:rPr sz="2400" b="0">
                    <a:solidFill>
                      <a:srgbClr val="111827"/>
                    </a:solidFill>
                    <a:latin typeface="Arial"/>
                  </a:rPr>
                  <a:t> from </a:t>
                </a:r>
                <a:r>
                  <a:rPr lang="en-IN" sz="2400">
                    <a:solidFill>
                      <a:srgbClr val="111827"/>
                    </a:solidFill>
                    <a:latin typeface="Cambria Math" panose="02040503050406030204" pitchFamily="18" charset="0"/>
                  </a:rPr>
                  <a:t>$(2,3)$</a:t>
                </a:r>
                <a:r>
                  <a:rPr sz="2400" b="0">
                    <a:solidFill>
                      <a:srgbClr val="111827"/>
                    </a:solidFill>
                    <a:latin typeface="Arial"/>
                  </a:rPr>
                  <a:t> in this direction is </a:t>
                </a:r>
                <a:r>
                  <a:rPr lang="en-IN" sz="2400">
                    <a:solidFill>
                      <a:srgbClr val="111827"/>
                    </a:solidFill>
                    <a:latin typeface="Cambria Math" panose="02040503050406030204" pitchFamily="18" charset="0"/>
                  </a:rPr>
                  <a:t>$P\left(2+r\cos\frac{\pi}{3},\,3+r\sin\frac{\pi}{3}\right)=\left(2+\frac{r}{2},\,3+\frac{r\sqrt{3}}{2}\right)$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a:t>
                </a:r>
                <a:r>
                  <a:rPr sz="2400" b="0">
                    <a:solidFill>
                      <a:srgbClr val="111827"/>
                    </a:solidFill>
                    <a:latin typeface="Arial"/>
                  </a:rPr>
                  <a:t> lies on </a:t>
                </a:r>
                <a:r>
                  <a:rPr lang="en-IN" sz="2400">
                    <a:solidFill>
                      <a:srgbClr val="111827"/>
                    </a:solidFill>
                    <a:latin typeface="Cambria Math" panose="02040503050406030204" pitchFamily="18" charset="0"/>
                  </a:rPr>
                  <a:t>$2x-3y+28=0$</a:t>
                </a:r>
                <a:r>
                  <a:rPr sz="2400" b="0">
                    <a:solidFill>
                      <a:srgbClr val="111827"/>
                    </a:solidFill>
                    <a:latin typeface="Arial"/>
                  </a:rPr>
                  <a:t>: </a:t>
                </a:r>
                <a:r>
                  <a:rPr lang="en-IN" sz="2400">
                    <a:solidFill>
                      <a:srgbClr val="111827"/>
                    </a:solidFill>
                    <a:latin typeface="Cambria Math" panose="02040503050406030204" pitchFamily="18" charset="0"/>
                  </a:rPr>
                  <a:t>$2\left(2+\frac{r}{2}\right)-3\left(3+\frac{r\sqrt{3}}{2}\right)+28=0$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distance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$23+r\left(1-\frac{3\sqrt{3}}{2}\right)=0\Rightarrow r=\frac{46}{3\sqrt{3}-2}=2\left(3\sqrt{3}+2\right)$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distance is </a:t>
                </a:r>
                <a:r>
                  <a:rPr lang="en-IN" sz="2400">
                    <a:solidFill>
                      <a:srgbClr val="111827"/>
                    </a:solidFill>
                    <a:latin typeface="Cambria Math" panose="02040503050406030204" pitchFamily="18" charset="0"/>
                  </a:rPr>
                  <a:t>$|r|=4+6\sqrt{3}$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$4+6\sqrt{3}$</a:t>
                </a:r>
                <a:endParaRPr sz="2800">
                  <a:solidFill>
                    <a:srgbClr val="15803D"/>
                  </a:solidFill>
                </a:endParaRPr>
              </a:p>
            </p:txBody>
          </p:sp>
        </mc:Fallback>
      </mc:AlternateContent>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Distance along a direction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nor/>
                          </m:rPr>
                          <a:rPr lang="en-IN" sz="2400" i="1">
                            <a:solidFill>
                              <a:srgbClr val="78350F"/>
                            </a:solidFill>
                            <a:latin typeface="Cambria Math" panose="02040503050406030204" pitchFamily="18" charset="0"/>
                          </a:rPr>
                          <m:t>𝑝𝑒𝑟𝑝𝑒𝑛𝑑𝑖𝑐𝑢𝑙𝑎𝑟 𝑑𝑖𝑠𝑡𝑎𝑛𝑐𝑒</m:t>
                        </m:r>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φ</m:t>
                        </m:r>
                      </m:den>
                    </m:f>
                  </m:oMath>
                </a14:m>
                <a:r>
                  <a:rPr sz="2400" b="0">
                    <a:solidFill>
                      <a:srgbClr val="78350F"/>
                    </a:solidFill>
                    <a:latin typeface="Arial"/>
                  </a:rPr>
                  <a:t>, where </a:t>
                </a:r>
                <a14:m>
                  <m:oMath xmlns:m="http://schemas.openxmlformats.org/officeDocument/2006/math">
                    <m:r>
                      <a:rPr lang="en-IN" sz="2400" i="1">
                        <a:solidFill>
                          <a:srgbClr val="78350F"/>
                        </a:solidFill>
                        <a:latin typeface="Cambria Math" panose="02040503050406030204" pitchFamily="18" charset="0"/>
                      </a:rPr>
                      <m:t>φ</m:t>
                    </m:r>
                  </m:oMath>
                </a14:m>
                <a:r>
                  <a:rPr sz="2400" b="0">
                    <a:solidFill>
                      <a:srgbClr val="78350F"/>
                    </a:solidFill>
                    <a:latin typeface="Arial"/>
                  </a:rPr>
                  <a:t> is the angle between the direction and the line.</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Distance along a direction </a:t>
                </a:r>
                <a:r>
                  <a:rPr lang="en-IN" sz="2400">
                    <a:solidFill>
                      <a:srgbClr val="78350F"/>
                    </a:solidFill>
                    <a:latin typeface="Cambria Math" panose="02040503050406030204" pitchFamily="18" charset="0"/>
                  </a:rPr>
                  <a:t>$=\frac{\text{perpendicular distance}}{\sin\varphi}$</a:t>
                </a:r>
                <a:r>
                  <a:rPr sz="2400" b="0">
                    <a:solidFill>
                      <a:srgbClr val="78350F"/>
                    </a:solidFill>
                    <a:latin typeface="Arial"/>
                  </a:rPr>
                  <a:t>, where </a:t>
                </a:r>
                <a:r>
                  <a:rPr lang="en-IN" sz="2400">
                    <a:solidFill>
                      <a:srgbClr val="78350F"/>
                    </a:solidFill>
                    <a:latin typeface="Cambria Math" panose="02040503050406030204" pitchFamily="18" charset="0"/>
                  </a:rPr>
                  <a:t>$\varphi$</a:t>
                </a:r>
                <a:r>
                  <a:rPr sz="2400" b="0">
                    <a:solidFill>
                      <a:srgbClr val="78350F"/>
                    </a:solidFill>
                    <a:latin typeface="Arial"/>
                  </a:rPr>
                  <a:t> is the angle between the direction and the line.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Perpendicular distance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has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the direction has slope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Perpendicular distance of </a:t>
                </a:r>
                <a:r>
                  <a:rPr lang="en-IN" sz="2400">
                    <a:solidFill>
                      <a:srgbClr val="111827"/>
                    </a:solidFill>
                    <a:latin typeface="Cambria Math" panose="02040503050406030204" pitchFamily="18" charset="0"/>
                  </a:rPr>
                  <a:t>$(2,3)$</a:t>
                </a:r>
                <a:r>
                  <a:rPr sz="2400" b="0">
                    <a:solidFill>
                      <a:srgbClr val="111827"/>
                    </a:solidFill>
                    <a:latin typeface="Arial"/>
                  </a:rPr>
                  <a:t> from </a:t>
                </a:r>
                <a:r>
                  <a:rPr lang="en-IN" sz="2400">
                    <a:solidFill>
                      <a:srgbClr val="111827"/>
                    </a:solidFill>
                    <a:latin typeface="Cambria Math" panose="02040503050406030204" pitchFamily="18" charset="0"/>
                  </a:rPr>
                  <a:t>$2x-3y+28=0$</a:t>
                </a:r>
                <a:r>
                  <a:rPr sz="2400" b="0">
                    <a:solidFill>
                      <a:srgbClr val="111827"/>
                    </a:solidFill>
                    <a:latin typeface="Arial"/>
                  </a:rPr>
                  <a:t>: </a:t>
                </a:r>
                <a:r>
                  <a:rPr lang="en-IN" sz="2400">
                    <a:solidFill>
                      <a:srgbClr val="111827"/>
                    </a:solidFill>
                    <a:latin typeface="Cambria Math" panose="02040503050406030204" pitchFamily="18" charset="0"/>
                  </a:rPr>
                  <a:t>$\frac{|4-9+28|}{\sqrt{13}}=\frac{23}{\sqrt{13}}$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has slope </a:t>
                </a:r>
                <a:r>
                  <a:rPr lang="en-IN" sz="2400">
                    <a:solidFill>
                      <a:srgbClr val="111827"/>
                    </a:solidFill>
                    <a:latin typeface="Cambria Math" panose="02040503050406030204" pitchFamily="18" charset="0"/>
                  </a:rPr>
                  <a:t>$\frac{2}{3}$</a:t>
                </a:r>
                <a:r>
                  <a:rPr sz="2400" b="0">
                    <a:solidFill>
                      <a:srgbClr val="111827"/>
                    </a:solidFill>
                    <a:latin typeface="Arial"/>
                  </a:rPr>
                  <a:t> and the direction has slope </a:t>
                </a:r>
                <a:r>
                  <a:rPr lang="en-IN" sz="2400">
                    <a:solidFill>
                      <a:srgbClr val="111827"/>
                    </a:solidFill>
                    <a:latin typeface="Cambria Math" panose="02040503050406030204" pitchFamily="18" charset="0"/>
                  </a:rPr>
                  <a:t>$\sqrt{3}$</a:t>
                </a:r>
                <a:r>
                  <a:rPr sz="2400" b="0">
                    <a:solidFill>
                      <a:srgbClr val="111827"/>
                    </a:solidFill>
                    <a:latin typeface="Arial"/>
                  </a:rPr>
                  <a:t>: </a:t>
                </a:r>
                <a:r>
                  <a:rPr lang="en-IN" sz="2400">
                    <a:solidFill>
                      <a:srgbClr val="111827"/>
                    </a:solidFill>
                    <a:latin typeface="Cambria Math" panose="02040503050406030204" pitchFamily="18" charset="0"/>
                  </a:rPr>
                  <a:t>$\tan\varphi=\frac{\sqrt{3}-\frac{2}{3}}{1+\frac{2\sqrt{3}}{3}}=\frac{3\sqrt{3}-2}{3+2\sqrt{3}}$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φ</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φ</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$1+\tan^2\varphi=\frac{(3+2\sqrt{3})^2+(3\sqrt{3}-2)^2}{(3+2\sqrt{3})^2}=\frac{52}{(3+2\sqrt{3})^2}$</a:t>
                </a:r>
                <a:r>
                  <a:rPr sz="2400" b="0">
                    <a:solidFill>
                      <a:srgbClr val="111827"/>
                    </a:solidFill>
                    <a:latin typeface="Arial"/>
                  </a:rPr>
                  <a:t>, so </a:t>
                </a:r>
                <a:r>
                  <a:rPr lang="en-IN" sz="2400">
                    <a:solidFill>
                      <a:srgbClr val="111827"/>
                    </a:solidFill>
                    <a:latin typeface="Cambria Math" panose="02040503050406030204" pitchFamily="18" charset="0"/>
                  </a:rPr>
                  <a:t>$\sin\varphi=\frac{\tan\varphi}{\sqrt{1+\tan^2\varphi}}=\frac{3\sqrt{3}-2}{\sqrt{52}}$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a:t>
                </a:r>
                <a:r>
                  <a:rPr lang="en-IN" sz="2400">
                    <a:solidFill>
                      <a:srgbClr val="111827"/>
                    </a:solidFill>
                    <a:latin typeface="Cambria Math" panose="02040503050406030204" pitchFamily="18" charset="0"/>
                  </a:rPr>
                  <a:t>$=\frac{23/\sqrt{13}}{(3\sqrt{3}-2)/\sqrt{52}}=\frac{46}{3\sqrt{3}-2}=\frac{46(3\sqrt{3}+2)}{23}=6\sqrt{3}+4$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$4+6\sqrt{3}$</a:t>
                </a:r>
                <a:endParaRPr sz="2800">
                  <a:solidFill>
                    <a:srgbClr val="15803D"/>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measured along a direction at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Perpendicular distance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distance along a direction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is the angle between that direction and the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Parametric point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standard tool for 'distance measured along' problems.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$(x_1,y_1)$</a:t>
                </a:r>
                <a:r>
                  <a:rPr sz="2400" b="0">
                    <a:solidFill>
                      <a:srgbClr val="111827"/>
                    </a:solidFill>
                    <a:latin typeface="Arial"/>
                  </a:rPr>
                  <a:t> from </a:t>
                </a:r>
                <a:r>
                  <a:rPr lang="en-IN" sz="2400">
                    <a:solidFill>
                      <a:srgbClr val="111827"/>
                    </a:solidFill>
                    <a:latin typeface="Cambria Math" panose="02040503050406030204" pitchFamily="18" charset="0"/>
                  </a:rPr>
                  <a:t>$ax+by+c=0$</a:t>
                </a:r>
                <a:r>
                  <a:rPr sz="2400" b="0">
                    <a:solidFill>
                      <a:srgbClr val="111827"/>
                    </a:solidFill>
                    <a:latin typeface="Arial"/>
                  </a:rPr>
                  <a:t> measured along a direction at angle </a:t>
                </a:r>
                <a:r>
                  <a:rPr lang="en-IN" sz="2400">
                    <a:solidFill>
                      <a:srgbClr val="111827"/>
                    </a:solidFill>
                    <a:latin typeface="Cambria Math" panose="02040503050406030204" pitchFamily="18" charset="0"/>
                  </a:rPr>
                  <a:t>$\theta$</a:t>
                </a:r>
                <a:r>
                  <a:rPr sz="2400" b="0">
                    <a:solidFill>
                      <a:srgbClr val="111827"/>
                    </a:solidFill>
                    <a:latin typeface="Arial"/>
                  </a:rPr>
                  <a:t>: </a:t>
                </a:r>
                <a:r>
                  <a:rPr lang="en-IN" sz="2400">
                    <a:solidFill>
                      <a:srgbClr val="111827"/>
                    </a:solidFill>
                    <a:latin typeface="Cambria Math" panose="02040503050406030204" pitchFamily="18" charset="0"/>
                  </a:rPr>
                  <a:t>$r=-\frac{ax_1+by_1+c}{a\cos\theta+b\sin\theta}$</a:t>
                </a:r>
                <a:r>
                  <a:rPr sz="2400" b="0">
                    <a:solidFill>
                      <a:srgbClr val="111827"/>
                    </a:solidFill>
                    <a:latin typeface="Arial"/>
                  </a:rPr>
                  <a:t> (take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Perpendicular distance </a:t>
                </a:r>
                <a:r>
                  <a:rPr lang="en-IN" sz="2400">
                    <a:solidFill>
                      <a:srgbClr val="111827"/>
                    </a:solidFill>
                    <a:latin typeface="Cambria Math" panose="02040503050406030204" pitchFamily="18" charset="0"/>
                  </a:rPr>
                  <a:t>$=$</a:t>
                </a:r>
                <a:r>
                  <a:rPr sz="2400" b="0">
                    <a:solidFill>
                      <a:srgbClr val="111827"/>
                    </a:solidFill>
                    <a:latin typeface="Arial"/>
                  </a:rPr>
                  <a:t> distance along a direction </a:t>
                </a:r>
                <a:r>
                  <a:rPr lang="en-IN" sz="2400">
                    <a:solidFill>
                      <a:srgbClr val="111827"/>
                    </a:solidFill>
                    <a:latin typeface="Cambria Math" panose="02040503050406030204" pitchFamily="18" charset="0"/>
                  </a:rPr>
                  <a:t>$\times\sin\varphi$</a:t>
                </a:r>
                <a:r>
                  <a:rPr sz="2400" b="0">
                    <a:solidFill>
                      <a:srgbClr val="111827"/>
                    </a:solidFill>
                    <a:latin typeface="Arial"/>
                  </a:rPr>
                  <a:t>, where </a:t>
                </a:r>
                <a:r>
                  <a:rPr lang="en-IN" sz="2400">
                    <a:solidFill>
                      <a:srgbClr val="111827"/>
                    </a:solidFill>
                    <a:latin typeface="Cambria Math" panose="02040503050406030204" pitchFamily="18" charset="0"/>
                  </a:rPr>
                  <a:t>$\varphi$</a:t>
                </a:r>
                <a:r>
                  <a:rPr sz="2400" b="0">
                    <a:solidFill>
                      <a:srgbClr val="111827"/>
                    </a:solidFill>
                    <a:latin typeface="Arial"/>
                  </a:rPr>
                  <a:t> is the angle between that direction and the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Parametric point </a:t>
                </a:r>
                <a:r>
                  <a:rPr lang="en-IN" sz="2400">
                    <a:solidFill>
                      <a:srgbClr val="111827"/>
                    </a:solidFill>
                    <a:latin typeface="Cambria Math" panose="02040503050406030204" pitchFamily="18" charset="0"/>
                  </a:rPr>
                  <a:t>$(x_1+r\cos\theta,\,y_1+r\sin\theta)$</a:t>
                </a:r>
                <a:r>
                  <a:rPr sz="2400" b="0">
                    <a:solidFill>
                      <a:srgbClr val="111827"/>
                    </a:solidFill>
                    <a:latin typeface="Arial"/>
                  </a:rPr>
                  <a:t> is the standard tool for 'distance measured along' problems.</a:t>
                </a:r>
                <a:endParaRPr sz="2400">
                  <a:solidFill>
                    <a:srgbClr val="111827"/>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 the point of intersection of the lines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the point of intersection of the lines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distance of the point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the line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be the point of intersection of the lines </a:t>
                </a:r>
                <a:r>
                  <a:rPr lang="en-IN" sz="2400">
                    <a:solidFill>
                      <a:srgbClr val="111827"/>
                    </a:solidFill>
                    <a:latin typeface="Cambria Math" panose="02040503050406030204" pitchFamily="18" charset="0"/>
                  </a:rPr>
                  <a:t>$3x+2y=14$</a:t>
                </a:r>
                <a:r>
                  <a:rPr sz="2400" b="0">
                    <a:solidFill>
                      <a:srgbClr val="111827"/>
                    </a:solidFill>
                    <a:latin typeface="Arial"/>
                  </a:rPr>
                  <a:t>, </a:t>
                </a:r>
                <a:r>
                  <a:rPr lang="en-IN" sz="2400">
                    <a:solidFill>
                      <a:srgbClr val="111827"/>
                    </a:solidFill>
                    <a:latin typeface="Cambria Math" panose="02040503050406030204" pitchFamily="18" charset="0"/>
                  </a:rPr>
                  <a:t>$5x-y=6$</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be the point of intersection of the lines </a:t>
                </a:r>
                <a:r>
                  <a:rPr lang="en-IN" sz="2400">
                    <a:solidFill>
                      <a:srgbClr val="111827"/>
                    </a:solidFill>
                    <a:latin typeface="Cambria Math" panose="02040503050406030204" pitchFamily="18" charset="0"/>
                  </a:rPr>
                  <a:t>$4x+3y=8$</a:t>
                </a:r>
                <a:r>
                  <a:rPr sz="2400" b="0">
                    <a:solidFill>
                      <a:srgbClr val="111827"/>
                    </a:solidFill>
                    <a:latin typeface="Arial"/>
                  </a:rPr>
                  <a:t>, </a:t>
                </a:r>
                <a:r>
                  <a:rPr lang="en-IN" sz="2400">
                    <a:solidFill>
                      <a:srgbClr val="111827"/>
                    </a:solidFill>
                    <a:latin typeface="Cambria Math" panose="02040503050406030204" pitchFamily="18" charset="0"/>
                  </a:rPr>
                  <a:t>$6x+y=5$</a:t>
                </a:r>
                <a:r>
                  <a:rPr sz="2400" b="0">
                    <a:solidFill>
                      <a:srgbClr val="111827"/>
                    </a:solidFill>
                    <a:latin typeface="Arial"/>
                  </a:rPr>
                  <a:t>. The distance of the point </a:t>
                </a:r>
                <a:r>
                  <a:rPr lang="en-IN" sz="2400">
                    <a:solidFill>
                      <a:srgbClr val="111827"/>
                    </a:solidFill>
                    <a:latin typeface="Cambria Math" panose="02040503050406030204" pitchFamily="18" charset="0"/>
                  </a:rPr>
                  <a:t>$P(5,-2)$</a:t>
                </a:r>
                <a:r>
                  <a:rPr sz="2400" b="0">
                    <a:solidFill>
                      <a:srgbClr val="111827"/>
                    </a:solidFill>
                    <a:latin typeface="Arial"/>
                  </a:rPr>
                  <a:t> from the line </a:t>
                </a:r>
                <a:r>
                  <a:rPr lang="en-IN" sz="2400">
                    <a:solidFill>
                      <a:srgbClr val="111827"/>
                    </a:solidFill>
                    <a:latin typeface="Cambria Math" panose="02040503050406030204" pitchFamily="18" charset="0"/>
                  </a:rPr>
                  <a:t>$AB$</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$\frac{5}{2}$</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$\frac{13}{2}$</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
        <p:nvSpPr>
          <p:cNvPr id="5" name="Rectangle 4"/>
          <p:cNvSpPr/>
          <p:nvPr/>
        </p:nvSpPr>
        <p:spPr>
          <a:xfrm>
            <a:off x="731520" y="4061968"/>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Intersection of lines, Distance of a point from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by solving pairs of lines, write line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then apply the point-to-line distance formula.</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 by solving pairs of lines, write line </a:t>
                </a:r>
                <a:r>
                  <a:rPr lang="en-IN" sz="2400">
                    <a:solidFill>
                      <a:srgbClr val="78350F"/>
                    </a:solidFill>
                    <a:latin typeface="Cambria Math" panose="02040503050406030204" pitchFamily="18" charset="0"/>
                  </a:rPr>
                  <a:t>$AB$</a:t>
                </a:r>
                <a:r>
                  <a:rPr sz="2400" b="0">
                    <a:solidFill>
                      <a:srgbClr val="78350F"/>
                    </a:solidFill>
                    <a:latin typeface="Arial"/>
                  </a:rPr>
                  <a:t>, then apply the point-to-line distance formula.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𝐵</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$L_1:3x+2y=14$</a:t>
                </a:r>
                <a:r>
                  <a:rPr sz="2400" b="0">
                    <a:solidFill>
                      <a:srgbClr val="111827"/>
                    </a:solidFill>
                    <a:latin typeface="Arial"/>
                  </a:rPr>
                  <a:t> and </a:t>
                </a:r>
                <a:r>
                  <a:rPr lang="en-IN" sz="2400">
                    <a:solidFill>
                      <a:srgbClr val="111827"/>
                    </a:solidFill>
                    <a:latin typeface="Cambria Math" panose="02040503050406030204" pitchFamily="18" charset="0"/>
                  </a:rPr>
                  <a:t>$L_2:5x-y=6$</a:t>
                </a:r>
                <a:r>
                  <a:rPr sz="2400" b="0">
                    <a:solidFill>
                      <a:srgbClr val="111827"/>
                    </a:solidFill>
                    <a:latin typeface="Arial"/>
                  </a:rPr>
                  <a:t> gives </a:t>
                </a:r>
                <a:r>
                  <a:rPr lang="en-IN" sz="2400">
                    <a:solidFill>
                      <a:srgbClr val="111827"/>
                    </a:solidFill>
                    <a:latin typeface="Cambria Math" panose="02040503050406030204" pitchFamily="18" charset="0"/>
                  </a:rPr>
                  <a:t>$A(2,4)$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$L_3:4x+3y=8$</a:t>
                </a:r>
                <a:r>
                  <a:rPr sz="2400" b="0">
                    <a:solidFill>
                      <a:srgbClr val="111827"/>
                    </a:solidFill>
                    <a:latin typeface="Arial"/>
                  </a:rPr>
                  <a:t> and </a:t>
                </a:r>
                <a:r>
                  <a:rPr lang="en-IN" sz="2400">
                    <a:solidFill>
                      <a:srgbClr val="111827"/>
                    </a:solidFill>
                    <a:latin typeface="Cambria Math" panose="02040503050406030204" pitchFamily="18" charset="0"/>
                  </a:rPr>
                  <a:t>$L_4:6x+y=5$</a:t>
                </a:r>
                <a:r>
                  <a:rPr sz="2400" b="0">
                    <a:solidFill>
                      <a:srgbClr val="111827"/>
                    </a:solidFill>
                    <a:latin typeface="Arial"/>
                  </a:rPr>
                  <a:t> gives </a:t>
                </a:r>
                <a:r>
                  <a:rPr lang="en-IN" sz="2400">
                    <a:solidFill>
                      <a:srgbClr val="111827"/>
                    </a:solidFill>
                    <a:latin typeface="Cambria Math" panose="02040503050406030204" pitchFamily="18" charset="0"/>
                  </a:rPr>
                  <a:t>$B\left(\frac{1}{2},2\right)$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Line </a:t>
                </a:r>
                <a:r>
                  <a:rPr lang="en-IN" sz="2400">
                    <a:solidFill>
                      <a:srgbClr val="111827"/>
                    </a:solidFill>
                    <a:latin typeface="Cambria Math" panose="02040503050406030204" pitchFamily="18" charset="0"/>
                  </a:rPr>
                  <a:t>$AB$</a:t>
                </a:r>
                <a:r>
                  <a:rPr sz="2400" b="0">
                    <a:solidFill>
                      <a:srgbClr val="111827"/>
                    </a:solidFill>
                    <a:latin typeface="Arial"/>
                  </a:rPr>
                  <a:t>: slope </a:t>
                </a:r>
                <a:r>
                  <a:rPr lang="en-IN" sz="2400">
                    <a:solidFill>
                      <a:srgbClr val="111827"/>
                    </a:solidFill>
                    <a:latin typeface="Cambria Math" panose="02040503050406030204" pitchFamily="18" charset="0"/>
                  </a:rPr>
                  <a:t>$\frac{4-2}{2-\frac{1}{2}}=\frac{4}{3}$</a:t>
                </a:r>
                <a:r>
                  <a:rPr sz="2400" b="0">
                    <a:solidFill>
                      <a:srgbClr val="111827"/>
                    </a:solidFill>
                    <a:latin typeface="Arial"/>
                  </a:rPr>
                  <a:t>, so </a:t>
                </a:r>
                <a:r>
                  <a:rPr lang="en-IN" sz="2400">
                    <a:solidFill>
                      <a:srgbClr val="111827"/>
                    </a:solidFill>
                    <a:latin typeface="Cambria Math" panose="02040503050406030204" pitchFamily="18" charset="0"/>
                  </a:rPr>
                  <a:t>$y-4=\frac{4}{3}(x-2)$</a:t>
                </a:r>
                <a:r>
                  <a:rPr sz="2400" b="0">
                    <a:solidFill>
                      <a:srgbClr val="111827"/>
                    </a:solidFill>
                    <a:latin typeface="Arial"/>
                  </a:rPr>
                  <a:t>, i.e. </a:t>
                </a:r>
                <a:r>
                  <a:rPr lang="en-IN" sz="2400">
                    <a:solidFill>
                      <a:srgbClr val="111827"/>
                    </a:solidFill>
                    <a:latin typeface="Cambria Math" panose="02040503050406030204" pitchFamily="18" charset="0"/>
                  </a:rPr>
                  <a:t>$4x-3y+4=0$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$P(5,-2)$</a:t>
                </a:r>
                <a:r>
                  <a:rPr sz="2400" b="0">
                    <a:solidFill>
                      <a:srgbClr val="111827"/>
                    </a:solidFill>
                    <a:latin typeface="Arial"/>
                  </a:rPr>
                  <a:t> from </a:t>
                </a:r>
                <a:r>
                  <a:rPr lang="en-IN" sz="2400">
                    <a:solidFill>
                      <a:srgbClr val="111827"/>
                    </a:solidFill>
                    <a:latin typeface="Cambria Math" panose="02040503050406030204" pitchFamily="18" charset="0"/>
                  </a:rPr>
                  <a:t>$4x-3y+4=0$</a:t>
                </a:r>
                <a:r>
                  <a:rPr sz="2400" b="0">
                    <a:solidFill>
                      <a:srgbClr val="111827"/>
                    </a:solidFill>
                    <a:latin typeface="Arial"/>
                  </a:rPr>
                  <a:t>: </a:t>
                </a:r>
                <a:r>
                  <a:rPr lang="en-IN" sz="2400">
                    <a:solidFill>
                      <a:srgbClr val="111827"/>
                    </a:solidFill>
                    <a:latin typeface="Cambria Math" panose="02040503050406030204" pitchFamily="18" charset="0"/>
                  </a:rPr>
                  <a:t>$PM=\left|\frac{4(5)-3(-2)+4}{5}\right|=\frac{30}{5}=6$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6</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$6$</a:t>
                </a:r>
                <a:endParaRPr sz="2800">
                  <a:solidFill>
                    <a:srgbClr val="15803D"/>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Area method: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den>
                    </m:f>
                  </m:oMath>
                </a14:m>
                <a:r>
                  <a:rPr sz="2400" b="0">
                    <a:solidFill>
                      <a:srgbClr val="78350F"/>
                    </a:solidFill>
                    <a:latin typeface="Arial"/>
                  </a:rPr>
                  <a:t>, with the area from the determinant formula.</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Area method: </a:t>
                </a:r>
                <a:r>
                  <a:rPr lang="en-IN" sz="2400">
                    <a:solidFill>
                      <a:srgbClr val="78350F"/>
                    </a:solidFill>
                    <a:latin typeface="Cambria Math" panose="02040503050406030204" pitchFamily="18" charset="0"/>
                  </a:rPr>
                  <a:t>$d=\frac{2[\triangle PAB]}{AB}$</a:t>
                </a:r>
                <a:r>
                  <a:rPr sz="2400" b="0">
                    <a:solidFill>
                      <a:srgbClr val="78350F"/>
                    </a:solidFill>
                    <a:latin typeface="Arial"/>
                  </a:rPr>
                  <a:t>, with the area from the determinant formula.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as before;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$A(2,4)$</a:t>
                </a:r>
                <a:r>
                  <a:rPr sz="2400" b="0">
                    <a:solidFill>
                      <a:srgbClr val="111827"/>
                    </a:solidFill>
                    <a:latin typeface="Arial"/>
                  </a:rPr>
                  <a:t> and </a:t>
                </a:r>
                <a:r>
                  <a:rPr lang="en-IN" sz="2400">
                    <a:solidFill>
                      <a:srgbClr val="111827"/>
                    </a:solidFill>
                    <a:latin typeface="Cambria Math" panose="02040503050406030204" pitchFamily="18" charset="0"/>
                  </a:rPr>
                  <a:t>$B\left(\frac{1}{2},2\right)$</a:t>
                </a:r>
                <a:r>
                  <a:rPr sz="2400" b="0">
                    <a:solidFill>
                      <a:srgbClr val="111827"/>
                    </a:solidFill>
                    <a:latin typeface="Arial"/>
                  </a:rPr>
                  <a:t> as before; </a:t>
                </a:r>
                <a:r>
                  <a:rPr lang="en-IN" sz="2400">
                    <a:solidFill>
                      <a:srgbClr val="111827"/>
                    </a:solidFill>
                    <a:latin typeface="Cambria Math" panose="02040503050406030204" pitchFamily="18" charset="0"/>
                  </a:rPr>
                  <a:t>$AB=\sqrt{\left(\frac{3}{2}\right)^2+2^2}=\frac{5}{2}$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$[\triangle PAB]=\frac{1}{2}\left|x_P(y_A-y_B)+x_A(y_B-y_P)+x_B(y_P-y_A)\right|=\frac{1}{2}\left|5(2)+2(4)+\frac{1}{2}(-6)\right|=\frac{15}{2}$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$d=\frac{2\cdot\frac{15}{2}}{\frac{5}{2}}=6$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6</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$6$</a:t>
                </a:r>
                <a:endParaRPr sz="2800">
                  <a:solidFill>
                    <a:srgbClr val="15803D"/>
                  </a:solidFill>
                </a:endParaRPr>
              </a:p>
            </p:txBody>
          </p:sp>
        </mc:Fallback>
      </mc:AlternateContent>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from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𝑎𝑟𝑒𝑎 𝑜𝑓 𝑡ℎ𝑒 𝑡𝑟𝑖𝑎𝑛𝑔𝑙𝑒</m:t>
                        </m:r>
                      </m:num>
                      <m:den>
                        <m:r>
                          <m:rPr>
                            <m:nor/>
                          </m:rPr>
                          <a:rPr lang="en-IN" sz="2400" i="1">
                            <a:solidFill>
                              <a:srgbClr val="111827"/>
                            </a:solidFill>
                            <a:latin typeface="Cambria Math" panose="02040503050406030204" pitchFamily="18" charset="0"/>
                          </a:rPr>
                          <m:t>𝑏𝑎𝑠𝑒</m:t>
                        </m:r>
                      </m:den>
                    </m:f>
                  </m:oMath>
                </a14:m>
                <a:r>
                  <a:rPr sz="2400" b="0">
                    <a:solidFill>
                      <a:srgbClr val="111827"/>
                    </a:solidFill>
                    <a:latin typeface="Arial"/>
                  </a:rPr>
                  <a:t>, which avoids writing the line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points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fix the line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from </a:t>
                </a:r>
                <a:r>
                  <a:rPr lang="en-IN" sz="2400">
                    <a:solidFill>
                      <a:srgbClr val="111827"/>
                    </a:solidFill>
                    <a:latin typeface="Cambria Math" panose="02040503050406030204" pitchFamily="18" charset="0"/>
                  </a:rPr>
                  <a:t>$(x_1,y_1)$</a:t>
                </a:r>
                <a:r>
                  <a:rPr sz="2400" b="0">
                    <a:solidFill>
                      <a:srgbClr val="111827"/>
                    </a:solidFill>
                    <a:latin typeface="Arial"/>
                  </a:rPr>
                  <a:t> to </a:t>
                </a:r>
                <a:r>
                  <a:rPr lang="en-IN" sz="2400">
                    <a:solidFill>
                      <a:srgbClr val="111827"/>
                    </a:solidFill>
                    <a:latin typeface="Cambria Math" panose="02040503050406030204" pitchFamily="18" charset="0"/>
                  </a:rPr>
                  <a:t>$ax+by+c=0$</a:t>
                </a:r>
                <a:r>
                  <a:rPr sz="2400" b="0">
                    <a:solidFill>
                      <a:srgbClr val="111827"/>
                    </a:solidFill>
                    <a:latin typeface="Arial"/>
                  </a:rPr>
                  <a:t> is </a:t>
                </a:r>
                <a:r>
                  <a:rPr lang="en-IN" sz="2400">
                    <a:solidFill>
                      <a:srgbClr val="111827"/>
                    </a:solidFill>
                    <a:latin typeface="Cambria Math" panose="02040503050406030204" pitchFamily="18" charset="0"/>
                  </a:rPr>
                  <a:t>$\frac{|ax_1+by_1+c|}{\sqrt{a^2+b^2}}$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a:t>
                </a:r>
                <a:r>
                  <a:rPr lang="en-IN" sz="2400">
                    <a:solidFill>
                      <a:srgbClr val="111827"/>
                    </a:solidFill>
                    <a:latin typeface="Cambria Math" panose="02040503050406030204" pitchFamily="18" charset="0"/>
                  </a:rPr>
                  <a:t>$d=\frac{2\times\text{area of the triangle}}{\text{base}}$</a:t>
                </a:r>
                <a:r>
                  <a:rPr sz="2400" b="0">
                    <a:solidFill>
                      <a:srgbClr val="111827"/>
                    </a:solidFill>
                    <a:latin typeface="Arial"/>
                  </a:rPr>
                  <a:t>, which avoids writing the line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points </a:t>
                </a:r>
                <a:r>
                  <a:rPr lang="en-IN" sz="2400">
                    <a:solidFill>
                      <a:srgbClr val="111827"/>
                    </a:solidFill>
                    <a:latin typeface="Cambria Math" panose="02040503050406030204" pitchFamily="18" charset="0"/>
                  </a:rPr>
                  <a:t>$(x_1,y_1),(x_2,y_2)$</a:t>
                </a:r>
                <a:r>
                  <a:rPr sz="2400" b="0">
                    <a:solidFill>
                      <a:srgbClr val="111827"/>
                    </a:solidFill>
                    <a:latin typeface="Arial"/>
                  </a:rPr>
                  <a:t> fix the line </a:t>
                </a:r>
                <a:r>
                  <a:rPr lang="en-IN" sz="2400">
                    <a:solidFill>
                      <a:srgbClr val="111827"/>
                    </a:solidFill>
                    <a:latin typeface="Cambria Math" panose="02040503050406030204" pitchFamily="18" charset="0"/>
                  </a:rPr>
                  <a:t>$(y_2-y_1)x-(x_2-x_1)y+(x_2y_1-x_1y_2)=0$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1884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line passing through the point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makes an angle of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 positive direction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If this line is rotated about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through an angle of </a:t>
                </a:r>
                <a14:m>
                  <m:oMath xmlns:m="http://schemas.openxmlformats.org/officeDocument/2006/math">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 the clockwise direction, then its equation in the new position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endParaRPr sz="2400">
                  <a:solidFill>
                    <a:srgbClr val="111827"/>
                  </a:solidFill>
                </a:endParaRPr>
              </a:p>
            </p:txBody>
          </p:sp>
        </mc:Choice>
        <mc:Fallback>
          <p:sp>
            <p:nvSpPr>
              <p:cNvPr id="4" name="Rounded Rectangle 3"/>
              <p:cNvSpPr/>
              <p:nvPr/>
            </p:nvSpPr>
            <p:spPr>
              <a:xfrm>
                <a:off x="731520" y="1280160"/>
                <a:ext cx="10725912" cy="41884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line passing through the point </a:t>
                </a:r>
                <a:r>
                  <a:rPr lang="en-IN" sz="2400">
                    <a:solidFill>
                      <a:srgbClr val="111827"/>
                    </a:solidFill>
                    <a:latin typeface="Cambria Math" panose="02040503050406030204" pitchFamily="18" charset="0"/>
                  </a:rPr>
                  <a:t>$A(9,0)$</a:t>
                </a:r>
                <a:r>
                  <a:rPr sz="2400" b="0">
                    <a:solidFill>
                      <a:srgbClr val="111827"/>
                    </a:solidFill>
                    <a:latin typeface="Arial"/>
                  </a:rPr>
                  <a:t> makes an angle of </a:t>
                </a:r>
                <a:r>
                  <a:rPr lang="en-IN" sz="2400">
                    <a:solidFill>
                      <a:srgbClr val="111827"/>
                    </a:solidFill>
                    <a:latin typeface="Cambria Math" panose="02040503050406030204" pitchFamily="18" charset="0"/>
                  </a:rPr>
                  <a:t>$30^\circ$</a:t>
                </a:r>
                <a:r>
                  <a:rPr sz="2400" b="0">
                    <a:solidFill>
                      <a:srgbClr val="111827"/>
                    </a:solidFill>
                    <a:latin typeface="Arial"/>
                  </a:rPr>
                  <a:t> with the positive direction of </a:t>
                </a:r>
                <a:r>
                  <a:rPr lang="en-IN" sz="2400">
                    <a:solidFill>
                      <a:srgbClr val="111827"/>
                    </a:solidFill>
                    <a:latin typeface="Cambria Math" panose="02040503050406030204" pitchFamily="18" charset="0"/>
                  </a:rPr>
                  <a:t>$x$</a:t>
                </a:r>
                <a:r>
                  <a:rPr sz="2400" b="0">
                    <a:solidFill>
                      <a:srgbClr val="111827"/>
                    </a:solidFill>
                    <a:latin typeface="Arial"/>
                  </a:rPr>
                  <a:t>-axis. If this line is rotated about </a:t>
                </a:r>
                <a:r>
                  <a:rPr lang="en-IN" sz="2400">
                    <a:solidFill>
                      <a:srgbClr val="111827"/>
                    </a:solidFill>
                    <a:latin typeface="Cambria Math" panose="02040503050406030204" pitchFamily="18" charset="0"/>
                  </a:rPr>
                  <a:t>$A$</a:t>
                </a:r>
                <a:r>
                  <a:rPr sz="2400" b="0">
                    <a:solidFill>
                      <a:srgbClr val="111827"/>
                    </a:solidFill>
                    <a:latin typeface="Arial"/>
                  </a:rPr>
                  <a:t> through an angle of </a:t>
                </a:r>
                <a:r>
                  <a:rPr lang="en-IN" sz="2400">
                    <a:solidFill>
                      <a:srgbClr val="111827"/>
                    </a:solidFill>
                    <a:latin typeface="Cambria Math" panose="02040503050406030204" pitchFamily="18" charset="0"/>
                  </a:rPr>
                  <a:t>$15^\circ$</a:t>
                </a:r>
                <a:r>
                  <a:rPr sz="2400" b="0">
                    <a:solidFill>
                      <a:srgbClr val="111827"/>
                    </a:solidFill>
                    <a:latin typeface="Arial"/>
                  </a:rPr>
                  <a:t> in the clockwise direction, then its equation in the new position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$\frac{x}{\sqrt{3}-2}+y=9$</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$\frac{x}{\sqrt{3}+2}+y=9$</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$\frac{y}{\sqrt{3}-2}+x=9$</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$\frac{y}{\sqrt{3}+2}+x=9$</a:t>
                </a:r>
                <a:endParaRPr sz="2400">
                  <a:solidFill>
                    <a:srgbClr val="111827"/>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Rotation of a line about a point, Slope and inclination of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clockwise rotation reduces the inclination: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tan</m:t>
                    </m:r>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clockwise rotation reduces the inclination: </a:t>
                </a:r>
                <a:r>
                  <a:rPr lang="en-IN" sz="2400">
                    <a:solidFill>
                      <a:srgbClr val="78350F"/>
                    </a:solidFill>
                    <a:latin typeface="Cambria Math" panose="02040503050406030204" pitchFamily="18" charset="0"/>
                  </a:rPr>
                  <a:t>$30^\circ-15^\circ=15^\circ$</a:t>
                </a:r>
                <a:r>
                  <a:rPr sz="2400" b="0">
                    <a:solidFill>
                      <a:srgbClr val="78350F"/>
                    </a:solidFill>
                    <a:latin typeface="Arial"/>
                  </a:rPr>
                  <a:t>, and </a:t>
                </a:r>
                <a:r>
                  <a:rPr lang="en-IN" sz="2400">
                    <a:solidFill>
                      <a:srgbClr val="78350F"/>
                    </a:solidFill>
                    <a:latin typeface="Cambria Math" panose="02040503050406030204" pitchFamily="18" charset="0"/>
                  </a:rPr>
                  <a:t>$\tan15^\circ=2-\sqrt{3}$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new inclination is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(clockwise rotation decreases the angle with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new inclination is </a:t>
                </a:r>
                <a:r>
                  <a:rPr lang="en-IN" sz="2400">
                    <a:solidFill>
                      <a:srgbClr val="111827"/>
                    </a:solidFill>
                    <a:latin typeface="Cambria Math" panose="02040503050406030204" pitchFamily="18" charset="0"/>
                  </a:rPr>
                  <a:t>$30^\circ-15^\circ=15^\circ$</a:t>
                </a:r>
                <a:r>
                  <a:rPr sz="2400" b="0">
                    <a:solidFill>
                      <a:srgbClr val="111827"/>
                    </a:solidFill>
                    <a:latin typeface="Arial"/>
                  </a:rPr>
                  <a:t> (clockwise rotation decreases the angle with the </a:t>
                </a:r>
                <a:r>
                  <a:rPr lang="en-IN" sz="2400">
                    <a:solidFill>
                      <a:srgbClr val="111827"/>
                    </a:solidFill>
                    <a:latin typeface="Cambria Math" panose="02040503050406030204" pitchFamily="18" charset="0"/>
                  </a:rPr>
                  <a:t>$x$</a:t>
                </a:r>
                <a:r>
                  <a:rPr sz="2400" b="0">
                    <a:solidFill>
                      <a:srgbClr val="111827"/>
                    </a:solidFill>
                    <a:latin typeface="Arial"/>
                  </a:rPr>
                  <a:t>-axis).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$\tan15^\circ=2-\sqrt{3}$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through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which is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through </a:t>
                </a:r>
                <a:r>
                  <a:rPr lang="en-IN" sz="2400">
                    <a:solidFill>
                      <a:srgbClr val="111827"/>
                    </a:solidFill>
                    <a:latin typeface="Cambria Math" panose="02040503050406030204" pitchFamily="18" charset="0"/>
                  </a:rPr>
                  <a:t>$A(9,0)$</a:t>
                </a:r>
                <a:r>
                  <a:rPr sz="2400" b="0">
                    <a:solidFill>
                      <a:srgbClr val="111827"/>
                    </a:solidFill>
                    <a:latin typeface="Arial"/>
                  </a:rPr>
                  <a:t>: </a:t>
                </a:r>
                <a:r>
                  <a:rPr lang="en-IN" sz="2400">
                    <a:solidFill>
                      <a:srgbClr val="111827"/>
                    </a:solidFill>
                    <a:latin typeface="Cambria Math" panose="02040503050406030204" pitchFamily="18" charset="0"/>
                  </a:rPr>
                  <a:t>$y-0=\tan15^\circ(x-9)\Rightarrow y=\left(2-\sqrt{3}\right)(x-9)$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Rewrite: </a:t>
                </a:r>
                <a:r>
                  <a:rPr lang="en-IN" sz="2400">
                    <a:solidFill>
                      <a:srgbClr val="111827"/>
                    </a:solidFill>
                    <a:latin typeface="Cambria Math" panose="02040503050406030204" pitchFamily="18" charset="0"/>
                  </a:rPr>
                  <a:t>$\frac{y}{2-\sqrt{3}}=x-9$</a:t>
                </a:r>
                <a:r>
                  <a:rPr sz="2400" b="0">
                    <a:solidFill>
                      <a:srgbClr val="111827"/>
                    </a:solidFill>
                    <a:latin typeface="Arial"/>
                  </a:rPr>
                  <a:t>, i.e. </a:t>
                </a:r>
                <a:r>
                  <a:rPr lang="en-IN" sz="2400">
                    <a:solidFill>
                      <a:srgbClr val="111827"/>
                    </a:solidFill>
                    <a:latin typeface="Cambria Math" panose="02040503050406030204" pitchFamily="18" charset="0"/>
                  </a:rPr>
                  <a:t>$\frac{y}{\sqrt{3}-2}+x=9$</a:t>
                </a:r>
                <a:r>
                  <a:rPr sz="2400" b="0">
                    <a:solidFill>
                      <a:srgbClr val="111827"/>
                    </a:solidFill>
                    <a:latin typeface="Arial"/>
                  </a:rPr>
                  <a:t>, which is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$\frac{y}{\sqrt{3}-2}+x=9$</a:t>
                </a:r>
                <a:endParaRPr sz="2800">
                  <a:solidFill>
                    <a:srgbClr val="15803D"/>
                  </a:solidFill>
                </a:endParaRPr>
              </a:p>
            </p:txBody>
          </p:sp>
        </mc:Fallback>
      </mc:AlternateContent>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by slope: the new line must have positive slope less than </a:t>
                </a:r>
                <a14:m>
                  <m:oMath xmlns:m="http://schemas.openxmlformats.org/officeDocument/2006/math">
                    <m:r>
                      <m:rPr>
                        <m:sty m:val="p"/>
                      </m:rPr>
                      <a:rPr lang="en-IN" sz="2400">
                        <a:solidFill>
                          <a:srgbClr val="78350F"/>
                        </a:solidFill>
                        <a:latin typeface="Cambria Math" panose="02040503050406030204" pitchFamily="18" charset="0"/>
                      </a:rPr>
                      <m:t>tan</m:t>
                    </m:r>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pass through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by slope: the new line must have positive slope less than </a:t>
                </a:r>
                <a:r>
                  <a:rPr lang="en-IN" sz="2400">
                    <a:solidFill>
                      <a:srgbClr val="78350F"/>
                    </a:solidFill>
                    <a:latin typeface="Cambria Math" panose="02040503050406030204" pitchFamily="18" charset="0"/>
                  </a:rPr>
                  <a:t>$\tan30^\circ$</a:t>
                </a:r>
                <a:r>
                  <a:rPr sz="2400" b="0">
                    <a:solidFill>
                      <a:srgbClr val="78350F"/>
                    </a:solidFill>
                    <a:latin typeface="Arial"/>
                  </a:rPr>
                  <a:t> and pass through </a:t>
                </a:r>
                <a:r>
                  <a:rPr lang="en-IN" sz="2400">
                    <a:solidFill>
                      <a:srgbClr val="78350F"/>
                    </a:solidFill>
                    <a:latin typeface="Cambria Math" panose="02040503050406030204" pitchFamily="18" charset="0"/>
                  </a:rPr>
                  <a:t>$(9,0)$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four options pass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only the slope distinguishes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slope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3.73</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slope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(inclination </a:t>
                </a:r>
                <a14:m>
                  <m:oMath xmlns:m="http://schemas.openxmlformats.org/officeDocument/2006/math">
                    <m:sSup>
                      <m:e>
                        <m:r>
                          <a:rPr lang="en-IN" sz="2400" i="1">
                            <a:solidFill>
                              <a:srgbClr val="111827"/>
                            </a:solidFill>
                            <a:latin typeface="Cambria Math" panose="02040503050406030204" pitchFamily="18" charset="0"/>
                          </a:rPr>
                          <m:t>165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Reject.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four options pass through </a:t>
                </a:r>
                <a:r>
                  <a:rPr lang="en-IN" sz="2400">
                    <a:solidFill>
                      <a:srgbClr val="111827"/>
                    </a:solidFill>
                    <a:latin typeface="Cambria Math" panose="02040503050406030204" pitchFamily="18" charset="0"/>
                  </a:rPr>
                  <a:t>$(9,0)$</a:t>
                </a:r>
                <a:r>
                  <a:rPr sz="2400" b="0">
                    <a:solidFill>
                      <a:srgbClr val="111827"/>
                    </a:solidFill>
                    <a:latin typeface="Arial"/>
                  </a:rPr>
                  <a:t>, so only the slope distinguishes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$y=9-\frac{x}{\sqrt{3}-2}=9+(2+\sqrt{3})x$</a:t>
                </a:r>
                <a:r>
                  <a:rPr sz="2400" b="0">
                    <a:solidFill>
                      <a:srgbClr val="111827"/>
                    </a:solidFill>
                    <a:latin typeface="Arial"/>
                  </a:rPr>
                  <a:t>: slope </a:t>
                </a:r>
                <a:r>
                  <a:rPr lang="en-IN" sz="2400">
                    <a:solidFill>
                      <a:srgbClr val="111827"/>
                    </a:solidFill>
                    <a:latin typeface="Cambria Math" panose="02040503050406030204" pitchFamily="18" charset="0"/>
                  </a:rPr>
                  <a:t>$2+\sqrt{3}\approx3.73&gt;\tan30^\circ$</a:t>
                </a:r>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$y=9-\frac{x}{\sqrt{3}+2}$</a:t>
                </a:r>
                <a:r>
                  <a:rPr sz="2400" b="0">
                    <a:solidFill>
                      <a:srgbClr val="111827"/>
                    </a:solidFill>
                    <a:latin typeface="Arial"/>
                  </a:rPr>
                  <a:t>: slope </a:t>
                </a:r>
                <a:r>
                  <a:rPr lang="en-IN" sz="2400">
                    <a:solidFill>
                      <a:srgbClr val="111827"/>
                    </a:solidFill>
                    <a:latin typeface="Cambria Math" panose="02040503050406030204" pitchFamily="18" charset="0"/>
                  </a:rPr>
                  <a:t>$-(2-\sqrt{3})&lt;0$</a:t>
                </a:r>
                <a:r>
                  <a:rPr sz="2400" b="0">
                    <a:solidFill>
                      <a:srgbClr val="111827"/>
                    </a:solidFill>
                    <a:latin typeface="Arial"/>
                  </a:rPr>
                  <a:t> (inclination </a:t>
                </a:r>
                <a:r>
                  <a:rPr lang="en-IN" sz="2400">
                    <a:solidFill>
                      <a:srgbClr val="111827"/>
                    </a:solidFill>
                    <a:latin typeface="Cambria Math" panose="02040503050406030204" pitchFamily="18" charset="0"/>
                  </a:rPr>
                  <a:t>$165^\circ$</a:t>
                </a:r>
                <a:r>
                  <a:rPr sz="2400" b="0">
                    <a:solidFill>
                      <a:srgbClr val="111827"/>
                    </a:solidFill>
                    <a:latin typeface="Arial"/>
                  </a:rPr>
                  <a:t>). Reject.</a:t>
                </a:r>
                <a:endParaRPr sz="24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slope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slope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0.268</m:t>
                    </m:r>
                  </m:oMath>
                </a14:m>
                <a:r>
                  <a:rPr sz="2400" b="0">
                    <a:solidFill>
                      <a:srgbClr val="111827"/>
                    </a:solidFill>
                    <a:latin typeface="Arial"/>
                  </a:rPr>
                  <a:t> and passes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Accept.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$y=(\sqrt{3}+2)(9-x)$</a:t>
                </a:r>
                <a:r>
                  <a:rPr sz="2400" b="0">
                    <a:solidFill>
                      <a:srgbClr val="111827"/>
                    </a:solidFill>
                    <a:latin typeface="Arial"/>
                  </a:rPr>
                  <a:t>: slope </a:t>
                </a:r>
                <a:r>
                  <a:rPr lang="en-IN" sz="2400">
                    <a:solidFill>
                      <a:srgbClr val="111827"/>
                    </a:solidFill>
                    <a:latin typeface="Cambria Math" panose="02040503050406030204" pitchFamily="18" charset="0"/>
                  </a:rPr>
                  <a:t>$-(2+\sqrt{3})&lt;0$</a:t>
                </a:r>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$y=(\sqrt{3}-2)(9-x)=(2-\sqrt{3})(x-9)$</a:t>
                </a:r>
                <a:r>
                  <a:rPr sz="2400" b="0">
                    <a:solidFill>
                      <a:srgbClr val="111827"/>
                    </a:solidFill>
                    <a:latin typeface="Arial"/>
                  </a:rPr>
                  <a:t>: slope </a:t>
                </a:r>
                <a:r>
                  <a:rPr lang="en-IN" sz="2400">
                    <a:solidFill>
                      <a:srgbClr val="111827"/>
                    </a:solidFill>
                    <a:latin typeface="Cambria Math" panose="02040503050406030204" pitchFamily="18" charset="0"/>
                  </a:rPr>
                  <a:t>$2-\sqrt{3}=\tan15^\circ\approx0.268$</a:t>
                </a:r>
                <a:r>
                  <a:rPr sz="2400" b="0">
                    <a:solidFill>
                      <a:srgbClr val="111827"/>
                    </a:solidFill>
                    <a:latin typeface="Arial"/>
                  </a:rPr>
                  <a:t> and passes through </a:t>
                </a:r>
                <a:r>
                  <a:rPr lang="en-IN" sz="2400">
                    <a:solidFill>
                      <a:srgbClr val="111827"/>
                    </a:solidFill>
                    <a:latin typeface="Cambria Math" panose="02040503050406030204" pitchFamily="18" charset="0"/>
                  </a:rPr>
                  <a:t>$(9,0)$</a:t>
                </a:r>
                <a:r>
                  <a:rPr sz="2400" b="0">
                    <a:solidFill>
                      <a:srgbClr val="111827"/>
                    </a:solidFill>
                    <a:latin typeface="Arial"/>
                  </a:rPr>
                  <a:t>. Accept.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$\frac{y}{\sqrt{3}-2}+x=9$</a:t>
                </a:r>
                <a:endParaRPr sz="2800">
                  <a:solidFill>
                    <a:srgbClr val="15803D"/>
                  </a:solidFill>
                </a:endParaRPr>
              </a:p>
            </p:txBody>
          </p:sp>
        </mc:Fallback>
      </mc:AlternateContent>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Rotating a line anticlockwise by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adds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to its inclination; clockwise subtracts it. The slope becomes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all options contain the given point, test slopes first - only one thing can differ.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Rotating a line anticlockwise by </a:t>
                </a:r>
                <a:r>
                  <a:rPr lang="en-IN" sz="2400">
                    <a:solidFill>
                      <a:srgbClr val="111827"/>
                    </a:solidFill>
                    <a:latin typeface="Cambria Math" panose="02040503050406030204" pitchFamily="18" charset="0"/>
                  </a:rPr>
                  <a:t>$\varphi$</a:t>
                </a:r>
                <a:r>
                  <a:rPr sz="2400" b="0">
                    <a:solidFill>
                      <a:srgbClr val="111827"/>
                    </a:solidFill>
                    <a:latin typeface="Arial"/>
                  </a:rPr>
                  <a:t> adds </a:t>
                </a:r>
                <a:r>
                  <a:rPr lang="en-IN" sz="2400">
                    <a:solidFill>
                      <a:srgbClr val="111827"/>
                    </a:solidFill>
                    <a:latin typeface="Cambria Math" panose="02040503050406030204" pitchFamily="18" charset="0"/>
                  </a:rPr>
                  <a:t>$\varphi$</a:t>
                </a:r>
                <a:r>
                  <a:rPr sz="2400" b="0">
                    <a:solidFill>
                      <a:srgbClr val="111827"/>
                    </a:solidFill>
                    <a:latin typeface="Arial"/>
                  </a:rPr>
                  <a:t> to its inclination; clockwise subtracts it. The slope becomes </a:t>
                </a:r>
                <a:r>
                  <a:rPr lang="en-IN" sz="2400">
                    <a:solidFill>
                      <a:srgbClr val="111827"/>
                    </a:solidFill>
                    <a:latin typeface="Cambria Math" panose="02040503050406030204" pitchFamily="18" charset="0"/>
                  </a:rPr>
                  <a:t>$\tan(\theta\pm\varphi)$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$\tan15^\circ=2-\sqrt{3}$</a:t>
                </a:r>
                <a:r>
                  <a:rPr sz="2400" b="0">
                    <a:solidFill>
                      <a:srgbClr val="111827"/>
                    </a:solidFill>
                    <a:latin typeface="Arial"/>
                  </a:rPr>
                  <a:t> and </a:t>
                </a:r>
                <a:r>
                  <a:rPr lang="en-IN" sz="2400">
                    <a:solidFill>
                      <a:srgbClr val="111827"/>
                    </a:solidFill>
                    <a:latin typeface="Cambria Math" panose="02040503050406030204" pitchFamily="18" charset="0"/>
                  </a:rPr>
                  <a:t>$\tan75^\circ=2+\sqrt{3}$</a:t>
                </a:r>
                <a:r>
                  <a:rPr sz="2400" b="0">
                    <a:solidFill>
                      <a:srgbClr val="111827"/>
                    </a:solidFill>
                    <a:latin typeface="Arial"/>
                  </a:rPr>
                  <a:t> (from </a:t>
                </a:r>
                <a:r>
                  <a:rPr lang="en-IN" sz="2400">
                    <a:solidFill>
                      <a:srgbClr val="111827"/>
                    </a:solidFill>
                    <a:latin typeface="Cambria Math" panose="02040503050406030204" pitchFamily="18" charset="0"/>
                  </a:rPr>
                  <a:t>$\tan(45^\circ\mp30^\circ)$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all options contain the given point, test slopes first - only one thing can differ.</a:t>
                </a:r>
                <a:endParaRPr sz="2400">
                  <a:solidFill>
                    <a:srgbClr val="111827"/>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the locus of a point, which moves such that it is always equidistant from the lines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29</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14</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$x^2-y^2+2hxy+2gx+2fy+c=0$</a:t>
                </a:r>
                <a:r>
                  <a:rPr sz="2400" b="0">
                    <a:solidFill>
                      <a:srgbClr val="111827"/>
                    </a:solidFill>
                    <a:latin typeface="Arial"/>
                  </a:rPr>
                  <a:t> is the locus of a point, which moves such that it is always equidistant from the lines </a:t>
                </a:r>
                <a:r>
                  <a:rPr lang="en-IN" sz="2400">
                    <a:solidFill>
                      <a:srgbClr val="111827"/>
                    </a:solidFill>
                    <a:latin typeface="Cambria Math" panose="02040503050406030204" pitchFamily="18" charset="0"/>
                  </a:rPr>
                  <a:t>$x+2y+7=0$</a:t>
                </a:r>
                <a:r>
                  <a:rPr sz="2400" b="0">
                    <a:solidFill>
                      <a:srgbClr val="111827"/>
                    </a:solidFill>
                    <a:latin typeface="Arial"/>
                  </a:rPr>
                  <a:t> and </a:t>
                </a:r>
                <a:r>
                  <a:rPr lang="en-IN" sz="2400">
                    <a:solidFill>
                      <a:srgbClr val="111827"/>
                    </a:solidFill>
                    <a:latin typeface="Cambria Math" panose="02040503050406030204" pitchFamily="18" charset="0"/>
                  </a:rPr>
                  <a:t>$2x-y+8=0$</a:t>
                </a:r>
                <a:r>
                  <a:rPr sz="2400" b="0">
                    <a:solidFill>
                      <a:srgbClr val="111827"/>
                    </a:solidFill>
                    <a:latin typeface="Arial"/>
                  </a:rPr>
                  <a:t>, then the value of </a:t>
                </a:r>
                <a:r>
                  <a:rPr lang="en-IN" sz="2400">
                    <a:solidFill>
                      <a:srgbClr val="111827"/>
                    </a:solidFill>
                    <a:latin typeface="Cambria Math" panose="02040503050406030204" pitchFamily="18" charset="0"/>
                  </a:rPr>
                  <a:t>$g+c+h-f$</a:t>
                </a:r>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$29$</a:t>
                </a:r>
                <a:r>
                  <a:rPr sz="2400" b="0">
                    <a:solidFill>
                      <a:srgbClr val="111827"/>
                    </a:solidFill>
                    <a:latin typeface="Arial"/>
                  </a:rPr>
                  <a:t>   (D) </a:t>
                </a:r>
                <a:r>
                  <a:rPr lang="en-IN" sz="2400">
                    <a:solidFill>
                      <a:srgbClr val="111827"/>
                    </a:solidFill>
                    <a:latin typeface="Cambria Math" panose="02040503050406030204" pitchFamily="18" charset="0"/>
                  </a:rPr>
                  <a:t>$14$</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Locus equidistant from two lines, General second-degree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Equidistance gives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 a pair of lines - to be compared with the given form after normalising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Equidistance gives </a:t>
                </a:r>
                <a:r>
                  <a:rPr lang="en-IN" sz="2400">
                    <a:solidFill>
                      <a:srgbClr val="78350F"/>
                    </a:solidFill>
                    <a:latin typeface="Cambria Math" panose="02040503050406030204" pitchFamily="18" charset="0"/>
                  </a:rPr>
                  <a:t>$(x+2y+7)^2=(2x-y+8)^2$</a:t>
                </a:r>
                <a:r>
                  <a:rPr sz="2400" b="0">
                    <a:solidFill>
                      <a:srgbClr val="78350F"/>
                    </a:solidFill>
                    <a:latin typeface="Arial"/>
                  </a:rPr>
                  <a:t> - a pair of lines - to be compared with the given form after normalising </a:t>
                </a:r>
                <a:r>
                  <a:rPr lang="en-IN" sz="2400">
                    <a:solidFill>
                      <a:srgbClr val="78350F"/>
                    </a:solidFill>
                    <a:latin typeface="Cambria Math" panose="02040503050406030204" pitchFamily="18" charset="0"/>
                  </a:rPr>
                  <a:t>$x^2$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equidistant from the two lines: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combined equation of the two bisector lines.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Factorising the difference of squares: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$P(x,y)$</a:t>
                </a:r>
                <a:r>
                  <a:rPr sz="2400" b="0">
                    <a:solidFill>
                      <a:srgbClr val="111827"/>
                    </a:solidFill>
                    <a:latin typeface="Arial"/>
                  </a:rPr>
                  <a:t> equidistant from the two lines: </a:t>
                </a:r>
                <a:r>
                  <a:rPr lang="en-IN" sz="2400">
                    <a:solidFill>
                      <a:srgbClr val="111827"/>
                    </a:solidFill>
                    <a:latin typeface="Cambria Math" panose="02040503050406030204" pitchFamily="18" charset="0"/>
                  </a:rPr>
                  <a:t>$\frac{x+2y+7}{\sqrt{5}}=\pm\frac{2x-y+8}{\sqrt{5}}$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$(x+2y+7)^2-(2x-y+8)^2=0$</a:t>
                </a:r>
                <a:r>
                  <a:rPr sz="2400" b="0">
                    <a:solidFill>
                      <a:srgbClr val="111827"/>
                    </a:solidFill>
                    <a:latin typeface="Arial"/>
                  </a:rPr>
                  <a:t>, the combined equation of the two bisector lines.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Factorising the difference of squares: </a:t>
                </a:r>
                <a:r>
                  <a:rPr lang="en-IN" sz="2400">
                    <a:solidFill>
                      <a:srgbClr val="111827"/>
                    </a:solidFill>
                    <a:latin typeface="Cambria Math" panose="02040503050406030204" pitchFamily="18" charset="0"/>
                  </a:rPr>
                  <a:t>$(x-3y+1)(3x+y+15)=0$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$3x^2-3y^2-8xy+18x-44y+15=0$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$x^2-y^2-\frac{8}{3}xy+6x-\frac{44}{3}y+5=0$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t>
                </a:r>
                <a:r>
                  <a:rPr lang="en-IN" sz="2400">
                    <a:solidFill>
                      <a:srgbClr val="111827"/>
                    </a:solidFill>
                    <a:latin typeface="Cambria Math" panose="02040503050406030204" pitchFamily="18" charset="0"/>
                  </a:rPr>
                  <a:t>$x^2-y^2+2hxy+2gx+2fy+c=0$</a:t>
                </a:r>
                <a:r>
                  <a:rPr sz="2400" b="0">
                    <a:solidFill>
                      <a:srgbClr val="111827"/>
                    </a:solidFill>
                    <a:latin typeface="Arial"/>
                  </a:rPr>
                  <a:t>: </a:t>
                </a:r>
                <a:r>
                  <a:rPr lang="en-IN" sz="2400">
                    <a:solidFill>
                      <a:srgbClr val="111827"/>
                    </a:solidFill>
                    <a:latin typeface="Cambria Math" panose="02040503050406030204" pitchFamily="18" charset="0"/>
                  </a:rPr>
                  <a:t>$2h=-\frac{8}{3}\Rightarrow h=-\frac{4}{3}$</a:t>
                </a:r>
                <a:r>
                  <a:rPr sz="2400" b="0">
                    <a:solidFill>
                      <a:srgbClr val="111827"/>
                    </a:solidFill>
                    <a:latin typeface="Arial"/>
                  </a:rPr>
                  <a:t>; </a:t>
                </a:r>
                <a:r>
                  <a:rPr lang="en-IN" sz="2400">
                    <a:solidFill>
                      <a:srgbClr val="111827"/>
                    </a:solidFill>
                    <a:latin typeface="Cambria Math" panose="02040503050406030204" pitchFamily="18" charset="0"/>
                  </a:rPr>
                  <a:t>$2g=6\Rightarrow g=3$</a:t>
                </a:r>
                <a:r>
                  <a:rPr sz="2400" b="0">
                    <a:solidFill>
                      <a:srgbClr val="111827"/>
                    </a:solidFill>
                    <a:latin typeface="Arial"/>
                  </a:rPr>
                  <a:t>; </a:t>
                </a:r>
                <a:r>
                  <a:rPr lang="en-IN" sz="2400">
                    <a:solidFill>
                      <a:srgbClr val="111827"/>
                    </a:solidFill>
                    <a:latin typeface="Cambria Math" panose="02040503050406030204" pitchFamily="18" charset="0"/>
                  </a:rPr>
                  <a:t>$2f=-\frac{44}{3}\Rightarrow f=-\frac{22}{3}$</a:t>
                </a:r>
                <a:r>
                  <a:rPr sz="2400" b="0">
                    <a:solidFill>
                      <a:srgbClr val="111827"/>
                    </a:solidFill>
                    <a:latin typeface="Arial"/>
                  </a:rPr>
                  <a:t>; </a:t>
                </a:r>
                <a:r>
                  <a:rPr lang="en-IN" sz="2400">
                    <a:solidFill>
                      <a:srgbClr val="111827"/>
                    </a:solidFill>
                    <a:latin typeface="Cambria Math" panose="02040503050406030204" pitchFamily="18" charset="0"/>
                  </a:rPr>
                  <a:t>$c=5$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$g+c+h-f=3+5-\frac{4}{3}+\frac{22}{3}=8+6=14$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14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$14$</a:t>
                </a:r>
                <a:endParaRPr sz="2800">
                  <a:solidFill>
                    <a:srgbClr val="15803D"/>
                  </a:solidFill>
                </a:endParaRPr>
              </a:p>
            </p:txBody>
          </p:sp>
        </mc:Fallback>
      </mc:AlternateContent>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off the coefficients from special points: the intersections with the axes give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oMath>
                </a14:m>
                <a:r>
                  <a:rPr sz="2400" b="0">
                    <a:solidFill>
                      <a:srgbClr val="78350F"/>
                    </a:solidFill>
                    <a:latin typeface="Arial"/>
                  </a:rPr>
                  <a:t>, and the directions of the lines give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off the coefficients from special points: the intersections with the axes give </a:t>
                </a:r>
                <a:r>
                  <a:rPr lang="en-IN" sz="2400">
                    <a:solidFill>
                      <a:srgbClr val="78350F"/>
                    </a:solidFill>
                    <a:latin typeface="Cambria Math" panose="02040503050406030204" pitchFamily="18" charset="0"/>
                  </a:rPr>
                  <a:t>$g,c,f$</a:t>
                </a:r>
                <a:r>
                  <a:rPr sz="2400" b="0">
                    <a:solidFill>
                      <a:srgbClr val="78350F"/>
                    </a:solidFill>
                    <a:latin typeface="Arial"/>
                  </a:rPr>
                  <a:t>, and the directions of the lines give </a:t>
                </a:r>
                <a:r>
                  <a:rPr lang="en-IN" sz="2400">
                    <a:solidFill>
                      <a:srgbClr val="78350F"/>
                    </a:solidFill>
                    <a:latin typeface="Cambria Math" panose="02040503050406030204" pitchFamily="18" charset="0"/>
                  </a:rPr>
                  <a:t>$h$</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equal distances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locus meets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 locus meets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the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checks),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given lines have slopes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(perpendicular), so the bisectors make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them: slopes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$y=0$</a:t>
                </a:r>
                <a:r>
                  <a:rPr sz="2400" b="0">
                    <a:solidFill>
                      <a:srgbClr val="111827"/>
                    </a:solidFill>
                    <a:latin typeface="Arial"/>
                  </a:rPr>
                  <a:t>: equal distances </a:t>
                </a:r>
                <a:r>
                  <a:rPr lang="en-IN" sz="2400">
                    <a:solidFill>
                      <a:srgbClr val="111827"/>
                    </a:solidFill>
                    <a:latin typeface="Cambria Math" panose="02040503050406030204" pitchFamily="18" charset="0"/>
                  </a:rPr>
                  <a:t>$|x+7|=|2x+8|$</a:t>
                </a:r>
                <a:r>
                  <a:rPr sz="2400" b="0">
                    <a:solidFill>
                      <a:srgbClr val="111827"/>
                    </a:solidFill>
                    <a:latin typeface="Arial"/>
                  </a:rPr>
                  <a:t> give </a:t>
                </a:r>
                <a:r>
                  <a:rPr lang="en-IN" sz="2400">
                    <a:solidFill>
                      <a:srgbClr val="111827"/>
                    </a:solidFill>
                    <a:latin typeface="Cambria Math" panose="02040503050406030204" pitchFamily="18" charset="0"/>
                  </a:rPr>
                  <a:t>$x=-1$</a:t>
                </a:r>
                <a:r>
                  <a:rPr sz="2400" b="0">
                    <a:solidFill>
                      <a:srgbClr val="111827"/>
                    </a:solidFill>
                    <a:latin typeface="Arial"/>
                  </a:rPr>
                  <a:t> or </a:t>
                </a:r>
                <a:r>
                  <a:rPr lang="en-IN" sz="2400">
                    <a:solidFill>
                      <a:srgbClr val="111827"/>
                    </a:solidFill>
                    <a:latin typeface="Cambria Math" panose="02040503050406030204" pitchFamily="18" charset="0"/>
                  </a:rPr>
                  <a:t>$x=-5$</a:t>
                </a:r>
                <a:r>
                  <a:rPr sz="2400" b="0">
                    <a:solidFill>
                      <a:srgbClr val="111827"/>
                    </a:solidFill>
                    <a:latin typeface="Arial"/>
                  </a:rPr>
                  <a:t>. The locus meets </a:t>
                </a:r>
                <a:r>
                  <a:rPr lang="en-IN" sz="2400">
                    <a:solidFill>
                      <a:srgbClr val="111827"/>
                    </a:solidFill>
                    <a:latin typeface="Cambria Math" panose="02040503050406030204" pitchFamily="18" charset="0"/>
                  </a:rPr>
                  <a:t>$y=0$</a:t>
                </a:r>
                <a:r>
                  <a:rPr sz="2400" b="0">
                    <a:solidFill>
                      <a:srgbClr val="111827"/>
                    </a:solidFill>
                    <a:latin typeface="Arial"/>
                  </a:rPr>
                  <a:t> where </a:t>
                </a:r>
                <a:r>
                  <a:rPr lang="en-IN" sz="2400">
                    <a:solidFill>
                      <a:srgbClr val="111827"/>
                    </a:solidFill>
                    <a:latin typeface="Cambria Math" panose="02040503050406030204" pitchFamily="18" charset="0"/>
                  </a:rPr>
                  <a:t>$x^2+2gx+c=0$</a:t>
                </a:r>
                <a:r>
                  <a:rPr sz="2400" b="0">
                    <a:solidFill>
                      <a:srgbClr val="111827"/>
                    </a:solidFill>
                    <a:latin typeface="Arial"/>
                  </a:rPr>
                  <a:t>, so </a:t>
                </a:r>
                <a:r>
                  <a:rPr lang="en-IN" sz="2400">
                    <a:solidFill>
                      <a:srgbClr val="111827"/>
                    </a:solidFill>
                    <a:latin typeface="Cambria Math" panose="02040503050406030204" pitchFamily="18" charset="0"/>
                  </a:rPr>
                  <a:t>$2g=6$</a:t>
                </a:r>
                <a:r>
                  <a:rPr sz="2400" b="0">
                    <a:solidFill>
                      <a:srgbClr val="111827"/>
                    </a:solidFill>
                    <a:latin typeface="Arial"/>
                  </a:rPr>
                  <a:t>, </a:t>
                </a:r>
                <a:r>
                  <a:rPr lang="en-IN" sz="2400">
                    <a:solidFill>
                      <a:srgbClr val="111827"/>
                    </a:solidFill>
                    <a:latin typeface="Cambria Math" panose="02040503050406030204" pitchFamily="18" charset="0"/>
                  </a:rPr>
                  <a:t>$c=5$</a:t>
                </a:r>
                <a:r>
                  <a:rPr sz="2400" b="0">
                    <a:solidFill>
                      <a:srgbClr val="111827"/>
                    </a:solidFill>
                    <a:latin typeface="Arial"/>
                  </a:rPr>
                  <a:t>: </a:t>
                </a:r>
                <a:r>
                  <a:rPr lang="en-IN" sz="2400">
                    <a:solidFill>
                      <a:srgbClr val="111827"/>
                    </a:solidFill>
                    <a:latin typeface="Cambria Math" panose="02040503050406030204" pitchFamily="18" charset="0"/>
                  </a:rPr>
                  <a:t>$g=3$</a:t>
                </a:r>
                <a:r>
                  <a:rPr sz="2400" b="0">
                    <a:solidFill>
                      <a:srgbClr val="111827"/>
                    </a:solidFill>
                    <a:latin typeface="Arial"/>
                  </a:rPr>
                  <a:t>, </a:t>
                </a:r>
                <a:r>
                  <a:rPr lang="en-IN" sz="2400">
                    <a:solidFill>
                      <a:srgbClr val="111827"/>
                    </a:solidFill>
                    <a:latin typeface="Cambria Math" panose="02040503050406030204" pitchFamily="18" charset="0"/>
                  </a:rPr>
                  <a:t>$c=5$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$|2y+7|=|-y+8|$</a:t>
                </a:r>
                <a:r>
                  <a:rPr sz="2400" b="0">
                    <a:solidFill>
                      <a:srgbClr val="111827"/>
                    </a:solidFill>
                    <a:latin typeface="Arial"/>
                  </a:rPr>
                  <a:t> gives </a:t>
                </a:r>
                <a:r>
                  <a:rPr lang="en-IN" sz="2400">
                    <a:solidFill>
                      <a:srgbClr val="111827"/>
                    </a:solidFill>
                    <a:latin typeface="Cambria Math" panose="02040503050406030204" pitchFamily="18" charset="0"/>
                  </a:rPr>
                  <a:t>$y=\frac{1}{3}$</a:t>
                </a:r>
                <a:r>
                  <a:rPr sz="2400" b="0">
                    <a:solidFill>
                      <a:srgbClr val="111827"/>
                    </a:solidFill>
                    <a:latin typeface="Arial"/>
                  </a:rPr>
                  <a:t> or </a:t>
                </a:r>
                <a:r>
                  <a:rPr lang="en-IN" sz="2400">
                    <a:solidFill>
                      <a:srgbClr val="111827"/>
                    </a:solidFill>
                    <a:latin typeface="Cambria Math" panose="02040503050406030204" pitchFamily="18" charset="0"/>
                  </a:rPr>
                  <a:t>$y=-15$</a:t>
                </a:r>
                <a:r>
                  <a:rPr sz="2400" b="0">
                    <a:solidFill>
                      <a:srgbClr val="111827"/>
                    </a:solidFill>
                    <a:latin typeface="Arial"/>
                  </a:rPr>
                  <a:t>. The locus meets </a:t>
                </a:r>
                <a:r>
                  <a:rPr lang="en-IN" sz="2400">
                    <a:solidFill>
                      <a:srgbClr val="111827"/>
                    </a:solidFill>
                    <a:latin typeface="Cambria Math" panose="02040503050406030204" pitchFamily="18" charset="0"/>
                  </a:rPr>
                  <a:t>$x=0$</a:t>
                </a:r>
                <a:r>
                  <a:rPr sz="2400" b="0">
                    <a:solidFill>
                      <a:srgbClr val="111827"/>
                    </a:solidFill>
                    <a:latin typeface="Arial"/>
                  </a:rPr>
                  <a:t> where </a:t>
                </a:r>
                <a:r>
                  <a:rPr lang="en-IN" sz="2400">
                    <a:solidFill>
                      <a:srgbClr val="111827"/>
                    </a:solidFill>
                    <a:latin typeface="Cambria Math" panose="02040503050406030204" pitchFamily="18" charset="0"/>
                  </a:rPr>
                  <a:t>$-y^2+2fy+5=0$</a:t>
                </a:r>
                <a:r>
                  <a:rPr sz="2400" b="0">
                    <a:solidFill>
                      <a:srgbClr val="111827"/>
                    </a:solidFill>
                    <a:latin typeface="Arial"/>
                  </a:rPr>
                  <a:t>, i.e. </a:t>
                </a:r>
                <a:r>
                  <a:rPr lang="en-IN" sz="2400">
                    <a:solidFill>
                      <a:srgbClr val="111827"/>
                    </a:solidFill>
                    <a:latin typeface="Cambria Math" panose="02040503050406030204" pitchFamily="18" charset="0"/>
                  </a:rPr>
                  <a:t>$y^2-2fy-5=0$</a:t>
                </a:r>
                <a:r>
                  <a:rPr sz="2400" b="0">
                    <a:solidFill>
                      <a:srgbClr val="111827"/>
                    </a:solidFill>
                    <a:latin typeface="Arial"/>
                  </a:rPr>
                  <a:t>, so </a:t>
                </a:r>
                <a:r>
                  <a:rPr lang="en-IN" sz="2400">
                    <a:solidFill>
                      <a:srgbClr val="111827"/>
                    </a:solidFill>
                    <a:latin typeface="Cambria Math" panose="02040503050406030204" pitchFamily="18" charset="0"/>
                  </a:rPr>
                  <a:t>$2f=\frac{1}{3}-15=-\frac{44}{3}$</a:t>
                </a:r>
                <a:r>
                  <a:rPr sz="2400" b="0">
                    <a:solidFill>
                      <a:srgbClr val="111827"/>
                    </a:solidFill>
                    <a:latin typeface="Arial"/>
                  </a:rPr>
                  <a:t> (and the product </a:t>
                </a:r>
                <a:r>
                  <a:rPr lang="en-IN" sz="2400">
                    <a:solidFill>
                      <a:srgbClr val="111827"/>
                    </a:solidFill>
                    <a:latin typeface="Cambria Math" panose="02040503050406030204" pitchFamily="18" charset="0"/>
                  </a:rPr>
                  <a:t>$-5$</a:t>
                </a:r>
                <a:r>
                  <a:rPr sz="2400" b="0">
                    <a:solidFill>
                      <a:srgbClr val="111827"/>
                    </a:solidFill>
                    <a:latin typeface="Arial"/>
                  </a:rPr>
                  <a:t> checks), </a:t>
                </a:r>
                <a:r>
                  <a:rPr lang="en-IN" sz="2400">
                    <a:solidFill>
                      <a:srgbClr val="111827"/>
                    </a:solidFill>
                    <a:latin typeface="Cambria Math" panose="02040503050406030204" pitchFamily="18" charset="0"/>
                  </a:rPr>
                  <a:t>$f=-\frac{22}{3}$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given lines have slopes </a:t>
                </a:r>
                <a:r>
                  <a:rPr lang="en-IN" sz="2400">
                    <a:solidFill>
                      <a:srgbClr val="111827"/>
                    </a:solidFill>
                    <a:latin typeface="Cambria Math" panose="02040503050406030204" pitchFamily="18" charset="0"/>
                  </a:rPr>
                  <a:t>$-\frac{1}{2}$</a:t>
                </a:r>
                <a:r>
                  <a:rPr sz="2400" b="0">
                    <a:solidFill>
                      <a:srgbClr val="111827"/>
                    </a:solidFill>
                    <a:latin typeface="Arial"/>
                  </a:rPr>
                  <a:t> and </a:t>
                </a:r>
                <a:r>
                  <a:rPr lang="en-IN" sz="2400">
                    <a:solidFill>
                      <a:srgbClr val="111827"/>
                    </a:solidFill>
                    <a:latin typeface="Cambria Math" panose="02040503050406030204" pitchFamily="18" charset="0"/>
                  </a:rPr>
                  <a:t>$2$</a:t>
                </a:r>
                <a:r>
                  <a:rPr sz="2400" b="0">
                    <a:solidFill>
                      <a:srgbClr val="111827"/>
                    </a:solidFill>
                    <a:latin typeface="Arial"/>
                  </a:rPr>
                  <a:t> (perpendicular), so the bisectors make </a:t>
                </a:r>
                <a:r>
                  <a:rPr lang="en-IN" sz="2400">
                    <a:solidFill>
                      <a:srgbClr val="111827"/>
                    </a:solidFill>
                    <a:latin typeface="Cambria Math" panose="02040503050406030204" pitchFamily="18" charset="0"/>
                  </a:rPr>
                  <a:t>$45^\circ$</a:t>
                </a:r>
                <a:r>
                  <a:rPr sz="2400" b="0">
                    <a:solidFill>
                      <a:srgbClr val="111827"/>
                    </a:solidFill>
                    <a:latin typeface="Arial"/>
                  </a:rPr>
                  <a:t> with them: slopes </a:t>
                </a:r>
                <a:r>
                  <a:rPr lang="en-IN" sz="2400">
                    <a:solidFill>
                      <a:srgbClr val="111827"/>
                    </a:solidFill>
                    <a:latin typeface="Cambria Math" panose="02040503050406030204" pitchFamily="18" charset="0"/>
                  </a:rPr>
                  <a:t>$\frac{1}{3}$</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second-degree part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must vanish for these directions: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second-degree part </a:t>
                </a:r>
                <a:r>
                  <a:rPr lang="en-IN" sz="2400">
                    <a:solidFill>
                      <a:srgbClr val="111827"/>
                    </a:solidFill>
                    <a:latin typeface="Cambria Math" panose="02040503050406030204" pitchFamily="18" charset="0"/>
                  </a:rPr>
                  <a:t>$x^2+2hxy-y^2$</a:t>
                </a:r>
                <a:r>
                  <a:rPr sz="2400" b="0">
                    <a:solidFill>
                      <a:srgbClr val="111827"/>
                    </a:solidFill>
                    <a:latin typeface="Arial"/>
                  </a:rPr>
                  <a:t> must vanish for these directions: with </a:t>
                </a:r>
                <a:r>
                  <a:rPr lang="en-IN" sz="2400">
                    <a:solidFill>
                      <a:srgbClr val="111827"/>
                    </a:solidFill>
                    <a:latin typeface="Cambria Math" panose="02040503050406030204" pitchFamily="18" charset="0"/>
                  </a:rPr>
                  <a:t>$\frac{y}{x}=\frac{1}{3}$</a:t>
                </a:r>
                <a:r>
                  <a:rPr sz="2400" b="0">
                    <a:solidFill>
                      <a:srgbClr val="111827"/>
                    </a:solidFill>
                    <a:latin typeface="Arial"/>
                  </a:rPr>
                  <a:t>: </a:t>
                </a:r>
                <a:r>
                  <a:rPr lang="en-IN" sz="2400">
                    <a:solidFill>
                      <a:srgbClr val="111827"/>
                    </a:solidFill>
                    <a:latin typeface="Cambria Math" panose="02040503050406030204" pitchFamily="18" charset="0"/>
                  </a:rPr>
                  <a:t>$1+\frac{2h}{3}-\frac{1}{9}=0\Rightarrow h=-\frac{4}{3}$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$g+c+h-f=3+5-\frac{4}{3}+\frac{22}{3}=14$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14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$14$</a:t>
                </a:r>
                <a:endParaRPr sz="2800">
                  <a:solidFill>
                    <a:srgbClr val="15803D"/>
                  </a:solidFill>
                </a:endParaRPr>
              </a:p>
            </p:txBody>
          </p:sp>
        </mc:Fallback>
      </mc:AlternateContent>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locus of points equidistant from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(normalised) is the pair of angle bisectors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num>
                      <m:den>
                        <m:rad>
                          <m:radPr>
                            <m:degHide m:val="on"/>
                            <m:ctrlPr>
                              <a:rPr lang="en-IN" sz="2400" i="1">
                                <a:solidFill>
                                  <a:srgbClr val="111827"/>
                                </a:solidFill>
                                <a:latin typeface="Cambria Math" panose="02040503050406030204" pitchFamily="18" charset="0"/>
                              </a:rPr>
                            </m:ctrlPr>
                          </m:radPr>
                          <m:deg/>
                          <m:e>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num>
                      <m:den>
                        <m:rad>
                          <m:radPr>
                            <m:degHide m:val="on"/>
                            <m:ctrlPr>
                              <a:rPr lang="en-IN" sz="2400" i="1">
                                <a:solidFill>
                                  <a:srgbClr val="111827"/>
                                </a:solidFill>
                                <a:latin typeface="Cambria Math" panose="02040503050406030204" pitchFamily="18" charset="0"/>
                              </a:rPr>
                            </m:ctrlPr>
                          </m:radPr>
                          <m:deg/>
                          <m:e>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e>
                        </m:rad>
                      </m:den>
                    </m:f>
                  </m:oMath>
                </a14:m>
                <a:r>
                  <a:rPr sz="2400" b="0">
                    <a:solidFill>
                      <a:srgbClr val="111827"/>
                    </a:solidFill>
                    <a:latin typeface="Arial"/>
                  </a:rPr>
                  <a:t>; if both normalising factors are equal, it is simply </a:t>
                </a:r>
                <a14:m>
                  <m:oMath xmlns:m="http://schemas.openxmlformats.org/officeDocument/2006/math">
                    <m:sSubSup>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(here both are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because the lines are perpendicular).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Lines are perpendicular iff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setting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setting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quick way to read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locus of points equidistant from </a:t>
                </a:r>
                <a:r>
                  <a:rPr lang="en-IN" sz="2400">
                    <a:solidFill>
                      <a:srgbClr val="111827"/>
                    </a:solidFill>
                    <a:latin typeface="Cambria Math" panose="02040503050406030204" pitchFamily="18" charset="0"/>
                  </a:rPr>
                  <a:t>$L_1=0$</a:t>
                </a:r>
                <a:r>
                  <a:rPr sz="2400" b="0">
                    <a:solidFill>
                      <a:srgbClr val="111827"/>
                    </a:solidFill>
                    <a:latin typeface="Arial"/>
                  </a:rPr>
                  <a:t> and </a:t>
                </a:r>
                <a:r>
                  <a:rPr lang="en-IN" sz="2400">
                    <a:solidFill>
                      <a:srgbClr val="111827"/>
                    </a:solidFill>
                    <a:latin typeface="Cambria Math" panose="02040503050406030204" pitchFamily="18" charset="0"/>
                  </a:rPr>
                  <a:t>$L_2=0$</a:t>
                </a:r>
                <a:r>
                  <a:rPr sz="2400" b="0">
                    <a:solidFill>
                      <a:srgbClr val="111827"/>
                    </a:solidFill>
                    <a:latin typeface="Arial"/>
                  </a:rPr>
                  <a:t> (normalised) is the pair of angle bisectors </a:t>
                </a:r>
                <a:r>
                  <a:rPr lang="en-IN" sz="2400">
                    <a:solidFill>
                      <a:srgbClr val="111827"/>
                    </a:solidFill>
                    <a:latin typeface="Cambria Math" panose="02040503050406030204" pitchFamily="18" charset="0"/>
                  </a:rPr>
                  <a:t>$\frac{L_1}{\sqrt{a_1^2+b_1^2}}=\pm\frac{L_2}{\sqrt{a_2^2+b_2^2}}$</a:t>
                </a:r>
                <a:r>
                  <a:rPr sz="2400" b="0">
                    <a:solidFill>
                      <a:srgbClr val="111827"/>
                    </a:solidFill>
                    <a:latin typeface="Arial"/>
                  </a:rPr>
                  <a:t>; if both normalising factors are equal, it is simply </a:t>
                </a:r>
                <a:r>
                  <a:rPr lang="en-IN" sz="2400">
                    <a:solidFill>
                      <a:srgbClr val="111827"/>
                    </a:solidFill>
                    <a:latin typeface="Cambria Math" panose="02040503050406030204" pitchFamily="18" charset="0"/>
                  </a:rPr>
                  <a:t>$L_1^2=L_2^2$</a:t>
                </a:r>
                <a:r>
                  <a:rPr sz="2400" b="0">
                    <a:solidFill>
                      <a:srgbClr val="111827"/>
                    </a:solidFill>
                    <a:latin typeface="Arial"/>
                  </a:rPr>
                  <a:t> (here both are </a:t>
                </a:r>
                <a:r>
                  <a:rPr lang="en-IN" sz="2400">
                    <a:solidFill>
                      <a:srgbClr val="111827"/>
                    </a:solidFill>
                    <a:latin typeface="Cambria Math" panose="02040503050406030204" pitchFamily="18" charset="0"/>
                  </a:rPr>
                  <a:t>$\sqrt{5}$</a:t>
                </a:r>
                <a:r>
                  <a:rPr sz="2400" b="0">
                    <a:solidFill>
                      <a:srgbClr val="111827"/>
                    </a:solidFill>
                    <a:latin typeface="Arial"/>
                  </a:rPr>
                  <a:t> because the lines are perpendicular).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Lines are perpendicular iff </a:t>
                </a:r>
                <a:r>
                  <a:rPr lang="en-IN" sz="2400">
                    <a:solidFill>
                      <a:srgbClr val="111827"/>
                    </a:solidFill>
                    <a:latin typeface="Cambria Math" panose="02040503050406030204" pitchFamily="18" charset="0"/>
                  </a:rPr>
                  <a:t>$a_1a_2+b_1b_2=0$</a:t>
                </a:r>
                <a:r>
                  <a:rPr sz="2400" b="0">
                    <a:solidFill>
                      <a:srgbClr val="111827"/>
                    </a:solidFill>
                    <a:latin typeface="Arial"/>
                  </a:rPr>
                  <a:t>: </a:t>
                </a:r>
                <a:r>
                  <a:rPr lang="en-IN" sz="2400">
                    <a:solidFill>
                      <a:srgbClr val="111827"/>
                    </a:solidFill>
                    <a:latin typeface="Cambria Math" panose="02040503050406030204" pitchFamily="18" charset="0"/>
                  </a:rPr>
                  <a:t>$(1)(2)+(2)(-1)=0$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$ax^2+2hxy+by^2+2gx+2fy+c=0$</a:t>
                </a:r>
                <a:r>
                  <a:rPr sz="2400" b="0">
                    <a:solidFill>
                      <a:srgbClr val="111827"/>
                    </a:solidFill>
                    <a:latin typeface="Arial"/>
                  </a:rPr>
                  <a:t>: setting </a:t>
                </a:r>
                <a:r>
                  <a:rPr lang="en-IN" sz="2400">
                    <a:solidFill>
                      <a:srgbClr val="111827"/>
                    </a:solidFill>
                    <a:latin typeface="Cambria Math" panose="02040503050406030204" pitchFamily="18" charset="0"/>
                  </a:rPr>
                  <a:t>$y=0$</a:t>
                </a:r>
                <a:r>
                  <a:rPr sz="2400" b="0">
                    <a:solidFill>
                      <a:srgbClr val="111827"/>
                    </a:solidFill>
                    <a:latin typeface="Arial"/>
                  </a:rPr>
                  <a:t> gives </a:t>
                </a:r>
                <a:r>
                  <a:rPr lang="en-IN" sz="2400">
                    <a:solidFill>
                      <a:srgbClr val="111827"/>
                    </a:solidFill>
                    <a:latin typeface="Cambria Math" panose="02040503050406030204" pitchFamily="18" charset="0"/>
                  </a:rPr>
                  <a:t>$ax^2+2gx+c=0$</a:t>
                </a:r>
                <a:r>
                  <a:rPr sz="2400" b="0">
                    <a:solidFill>
                      <a:srgbClr val="111827"/>
                    </a:solidFill>
                    <a:latin typeface="Arial"/>
                  </a:rPr>
                  <a:t>, and setting </a:t>
                </a:r>
                <a:r>
                  <a:rPr lang="en-IN" sz="2400">
                    <a:solidFill>
                      <a:srgbClr val="111827"/>
                    </a:solidFill>
                    <a:latin typeface="Cambria Math" panose="02040503050406030204" pitchFamily="18" charset="0"/>
                  </a:rPr>
                  <a:t>$x=0$</a:t>
                </a:r>
                <a:r>
                  <a:rPr sz="2400" b="0">
                    <a:solidFill>
                      <a:srgbClr val="111827"/>
                    </a:solidFill>
                    <a:latin typeface="Arial"/>
                  </a:rPr>
                  <a:t> gives </a:t>
                </a:r>
                <a:r>
                  <a:rPr lang="en-IN" sz="2400">
                    <a:solidFill>
                      <a:srgbClr val="111827"/>
                    </a:solidFill>
                    <a:latin typeface="Cambria Math" panose="02040503050406030204" pitchFamily="18" charset="0"/>
                  </a:rPr>
                  <a:t>$by^2+2fy+c=0$</a:t>
                </a:r>
                <a:r>
                  <a:rPr sz="2400" b="0">
                    <a:solidFill>
                      <a:srgbClr val="111827"/>
                    </a:solidFill>
                    <a:latin typeface="Arial"/>
                  </a:rPr>
                  <a:t> - quick way to read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vertices of a 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and the points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 on the line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8</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$\alpha,\beta,\gamma,\delta\in\mathbb{Z}$</a:t>
                </a:r>
                <a:r>
                  <a:rPr sz="2400" b="0">
                    <a:solidFill>
                      <a:srgbClr val="111827"/>
                    </a:solidFill>
                    <a:latin typeface="Arial"/>
                  </a:rPr>
                  <a:t> and let </a:t>
                </a:r>
                <a:r>
                  <a:rPr lang="en-IN" sz="2400">
                    <a:solidFill>
                      <a:srgbClr val="111827"/>
                    </a:solidFill>
                    <a:latin typeface="Cambria Math" panose="02040503050406030204" pitchFamily="18" charset="0"/>
                  </a:rPr>
                  <a:t>$A(\alpha,\beta)$</a:t>
                </a:r>
                <a:r>
                  <a:rPr sz="2400" b="0">
                    <a:solidFill>
                      <a:srgbClr val="111827"/>
                    </a:solidFill>
                    <a:latin typeface="Arial"/>
                  </a:rPr>
                  <a:t>, </a:t>
                </a:r>
                <a:r>
                  <a:rPr lang="en-IN" sz="2400">
                    <a:solidFill>
                      <a:srgbClr val="111827"/>
                    </a:solidFill>
                    <a:latin typeface="Cambria Math" panose="02040503050406030204" pitchFamily="18" charset="0"/>
                  </a:rPr>
                  <a:t>$B(1,0)$</a:t>
                </a:r>
                <a:r>
                  <a:rPr sz="2400" b="0">
                    <a:solidFill>
                      <a:srgbClr val="111827"/>
                    </a:solidFill>
                    <a:latin typeface="Arial"/>
                  </a:rPr>
                  <a:t>, </a:t>
                </a:r>
                <a:r>
                  <a:rPr lang="en-IN" sz="2400">
                    <a:solidFill>
                      <a:srgbClr val="111827"/>
                    </a:solidFill>
                    <a:latin typeface="Cambria Math" panose="02040503050406030204" pitchFamily="18" charset="0"/>
                  </a:rPr>
                  <a:t>$C(\gamma,\delta)$</a:t>
                </a:r>
                <a:r>
                  <a:rPr sz="2400" b="0">
                    <a:solidFill>
                      <a:srgbClr val="111827"/>
                    </a:solidFill>
                    <a:latin typeface="Arial"/>
                  </a:rPr>
                  <a:t> and </a:t>
                </a:r>
                <a:r>
                  <a:rPr lang="en-IN" sz="2400">
                    <a:solidFill>
                      <a:srgbClr val="111827"/>
                    </a:solidFill>
                    <a:latin typeface="Cambria Math" panose="02040503050406030204" pitchFamily="18" charset="0"/>
                  </a:rPr>
                  <a:t>$D(1,2)$</a:t>
                </a:r>
                <a:r>
                  <a:rPr sz="2400" b="0">
                    <a:solidFill>
                      <a:srgbClr val="111827"/>
                    </a:solidFill>
                    <a:latin typeface="Arial"/>
                  </a:rPr>
                  <a:t> be the vertices of a parallelogram </a:t>
                </a:r>
                <a:r>
                  <a:rPr lang="en-IN" sz="2400">
                    <a:solidFill>
                      <a:srgbClr val="111827"/>
                    </a:solidFill>
                    <a:latin typeface="Cambria Math" panose="02040503050406030204" pitchFamily="18" charset="0"/>
                  </a:rPr>
                  <a:t>$ABCD$</a:t>
                </a:r>
                <a:r>
                  <a:rPr sz="2400" b="0">
                    <a:solidFill>
                      <a:srgbClr val="111827"/>
                    </a:solidFill>
                    <a:latin typeface="Arial"/>
                  </a:rPr>
                  <a:t>. If </a:t>
                </a:r>
                <a:r>
                  <a:rPr lang="en-IN" sz="2400">
                    <a:solidFill>
                      <a:srgbClr val="111827"/>
                    </a:solidFill>
                    <a:latin typeface="Cambria Math" panose="02040503050406030204" pitchFamily="18" charset="0"/>
                  </a:rPr>
                  <a:t>$AB=\sqrt{10}$</a:t>
                </a:r>
                <a:r>
                  <a:rPr sz="2400" b="0">
                    <a:solidFill>
                      <a:srgbClr val="111827"/>
                    </a:solidFill>
                    <a:latin typeface="Arial"/>
                  </a:rPr>
                  <a:t> and the points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lie on the line </a:t>
                </a:r>
                <a:r>
                  <a:rPr lang="en-IN" sz="2400">
                    <a:solidFill>
                      <a:srgbClr val="111827"/>
                    </a:solidFill>
                    <a:latin typeface="Cambria Math" panose="02040503050406030204" pitchFamily="18" charset="0"/>
                  </a:rPr>
                  <a:t>$3y=2x+1$</a:t>
                </a:r>
                <a:r>
                  <a:rPr sz="2400" b="0">
                    <a:solidFill>
                      <a:srgbClr val="111827"/>
                    </a:solidFill>
                    <a:latin typeface="Arial"/>
                  </a:rPr>
                  <a:t>, then </a:t>
                </a:r>
                <a:r>
                  <a:rPr lang="en-IN" sz="2400">
                    <a:solidFill>
                      <a:srgbClr val="111827"/>
                    </a:solidFill>
                    <a:latin typeface="Cambria Math" panose="02040503050406030204" pitchFamily="18" charset="0"/>
                  </a:rPr>
                  <a:t>$2(\alpha+\beta+\gamma+\delta)$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$12$</a:t>
                </a:r>
                <a:r>
                  <a:rPr sz="2400" b="0">
                    <a:solidFill>
                      <a:srgbClr val="111827"/>
                    </a:solidFill>
                    <a:latin typeface="Arial"/>
                  </a:rPr>
                  <a:t>   (B) </a:t>
                </a:r>
                <a:r>
                  <a:rPr lang="en-IN" sz="2400">
                    <a:solidFill>
                      <a:srgbClr val="111827"/>
                    </a:solidFill>
                    <a:latin typeface="Cambria Math" panose="02040503050406030204" pitchFamily="18" charset="0"/>
                  </a:rPr>
                  <a:t>$10$</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a:t>
                </a:r>
                <a:r>
                  <a:rPr lang="en-IN" sz="2400">
                    <a:solidFill>
                      <a:srgbClr val="111827"/>
                    </a:solidFill>
                    <a:latin typeface="Cambria Math" panose="02040503050406030204" pitchFamily="18" charset="0"/>
                  </a:rPr>
                  <a:t>$8$</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Parallelogram: diagonals bisect each other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diagonals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of a parallelogram bisect each other, so the midpoint of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is the midpoint of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diagonals </a:t>
                </a:r>
                <a:r>
                  <a:rPr lang="en-IN" sz="2400">
                    <a:solidFill>
                      <a:srgbClr val="78350F"/>
                    </a:solidFill>
                    <a:latin typeface="Cambria Math" panose="02040503050406030204" pitchFamily="18" charset="0"/>
                  </a:rPr>
                  <a:t>$AC$</a:t>
                </a:r>
                <a:r>
                  <a:rPr sz="2400" b="0">
                    <a:solidFill>
                      <a:srgbClr val="78350F"/>
                    </a:solidFill>
                    <a:latin typeface="Arial"/>
                  </a:rPr>
                  <a:t> and </a:t>
                </a:r>
                <a:r>
                  <a:rPr lang="en-IN" sz="2400">
                    <a:solidFill>
                      <a:srgbClr val="78350F"/>
                    </a:solidFill>
                    <a:latin typeface="Cambria Math" panose="02040503050406030204" pitchFamily="18" charset="0"/>
                  </a:rPr>
                  <a:t>$BD$</a:t>
                </a:r>
                <a:r>
                  <a:rPr sz="2400" b="0">
                    <a:solidFill>
                      <a:srgbClr val="78350F"/>
                    </a:solidFill>
                    <a:latin typeface="Arial"/>
                  </a:rPr>
                  <a:t> of a parallelogram bisect each other, so the midpoint of </a:t>
                </a:r>
                <a:r>
                  <a:rPr lang="en-IN" sz="2400">
                    <a:solidFill>
                      <a:srgbClr val="78350F"/>
                    </a:solidFill>
                    <a:latin typeface="Cambria Math" panose="02040503050406030204" pitchFamily="18" charset="0"/>
                  </a:rPr>
                  <a:t>$AC$</a:t>
                </a:r>
                <a:r>
                  <a:rPr sz="2400" b="0">
                    <a:solidFill>
                      <a:srgbClr val="78350F"/>
                    </a:solidFill>
                    <a:latin typeface="Arial"/>
                  </a:rPr>
                  <a:t> is the midpoint of </a:t>
                </a:r>
                <a:r>
                  <a:rPr lang="en-IN" sz="2400">
                    <a:solidFill>
                      <a:srgbClr val="78350F"/>
                    </a:solidFill>
                    <a:latin typeface="Cambria Math" panose="02040503050406030204" pitchFamily="18" charset="0"/>
                  </a:rPr>
                  <a:t>$BD$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equals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mid-point of </a:t>
                </a:r>
                <a:r>
                  <a:rPr lang="en-IN" sz="2400">
                    <a:solidFill>
                      <a:srgbClr val="111827"/>
                    </a:solidFill>
                    <a:latin typeface="Cambria Math" panose="02040503050406030204" pitchFamily="18" charset="0"/>
                  </a:rPr>
                  <a:t>$AC$</a:t>
                </a:r>
                <a:r>
                  <a:rPr sz="2400" b="0">
                    <a:solidFill>
                      <a:srgbClr val="111827"/>
                    </a:solidFill>
                    <a:latin typeface="Arial"/>
                  </a:rPr>
                  <a:t> equals the mid-point of </a:t>
                </a:r>
                <a:r>
                  <a:rPr lang="en-IN" sz="2400">
                    <a:solidFill>
                      <a:srgbClr val="111827"/>
                    </a:solidFill>
                    <a:latin typeface="Cambria Math" panose="02040503050406030204" pitchFamily="18" charset="0"/>
                  </a:rPr>
                  <a:t>$BD$</a:t>
                </a:r>
                <a:r>
                  <a:rPr sz="2400" b="0">
                    <a:solidFill>
                      <a:srgbClr val="111827"/>
                    </a:solidFill>
                    <a:latin typeface="Arial"/>
                  </a:rPr>
                  <a:t>: </a:t>
                </a:r>
                <a:r>
                  <a:rPr lang="en-IN" sz="2400">
                    <a:solidFill>
                      <a:srgbClr val="111827"/>
                    </a:solidFill>
                    <a:latin typeface="Cambria Math" panose="02040503050406030204" pitchFamily="18" charset="0"/>
                  </a:rPr>
                  <a:t>$\left(\frac{\alpha+\gamma}{2},\frac{\beta+\delta}{2}\right)=\left(\frac{1+1}{2},\frac{0+2}{2}\right)$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$\left(\frac{\alpha+\gamma}{2},\frac{\beta+\delta}{2}\right)=(1,1)$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$\alpha+\gamma=2$</a:t>
                </a:r>
                <a:r>
                  <a:rPr sz="2400" b="0">
                    <a:solidFill>
                      <a:srgbClr val="111827"/>
                    </a:solidFill>
                    <a:latin typeface="Arial"/>
                  </a:rPr>
                  <a:t> and </a:t>
                </a:r>
                <a:r>
                  <a:rPr lang="en-IN" sz="2400">
                    <a:solidFill>
                      <a:srgbClr val="111827"/>
                    </a:solidFill>
                    <a:latin typeface="Cambria Math" panose="02040503050406030204" pitchFamily="18" charset="0"/>
                  </a:rPr>
                  <a:t>$\beta+\delta=2$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$2(\alpha+\beta+\gamma+\delta)=2(2+2)=8$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$8$</a:t>
                </a:r>
                <a:endParaRPr sz="2800">
                  <a:solidFill>
                    <a:srgbClr val="15803D"/>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all the data: find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explicitly from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10</m:t>
                        </m:r>
                      </m:e>
                    </m:rad>
                  </m:oMath>
                </a14:m>
                <a:r>
                  <a:rPr sz="2400" b="0">
                    <a:solidFill>
                      <a:srgbClr val="78350F"/>
                    </a:solidFill>
                    <a:latin typeface="Arial"/>
                  </a:rPr>
                  <a:t> and the line, then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from the midpoint, and sum.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all the data: find </a:t>
                </a:r>
                <a:r>
                  <a:rPr lang="en-IN" sz="2400">
                    <a:solidFill>
                      <a:srgbClr val="78350F"/>
                    </a:solidFill>
                    <a:latin typeface="Cambria Math" panose="02040503050406030204" pitchFamily="18" charset="0"/>
                  </a:rPr>
                  <a:t>$A$</a:t>
                </a:r>
                <a:r>
                  <a:rPr sz="2400" b="0">
                    <a:solidFill>
                      <a:srgbClr val="78350F"/>
                    </a:solidFill>
                    <a:latin typeface="Arial"/>
                  </a:rPr>
                  <a:t> explicitly from </a:t>
                </a:r>
                <a:r>
                  <a:rPr lang="en-IN" sz="2400">
                    <a:solidFill>
                      <a:srgbClr val="78350F"/>
                    </a:solidFill>
                    <a:latin typeface="Cambria Math" panose="02040503050406030204" pitchFamily="18" charset="0"/>
                  </a:rPr>
                  <a:t>$AB=\sqrt{10}$</a:t>
                </a:r>
                <a:r>
                  <a:rPr sz="2400" b="0">
                    <a:solidFill>
                      <a:srgbClr val="78350F"/>
                    </a:solidFill>
                    <a:latin typeface="Arial"/>
                  </a:rPr>
                  <a:t> and the line, then </a:t>
                </a:r>
                <a:r>
                  <a:rPr lang="en-IN" sz="2400">
                    <a:solidFill>
                      <a:srgbClr val="78350F"/>
                    </a:solidFill>
                    <a:latin typeface="Cambria Math" panose="02040503050406030204" pitchFamily="18" charset="0"/>
                  </a:rPr>
                  <a:t>$C$</a:t>
                </a:r>
                <a:r>
                  <a:rPr sz="2400" b="0">
                    <a:solidFill>
                      <a:srgbClr val="78350F"/>
                    </a:solidFill>
                    <a:latin typeface="Arial"/>
                  </a:rPr>
                  <a:t> from the midpoint, and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on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26</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13</m:t>
                        </m:r>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$A(\alpha,\beta)$</a:t>
                </a:r>
                <a:r>
                  <a:rPr sz="2400" b="0">
                    <a:solidFill>
                      <a:srgbClr val="111827"/>
                    </a:solidFill>
                    <a:latin typeface="Arial"/>
                  </a:rPr>
                  <a:t> is on </a:t>
                </a:r>
                <a:r>
                  <a:rPr lang="en-IN" sz="2400">
                    <a:solidFill>
                      <a:srgbClr val="111827"/>
                    </a:solidFill>
                    <a:latin typeface="Cambria Math" panose="02040503050406030204" pitchFamily="18" charset="0"/>
                  </a:rPr>
                  <a:t>$3y=2x+1$</a:t>
                </a:r>
                <a:r>
                  <a:rPr sz="2400" b="0">
                    <a:solidFill>
                      <a:srgbClr val="111827"/>
                    </a:solidFill>
                    <a:latin typeface="Arial"/>
                  </a:rPr>
                  <a:t> with </a:t>
                </a:r>
                <a:r>
                  <a:rPr lang="en-IN" sz="2400">
                    <a:solidFill>
                      <a:srgbClr val="111827"/>
                    </a:solidFill>
                    <a:latin typeface="Cambria Math" panose="02040503050406030204" pitchFamily="18" charset="0"/>
                  </a:rPr>
                  <a:t>$AB^2=10$</a:t>
                </a:r>
                <a:r>
                  <a:rPr sz="2400" b="0">
                    <a:solidFill>
                      <a:srgbClr val="111827"/>
                    </a:solidFill>
                    <a:latin typeface="Arial"/>
                  </a:rPr>
                  <a:t>: </a:t>
                </a:r>
                <a:r>
                  <a:rPr lang="en-IN" sz="2400">
                    <a:solidFill>
                      <a:srgbClr val="111827"/>
                    </a:solidFill>
                    <a:latin typeface="Cambria Math" panose="02040503050406030204" pitchFamily="18" charset="0"/>
                  </a:rPr>
                  <a:t>$(\alpha-1)^2+\left(\frac{2\alpha+1}{3}\right)^2=10\Rightarrow13\alpha^2-14\alpha-80=0$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$\alpha=\frac{14\pm66}{26}$</a:t>
                </a:r>
                <a:r>
                  <a:rPr sz="2400" b="0">
                    <a:solidFill>
                      <a:srgbClr val="111827"/>
                    </a:solidFill>
                    <a:latin typeface="Arial"/>
                  </a:rPr>
                  <a:t>, i.e. </a:t>
                </a:r>
                <a:r>
                  <a:rPr lang="en-IN" sz="2400">
                    <a:solidFill>
                      <a:srgbClr val="111827"/>
                    </a:solidFill>
                    <a:latin typeface="Cambria Math" panose="02040503050406030204" pitchFamily="18" charset="0"/>
                  </a:rPr>
                  <a:t>$\alpha=\frac{40}{13}$</a:t>
                </a:r>
                <a:r>
                  <a:rPr sz="2400" b="0">
                    <a:solidFill>
                      <a:srgbClr val="111827"/>
                    </a:solidFill>
                    <a:latin typeface="Arial"/>
                  </a:rPr>
                  <a:t> or </a:t>
                </a:r>
                <a:r>
                  <a:rPr lang="en-IN" sz="2400">
                    <a:solidFill>
                      <a:srgbClr val="111827"/>
                    </a:solidFill>
                    <a:latin typeface="Cambria Math" panose="02040503050406030204" pitchFamily="18" charset="0"/>
                  </a:rPr>
                  <a:t>$\alpha=-2$</a:t>
                </a:r>
                <a:r>
                  <a:rPr sz="2400" b="0">
                    <a:solidFill>
                      <a:srgbClr val="111827"/>
                    </a:solidFill>
                    <a:latin typeface="Arial"/>
                  </a:rPr>
                  <a:t>. Since </a:t>
                </a:r>
                <a:r>
                  <a:rPr lang="en-IN" sz="2400">
                    <a:solidFill>
                      <a:srgbClr val="111827"/>
                    </a:solidFill>
                    <a:latin typeface="Cambria Math" panose="02040503050406030204" pitchFamily="18" charset="0"/>
                  </a:rPr>
                  <a:t>$\alpha\in\mathbb{Z}$</a:t>
                </a:r>
                <a:r>
                  <a:rPr sz="2400" b="0">
                    <a:solidFill>
                      <a:srgbClr val="111827"/>
                    </a:solidFill>
                    <a:latin typeface="Arial"/>
                  </a:rPr>
                  <a:t>, </a:t>
                </a:r>
                <a:r>
                  <a:rPr lang="en-IN" sz="2400">
                    <a:solidFill>
                      <a:srgbClr val="111827"/>
                    </a:solidFill>
                    <a:latin typeface="Cambria Math" panose="02040503050406030204" pitchFamily="18" charset="0"/>
                  </a:rPr>
                  <a:t>$\alpha=-2$</a:t>
                </a:r>
                <a:r>
                  <a:rPr sz="2400" b="0">
                    <a:solidFill>
                      <a:srgbClr val="111827"/>
                    </a:solidFill>
                    <a:latin typeface="Arial"/>
                  </a:rPr>
                  <a:t> and </a:t>
                </a:r>
                <a:r>
                  <a:rPr lang="en-IN" sz="2400">
                    <a:solidFill>
                      <a:srgbClr val="111827"/>
                    </a:solidFill>
                    <a:latin typeface="Cambria Math" panose="02040503050406030204" pitchFamily="18" charset="0"/>
                  </a:rPr>
                  <a:t>$\beta=\frac{2(-2)+1}{3}=-1$</a:t>
                </a:r>
                <a:r>
                  <a:rPr sz="2400" b="0">
                    <a:solidFill>
                      <a:srgbClr val="111827"/>
                    </a:solidFill>
                    <a:latin typeface="Arial"/>
                  </a:rPr>
                  <a:t>, so </a:t>
                </a:r>
                <a:r>
                  <a:rPr lang="en-IN" sz="2400">
                    <a:solidFill>
                      <a:srgbClr val="111827"/>
                    </a:solidFill>
                    <a:latin typeface="Cambria Math" panose="02040503050406030204" pitchFamily="18" charset="0"/>
                  </a:rPr>
                  <a:t>$A(-2,-1)$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being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lies on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 Also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midpoint of </a:t>
                </a:r>
                <a:r>
                  <a:rPr lang="en-IN" sz="2400">
                    <a:solidFill>
                      <a:srgbClr val="111827"/>
                    </a:solidFill>
                    <a:latin typeface="Cambria Math" panose="02040503050406030204" pitchFamily="18" charset="0"/>
                  </a:rPr>
                  <a:t>$BD$</a:t>
                </a:r>
                <a:r>
                  <a:rPr sz="2400" b="0">
                    <a:solidFill>
                      <a:srgbClr val="111827"/>
                    </a:solidFill>
                    <a:latin typeface="Arial"/>
                  </a:rPr>
                  <a:t> being </a:t>
                </a:r>
                <a:r>
                  <a:rPr lang="en-IN" sz="2400">
                    <a:solidFill>
                      <a:srgbClr val="111827"/>
                    </a:solidFill>
                    <a:latin typeface="Cambria Math" panose="02040503050406030204" pitchFamily="18" charset="0"/>
                  </a:rPr>
                  <a:t>$(1,1)$</a:t>
                </a:r>
                <a:r>
                  <a:rPr sz="2400" b="0">
                    <a:solidFill>
                      <a:srgbClr val="111827"/>
                    </a:solidFill>
                    <a:latin typeface="Arial"/>
                  </a:rPr>
                  <a:t>: </a:t>
                </a:r>
                <a:r>
                  <a:rPr lang="en-IN" sz="2400">
                    <a:solidFill>
                      <a:srgbClr val="111827"/>
                    </a:solidFill>
                    <a:latin typeface="Cambria Math" panose="02040503050406030204" pitchFamily="18" charset="0"/>
                  </a:rPr>
                  <a:t>$C=(2,2)-A=(4,3)$</a:t>
                </a:r>
                <a:r>
                  <a:rPr sz="2400" b="0">
                    <a:solidFill>
                      <a:srgbClr val="111827"/>
                    </a:solidFill>
                    <a:latin typeface="Arial"/>
                  </a:rPr>
                  <a:t>, which lies on </a:t>
                </a:r>
                <a:r>
                  <a:rPr lang="en-IN" sz="2400">
                    <a:solidFill>
                      <a:srgbClr val="111827"/>
                    </a:solidFill>
                    <a:latin typeface="Cambria Math" panose="02040503050406030204" pitchFamily="18" charset="0"/>
                  </a:rPr>
                  <a:t>$3y=2x+1$</a:t>
                </a:r>
                <a:r>
                  <a:rPr sz="2400" b="0">
                    <a:solidFill>
                      <a:srgbClr val="111827"/>
                    </a:solidFill>
                    <a:latin typeface="Arial"/>
                  </a:rPr>
                  <a:t>: </a:t>
                </a:r>
                <a:r>
                  <a:rPr lang="en-IN" sz="2400">
                    <a:solidFill>
                      <a:srgbClr val="111827"/>
                    </a:solidFill>
                    <a:latin typeface="Cambria Math" panose="02040503050406030204" pitchFamily="18" charset="0"/>
                  </a:rPr>
                  <a:t>$9=9$</a:t>
                </a:r>
                <a:r>
                  <a:rPr sz="2400" b="0">
                    <a:solidFill>
                      <a:srgbClr val="111827"/>
                    </a:solidFill>
                    <a:latin typeface="Arial"/>
                  </a:rPr>
                  <a:t> ✓. Also </a:t>
                </a:r>
                <a:r>
                  <a:rPr lang="en-IN" sz="2400">
                    <a:solidFill>
                      <a:srgbClr val="111827"/>
                    </a:solidFill>
                    <a:latin typeface="Cambria Math" panose="02040503050406030204" pitchFamily="18" charset="0"/>
                  </a:rPr>
                  <a:t>$D-C=(-3,-1)=A-B$</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$2(\alpha+\beta+\gamma+\delta)=2(-2-1+4+3)=8$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$8$</a:t>
                </a:r>
                <a:endParaRPr sz="2800">
                  <a:solidFill>
                    <a:srgbClr val="15803D"/>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(vector form),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𝐷</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𝐷</m:t>
                        </m:r>
                      </m:sub>
                    </m:sSub>
                  </m:oMath>
                </a14:m>
                <a:r>
                  <a:rPr sz="2400" b="0">
                    <a:solidFill>
                      <a:srgbClr val="111827"/>
                    </a:solidFill>
                    <a:latin typeface="Arial"/>
                  </a:rPr>
                  <a:t> without solving for individual vertices.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ask whether the asked expression is a symmetric sum that the midpoint relation already gives; extra conditions (here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integrality) only confirm existence.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vertex pair on a line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integer coordinates: check the distance condition to rule out non-integer solutions such as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13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parallelogram </a:t>
                </a:r>
                <a:r>
                  <a:rPr lang="en-IN" sz="2400">
                    <a:solidFill>
                      <a:srgbClr val="111827"/>
                    </a:solidFill>
                    <a:latin typeface="Cambria Math" panose="02040503050406030204" pitchFamily="18" charset="0"/>
                  </a:rPr>
                  <a:t>$ABCD$</a:t>
                </a:r>
                <a:r>
                  <a:rPr sz="2400" b="0">
                    <a:solidFill>
                      <a:srgbClr val="111827"/>
                    </a:solidFill>
                    <a:latin typeface="Arial"/>
                  </a:rPr>
                  <a:t>: </a:t>
                </a:r>
                <a:r>
                  <a:rPr lang="en-IN" sz="2400">
                    <a:solidFill>
                      <a:srgbClr val="111827"/>
                    </a:solidFill>
                    <a:latin typeface="Cambria Math" panose="02040503050406030204" pitchFamily="18" charset="0"/>
                  </a:rPr>
                  <a:t>$A+C=B+D$</a:t>
                </a:r>
                <a:r>
                  <a:rPr sz="2400" b="0">
                    <a:solidFill>
                      <a:srgbClr val="111827"/>
                    </a:solidFill>
                    <a:latin typeface="Arial"/>
                  </a:rPr>
                  <a:t> (vector form), so </a:t>
                </a:r>
                <a:r>
                  <a:rPr lang="en-IN" sz="2400">
                    <a:solidFill>
                      <a:srgbClr val="111827"/>
                    </a:solidFill>
                    <a:latin typeface="Cambria Math" panose="02040503050406030204" pitchFamily="18" charset="0"/>
                  </a:rPr>
                  <a:t>$\alpha+\gamma=x_B+x_D$</a:t>
                </a:r>
                <a:r>
                  <a:rPr sz="2400" b="0">
                    <a:solidFill>
                      <a:srgbClr val="111827"/>
                    </a:solidFill>
                    <a:latin typeface="Arial"/>
                  </a:rPr>
                  <a:t> and </a:t>
                </a:r>
                <a:r>
                  <a:rPr lang="en-IN" sz="2400">
                    <a:solidFill>
                      <a:srgbClr val="111827"/>
                    </a:solidFill>
                    <a:latin typeface="Cambria Math" panose="02040503050406030204" pitchFamily="18" charset="0"/>
                  </a:rPr>
                  <a:t>$\beta+\delta=y_B+y_D$</a:t>
                </a:r>
                <a:r>
                  <a:rPr sz="2400" b="0">
                    <a:solidFill>
                      <a:srgbClr val="111827"/>
                    </a:solidFill>
                    <a:latin typeface="Arial"/>
                  </a:rPr>
                  <a:t> without solving for individual vertices.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ask whether the asked expression is a symmetric sum that the midpoint relation already gives; extra conditions (here </a:t>
                </a:r>
                <a:r>
                  <a:rPr lang="en-IN" sz="2400">
                    <a:solidFill>
                      <a:srgbClr val="111827"/>
                    </a:solidFill>
                    <a:latin typeface="Cambria Math" panose="02040503050406030204" pitchFamily="18" charset="0"/>
                  </a:rPr>
                  <a:t>$AB=\sqrt{10}$</a:t>
                </a:r>
                <a:r>
                  <a:rPr sz="2400" b="0">
                    <a:solidFill>
                      <a:srgbClr val="111827"/>
                    </a:solidFill>
                    <a:latin typeface="Arial"/>
                  </a:rPr>
                  <a:t>, integrality) only confirm existence.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vertex pair on a line </a:t>
                </a:r>
                <a:r>
                  <a:rPr lang="en-IN" sz="2400">
                    <a:solidFill>
                      <a:srgbClr val="111827"/>
                    </a:solidFill>
                    <a:latin typeface="Cambria Math" panose="02040503050406030204" pitchFamily="18" charset="0"/>
                  </a:rPr>
                  <a:t>$3y=2x+1$</a:t>
                </a:r>
                <a:r>
                  <a:rPr sz="2400" b="0">
                    <a:solidFill>
                      <a:srgbClr val="111827"/>
                    </a:solidFill>
                    <a:latin typeface="Arial"/>
                  </a:rPr>
                  <a:t> with integer coordinates: check the distance condition to rule out non-integer solutions such as </a:t>
                </a:r>
                <a:r>
                  <a:rPr lang="en-IN" sz="2400">
                    <a:solidFill>
                      <a:srgbClr val="111827"/>
                    </a:solidFill>
                    <a:latin typeface="Cambria Math" panose="02040503050406030204" pitchFamily="18" charset="0"/>
                  </a:rPr>
                  <a:t>$\alpha=\frac{40}{13}$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respectively denote the centroid, circumcentre and orthocentre of a triangle. Then, the distance of the point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the line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measured parallel to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6</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7</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17</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7</m:t>
                        </m:r>
                      </m:den>
                    </m:f>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$A(a,b)$</a:t>
                </a:r>
                <a:r>
                  <a:rPr sz="2400" b="0">
                    <a:solidFill>
                      <a:srgbClr val="111827"/>
                    </a:solidFill>
                    <a:latin typeface="Arial"/>
                  </a:rPr>
                  <a:t>, </a:t>
                </a:r>
                <a:r>
                  <a:rPr lang="en-IN" sz="2400">
                    <a:solidFill>
                      <a:srgbClr val="111827"/>
                    </a:solidFill>
                    <a:latin typeface="Cambria Math" panose="02040503050406030204" pitchFamily="18" charset="0"/>
                  </a:rPr>
                  <a:t>$B(3,4)$</a:t>
                </a:r>
                <a:r>
                  <a:rPr sz="2400" b="0">
                    <a:solidFill>
                      <a:srgbClr val="111827"/>
                    </a:solidFill>
                    <a:latin typeface="Arial"/>
                  </a:rPr>
                  <a:t> and </a:t>
                </a:r>
                <a:r>
                  <a:rPr lang="en-IN" sz="2400">
                    <a:solidFill>
                      <a:srgbClr val="111827"/>
                    </a:solidFill>
                    <a:latin typeface="Cambria Math" panose="02040503050406030204" pitchFamily="18" charset="0"/>
                  </a:rPr>
                  <a:t>$C(-6,-8)$</a:t>
                </a:r>
                <a:r>
                  <a:rPr sz="2400" b="0">
                    <a:solidFill>
                      <a:srgbClr val="111827"/>
                    </a:solidFill>
                    <a:latin typeface="Arial"/>
                  </a:rPr>
                  <a:t> respectively denote the centroid, circumcentre and orthocentre of a triangle. Then, the distance of the point </a:t>
                </a:r>
                <a:r>
                  <a:rPr lang="en-IN" sz="2400">
                    <a:solidFill>
                      <a:srgbClr val="111827"/>
                    </a:solidFill>
                    <a:latin typeface="Cambria Math" panose="02040503050406030204" pitchFamily="18" charset="0"/>
                  </a:rPr>
                  <a:t>$P(2a+3,7b+5)$</a:t>
                </a:r>
                <a:r>
                  <a:rPr sz="2400" b="0">
                    <a:solidFill>
                      <a:srgbClr val="111827"/>
                    </a:solidFill>
                    <a:latin typeface="Arial"/>
                  </a:rPr>
                  <a:t> from the line </a:t>
                </a:r>
                <a:r>
                  <a:rPr lang="en-IN" sz="2400">
                    <a:solidFill>
                      <a:srgbClr val="111827"/>
                    </a:solidFill>
                    <a:latin typeface="Cambria Math" panose="02040503050406030204" pitchFamily="18" charset="0"/>
                  </a:rPr>
                  <a:t>$2x+3y-4=0$</a:t>
                </a:r>
                <a:r>
                  <a:rPr sz="2400" b="0">
                    <a:solidFill>
                      <a:srgbClr val="111827"/>
                    </a:solidFill>
                    <a:latin typeface="Arial"/>
                  </a:rPr>
                  <a:t> measured parallel to the line </a:t>
                </a:r>
                <a:r>
                  <a:rPr lang="en-IN" sz="2400">
                    <a:solidFill>
                      <a:srgbClr val="111827"/>
                    </a:solidFill>
                    <a:latin typeface="Cambria Math" panose="02040503050406030204" pitchFamily="18" charset="0"/>
                  </a:rPr>
                  <a:t>$x-2y-1=0$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$\frac{17\sqrt{5}}{6}$</a:t>
                </a:r>
                <a:r>
                  <a:rPr sz="2400" b="0">
                    <a:solidFill>
                      <a:srgbClr val="111827"/>
                    </a:solidFill>
                    <a:latin typeface="Arial"/>
                  </a:rPr>
                  <a:t>   (B) </a:t>
                </a:r>
                <a:r>
                  <a:rPr lang="en-IN" sz="2400">
                    <a:solidFill>
                      <a:srgbClr val="111827"/>
                    </a:solidFill>
                    <a:latin typeface="Cambria Math" panose="02040503050406030204" pitchFamily="18" charset="0"/>
                  </a:rPr>
                  <a:t>$\frac{17\sqrt{5}}{7}$</a:t>
                </a:r>
                <a:r>
                  <a:rPr sz="2400" b="0">
                    <a:solidFill>
                      <a:srgbClr val="111827"/>
                    </a:solidFill>
                    <a:latin typeface="Arial"/>
                  </a:rPr>
                  <a:t>   (C) </a:t>
                </a:r>
                <a:r>
                  <a:rPr lang="en-IN" sz="2400">
                    <a:solidFill>
                      <a:srgbClr val="111827"/>
                    </a:solidFill>
                    <a:latin typeface="Cambria Math" panose="02040503050406030204" pitchFamily="18" charset="0"/>
                  </a:rPr>
                  <a:t>$\frac{\sqrt{5}}{17}$</a:t>
                </a:r>
                <a:r>
                  <a:rPr sz="2400" b="0">
                    <a:solidFill>
                      <a:srgbClr val="111827"/>
                    </a:solidFill>
                    <a:latin typeface="Arial"/>
                  </a:rPr>
                  <a:t>   (D) </a:t>
                </a:r>
                <a:r>
                  <a:rPr lang="en-IN" sz="2400">
                    <a:solidFill>
                      <a:srgbClr val="111827"/>
                    </a:solidFill>
                    <a:latin typeface="Cambria Math" panose="02040503050406030204" pitchFamily="18" charset="0"/>
                  </a:rPr>
                  <a:t>$\frac{15\sqrt{5}}{7}$</a:t>
                </a:r>
                <a:endParaRPr sz="2400">
                  <a:solidFill>
                    <a:srgbClr val="111827"/>
                  </a:solidFill>
                </a:endParaRPr>
              </a:p>
            </p:txBody>
          </p:sp>
        </mc:Fallback>
      </mc:AlternateContent>
      <p:sp>
        <p:nvSpPr>
          <p:cNvPr id="5" name="Rectangle 4"/>
          <p:cNvSpPr/>
          <p:nvPr/>
        </p:nvSpPr>
        <p:spPr>
          <a:xfrm>
            <a:off x="731520" y="4061968"/>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Centroid, circumcentre and orthocentre (Euler line), Distance of a point from a line along a direction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centroid divides the circumcentre-orthocentre segment in the ratio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(from the circumcentre), giving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centroid divides the circumcentre-orthocentre segment in the ratio </a:t>
                </a:r>
                <a:r>
                  <a:rPr lang="en-IN" sz="2400">
                    <a:solidFill>
                      <a:srgbClr val="78350F"/>
                    </a:solidFill>
                    <a:latin typeface="Cambria Math" panose="02040503050406030204" pitchFamily="18" charset="0"/>
                  </a:rPr>
                  <a:t>$1:2$</a:t>
                </a:r>
                <a:r>
                  <a:rPr sz="2400" b="0">
                    <a:solidFill>
                      <a:srgbClr val="78350F"/>
                    </a:solidFill>
                    <a:latin typeface="Arial"/>
                  </a:rPr>
                  <a:t> (from the circumcentre), giving </a:t>
                </a:r>
                <a:r>
                  <a:rPr lang="en-IN" sz="2400">
                    <a:solidFill>
                      <a:srgbClr val="78350F"/>
                    </a:solidFill>
                    <a:latin typeface="Cambria Math" panose="02040503050406030204" pitchFamily="18" charset="0"/>
                  </a:rPr>
                  <a:t>$(a,b)=(0,0)$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centroid divides the segment joining the orthocentre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circumcentre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through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parallel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centroid divides the segment joining the orthocentre </a:t>
                </a:r>
                <a:r>
                  <a:rPr lang="en-IN" sz="2400">
                    <a:solidFill>
                      <a:srgbClr val="111827"/>
                    </a:solidFill>
                    <a:latin typeface="Cambria Math" panose="02040503050406030204" pitchFamily="18" charset="0"/>
                  </a:rPr>
                  <a:t>$(-6,-8)$</a:t>
                </a:r>
                <a:r>
                  <a:rPr sz="2400" b="0">
                    <a:solidFill>
                      <a:srgbClr val="111827"/>
                    </a:solidFill>
                    <a:latin typeface="Arial"/>
                  </a:rPr>
                  <a:t> and the circumcentre </a:t>
                </a:r>
                <a:r>
                  <a:rPr lang="en-IN" sz="2400">
                    <a:solidFill>
                      <a:srgbClr val="111827"/>
                    </a:solidFill>
                    <a:latin typeface="Cambria Math" panose="02040503050406030204" pitchFamily="18" charset="0"/>
                  </a:rPr>
                  <a:t>$(3,4)$</a:t>
                </a:r>
                <a:r>
                  <a:rPr sz="2400" b="0">
                    <a:solidFill>
                      <a:srgbClr val="111827"/>
                    </a:solidFill>
                    <a:latin typeface="Arial"/>
                  </a:rPr>
                  <a:t> in the ratio </a:t>
                </a:r>
                <a:r>
                  <a:rPr lang="en-IN" sz="2400">
                    <a:solidFill>
                      <a:srgbClr val="111827"/>
                    </a:solidFill>
                    <a:latin typeface="Cambria Math" panose="02040503050406030204" pitchFamily="18" charset="0"/>
                  </a:rPr>
                  <a:t>$2:1$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$a=\frac{2(3)-6}{3}=0$</a:t>
                </a:r>
                <a:r>
                  <a:rPr sz="2400" b="0">
                    <a:solidFill>
                      <a:srgbClr val="111827"/>
                    </a:solidFill>
                    <a:latin typeface="Arial"/>
                  </a:rPr>
                  <a:t> and </a:t>
                </a:r>
                <a:r>
                  <a:rPr lang="en-IN" sz="2400">
                    <a:solidFill>
                      <a:srgbClr val="111827"/>
                    </a:solidFill>
                    <a:latin typeface="Cambria Math" panose="02040503050406030204" pitchFamily="18" charset="0"/>
                  </a:rPr>
                  <a:t>$b=\frac{2(4)-8}{3}=0$</a:t>
                </a:r>
                <a:r>
                  <a:rPr sz="2400" b="0">
                    <a:solidFill>
                      <a:srgbClr val="111827"/>
                    </a:solidFill>
                    <a:latin typeface="Arial"/>
                  </a:rPr>
                  <a:t>, so </a:t>
                </a:r>
                <a:r>
                  <a:rPr lang="en-IN" sz="2400">
                    <a:solidFill>
                      <a:srgbClr val="111827"/>
                    </a:solidFill>
                    <a:latin typeface="Cambria Math" panose="02040503050406030204" pitchFamily="18" charset="0"/>
                  </a:rPr>
                  <a:t>$(a,b)=(0,0)$</a:t>
                </a:r>
                <a:r>
                  <a:rPr sz="2400" b="0">
                    <a:solidFill>
                      <a:srgbClr val="111827"/>
                    </a:solidFill>
                    <a:latin typeface="Arial"/>
                  </a:rPr>
                  <a:t> and </a:t>
                </a:r>
                <a:r>
                  <a:rPr lang="en-IN" sz="2400">
                    <a:solidFill>
                      <a:srgbClr val="111827"/>
                    </a:solidFill>
                    <a:latin typeface="Cambria Math" panose="02040503050406030204" pitchFamily="18" charset="0"/>
                  </a:rPr>
                  <a:t>$P=(3,5)$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through </a:t>
                </a:r>
                <a:r>
                  <a:rPr lang="en-IN" sz="2400">
                    <a:solidFill>
                      <a:srgbClr val="111827"/>
                    </a:solidFill>
                    <a:latin typeface="Cambria Math" panose="02040503050406030204" pitchFamily="18" charset="0"/>
                  </a:rPr>
                  <a:t>$P$</a:t>
                </a:r>
                <a:r>
                  <a:rPr sz="2400" b="0">
                    <a:solidFill>
                      <a:srgbClr val="111827"/>
                    </a:solidFill>
                    <a:latin typeface="Arial"/>
                  </a:rPr>
                  <a:t> parallel to </a:t>
                </a:r>
                <a:r>
                  <a:rPr lang="en-IN" sz="2400">
                    <a:solidFill>
                      <a:srgbClr val="111827"/>
                    </a:solidFill>
                    <a:latin typeface="Cambria Math" panose="02040503050406030204" pitchFamily="18" charset="0"/>
                  </a:rPr>
                  <a:t>$x-2y-1=0$</a:t>
                </a:r>
                <a:r>
                  <a:rPr sz="2400" b="0">
                    <a:solidFill>
                      <a:srgbClr val="111827"/>
                    </a:solidFill>
                    <a:latin typeface="Arial"/>
                  </a:rPr>
                  <a:t> (slope </a:t>
                </a:r>
                <a:r>
                  <a:rPr lang="en-IN" sz="2400">
                    <a:solidFill>
                      <a:srgbClr val="111827"/>
                    </a:solidFill>
                    <a:latin typeface="Cambria Math" panose="02040503050406030204" pitchFamily="18" charset="0"/>
                  </a:rPr>
                  <a:t>$\frac{1}{2}$</a:t>
                </a:r>
                <a:r>
                  <a:rPr sz="2400" b="0">
                    <a:solidFill>
                      <a:srgbClr val="111827"/>
                    </a:solidFill>
                    <a:latin typeface="Arial"/>
                  </a:rPr>
                  <a:t>): </a:t>
                </a:r>
                <a:r>
                  <a:rPr lang="en-IN" sz="2400">
                    <a:solidFill>
                      <a:srgbClr val="111827"/>
                    </a:solidFill>
                    <a:latin typeface="Cambria Math" panose="02040503050406030204" pitchFamily="18" charset="0"/>
                  </a:rPr>
                  <a:t>$y-5=\frac{1}{2}(x-3)\Rightarrow2y-x=7$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intersection with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distance between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7</m:t>
                            </m:r>
                          </m:den>
                        </m:f>
                      </m:e>
                    </m:d>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7</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7</m:t>
                                    </m:r>
                                  </m:den>
                                </m:f>
                              </m:e>
                            </m:d>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34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17</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intersection with </a:t>
                </a:r>
                <a:r>
                  <a:rPr lang="en-IN" sz="2400">
                    <a:solidFill>
                      <a:srgbClr val="111827"/>
                    </a:solidFill>
                    <a:latin typeface="Cambria Math" panose="02040503050406030204" pitchFamily="18" charset="0"/>
                  </a:rPr>
                  <a:t>$2x+3y-4=0$</a:t>
                </a:r>
                <a:r>
                  <a:rPr sz="2400" b="0">
                    <a:solidFill>
                      <a:srgbClr val="111827"/>
                    </a:solidFill>
                    <a:latin typeface="Arial"/>
                  </a:rPr>
                  <a:t>: from </a:t>
                </a:r>
                <a:r>
                  <a:rPr lang="en-IN" sz="2400">
                    <a:solidFill>
                      <a:srgbClr val="111827"/>
                    </a:solidFill>
                    <a:latin typeface="Cambria Math" panose="02040503050406030204" pitchFamily="18" charset="0"/>
                  </a:rPr>
                  <a:t>$x=2y-7$</a:t>
                </a:r>
                <a:r>
                  <a:rPr sz="2400" b="0">
                    <a:solidFill>
                      <a:srgbClr val="111827"/>
                    </a:solidFill>
                    <a:latin typeface="Arial"/>
                  </a:rPr>
                  <a:t>, </a:t>
                </a:r>
                <a:r>
                  <a:rPr lang="en-IN" sz="2400">
                    <a:solidFill>
                      <a:srgbClr val="111827"/>
                    </a:solidFill>
                    <a:latin typeface="Cambria Math" panose="02040503050406030204" pitchFamily="18" charset="0"/>
                  </a:rPr>
                  <a:t>$4y-14+3y-4=0$</a:t>
                </a:r>
                <a:r>
                  <a:rPr sz="2400" b="0">
                    <a:solidFill>
                      <a:srgbClr val="111827"/>
                    </a:solidFill>
                    <a:latin typeface="Arial"/>
                  </a:rPr>
                  <a:t>, so </a:t>
                </a:r>
                <a:r>
                  <a:rPr lang="en-IN" sz="2400">
                    <a:solidFill>
                      <a:srgbClr val="111827"/>
                    </a:solidFill>
                    <a:latin typeface="Cambria Math" panose="02040503050406030204" pitchFamily="18" charset="0"/>
                  </a:rPr>
                  <a:t>$y=\frac{18}{7}$</a:t>
                </a:r>
                <a:r>
                  <a:rPr sz="2400" b="0">
                    <a:solidFill>
                      <a:srgbClr val="111827"/>
                    </a:solidFill>
                    <a:latin typeface="Arial"/>
                  </a:rPr>
                  <a:t> and </a:t>
                </a:r>
                <a:r>
                  <a:rPr lang="en-IN" sz="2400">
                    <a:solidFill>
                      <a:srgbClr val="111827"/>
                    </a:solidFill>
                    <a:latin typeface="Cambria Math" panose="02040503050406030204" pitchFamily="18" charset="0"/>
                  </a:rPr>
                  <a:t>$x=-\frac{13}{7}$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distance between </a:t>
                </a:r>
                <a:r>
                  <a:rPr lang="en-IN" sz="2400">
                    <a:solidFill>
                      <a:srgbClr val="111827"/>
                    </a:solidFill>
                    <a:latin typeface="Cambria Math" panose="02040503050406030204" pitchFamily="18" charset="0"/>
                  </a:rPr>
                  <a:t>$P(3,5)$</a:t>
                </a:r>
                <a:r>
                  <a:rPr sz="2400" b="0">
                    <a:solidFill>
                      <a:srgbClr val="111827"/>
                    </a:solidFill>
                    <a:latin typeface="Arial"/>
                  </a:rPr>
                  <a:t> and </a:t>
                </a:r>
                <a:r>
                  <a:rPr lang="en-IN" sz="2400">
                    <a:solidFill>
                      <a:srgbClr val="111827"/>
                    </a:solidFill>
                    <a:latin typeface="Cambria Math" panose="02040503050406030204" pitchFamily="18" charset="0"/>
                  </a:rPr>
                  <a:t>$\left(-\frac{13}{7},\frac{18}{7}\right)$</a:t>
                </a:r>
                <a:r>
                  <a:rPr sz="2400" b="0">
                    <a:solidFill>
                      <a:srgbClr val="111827"/>
                    </a:solidFill>
                    <a:latin typeface="Arial"/>
                  </a:rPr>
                  <a:t>: </a:t>
                </a:r>
                <a:r>
                  <a:rPr lang="en-IN" sz="2400">
                    <a:solidFill>
                      <a:srgbClr val="111827"/>
                    </a:solidFill>
                    <a:latin typeface="Cambria Math" panose="02040503050406030204" pitchFamily="18" charset="0"/>
                  </a:rPr>
                  <a:t>$\sqrt{\left(3+\frac{13}{7}\right)^2+\left(5-\frac{18}{7}\right)^2}=\frac{\sqrt{34^2+17^2}}{7}$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$=\frac{17\sqrt{4+1}}{7}=\frac{17\sqrt{5}}{7}$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17</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5</m:t>
                            </m:r>
                          </m:e>
                        </m:rad>
                      </m:num>
                      <m:den>
                        <m:r>
                          <a:rPr lang="en-IN" sz="2800" i="1">
                            <a:solidFill>
                              <a:srgbClr val="15803D"/>
                            </a:solidFill>
                            <a:latin typeface="Cambria Math" panose="02040503050406030204" pitchFamily="18" charset="0"/>
                          </a:rPr>
                          <m:t>7</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$\frac{17\sqrt{5}}{7}$</a:t>
                </a:r>
                <a:endParaRPr sz="2800">
                  <a:solidFill>
                    <a:srgbClr val="15803D"/>
                  </a:solidFill>
                </a:endParaRPr>
              </a:p>
            </p:txBody>
          </p:sp>
        </mc:Fallback>
      </mc:AlternateContent>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Distance along a direction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nor/>
                          </m:rPr>
                          <a:rPr lang="en-IN" sz="2400" i="1">
                            <a:solidFill>
                              <a:srgbClr val="78350F"/>
                            </a:solidFill>
                            <a:latin typeface="Cambria Math" panose="02040503050406030204" pitchFamily="18" charset="0"/>
                          </a:rPr>
                          <m:t>𝑝𝑒𝑟𝑝𝑒𝑛𝑑𝑖𝑐𝑢𝑙𝑎𝑟 𝑑𝑖𝑠𝑡𝑎𝑛𝑐𝑒</m:t>
                        </m:r>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φ</m:t>
                        </m:r>
                      </m:den>
                    </m:f>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φ</m:t>
                    </m:r>
                  </m:oMath>
                </a14:m>
                <a:r>
                  <a:rPr sz="2400" b="0">
                    <a:solidFill>
                      <a:srgbClr val="78350F"/>
                    </a:solidFill>
                    <a:latin typeface="Arial"/>
                  </a:rPr>
                  <a:t> the angle between the direction and the line.</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Distance along a direction </a:t>
                </a:r>
                <a:r>
                  <a:rPr lang="en-IN" sz="2400">
                    <a:solidFill>
                      <a:srgbClr val="78350F"/>
                    </a:solidFill>
                    <a:latin typeface="Cambria Math" panose="02040503050406030204" pitchFamily="18" charset="0"/>
                  </a:rPr>
                  <a:t>$=\frac{\text{perpendicular distance}}{\sin\varphi}$</a:t>
                </a:r>
                <a:r>
                  <a:rPr sz="2400" b="0">
                    <a:solidFill>
                      <a:srgbClr val="78350F"/>
                    </a:solidFill>
                    <a:latin typeface="Arial"/>
                  </a:rPr>
                  <a:t>, with </a:t>
                </a:r>
                <a:r>
                  <a:rPr lang="en-IN" sz="2400">
                    <a:solidFill>
                      <a:srgbClr val="78350F"/>
                    </a:solidFill>
                    <a:latin typeface="Cambria Math" panose="02040503050406030204" pitchFamily="18" charset="0"/>
                  </a:rPr>
                  <a:t>$\varphi$</a:t>
                </a:r>
                <a:r>
                  <a:rPr sz="2400" b="0">
                    <a:solidFill>
                      <a:srgbClr val="78350F"/>
                    </a:solidFill>
                    <a:latin typeface="Arial"/>
                  </a:rPr>
                  <a:t> the angle between the direction and the line.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before. Perpendicular distance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direction has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line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$P=(3,5)$</a:t>
                </a:r>
                <a:r>
                  <a:rPr sz="2400" b="0">
                    <a:solidFill>
                      <a:srgbClr val="111827"/>
                    </a:solidFill>
                    <a:latin typeface="Arial"/>
                  </a:rPr>
                  <a:t> as before. Perpendicular distance from </a:t>
                </a:r>
                <a:r>
                  <a:rPr lang="en-IN" sz="2400">
                    <a:solidFill>
                      <a:srgbClr val="111827"/>
                    </a:solidFill>
                    <a:latin typeface="Cambria Math" panose="02040503050406030204" pitchFamily="18" charset="0"/>
                  </a:rPr>
                  <a:t>$P$</a:t>
                </a:r>
                <a:r>
                  <a:rPr sz="2400" b="0">
                    <a:solidFill>
                      <a:srgbClr val="111827"/>
                    </a:solidFill>
                    <a:latin typeface="Arial"/>
                  </a:rPr>
                  <a:t> to </a:t>
                </a:r>
                <a:r>
                  <a:rPr lang="en-IN" sz="2400">
                    <a:solidFill>
                      <a:srgbClr val="111827"/>
                    </a:solidFill>
                    <a:latin typeface="Cambria Math" panose="02040503050406030204" pitchFamily="18" charset="0"/>
                  </a:rPr>
                  <a:t>$2x+3y-4=0$</a:t>
                </a:r>
                <a:r>
                  <a:rPr sz="2400" b="0">
                    <a:solidFill>
                      <a:srgbClr val="111827"/>
                    </a:solidFill>
                    <a:latin typeface="Arial"/>
                  </a:rPr>
                  <a:t> is </a:t>
                </a:r>
                <a:r>
                  <a:rPr lang="en-IN" sz="2400">
                    <a:solidFill>
                      <a:srgbClr val="111827"/>
                    </a:solidFill>
                    <a:latin typeface="Cambria Math" panose="02040503050406030204" pitchFamily="18" charset="0"/>
                  </a:rPr>
                  <a:t>$\frac{|6+15-4|}{\sqrt{13}}=\frac{17}{\sqrt{13}}$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direction has slope </a:t>
                </a:r>
                <a:r>
                  <a:rPr lang="en-IN" sz="2400">
                    <a:solidFill>
                      <a:srgbClr val="111827"/>
                    </a:solidFill>
                    <a:latin typeface="Cambria Math" panose="02040503050406030204" pitchFamily="18" charset="0"/>
                  </a:rPr>
                  <a:t>$\frac{1}{2}$</a:t>
                </a:r>
                <a:r>
                  <a:rPr sz="2400" b="0">
                    <a:solidFill>
                      <a:srgbClr val="111827"/>
                    </a:solidFill>
                    <a:latin typeface="Arial"/>
                  </a:rPr>
                  <a:t>, the line has slope </a:t>
                </a:r>
                <a:r>
                  <a:rPr lang="en-IN" sz="2400">
                    <a:solidFill>
                      <a:srgbClr val="111827"/>
                    </a:solidFill>
                    <a:latin typeface="Cambria Math" panose="02040503050406030204" pitchFamily="18" charset="0"/>
                  </a:rPr>
                  <a:t>$-\frac{2}{3}$</a:t>
                </a:r>
                <a:r>
                  <a:rPr sz="2400" b="0">
                    <a:solidFill>
                      <a:srgbClr val="111827"/>
                    </a:solidFill>
                    <a:latin typeface="Arial"/>
                  </a:rPr>
                  <a:t>: </a:t>
                </a:r>
                <a:r>
                  <a:rPr lang="en-IN" sz="2400">
                    <a:solidFill>
                      <a:srgbClr val="111827"/>
                    </a:solidFill>
                    <a:latin typeface="Cambria Math" panose="02040503050406030204" pitchFamily="18" charset="0"/>
                  </a:rPr>
                  <a:t>$\tan\varphi=\left|\frac{\frac{1}{2}+\frac{2}{3}}{1-\frac{1}{3}}\right|=\frac{7}{4}$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65</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along the direction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num>
                      <m:den>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65</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$\sin\varphi=\frac{7}{\sqrt{65}}$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along the direction </a:t>
                </a:r>
                <a:r>
                  <a:rPr lang="en-IN" sz="2400">
                    <a:solidFill>
                      <a:srgbClr val="111827"/>
                    </a:solidFill>
                    <a:latin typeface="Cambria Math" panose="02040503050406030204" pitchFamily="18" charset="0"/>
                  </a:rPr>
                  <a:t>$=\frac{17/\sqrt{13}}{7/\sqrt{65}}=\frac{17\sqrt{5}}{7}$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17</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5</m:t>
                            </m:r>
                          </m:e>
                        </m:rad>
                      </m:num>
                      <m:den>
                        <m:r>
                          <a:rPr lang="en-IN" sz="2800" i="1">
                            <a:solidFill>
                              <a:srgbClr val="15803D"/>
                            </a:solidFill>
                            <a:latin typeface="Cambria Math" panose="02040503050406030204" pitchFamily="18" charset="0"/>
                          </a:rPr>
                          <m:t>7</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$\frac{17\sqrt{5}}{7}$</a:t>
                </a:r>
                <a:endParaRPr sz="2800">
                  <a:solidFill>
                    <a:srgbClr val="15803D"/>
                  </a:solidFill>
                </a:endParaRPr>
              </a:p>
            </p:txBody>
          </p:sp>
        </mc:Fallback>
      </mc:AlternateContent>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Euler line: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are collinear with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from a line measured along a direction making angle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with it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𝑝𝑒𝑟𝑝𝑒𝑛𝑑𝑖𝑐𝑢𝑙𝑎𝑟 𝑑𝑖𝑠𝑡𝑎𝑛𝑐𝑒</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 not expect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to be non-trivial: the numbers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were chosen so that the centroid is the origin.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Euler line: </a:t>
                </a:r>
                <a:r>
                  <a:rPr lang="en-IN" sz="2400">
                    <a:solidFill>
                      <a:srgbClr val="111827"/>
                    </a:solidFill>
                    <a:latin typeface="Cambria Math" panose="02040503050406030204" pitchFamily="18" charset="0"/>
                  </a:rPr>
                  <a:t>$O$</a:t>
                </a:r>
                <a:r>
                  <a:rPr sz="2400" b="0">
                    <a:solidFill>
                      <a:srgbClr val="111827"/>
                    </a:solidFill>
                    <a:latin typeface="Arial"/>
                  </a:rPr>
                  <a:t>,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$H$</a:t>
                </a:r>
                <a:r>
                  <a:rPr sz="2400" b="0">
                    <a:solidFill>
                      <a:srgbClr val="111827"/>
                    </a:solidFill>
                    <a:latin typeface="Arial"/>
                  </a:rPr>
                  <a:t> are collinear with </a:t>
                </a:r>
                <a:r>
                  <a:rPr lang="en-IN" sz="2400">
                    <a:solidFill>
                      <a:srgbClr val="111827"/>
                    </a:solidFill>
                    <a:latin typeface="Cambria Math" panose="02040503050406030204" pitchFamily="18" charset="0"/>
                  </a:rPr>
                  <a:t>$OG:GH=1:2$</a:t>
                </a:r>
                <a:r>
                  <a:rPr sz="2400" b="0">
                    <a:solidFill>
                      <a:srgbClr val="111827"/>
                    </a:solidFill>
                    <a:latin typeface="Arial"/>
                  </a:rPr>
                  <a:t>, i.e. </a:t>
                </a:r>
                <a:r>
                  <a:rPr lang="en-IN" sz="2400">
                    <a:solidFill>
                      <a:srgbClr val="111827"/>
                    </a:solidFill>
                    <a:latin typeface="Cambria Math" panose="02040503050406030204" pitchFamily="18" charset="0"/>
                  </a:rPr>
                  <a:t>$G=\frac{2O+H}{3}$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$P$</a:t>
                </a:r>
                <a:r>
                  <a:rPr sz="2400" b="0">
                    <a:solidFill>
                      <a:srgbClr val="111827"/>
                    </a:solidFill>
                    <a:latin typeface="Arial"/>
                  </a:rPr>
                  <a:t> from a line measured along a direction making angle </a:t>
                </a:r>
                <a:r>
                  <a:rPr lang="en-IN" sz="2400">
                    <a:solidFill>
                      <a:srgbClr val="111827"/>
                    </a:solidFill>
                    <a:latin typeface="Cambria Math" panose="02040503050406030204" pitchFamily="18" charset="0"/>
                  </a:rPr>
                  <a:t>$\varphi$</a:t>
                </a:r>
                <a:r>
                  <a:rPr sz="2400" b="0">
                    <a:solidFill>
                      <a:srgbClr val="111827"/>
                    </a:solidFill>
                    <a:latin typeface="Arial"/>
                  </a:rPr>
                  <a:t> with it </a:t>
                </a:r>
                <a:r>
                  <a:rPr lang="en-IN" sz="2400">
                    <a:solidFill>
                      <a:srgbClr val="111827"/>
                    </a:solidFill>
                    <a:latin typeface="Cambria Math" panose="02040503050406030204" pitchFamily="18" charset="0"/>
                  </a:rPr>
                  <a:t>$=\frac{\text{perpendicular distance}}{\sin\varphi}$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 not expect </a:t>
                </a:r>
                <a:r>
                  <a:rPr lang="en-IN" sz="2400">
                    <a:solidFill>
                      <a:srgbClr val="111827"/>
                    </a:solidFill>
                    <a:latin typeface="Cambria Math" panose="02040503050406030204" pitchFamily="18" charset="0"/>
                  </a:rPr>
                  <a:t>$a,b$</a:t>
                </a:r>
                <a:r>
                  <a:rPr sz="2400" b="0">
                    <a:solidFill>
                      <a:srgbClr val="111827"/>
                    </a:solidFill>
                    <a:latin typeface="Arial"/>
                  </a:rPr>
                  <a:t> to be non-trivial: the numbers </a:t>
                </a:r>
                <a:r>
                  <a:rPr lang="en-IN" sz="2400">
                    <a:solidFill>
                      <a:srgbClr val="111827"/>
                    </a:solidFill>
                    <a:latin typeface="Cambria Math" panose="02040503050406030204" pitchFamily="18" charset="0"/>
                  </a:rPr>
                  <a:t>$3,4,-6,-8$</a:t>
                </a:r>
                <a:r>
                  <a:rPr sz="2400" b="0">
                    <a:solidFill>
                      <a:srgbClr val="111827"/>
                    </a:solidFill>
                    <a:latin typeface="Arial"/>
                  </a:rPr>
                  <a:t> were chosen so that the centroid is the origin.</a:t>
                </a:r>
                <a:endParaRPr sz="2400">
                  <a:solidFill>
                    <a:srgbClr val="111827"/>
                  </a:solidFill>
                </a:endParaRPr>
              </a:p>
            </p:txBody>
          </p:sp>
        </mc:Fallback>
      </mc:AlternateContent>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Q28 – Q31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sum of squares of all real values of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for which the lines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do not form a triangle is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then the greatest integer less than or equal to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sum of squares of all real values of </a:t>
                </a:r>
                <a:r>
                  <a:rPr lang="en-IN" sz="2400">
                    <a:solidFill>
                      <a:srgbClr val="111827"/>
                    </a:solidFill>
                    <a:latin typeface="Cambria Math" panose="02040503050406030204" pitchFamily="18" charset="0"/>
                  </a:rPr>
                  <a:t>$\alpha$</a:t>
                </a:r>
                <a:r>
                  <a:rPr sz="2400" b="0">
                    <a:solidFill>
                      <a:srgbClr val="111827"/>
                    </a:solidFill>
                    <a:latin typeface="Arial"/>
                  </a:rPr>
                  <a:t>, for which the lines </a:t>
                </a:r>
                <a:r>
                  <a:rPr lang="en-IN" sz="2400">
                    <a:solidFill>
                      <a:srgbClr val="111827"/>
                    </a:solidFill>
                    <a:latin typeface="Cambria Math" panose="02040503050406030204" pitchFamily="18" charset="0"/>
                  </a:rPr>
                  <a:t>$2x-y+3=0$</a:t>
                </a:r>
                <a:r>
                  <a:rPr sz="2400" b="0">
                    <a:solidFill>
                      <a:srgbClr val="111827"/>
                    </a:solidFill>
                    <a:latin typeface="Arial"/>
                  </a:rPr>
                  <a:t>, </a:t>
                </a:r>
                <a:r>
                  <a:rPr lang="en-IN" sz="2400">
                    <a:solidFill>
                      <a:srgbClr val="111827"/>
                    </a:solidFill>
                    <a:latin typeface="Cambria Math" panose="02040503050406030204" pitchFamily="18" charset="0"/>
                  </a:rPr>
                  <a:t>$6x+3y+1=0$</a:t>
                </a:r>
                <a:r>
                  <a:rPr sz="2400" b="0">
                    <a:solidFill>
                      <a:srgbClr val="111827"/>
                    </a:solidFill>
                    <a:latin typeface="Arial"/>
                  </a:rPr>
                  <a:t> and </a:t>
                </a:r>
                <a:r>
                  <a:rPr lang="en-IN" sz="2400">
                    <a:solidFill>
                      <a:srgbClr val="111827"/>
                    </a:solidFill>
                    <a:latin typeface="Cambria Math" panose="02040503050406030204" pitchFamily="18" charset="0"/>
                  </a:rPr>
                  <a:t>$\alpha x+2y-2=0$</a:t>
                </a:r>
                <a:r>
                  <a:rPr sz="2400" b="0">
                    <a:solidFill>
                      <a:srgbClr val="111827"/>
                    </a:solidFill>
                    <a:latin typeface="Arial"/>
                  </a:rPr>
                  <a:t> do not form a triangle is </a:t>
                </a:r>
                <a:r>
                  <a:rPr lang="en-IN" sz="2400">
                    <a:solidFill>
                      <a:srgbClr val="111827"/>
                    </a:solidFill>
                    <a:latin typeface="Cambria Math" panose="02040503050406030204" pitchFamily="18" charset="0"/>
                  </a:rPr>
                  <a:t>$p$</a:t>
                </a:r>
                <a:r>
                  <a:rPr sz="2400" b="0">
                    <a:solidFill>
                      <a:srgbClr val="111827"/>
                    </a:solidFill>
                    <a:latin typeface="Arial"/>
                  </a:rPr>
                  <a:t>, then the greatest integer less than or equal to </a:t>
                </a:r>
                <a:r>
                  <a:rPr lang="en-IN" sz="2400">
                    <a:solidFill>
                      <a:srgbClr val="111827"/>
                    </a:solidFill>
                    <a:latin typeface="Cambria Math" panose="02040503050406030204" pitchFamily="18" charset="0"/>
                  </a:rPr>
                  <a:t>$p$</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Concurrency and parallelism of three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Three lines fail to form a triangle iff they are concurrent or at least two are parallel.</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two lines are not parallel (slopes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three lines fail to form a triangle iff the third is concurrent with them or parallel to one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Concurrent: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6</m:t>
                              </m:r>
                            </m:e>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α</m:t>
                              </m:r>
                            </m:e>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Parallel to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(slope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two lines are not parallel (slopes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$-2$</a:t>
                </a:r>
                <a:r>
                  <a:rPr sz="2400" b="0">
                    <a:solidFill>
                      <a:srgbClr val="111827"/>
                    </a:solidFill>
                    <a:latin typeface="Arial"/>
                  </a:rPr>
                  <a:t>), so the three lines fail to form a triangle iff the third is concurrent with them or parallel to one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Concurrent: </a:t>
                </a:r>
                <a:r>
                  <a:rPr lang="en-IN" sz="2400">
                    <a:solidFill>
                      <a:srgbClr val="111827"/>
                    </a:solidFill>
                    <a:latin typeface="Cambria Math" panose="02040503050406030204" pitchFamily="18" charset="0"/>
                  </a:rPr>
                  <a:t>$\begin{vmatrix}2&amp;-1&amp;3\\6&amp;3&amp;1\\\alpha&amp;2&amp;-2\end{vmatrix}=0\Rightarrow\alpha=\frac{4}{5}$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Parallel to </a:t>
                </a:r>
                <a:r>
                  <a:rPr lang="en-IN" sz="2400">
                    <a:solidFill>
                      <a:srgbClr val="111827"/>
                    </a:solidFill>
                    <a:latin typeface="Cambria Math" panose="02040503050406030204" pitchFamily="18" charset="0"/>
                  </a:rPr>
                  <a:t>$2x-y+3=0$</a:t>
                </a:r>
                <a:r>
                  <a:rPr sz="2400" b="0">
                    <a:solidFill>
                      <a:srgbClr val="111827"/>
                    </a:solidFill>
                    <a:latin typeface="Arial"/>
                  </a:rPr>
                  <a:t> (slope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$-\frac{\alpha}{2}=2\Rightarrow\alpha=-4$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 to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 to </a:t>
                </a:r>
                <a:r>
                  <a:rPr lang="en-IN" sz="2400">
                    <a:solidFill>
                      <a:srgbClr val="111827"/>
                    </a:solidFill>
                    <a:latin typeface="Cambria Math" panose="02040503050406030204" pitchFamily="18" charset="0"/>
                  </a:rPr>
                  <a:t>$6x+3y+1=0$</a:t>
                </a:r>
                <a:r>
                  <a:rPr sz="2400" b="0">
                    <a:solidFill>
                      <a:srgbClr val="111827"/>
                    </a:solidFill>
                    <a:latin typeface="Arial"/>
                  </a:rPr>
                  <a:t> (slope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$-\frac{\alpha}{2}=-2\Rightarrow\alpha=4$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$p=\left(\frac{4}{5}\right)^2+4^2+(-4)^2=\frac{16}{25}+32=32+\frac{16}{25}$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32</a:t>
            </a:r>
            <a:endParaRPr sz="2800">
              <a:solidFill>
                <a:srgbClr val="15803D"/>
              </a:solidFill>
            </a:endParaRP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the intersection point of the first two lines, then require the third line to pass through it (no determinant).</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two lines: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adding to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Concurrency: </a:t>
                </a:r>
                <a14:m>
                  <m:oMath xmlns:m="http://schemas.openxmlformats.org/officeDocument/2006/math">
                    <m:r>
                      <a:rPr lang="en-IN" sz="2400" i="1">
                        <a:solidFill>
                          <a:srgbClr val="111827"/>
                        </a:solidFill>
                        <a:latin typeface="Cambria Math" panose="02040503050406030204" pitchFamily="18" charset="0"/>
                      </a:rPr>
                      <m:t>α</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two lines: </a:t>
                </a:r>
                <a:r>
                  <a:rPr lang="en-IN" sz="2400">
                    <a:solidFill>
                      <a:srgbClr val="111827"/>
                    </a:solidFill>
                    <a:latin typeface="Cambria Math" panose="02040503050406030204" pitchFamily="18" charset="0"/>
                  </a:rPr>
                  <a:t>$3(2x-y+3)=0$</a:t>
                </a:r>
                <a:r>
                  <a:rPr sz="2400" b="0">
                    <a:solidFill>
                      <a:srgbClr val="111827"/>
                    </a:solidFill>
                    <a:latin typeface="Arial"/>
                  </a:rPr>
                  <a:t> gives </a:t>
                </a:r>
                <a:r>
                  <a:rPr lang="en-IN" sz="2400">
                    <a:solidFill>
                      <a:srgbClr val="111827"/>
                    </a:solidFill>
                    <a:latin typeface="Cambria Math" panose="02040503050406030204" pitchFamily="18" charset="0"/>
                  </a:rPr>
                  <a:t>$6x-3y+9=0$</a:t>
                </a:r>
                <a:r>
                  <a:rPr sz="2400" b="0">
                    <a:solidFill>
                      <a:srgbClr val="111827"/>
                    </a:solidFill>
                    <a:latin typeface="Arial"/>
                  </a:rPr>
                  <a:t>; adding to </a:t>
                </a:r>
                <a:r>
                  <a:rPr lang="en-IN" sz="2400">
                    <a:solidFill>
                      <a:srgbClr val="111827"/>
                    </a:solidFill>
                    <a:latin typeface="Cambria Math" panose="02040503050406030204" pitchFamily="18" charset="0"/>
                  </a:rPr>
                  <a:t>$6x+3y+1=0$</a:t>
                </a:r>
                <a:r>
                  <a:rPr sz="2400" b="0">
                    <a:solidFill>
                      <a:srgbClr val="111827"/>
                    </a:solidFill>
                    <a:latin typeface="Arial"/>
                  </a:rPr>
                  <a:t>: </a:t>
                </a:r>
                <a:r>
                  <a:rPr lang="en-IN" sz="2400">
                    <a:solidFill>
                      <a:srgbClr val="111827"/>
                    </a:solidFill>
                    <a:latin typeface="Cambria Math" panose="02040503050406030204" pitchFamily="18" charset="0"/>
                  </a:rPr>
                  <a:t>$12x+10=0$</a:t>
                </a:r>
                <a:r>
                  <a:rPr sz="2400" b="0">
                    <a:solidFill>
                      <a:srgbClr val="111827"/>
                    </a:solidFill>
                    <a:latin typeface="Arial"/>
                  </a:rPr>
                  <a:t>, so </a:t>
                </a:r>
                <a:r>
                  <a:rPr lang="en-IN" sz="2400">
                    <a:solidFill>
                      <a:srgbClr val="111827"/>
                    </a:solidFill>
                    <a:latin typeface="Cambria Math" panose="02040503050406030204" pitchFamily="18" charset="0"/>
                  </a:rPr>
                  <a:t>$x=-\frac{5}{6}$</a:t>
                </a:r>
                <a:r>
                  <a:rPr sz="2400" b="0">
                    <a:solidFill>
                      <a:srgbClr val="111827"/>
                    </a:solidFill>
                    <a:latin typeface="Arial"/>
                  </a:rPr>
                  <a:t>, </a:t>
                </a:r>
                <a:r>
                  <a:rPr lang="en-IN" sz="2400">
                    <a:solidFill>
                      <a:srgbClr val="111827"/>
                    </a:solidFill>
                    <a:latin typeface="Cambria Math" panose="02040503050406030204" pitchFamily="18" charset="0"/>
                  </a:rPr>
                  <a:t>$y=2x+3=\frac{4}{3}$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Concurrency: </a:t>
                </a:r>
                <a:r>
                  <a:rPr lang="en-IN" sz="2400">
                    <a:solidFill>
                      <a:srgbClr val="111827"/>
                    </a:solidFill>
                    <a:latin typeface="Cambria Math" panose="02040503050406030204" pitchFamily="18" charset="0"/>
                  </a:rPr>
                  <a:t>$\alpha\left(-\frac{5}{6}\right)+2\cdot\frac{4}{3}-2=0\Rightarrow-\frac{5\alpha}{6}+\frac{2}{3}=0\Rightarrow\alpha=\frac{4}{5}$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 cases: slope of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which must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32.64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 cases: slope of </a:t>
                </a:r>
                <a:r>
                  <a:rPr lang="en-IN" sz="2400">
                    <a:solidFill>
                      <a:srgbClr val="111827"/>
                    </a:solidFill>
                    <a:latin typeface="Cambria Math" panose="02040503050406030204" pitchFamily="18" charset="0"/>
                  </a:rPr>
                  <a:t>$\alpha x+2y-2=0$</a:t>
                </a:r>
                <a:r>
                  <a:rPr sz="2400" b="0">
                    <a:solidFill>
                      <a:srgbClr val="111827"/>
                    </a:solidFill>
                    <a:latin typeface="Arial"/>
                  </a:rPr>
                  <a:t> is </a:t>
                </a:r>
                <a:r>
                  <a:rPr lang="en-IN" sz="2400">
                    <a:solidFill>
                      <a:srgbClr val="111827"/>
                    </a:solidFill>
                    <a:latin typeface="Cambria Math" panose="02040503050406030204" pitchFamily="18" charset="0"/>
                  </a:rPr>
                  <a:t>$-\frac{\alpha}{2}$</a:t>
                </a:r>
                <a:r>
                  <a:rPr sz="2400" b="0">
                    <a:solidFill>
                      <a:srgbClr val="111827"/>
                    </a:solidFill>
                    <a:latin typeface="Arial"/>
                  </a:rPr>
                  <a:t>, which must be </a:t>
                </a:r>
                <a:r>
                  <a:rPr lang="en-IN" sz="2400">
                    <a:solidFill>
                      <a:srgbClr val="111827"/>
                    </a:solidFill>
                    <a:latin typeface="Cambria Math" panose="02040503050406030204" pitchFamily="18" charset="0"/>
                  </a:rPr>
                  <a:t>$\pm2$</a:t>
                </a:r>
                <a:r>
                  <a:rPr sz="2400" b="0">
                    <a:solidFill>
                      <a:srgbClr val="111827"/>
                    </a:solidFill>
                    <a:latin typeface="Arial"/>
                  </a:rPr>
                  <a:t>: </a:t>
                </a:r>
                <a:r>
                  <a:rPr lang="en-IN" sz="2400">
                    <a:solidFill>
                      <a:srgbClr val="111827"/>
                    </a:solidFill>
                    <a:latin typeface="Cambria Math" panose="02040503050406030204" pitchFamily="18" charset="0"/>
                  </a:rPr>
                  <a:t>$\alpha=\mp4$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$p=\frac{16}{25}+16+16=32.64$</a:t>
                </a:r>
                <a:r>
                  <a:rPr sz="2400" b="0">
                    <a:solidFill>
                      <a:srgbClr val="111827"/>
                    </a:solidFill>
                    <a:latin typeface="Arial"/>
                  </a:rPr>
                  <a:t>, so </a:t>
                </a:r>
                <a:r>
                  <a:rPr lang="en-IN" sz="2400">
                    <a:solidFill>
                      <a:srgbClr val="111827"/>
                    </a:solidFill>
                    <a:latin typeface="Cambria Math" panose="02040503050406030204" pitchFamily="18" charset="0"/>
                  </a:rPr>
                  <a:t>$[p]=32$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32</a:t>
            </a:r>
            <a:endParaRPr sz="2800">
              <a:solidFill>
                <a:srgbClr val="15803D"/>
              </a:solidFill>
            </a:endParaRP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lines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concurrent iff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(when no two are parallel).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fail to form a triangle if concurrent or if some two are parallel - list both cases separately and do not double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numerical answer ask for the greatest integer function only at the end: keep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exact first.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lines </a:t>
                </a:r>
                <a:r>
                  <a:rPr lang="en-IN" sz="2400">
                    <a:solidFill>
                      <a:srgbClr val="111827"/>
                    </a:solidFill>
                    <a:latin typeface="Cambria Math" panose="02040503050406030204" pitchFamily="18" charset="0"/>
                  </a:rPr>
                  <a:t>$a_ix+b_iy+c_i=0$</a:t>
                </a:r>
                <a:r>
                  <a:rPr sz="2400" b="0">
                    <a:solidFill>
                      <a:srgbClr val="111827"/>
                    </a:solidFill>
                    <a:latin typeface="Arial"/>
                  </a:rPr>
                  <a:t> are concurrent iff </a:t>
                </a:r>
                <a:r>
                  <a:rPr lang="en-IN" sz="2400">
                    <a:solidFill>
                      <a:srgbClr val="111827"/>
                    </a:solidFill>
                    <a:latin typeface="Cambria Math" panose="02040503050406030204" pitchFamily="18" charset="0"/>
                  </a:rPr>
                  <a:t>$\det[a_i,b_i,c_i]=0$</a:t>
                </a:r>
                <a:r>
                  <a:rPr sz="2400" b="0">
                    <a:solidFill>
                      <a:srgbClr val="111827"/>
                    </a:solidFill>
                    <a:latin typeface="Arial"/>
                  </a:rPr>
                  <a:t> (when no two are parallel).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fail to form a triangle if concurrent or if some two are parallel - list both cases separately and do not double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numerical answer ask for the greatest integer function only at the end: keep </a:t>
                </a:r>
                <a:r>
                  <a:rPr lang="en-IN" sz="2400">
                    <a:solidFill>
                      <a:srgbClr val="111827"/>
                    </a:solidFill>
                    <a:latin typeface="Cambria Math" panose="02040503050406030204" pitchFamily="18" charset="0"/>
                  </a:rPr>
                  <a:t>$p$</a:t>
                </a:r>
                <a:r>
                  <a:rPr sz="2400" b="0">
                    <a:solidFill>
                      <a:srgbClr val="111827"/>
                    </a:solidFill>
                    <a:latin typeface="Arial"/>
                  </a:rPr>
                  <a:t> exact first.</a:t>
                </a:r>
                <a:endParaRPr sz="2400">
                  <a:solidFill>
                    <a:srgbClr val="111827"/>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for any three distinct consecutive terms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of an A.P., the lines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 concurrent at the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point such that the system of equations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has infinitely many solutions.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for any three distinct consecutive terms </a:t>
                </a:r>
                <a:r>
                  <a:rPr lang="en-IN" sz="2400">
                    <a:solidFill>
                      <a:srgbClr val="111827"/>
                    </a:solidFill>
                    <a:latin typeface="Cambria Math" panose="02040503050406030204" pitchFamily="18" charset="0"/>
                  </a:rPr>
                  <a:t>$a,b,c$</a:t>
                </a:r>
                <a:r>
                  <a:rPr sz="2400" b="0">
                    <a:solidFill>
                      <a:srgbClr val="111827"/>
                    </a:solidFill>
                    <a:latin typeface="Arial"/>
                  </a:rPr>
                  <a:t> of an A.P., the lines </a:t>
                </a:r>
                <a:r>
                  <a:rPr lang="en-IN" sz="2400">
                    <a:solidFill>
                      <a:srgbClr val="111827"/>
                    </a:solidFill>
                    <a:latin typeface="Cambria Math" panose="02040503050406030204" pitchFamily="18" charset="0"/>
                  </a:rPr>
                  <a:t>$ax+by+c=0$</a:t>
                </a:r>
                <a:r>
                  <a:rPr sz="2400" b="0">
                    <a:solidFill>
                      <a:srgbClr val="111827"/>
                    </a:solidFill>
                    <a:latin typeface="Arial"/>
                  </a:rPr>
                  <a:t> be concurrent at the point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$Q(\alpha,\beta)$</a:t>
                </a:r>
                <a:r>
                  <a:rPr sz="2400" b="0">
                    <a:solidFill>
                      <a:srgbClr val="111827"/>
                    </a:solidFill>
                    <a:latin typeface="Arial"/>
                  </a:rPr>
                  <a:t> be a point such that the system of equations </a:t>
                </a:r>
                <a:r>
                  <a:rPr lang="en-IN" sz="2400">
                    <a:solidFill>
                      <a:srgbClr val="111827"/>
                    </a:solidFill>
                    <a:latin typeface="Cambria Math" panose="02040503050406030204" pitchFamily="18" charset="0"/>
                  </a:rPr>
                  <a:t>$x+y+z=6$</a:t>
                </a:r>
                <a:r>
                  <a:rPr sz="2400" b="0">
                    <a:solidFill>
                      <a:srgbClr val="111827"/>
                    </a:solidFill>
                    <a:latin typeface="Arial"/>
                  </a:rPr>
                  <a:t>, </a:t>
                </a:r>
                <a:r>
                  <a:rPr lang="en-IN" sz="2400">
                    <a:solidFill>
                      <a:srgbClr val="111827"/>
                    </a:solidFill>
                    <a:latin typeface="Cambria Math" panose="02040503050406030204" pitchFamily="18" charset="0"/>
                  </a:rPr>
                  <a:t>$2x+5y+\alpha z=\beta$</a:t>
                </a:r>
                <a:r>
                  <a:rPr sz="2400" b="0">
                    <a:solidFill>
                      <a:srgbClr val="111827"/>
                    </a:solidFill>
                    <a:latin typeface="Arial"/>
                  </a:rPr>
                  <a:t> and </a:t>
                </a:r>
                <a:r>
                  <a:rPr lang="en-IN" sz="2400">
                    <a:solidFill>
                      <a:srgbClr val="111827"/>
                    </a:solidFill>
                    <a:latin typeface="Cambria Math" panose="02040503050406030204" pitchFamily="18" charset="0"/>
                  </a:rPr>
                  <a:t>$x+2y+3z=4$</a:t>
                </a:r>
                <a:r>
                  <a:rPr sz="2400" b="0">
                    <a:solidFill>
                      <a:srgbClr val="111827"/>
                    </a:solidFill>
                    <a:latin typeface="Arial"/>
                  </a:rPr>
                  <a:t>, has infinitely many solutions. Then </a:t>
                </a:r>
                <a:r>
                  <a:rPr lang="en-IN" sz="2400">
                    <a:solidFill>
                      <a:srgbClr val="111827"/>
                    </a:solidFill>
                    <a:latin typeface="Cambria Math" panose="02040503050406030204" pitchFamily="18" charset="0"/>
                  </a:rPr>
                  <a:t>$(PQ)^2$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Concurrent lines in an A.P. condition, Consistency of a system of linear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 an A.P. means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satisfies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infinitely many solutions needs </a:t>
                </a:r>
                <a14:m>
                  <m:oMath xmlns:m="http://schemas.openxmlformats.org/officeDocument/2006/math">
                    <m:r>
                      <m:rPr>
                        <m:sty m:val="p"/>
                      </m:rPr>
                      <a:rPr lang="en-IN" sz="2400">
                        <a:solidFill>
                          <a:srgbClr val="78350F"/>
                        </a:solidFill>
                        <a:latin typeface="Cambria Math" panose="02040503050406030204" pitchFamily="18" charset="0"/>
                      </a:rPr>
                      <m:t>Δ</m:t>
                    </m:r>
                    <m:r>
                      <m:rPr>
                        <m:sty m:val="p"/>
                      </m:rPr>
                      <a:rPr lang="en-IN" sz="2400">
                        <a:solidFill>
                          <a:srgbClr val="78350F"/>
                        </a:solidFill>
                        <a:latin typeface="Cambria Math" panose="02040503050406030204" pitchFamily="18" charset="0"/>
                      </a:rPr>
                      <m:t>=</m:t>
                    </m:r>
                    <m:sSub>
                      <m:e>
                        <m:r>
                          <m:rPr>
                            <m:sty m:val="p"/>
                          </m:rPr>
                          <a:rPr lang="en-IN" sz="2400">
                            <a:solidFill>
                              <a:srgbClr val="78350F"/>
                            </a:solidFill>
                            <a:latin typeface="Cambria Math" panose="02040503050406030204" pitchFamily="18" charset="0"/>
                          </a:rPr>
                          <m:t>Δ</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m:rPr>
                            <m:sty m:val="p"/>
                          </m:rPr>
                          <a:rPr lang="en-IN" sz="2400">
                            <a:solidFill>
                              <a:srgbClr val="78350F"/>
                            </a:solidFill>
                            <a:latin typeface="Cambria Math" panose="02040503050406030204" pitchFamily="18" charset="0"/>
                          </a:rPr>
                          <m:t>Δ</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m:rPr>
                            <m:sty m:val="p"/>
                          </m:rPr>
                          <a:rPr lang="en-IN" sz="2400">
                            <a:solidFill>
                              <a:srgbClr val="78350F"/>
                            </a:solidFill>
                            <a:latin typeface="Cambria Math" panose="02040503050406030204" pitchFamily="18" charset="0"/>
                          </a:rPr>
                          <m:t>Δ</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$a-2b+c=0$</a:t>
                </a:r>
                <a:r>
                  <a:rPr sz="2400" b="0">
                    <a:solidFill>
                      <a:srgbClr val="78350F"/>
                    </a:solidFill>
                    <a:latin typeface="Arial"/>
                  </a:rPr>
                  <a:t> for an A.P. means </a:t>
                </a:r>
                <a:r>
                  <a:rPr lang="en-IN" sz="2400">
                    <a:solidFill>
                      <a:srgbClr val="78350F"/>
                    </a:solidFill>
                    <a:latin typeface="Cambria Math" panose="02040503050406030204" pitchFamily="18" charset="0"/>
                  </a:rPr>
                  <a:t>$x=1,y=-2$</a:t>
                </a:r>
                <a:r>
                  <a:rPr sz="2400" b="0">
                    <a:solidFill>
                      <a:srgbClr val="78350F"/>
                    </a:solidFill>
                    <a:latin typeface="Arial"/>
                  </a:rPr>
                  <a:t> satisfies </a:t>
                </a:r>
                <a:r>
                  <a:rPr lang="en-IN" sz="2400">
                    <a:solidFill>
                      <a:srgbClr val="78350F"/>
                    </a:solidFill>
                    <a:latin typeface="Cambria Math" panose="02040503050406030204" pitchFamily="18" charset="0"/>
                  </a:rPr>
                  <a:t>$ax+by+c=0$</a:t>
                </a:r>
                <a:r>
                  <a:rPr sz="2400" b="0">
                    <a:solidFill>
                      <a:srgbClr val="78350F"/>
                    </a:solidFill>
                    <a:latin typeface="Arial"/>
                  </a:rPr>
                  <a:t>; infinitely many solutions needs </a:t>
                </a:r>
                <a:r>
                  <a:rPr lang="en-IN" sz="2400">
                    <a:solidFill>
                      <a:srgbClr val="78350F"/>
                    </a:solidFill>
                    <a:latin typeface="Cambria Math" panose="02040503050406030204" pitchFamily="18" charset="0"/>
                  </a:rPr>
                  <a:t>$\Delta=\Delta_1=\Delta_2=\Delta_3=0$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in A.P.: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says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every such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all the lines are concurrent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system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a:t>
                </a:r>
                <a:r>
                  <a:rPr sz="2400" b="0">
                    <a:solidFill>
                      <a:srgbClr val="111827"/>
                    </a:solidFill>
                    <a:latin typeface="Arial"/>
                  </a:rPr>
                  <a:t> are in A.P.: </a:t>
                </a:r>
                <a:r>
                  <a:rPr lang="en-IN" sz="2400">
                    <a:solidFill>
                      <a:srgbClr val="111827"/>
                    </a:solidFill>
                    <a:latin typeface="Cambria Math" panose="02040503050406030204" pitchFamily="18" charset="0"/>
                  </a:rPr>
                  <a:t>$b-a=c-b\Rightarrow a-2b+c=0$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says </a:t>
                </a:r>
                <a:r>
                  <a:rPr lang="en-IN" sz="2400">
                    <a:solidFill>
                      <a:srgbClr val="111827"/>
                    </a:solidFill>
                    <a:latin typeface="Cambria Math" panose="02040503050406030204" pitchFamily="18" charset="0"/>
                  </a:rPr>
                  <a:t>$(x,y)=(1,-2)$</a:t>
                </a:r>
                <a:r>
                  <a:rPr sz="2400" b="0">
                    <a:solidFill>
                      <a:srgbClr val="111827"/>
                    </a:solidFill>
                    <a:latin typeface="Arial"/>
                  </a:rPr>
                  <a:t> satisfies </a:t>
                </a:r>
                <a:r>
                  <a:rPr lang="en-IN" sz="2400">
                    <a:solidFill>
                      <a:srgbClr val="111827"/>
                    </a:solidFill>
                    <a:latin typeface="Cambria Math" panose="02040503050406030204" pitchFamily="18" charset="0"/>
                  </a:rPr>
                  <a:t>$ax+by+c=0$</a:t>
                </a:r>
                <a:r>
                  <a:rPr sz="2400" b="0">
                    <a:solidFill>
                      <a:srgbClr val="111827"/>
                    </a:solidFill>
                    <a:latin typeface="Arial"/>
                  </a:rPr>
                  <a:t> for every such </a:t>
                </a:r>
                <a:r>
                  <a:rPr lang="en-IN" sz="2400">
                    <a:solidFill>
                      <a:srgbClr val="111827"/>
                    </a:solidFill>
                    <a:latin typeface="Cambria Math" panose="02040503050406030204" pitchFamily="18" charset="0"/>
                  </a:rPr>
                  <a:t>$(a,b,c)$</a:t>
                </a:r>
                <a:r>
                  <a:rPr sz="2400" b="0">
                    <a:solidFill>
                      <a:srgbClr val="111827"/>
                    </a:solidFill>
                    <a:latin typeface="Arial"/>
                  </a:rPr>
                  <a:t>, so all the lines are concurrent at </a:t>
                </a:r>
                <a:r>
                  <a:rPr lang="en-IN" sz="2400">
                    <a:solidFill>
                      <a:srgbClr val="111827"/>
                    </a:solidFill>
                    <a:latin typeface="Cambria Math" panose="02040503050406030204" pitchFamily="18" charset="0"/>
                  </a:rPr>
                  <a:t>$P(1,-2)$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system </a:t>
                </a:r>
                <a:r>
                  <a:rPr lang="en-IN" sz="2400">
                    <a:solidFill>
                      <a:srgbClr val="111827"/>
                    </a:solidFill>
                    <a:latin typeface="Cambria Math" panose="02040503050406030204" pitchFamily="18" charset="0"/>
                  </a:rPr>
                  <a:t>$x+y+z=6$</a:t>
                </a:r>
                <a:r>
                  <a:rPr sz="2400" b="0">
                    <a:solidFill>
                      <a:srgbClr val="111827"/>
                    </a:solidFill>
                    <a:latin typeface="Arial"/>
                  </a:rPr>
                  <a:t>, </a:t>
                </a:r>
                <a:r>
                  <a:rPr lang="en-IN" sz="2400">
                    <a:solidFill>
                      <a:srgbClr val="111827"/>
                    </a:solidFill>
                    <a:latin typeface="Cambria Math" panose="02040503050406030204" pitchFamily="18" charset="0"/>
                  </a:rPr>
                  <a:t>$2x+5y+\alpha z=\beta$</a:t>
                </a:r>
                <a:r>
                  <a:rPr sz="2400" b="0">
                    <a:solidFill>
                      <a:srgbClr val="111827"/>
                    </a:solidFill>
                    <a:latin typeface="Arial"/>
                  </a:rPr>
                  <a:t>, </a:t>
                </a:r>
                <a:r>
                  <a:rPr lang="en-IN" sz="2400">
                    <a:solidFill>
                      <a:srgbClr val="111827"/>
                    </a:solidFill>
                    <a:latin typeface="Cambria Math" panose="02040503050406030204" pitchFamily="18" charset="0"/>
                  </a:rPr>
                  <a:t>$x+2y+3z=4$</a:t>
                </a:r>
                <a:r>
                  <a:rPr sz="2400" b="0">
                    <a:solidFill>
                      <a:srgbClr val="111827"/>
                    </a:solidFill>
                    <a:latin typeface="Arial"/>
                  </a:rPr>
                  <a:t>: </a:t>
                </a:r>
                <a:r>
                  <a:rPr lang="en-IN" sz="2400">
                    <a:solidFill>
                      <a:srgbClr val="111827"/>
                    </a:solidFill>
                    <a:latin typeface="Cambria Math" panose="02040503050406030204" pitchFamily="18" charset="0"/>
                  </a:rPr>
                  <a:t>$\Delta=8-\alpha$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Infinitely many solutions requires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(these also satisfy </a:t>
                </a:r>
                <a14:m>
                  <m:oMath xmlns:m="http://schemas.openxmlformats.org/officeDocument/2006/math">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$\Delta_1=-8\alpha-\beta+70$</a:t>
                </a:r>
                <a:r>
                  <a:rPr sz="2400" b="0">
                    <a:solidFill>
                      <a:srgbClr val="111827"/>
                    </a:solidFill>
                    <a:latin typeface="Arial"/>
                  </a:rPr>
                  <a:t>, </a:t>
                </a:r>
                <a:r>
                  <a:rPr lang="en-IN" sz="2400">
                    <a:solidFill>
                      <a:srgbClr val="111827"/>
                    </a:solidFill>
                    <a:latin typeface="Cambria Math" panose="02040503050406030204" pitchFamily="18" charset="0"/>
                  </a:rPr>
                  <a:t>$\Delta_2=2\alpha+2\beta-28$</a:t>
                </a:r>
                <a:r>
                  <a:rPr sz="2400" b="0">
                    <a:solidFill>
                      <a:srgbClr val="111827"/>
                    </a:solidFill>
                    <a:latin typeface="Arial"/>
                  </a:rPr>
                  <a:t>, </a:t>
                </a:r>
                <a:r>
                  <a:rPr lang="en-IN" sz="2400">
                    <a:solidFill>
                      <a:srgbClr val="111827"/>
                    </a:solidFill>
                    <a:latin typeface="Cambria Math" panose="02040503050406030204" pitchFamily="18" charset="0"/>
                  </a:rPr>
                  <a:t>$\Delta_3=6-\beta$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Infinitely many solutions requires </a:t>
                </a:r>
                <a:r>
                  <a:rPr lang="en-IN" sz="2400">
                    <a:solidFill>
                      <a:srgbClr val="111827"/>
                    </a:solidFill>
                    <a:latin typeface="Cambria Math" panose="02040503050406030204" pitchFamily="18" charset="0"/>
                  </a:rPr>
                  <a:t>$\Delta=\Delta_1=\Delta_2=\Delta_3=0$</a:t>
                </a:r>
                <a:r>
                  <a:rPr sz="2400" b="0">
                    <a:solidFill>
                      <a:srgbClr val="111827"/>
                    </a:solidFill>
                    <a:latin typeface="Arial"/>
                  </a:rPr>
                  <a:t>, so </a:t>
                </a:r>
                <a:r>
                  <a:rPr lang="en-IN" sz="2400">
                    <a:solidFill>
                      <a:srgbClr val="111827"/>
                    </a:solidFill>
                    <a:latin typeface="Cambria Math" panose="02040503050406030204" pitchFamily="18" charset="0"/>
                  </a:rPr>
                  <a:t>$\alpha=8$</a:t>
                </a:r>
                <a:r>
                  <a:rPr sz="2400" b="0">
                    <a:solidFill>
                      <a:srgbClr val="111827"/>
                    </a:solidFill>
                    <a:latin typeface="Arial"/>
                  </a:rPr>
                  <a:t> and </a:t>
                </a:r>
                <a:r>
                  <a:rPr lang="en-IN" sz="2400">
                    <a:solidFill>
                      <a:srgbClr val="111827"/>
                    </a:solidFill>
                    <a:latin typeface="Cambria Math" panose="02040503050406030204" pitchFamily="18" charset="0"/>
                  </a:rPr>
                  <a:t>$\beta=6$</a:t>
                </a:r>
                <a:r>
                  <a:rPr sz="2400" b="0">
                    <a:solidFill>
                      <a:srgbClr val="111827"/>
                    </a:solidFill>
                    <a:latin typeface="Arial"/>
                  </a:rPr>
                  <a:t> (these also satisfy </a:t>
                </a:r>
                <a:r>
                  <a:rPr lang="en-IN" sz="2400">
                    <a:solidFill>
                      <a:srgbClr val="111827"/>
                    </a:solidFill>
                    <a:latin typeface="Cambria Math" panose="02040503050406030204" pitchFamily="18" charset="0"/>
                  </a:rPr>
                  <a:t>$\Delta_1=\Delta_2=0$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$Q=(8,6)$</a:t>
                </a:r>
                <a:r>
                  <a:rPr sz="2400" b="0">
                    <a:solidFill>
                      <a:srgbClr val="111827"/>
                    </a:solidFill>
                    <a:latin typeface="Arial"/>
                  </a:rPr>
                  <a:t> and </a:t>
                </a:r>
                <a:r>
                  <a:rPr lang="en-IN" sz="2400">
                    <a:solidFill>
                      <a:srgbClr val="111827"/>
                    </a:solidFill>
                    <a:latin typeface="Cambria Math" panose="02040503050406030204" pitchFamily="18" charset="0"/>
                  </a:rPr>
                  <a:t>$P=(1,-2)$</a:t>
                </a:r>
                <a:r>
                  <a:rPr sz="2400" b="0">
                    <a:solidFill>
                      <a:srgbClr val="111827"/>
                    </a:solidFill>
                    <a:latin typeface="Arial"/>
                  </a:rPr>
                  <a:t>, so </a:t>
                </a:r>
                <a:r>
                  <a:rPr lang="en-IN" sz="2400">
                    <a:solidFill>
                      <a:srgbClr val="111827"/>
                    </a:solidFill>
                    <a:latin typeface="Cambria Math" panose="02040503050406030204" pitchFamily="18" charset="0"/>
                  </a:rPr>
                  <a:t>$(PQ)^2=7^2+8^2=113$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113</a:t>
            </a:r>
            <a:endParaRPr sz="2800">
              <a:solidFill>
                <a:srgbClr val="15803D"/>
              </a:solidFill>
            </a:endParaRP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Row-reduce the system: infinitely many solutions needs the reduced last row to be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Row-reduce the system: infinitely many solutions needs the reduced last row to be </a:t>
                </a:r>
                <a:r>
                  <a:rPr lang="en-IN" sz="2400">
                    <a:solidFill>
                      <a:srgbClr val="78350F"/>
                    </a:solidFill>
                    <a:latin typeface="Cambria Math" panose="02040503050406030204" pitchFamily="18" charset="0"/>
                  </a:rPr>
                  <a:t>$0=0$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Infinitely many solutions means this equation is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$R_2-2R_1$</a:t>
                </a:r>
                <a:r>
                  <a:rPr sz="2400" b="0">
                    <a:solidFill>
                      <a:srgbClr val="111827"/>
                    </a:solidFill>
                    <a:latin typeface="Arial"/>
                  </a:rPr>
                  <a:t>: </a:t>
                </a:r>
                <a:r>
                  <a:rPr lang="en-IN" sz="2400">
                    <a:solidFill>
                      <a:srgbClr val="111827"/>
                    </a:solidFill>
                    <a:latin typeface="Cambria Math" panose="02040503050406030204" pitchFamily="18" charset="0"/>
                  </a:rPr>
                  <a:t>$3y+(\alpha-2)z=\beta-12$</a:t>
                </a:r>
                <a:r>
                  <a:rPr sz="2400" b="0">
                    <a:solidFill>
                      <a:srgbClr val="111827"/>
                    </a:solidFill>
                    <a:latin typeface="Arial"/>
                  </a:rPr>
                  <a:t>. </a:t>
                </a:r>
                <a:r>
                  <a:rPr lang="en-IN" sz="2400">
                    <a:solidFill>
                      <a:srgbClr val="111827"/>
                    </a:solidFill>
                    <a:latin typeface="Cambria Math" panose="02040503050406030204" pitchFamily="18" charset="0"/>
                  </a:rPr>
                  <a:t>$R_3-R_1$</a:t>
                </a:r>
                <a:r>
                  <a:rPr sz="2400" b="0">
                    <a:solidFill>
                      <a:srgbClr val="111827"/>
                    </a:solidFill>
                    <a:latin typeface="Arial"/>
                  </a:rPr>
                  <a:t>: </a:t>
                </a:r>
                <a:r>
                  <a:rPr lang="en-IN" sz="2400">
                    <a:solidFill>
                      <a:srgbClr val="111827"/>
                    </a:solidFill>
                    <a:latin typeface="Cambria Math" panose="02040503050406030204" pitchFamily="18" charset="0"/>
                  </a:rPr>
                  <a:t>$y+2z=-2$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Eliminate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$(3y+(\alpha-2)z)-3(y+2z)=\beta-12+6\Rightarrow(\alpha-8)z=\beta-6$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Infinitely many solutions means this equation is </a:t>
                </a:r>
                <a:r>
                  <a:rPr lang="en-IN" sz="2400">
                    <a:solidFill>
                      <a:srgbClr val="111827"/>
                    </a:solidFill>
                    <a:latin typeface="Cambria Math" panose="02040503050406030204" pitchFamily="18" charset="0"/>
                  </a:rPr>
                  <a:t>$0\cdot z=0$</a:t>
                </a:r>
                <a:r>
                  <a:rPr sz="2400" b="0">
                    <a:solidFill>
                      <a:srgbClr val="111827"/>
                    </a:solidFill>
                    <a:latin typeface="Arial"/>
                  </a:rPr>
                  <a:t>: </a:t>
                </a:r>
                <a:r>
                  <a:rPr lang="en-IN" sz="2400">
                    <a:solidFill>
                      <a:srgbClr val="111827"/>
                    </a:solidFill>
                    <a:latin typeface="Cambria Math" panose="02040503050406030204" pitchFamily="18" charset="0"/>
                  </a:rPr>
                  <a:t>$\alpha=8$</a:t>
                </a:r>
                <a:r>
                  <a:rPr sz="2400" b="0">
                    <a:solidFill>
                      <a:srgbClr val="111827"/>
                    </a:solidFill>
                    <a:latin typeface="Arial"/>
                  </a:rPr>
                  <a:t> and </a:t>
                </a:r>
                <a:r>
                  <a:rPr lang="en-IN" sz="2400">
                    <a:solidFill>
                      <a:srgbClr val="111827"/>
                    </a:solidFill>
                    <a:latin typeface="Cambria Math" panose="02040503050406030204" pitchFamily="18" charset="0"/>
                  </a:rPr>
                  <a:t>$\beta=6$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$P(1,-2)$</a:t>
                </a:r>
                <a:r>
                  <a:rPr sz="2400" b="0">
                    <a:solidFill>
                      <a:srgbClr val="111827"/>
                    </a:solidFill>
                    <a:latin typeface="Arial"/>
                  </a:rPr>
                  <a:t> and </a:t>
                </a:r>
                <a:r>
                  <a:rPr lang="en-IN" sz="2400">
                    <a:solidFill>
                      <a:srgbClr val="111827"/>
                    </a:solidFill>
                    <a:latin typeface="Cambria Math" panose="02040503050406030204" pitchFamily="18" charset="0"/>
                  </a:rPr>
                  <a:t>$Q(8,6)$</a:t>
                </a:r>
                <a:r>
                  <a:rPr sz="2400" b="0">
                    <a:solidFill>
                      <a:srgbClr val="111827"/>
                    </a:solidFill>
                    <a:latin typeface="Arial"/>
                  </a:rPr>
                  <a:t> give </a:t>
                </a:r>
                <a:r>
                  <a:rPr lang="en-IN" sz="2400">
                    <a:solidFill>
                      <a:srgbClr val="111827"/>
                    </a:solidFill>
                    <a:latin typeface="Cambria Math" panose="02040503050406030204" pitchFamily="18" charset="0"/>
                  </a:rPr>
                  <a:t>$(PQ)^2=49+64=113$</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113</a:t>
            </a:r>
            <a:endParaRPr sz="2800">
              <a:solidFill>
                <a:srgbClr val="15803D"/>
              </a:solidFill>
            </a:endParaRP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terms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in A.P. satisfy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every line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of the family passes through the fixed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different relation among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must be checked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linear system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infinitely many solutions iff it is consistent (equivalently </a:t>
                </a:r>
                <a14:m>
                  <m:oMath xmlns:m="http://schemas.openxmlformats.org/officeDocument/2006/math">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otherwise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Spotting the hidden fixed point first reduces the problem to two unknowns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terms </a:t>
                </a:r>
                <a:r>
                  <a:rPr lang="en-IN" sz="2400">
                    <a:solidFill>
                      <a:srgbClr val="111827"/>
                    </a:solidFill>
                    <a:latin typeface="Cambria Math" panose="02040503050406030204" pitchFamily="18" charset="0"/>
                  </a:rPr>
                  <a:t>$a,b,c$</a:t>
                </a:r>
                <a:r>
                  <a:rPr sz="2400" b="0">
                    <a:solidFill>
                      <a:srgbClr val="111827"/>
                    </a:solidFill>
                    <a:latin typeface="Arial"/>
                  </a:rPr>
                  <a:t> in A.P. satisfy </a:t>
                </a:r>
                <a:r>
                  <a:rPr lang="en-IN" sz="2400">
                    <a:solidFill>
                      <a:srgbClr val="111827"/>
                    </a:solidFill>
                    <a:latin typeface="Cambria Math" panose="02040503050406030204" pitchFamily="18" charset="0"/>
                  </a:rPr>
                  <a:t>$a-2b+c=0$</a:t>
                </a:r>
                <a:r>
                  <a:rPr sz="2400" b="0">
                    <a:solidFill>
                      <a:srgbClr val="111827"/>
                    </a:solidFill>
                    <a:latin typeface="Arial"/>
                  </a:rPr>
                  <a:t>, so every line </a:t>
                </a:r>
                <a:r>
                  <a:rPr lang="en-IN" sz="2400">
                    <a:solidFill>
                      <a:srgbClr val="111827"/>
                    </a:solidFill>
                    <a:latin typeface="Cambria Math" panose="02040503050406030204" pitchFamily="18" charset="0"/>
                  </a:rPr>
                  <a:t>$ax+by+c=0$</a:t>
                </a:r>
                <a:r>
                  <a:rPr sz="2400" b="0">
                    <a:solidFill>
                      <a:srgbClr val="111827"/>
                    </a:solidFill>
                    <a:latin typeface="Arial"/>
                  </a:rPr>
                  <a:t> of the family passes through the fixed point </a:t>
                </a:r>
                <a:r>
                  <a:rPr lang="en-IN" sz="2400">
                    <a:solidFill>
                      <a:srgbClr val="111827"/>
                    </a:solidFill>
                    <a:latin typeface="Cambria Math" panose="02040503050406030204" pitchFamily="18" charset="0"/>
                  </a:rPr>
                  <a:t>$(1,-2)$</a:t>
                </a:r>
                <a:r>
                  <a:rPr sz="2400" b="0">
                    <a:solidFill>
                      <a:srgbClr val="111827"/>
                    </a:solidFill>
                    <a:latin typeface="Arial"/>
                  </a:rPr>
                  <a:t>; a different relation among </a:t>
                </a:r>
                <a:r>
                  <a:rPr lang="en-IN" sz="2400">
                    <a:solidFill>
                      <a:srgbClr val="111827"/>
                    </a:solidFill>
                    <a:latin typeface="Cambria Math" panose="02040503050406030204" pitchFamily="18" charset="0"/>
                  </a:rPr>
                  <a:t>$a,b,c$</a:t>
                </a:r>
                <a:r>
                  <a:rPr sz="2400" b="0">
                    <a:solidFill>
                      <a:srgbClr val="111827"/>
                    </a:solidFill>
                    <a:latin typeface="Arial"/>
                  </a:rPr>
                  <a:t> must be checked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linear system </a:t>
                </a:r>
                <a:r>
                  <a:rPr lang="en-IN" sz="2400">
                    <a:solidFill>
                      <a:srgbClr val="111827"/>
                    </a:solidFill>
                    <a:latin typeface="Cambria Math" panose="02040503050406030204" pitchFamily="18" charset="0"/>
                  </a:rPr>
                  <a:t>$Ax=d$</a:t>
                </a:r>
                <a:r>
                  <a:rPr sz="2400" b="0">
                    <a:solidFill>
                      <a:srgbClr val="111827"/>
                    </a:solidFill>
                    <a:latin typeface="Arial"/>
                  </a:rPr>
                  <a:t> with </a:t>
                </a:r>
                <a:r>
                  <a:rPr lang="en-IN" sz="2400">
                    <a:solidFill>
                      <a:srgbClr val="111827"/>
                    </a:solidFill>
                    <a:latin typeface="Cambria Math" panose="02040503050406030204" pitchFamily="18" charset="0"/>
                  </a:rPr>
                  <a:t>$\det A=0$</a:t>
                </a:r>
                <a:r>
                  <a:rPr sz="2400" b="0">
                    <a:solidFill>
                      <a:srgbClr val="111827"/>
                    </a:solidFill>
                    <a:latin typeface="Arial"/>
                  </a:rPr>
                  <a:t> has infinitely many solutions iff it is consistent (equivalently </a:t>
                </a:r>
                <a:r>
                  <a:rPr lang="en-IN" sz="2400">
                    <a:solidFill>
                      <a:srgbClr val="111827"/>
                    </a:solidFill>
                    <a:latin typeface="Cambria Math" panose="02040503050406030204" pitchFamily="18" charset="0"/>
                  </a:rPr>
                  <a:t>$\Delta_1=\Delta_2=\Delta_3=0$</a:t>
                </a:r>
                <a:r>
                  <a:rPr sz="2400" b="0">
                    <a:solidFill>
                      <a:srgbClr val="111827"/>
                    </a:solidFill>
                    <a:latin typeface="Arial"/>
                  </a:rPr>
                  <a:t>), otherwise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Spotting the hidden fixed point first reduces the problem to two unknowns </a:t>
                </a:r>
                <a:r>
                  <a:rPr lang="en-IN" sz="2400">
                    <a:solidFill>
                      <a:srgbClr val="111827"/>
                    </a:solidFill>
                    <a:latin typeface="Cambria Math" panose="02040503050406030204" pitchFamily="18" charset="0"/>
                  </a:rPr>
                  <a:t>$\alpha,\beta$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vertices of a 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If the point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the point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then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$A(-2,-1)$</a:t>
                </a:r>
                <a:r>
                  <a:rPr sz="2400" b="0">
                    <a:solidFill>
                      <a:srgbClr val="111827"/>
                    </a:solidFill>
                    <a:latin typeface="Arial"/>
                  </a:rPr>
                  <a:t>, </a:t>
                </a:r>
                <a:r>
                  <a:rPr lang="en-IN" sz="2400">
                    <a:solidFill>
                      <a:srgbClr val="111827"/>
                    </a:solidFill>
                    <a:latin typeface="Cambria Math" panose="02040503050406030204" pitchFamily="18" charset="0"/>
                  </a:rPr>
                  <a:t>$B(1,0)$</a:t>
                </a:r>
                <a:r>
                  <a:rPr sz="2400" b="0">
                    <a:solidFill>
                      <a:srgbClr val="111827"/>
                    </a:solidFill>
                    <a:latin typeface="Arial"/>
                  </a:rPr>
                  <a:t>, </a:t>
                </a:r>
                <a:r>
                  <a:rPr lang="en-IN" sz="2400">
                    <a:solidFill>
                      <a:srgbClr val="111827"/>
                    </a:solidFill>
                    <a:latin typeface="Cambria Math" panose="02040503050406030204" pitchFamily="18" charset="0"/>
                  </a:rPr>
                  <a:t>$C(\alpha,\beta)$</a:t>
                </a:r>
                <a:r>
                  <a:rPr sz="2400" b="0">
                    <a:solidFill>
                      <a:srgbClr val="111827"/>
                    </a:solidFill>
                    <a:latin typeface="Arial"/>
                  </a:rPr>
                  <a:t> and </a:t>
                </a:r>
                <a:r>
                  <a:rPr lang="en-IN" sz="2400">
                    <a:solidFill>
                      <a:srgbClr val="111827"/>
                    </a:solidFill>
                    <a:latin typeface="Cambria Math" panose="02040503050406030204" pitchFamily="18" charset="0"/>
                  </a:rPr>
                  <a:t>$D(\gamma,\delta)$</a:t>
                </a:r>
                <a:r>
                  <a:rPr sz="2400" b="0">
                    <a:solidFill>
                      <a:srgbClr val="111827"/>
                    </a:solidFill>
                    <a:latin typeface="Arial"/>
                  </a:rPr>
                  <a:t> be the vertices of a parallelogram </a:t>
                </a:r>
                <a:r>
                  <a:rPr lang="en-IN" sz="2400">
                    <a:solidFill>
                      <a:srgbClr val="111827"/>
                    </a:solidFill>
                    <a:latin typeface="Cambria Math" panose="02040503050406030204" pitchFamily="18" charset="0"/>
                  </a:rPr>
                  <a:t>$ABCD$</a:t>
                </a:r>
                <a:r>
                  <a:rPr sz="2400" b="0">
                    <a:solidFill>
                      <a:srgbClr val="111827"/>
                    </a:solidFill>
                    <a:latin typeface="Arial"/>
                  </a:rPr>
                  <a:t>. If the point </a:t>
                </a: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$2x-y=5$</a:t>
                </a:r>
                <a:r>
                  <a:rPr sz="2400" b="0">
                    <a:solidFill>
                      <a:srgbClr val="111827"/>
                    </a:solidFill>
                    <a:latin typeface="Arial"/>
                  </a:rPr>
                  <a:t> and the point </a:t>
                </a:r>
                <a:r>
                  <a:rPr lang="en-IN" sz="2400">
                    <a:solidFill>
                      <a:srgbClr val="111827"/>
                    </a:solidFill>
                    <a:latin typeface="Cambria Math" panose="02040503050406030204" pitchFamily="18" charset="0"/>
                  </a:rPr>
                  <a:t>$D$</a:t>
                </a:r>
                <a:r>
                  <a:rPr sz="2400" b="0">
                    <a:solidFill>
                      <a:srgbClr val="111827"/>
                    </a:solidFill>
                    <a:latin typeface="Arial"/>
                  </a:rPr>
                  <a:t> lies on </a:t>
                </a:r>
                <a:r>
                  <a:rPr lang="en-IN" sz="2400">
                    <a:solidFill>
                      <a:srgbClr val="111827"/>
                    </a:solidFill>
                    <a:latin typeface="Cambria Math" panose="02040503050406030204" pitchFamily="18" charset="0"/>
                  </a:rPr>
                  <a:t>$3x-2y=6$</a:t>
                </a:r>
                <a:r>
                  <a:rPr sz="2400" b="0">
                    <a:solidFill>
                      <a:srgbClr val="111827"/>
                    </a:solidFill>
                    <a:latin typeface="Arial"/>
                  </a:rPr>
                  <a:t>, then the value of </a:t>
                </a:r>
                <a:r>
                  <a:rPr lang="en-IN" sz="2400">
                    <a:solidFill>
                      <a:srgbClr val="111827"/>
                    </a:solidFill>
                    <a:latin typeface="Cambria Math" panose="02040503050406030204" pitchFamily="18" charset="0"/>
                  </a:rPr>
                  <a:t>$|\alpha+\beta+\gamma+\delta|$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Parallelogram and its vertices on given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Diagonals bisect each other, so the vertices satisfy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oMath>
                </a14:m>
                <a:r>
                  <a:rPr sz="2400" b="0">
                    <a:solidFill>
                      <a:srgbClr val="78350F"/>
                    </a:solidFill>
                    <a:latin typeface="Arial"/>
                  </a:rPr>
                  <a:t>; combine with the two line conditions.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Diagonals bisect each other, so the vertices satisfy </a:t>
                </a:r>
                <a:r>
                  <a:rPr lang="en-IN" sz="2400">
                    <a:solidFill>
                      <a:srgbClr val="78350F"/>
                    </a:solidFill>
                    <a:latin typeface="Cambria Math" panose="02040503050406030204" pitchFamily="18" charset="0"/>
                  </a:rPr>
                  <a:t>$A+C=B+D$</a:t>
                </a:r>
                <a:r>
                  <a:rPr sz="2400" b="0">
                    <a:solidFill>
                      <a:srgbClr val="78350F"/>
                    </a:solidFill>
                    <a:latin typeface="Arial"/>
                  </a:rPr>
                  <a:t>; combine with the two line conditions.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diagonals bisect each other: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$C(\alpha,\beta)$</a:t>
                </a:r>
                <a:r>
                  <a:rPr sz="2400" b="0">
                    <a:solidFill>
                      <a:srgbClr val="111827"/>
                    </a:solidFill>
                    <a:latin typeface="Arial"/>
                  </a:rPr>
                  <a:t> lies on </a:t>
                </a:r>
                <a:r>
                  <a:rPr lang="en-IN" sz="2400">
                    <a:solidFill>
                      <a:srgbClr val="111827"/>
                    </a:solidFill>
                    <a:latin typeface="Cambria Math" panose="02040503050406030204" pitchFamily="18" charset="0"/>
                  </a:rPr>
                  <a:t>$2x-y=5$</a:t>
                </a:r>
                <a:r>
                  <a:rPr sz="2400" b="0">
                    <a:solidFill>
                      <a:srgbClr val="111827"/>
                    </a:solidFill>
                    <a:latin typeface="Arial"/>
                  </a:rPr>
                  <a:t>: </a:t>
                </a:r>
                <a:r>
                  <a:rPr lang="en-IN" sz="2400">
                    <a:solidFill>
                      <a:srgbClr val="111827"/>
                    </a:solidFill>
                    <a:latin typeface="Cambria Math" panose="02040503050406030204" pitchFamily="18" charset="0"/>
                  </a:rPr>
                  <a:t>$2\alpha-\beta=5$</a:t>
                </a:r>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$D(\gamma,\delta)$</a:t>
                </a:r>
                <a:r>
                  <a:rPr sz="2400" b="0">
                    <a:solidFill>
                      <a:srgbClr val="111827"/>
                    </a:solidFill>
                    <a:latin typeface="Arial"/>
                  </a:rPr>
                  <a:t> lies on </a:t>
                </a:r>
                <a:r>
                  <a:rPr lang="en-IN" sz="2400">
                    <a:solidFill>
                      <a:srgbClr val="111827"/>
                    </a:solidFill>
                    <a:latin typeface="Cambria Math" panose="02040503050406030204" pitchFamily="18" charset="0"/>
                  </a:rPr>
                  <a:t>$3x-2y=6$</a:t>
                </a:r>
                <a:r>
                  <a:rPr sz="2400" b="0">
                    <a:solidFill>
                      <a:srgbClr val="111827"/>
                    </a:solidFill>
                    <a:latin typeface="Arial"/>
                  </a:rPr>
                  <a:t>: </a:t>
                </a:r>
                <a:r>
                  <a:rPr lang="en-IN" sz="2400">
                    <a:solidFill>
                      <a:srgbClr val="111827"/>
                    </a:solidFill>
                    <a:latin typeface="Cambria Math" panose="02040503050406030204" pitchFamily="18" charset="0"/>
                  </a:rPr>
                  <a:t>$3\gamma-2\delta=6$</a:t>
                </a:r>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diagonals bisect each other: </a:t>
                </a:r>
                <a:r>
                  <a:rPr lang="en-IN" sz="2400">
                    <a:solidFill>
                      <a:srgbClr val="111827"/>
                    </a:solidFill>
                    <a:latin typeface="Cambria Math" panose="02040503050406030204" pitchFamily="18" charset="0"/>
                  </a:rPr>
                  <a:t>$A+C=B+D$</a:t>
                </a:r>
                <a:r>
                  <a:rPr sz="2400" b="0">
                    <a:solidFill>
                      <a:srgbClr val="111827"/>
                    </a:solidFill>
                    <a:latin typeface="Arial"/>
                  </a:rPr>
                  <a:t>, so </a:t>
                </a:r>
                <a:r>
                  <a:rPr lang="en-IN" sz="2400">
                    <a:solidFill>
                      <a:srgbClr val="111827"/>
                    </a:solidFill>
                    <a:latin typeface="Cambria Math" panose="02040503050406030204" pitchFamily="18" charset="0"/>
                  </a:rPr>
                  <a:t>$\alpha-2=\gamma+1$</a:t>
                </a:r>
                <a:r>
                  <a:rPr sz="2400" b="0">
                    <a:solidFill>
                      <a:srgbClr val="111827"/>
                    </a:solidFill>
                    <a:latin typeface="Arial"/>
                  </a:rPr>
                  <a:t> and </a:t>
                </a:r>
                <a:r>
                  <a:rPr lang="en-IN" sz="2400">
                    <a:solidFill>
                      <a:srgbClr val="111827"/>
                    </a:solidFill>
                    <a:latin typeface="Cambria Math" panose="02040503050406030204" pitchFamily="18" charset="0"/>
                  </a:rPr>
                  <a:t>$\beta-1=\delta$</a:t>
                </a:r>
                <a:r>
                  <a:rPr sz="2400" b="0">
                    <a:solidFill>
                      <a:srgbClr val="111827"/>
                    </a:solidFill>
                    <a:latin typeface="Arial"/>
                  </a:rPr>
                  <a:t>. Hence </a:t>
                </a:r>
                <a:r>
                  <a:rPr lang="en-IN" sz="2400">
                    <a:solidFill>
                      <a:srgbClr val="111827"/>
                    </a:solidFill>
                    <a:latin typeface="Cambria Math" panose="02040503050406030204" pitchFamily="18" charset="0"/>
                  </a:rPr>
                  <a:t>$\alpha=\gamma+3$</a:t>
                </a:r>
                <a:r>
                  <a:rPr sz="2400" b="0">
                    <a:solidFill>
                      <a:srgbClr val="111827"/>
                    </a:solidFill>
                    <a:latin typeface="Arial"/>
                  </a:rPr>
                  <a:t>, </a:t>
                </a:r>
                <a:r>
                  <a:rPr lang="en-IN" sz="2400">
                    <a:solidFill>
                      <a:srgbClr val="111827"/>
                    </a:solidFill>
                    <a:latin typeface="Cambria Math" panose="02040503050406030204" pitchFamily="18" charset="0"/>
                  </a:rPr>
                  <a:t>$\beta=\delta+1$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these in (i):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γ</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(ii):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these in (i): </a:t>
                </a:r>
                <a:r>
                  <a:rPr lang="en-IN" sz="2400">
                    <a:solidFill>
                      <a:srgbClr val="111827"/>
                    </a:solidFill>
                    <a:latin typeface="Cambria Math" panose="02040503050406030204" pitchFamily="18" charset="0"/>
                  </a:rPr>
                  <a:t>$2(\gamma+3)-(\delta+1)=5\Rightarrow\delta=2\gamma$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(ii): </a:t>
                </a:r>
                <a:r>
                  <a:rPr lang="en-IN" sz="2400">
                    <a:solidFill>
                      <a:srgbClr val="111827"/>
                    </a:solidFill>
                    <a:latin typeface="Cambria Math" panose="02040503050406030204" pitchFamily="18" charset="0"/>
                  </a:rPr>
                  <a:t>$3\gamma-4\gamma=6\Rightarrow\gamma=-6$</a:t>
                </a:r>
                <a:r>
                  <a:rPr sz="2400" b="0">
                    <a:solidFill>
                      <a:srgbClr val="111827"/>
                    </a:solidFill>
                    <a:latin typeface="Arial"/>
                  </a:rPr>
                  <a:t>, so </a:t>
                </a:r>
                <a:r>
                  <a:rPr lang="en-IN" sz="2400">
                    <a:solidFill>
                      <a:srgbClr val="111827"/>
                    </a:solidFill>
                    <a:latin typeface="Cambria Math" panose="02040503050406030204" pitchFamily="18" charset="0"/>
                  </a:rPr>
                  <a:t>$\delta=-12$</a:t>
                </a:r>
                <a:r>
                  <a:rPr sz="2400" b="0">
                    <a:solidFill>
                      <a:srgbClr val="111827"/>
                    </a:solidFill>
                    <a:latin typeface="Arial"/>
                  </a:rPr>
                  <a:t>, </a:t>
                </a:r>
                <a:r>
                  <a:rPr lang="en-IN" sz="2400">
                    <a:solidFill>
                      <a:srgbClr val="111827"/>
                    </a:solidFill>
                    <a:latin typeface="Cambria Math" panose="02040503050406030204" pitchFamily="18" charset="0"/>
                  </a:rPr>
                  <a:t>$\alpha=-3$</a:t>
                </a:r>
                <a:r>
                  <a:rPr sz="2400" b="0">
                    <a:solidFill>
                      <a:srgbClr val="111827"/>
                    </a:solidFill>
                    <a:latin typeface="Arial"/>
                  </a:rPr>
                  <a:t>, </a:t>
                </a:r>
                <a:r>
                  <a:rPr lang="en-IN" sz="2400">
                    <a:solidFill>
                      <a:srgbClr val="111827"/>
                    </a:solidFill>
                    <a:latin typeface="Cambria Math" panose="02040503050406030204" pitchFamily="18" charset="0"/>
                  </a:rPr>
                  <a:t>$\beta=-11$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$|\alpha+\beta+\gamma+\delta|=|-3-11-6-12|=32$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32</a:t>
            </a:r>
            <a:endParaRPr sz="2800">
              <a:solidFill>
                <a:srgbClr val="15803D"/>
              </a:solidFill>
            </a:endParaRP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equal-vector condition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e>
                    </m:acc>
                  </m:oMath>
                </a14:m>
                <a:r>
                  <a:rPr sz="2400" b="0">
                    <a:solidFill>
                      <a:srgbClr val="78350F"/>
                    </a:solidFill>
                    <a:latin typeface="Arial"/>
                  </a:rPr>
                  <a:t> with each point written in terms of one parameter.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equal-vector condition </a:t>
                </a:r>
                <a:r>
                  <a:rPr lang="en-IN" sz="2400">
                    <a:solidFill>
                      <a:srgbClr val="78350F"/>
                    </a:solidFill>
                    <a:latin typeface="Cambria Math" panose="02040503050406030204" pitchFamily="18" charset="0"/>
                  </a:rPr>
                  <a:t>$\vec{AD}=\vec{BC}$</a:t>
                </a:r>
                <a:r>
                  <a:rPr sz="2400" b="0">
                    <a:solidFill>
                      <a:srgbClr val="78350F"/>
                    </a:solidFill>
                    <a:latin typeface="Arial"/>
                  </a:rPr>
                  <a:t> with each point written in terms of one parameter.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is a parallelogram,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$C=(t,2t-5)$</a:t>
                </a:r>
                <a:r>
                  <a:rPr sz="2400" b="0">
                    <a:solidFill>
                      <a:srgbClr val="111827"/>
                    </a:solidFill>
                    <a:latin typeface="Arial"/>
                  </a:rPr>
                  <a:t> (on </a:t>
                </a:r>
                <a:r>
                  <a:rPr lang="en-IN" sz="2400">
                    <a:solidFill>
                      <a:srgbClr val="111827"/>
                    </a:solidFill>
                    <a:latin typeface="Cambria Math" panose="02040503050406030204" pitchFamily="18" charset="0"/>
                  </a:rPr>
                  <a:t>$2x-y=5$</a:t>
                </a:r>
                <a:r>
                  <a:rPr sz="2400" b="0">
                    <a:solidFill>
                      <a:srgbClr val="111827"/>
                    </a:solidFill>
                    <a:latin typeface="Arial"/>
                  </a:rPr>
                  <a:t>) and </a:t>
                </a:r>
                <a:r>
                  <a:rPr lang="en-IN" sz="2400">
                    <a:solidFill>
                      <a:srgbClr val="111827"/>
                    </a:solidFill>
                    <a:latin typeface="Cambria Math" panose="02040503050406030204" pitchFamily="18" charset="0"/>
                  </a:rPr>
                  <a:t>$D=\left(s,\frac{3s-6}{2}\right)$</a:t>
                </a:r>
                <a:r>
                  <a:rPr sz="2400" b="0">
                    <a:solidFill>
                      <a:srgbClr val="111827"/>
                    </a:solidFill>
                    <a:latin typeface="Arial"/>
                  </a:rPr>
                  <a:t> (on </a:t>
                </a:r>
                <a:r>
                  <a:rPr lang="en-IN" sz="2400">
                    <a:solidFill>
                      <a:srgbClr val="111827"/>
                    </a:solidFill>
                    <a:latin typeface="Cambria Math" panose="02040503050406030204" pitchFamily="18" charset="0"/>
                  </a:rPr>
                  <a:t>$3x-2y=6$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$ABCD$</a:t>
                </a:r>
                <a:r>
                  <a:rPr sz="2400" b="0">
                    <a:solidFill>
                      <a:srgbClr val="111827"/>
                    </a:solidFill>
                    <a:latin typeface="Arial"/>
                  </a:rPr>
                  <a:t> is a parallelogram, so </a:t>
                </a:r>
                <a:r>
                  <a:rPr lang="en-IN" sz="2400">
                    <a:solidFill>
                      <a:srgbClr val="111827"/>
                    </a:solidFill>
                    <a:latin typeface="Cambria Math" panose="02040503050406030204" pitchFamily="18" charset="0"/>
                  </a:rPr>
                  <a:t>$\vec{AD}=\vec{BC}$</a:t>
                </a:r>
                <a:r>
                  <a:rPr sz="2400" b="0">
                    <a:solidFill>
                      <a:srgbClr val="111827"/>
                    </a:solidFill>
                    <a:latin typeface="Arial"/>
                  </a:rPr>
                  <a:t>: </a:t>
                </a:r>
                <a:r>
                  <a:rPr lang="en-IN" sz="2400">
                    <a:solidFill>
                      <a:srgbClr val="111827"/>
                    </a:solidFill>
                    <a:latin typeface="Cambria Math" panose="02040503050406030204" pitchFamily="18" charset="0"/>
                  </a:rPr>
                  <a:t>$(s+2,\ \tfrac{3s-6}{2}+1)=(t-1,\ 2t-5)$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coordinates give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second: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substituting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sum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coordinates give </a:t>
                </a:r>
                <a:r>
                  <a:rPr lang="en-IN" sz="2400">
                    <a:solidFill>
                      <a:srgbClr val="111827"/>
                    </a:solidFill>
                    <a:latin typeface="Cambria Math" panose="02040503050406030204" pitchFamily="18" charset="0"/>
                  </a:rPr>
                  <a:t>$s=t-3$</a:t>
                </a:r>
                <a:r>
                  <a:rPr sz="2400" b="0">
                    <a:solidFill>
                      <a:srgbClr val="111827"/>
                    </a:solidFill>
                    <a:latin typeface="Arial"/>
                  </a:rPr>
                  <a:t>. The second: </a:t>
                </a:r>
                <a:r>
                  <a:rPr lang="en-IN" sz="2400">
                    <a:solidFill>
                      <a:srgbClr val="111827"/>
                    </a:solidFill>
                    <a:latin typeface="Cambria Math" panose="02040503050406030204" pitchFamily="18" charset="0"/>
                  </a:rPr>
                  <a:t>$\frac{3s-4}{2}=2t-5\Rightarrow3s-4=4t-10$</a:t>
                </a:r>
                <a:r>
                  <a:rPr sz="2400" b="0">
                    <a:solidFill>
                      <a:srgbClr val="111827"/>
                    </a:solidFill>
                    <a:latin typeface="Arial"/>
                  </a:rPr>
                  <a:t>; substituting </a:t>
                </a:r>
                <a:r>
                  <a:rPr lang="en-IN" sz="2400">
                    <a:solidFill>
                      <a:srgbClr val="111827"/>
                    </a:solidFill>
                    <a:latin typeface="Cambria Math" panose="02040503050406030204" pitchFamily="18" charset="0"/>
                  </a:rPr>
                  <a:t>$s$</a:t>
                </a:r>
                <a:r>
                  <a:rPr sz="2400" b="0">
                    <a:solidFill>
                      <a:srgbClr val="111827"/>
                    </a:solidFill>
                    <a:latin typeface="Arial"/>
                  </a:rPr>
                  <a:t>: </a:t>
                </a:r>
                <a:r>
                  <a:rPr lang="en-IN" sz="2400">
                    <a:solidFill>
                      <a:srgbClr val="111827"/>
                    </a:solidFill>
                    <a:latin typeface="Cambria Math" panose="02040503050406030204" pitchFamily="18" charset="0"/>
                  </a:rPr>
                  <a:t>$3t-13=4t-10$</a:t>
                </a:r>
                <a:r>
                  <a:rPr sz="2400" b="0">
                    <a:solidFill>
                      <a:srgbClr val="111827"/>
                    </a:solidFill>
                    <a:latin typeface="Arial"/>
                  </a:rPr>
                  <a:t>, so </a:t>
                </a:r>
                <a:r>
                  <a:rPr lang="en-IN" sz="2400">
                    <a:solidFill>
                      <a:srgbClr val="111827"/>
                    </a:solidFill>
                    <a:latin typeface="Cambria Math" panose="02040503050406030204" pitchFamily="18" charset="0"/>
                  </a:rPr>
                  <a:t>$t=-3$</a:t>
                </a:r>
                <a:r>
                  <a:rPr sz="2400" b="0">
                    <a:solidFill>
                      <a:srgbClr val="111827"/>
                    </a:solidFill>
                    <a:latin typeface="Arial"/>
                  </a:rPr>
                  <a:t>, </a:t>
                </a:r>
                <a:r>
                  <a:rPr lang="en-IN" sz="2400">
                    <a:solidFill>
                      <a:srgbClr val="111827"/>
                    </a:solidFill>
                    <a:latin typeface="Cambria Math" panose="02040503050406030204" pitchFamily="18" charset="0"/>
                  </a:rPr>
                  <a:t>$s=-6$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$C=(-3,-11)$</a:t>
                </a:r>
                <a:r>
                  <a:rPr sz="2400" b="0">
                    <a:solidFill>
                      <a:srgbClr val="111827"/>
                    </a:solidFill>
                    <a:latin typeface="Arial"/>
                  </a:rPr>
                  <a:t> and </a:t>
                </a:r>
                <a:r>
                  <a:rPr lang="en-IN" sz="2400">
                    <a:solidFill>
                      <a:srgbClr val="111827"/>
                    </a:solidFill>
                    <a:latin typeface="Cambria Math" panose="02040503050406030204" pitchFamily="18" charset="0"/>
                  </a:rPr>
                  <a:t>$D=(-6,-12)$</a:t>
                </a:r>
                <a:r>
                  <a:rPr sz="2400" b="0">
                    <a:solidFill>
                      <a:srgbClr val="111827"/>
                    </a:solidFill>
                    <a:latin typeface="Arial"/>
                  </a:rPr>
                  <a:t>, so the sum is </a:t>
                </a:r>
                <a:r>
                  <a:rPr lang="en-IN" sz="2400">
                    <a:solidFill>
                      <a:srgbClr val="111827"/>
                    </a:solidFill>
                    <a:latin typeface="Cambria Math" panose="02040503050406030204" pitchFamily="18" charset="0"/>
                  </a:rPr>
                  <a:t>$-3-11-6-12=-32$</a:t>
                </a:r>
                <a:r>
                  <a:rPr sz="2400" b="0">
                    <a:solidFill>
                      <a:srgbClr val="111827"/>
                    </a:solidFill>
                    <a:latin typeface="Arial"/>
                  </a:rPr>
                  <a:t> and </a:t>
                </a:r>
                <a:r>
                  <a:rPr lang="en-IN" sz="2400">
                    <a:solidFill>
                      <a:srgbClr val="111827"/>
                    </a:solidFill>
                    <a:latin typeface="Cambria Math" panose="02040503050406030204" pitchFamily="18" charset="0"/>
                  </a:rPr>
                  <a:t>$|\cdot|=32$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32</a:t>
            </a:r>
            <a:endParaRPr sz="2800">
              <a:solidFill>
                <a:srgbClr val="15803D"/>
              </a:solidFill>
            </a:endParaRP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oMath>
                </a14:m>
                <a:r>
                  <a:rPr sz="2400" b="0">
                    <a:solidFill>
                      <a:srgbClr val="111827"/>
                    </a:solidFill>
                    <a:latin typeface="Arial"/>
                  </a:rPr>
                  <a:t>; equivalently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can be written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parameter per unknown point keeps the algebra small.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Final answers asked as an absolute value signal that the sum may be negative.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Parallelogram </a:t>
                </a:r>
                <a:r>
                  <a:rPr lang="en-IN" sz="2400">
                    <a:solidFill>
                      <a:srgbClr val="111827"/>
                    </a:solidFill>
                    <a:latin typeface="Cambria Math" panose="02040503050406030204" pitchFamily="18" charset="0"/>
                  </a:rPr>
                  <a:t>$ABCD$</a:t>
                </a:r>
                <a:r>
                  <a:rPr sz="2400" b="0">
                    <a:solidFill>
                      <a:srgbClr val="111827"/>
                    </a:solidFill>
                    <a:latin typeface="Arial"/>
                  </a:rPr>
                  <a:t>: </a:t>
                </a:r>
                <a:r>
                  <a:rPr lang="en-IN" sz="2400">
                    <a:solidFill>
                      <a:srgbClr val="111827"/>
                    </a:solidFill>
                    <a:latin typeface="Cambria Math" panose="02040503050406030204" pitchFamily="18" charset="0"/>
                  </a:rPr>
                  <a:t>$\vec{AB}=\vec{DC}$</a:t>
                </a:r>
                <a:r>
                  <a:rPr sz="2400" b="0">
                    <a:solidFill>
                      <a:srgbClr val="111827"/>
                    </a:solidFill>
                    <a:latin typeface="Arial"/>
                  </a:rPr>
                  <a:t> and </a:t>
                </a:r>
                <a:r>
                  <a:rPr lang="en-IN" sz="2400">
                    <a:solidFill>
                      <a:srgbClr val="111827"/>
                    </a:solidFill>
                    <a:latin typeface="Cambria Math" panose="02040503050406030204" pitchFamily="18" charset="0"/>
                  </a:rPr>
                  <a:t>$\vec{AD}=\vec{BC}$</a:t>
                </a:r>
                <a:r>
                  <a:rPr sz="2400" b="0">
                    <a:solidFill>
                      <a:srgbClr val="111827"/>
                    </a:solidFill>
                    <a:latin typeface="Arial"/>
                  </a:rPr>
                  <a:t>; equivalently </a:t>
                </a:r>
                <a:r>
                  <a:rPr lang="en-IN" sz="2400">
                    <a:solidFill>
                      <a:srgbClr val="111827"/>
                    </a:solidFill>
                    <a:latin typeface="Cambria Math" panose="02040503050406030204" pitchFamily="18" charset="0"/>
                  </a:rPr>
                  <a:t>$A+C=B+D$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on </a:t>
                </a:r>
                <a:r>
                  <a:rPr lang="en-IN" sz="2400">
                    <a:solidFill>
                      <a:srgbClr val="111827"/>
                    </a:solidFill>
                    <a:latin typeface="Cambria Math" panose="02040503050406030204" pitchFamily="18" charset="0"/>
                  </a:rPr>
                  <a:t>$2x-y=5$</a:t>
                </a:r>
                <a:r>
                  <a:rPr sz="2400" b="0">
                    <a:solidFill>
                      <a:srgbClr val="111827"/>
                    </a:solidFill>
                    <a:latin typeface="Arial"/>
                  </a:rPr>
                  <a:t> can be written </a:t>
                </a:r>
                <a:r>
                  <a:rPr lang="en-IN" sz="2400">
                    <a:solidFill>
                      <a:srgbClr val="111827"/>
                    </a:solidFill>
                    <a:latin typeface="Cambria Math" panose="02040503050406030204" pitchFamily="18" charset="0"/>
                  </a:rPr>
                  <a:t>$(t,2t-5)$</a:t>
                </a:r>
                <a:r>
                  <a:rPr sz="2400" b="0">
                    <a:solidFill>
                      <a:srgbClr val="111827"/>
                    </a:solidFill>
                    <a:latin typeface="Arial"/>
                  </a:rPr>
                  <a:t>; one parameter per unknown point keeps the algebra small.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Final answers asked as an absolute value signal that the sum may be negative.</a:t>
                </a:r>
                <a:endParaRPr sz="2400">
                  <a:solidFill>
                    <a:srgbClr val="111827"/>
                  </a:solidFill>
                </a:endParaRPr>
              </a:p>
            </p:txBody>
          </p:sp>
        </mc:Fallback>
      </mc:AlternateContent>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994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be an isosceles triangle in which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on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If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and the line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intersects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5994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$ABC$</a:t>
                </a:r>
                <a:r>
                  <a:rPr sz="2400" b="0">
                    <a:solidFill>
                      <a:srgbClr val="111827"/>
                    </a:solidFill>
                    <a:latin typeface="Arial"/>
                  </a:rPr>
                  <a:t> be an isosceles triangle in which </a:t>
                </a:r>
                <a:r>
                  <a:rPr lang="en-IN" sz="2400">
                    <a:solidFill>
                      <a:srgbClr val="111827"/>
                    </a:solidFill>
                    <a:latin typeface="Cambria Math" panose="02040503050406030204" pitchFamily="18" charset="0"/>
                  </a:rPr>
                  <a:t>$A$</a:t>
                </a:r>
                <a:r>
                  <a:rPr sz="2400" b="0">
                    <a:solidFill>
                      <a:srgbClr val="111827"/>
                    </a:solidFill>
                    <a:latin typeface="Arial"/>
                  </a:rPr>
                  <a:t> is at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$\angle A=\frac{2\pi}{3}$</a:t>
                </a:r>
                <a:r>
                  <a:rPr sz="2400" b="0">
                    <a:solidFill>
                      <a:srgbClr val="111827"/>
                    </a:solidFill>
                    <a:latin typeface="Arial"/>
                  </a:rPr>
                  <a:t>, </a:t>
                </a:r>
                <a:r>
                  <a:rPr lang="en-IN" sz="2400">
                    <a:solidFill>
                      <a:srgbClr val="111827"/>
                    </a:solidFill>
                    <a:latin typeface="Cambria Math" panose="02040503050406030204" pitchFamily="18" charset="0"/>
                  </a:rPr>
                  <a:t>$AB=AC$</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is on the positive </a:t>
                </a:r>
                <a:r>
                  <a:rPr lang="en-IN" sz="2400">
                    <a:solidFill>
                      <a:srgbClr val="111827"/>
                    </a:solidFill>
                    <a:latin typeface="Cambria Math" panose="02040503050406030204" pitchFamily="18" charset="0"/>
                  </a:rPr>
                  <a:t>$x$</a:t>
                </a:r>
                <a:r>
                  <a:rPr sz="2400" b="0">
                    <a:solidFill>
                      <a:srgbClr val="111827"/>
                    </a:solidFill>
                    <a:latin typeface="Arial"/>
                  </a:rPr>
                  <a:t>-axis. If </a:t>
                </a:r>
                <a:r>
                  <a:rPr lang="en-IN" sz="2400">
                    <a:solidFill>
                      <a:srgbClr val="111827"/>
                    </a:solidFill>
                    <a:latin typeface="Cambria Math" panose="02040503050406030204" pitchFamily="18" charset="0"/>
                  </a:rPr>
                  <a:t>$BC=4\sqrt{3}$</a:t>
                </a:r>
                <a:r>
                  <a:rPr sz="2400" b="0">
                    <a:solidFill>
                      <a:srgbClr val="111827"/>
                    </a:solidFill>
                    <a:latin typeface="Arial"/>
                  </a:rPr>
                  <a:t> and the line </a:t>
                </a:r>
                <a:r>
                  <a:rPr lang="en-IN" sz="2400">
                    <a:solidFill>
                      <a:srgbClr val="111827"/>
                    </a:solidFill>
                    <a:latin typeface="Cambria Math" panose="02040503050406030204" pitchFamily="18" charset="0"/>
                  </a:rPr>
                  <a:t>$BC$</a:t>
                </a:r>
                <a:r>
                  <a:rPr sz="2400" b="0">
                    <a:solidFill>
                      <a:srgbClr val="111827"/>
                    </a:solidFill>
                    <a:latin typeface="Arial"/>
                  </a:rPr>
                  <a:t> intersects the line </a:t>
                </a:r>
                <a:r>
                  <a:rPr lang="en-IN" sz="2400">
                    <a:solidFill>
                      <a:srgbClr val="111827"/>
                    </a:solidFill>
                    <a:latin typeface="Cambria Math" panose="02040503050406030204" pitchFamily="18" charset="0"/>
                  </a:rPr>
                  <a:t>$y=x+3$</a:t>
                </a:r>
                <a:r>
                  <a:rPr sz="2400" b="0">
                    <a:solidFill>
                      <a:srgbClr val="111827"/>
                    </a:solidFill>
                    <a:latin typeface="Arial"/>
                  </a:rPr>
                  <a:t> at </a:t>
                </a:r>
                <a:r>
                  <a:rPr lang="en-IN" sz="2400">
                    <a:solidFill>
                      <a:srgbClr val="111827"/>
                    </a:solidFill>
                    <a:latin typeface="Cambria Math" panose="02040503050406030204" pitchFamily="18" charset="0"/>
                  </a:rPr>
                  <a:t>$(\alpha,\beta)$</a:t>
                </a:r>
                <a:r>
                  <a:rPr sz="2400" b="0">
                    <a:solidFill>
                      <a:srgbClr val="111827"/>
                    </a:solidFill>
                    <a:latin typeface="Arial"/>
                  </a:rPr>
                  <a:t>, then </a:t>
                </a:r>
                <a:r>
                  <a:rPr lang="en-IN" sz="2400">
                    <a:solidFill>
                      <a:srgbClr val="111827"/>
                    </a:solidFill>
                    <a:latin typeface="Cambria Math" panose="02040503050406030204" pitchFamily="18" charset="0"/>
                  </a:rPr>
                  <a:t>$\frac{\beta^4}{\alpha^2}$</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41081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Isosceles triangle with a given vertex angle, Intersection of two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Base angles are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place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use the direction of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at </a:t>
                </a:r>
                <a14:m>
                  <m:oMath xmlns:m="http://schemas.openxmlformats.org/officeDocument/2006/math">
                    <m:sSup>
                      <m:e>
                        <m:r>
                          <a:rPr lang="en-IN" sz="2400" i="1">
                            <a:solidFill>
                              <a:srgbClr val="78350F"/>
                            </a:solidFill>
                            <a:latin typeface="Cambria Math" panose="02040503050406030204" pitchFamily="18" charset="0"/>
                          </a:rPr>
                          <m:t>150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Base angles are </a:t>
                </a:r>
                <a:r>
                  <a:rPr lang="en-IN" sz="2400">
                    <a:solidFill>
                      <a:srgbClr val="78350F"/>
                    </a:solidFill>
                    <a:latin typeface="Cambria Math" panose="02040503050406030204" pitchFamily="18" charset="0"/>
                  </a:rPr>
                  <a:t>$30^\circ$</a:t>
                </a:r>
                <a:r>
                  <a:rPr sz="2400" b="0">
                    <a:solidFill>
                      <a:srgbClr val="78350F"/>
                    </a:solidFill>
                    <a:latin typeface="Arial"/>
                  </a:rPr>
                  <a:t>; place </a:t>
                </a:r>
                <a:r>
                  <a:rPr lang="en-IN" sz="2400">
                    <a:solidFill>
                      <a:srgbClr val="78350F"/>
                    </a:solidFill>
                    <a:latin typeface="Cambria Math" panose="02040503050406030204" pitchFamily="18" charset="0"/>
                  </a:rPr>
                  <a:t>$B(x_1,0)$</a:t>
                </a:r>
                <a:r>
                  <a:rPr sz="2400" b="0">
                    <a:solidFill>
                      <a:srgbClr val="78350F"/>
                    </a:solidFill>
                    <a:latin typeface="Arial"/>
                  </a:rPr>
                  <a:t> and use the direction of </a:t>
                </a:r>
                <a:r>
                  <a:rPr lang="en-IN" sz="2400">
                    <a:solidFill>
                      <a:srgbClr val="78350F"/>
                    </a:solidFill>
                    <a:latin typeface="Cambria Math" panose="02040503050406030204" pitchFamily="18" charset="0"/>
                  </a:rPr>
                  <a:t>$BC$</a:t>
                </a:r>
                <a:r>
                  <a:rPr sz="2400" b="0">
                    <a:solidFill>
                      <a:srgbClr val="78350F"/>
                    </a:solidFill>
                    <a:latin typeface="Arial"/>
                  </a:rPr>
                  <a:t> at </a:t>
                </a:r>
                <a:r>
                  <a:rPr lang="en-IN" sz="2400">
                    <a:solidFill>
                      <a:srgbClr val="78350F"/>
                    </a:solidFill>
                    <a:latin typeface="Cambria Math" panose="02040503050406030204" pitchFamily="18" charset="0"/>
                  </a:rPr>
                  <a:t>$150^\circ$</a:t>
                </a:r>
                <a:r>
                  <a:rPr sz="2400" b="0">
                    <a:solidFill>
                      <a:srgbClr val="78350F"/>
                    </a:solidFill>
                    <a:latin typeface="Arial"/>
                  </a:rPr>
                  <a:t> with </a:t>
                </a:r>
                <a:r>
                  <a:rPr lang="en-IN" sz="2400">
                    <a:solidFill>
                      <a:srgbClr val="78350F"/>
                    </a:solidFill>
                    <a:latin typeface="Cambria Math" panose="02040503050406030204" pitchFamily="18" charset="0"/>
                  </a:rPr>
                  <a:t>$BC=4\sqrt{3}$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direction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150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with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along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$AB=AC$</a:t>
                </a:r>
                <a:r>
                  <a:rPr sz="2400" b="0">
                    <a:solidFill>
                      <a:srgbClr val="111827"/>
                    </a:solidFill>
                    <a:latin typeface="Arial"/>
                  </a:rPr>
                  <a:t> and </a:t>
                </a:r>
                <a:r>
                  <a:rPr lang="en-IN" sz="2400">
                    <a:solidFill>
                      <a:srgbClr val="111827"/>
                    </a:solidFill>
                    <a:latin typeface="Cambria Math" panose="02040503050406030204" pitchFamily="18" charset="0"/>
                  </a:rPr>
                  <a:t>$\angle A=120^\circ$</a:t>
                </a:r>
                <a:r>
                  <a:rPr sz="2400" b="0">
                    <a:solidFill>
                      <a:srgbClr val="111827"/>
                    </a:solidFill>
                    <a:latin typeface="Arial"/>
                  </a:rPr>
                  <a:t>, so </a:t>
                </a:r>
                <a:r>
                  <a:rPr lang="en-IN" sz="2400">
                    <a:solidFill>
                      <a:srgbClr val="111827"/>
                    </a:solidFill>
                    <a:latin typeface="Cambria Math" panose="02040503050406030204" pitchFamily="18" charset="0"/>
                  </a:rPr>
                  <a:t>$\angle B=\angle C=30^\circ$</a:t>
                </a:r>
                <a:r>
                  <a:rPr sz="2400" b="0">
                    <a:solidFill>
                      <a:srgbClr val="111827"/>
                    </a:solidFill>
                    <a:latin typeface="Arial"/>
                  </a:rPr>
                  <a:t>. Let </a:t>
                </a:r>
                <a:r>
                  <a:rPr lang="en-IN" sz="2400">
                    <a:solidFill>
                      <a:srgbClr val="111827"/>
                    </a:solidFill>
                    <a:latin typeface="Cambria Math" panose="02040503050406030204" pitchFamily="18" charset="0"/>
                  </a:rPr>
                  <a:t>$B=(x_1,0)$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direction of </a:t>
                </a:r>
                <a:r>
                  <a:rPr lang="en-IN" sz="2400">
                    <a:solidFill>
                      <a:srgbClr val="111827"/>
                    </a:solidFill>
                    <a:latin typeface="Cambria Math" panose="02040503050406030204" pitchFamily="18" charset="0"/>
                  </a:rPr>
                  <a:t>$BC$</a:t>
                </a:r>
                <a:r>
                  <a:rPr sz="2400" b="0">
                    <a:solidFill>
                      <a:srgbClr val="111827"/>
                    </a:solidFill>
                    <a:latin typeface="Arial"/>
                  </a:rPr>
                  <a:t> makes </a:t>
                </a:r>
                <a:r>
                  <a:rPr lang="en-IN" sz="2400">
                    <a:solidFill>
                      <a:srgbClr val="111827"/>
                    </a:solidFill>
                    <a:latin typeface="Cambria Math" panose="02040503050406030204" pitchFamily="18" charset="0"/>
                  </a:rPr>
                  <a:t>$150^\circ=\frac{5\pi}{6}$</a:t>
                </a:r>
                <a:r>
                  <a:rPr sz="2400" b="0">
                    <a:solidFill>
                      <a:srgbClr val="111827"/>
                    </a:solidFill>
                    <a:latin typeface="Arial"/>
                  </a:rPr>
                  <a:t> with the positive </a:t>
                </a:r>
                <a:r>
                  <a:rPr lang="en-IN" sz="2400">
                    <a:solidFill>
                      <a:srgbClr val="111827"/>
                    </a:solidFill>
                    <a:latin typeface="Cambria Math" panose="02040503050406030204" pitchFamily="18" charset="0"/>
                  </a:rPr>
                  <a:t>$x$</a:t>
                </a:r>
                <a:r>
                  <a:rPr sz="2400" b="0">
                    <a:solidFill>
                      <a:srgbClr val="111827"/>
                    </a:solidFill>
                    <a:latin typeface="Arial"/>
                  </a:rPr>
                  <a:t>-axis, so </a:t>
                </a:r>
                <a:r>
                  <a:rPr lang="en-IN" sz="2400">
                    <a:solidFill>
                      <a:srgbClr val="111827"/>
                    </a:solidFill>
                    <a:latin typeface="Cambria Math" panose="02040503050406030204" pitchFamily="18" charset="0"/>
                  </a:rPr>
                  <a:t>$C=B+4\sqrt{3}\left(\cos\frac{5\pi}{6},\sin\frac{5\pi}{6}\right)$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$x_C=x_1+4\sqrt{3}\left(-\frac{\sqrt{3}}{2}\right)=x_1-6$</a:t>
                </a:r>
                <a:r>
                  <a:rPr sz="2400" b="0">
                    <a:solidFill>
                      <a:srgbClr val="111827"/>
                    </a:solidFill>
                    <a:latin typeface="Arial"/>
                  </a:rPr>
                  <a:t> and </a:t>
                </a:r>
                <a:r>
                  <a:rPr lang="en-IN" sz="2400">
                    <a:solidFill>
                      <a:srgbClr val="111827"/>
                    </a:solidFill>
                    <a:latin typeface="Cambria Math" panose="02040503050406030204" pitchFamily="18" charset="0"/>
                  </a:rPr>
                  <a:t>$y_C=4\sqrt{3}\cdot\frac{1}{2}=2\sqrt{3}$</a:t>
                </a:r>
                <a:r>
                  <a:rPr sz="2400" b="0">
                    <a:solidFill>
                      <a:srgbClr val="111827"/>
                    </a:solidFill>
                    <a:latin typeface="Arial"/>
                  </a:rPr>
                  <a:t>, so </a:t>
                </a:r>
                <a:r>
                  <a:rPr lang="en-IN" sz="2400">
                    <a:solidFill>
                      <a:srgbClr val="111827"/>
                    </a:solidFill>
                    <a:latin typeface="Cambria Math" panose="02040503050406030204" pitchFamily="18" charset="0"/>
                  </a:rPr>
                  <a:t>$C=(x_1-6,2\sqrt{3})$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A=120^\circ$</a:t>
                </a:r>
                <a:r>
                  <a:rPr sz="2400" b="0">
                    <a:solidFill>
                      <a:srgbClr val="111827"/>
                    </a:solidFill>
                    <a:latin typeface="Arial"/>
                  </a:rPr>
                  <a:t> and </a:t>
                </a:r>
                <a:r>
                  <a:rPr lang="en-IN" sz="2400">
                    <a:solidFill>
                      <a:srgbClr val="111827"/>
                    </a:solidFill>
                    <a:latin typeface="Cambria Math" panose="02040503050406030204" pitchFamily="18" charset="0"/>
                  </a:rPr>
                  <a:t>$AB$</a:t>
                </a:r>
                <a:r>
                  <a:rPr sz="2400" b="0">
                    <a:solidFill>
                      <a:srgbClr val="111827"/>
                    </a:solidFill>
                    <a:latin typeface="Arial"/>
                  </a:rPr>
                  <a:t> is along the </a:t>
                </a:r>
                <a:r>
                  <a:rPr lang="en-IN" sz="2400">
                    <a:solidFill>
                      <a:srgbClr val="111827"/>
                    </a:solidFill>
                    <a:latin typeface="Cambria Math" panose="02040503050406030204" pitchFamily="18" charset="0"/>
                  </a:rPr>
                  <a:t>$x$</a:t>
                </a:r>
                <a:r>
                  <a:rPr sz="2400" b="0">
                    <a:solidFill>
                      <a:srgbClr val="111827"/>
                    </a:solidFill>
                    <a:latin typeface="Arial"/>
                  </a:rPr>
                  <a:t>-axis, so </a:t>
                </a:r>
                <a:r>
                  <a:rPr lang="en-IN" sz="2400">
                    <a:solidFill>
                      <a:srgbClr val="111827"/>
                    </a:solidFill>
                    <a:latin typeface="Cambria Math" panose="02040503050406030204" pitchFamily="18" charset="0"/>
                  </a:rPr>
                  <a:t>$AC$</a:t>
                </a:r>
                <a:r>
                  <a:rPr sz="2400" b="0">
                    <a:solidFill>
                      <a:srgbClr val="111827"/>
                    </a:solidFill>
                    <a:latin typeface="Arial"/>
                  </a:rPr>
                  <a:t> has slope </a:t>
                </a:r>
                <a:r>
                  <a:rPr lang="en-IN" sz="2400">
                    <a:solidFill>
                      <a:srgbClr val="111827"/>
                    </a:solidFill>
                    <a:latin typeface="Cambria Math" panose="02040503050406030204" pitchFamily="18" charset="0"/>
                  </a:rPr>
                  <a:t>$-\sqrt{3}$</a:t>
                </a:r>
                <a:r>
                  <a:rPr sz="2400" b="0">
                    <a:solidFill>
                      <a:srgbClr val="111827"/>
                    </a:solidFill>
                    <a:latin typeface="Arial"/>
                  </a:rPr>
                  <a:t>: </a:t>
                </a:r>
                <a:r>
                  <a:rPr lang="en-IN" sz="2400">
                    <a:solidFill>
                      <a:srgbClr val="111827"/>
                    </a:solidFill>
                    <a:latin typeface="Cambria Math" panose="02040503050406030204" pitchFamily="18" charset="0"/>
                  </a:rPr>
                  <a:t>$\frac{0-2\sqrt{3}}{-1-x_1+6}=-\sqrt{3}\Rightarrow x_1=3$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Line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using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$B=(3,0)$</a:t>
                </a:r>
                <a:r>
                  <a:rPr sz="2400" b="0">
                    <a:solidFill>
                      <a:srgbClr val="111827"/>
                    </a:solidFill>
                    <a:latin typeface="Arial"/>
                  </a:rPr>
                  <a:t> and </a:t>
                </a:r>
                <a:r>
                  <a:rPr lang="en-IN" sz="2400">
                    <a:solidFill>
                      <a:srgbClr val="111827"/>
                    </a:solidFill>
                    <a:latin typeface="Cambria Math" panose="02040503050406030204" pitchFamily="18" charset="0"/>
                  </a:rPr>
                  <a:t>$C=(-3,2\sqrt{3})$</a:t>
                </a:r>
                <a:r>
                  <a:rPr sz="2400" b="0">
                    <a:solidFill>
                      <a:srgbClr val="111827"/>
                    </a:solidFill>
                    <a:latin typeface="Arial"/>
                  </a:rPr>
                  <a:t>. Line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$x+\sqrt{3}y=3$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 with </a:t>
                </a:r>
                <a:r>
                  <a:rPr lang="en-IN" sz="2400">
                    <a:solidFill>
                      <a:srgbClr val="111827"/>
                    </a:solidFill>
                    <a:latin typeface="Cambria Math" panose="02040503050406030204" pitchFamily="18" charset="0"/>
                  </a:rPr>
                  <a:t>$y=x+3$</a:t>
                </a:r>
                <a:r>
                  <a:rPr sz="2400" b="0">
                    <a:solidFill>
                      <a:srgbClr val="111827"/>
                    </a:solidFill>
                    <a:latin typeface="Arial"/>
                  </a:rPr>
                  <a:t>: </a:t>
                </a:r>
                <a:r>
                  <a:rPr lang="en-IN" sz="2400">
                    <a:solidFill>
                      <a:srgbClr val="111827"/>
                    </a:solidFill>
                    <a:latin typeface="Cambria Math" panose="02040503050406030204" pitchFamily="18" charset="0"/>
                  </a:rPr>
                  <a:t>$x+\sqrt{3}(x+3)=3\Rightarrow x=\frac{3-3\sqrt{3}}{1+\sqrt{3}}=3\sqrt{3}-6$</a:t>
                </a:r>
                <a:r>
                  <a:rPr sz="2400" b="0">
                    <a:solidFill>
                      <a:srgbClr val="111827"/>
                    </a:solidFill>
                    <a:latin typeface="Arial"/>
                  </a:rPr>
                  <a:t>, </a:t>
                </a:r>
                <a:r>
                  <a:rPr lang="en-IN" sz="2400">
                    <a:solidFill>
                      <a:srgbClr val="111827"/>
                    </a:solidFill>
                    <a:latin typeface="Cambria Math" panose="02040503050406030204" pitchFamily="18" charset="0"/>
                  </a:rPr>
                  <a:t>$y=3\sqrt{3}-3$</a:t>
                </a:r>
                <a:r>
                  <a:rPr sz="2400" b="0">
                    <a:solidFill>
                      <a:srgbClr val="111827"/>
                    </a:solidFill>
                    <a:latin typeface="Arial"/>
                  </a:rPr>
                  <a:t>. So </a:t>
                </a:r>
                <a:r>
                  <a:rPr lang="en-IN" sz="2400">
                    <a:solidFill>
                      <a:srgbClr val="111827"/>
                    </a:solidFill>
                    <a:latin typeface="Cambria Math" panose="02040503050406030204" pitchFamily="18" charset="0"/>
                  </a:rPr>
                  <a:t>$\alpha=3(\sqrt{3}-2)$</a:t>
                </a:r>
                <a:r>
                  <a:rPr sz="2400" b="0">
                    <a:solidFill>
                      <a:srgbClr val="111827"/>
                    </a:solidFill>
                    <a:latin typeface="Arial"/>
                  </a:rPr>
                  <a:t> and </a:t>
                </a:r>
                <a:r>
                  <a:rPr lang="en-IN" sz="2400">
                    <a:solidFill>
                      <a:srgbClr val="111827"/>
                    </a:solidFill>
                    <a:latin typeface="Cambria Math" panose="02040503050406030204" pitchFamily="18" charset="0"/>
                  </a:rPr>
                  <a:t>$\beta=3(\sqrt{3}-1)$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$\frac{\beta^4}{\alpha^2}=\frac{81(\sqrt{3}-1)^4}{9(\sqrt{3}-2)^2}=\frac{9\cdot4(2-\sqrt{3})^2}{(2-\sqrt{3})^2}=36$</a:t>
                </a:r>
                <a:r>
                  <a:rPr sz="2400" b="0">
                    <a:solidFill>
                      <a:srgbClr val="111827"/>
                    </a:solidFill>
                    <a:latin typeface="Arial"/>
                  </a:rPr>
                  <a:t>, using </a:t>
                </a:r>
                <a:r>
                  <a:rPr lang="en-IN" sz="2400">
                    <a:solidFill>
                      <a:srgbClr val="111827"/>
                    </a:solidFill>
                    <a:latin typeface="Cambria Math" panose="02040503050406030204" pitchFamily="18" charset="0"/>
                  </a:rPr>
                  <a:t>$(\sqrt{3}-1)^2=2(2-\sqrt{3})$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36</a:t>
            </a:r>
            <a:endParaRPr sz="2800">
              <a:solidFill>
                <a:srgbClr val="15803D"/>
              </a:solidFill>
            </a:endParaRP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Get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from the isosceles triangle first, then place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rotate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about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through </a:t>
                </a:r>
                <a14:m>
                  <m:oMath xmlns:m="http://schemas.openxmlformats.org/officeDocument/2006/math">
                    <m:sSup>
                      <m:e>
                        <m:r>
                          <a:rPr lang="en-IN" sz="2400" i="1">
                            <a:solidFill>
                              <a:srgbClr val="78350F"/>
                            </a:solidFill>
                            <a:latin typeface="Cambria Math" panose="02040503050406030204" pitchFamily="18" charset="0"/>
                          </a:rPr>
                          <m:t>120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to get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Get </a:t>
                </a:r>
                <a:r>
                  <a:rPr lang="en-IN" sz="2400">
                    <a:solidFill>
                      <a:srgbClr val="78350F"/>
                    </a:solidFill>
                    <a:latin typeface="Cambria Math" panose="02040503050406030204" pitchFamily="18" charset="0"/>
                  </a:rPr>
                  <a:t>$AB=AC=4$</a:t>
                </a:r>
                <a:r>
                  <a:rPr sz="2400" b="0">
                    <a:solidFill>
                      <a:srgbClr val="78350F"/>
                    </a:solidFill>
                    <a:latin typeface="Arial"/>
                  </a:rPr>
                  <a:t> from the isosceles triangle first, then place </a:t>
                </a:r>
                <a:r>
                  <a:rPr lang="en-IN" sz="2400">
                    <a:solidFill>
                      <a:srgbClr val="78350F"/>
                    </a:solidFill>
                    <a:latin typeface="Cambria Math" panose="02040503050406030204" pitchFamily="18" charset="0"/>
                  </a:rPr>
                  <a:t>$B=(3,0)$</a:t>
                </a:r>
                <a:r>
                  <a:rPr sz="2400" b="0">
                    <a:solidFill>
                      <a:srgbClr val="78350F"/>
                    </a:solidFill>
                    <a:latin typeface="Arial"/>
                  </a:rPr>
                  <a:t> and rotate </a:t>
                </a:r>
                <a:r>
                  <a:rPr lang="en-IN" sz="2400">
                    <a:solidFill>
                      <a:srgbClr val="78350F"/>
                    </a:solidFill>
                    <a:latin typeface="Cambria Math" panose="02040503050406030204" pitchFamily="18" charset="0"/>
                  </a:rPr>
                  <a:t>$B$</a:t>
                </a:r>
                <a:r>
                  <a:rPr sz="2400" b="0">
                    <a:solidFill>
                      <a:srgbClr val="78350F"/>
                    </a:solidFill>
                    <a:latin typeface="Arial"/>
                  </a:rPr>
                  <a:t> about </a:t>
                </a:r>
                <a:r>
                  <a:rPr lang="en-IN" sz="2400">
                    <a:solidFill>
                      <a:srgbClr val="78350F"/>
                    </a:solidFill>
                    <a:latin typeface="Cambria Math" panose="02040503050406030204" pitchFamily="18" charset="0"/>
                  </a:rPr>
                  <a:t>$A$</a:t>
                </a:r>
                <a:r>
                  <a:rPr sz="2400" b="0">
                    <a:solidFill>
                      <a:srgbClr val="78350F"/>
                    </a:solidFill>
                    <a:latin typeface="Arial"/>
                  </a:rPr>
                  <a:t> through </a:t>
                </a:r>
                <a:r>
                  <a:rPr lang="en-IN" sz="2400">
                    <a:solidFill>
                      <a:srgbClr val="78350F"/>
                    </a:solidFill>
                    <a:latin typeface="Cambria Math" panose="02040503050406030204" pitchFamily="18" charset="0"/>
                  </a:rPr>
                  <a:t>$120^\circ$</a:t>
                </a:r>
                <a:r>
                  <a:rPr sz="2400" b="0">
                    <a:solidFill>
                      <a:srgbClr val="78350F"/>
                    </a:solidFill>
                    <a:latin typeface="Arial"/>
                  </a:rPr>
                  <a:t> to get </a:t>
                </a:r>
                <a:r>
                  <a:rPr lang="en-IN" sz="2400">
                    <a:solidFill>
                      <a:srgbClr val="78350F"/>
                    </a:solidFill>
                    <a:latin typeface="Cambria Math" panose="02040503050406030204" pitchFamily="18" charset="0"/>
                  </a:rPr>
                  <a:t>$C$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isosceles triangle with apex angle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on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distance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isosceles triangle with apex angle </a:t>
                </a:r>
                <a:r>
                  <a:rPr lang="en-IN" sz="2400">
                    <a:solidFill>
                      <a:srgbClr val="111827"/>
                    </a:solidFill>
                    <a:latin typeface="Cambria Math" panose="02040503050406030204" pitchFamily="18" charset="0"/>
                  </a:rPr>
                  <a:t>$120^\circ$</a:t>
                </a:r>
                <a:r>
                  <a:rPr sz="2400" b="0">
                    <a:solidFill>
                      <a:srgbClr val="111827"/>
                    </a:solidFill>
                    <a:latin typeface="Arial"/>
                  </a:rPr>
                  <a:t>: </a:t>
                </a:r>
                <a:r>
                  <a:rPr lang="en-IN" sz="2400">
                    <a:solidFill>
                      <a:srgbClr val="111827"/>
                    </a:solidFill>
                    <a:latin typeface="Cambria Math" panose="02040503050406030204" pitchFamily="18" charset="0"/>
                  </a:rPr>
                  <a:t>$BC=2AB\sin60^\circ=\sqrt{3}\,AB$</a:t>
                </a:r>
                <a:r>
                  <a:rPr sz="2400" b="0">
                    <a:solidFill>
                      <a:srgbClr val="111827"/>
                    </a:solidFill>
                    <a:latin typeface="Arial"/>
                  </a:rPr>
                  <a:t>, so </a:t>
                </a:r>
                <a:r>
                  <a:rPr lang="en-IN" sz="2400">
                    <a:solidFill>
                      <a:srgbClr val="111827"/>
                    </a:solidFill>
                    <a:latin typeface="Cambria Math" panose="02040503050406030204" pitchFamily="18" charset="0"/>
                  </a:rPr>
                  <a:t>$AB=\frac{4\sqrt{3}}{\sqrt{3}}=4$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is on the positive </a:t>
                </a:r>
                <a:r>
                  <a:rPr lang="en-IN" sz="2400">
                    <a:solidFill>
                      <a:srgbClr val="111827"/>
                    </a:solidFill>
                    <a:latin typeface="Cambria Math" panose="02040503050406030204" pitchFamily="18" charset="0"/>
                  </a:rPr>
                  <a:t>$x$</a:t>
                </a:r>
                <a:r>
                  <a:rPr sz="2400" b="0">
                    <a:solidFill>
                      <a:srgbClr val="111827"/>
                    </a:solidFill>
                    <a:latin typeface="Arial"/>
                  </a:rPr>
                  <a:t>-axis at distance </a:t>
                </a:r>
                <a:r>
                  <a:rPr lang="en-IN" sz="2400">
                    <a:solidFill>
                      <a:srgbClr val="111827"/>
                    </a:solidFill>
                    <a:latin typeface="Cambria Math" panose="02040503050406030204" pitchFamily="18" charset="0"/>
                  </a:rPr>
                  <a:t>$4$</a:t>
                </a:r>
                <a:r>
                  <a:rPr sz="2400" b="0">
                    <a:solidFill>
                      <a:srgbClr val="111827"/>
                    </a:solidFill>
                    <a:latin typeface="Arial"/>
                  </a:rPr>
                  <a:t> from </a:t>
                </a:r>
                <a:r>
                  <a:rPr lang="en-IN" sz="2400">
                    <a:solidFill>
                      <a:srgbClr val="111827"/>
                    </a:solidFill>
                    <a:latin typeface="Cambria Math" panose="02040503050406030204" pitchFamily="18" charset="0"/>
                  </a:rPr>
                  <a:t>$A(-1,0)$</a:t>
                </a:r>
                <a:r>
                  <a:rPr sz="2400" b="0">
                    <a:solidFill>
                      <a:srgbClr val="111827"/>
                    </a:solidFill>
                    <a:latin typeface="Arial"/>
                  </a:rPr>
                  <a:t>: </a:t>
                </a:r>
                <a:r>
                  <a:rPr lang="en-IN" sz="2400">
                    <a:solidFill>
                      <a:srgbClr val="111827"/>
                    </a:solidFill>
                    <a:latin typeface="Cambria Math" panose="02040503050406030204" pitchFamily="18" charset="0"/>
                  </a:rPr>
                  <a:t>$B=(3,0)$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Rotating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through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about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this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Rotating </a:t>
                </a:r>
                <a:r>
                  <a:rPr lang="en-IN" sz="2400">
                    <a:solidFill>
                      <a:srgbClr val="111827"/>
                    </a:solidFill>
                    <a:latin typeface="Cambria Math" panose="02040503050406030204" pitchFamily="18" charset="0"/>
                  </a:rPr>
                  <a:t>$AB$</a:t>
                </a:r>
                <a:r>
                  <a:rPr sz="2400" b="0">
                    <a:solidFill>
                      <a:srgbClr val="111827"/>
                    </a:solidFill>
                    <a:latin typeface="Arial"/>
                  </a:rPr>
                  <a:t> through </a:t>
                </a:r>
                <a:r>
                  <a:rPr lang="en-IN" sz="2400">
                    <a:solidFill>
                      <a:srgbClr val="111827"/>
                    </a:solidFill>
                    <a:latin typeface="Cambria Math" panose="02040503050406030204" pitchFamily="18" charset="0"/>
                  </a:rPr>
                  <a:t>$120^\circ$</a:t>
                </a:r>
                <a:r>
                  <a:rPr sz="2400" b="0">
                    <a:solidFill>
                      <a:srgbClr val="111827"/>
                    </a:solidFill>
                    <a:latin typeface="Arial"/>
                  </a:rPr>
                  <a:t> about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$C=A+4(\cos120^\circ,\sin120^\circ)=(-1-2,\,2\sqrt{3})=(-3,2\sqrt{3})$</a:t>
                </a:r>
                <a:r>
                  <a:rPr sz="2400" b="0">
                    <a:solidFill>
                      <a:srgbClr val="111827"/>
                    </a:solidFill>
                    <a:latin typeface="Arial"/>
                  </a:rPr>
                  <a:t>. (Check </a:t>
                </a:r>
                <a:r>
                  <a:rPr lang="en-IN" sz="2400">
                    <a:solidFill>
                      <a:srgbClr val="111827"/>
                    </a:solidFill>
                    <a:latin typeface="Cambria Math" panose="02040503050406030204" pitchFamily="18" charset="0"/>
                  </a:rPr>
                  <a:t>$BC=\sqrt{36+12}=4\sqrt{3}$</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 </a:t>
                </a:r>
                <a:r>
                  <a:rPr lang="en-IN" sz="2400">
                    <a:solidFill>
                      <a:srgbClr val="111827"/>
                    </a:solidFill>
                    <a:latin typeface="Cambria Math" panose="02040503050406030204" pitchFamily="18" charset="0"/>
                  </a:rPr>
                  <a:t>$BC$</a:t>
                </a:r>
                <a:r>
                  <a:rPr sz="2400" b="0">
                    <a:solidFill>
                      <a:srgbClr val="111827"/>
                    </a:solidFill>
                    <a:latin typeface="Arial"/>
                  </a:rPr>
                  <a:t>: slope </a:t>
                </a:r>
                <a:r>
                  <a:rPr lang="en-IN" sz="2400">
                    <a:solidFill>
                      <a:srgbClr val="111827"/>
                    </a:solidFill>
                    <a:latin typeface="Cambria Math" panose="02040503050406030204" pitchFamily="18" charset="0"/>
                  </a:rPr>
                  <a:t>$\frac{2\sqrt{3}}{-6}=-\frac{1}{\sqrt{3}}$</a:t>
                </a:r>
                <a:r>
                  <a:rPr sz="2400" b="0">
                    <a:solidFill>
                      <a:srgbClr val="111827"/>
                    </a:solidFill>
                    <a:latin typeface="Arial"/>
                  </a:rPr>
                  <a:t>, so </a:t>
                </a:r>
                <a:r>
                  <a:rPr lang="en-IN" sz="2400">
                    <a:solidFill>
                      <a:srgbClr val="111827"/>
                    </a:solidFill>
                    <a:latin typeface="Cambria Math" panose="02040503050406030204" pitchFamily="18" charset="0"/>
                  </a:rPr>
                  <a:t>$x+\sqrt{3}y=3$</a:t>
                </a:r>
                <a:r>
                  <a:rPr sz="2400" b="0">
                    <a:solidFill>
                      <a:srgbClr val="111827"/>
                    </a:solidFill>
                    <a:latin typeface="Arial"/>
                  </a:rPr>
                  <a:t>; with </a:t>
                </a:r>
                <a:r>
                  <a:rPr lang="en-IN" sz="2400">
                    <a:solidFill>
                      <a:srgbClr val="111827"/>
                    </a:solidFill>
                    <a:latin typeface="Cambria Math" panose="02040503050406030204" pitchFamily="18" charset="0"/>
                  </a:rPr>
                  <a:t>$y=x+3$</a:t>
                </a:r>
                <a:r>
                  <a:rPr sz="2400" b="0">
                    <a:solidFill>
                      <a:srgbClr val="111827"/>
                    </a:solidFill>
                    <a:latin typeface="Arial"/>
                  </a:rPr>
                  <a:t> this gives </a:t>
                </a:r>
                <a:r>
                  <a:rPr lang="en-IN" sz="2400">
                    <a:solidFill>
                      <a:srgbClr val="111827"/>
                    </a:solidFill>
                    <a:latin typeface="Cambria Math" panose="02040503050406030204" pitchFamily="18" charset="0"/>
                  </a:rPr>
                  <a:t>$(\alpha,\beta)=\left(3\sqrt{3}-6,\,3\sqrt{3}-3\right)$</a:t>
                </a:r>
                <a:r>
                  <a:rPr sz="2400" b="0">
                    <a:solidFill>
                      <a:srgbClr val="111827"/>
                    </a:solidFill>
                    <a:latin typeface="Arial"/>
                  </a:rPr>
                  <a:t> and </a:t>
                </a:r>
                <a:r>
                  <a:rPr lang="en-IN" sz="2400">
                    <a:solidFill>
                      <a:srgbClr val="111827"/>
                    </a:solidFill>
                    <a:latin typeface="Cambria Math" panose="02040503050406030204" pitchFamily="18" charset="0"/>
                  </a:rPr>
                  <a:t>$\frac{\beta^4}{\alpha^2}=36$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36</a:t>
            </a:r>
            <a:endParaRPr sz="2800">
              <a:solidFill>
                <a:srgbClr val="15803D"/>
              </a:solidFill>
            </a:endParaRP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 isosceles triangle with equal sides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and apex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base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second vertex is obtained by rotating a point about a centre: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 surds by recognising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before squaring again.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 isosceles triangle with equal sides </a:t>
                </a:r>
                <a:r>
                  <a:rPr lang="en-IN" sz="2400">
                    <a:solidFill>
                      <a:srgbClr val="111827"/>
                    </a:solidFill>
                    <a:latin typeface="Cambria Math" panose="02040503050406030204" pitchFamily="18" charset="0"/>
                  </a:rPr>
                  <a:t>$s$</a:t>
                </a:r>
                <a:r>
                  <a:rPr sz="2400" b="0">
                    <a:solidFill>
                      <a:srgbClr val="111827"/>
                    </a:solidFill>
                    <a:latin typeface="Arial"/>
                  </a:rPr>
                  <a:t> and apex angle </a:t>
                </a:r>
                <a:r>
                  <a:rPr lang="en-IN" sz="2400">
                    <a:solidFill>
                      <a:srgbClr val="111827"/>
                    </a:solidFill>
                    <a:latin typeface="Cambria Math" panose="02040503050406030204" pitchFamily="18" charset="0"/>
                  </a:rPr>
                  <a:t>$\theta$</a:t>
                </a:r>
                <a:r>
                  <a:rPr sz="2400" b="0">
                    <a:solidFill>
                      <a:srgbClr val="111827"/>
                    </a:solidFill>
                    <a:latin typeface="Arial"/>
                  </a:rPr>
                  <a:t>: base </a:t>
                </a:r>
                <a:r>
                  <a:rPr lang="en-IN" sz="2400">
                    <a:solidFill>
                      <a:srgbClr val="111827"/>
                    </a:solidFill>
                    <a:latin typeface="Cambria Math" panose="02040503050406030204" pitchFamily="18" charset="0"/>
                  </a:rPr>
                  <a:t>$=2s\sin\frac{\theta}{2}$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second vertex is obtained by rotating a point about a centre: </a:t>
                </a:r>
                <a:r>
                  <a:rPr lang="en-IN" sz="2400">
                    <a:solidFill>
                      <a:srgbClr val="111827"/>
                    </a:solidFill>
                    <a:latin typeface="Cambria Math" panose="02040503050406030204" pitchFamily="18" charset="0"/>
                  </a:rPr>
                  <a:t>$(x_0+r\cos(\phi+\theta),y_0+r\sin(\phi+\theta))$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 surds by recognising </a:t>
                </a:r>
                <a:r>
                  <a:rPr lang="en-IN" sz="2400">
                    <a:solidFill>
                      <a:srgbClr val="111827"/>
                    </a:solidFill>
                    <a:latin typeface="Cambria Math" panose="02040503050406030204" pitchFamily="18" charset="0"/>
                  </a:rPr>
                  <a:t>$(\sqrt{3}-1)^2=4-2\sqrt{3}=2(2-\sqrt{3})$</a:t>
                </a:r>
                <a:r>
                  <a:rPr sz="2400" b="0">
                    <a:solidFill>
                      <a:srgbClr val="111827"/>
                    </a:solidFill>
                    <a:latin typeface="Arial"/>
                  </a:rPr>
                  <a:t> before squaring again.</a:t>
                </a:r>
                <a:endParaRPr sz="2400">
                  <a:solidFill>
                    <a:srgbClr val="111827"/>
                  </a:solidFill>
                </a:endParaRPr>
              </a:p>
            </p:txBody>
          </p:sp>
        </mc:Fallback>
      </mc:AlternateContent>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Q32 – Q41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vertices of a triangle are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new triangle is formed by shifting the sides of the triangle by one unit inwards. Then the equation of the side of the new triangle nearest to origin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vertices of a triangle are </a:t>
                </a:r>
                <a:r>
                  <a:rPr lang="en-IN" sz="2400">
                    <a:solidFill>
                      <a:srgbClr val="111827"/>
                    </a:solidFill>
                    <a:latin typeface="Cambria Math" panose="02040503050406030204" pitchFamily="18" charset="0"/>
                  </a:rPr>
                  <a:t>$A(-1,3)$</a:t>
                </a:r>
                <a:r>
                  <a:rPr sz="2400" b="0">
                    <a:solidFill>
                      <a:srgbClr val="111827"/>
                    </a:solidFill>
                    <a:latin typeface="Arial"/>
                  </a:rPr>
                  <a:t>, </a:t>
                </a:r>
                <a:r>
                  <a:rPr lang="en-IN" sz="2400">
                    <a:solidFill>
                      <a:srgbClr val="111827"/>
                    </a:solidFill>
                    <a:latin typeface="Cambria Math" panose="02040503050406030204" pitchFamily="18" charset="0"/>
                  </a:rPr>
                  <a:t>$B(-2,2)$</a:t>
                </a:r>
                <a:r>
                  <a:rPr sz="2400" b="0">
                    <a:solidFill>
                      <a:srgbClr val="111827"/>
                    </a:solidFill>
                    <a:latin typeface="Arial"/>
                  </a:rPr>
                  <a:t> and </a:t>
                </a:r>
                <a:r>
                  <a:rPr lang="en-IN" sz="2400">
                    <a:solidFill>
                      <a:srgbClr val="111827"/>
                    </a:solidFill>
                    <a:latin typeface="Cambria Math" panose="02040503050406030204" pitchFamily="18" charset="0"/>
                  </a:rPr>
                  <a:t>$C(3,-1)$</a:t>
                </a:r>
                <a:r>
                  <a:rPr sz="2400" b="0">
                    <a:solidFill>
                      <a:srgbClr val="111827"/>
                    </a:solidFill>
                    <a:latin typeface="Arial"/>
                  </a:rPr>
                  <a:t>. A new triangle is formed by shifting the sides of the triangle by one unit inwards. Then the equation of the side of the new triangle nearest to origin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$x+y-\left(2-\sqrt{2}\right)=0$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$x-y-\left(2+\sqrt{2}\right)=0$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$-x+y-\left(2-\sqrt{2}\right)=0$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$x+y+\left(2-\sqrt{2}\right)=0$</a:t>
                </a:r>
                <a:endParaRPr sz="2400">
                  <a:solidFill>
                    <a:srgbClr val="111827"/>
                  </a:solidFill>
                </a:endParaRPr>
              </a:p>
            </p:txBody>
          </p:sp>
        </mc:Fallback>
      </mc:AlternateContent>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Parallel lines at a given distance, Equation of a line (side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each side by distance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towards the interior (the side of the centroid), then compare the distances of the new sides from the origin.</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each side by distance </a:t>
                </a:r>
                <a:r>
                  <a:rPr lang="en-IN" sz="2400">
                    <a:solidFill>
                      <a:srgbClr val="78350F"/>
                    </a:solidFill>
                    <a:latin typeface="Cambria Math" panose="02040503050406030204" pitchFamily="18" charset="0"/>
                  </a:rPr>
                  <a:t>$1$</a:t>
                </a:r>
                <a:r>
                  <a:rPr sz="2400" b="0">
                    <a:solidFill>
                      <a:srgbClr val="78350F"/>
                    </a:solidFill>
                    <a:latin typeface="Arial"/>
                  </a:rPr>
                  <a:t> towards the interior (the side of the centroid), then compare the distances of the new sides from the origin.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a:t>
                </a:r>
                <a:r>
                  <a:rPr sz="2400" b="0">
                    <a:solidFill>
                      <a:srgbClr val="111827"/>
                    </a:solidFill>
                    <a:latin typeface="Arial"/>
                  </a:rPr>
                  <a:t>: slope </a:t>
                </a:r>
                <a:r>
                  <a:rPr lang="en-IN" sz="2400">
                    <a:solidFill>
                      <a:srgbClr val="111827"/>
                    </a:solidFill>
                    <a:latin typeface="Cambria Math" panose="02040503050406030204" pitchFamily="18" charset="0"/>
                  </a:rPr>
                  <a:t>$\frac{2-3}{-2+1}=1$</a:t>
                </a:r>
                <a:r>
                  <a:rPr sz="2400" b="0">
                    <a:solidFill>
                      <a:srgbClr val="111827"/>
                    </a:solidFill>
                    <a:latin typeface="Arial"/>
                  </a:rPr>
                  <a:t>, so </a:t>
                </a:r>
                <a:r>
                  <a:rPr lang="en-IN" sz="2400">
                    <a:solidFill>
                      <a:srgbClr val="111827"/>
                    </a:solidFill>
                    <a:latin typeface="Cambria Math" panose="02040503050406030204" pitchFamily="18" charset="0"/>
                  </a:rPr>
                  <a:t>$y-2=x+2$</a:t>
                </a:r>
                <a:r>
                  <a:rPr sz="2400" b="0">
                    <a:solidFill>
                      <a:srgbClr val="111827"/>
                    </a:solidFill>
                    <a:latin typeface="Arial"/>
                  </a:rPr>
                  <a:t>, i.e. </a:t>
                </a:r>
                <a:r>
                  <a:rPr lang="en-IN" sz="2400">
                    <a:solidFill>
                      <a:srgbClr val="111827"/>
                    </a:solidFill>
                    <a:latin typeface="Cambria Math" panose="02040503050406030204" pitchFamily="18" charset="0"/>
                  </a:rPr>
                  <a:t>$x-y+4=0$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centroid </a:t>
                </a:r>
                <a14:m>
                  <m:oMath xmlns:m="http://schemas.openxmlformats.org/officeDocument/2006/math">
                    <m:r>
                      <a:rPr lang="en-IN" sz="2400" i="1">
                        <a:solidFill>
                          <a:srgbClr val="111827"/>
                        </a:solidFill>
                        <a:latin typeface="Cambria Math" panose="02040503050406030204" pitchFamily="18" charset="0"/>
                      </a:rPr>
                      <m:t>𝐺</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is inside: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parallel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distance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The inward one (towards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its distance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34</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34</m:t>
                        </m:r>
                      </m:e>
                    </m:rad>
                  </m:oMath>
                </a14:m>
                <a:r>
                  <a:rPr sz="2400" b="0">
                    <a:solidFill>
                      <a:srgbClr val="111827"/>
                    </a:solidFill>
                    <a:latin typeface="Arial"/>
                  </a:rPr>
                  <a:t>; inward is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distance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34</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34</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slope </a:t>
                </a:r>
                <a:r>
                  <a:rPr lang="en-IN" sz="2400">
                    <a:solidFill>
                      <a:srgbClr val="111827"/>
                    </a:solidFill>
                    <a:latin typeface="Cambria Math" panose="02040503050406030204" pitchFamily="18" charset="0"/>
                  </a:rPr>
                  <a:t>$\frac{-1-2}{3+2}=-\frac{3}{5}$</a:t>
                </a:r>
                <a:r>
                  <a:rPr sz="2400" b="0">
                    <a:solidFill>
                      <a:srgbClr val="111827"/>
                    </a:solidFill>
                    <a:latin typeface="Arial"/>
                  </a:rPr>
                  <a:t>, so </a:t>
                </a:r>
                <a:r>
                  <a:rPr lang="en-IN" sz="2400">
                    <a:solidFill>
                      <a:srgbClr val="111827"/>
                    </a:solidFill>
                    <a:latin typeface="Cambria Math" panose="02040503050406030204" pitchFamily="18" charset="0"/>
                  </a:rPr>
                  <a:t>$3x+5y=4$</a:t>
                </a:r>
                <a:r>
                  <a:rPr sz="2400" b="0">
                    <a:solidFill>
                      <a:srgbClr val="111827"/>
                    </a:solidFill>
                    <a:latin typeface="Arial"/>
                  </a:rPr>
                  <a:t>. </a:t>
                </a:r>
                <a:r>
                  <a:rPr lang="en-IN" sz="2400">
                    <a:solidFill>
                      <a:srgbClr val="111827"/>
                    </a:solidFill>
                    <a:latin typeface="Cambria Math" panose="02040503050406030204" pitchFamily="18" charset="0"/>
                  </a:rPr>
                  <a:t>$CA$</a:t>
                </a:r>
                <a:r>
                  <a:rPr sz="2400" b="0">
                    <a:solidFill>
                      <a:srgbClr val="111827"/>
                    </a:solidFill>
                    <a:latin typeface="Arial"/>
                  </a:rPr>
                  <a:t>: slope </a:t>
                </a:r>
                <a:r>
                  <a:rPr lang="en-IN" sz="2400">
                    <a:solidFill>
                      <a:srgbClr val="111827"/>
                    </a:solidFill>
                    <a:latin typeface="Cambria Math" panose="02040503050406030204" pitchFamily="18" charset="0"/>
                  </a:rPr>
                  <a:t>$-1$</a:t>
                </a:r>
                <a:r>
                  <a:rPr sz="2400" b="0">
                    <a:solidFill>
                      <a:srgbClr val="111827"/>
                    </a:solidFill>
                    <a:latin typeface="Arial"/>
                  </a:rPr>
                  <a:t>, so </a:t>
                </a:r>
                <a:r>
                  <a:rPr lang="en-IN" sz="2400">
                    <a:solidFill>
                      <a:srgbClr val="111827"/>
                    </a:solidFill>
                    <a:latin typeface="Cambria Math" panose="02040503050406030204" pitchFamily="18" charset="0"/>
                  </a:rPr>
                  <a:t>$x+y=2$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centroid </a:t>
                </a:r>
                <a:r>
                  <a:rPr lang="en-IN" sz="2400">
                    <a:solidFill>
                      <a:srgbClr val="111827"/>
                    </a:solidFill>
                    <a:latin typeface="Cambria Math" panose="02040503050406030204" pitchFamily="18" charset="0"/>
                  </a:rPr>
                  <a:t>$G\left(0,\frac{4}{3}\right)$</a:t>
                </a:r>
                <a:r>
                  <a:rPr sz="2400" b="0">
                    <a:solidFill>
                      <a:srgbClr val="111827"/>
                    </a:solidFill>
                    <a:latin typeface="Arial"/>
                  </a:rPr>
                  <a:t> is inside: </a:t>
                </a:r>
                <a:r>
                  <a:rPr lang="en-IN" sz="2400">
                    <a:solidFill>
                      <a:srgbClr val="111827"/>
                    </a:solidFill>
                    <a:latin typeface="Cambria Math" panose="02040503050406030204" pitchFamily="18" charset="0"/>
                  </a:rPr>
                  <a:t>$x-y+4&gt;0$</a:t>
                </a:r>
                <a:r>
                  <a:rPr sz="2400" b="0">
                    <a:solidFill>
                      <a:srgbClr val="111827"/>
                    </a:solidFill>
                    <a:latin typeface="Arial"/>
                  </a:rPr>
                  <a:t>, </a:t>
                </a:r>
                <a:r>
                  <a:rPr lang="en-IN" sz="2400">
                    <a:solidFill>
                      <a:srgbClr val="111827"/>
                    </a:solidFill>
                    <a:latin typeface="Cambria Math" panose="02040503050406030204" pitchFamily="18" charset="0"/>
                  </a:rPr>
                  <a:t>$3x+5y-4&gt;0$</a:t>
                </a:r>
                <a:r>
                  <a:rPr sz="2400" b="0">
                    <a:solidFill>
                      <a:srgbClr val="111827"/>
                    </a:solidFill>
                    <a:latin typeface="Arial"/>
                  </a:rPr>
                  <a:t>, </a:t>
                </a:r>
                <a:r>
                  <a:rPr lang="en-IN" sz="2400">
                    <a:solidFill>
                      <a:srgbClr val="111827"/>
                    </a:solidFill>
                    <a:latin typeface="Cambria Math" panose="02040503050406030204" pitchFamily="18" charset="0"/>
                  </a:rPr>
                  <a:t>$x+y-2&lt;0$</a:t>
                </a:r>
                <a:r>
                  <a:rPr sz="2400" b="0">
                    <a:solidFill>
                      <a:srgbClr val="111827"/>
                    </a:solidFill>
                    <a:latin typeface="Arial"/>
                  </a:rPr>
                  <a:t> at </a:t>
                </a:r>
                <a:r>
                  <a:rPr lang="en-IN" sz="2400">
                    <a:solidFill>
                      <a:srgbClr val="111827"/>
                    </a:solidFill>
                    <a:latin typeface="Cambria Math" panose="02040503050406030204" pitchFamily="18" charset="0"/>
                  </a:rPr>
                  <a:t>$G$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parallel to </a:t>
                </a:r>
                <a:r>
                  <a:rPr lang="en-IN" sz="2400">
                    <a:solidFill>
                      <a:srgbClr val="111827"/>
                    </a:solidFill>
                    <a:latin typeface="Cambria Math" panose="02040503050406030204" pitchFamily="18" charset="0"/>
                  </a:rPr>
                  <a:t>$x-y+4=0$</a:t>
                </a:r>
                <a:r>
                  <a:rPr sz="2400" b="0">
                    <a:solidFill>
                      <a:srgbClr val="111827"/>
                    </a:solidFill>
                    <a:latin typeface="Arial"/>
                  </a:rPr>
                  <a:t> at distance </a:t>
                </a:r>
                <a:r>
                  <a:rPr lang="en-IN" sz="2400">
                    <a:solidFill>
                      <a:srgbClr val="111827"/>
                    </a:solidFill>
                    <a:latin typeface="Cambria Math" panose="02040503050406030204" pitchFamily="18" charset="0"/>
                  </a:rPr>
                  <a:t>$1$</a:t>
                </a:r>
                <a:r>
                  <a:rPr sz="2400" b="0">
                    <a:solidFill>
                      <a:srgbClr val="111827"/>
                    </a:solidFill>
                    <a:latin typeface="Arial"/>
                  </a:rPr>
                  <a:t> is </a:t>
                </a:r>
                <a:r>
                  <a:rPr lang="en-IN" sz="2400">
                    <a:solidFill>
                      <a:srgbClr val="111827"/>
                    </a:solidFill>
                    <a:latin typeface="Cambria Math" panose="02040503050406030204" pitchFamily="18" charset="0"/>
                  </a:rPr>
                  <a:t>$x-y+4=\pm\sqrt{2}$</a:t>
                </a:r>
                <a:r>
                  <a:rPr sz="2400" b="0">
                    <a:solidFill>
                      <a:srgbClr val="111827"/>
                    </a:solidFill>
                    <a:latin typeface="Arial"/>
                  </a:rPr>
                  <a:t>. The inward one (towards </a:t>
                </a:r>
                <a:r>
                  <a:rPr lang="en-IN" sz="2400">
                    <a:solidFill>
                      <a:srgbClr val="111827"/>
                    </a:solidFill>
                    <a:latin typeface="Cambria Math" panose="02040503050406030204" pitchFamily="18" charset="0"/>
                  </a:rPr>
                  <a:t>$G$</a:t>
                </a:r>
                <a:r>
                  <a:rPr sz="2400" b="0">
                    <a:solidFill>
                      <a:srgbClr val="111827"/>
                    </a:solidFill>
                    <a:latin typeface="Arial"/>
                  </a:rPr>
                  <a:t>) is </a:t>
                </a:r>
                <a:r>
                  <a:rPr lang="en-IN" sz="2400">
                    <a:solidFill>
                      <a:srgbClr val="111827"/>
                    </a:solidFill>
                    <a:latin typeface="Cambria Math" panose="02040503050406030204" pitchFamily="18" charset="0"/>
                  </a:rPr>
                  <a:t>$x-y+4-\sqrt{2}=0$</a:t>
                </a:r>
                <a:r>
                  <a:rPr sz="2400" b="0">
                    <a:solidFill>
                      <a:srgbClr val="111827"/>
                    </a:solidFill>
                    <a:latin typeface="Arial"/>
                  </a:rPr>
                  <a:t>; its distance from </a:t>
                </a:r>
                <a:r>
                  <a:rPr lang="en-IN" sz="2400">
                    <a:solidFill>
                      <a:srgbClr val="111827"/>
                    </a:solidFill>
                    <a:latin typeface="Cambria Math" panose="02040503050406030204" pitchFamily="18" charset="0"/>
                  </a:rPr>
                  <a:t>$O$</a:t>
                </a:r>
                <a:r>
                  <a:rPr sz="2400" b="0">
                    <a:solidFill>
                      <a:srgbClr val="111827"/>
                    </a:solidFill>
                    <a:latin typeface="Arial"/>
                  </a:rPr>
                  <a:t> is </a:t>
                </a:r>
                <a:r>
                  <a:rPr lang="en-IN" sz="2400">
                    <a:solidFill>
                      <a:srgbClr val="111827"/>
                    </a:solidFill>
                    <a:latin typeface="Cambria Math" panose="02040503050406030204" pitchFamily="18" charset="0"/>
                  </a:rPr>
                  <a:t>$\frac{4-\sqrt{2}}{\sqrt{2}}\approx1.83$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$\frac{|c-(-4)|}{\sqrt{34}}=1$</a:t>
                </a:r>
                <a:r>
                  <a:rPr sz="2400" b="0">
                    <a:solidFill>
                      <a:srgbClr val="111827"/>
                    </a:solidFill>
                    <a:latin typeface="Arial"/>
                  </a:rPr>
                  <a:t> gives </a:t>
                </a:r>
                <a:r>
                  <a:rPr lang="en-IN" sz="2400">
                    <a:solidFill>
                      <a:srgbClr val="111827"/>
                    </a:solidFill>
                    <a:latin typeface="Cambria Math" panose="02040503050406030204" pitchFamily="18" charset="0"/>
                  </a:rPr>
                  <a:t>$3x+5y-4=\pm\sqrt{34}$</a:t>
                </a:r>
                <a:r>
                  <a:rPr sz="2400" b="0">
                    <a:solidFill>
                      <a:srgbClr val="111827"/>
                    </a:solidFill>
                    <a:latin typeface="Arial"/>
                  </a:rPr>
                  <a:t>; inward is </a:t>
                </a:r>
                <a:r>
                  <a:rPr lang="en-IN" sz="2400">
                    <a:solidFill>
                      <a:srgbClr val="111827"/>
                    </a:solidFill>
                    <a:latin typeface="Cambria Math" panose="02040503050406030204" pitchFamily="18" charset="0"/>
                  </a:rPr>
                  <a:t>$3x+5y-4-\sqrt{34}=0$</a:t>
                </a:r>
                <a:r>
                  <a:rPr sz="2400" b="0">
                    <a:solidFill>
                      <a:srgbClr val="111827"/>
                    </a:solidFill>
                    <a:latin typeface="Arial"/>
                  </a:rPr>
                  <a:t>, at distance </a:t>
                </a:r>
                <a:r>
                  <a:rPr lang="en-IN" sz="2400">
                    <a:solidFill>
                      <a:srgbClr val="111827"/>
                    </a:solidFill>
                    <a:latin typeface="Cambria Math" panose="02040503050406030204" pitchFamily="18" charset="0"/>
                  </a:rPr>
                  <a:t>$\frac{4+\sqrt{34}}{\sqrt{34}}\approx1.69$</a:t>
                </a:r>
                <a:r>
                  <a:rPr sz="2400" b="0">
                    <a:solidFill>
                      <a:srgbClr val="111827"/>
                    </a:solidFill>
                    <a:latin typeface="Arial"/>
                  </a:rPr>
                  <a:t> from </a:t>
                </a:r>
                <a:r>
                  <a:rPr lang="en-IN" sz="2400">
                    <a:solidFill>
                      <a:srgbClr val="111827"/>
                    </a:solidFill>
                    <a:latin typeface="Cambria Math" panose="02040503050406030204" pitchFamily="18" charset="0"/>
                  </a:rPr>
                  <a:t>$O$</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inward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distance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0.41</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nearest side to the origin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$CA$</a:t>
                </a:r>
                <a:r>
                  <a:rPr sz="2400" b="0">
                    <a:solidFill>
                      <a:srgbClr val="111827"/>
                    </a:solidFill>
                    <a:latin typeface="Arial"/>
                  </a:rPr>
                  <a:t>: </a:t>
                </a:r>
                <a:r>
                  <a:rPr lang="en-IN" sz="2400">
                    <a:solidFill>
                      <a:srgbClr val="111827"/>
                    </a:solidFill>
                    <a:latin typeface="Cambria Math" panose="02040503050406030204" pitchFamily="18" charset="0"/>
                  </a:rPr>
                  <a:t>$\frac{|c+2|}{\sqrt{2}}=1$</a:t>
                </a:r>
                <a:r>
                  <a:rPr sz="2400" b="0">
                    <a:solidFill>
                      <a:srgbClr val="111827"/>
                    </a:solidFill>
                    <a:latin typeface="Arial"/>
                  </a:rPr>
                  <a:t> gives </a:t>
                </a:r>
                <a:r>
                  <a:rPr lang="en-IN" sz="2400">
                    <a:solidFill>
                      <a:srgbClr val="111827"/>
                    </a:solidFill>
                    <a:latin typeface="Cambria Math" panose="02040503050406030204" pitchFamily="18" charset="0"/>
                  </a:rPr>
                  <a:t>$x+y-2=\pm\sqrt{2}$</a:t>
                </a:r>
                <a:r>
                  <a:rPr sz="2400" b="0">
                    <a:solidFill>
                      <a:srgbClr val="111827"/>
                    </a:solidFill>
                    <a:latin typeface="Arial"/>
                  </a:rPr>
                  <a:t>; inward is </a:t>
                </a:r>
                <a:r>
                  <a:rPr lang="en-IN" sz="2400">
                    <a:solidFill>
                      <a:srgbClr val="111827"/>
                    </a:solidFill>
                    <a:latin typeface="Cambria Math" panose="02040503050406030204" pitchFamily="18" charset="0"/>
                  </a:rPr>
                  <a:t>$x+y-2+\sqrt{2}=0$</a:t>
                </a:r>
                <a:r>
                  <a:rPr sz="2400" b="0">
                    <a:solidFill>
                      <a:srgbClr val="111827"/>
                    </a:solidFill>
                    <a:latin typeface="Arial"/>
                  </a:rPr>
                  <a:t>, at distance </a:t>
                </a:r>
                <a:r>
                  <a:rPr lang="en-IN" sz="2400">
                    <a:solidFill>
                      <a:srgbClr val="111827"/>
                    </a:solidFill>
                    <a:latin typeface="Cambria Math" panose="02040503050406030204" pitchFamily="18" charset="0"/>
                  </a:rPr>
                  <a:t>$\frac{2-\sqrt{2}}{\sqrt{2}}\approx0.41$</a:t>
                </a:r>
                <a:r>
                  <a:rPr sz="2400" b="0">
                    <a:solidFill>
                      <a:srgbClr val="111827"/>
                    </a:solidFill>
                    <a:latin typeface="Arial"/>
                  </a:rPr>
                  <a:t> from </a:t>
                </a:r>
                <a:r>
                  <a:rPr lang="en-IN" sz="2400">
                    <a:solidFill>
                      <a:srgbClr val="111827"/>
                    </a:solidFill>
                    <a:latin typeface="Cambria Math" panose="02040503050406030204" pitchFamily="18" charset="0"/>
                  </a:rPr>
                  <a:t>$O$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nearest side to the origin is </a:t>
                </a:r>
                <a:r>
                  <a:rPr lang="en-IN" sz="2400">
                    <a:solidFill>
                      <a:srgbClr val="111827"/>
                    </a:solidFill>
                    <a:latin typeface="Cambria Math" panose="02040503050406030204" pitchFamily="18" charset="0"/>
                  </a:rPr>
                  <a:t>$x+y-2+\sqrt{2}=0$</a:t>
                </a:r>
                <a:r>
                  <a:rPr sz="2400" b="0">
                    <a:solidFill>
                      <a:srgbClr val="111827"/>
                    </a:solidFill>
                    <a:latin typeface="Arial"/>
                  </a:rPr>
                  <a:t>, i.e. </a:t>
                </a:r>
                <a:r>
                  <a:rPr lang="en-IN" sz="2400">
                    <a:solidFill>
                      <a:srgbClr val="111827"/>
                    </a:solidFill>
                    <a:latin typeface="Cambria Math" panose="02040503050406030204" pitchFamily="18" charset="0"/>
                  </a:rPr>
                  <a:t>$x+y-\left(2-\sqrt{2}\right)=0$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e>
                    </m: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$x+y-\left(2-\sqrt{2}\right)=0$</a:t>
                </a:r>
                <a:endParaRPr sz="2800">
                  <a:solidFill>
                    <a:srgbClr val="15803D"/>
                  </a:solidFill>
                </a:endParaRPr>
              </a:p>
            </p:txBody>
          </p:sp>
        </mc:Fallback>
      </mc:AlternateContent>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Check which option can be a unit shift of a side: its distance from the parallel original side must be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and the shift must be inwards.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Check which option can be a unit shift of a side: its distance from the parallel original side must be </a:t>
                </a:r>
                <a:r>
                  <a:rPr lang="en-IN" sz="2400">
                    <a:solidFill>
                      <a:srgbClr val="78350F"/>
                    </a:solidFill>
                    <a:latin typeface="Cambria Math" panose="02040503050406030204" pitchFamily="18" charset="0"/>
                  </a:rPr>
                  <a:t>$1$</a:t>
                </a:r>
                <a:r>
                  <a:rPr sz="2400" b="0">
                    <a:solidFill>
                      <a:srgbClr val="78350F"/>
                    </a:solidFill>
                    <a:latin typeface="Arial"/>
                  </a:rPr>
                  <a:t> and the shift must be inwards.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Options are of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(parallel to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slope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(parallel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vs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distance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and it lies on the side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(smaller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i.e. inwards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vs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distance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Options are of slope </a:t>
                </a:r>
                <a:r>
                  <a:rPr lang="en-IN" sz="2400">
                    <a:solidFill>
                      <a:srgbClr val="111827"/>
                    </a:solidFill>
                    <a:latin typeface="Cambria Math" panose="02040503050406030204" pitchFamily="18" charset="0"/>
                  </a:rPr>
                  <a:t>$-1$</a:t>
                </a:r>
                <a:r>
                  <a:rPr sz="2400" b="0">
                    <a:solidFill>
                      <a:srgbClr val="111827"/>
                    </a:solidFill>
                    <a:latin typeface="Arial"/>
                  </a:rPr>
                  <a:t> (parallel to </a:t>
                </a:r>
                <a:r>
                  <a:rPr lang="en-IN" sz="2400">
                    <a:solidFill>
                      <a:srgbClr val="111827"/>
                    </a:solidFill>
                    <a:latin typeface="Cambria Math" panose="02040503050406030204" pitchFamily="18" charset="0"/>
                  </a:rPr>
                  <a:t>$CA: x+y-2=0$</a:t>
                </a:r>
                <a:r>
                  <a:rPr sz="2400" b="0">
                    <a:solidFill>
                      <a:srgbClr val="111827"/>
                    </a:solidFill>
                    <a:latin typeface="Arial"/>
                  </a:rPr>
                  <a:t>) or slope </a:t>
                </a:r>
                <a:r>
                  <a:rPr lang="en-IN" sz="2400">
                    <a:solidFill>
                      <a:srgbClr val="111827"/>
                    </a:solidFill>
                    <a:latin typeface="Cambria Math" panose="02040503050406030204" pitchFamily="18" charset="0"/>
                  </a:rPr>
                  <a:t>$1$</a:t>
                </a:r>
                <a:r>
                  <a:rPr sz="2400" b="0">
                    <a:solidFill>
                      <a:srgbClr val="111827"/>
                    </a:solidFill>
                    <a:latin typeface="Arial"/>
                  </a:rPr>
                  <a:t> (parallel to </a:t>
                </a:r>
                <a:r>
                  <a:rPr lang="en-IN" sz="2400">
                    <a:solidFill>
                      <a:srgbClr val="111827"/>
                    </a:solidFill>
                    <a:latin typeface="Cambria Math" panose="02040503050406030204" pitchFamily="18" charset="0"/>
                  </a:rPr>
                  <a:t>$AB: x-y+4=0$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$x+y-(2-\sqrt{2})=0$</a:t>
                </a:r>
                <a:r>
                  <a:rPr sz="2400" b="0">
                    <a:solidFill>
                      <a:srgbClr val="111827"/>
                    </a:solidFill>
                    <a:latin typeface="Arial"/>
                  </a:rPr>
                  <a:t> vs </a:t>
                </a:r>
                <a:r>
                  <a:rPr lang="en-IN" sz="2400">
                    <a:solidFill>
                      <a:srgbClr val="111827"/>
                    </a:solidFill>
                    <a:latin typeface="Cambria Math" panose="02040503050406030204" pitchFamily="18" charset="0"/>
                  </a:rPr>
                  <a:t>$x+y-2=0$</a:t>
                </a:r>
                <a:r>
                  <a:rPr sz="2400" b="0">
                    <a:solidFill>
                      <a:srgbClr val="111827"/>
                    </a:solidFill>
                    <a:latin typeface="Arial"/>
                  </a:rPr>
                  <a:t>: distance </a:t>
                </a:r>
                <a:r>
                  <a:rPr lang="en-IN" sz="2400">
                    <a:solidFill>
                      <a:srgbClr val="111827"/>
                    </a:solidFill>
                    <a:latin typeface="Cambria Math" panose="02040503050406030204" pitchFamily="18" charset="0"/>
                  </a:rPr>
                  <a:t>$\frac{\sqrt{2}}{\sqrt{2}}=1$</a:t>
                </a:r>
                <a:r>
                  <a:rPr sz="2400" b="0">
                    <a:solidFill>
                      <a:srgbClr val="111827"/>
                    </a:solidFill>
                    <a:latin typeface="Arial"/>
                  </a:rPr>
                  <a:t> ✓, and it lies on the side of </a:t>
                </a:r>
                <a:r>
                  <a:rPr lang="en-IN" sz="2400">
                    <a:solidFill>
                      <a:srgbClr val="111827"/>
                    </a:solidFill>
                    <a:latin typeface="Cambria Math" panose="02040503050406030204" pitchFamily="18" charset="0"/>
                  </a:rPr>
                  <a:t>$B$</a:t>
                </a:r>
                <a:r>
                  <a:rPr sz="2400" b="0">
                    <a:solidFill>
                      <a:srgbClr val="111827"/>
                    </a:solidFill>
                    <a:latin typeface="Arial"/>
                  </a:rPr>
                  <a:t> (smaller </a:t>
                </a:r>
                <a:r>
                  <a:rPr lang="en-IN" sz="2400">
                    <a:solidFill>
                      <a:srgbClr val="111827"/>
                    </a:solidFill>
                    <a:latin typeface="Cambria Math" panose="02040503050406030204" pitchFamily="18" charset="0"/>
                  </a:rPr>
                  <a:t>$x+y$</a:t>
                </a:r>
                <a:r>
                  <a:rPr sz="2400" b="0">
                    <a:solidFill>
                      <a:srgbClr val="111827"/>
                    </a:solidFill>
                    <a:latin typeface="Arial"/>
                  </a:rPr>
                  <a:t>), i.e. inwards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$x+y+(2-\sqrt{2})=0$</a:t>
                </a:r>
                <a:r>
                  <a:rPr sz="2400" b="0">
                    <a:solidFill>
                      <a:srgbClr val="111827"/>
                    </a:solidFill>
                    <a:latin typeface="Arial"/>
                  </a:rPr>
                  <a:t> vs </a:t>
                </a:r>
                <a:r>
                  <a:rPr lang="en-IN" sz="2400">
                    <a:solidFill>
                      <a:srgbClr val="111827"/>
                    </a:solidFill>
                    <a:latin typeface="Cambria Math" panose="02040503050406030204" pitchFamily="18" charset="0"/>
                  </a:rPr>
                  <a:t>$x+y-2=0$</a:t>
                </a:r>
                <a:r>
                  <a:rPr sz="2400" b="0">
                    <a:solidFill>
                      <a:srgbClr val="111827"/>
                    </a:solidFill>
                    <a:latin typeface="Arial"/>
                  </a:rPr>
                  <a:t>: distance </a:t>
                </a:r>
                <a:r>
                  <a:rPr lang="en-IN" sz="2400">
                    <a:solidFill>
                      <a:srgbClr val="111827"/>
                    </a:solidFill>
                    <a:latin typeface="Cambria Math" panose="02040503050406030204" pitchFamily="18" charset="0"/>
                  </a:rPr>
                  <a:t>$\frac{4-\sqrt{2}}{\sqrt{2}}\ne1$</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vs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distance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(C)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vs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distance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 is a unit inward shift of a side, and it is the side nearest the origin (distance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$x-y-(2+\sqrt{2})=0$</a:t>
                </a:r>
                <a:r>
                  <a:rPr sz="2400" b="0">
                    <a:solidFill>
                      <a:srgbClr val="111827"/>
                    </a:solidFill>
                    <a:latin typeface="Arial"/>
                  </a:rPr>
                  <a:t> vs </a:t>
                </a:r>
                <a:r>
                  <a:rPr lang="en-IN" sz="2400">
                    <a:solidFill>
                      <a:srgbClr val="111827"/>
                    </a:solidFill>
                    <a:latin typeface="Cambria Math" panose="02040503050406030204" pitchFamily="18" charset="0"/>
                  </a:rPr>
                  <a:t>$x-y+4=0$</a:t>
                </a:r>
                <a:r>
                  <a:rPr sz="2400" b="0">
                    <a:solidFill>
                      <a:srgbClr val="111827"/>
                    </a:solidFill>
                    <a:latin typeface="Arial"/>
                  </a:rPr>
                  <a:t>: distance </a:t>
                </a:r>
                <a:r>
                  <a:rPr lang="en-IN" sz="2400">
                    <a:solidFill>
                      <a:srgbClr val="111827"/>
                    </a:solidFill>
                    <a:latin typeface="Cambria Math" panose="02040503050406030204" pitchFamily="18" charset="0"/>
                  </a:rPr>
                  <a:t>$\frac{6+\sqrt{2}}{\sqrt{2}}\neq1$</a:t>
                </a:r>
                <a:r>
                  <a:rPr sz="2400" b="0">
                    <a:solidFill>
                      <a:srgbClr val="111827"/>
                    </a:solidFill>
                    <a:latin typeface="Arial"/>
                  </a:rPr>
                  <a:t> ✗. (C) </a:t>
                </a:r>
                <a:r>
                  <a:rPr lang="en-IN" sz="2400">
                    <a:solidFill>
                      <a:srgbClr val="111827"/>
                    </a:solidFill>
                    <a:latin typeface="Cambria Math" panose="02040503050406030204" pitchFamily="18" charset="0"/>
                  </a:rPr>
                  <a:t>$x-y+(2-\sqrt{2})=0$</a:t>
                </a:r>
                <a:r>
                  <a:rPr sz="2400" b="0">
                    <a:solidFill>
                      <a:srgbClr val="111827"/>
                    </a:solidFill>
                    <a:latin typeface="Arial"/>
                  </a:rPr>
                  <a:t> vs </a:t>
                </a:r>
                <a:r>
                  <a:rPr lang="en-IN" sz="2400">
                    <a:solidFill>
                      <a:srgbClr val="111827"/>
                    </a:solidFill>
                    <a:latin typeface="Cambria Math" panose="02040503050406030204" pitchFamily="18" charset="0"/>
                  </a:rPr>
                  <a:t>$x-y+4=0$</a:t>
                </a:r>
                <a:r>
                  <a:rPr sz="2400" b="0">
                    <a:solidFill>
                      <a:srgbClr val="111827"/>
                    </a:solidFill>
                    <a:latin typeface="Arial"/>
                  </a:rPr>
                  <a:t>: distance </a:t>
                </a:r>
                <a:r>
                  <a:rPr lang="en-IN" sz="2400">
                    <a:solidFill>
                      <a:srgbClr val="111827"/>
                    </a:solidFill>
                    <a:latin typeface="Cambria Math" panose="02040503050406030204" pitchFamily="18" charset="0"/>
                  </a:rPr>
                  <a:t>$\frac{2+\sqrt{2}}{\sqrt{2}}\ne1$</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 is a unit inward shift of a side, and it is the side nearest the origin (distance </a:t>
                </a:r>
                <a:r>
                  <a:rPr lang="en-IN" sz="2400">
                    <a:solidFill>
                      <a:srgbClr val="111827"/>
                    </a:solidFill>
                    <a:latin typeface="Cambria Math" panose="02040503050406030204" pitchFamily="18" charset="0"/>
                  </a:rPr>
                  <a:t>$\approx0.41$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e>
                    </m: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$x+y-\left(2-\sqrt{2}\right)=0$</a:t>
                </a:r>
                <a:endParaRPr sz="2800">
                  <a:solidFill>
                    <a:srgbClr val="15803D"/>
                  </a:solidFill>
                </a:endParaRPr>
              </a:p>
            </p:txBody>
          </p:sp>
        </mc:Fallback>
      </mc:AlternateContent>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parallel to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distance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sign is fixed by which side of the line the interior lies on (test the centroid).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Shifting all three sides inward by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gives a homothetic triangle about the incentre with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𝐴𝑟𝑒𝑎</m:t>
                        </m:r>
                      </m:num>
                      <m:den>
                        <m:r>
                          <a:rPr lang="en-IN" sz="2400" i="1">
                            <a:solidFill>
                              <a:srgbClr val="111827"/>
                            </a:solidFill>
                            <a:latin typeface="Cambria Math" panose="02040503050406030204" pitchFamily="18" charset="0"/>
                          </a:rPr>
                          <m:t>𝑠</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so the shifted triangle is inverted, but the shifted lines are still the required sides.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plausibility check: a side shifted towards the origin by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from distance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must end at distance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0.41</m:t>
                    </m:r>
                  </m:oMath>
                </a14:m>
                <a:r>
                  <a:rPr sz="2400" b="0">
                    <a:solidFill>
                      <a:srgbClr val="111827"/>
                    </a:solidFill>
                    <a:latin typeface="Arial"/>
                  </a:rPr>
                  <a:t> - matches (A).</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parallel to </a:t>
                </a:r>
                <a:r>
                  <a:rPr lang="en-IN" sz="2400">
                    <a:solidFill>
                      <a:srgbClr val="111827"/>
                    </a:solidFill>
                    <a:latin typeface="Cambria Math" panose="02040503050406030204" pitchFamily="18" charset="0"/>
                  </a:rPr>
                  <a:t>$ax+by+c=0$</a:t>
                </a:r>
                <a:r>
                  <a:rPr sz="2400" b="0">
                    <a:solidFill>
                      <a:srgbClr val="111827"/>
                    </a:solidFill>
                    <a:latin typeface="Arial"/>
                  </a:rPr>
                  <a:t> at distance </a:t>
                </a:r>
                <a:r>
                  <a:rPr lang="en-IN" sz="2400">
                    <a:solidFill>
                      <a:srgbClr val="111827"/>
                    </a:solidFill>
                    <a:latin typeface="Cambria Math" panose="02040503050406030204" pitchFamily="18" charset="0"/>
                  </a:rPr>
                  <a:t>$d$</a:t>
                </a:r>
                <a:r>
                  <a:rPr sz="2400" b="0">
                    <a:solidFill>
                      <a:srgbClr val="111827"/>
                    </a:solidFill>
                    <a:latin typeface="Arial"/>
                  </a:rPr>
                  <a:t> is </a:t>
                </a:r>
                <a:r>
                  <a:rPr lang="en-IN" sz="2400">
                    <a:solidFill>
                      <a:srgbClr val="111827"/>
                    </a:solidFill>
                    <a:latin typeface="Cambria Math" panose="02040503050406030204" pitchFamily="18" charset="0"/>
                  </a:rPr>
                  <a:t>$ax+by+c\pm d\sqrt{a^2+b^2}=0$</a:t>
                </a:r>
                <a:r>
                  <a:rPr sz="2400" b="0">
                    <a:solidFill>
                      <a:srgbClr val="111827"/>
                    </a:solidFill>
                    <a:latin typeface="Arial"/>
                  </a:rPr>
                  <a:t>; the sign is fixed by which side of the line the interior lies on (test the centroid).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Shifting all three sides inward by </a:t>
                </a:r>
                <a:r>
                  <a:rPr lang="en-IN" sz="2400">
                    <a:solidFill>
                      <a:srgbClr val="111827"/>
                    </a:solidFill>
                    <a:latin typeface="Cambria Math" panose="02040503050406030204" pitchFamily="18" charset="0"/>
                  </a:rPr>
                  <a:t>$d$</a:t>
                </a:r>
                <a:r>
                  <a:rPr sz="2400" b="0">
                    <a:solidFill>
                      <a:srgbClr val="111827"/>
                    </a:solidFill>
                    <a:latin typeface="Arial"/>
                  </a:rPr>
                  <a:t> gives a homothetic triangle about the incentre with ratio </a:t>
                </a:r>
                <a:r>
                  <a:rPr lang="en-IN" sz="2400">
                    <a:solidFill>
                      <a:srgbClr val="111827"/>
                    </a:solidFill>
                    <a:latin typeface="Cambria Math" panose="02040503050406030204" pitchFamily="18" charset="0"/>
                  </a:rPr>
                  <a:t>$\frac{r-d}{r}$</a:t>
                </a:r>
                <a:r>
                  <a:rPr sz="2400" b="0">
                    <a:solidFill>
                      <a:srgbClr val="111827"/>
                    </a:solidFill>
                    <a:latin typeface="Arial"/>
                  </a:rPr>
                  <a:t>; here </a:t>
                </a:r>
                <a:r>
                  <a:rPr lang="en-IN" sz="2400">
                    <a:solidFill>
                      <a:srgbClr val="111827"/>
                    </a:solidFill>
                    <a:latin typeface="Cambria Math" panose="02040503050406030204" pitchFamily="18" charset="0"/>
                  </a:rPr>
                  <a:t>$r=\frac{\text{Area}}{s}\approx0.62&lt;1$</a:t>
                </a:r>
                <a:r>
                  <a:rPr sz="2400" b="0">
                    <a:solidFill>
                      <a:srgbClr val="111827"/>
                    </a:solidFill>
                    <a:latin typeface="Arial"/>
                  </a:rPr>
                  <a:t>, so the shifted triangle is inverted, but the shifted lines are still the required sides.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plausibility check: a side shifted towards the origin by </a:t>
                </a:r>
                <a:r>
                  <a:rPr lang="en-IN" sz="2400">
                    <a:solidFill>
                      <a:srgbClr val="111827"/>
                    </a:solidFill>
                    <a:latin typeface="Cambria Math" panose="02040503050406030204" pitchFamily="18" charset="0"/>
                  </a:rPr>
                  <a:t>$1$</a:t>
                </a:r>
                <a:r>
                  <a:rPr sz="2400" b="0">
                    <a:solidFill>
                      <a:srgbClr val="111827"/>
                    </a:solidFill>
                    <a:latin typeface="Arial"/>
                  </a:rPr>
                  <a:t> from distance </a:t>
                </a:r>
                <a:r>
                  <a:rPr lang="en-IN" sz="2400">
                    <a:solidFill>
                      <a:srgbClr val="111827"/>
                    </a:solidFill>
                    <a:latin typeface="Cambria Math" panose="02040503050406030204" pitchFamily="18" charset="0"/>
                  </a:rPr>
                  <a:t>$\sqrt{2}$</a:t>
                </a:r>
                <a:r>
                  <a:rPr sz="2400" b="0">
                    <a:solidFill>
                      <a:srgbClr val="111827"/>
                    </a:solidFill>
                    <a:latin typeface="Arial"/>
                  </a:rPr>
                  <a:t> must end at distance </a:t>
                </a:r>
                <a:r>
                  <a:rPr lang="en-IN" sz="2400">
                    <a:solidFill>
                      <a:srgbClr val="111827"/>
                    </a:solidFill>
                    <a:latin typeface="Cambria Math" panose="02040503050406030204" pitchFamily="18" charset="0"/>
                  </a:rPr>
                  <a:t>$\sqrt{2}-1\approx0.41$</a:t>
                </a:r>
                <a:r>
                  <a:rPr sz="2400" b="0">
                    <a:solidFill>
                      <a:srgbClr val="111827"/>
                    </a:solidFill>
                    <a:latin typeface="Arial"/>
                  </a:rPr>
                  <a:t> - matches (A).</a:t>
                </a:r>
                <a:endParaRPr sz="2400">
                  <a:solidFill>
                    <a:srgbClr val="111827"/>
                  </a:solidFill>
                </a:endParaRPr>
              </a:p>
            </p:txBody>
          </p:sp>
        </mc:Fallback>
      </mc:AlternateContent>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two straight lines drawn from the origin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intersect the line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the points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such that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an isosceles triangle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sSup>
                      <m:e>
                        <m:r>
                          <a:rPr lang="en-IN" sz="2400" i="1">
                            <a:solidFill>
                              <a:srgbClr val="111827"/>
                            </a:solidFill>
                            <a:latin typeface="Cambria Math" panose="02040503050406030204" pitchFamily="18" charset="0"/>
                          </a:rPr>
                          <m:t>𝑂</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then the greatest integer less than or equal to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48</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two straight lines drawn from the origin </a:t>
                </a:r>
                <a:r>
                  <a:rPr lang="en-IN" sz="2400">
                    <a:solidFill>
                      <a:srgbClr val="111827"/>
                    </a:solidFill>
                    <a:latin typeface="Cambria Math" panose="02040503050406030204" pitchFamily="18" charset="0"/>
                  </a:rPr>
                  <a:t>$O$</a:t>
                </a:r>
                <a:r>
                  <a:rPr sz="2400" b="0">
                    <a:solidFill>
                      <a:srgbClr val="111827"/>
                    </a:solidFill>
                    <a:latin typeface="Arial"/>
                  </a:rPr>
                  <a:t> intersect the line </a:t>
                </a:r>
                <a:r>
                  <a:rPr lang="en-IN" sz="2400">
                    <a:solidFill>
                      <a:srgbClr val="111827"/>
                    </a:solidFill>
                    <a:latin typeface="Cambria Math" panose="02040503050406030204" pitchFamily="18" charset="0"/>
                  </a:rPr>
                  <a:t>$3x+4y=12$</a:t>
                </a:r>
                <a:r>
                  <a:rPr sz="2400" b="0">
                    <a:solidFill>
                      <a:srgbClr val="111827"/>
                    </a:solidFill>
                    <a:latin typeface="Arial"/>
                  </a:rPr>
                  <a:t> at the points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such that </a:t>
                </a:r>
                <a:r>
                  <a:rPr lang="en-IN" sz="2400">
                    <a:solidFill>
                      <a:srgbClr val="111827"/>
                    </a:solidFill>
                    <a:latin typeface="Cambria Math" panose="02040503050406030204" pitchFamily="18" charset="0"/>
                  </a:rPr>
                  <a:t>$\triangle OPQ$</a:t>
                </a:r>
                <a:r>
                  <a:rPr sz="2400" b="0">
                    <a:solidFill>
                      <a:srgbClr val="111827"/>
                    </a:solidFill>
                    <a:latin typeface="Arial"/>
                  </a:rPr>
                  <a:t> is an isosceles triangle and </a:t>
                </a:r>
                <a:r>
                  <a:rPr lang="en-IN" sz="2400">
                    <a:solidFill>
                      <a:srgbClr val="111827"/>
                    </a:solidFill>
                    <a:latin typeface="Cambria Math" panose="02040503050406030204" pitchFamily="18" charset="0"/>
                  </a:rPr>
                  <a:t>$\angle POQ=90^\circ$</a:t>
                </a:r>
                <a:r>
                  <a:rPr sz="2400" b="0">
                    <a:solidFill>
                      <a:srgbClr val="111827"/>
                    </a:solidFill>
                    <a:latin typeface="Arial"/>
                  </a:rPr>
                  <a:t>. If </a:t>
                </a:r>
                <a:r>
                  <a:rPr lang="en-IN" sz="2400">
                    <a:solidFill>
                      <a:srgbClr val="111827"/>
                    </a:solidFill>
                    <a:latin typeface="Cambria Math" panose="02040503050406030204" pitchFamily="18" charset="0"/>
                  </a:rPr>
                  <a:t>$l=OP^2+PQ^2+QO^2$</a:t>
                </a:r>
                <a:r>
                  <a:rPr sz="2400" b="0">
                    <a:solidFill>
                      <a:srgbClr val="111827"/>
                    </a:solidFill>
                    <a:latin typeface="Arial"/>
                  </a:rPr>
                  <a:t>, then the greatest integer less than or equal to </a:t>
                </a:r>
                <a:r>
                  <a:rPr lang="en-IN" sz="2400">
                    <a:solidFill>
                      <a:srgbClr val="111827"/>
                    </a:solidFill>
                    <a:latin typeface="Cambria Math" panose="02040503050406030204" pitchFamily="18" charset="0"/>
                  </a:rPr>
                  <a:t>$l$</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$44$</a:t>
                </a:r>
                <a:r>
                  <a:rPr sz="2400" b="0">
                    <a:solidFill>
                      <a:srgbClr val="111827"/>
                    </a:solidFill>
                    <a:latin typeface="Arial"/>
                  </a:rPr>
                  <a:t>   (B) </a:t>
                </a:r>
                <a:r>
                  <a:rPr lang="en-IN" sz="2400">
                    <a:solidFill>
                      <a:srgbClr val="111827"/>
                    </a:solidFill>
                    <a:latin typeface="Cambria Math" panose="02040503050406030204" pitchFamily="18" charset="0"/>
                  </a:rPr>
                  <a:t>$42$</a:t>
                </a:r>
                <a:r>
                  <a:rPr sz="2400" b="0">
                    <a:solidFill>
                      <a:srgbClr val="111827"/>
                    </a:solidFill>
                    <a:latin typeface="Arial"/>
                  </a:rPr>
                  <a:t>   (C) </a:t>
                </a:r>
                <a:r>
                  <a:rPr lang="en-IN" sz="2400">
                    <a:solidFill>
                      <a:srgbClr val="111827"/>
                    </a:solidFill>
                    <a:latin typeface="Cambria Math" panose="02040503050406030204" pitchFamily="18" charset="0"/>
                  </a:rPr>
                  <a:t>$46$</a:t>
                </a:r>
                <a:r>
                  <a:rPr sz="2400" b="0">
                    <a:solidFill>
                      <a:srgbClr val="111827"/>
                    </a:solidFill>
                    <a:latin typeface="Arial"/>
                  </a:rPr>
                  <a:t>   (D) </a:t>
                </a:r>
                <a:r>
                  <a:rPr lang="en-IN" sz="2400">
                    <a:solidFill>
                      <a:srgbClr val="111827"/>
                    </a:solidFill>
                    <a:latin typeface="Cambria Math" panose="02040503050406030204" pitchFamily="18" charset="0"/>
                  </a:rPr>
                  <a:t>$48$</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Lines through the origin at a given angle to a line, Isosceles right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Isosceles with a right angle at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means each line makes </a:t>
                </a:r>
                <a14:m>
                  <m:oMath xmlns:m="http://schemas.openxmlformats.org/officeDocument/2006/math">
                    <m:sSup>
                      <m:e>
                        <m:r>
                          <a:rPr lang="en-IN" sz="2400" i="1">
                            <a:solidFill>
                              <a:srgbClr val="78350F"/>
                            </a:solidFill>
                            <a:latin typeface="Cambria Math" panose="02040503050406030204" pitchFamily="18" charset="0"/>
                          </a:rPr>
                          <m:t>45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oMath>
                </a14:m>
                <a:r>
                  <a:rPr sz="2400" b="0">
                    <a:solidFill>
                      <a:srgbClr val="78350F"/>
                    </a:solidFill>
                    <a:latin typeface="Arial"/>
                  </a:rPr>
                  <a:t>: solve </a:t>
                </a:r>
                <a14:m>
                  <m:oMath xmlns:m="http://schemas.openxmlformats.org/officeDocument/2006/math">
                    <m:r>
                      <m:rPr>
                        <m:sty m:val="p"/>
                      </m:rPr>
                      <a:rPr lang="en-IN" sz="2400">
                        <a:solidFill>
                          <a:srgbClr val="78350F"/>
                        </a:solidFill>
                        <a:latin typeface="Cambria Math" panose="02040503050406030204" pitchFamily="18" charset="0"/>
                      </a:rPr>
                      <m:t>tan</m:t>
                    </m:r>
                    <m:sSup>
                      <m:e>
                        <m:r>
                          <a:rPr lang="en-IN" sz="2400" i="1">
                            <a:solidFill>
                              <a:srgbClr val="78350F"/>
                            </a:solidFill>
                            <a:latin typeface="Cambria Math" panose="02040503050406030204" pitchFamily="18" charset="0"/>
                          </a:rPr>
                          <m:t>45</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4</m:t>
                                </m:r>
                              </m:den>
                            </m:f>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4</m:t>
                                </m:r>
                              </m:den>
                            </m:f>
                          </m:den>
                        </m:f>
                      </m:e>
                    </m:d>
                  </m:oMath>
                </a14:m>
                <a:r>
                  <a:rPr sz="2400" b="0">
                    <a:solidFill>
                      <a:srgbClr val="78350F"/>
                    </a:solidFill>
                    <a:latin typeface="Arial"/>
                  </a:rPr>
                  <a:t> for the two slopes.</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Isosceles with a right angle at </a:t>
                </a:r>
                <a:r>
                  <a:rPr lang="en-IN" sz="2400">
                    <a:solidFill>
                      <a:srgbClr val="78350F"/>
                    </a:solidFill>
                    <a:latin typeface="Cambria Math" panose="02040503050406030204" pitchFamily="18" charset="0"/>
                  </a:rPr>
                  <a:t>$O$</a:t>
                </a:r>
                <a:r>
                  <a:rPr sz="2400" b="0">
                    <a:solidFill>
                      <a:srgbClr val="78350F"/>
                    </a:solidFill>
                    <a:latin typeface="Arial"/>
                  </a:rPr>
                  <a:t> means each line makes </a:t>
                </a:r>
                <a:r>
                  <a:rPr lang="en-IN" sz="2400">
                    <a:solidFill>
                      <a:srgbClr val="78350F"/>
                    </a:solidFill>
                    <a:latin typeface="Cambria Math" panose="02040503050406030204" pitchFamily="18" charset="0"/>
                  </a:rPr>
                  <a:t>$45^\circ$</a:t>
                </a:r>
                <a:r>
                  <a:rPr sz="2400" b="0">
                    <a:solidFill>
                      <a:srgbClr val="78350F"/>
                    </a:solidFill>
                    <a:latin typeface="Arial"/>
                  </a:rPr>
                  <a:t> with </a:t>
                </a:r>
                <a:r>
                  <a:rPr lang="en-IN" sz="2400">
                    <a:solidFill>
                      <a:srgbClr val="78350F"/>
                    </a:solidFill>
                    <a:latin typeface="Cambria Math" panose="02040503050406030204" pitchFamily="18" charset="0"/>
                  </a:rPr>
                  <a:t>$PQ$</a:t>
                </a:r>
                <a:r>
                  <a:rPr sz="2400" b="0">
                    <a:solidFill>
                      <a:srgbClr val="78350F"/>
                    </a:solidFill>
                    <a:latin typeface="Arial"/>
                  </a:rPr>
                  <a:t>: solve </a:t>
                </a:r>
                <a:r>
                  <a:rPr lang="en-IN" sz="2400">
                    <a:solidFill>
                      <a:srgbClr val="78350F"/>
                    </a:solidFill>
                    <a:latin typeface="Cambria Math" panose="02040503050406030204" pitchFamily="18" charset="0"/>
                  </a:rPr>
                  <a:t>$\tan45^\circ=\left|\frac{m+\frac{3}{4}}{1-\frac{3m}{4}}\right|$</a:t>
                </a:r>
                <a:r>
                  <a:rPr sz="2400" b="0">
                    <a:solidFill>
                      <a:srgbClr val="78350F"/>
                    </a:solidFill>
                    <a:latin typeface="Arial"/>
                  </a:rPr>
                  <a:t> for the two slopes.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base angles are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each of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line through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has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4</m:t>
                                </m:r>
                              </m:den>
                            </m:f>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Taking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oMath>
                </a14:m>
                <a:r>
                  <a:rPr sz="2400" b="0">
                    <a:solidFill>
                      <a:srgbClr val="111827"/>
                    </a:solidFill>
                    <a:latin typeface="Arial"/>
                  </a:rPr>
                  <a:t> (perpendicular, as required).</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r>
                  <a:rPr lang="en-IN" sz="2400">
                    <a:solidFill>
                      <a:srgbClr val="111827"/>
                    </a:solidFill>
                    <a:latin typeface="Cambria Math" panose="02040503050406030204" pitchFamily="18" charset="0"/>
                  </a:rPr>
                  <a:t>$PQ$</a:t>
                </a:r>
                <a:r>
                  <a:rPr sz="2400" b="0">
                    <a:solidFill>
                      <a:srgbClr val="111827"/>
                    </a:solidFill>
                    <a:latin typeface="Arial"/>
                  </a:rPr>
                  <a:t> has slope </a:t>
                </a:r>
                <a:r>
                  <a:rPr lang="en-IN" sz="2400">
                    <a:solidFill>
                      <a:srgbClr val="111827"/>
                    </a:solidFill>
                    <a:latin typeface="Cambria Math" panose="02040503050406030204" pitchFamily="18" charset="0"/>
                  </a:rPr>
                  <a:t>$-\frac{3}{4}$</a:t>
                </a:r>
                <a:r>
                  <a:rPr sz="2400" b="0">
                    <a:solidFill>
                      <a:srgbClr val="111827"/>
                    </a:solidFill>
                    <a:latin typeface="Arial"/>
                  </a:rPr>
                  <a:t>. Since </a:t>
                </a:r>
                <a:r>
                  <a:rPr lang="en-IN" sz="2400">
                    <a:solidFill>
                      <a:srgbClr val="111827"/>
                    </a:solidFill>
                    <a:latin typeface="Cambria Math" panose="02040503050406030204" pitchFamily="18" charset="0"/>
                  </a:rPr>
                  <a:t>$OP=OQ$</a:t>
                </a:r>
                <a:r>
                  <a:rPr sz="2400" b="0">
                    <a:solidFill>
                      <a:srgbClr val="111827"/>
                    </a:solidFill>
                    <a:latin typeface="Arial"/>
                  </a:rPr>
                  <a:t> and </a:t>
                </a:r>
                <a:r>
                  <a:rPr lang="en-IN" sz="2400">
                    <a:solidFill>
                      <a:srgbClr val="111827"/>
                    </a:solidFill>
                    <a:latin typeface="Cambria Math" panose="02040503050406030204" pitchFamily="18" charset="0"/>
                  </a:rPr>
                  <a:t>$\angle POQ=90^\circ$</a:t>
                </a:r>
                <a:r>
                  <a:rPr sz="2400" b="0">
                    <a:solidFill>
                      <a:srgbClr val="111827"/>
                    </a:solidFill>
                    <a:latin typeface="Arial"/>
                  </a:rPr>
                  <a:t>, the base angles are </a:t>
                </a:r>
                <a:r>
                  <a:rPr lang="en-IN" sz="2400">
                    <a:solidFill>
                      <a:srgbClr val="111827"/>
                    </a:solidFill>
                    <a:latin typeface="Cambria Math" panose="02040503050406030204" pitchFamily="18" charset="0"/>
                  </a:rPr>
                  <a:t>$45^\circ$</a:t>
                </a:r>
                <a:r>
                  <a:rPr sz="2400" b="0">
                    <a:solidFill>
                      <a:srgbClr val="111827"/>
                    </a:solidFill>
                    <a:latin typeface="Arial"/>
                  </a:rPr>
                  <a:t>: each of </a:t>
                </a:r>
                <a:r>
                  <a:rPr lang="en-IN" sz="2400">
                    <a:solidFill>
                      <a:srgbClr val="111827"/>
                    </a:solidFill>
                    <a:latin typeface="Cambria Math" panose="02040503050406030204" pitchFamily="18" charset="0"/>
                  </a:rPr>
                  <a:t>$OP$</a:t>
                </a:r>
                <a:r>
                  <a:rPr sz="2400" b="0">
                    <a:solidFill>
                      <a:srgbClr val="111827"/>
                    </a:solidFill>
                    <a:latin typeface="Arial"/>
                  </a:rPr>
                  <a:t>, </a:t>
                </a:r>
                <a:r>
                  <a:rPr lang="en-IN" sz="2400">
                    <a:solidFill>
                      <a:srgbClr val="111827"/>
                    </a:solidFill>
                    <a:latin typeface="Cambria Math" panose="02040503050406030204" pitchFamily="18" charset="0"/>
                  </a:rPr>
                  <a:t>$OQ$</a:t>
                </a:r>
                <a:r>
                  <a:rPr sz="2400" b="0">
                    <a:solidFill>
                      <a:srgbClr val="111827"/>
                    </a:solidFill>
                    <a:latin typeface="Arial"/>
                  </a:rPr>
                  <a:t> makes </a:t>
                </a:r>
                <a:r>
                  <a:rPr lang="en-IN" sz="2400">
                    <a:solidFill>
                      <a:srgbClr val="111827"/>
                    </a:solidFill>
                    <a:latin typeface="Cambria Math" panose="02040503050406030204" pitchFamily="18" charset="0"/>
                  </a:rPr>
                  <a:t>$45^\circ$</a:t>
                </a:r>
                <a:r>
                  <a:rPr sz="2400" b="0">
                    <a:solidFill>
                      <a:srgbClr val="111827"/>
                    </a:solidFill>
                    <a:latin typeface="Arial"/>
                  </a:rPr>
                  <a:t> with </a:t>
                </a:r>
                <a:r>
                  <a:rPr lang="en-IN" sz="2400">
                    <a:solidFill>
                      <a:srgbClr val="111827"/>
                    </a:solidFill>
                    <a:latin typeface="Cambria Math" panose="02040503050406030204" pitchFamily="18" charset="0"/>
                  </a:rPr>
                  <a:t>$PQ$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line through </a:t>
                </a:r>
                <a:r>
                  <a:rPr lang="en-IN" sz="2400">
                    <a:solidFill>
                      <a:srgbClr val="111827"/>
                    </a:solidFill>
                    <a:latin typeface="Cambria Math" panose="02040503050406030204" pitchFamily="18" charset="0"/>
                  </a:rPr>
                  <a:t>$O$</a:t>
                </a:r>
                <a:r>
                  <a:rPr sz="2400" b="0">
                    <a:solidFill>
                      <a:srgbClr val="111827"/>
                    </a:solidFill>
                    <a:latin typeface="Arial"/>
                  </a:rPr>
                  <a:t> has slope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$\left|\frac{m+\frac{3}{4}}{1-\frac{3m}{4}}\right|=1$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$m+\frac{3}{4}=1-\frac{3m}{4}\Rightarrow7m=1\Rightarrow m=\frac{1}{7}$</a:t>
                </a:r>
                <a:r>
                  <a:rPr sz="2400" b="0">
                    <a:solidFill>
                      <a:srgbClr val="111827"/>
                    </a:solidFill>
                    <a:latin typeface="Arial"/>
                  </a:rPr>
                  <a:t>. Taking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$m+\frac{3}{4}=-1+\frac{3m}{4}\Rightarrow m=-7$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$OQ:y=\frac{x}{7}$</a:t>
                </a:r>
                <a:r>
                  <a:rPr sz="2400" b="0">
                    <a:solidFill>
                      <a:srgbClr val="111827"/>
                    </a:solidFill>
                    <a:latin typeface="Arial"/>
                  </a:rPr>
                  <a:t> and </a:t>
                </a:r>
                <a:r>
                  <a:rPr lang="en-IN" sz="2400">
                    <a:solidFill>
                      <a:srgbClr val="111827"/>
                    </a:solidFill>
                    <a:latin typeface="Cambria Math" panose="02040503050406030204" pitchFamily="18" charset="0"/>
                  </a:rPr>
                  <a:t>$OP:y=-7x$</a:t>
                </a:r>
                <a:r>
                  <a:rPr sz="2400" b="0">
                    <a:solidFill>
                      <a:srgbClr val="111827"/>
                    </a:solidFill>
                    <a:latin typeface="Arial"/>
                  </a:rPr>
                  <a:t> (perpendicular, as required).</a:t>
                </a:r>
                <a:endParaRPr sz="2400">
                  <a:solidFill>
                    <a:srgbClr val="111827"/>
                  </a:solidFill>
                </a:endParaRPr>
              </a:p>
            </p:txBody>
          </p:sp>
        </mc:Fallback>
      </mc:AlternateContent>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84</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25</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84</m:t>
                            </m:r>
                          </m:num>
                          <m:den>
                            <m:r>
                              <a:rPr lang="en-IN" sz="2400" i="1">
                                <a:solidFill>
                                  <a:srgbClr val="111827"/>
                                </a:solidFill>
                                <a:latin typeface="Cambria Math" panose="02040503050406030204" pitchFamily="18" charset="0"/>
                              </a:rPr>
                              <m:t>25</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84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7200</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7200</m:t>
                        </m:r>
                      </m:num>
                      <m:den>
                        <m:r>
                          <a:rPr lang="en-IN" sz="2400" i="1">
                            <a:solidFill>
                              <a:srgbClr val="111827"/>
                            </a:solidFill>
                            <a:latin typeface="Cambria Math" panose="02040503050406030204" pitchFamily="18" charset="0"/>
                          </a:rPr>
                          <m:t>625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1152</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46.08</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a:t>
                </a:r>
                <a:r>
                  <a:rPr sz="2400" b="0">
                    <a:solidFill>
                      <a:srgbClr val="111827"/>
                    </a:solidFill>
                    <a:latin typeface="Arial"/>
                  </a:rPr>
                  <a:t>: </a:t>
                </a:r>
                <a:r>
                  <a:rPr lang="en-IN" sz="2400">
                    <a:solidFill>
                      <a:srgbClr val="111827"/>
                    </a:solidFill>
                    <a:latin typeface="Cambria Math" panose="02040503050406030204" pitchFamily="18" charset="0"/>
                  </a:rPr>
                  <a:t>$3x+\frac{4x}{7}=12\Rightarrow x=\frac{84}{25}$</a:t>
                </a:r>
                <a:r>
                  <a:rPr sz="2400" b="0">
                    <a:solidFill>
                      <a:srgbClr val="111827"/>
                    </a:solidFill>
                    <a:latin typeface="Arial"/>
                  </a:rPr>
                  <a:t>, so </a:t>
                </a:r>
                <a:r>
                  <a:rPr lang="en-IN" sz="2400">
                    <a:solidFill>
                      <a:srgbClr val="111827"/>
                    </a:solidFill>
                    <a:latin typeface="Cambria Math" panose="02040503050406030204" pitchFamily="18" charset="0"/>
                  </a:rPr>
                  <a:t>$Q=\left(\frac{84}{25},\frac{12}{25}\right)$</a:t>
                </a:r>
                <a:r>
                  <a:rPr sz="2400" b="0">
                    <a:solidFill>
                      <a:srgbClr val="111827"/>
                    </a:solidFill>
                    <a:latin typeface="Arial"/>
                  </a:rPr>
                  <a:t>.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$3x-28x=12\Rightarrow x=-\frac{12}{25}$</a:t>
                </a:r>
                <a:r>
                  <a:rPr sz="2400" b="0">
                    <a:solidFill>
                      <a:srgbClr val="111827"/>
                    </a:solidFill>
                    <a:latin typeface="Arial"/>
                  </a:rPr>
                  <a:t>, so </a:t>
                </a:r>
                <a:r>
                  <a:rPr lang="en-IN" sz="2400">
                    <a:solidFill>
                      <a:srgbClr val="111827"/>
                    </a:solidFill>
                    <a:latin typeface="Cambria Math" panose="02040503050406030204" pitchFamily="18" charset="0"/>
                  </a:rPr>
                  <a:t>$P=\left(-\frac{12}{25},\frac{84}{25}\right)$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$OP^2=OQ^2=\frac{84^2+12^2}{25^2}=\frac{7200}{625}$</a:t>
                </a:r>
                <a:r>
                  <a:rPr sz="2400" b="0">
                    <a:solidFill>
                      <a:srgbClr val="111827"/>
                    </a:solidFill>
                    <a:latin typeface="Arial"/>
                  </a:rPr>
                  <a:t> and </a:t>
                </a:r>
                <a:r>
                  <a:rPr lang="en-IN" sz="2400">
                    <a:solidFill>
                      <a:srgbClr val="111827"/>
                    </a:solidFill>
                    <a:latin typeface="Cambria Math" panose="02040503050406030204" pitchFamily="18" charset="0"/>
                  </a:rPr>
                  <a:t>$PQ^2=OP^2+OQ^2$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$l=2(OP^2+OQ^2)=4\cdot\frac{7200}{625}=\frac{1152}{25}=46.08$</a:t>
                </a:r>
                <a:r>
                  <a:rPr sz="2400" b="0">
                    <a:solidFill>
                      <a:srgbClr val="111827"/>
                    </a:solidFill>
                    <a:latin typeface="Arial"/>
                  </a:rPr>
                  <a:t>, so </a:t>
                </a:r>
                <a:r>
                  <a:rPr lang="en-IN" sz="2400">
                    <a:solidFill>
                      <a:srgbClr val="111827"/>
                    </a:solidFill>
                    <a:latin typeface="Cambria Math" panose="02040503050406030204" pitchFamily="18" charset="0"/>
                  </a:rPr>
                  <a:t>$[l]=46$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46</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$46$</a:t>
                </a:r>
                <a:endParaRPr sz="2800">
                  <a:solidFill>
                    <a:srgbClr val="15803D"/>
                  </a:solidFill>
                </a:endParaRPr>
              </a:p>
            </p:txBody>
          </p:sp>
        </mc:Fallback>
      </mc:AlternateContent>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altitude from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in the right isosceles triangle is the distance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12</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to the line, so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ℎ</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𝑙</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𝑃</m:t>
                    </m:r>
                    <m:sSup>
                      <m:e>
                        <m:r>
                          <a:rPr lang="en-IN" sz="2400" i="1">
                            <a:solidFill>
                              <a:srgbClr val="78350F"/>
                            </a:solidFill>
                            <a:latin typeface="Cambria Math" panose="02040503050406030204" pitchFamily="18" charset="0"/>
                          </a:rPr>
                          <m:t>𝑄</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altitude from </a:t>
                </a:r>
                <a:r>
                  <a:rPr lang="en-IN" sz="2400">
                    <a:solidFill>
                      <a:srgbClr val="78350F"/>
                    </a:solidFill>
                    <a:latin typeface="Cambria Math" panose="02040503050406030204" pitchFamily="18" charset="0"/>
                  </a:rPr>
                  <a:t>$O$</a:t>
                </a:r>
                <a:r>
                  <a:rPr sz="2400" b="0">
                    <a:solidFill>
                      <a:srgbClr val="78350F"/>
                    </a:solidFill>
                    <a:latin typeface="Arial"/>
                  </a:rPr>
                  <a:t> in the right isosceles triangle is the distance </a:t>
                </a:r>
                <a:r>
                  <a:rPr lang="en-IN" sz="2400">
                    <a:solidFill>
                      <a:srgbClr val="78350F"/>
                    </a:solidFill>
                    <a:latin typeface="Cambria Math" panose="02040503050406030204" pitchFamily="18" charset="0"/>
                  </a:rPr>
                  <a:t>$h=\frac{12}{5}$</a:t>
                </a:r>
                <a:r>
                  <a:rPr sz="2400" b="0">
                    <a:solidFill>
                      <a:srgbClr val="78350F"/>
                    </a:solidFill>
                    <a:latin typeface="Arial"/>
                  </a:rPr>
                  <a:t> from </a:t>
                </a:r>
                <a:r>
                  <a:rPr lang="en-IN" sz="2400">
                    <a:solidFill>
                      <a:srgbClr val="78350F"/>
                    </a:solidFill>
                    <a:latin typeface="Cambria Math" panose="02040503050406030204" pitchFamily="18" charset="0"/>
                  </a:rPr>
                  <a:t>$O$</a:t>
                </a:r>
                <a:r>
                  <a:rPr sz="2400" b="0">
                    <a:solidFill>
                      <a:srgbClr val="78350F"/>
                    </a:solidFill>
                    <a:latin typeface="Arial"/>
                  </a:rPr>
                  <a:t> to the line, so </a:t>
                </a:r>
                <a:r>
                  <a:rPr lang="en-IN" sz="2400">
                    <a:solidFill>
                      <a:srgbClr val="78350F"/>
                    </a:solidFill>
                    <a:latin typeface="Cambria Math" panose="02040503050406030204" pitchFamily="18" charset="0"/>
                  </a:rPr>
                  <a:t>$PQ=2h$</a:t>
                </a:r>
                <a:r>
                  <a:rPr sz="2400" b="0">
                    <a:solidFill>
                      <a:srgbClr val="78350F"/>
                    </a:solidFill>
                    <a:latin typeface="Arial"/>
                  </a:rPr>
                  <a:t> and </a:t>
                </a:r>
                <a:r>
                  <a:rPr lang="en-IN" sz="2400">
                    <a:solidFill>
                      <a:srgbClr val="78350F"/>
                    </a:solidFill>
                    <a:latin typeface="Cambria Math" panose="02040503050406030204" pitchFamily="18" charset="0"/>
                  </a:rPr>
                  <a:t>$l=2PQ^2$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Right isosceles triangle with the right angle at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the altitude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to the hypotenuse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also the median,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the distance of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Right isosceles triangle with the right angle at </a:t>
                </a:r>
                <a:r>
                  <a:rPr lang="en-IN" sz="2400">
                    <a:solidFill>
                      <a:srgbClr val="111827"/>
                    </a:solidFill>
                    <a:latin typeface="Cambria Math" panose="02040503050406030204" pitchFamily="18" charset="0"/>
                  </a:rPr>
                  <a:t>$O$</a:t>
                </a:r>
                <a:r>
                  <a:rPr sz="2400" b="0">
                    <a:solidFill>
                      <a:srgbClr val="111827"/>
                    </a:solidFill>
                    <a:latin typeface="Arial"/>
                  </a:rPr>
                  <a:t>: the altitude from </a:t>
                </a:r>
                <a:r>
                  <a:rPr lang="en-IN" sz="2400">
                    <a:solidFill>
                      <a:srgbClr val="111827"/>
                    </a:solidFill>
                    <a:latin typeface="Cambria Math" panose="02040503050406030204" pitchFamily="18" charset="0"/>
                  </a:rPr>
                  <a:t>$O$</a:t>
                </a:r>
                <a:r>
                  <a:rPr sz="2400" b="0">
                    <a:solidFill>
                      <a:srgbClr val="111827"/>
                    </a:solidFill>
                    <a:latin typeface="Arial"/>
                  </a:rPr>
                  <a:t> to the hypotenuse </a:t>
                </a:r>
                <a:r>
                  <a:rPr lang="en-IN" sz="2400">
                    <a:solidFill>
                      <a:srgbClr val="111827"/>
                    </a:solidFill>
                    <a:latin typeface="Cambria Math" panose="02040503050406030204" pitchFamily="18" charset="0"/>
                  </a:rPr>
                  <a:t>$PQ$</a:t>
                </a:r>
                <a:r>
                  <a:rPr sz="2400" b="0">
                    <a:solidFill>
                      <a:srgbClr val="111827"/>
                    </a:solidFill>
                    <a:latin typeface="Arial"/>
                  </a:rPr>
                  <a:t> is also the median, so </a:t>
                </a:r>
                <a:r>
                  <a:rPr lang="en-IN" sz="2400">
                    <a:solidFill>
                      <a:srgbClr val="111827"/>
                    </a:solidFill>
                    <a:latin typeface="Cambria Math" panose="02040503050406030204" pitchFamily="18" charset="0"/>
                  </a:rPr>
                  <a:t>$h=\frac{PQ}{2}$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
                </a:r>
                <a:r>
                  <a:rPr sz="2400" b="0">
                    <a:solidFill>
                      <a:srgbClr val="111827"/>
                    </a:solidFill>
                    <a:latin typeface="Arial"/>
                  </a:rPr>
                  <a:t> is the distance of </a:t>
                </a:r>
                <a:r>
                  <a:rPr lang="en-IN" sz="2400">
                    <a:solidFill>
                      <a:srgbClr val="111827"/>
                    </a:solidFill>
                    <a:latin typeface="Cambria Math" panose="02040503050406030204" pitchFamily="18" charset="0"/>
                  </a:rPr>
                  <a:t>$O$</a:t>
                </a:r>
                <a:r>
                  <a:rPr sz="2400" b="0">
                    <a:solidFill>
                      <a:srgbClr val="111827"/>
                    </a:solidFill>
                    <a:latin typeface="Arial"/>
                  </a:rPr>
                  <a:t> from </a:t>
                </a:r>
                <a:r>
                  <a:rPr lang="en-IN" sz="2400">
                    <a:solidFill>
                      <a:srgbClr val="111827"/>
                    </a:solidFill>
                    <a:latin typeface="Cambria Math" panose="02040503050406030204" pitchFamily="18" charset="0"/>
                  </a:rPr>
                  <a:t>$3x+4y=12$</a:t>
                </a:r>
                <a:r>
                  <a:rPr sz="2400" b="0">
                    <a:solidFill>
                      <a:srgbClr val="111827"/>
                    </a:solidFill>
                    <a:latin typeface="Arial"/>
                  </a:rPr>
                  <a:t>: </a:t>
                </a:r>
                <a:r>
                  <a:rPr lang="en-IN" sz="2400">
                    <a:solidFill>
                      <a:srgbClr val="111827"/>
                    </a:solidFill>
                    <a:latin typeface="Cambria Math" panose="02040503050406030204" pitchFamily="18" charset="0"/>
                  </a:rPr>
                  <a:t>$h=\frac{12}{5}$</a:t>
                </a:r>
                <a:r>
                  <a:rPr sz="2400" b="0">
                    <a:solidFill>
                      <a:srgbClr val="111827"/>
                    </a:solidFill>
                    <a:latin typeface="Arial"/>
                  </a:rPr>
                  <a:t>, hence </a:t>
                </a:r>
                <a:r>
                  <a:rPr lang="en-IN" sz="2400">
                    <a:solidFill>
                      <a:srgbClr val="111827"/>
                    </a:solidFill>
                    <a:latin typeface="Cambria Math" panose="02040503050406030204" pitchFamily="18" charset="0"/>
                  </a:rPr>
                  <a:t>$PQ=\frac{24}{5}$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576</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1152</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46.08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oMath>
                </a14:m>
                <a:r>
                  <a:rPr sz="2400" b="0">
                    <a:solidFill>
                      <a:srgbClr val="111827"/>
                    </a:solidFill>
                    <a:latin typeface="Arial"/>
                  </a:rPr>
                  <a:t> - no coordinates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are needed.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$OP^2+OQ^2=PQ^2$</a:t>
                </a:r>
                <a:r>
                  <a:rPr sz="2400" b="0">
                    <a:solidFill>
                      <a:srgbClr val="111827"/>
                    </a:solidFill>
                    <a:latin typeface="Arial"/>
                  </a:rPr>
                  <a:t>, so </a:t>
                </a:r>
                <a:r>
                  <a:rPr lang="en-IN" sz="2400">
                    <a:solidFill>
                      <a:srgbClr val="111827"/>
                    </a:solidFill>
                    <a:latin typeface="Cambria Math" panose="02040503050406030204" pitchFamily="18" charset="0"/>
                  </a:rPr>
                  <a:t>$l=2PQ^2=2\cdot\frac{576}{25}=\frac{1152}{25}=46.08$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$[l]=46$</a:t>
                </a:r>
                <a:r>
                  <a:rPr sz="2400" b="0">
                    <a:solidFill>
                      <a:srgbClr val="111827"/>
                    </a:solidFill>
                    <a:latin typeface="Arial"/>
                  </a:rPr>
                  <a:t> - no coordinates of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are needed.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46</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$46$</a:t>
                </a:r>
                <a:endParaRPr sz="2800">
                  <a:solidFill>
                    <a:srgbClr val="15803D"/>
                  </a:solidFill>
                </a:endParaRPr>
              </a:p>
            </p:txBody>
          </p:sp>
        </mc:Fallback>
      </mc:AlternateContent>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right isosceles triangle with legs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hypotenuse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the altitude to the hypotenuse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Lines through the origin making angle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with a line of slope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have slopes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den>
                    </m:f>
                  </m:oMath>
                </a14:m>
                <a:r>
                  <a:rPr sz="2400" b="0">
                    <a:solidFill>
                      <a:srgbClr val="111827"/>
                    </a:solidFill>
                    <a:latin typeface="Arial"/>
                  </a:rPr>
                  <a:t> (two values - always find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the two lines through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are symmetric about the perpendicular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then they are at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right isosceles triangle with legs </a:t>
                </a:r>
                <a:r>
                  <a:rPr lang="en-IN" sz="2400">
                    <a:solidFill>
                      <a:srgbClr val="111827"/>
                    </a:solidFill>
                    <a:latin typeface="Cambria Math" panose="02040503050406030204" pitchFamily="18" charset="0"/>
                  </a:rPr>
                  <a:t>$a$</a:t>
                </a:r>
                <a:r>
                  <a:rPr sz="2400" b="0">
                    <a:solidFill>
                      <a:srgbClr val="111827"/>
                    </a:solidFill>
                    <a:latin typeface="Arial"/>
                  </a:rPr>
                  <a:t> and hypotenuse </a:t>
                </a:r>
                <a:r>
                  <a:rPr lang="en-IN" sz="2400">
                    <a:solidFill>
                      <a:srgbClr val="111827"/>
                    </a:solidFill>
                    <a:latin typeface="Cambria Math" panose="02040503050406030204" pitchFamily="18" charset="0"/>
                  </a:rPr>
                  <a:t>$c=a\sqrt{2}$</a:t>
                </a:r>
                <a:r>
                  <a:rPr sz="2400" b="0">
                    <a:solidFill>
                      <a:srgbClr val="111827"/>
                    </a:solidFill>
                    <a:latin typeface="Arial"/>
                  </a:rPr>
                  <a:t>, the altitude to the hypotenuse is </a:t>
                </a:r>
                <a:r>
                  <a:rPr lang="en-IN" sz="2400">
                    <a:solidFill>
                      <a:srgbClr val="111827"/>
                    </a:solidFill>
                    <a:latin typeface="Cambria Math" panose="02040503050406030204" pitchFamily="18" charset="0"/>
                  </a:rPr>
                  <a:t>$\frac{c}{2}$</a:t>
                </a:r>
                <a:r>
                  <a:rPr sz="2400" b="0">
                    <a:solidFill>
                      <a:srgbClr val="111827"/>
                    </a:solidFill>
                    <a:latin typeface="Arial"/>
                  </a:rPr>
                  <a:t>, and </a:t>
                </a:r>
                <a:r>
                  <a:rPr lang="en-IN" sz="2400">
                    <a:solidFill>
                      <a:srgbClr val="111827"/>
                    </a:solidFill>
                    <a:latin typeface="Cambria Math" panose="02040503050406030204" pitchFamily="18" charset="0"/>
                  </a:rPr>
                  <a:t>$a^2+a^2+c^2=2c^2$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Lines through the origin making angle </a:t>
                </a:r>
                <a:r>
                  <a:rPr lang="en-IN" sz="2400">
                    <a:solidFill>
                      <a:srgbClr val="111827"/>
                    </a:solidFill>
                    <a:latin typeface="Cambria Math" panose="02040503050406030204" pitchFamily="18" charset="0"/>
                  </a:rPr>
                  <a:t>$\alpha$</a:t>
                </a:r>
                <a:r>
                  <a:rPr sz="2400" b="0">
                    <a:solidFill>
                      <a:srgbClr val="111827"/>
                    </a:solidFill>
                    <a:latin typeface="Arial"/>
                  </a:rPr>
                  <a:t> with a line of slope </a:t>
                </a:r>
                <a:r>
                  <a:rPr lang="en-IN" sz="2400">
                    <a:solidFill>
                      <a:srgbClr val="111827"/>
                    </a:solidFill>
                    <a:latin typeface="Cambria Math" panose="02040503050406030204" pitchFamily="18" charset="0"/>
                  </a:rPr>
                  <a:t>$m_0$</a:t>
                </a:r>
                <a:r>
                  <a:rPr sz="2400" b="0">
                    <a:solidFill>
                      <a:srgbClr val="111827"/>
                    </a:solidFill>
                    <a:latin typeface="Arial"/>
                  </a:rPr>
                  <a:t> have slopes </a:t>
                </a:r>
                <a:r>
                  <a:rPr lang="en-IN" sz="2400">
                    <a:solidFill>
                      <a:srgbClr val="111827"/>
                    </a:solidFill>
                    <a:latin typeface="Cambria Math" panose="02040503050406030204" pitchFamily="18" charset="0"/>
                  </a:rPr>
                  <a:t>$\frac{m_0\pm\tan\alpha}{1\mp m_0\tan\alpha}$</a:t>
                </a:r>
                <a:r>
                  <a:rPr sz="2400" b="0">
                    <a:solidFill>
                      <a:srgbClr val="111827"/>
                    </a:solidFill>
                    <a:latin typeface="Arial"/>
                  </a:rPr>
                  <a:t> (two values - always find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$\angle POQ=90^\circ$</a:t>
                </a:r>
                <a:r>
                  <a:rPr sz="2400" b="0">
                    <a:solidFill>
                      <a:srgbClr val="111827"/>
                    </a:solidFill>
                    <a:latin typeface="Arial"/>
                  </a:rPr>
                  <a:t> and the two lines through </a:t>
                </a:r>
                <a:r>
                  <a:rPr lang="en-IN" sz="2400">
                    <a:solidFill>
                      <a:srgbClr val="111827"/>
                    </a:solidFill>
                    <a:latin typeface="Cambria Math" panose="02040503050406030204" pitchFamily="18" charset="0"/>
                  </a:rPr>
                  <a:t>$O$</a:t>
                </a:r>
                <a:r>
                  <a:rPr sz="2400" b="0">
                    <a:solidFill>
                      <a:srgbClr val="111827"/>
                    </a:solidFill>
                    <a:latin typeface="Arial"/>
                  </a:rPr>
                  <a:t> are symmetric about the perpendicular from </a:t>
                </a:r>
                <a:r>
                  <a:rPr lang="en-IN" sz="2400">
                    <a:solidFill>
                      <a:srgbClr val="111827"/>
                    </a:solidFill>
                    <a:latin typeface="Cambria Math" panose="02040503050406030204" pitchFamily="18" charset="0"/>
                  </a:rPr>
                  <a:t>$O$</a:t>
                </a:r>
                <a:r>
                  <a:rPr sz="2400" b="0">
                    <a:solidFill>
                      <a:srgbClr val="111827"/>
                    </a:solidFill>
                    <a:latin typeface="Arial"/>
                  </a:rPr>
                  <a:t> to </a:t>
                </a:r>
                <a:r>
                  <a:rPr lang="en-IN" sz="2400">
                    <a:solidFill>
                      <a:srgbClr val="111827"/>
                    </a:solidFill>
                    <a:latin typeface="Cambria Math" panose="02040503050406030204" pitchFamily="18" charset="0"/>
                  </a:rPr>
                  <a:t>$PQ$</a:t>
                </a:r>
                <a:r>
                  <a:rPr sz="2400" b="0">
                    <a:solidFill>
                      <a:srgbClr val="111827"/>
                    </a:solidFill>
                    <a:latin typeface="Arial"/>
                  </a:rPr>
                  <a:t>, then they are at </a:t>
                </a:r>
                <a:r>
                  <a:rPr lang="en-IN" sz="2400">
                    <a:solidFill>
                      <a:srgbClr val="111827"/>
                    </a:solidFill>
                    <a:latin typeface="Cambria Math" panose="02040503050406030204" pitchFamily="18" charset="0"/>
                  </a:rPr>
                  <a:t>$45^\circ$</a:t>
                </a:r>
                <a:r>
                  <a:rPr sz="2400" b="0">
                    <a:solidFill>
                      <a:srgbClr val="111827"/>
                    </a:solidFill>
                    <a:latin typeface="Arial"/>
                  </a:rPr>
                  <a:t> to </a:t>
                </a:r>
                <a:r>
                  <a:rPr lang="en-IN" sz="2400">
                    <a:solidFill>
                      <a:srgbClr val="111827"/>
                    </a:solidFill>
                    <a:latin typeface="Cambria Math" panose="02040503050406030204" pitchFamily="18" charset="0"/>
                  </a:rPr>
                  <a:t>$PQ$</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two points and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be a variable point above the line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such that the 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If the locus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$A(-1,1)$</a:t>
                </a:r>
                <a:r>
                  <a:rPr sz="2400" b="0">
                    <a:solidFill>
                      <a:srgbClr val="111827"/>
                    </a:solidFill>
                    <a:latin typeface="Arial"/>
                  </a:rPr>
                  <a:t> and </a:t>
                </a:r>
                <a:r>
                  <a:rPr lang="en-IN" sz="2400">
                    <a:solidFill>
                      <a:srgbClr val="111827"/>
                    </a:solidFill>
                    <a:latin typeface="Cambria Math" panose="02040503050406030204" pitchFamily="18" charset="0"/>
                  </a:rPr>
                  <a:t>$B(2,3)$</a:t>
                </a:r>
                <a:r>
                  <a:rPr sz="2400" b="0">
                    <a:solidFill>
                      <a:srgbClr val="111827"/>
                    </a:solidFill>
                    <a:latin typeface="Arial"/>
                  </a:rPr>
                  <a:t> be two points and </a:t>
                </a:r>
                <a:r>
                  <a:rPr lang="en-IN" sz="2400">
                    <a:solidFill>
                      <a:srgbClr val="111827"/>
                    </a:solidFill>
                    <a:latin typeface="Cambria Math" panose="02040503050406030204" pitchFamily="18" charset="0"/>
                  </a:rPr>
                  <a:t>$P$</a:t>
                </a:r>
                <a:r>
                  <a:rPr sz="2400" b="0">
                    <a:solidFill>
                      <a:srgbClr val="111827"/>
                    </a:solidFill>
                    <a:latin typeface="Arial"/>
                  </a:rPr>
                  <a:t> be a variable point above the line </a:t>
                </a:r>
                <a:r>
                  <a:rPr lang="en-IN" sz="2400">
                    <a:solidFill>
                      <a:srgbClr val="111827"/>
                    </a:solidFill>
                    <a:latin typeface="Cambria Math" panose="02040503050406030204" pitchFamily="18" charset="0"/>
                  </a:rPr>
                  <a:t>$AB$</a:t>
                </a:r>
                <a:r>
                  <a:rPr sz="2400" b="0">
                    <a:solidFill>
                      <a:srgbClr val="111827"/>
                    </a:solidFill>
                    <a:latin typeface="Arial"/>
                  </a:rPr>
                  <a:t> such that the area of </a:t>
                </a:r>
                <a:r>
                  <a:rPr lang="en-IN" sz="2400">
                    <a:solidFill>
                      <a:srgbClr val="111827"/>
                    </a:solidFill>
                    <a:latin typeface="Cambria Math" panose="02040503050406030204" pitchFamily="18" charset="0"/>
                  </a:rPr>
                  <a:t>$\triangle PAB$</a:t>
                </a:r>
                <a:r>
                  <a:rPr sz="2400" b="0">
                    <a:solidFill>
                      <a:srgbClr val="111827"/>
                    </a:solidFill>
                    <a:latin typeface="Arial"/>
                  </a:rPr>
                  <a:t> is </a:t>
                </a:r>
                <a:r>
                  <a:rPr lang="en-IN" sz="2400">
                    <a:solidFill>
                      <a:srgbClr val="111827"/>
                    </a:solidFill>
                    <a:latin typeface="Cambria Math" panose="02040503050406030204" pitchFamily="18" charset="0"/>
                  </a:rPr>
                  <a:t>$10$</a:t>
                </a:r>
                <a:r>
                  <a:rPr sz="2400" b="0">
                    <a:solidFill>
                      <a:srgbClr val="111827"/>
                    </a:solidFill>
                    <a:latin typeface="Arial"/>
                  </a:rPr>
                  <a:t>. If the locus of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$ax+by=15$</a:t>
                </a:r>
                <a:r>
                  <a:rPr sz="2400" b="0">
                    <a:solidFill>
                      <a:srgbClr val="111827"/>
                    </a:solidFill>
                    <a:latin typeface="Arial"/>
                  </a:rPr>
                  <a:t>, then </a:t>
                </a:r>
                <a:r>
                  <a:rPr lang="en-IN" sz="2400">
                    <a:solidFill>
                      <a:srgbClr val="111827"/>
                    </a:solidFill>
                    <a:latin typeface="Cambria Math" panose="02040503050406030204" pitchFamily="18" charset="0"/>
                  </a:rPr>
                  <a:t>$5a+2b$</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a:t>
                </a:r>
                <a:r>
                  <a:rPr sz="2400" b="0">
                    <a:solidFill>
                      <a:srgbClr val="111827"/>
                    </a:solidFill>
                    <a:latin typeface="Arial"/>
                  </a:rPr>
                  <a:t>   (B) </a:t>
                </a:r>
                <a:r>
                  <a:rPr lang="en-IN" sz="2400">
                    <a:solidFill>
                      <a:srgbClr val="111827"/>
                    </a:solidFill>
                    <a:latin typeface="Cambria Math" panose="02040503050406030204" pitchFamily="18" charset="0"/>
                  </a:rPr>
                  <a:t>$4$</a:t>
                </a:r>
                <a:r>
                  <a:rPr sz="2400" b="0">
                    <a:solidFill>
                      <a:srgbClr val="111827"/>
                    </a:solidFill>
                    <a:latin typeface="Arial"/>
                  </a:rPr>
                  <a:t>   (C) </a:t>
                </a:r>
                <a:r>
                  <a:rPr lang="en-IN" sz="2400">
                    <a:solidFill>
                      <a:srgbClr val="111827"/>
                    </a:solidFill>
                    <a:latin typeface="Cambria Math" panose="02040503050406030204" pitchFamily="18" charset="0"/>
                  </a:rPr>
                  <a:t>$-\frac{6}{5}$</a:t>
                </a:r>
                <a:r>
                  <a:rPr sz="2400" b="0">
                    <a:solidFill>
                      <a:srgbClr val="111827"/>
                    </a:solidFill>
                    <a:latin typeface="Arial"/>
                  </a:rPr>
                  <a:t>   (D) </a:t>
                </a:r>
                <a:r>
                  <a:rPr lang="en-IN" sz="2400">
                    <a:solidFill>
                      <a:srgbClr val="111827"/>
                    </a:solidFill>
                    <a:latin typeface="Cambria Math" panose="02040503050406030204" pitchFamily="18" charset="0"/>
                  </a:rPr>
                  <a:t>$-\frac{12}{5}$</a:t>
                </a:r>
                <a:endParaRPr sz="2400">
                  <a:solidFill>
                    <a:srgbClr val="111827"/>
                  </a:solidFill>
                </a:endParaRPr>
              </a:p>
            </p:txBody>
          </p:sp>
        </mc:Fallback>
      </mc:AlternateContent>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Area of a triangle, Locus of a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area with a determinant and use the sign of the expression to remove the modulus: above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area with a determinant and use the sign of the expression to remove the modulus: above </a:t>
                </a:r>
                <a:r>
                  <a:rPr lang="en-IN" sz="2400">
                    <a:solidFill>
                      <a:srgbClr val="78350F"/>
                    </a:solidFill>
                    <a:latin typeface="Cambria Math" panose="02040503050406030204" pitchFamily="18" charset="0"/>
                  </a:rPr>
                  <a:t>$AB$</a:t>
                </a:r>
                <a:r>
                  <a:rPr sz="2400" b="0">
                    <a:solidFill>
                      <a:srgbClr val="78350F"/>
                    </a:solidFill>
                    <a:latin typeface="Arial"/>
                  </a:rPr>
                  <a:t> means </a:t>
                </a:r>
                <a:r>
                  <a:rPr lang="en-IN" sz="2400">
                    <a:solidFill>
                      <a:srgbClr val="78350F"/>
                    </a:solidFill>
                    <a:latin typeface="Cambria Math" panose="02040503050406030204" pitchFamily="18" charset="0"/>
                  </a:rPr>
                  <a:t>$3k-2h-5&gt;0$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has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Points above it satisfy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area is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a:t>
                </a:r>
                <a:r>
                  <a:rPr sz="2400" b="0">
                    <a:solidFill>
                      <a:srgbClr val="111827"/>
                    </a:solidFill>
                    <a:latin typeface="Arial"/>
                  </a:rPr>
                  <a:t> has slope </a:t>
                </a:r>
                <a:r>
                  <a:rPr lang="en-IN" sz="2400">
                    <a:solidFill>
                      <a:srgbClr val="111827"/>
                    </a:solidFill>
                    <a:latin typeface="Cambria Math" panose="02040503050406030204" pitchFamily="18" charset="0"/>
                  </a:rPr>
                  <a:t>$\frac{3-1}{2+1}=\frac{2}{3}$</a:t>
                </a:r>
                <a:r>
                  <a:rPr sz="2400" b="0">
                    <a:solidFill>
                      <a:srgbClr val="111827"/>
                    </a:solidFill>
                    <a:latin typeface="Arial"/>
                  </a:rPr>
                  <a:t>: </a:t>
                </a:r>
                <a:r>
                  <a:rPr lang="en-IN" sz="2400">
                    <a:solidFill>
                      <a:srgbClr val="111827"/>
                    </a:solidFill>
                    <a:latin typeface="Cambria Math" panose="02040503050406030204" pitchFamily="18" charset="0"/>
                  </a:rPr>
                  <a:t>$y-1=\frac{2}{3}(x+1)$</a:t>
                </a:r>
                <a:r>
                  <a:rPr sz="2400" b="0">
                    <a:solidFill>
                      <a:srgbClr val="111827"/>
                    </a:solidFill>
                    <a:latin typeface="Arial"/>
                  </a:rPr>
                  <a:t>, i.e. </a:t>
                </a:r>
                <a:r>
                  <a:rPr lang="en-IN" sz="2400">
                    <a:solidFill>
                      <a:srgbClr val="111827"/>
                    </a:solidFill>
                    <a:latin typeface="Cambria Math" panose="02040503050406030204" pitchFamily="18" charset="0"/>
                  </a:rPr>
                  <a:t>$2x-3y+5=0$</a:t>
                </a:r>
                <a:r>
                  <a:rPr sz="2400" b="0">
                    <a:solidFill>
                      <a:srgbClr val="111827"/>
                    </a:solidFill>
                    <a:latin typeface="Arial"/>
                  </a:rPr>
                  <a:t>. Points above it satisfy </a:t>
                </a:r>
                <a:r>
                  <a:rPr lang="en-IN" sz="2400">
                    <a:solidFill>
                      <a:srgbClr val="111827"/>
                    </a:solidFill>
                    <a:latin typeface="Cambria Math" panose="02040503050406030204" pitchFamily="18" charset="0"/>
                  </a:rPr>
                  <a:t>$3y-2x-5&gt;0$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$P=(h,k)$</a:t>
                </a:r>
                <a:r>
                  <a:rPr sz="2400" b="0">
                    <a:solidFill>
                      <a:srgbClr val="111827"/>
                    </a:solidFill>
                    <a:latin typeface="Arial"/>
                  </a:rPr>
                  <a:t>. Area </a:t>
                </a:r>
                <a:r>
                  <a:rPr lang="en-IN" sz="2400">
                    <a:solidFill>
                      <a:srgbClr val="111827"/>
                    </a:solidFill>
                    <a:latin typeface="Cambria Math" panose="02040503050406030204" pitchFamily="18" charset="0"/>
                  </a:rPr>
                  <a:t>$=\frac{1}{2}\left|-1(3-k)+2(k-1)+h(1-3)\right|=\frac{1}{2}\left|3k-2h-5\right|$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area is </a:t>
                </a:r>
                <a:r>
                  <a:rPr lang="en-IN" sz="2400">
                    <a:solidFill>
                      <a:srgbClr val="111827"/>
                    </a:solidFill>
                    <a:latin typeface="Cambria Math" panose="02040503050406030204" pitchFamily="18" charset="0"/>
                  </a:rPr>
                  <a:t>$10$</a:t>
                </a:r>
                <a:r>
                  <a:rPr sz="2400" b="0">
                    <a:solidFill>
                      <a:srgbClr val="111827"/>
                    </a:solidFill>
                    <a:latin typeface="Arial"/>
                  </a:rPr>
                  <a:t>, so </a:t>
                </a:r>
                <a:r>
                  <a:rPr lang="en-IN" sz="2400">
                    <a:solidFill>
                      <a:srgbClr val="111827"/>
                    </a:solidFill>
                    <a:latin typeface="Cambria Math" panose="02040503050406030204" pitchFamily="18" charset="0"/>
                  </a:rPr>
                  <a:t>$|3k-2h-5|=20$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above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therefore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Locus: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To make the right side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multiply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is above </a:t>
                </a:r>
                <a:r>
                  <a:rPr lang="en-IN" sz="2400">
                    <a:solidFill>
                      <a:srgbClr val="111827"/>
                    </a:solidFill>
                    <a:latin typeface="Cambria Math" panose="02040503050406030204" pitchFamily="18" charset="0"/>
                  </a:rPr>
                  <a:t>$AB$</a:t>
                </a:r>
                <a:r>
                  <a:rPr sz="2400" b="0">
                    <a:solidFill>
                      <a:srgbClr val="111827"/>
                    </a:solidFill>
                    <a:latin typeface="Arial"/>
                  </a:rPr>
                  <a:t>, so </a:t>
                </a:r>
                <a:r>
                  <a:rPr lang="en-IN" sz="2400">
                    <a:solidFill>
                      <a:srgbClr val="111827"/>
                    </a:solidFill>
                    <a:latin typeface="Cambria Math" panose="02040503050406030204" pitchFamily="18" charset="0"/>
                  </a:rPr>
                  <a:t>$3k-2h-5&gt;0$</a:t>
                </a:r>
                <a:r>
                  <a:rPr sz="2400" b="0">
                    <a:solidFill>
                      <a:srgbClr val="111827"/>
                    </a:solidFill>
                    <a:latin typeface="Arial"/>
                  </a:rPr>
                  <a:t> and therefore </a:t>
                </a:r>
                <a:r>
                  <a:rPr lang="en-IN" sz="2400">
                    <a:solidFill>
                      <a:srgbClr val="111827"/>
                    </a:solidFill>
                    <a:latin typeface="Cambria Math" panose="02040503050406030204" pitchFamily="18" charset="0"/>
                  </a:rPr>
                  <a:t>$3k-2h-5=20$</a:t>
                </a:r>
                <a:r>
                  <a:rPr sz="2400" b="0">
                    <a:solidFill>
                      <a:srgbClr val="111827"/>
                    </a:solidFill>
                    <a:latin typeface="Arial"/>
                  </a:rPr>
                  <a:t>, i.e. </a:t>
                </a:r>
                <a:r>
                  <a:rPr lang="en-IN" sz="2400">
                    <a:solidFill>
                      <a:srgbClr val="111827"/>
                    </a:solidFill>
                    <a:latin typeface="Cambria Math" panose="02040503050406030204" pitchFamily="18" charset="0"/>
                  </a:rPr>
                  <a:t>$2h-3k=-25$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Locus: </a:t>
                </a:r>
                <a:r>
                  <a:rPr lang="en-IN" sz="2400">
                    <a:solidFill>
                      <a:srgbClr val="111827"/>
                    </a:solidFill>
                    <a:latin typeface="Cambria Math" panose="02040503050406030204" pitchFamily="18" charset="0"/>
                  </a:rPr>
                  <a:t>$2x-3y=-25\Rightarrow-2x+3y=25$</a:t>
                </a:r>
                <a:r>
                  <a:rPr sz="2400" b="0">
                    <a:solidFill>
                      <a:srgbClr val="111827"/>
                    </a:solidFill>
                    <a:latin typeface="Arial"/>
                  </a:rPr>
                  <a:t>. To make the right side </a:t>
                </a:r>
                <a:r>
                  <a:rPr lang="en-IN" sz="2400">
                    <a:solidFill>
                      <a:srgbClr val="111827"/>
                    </a:solidFill>
                    <a:latin typeface="Cambria Math" panose="02040503050406030204" pitchFamily="18" charset="0"/>
                  </a:rPr>
                  <a:t>$15$</a:t>
                </a:r>
                <a:r>
                  <a:rPr sz="2400" b="0">
                    <a:solidFill>
                      <a:srgbClr val="111827"/>
                    </a:solidFill>
                    <a:latin typeface="Arial"/>
                  </a:rPr>
                  <a:t>, multiply by </a:t>
                </a:r>
                <a:r>
                  <a:rPr lang="en-IN" sz="2400">
                    <a:solidFill>
                      <a:srgbClr val="111827"/>
                    </a:solidFill>
                    <a:latin typeface="Cambria Math" panose="02040503050406030204" pitchFamily="18" charset="0"/>
                  </a:rPr>
                  <a:t>$\frac{3}{5}$</a:t>
                </a:r>
                <a:r>
                  <a:rPr sz="2400" b="0">
                    <a:solidFill>
                      <a:srgbClr val="111827"/>
                    </a:solidFill>
                    <a:latin typeface="Arial"/>
                  </a:rPr>
                  <a:t>: </a:t>
                </a:r>
                <a:r>
                  <a:rPr lang="en-IN" sz="2400">
                    <a:solidFill>
                      <a:srgbClr val="111827"/>
                    </a:solidFill>
                    <a:latin typeface="Cambria Math" panose="02040503050406030204" pitchFamily="18" charset="0"/>
                  </a:rPr>
                  <a:t>$-\frac{6}{5}x+\frac{9}{5}y=15$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$a=-\frac{6}{5}$</a:t>
                </a:r>
                <a:r>
                  <a:rPr sz="2400" b="0">
                    <a:solidFill>
                      <a:srgbClr val="111827"/>
                    </a:solidFill>
                    <a:latin typeface="Arial"/>
                  </a:rPr>
                  <a:t> and </a:t>
                </a:r>
                <a:r>
                  <a:rPr lang="en-IN" sz="2400">
                    <a:solidFill>
                      <a:srgbClr val="111827"/>
                    </a:solidFill>
                    <a:latin typeface="Cambria Math" panose="02040503050406030204" pitchFamily="18" charset="0"/>
                  </a:rPr>
                  <a:t>$b=\frac{9}{5}$</a:t>
                </a:r>
                <a:r>
                  <a:rPr sz="2400" b="0">
                    <a:solidFill>
                      <a:srgbClr val="111827"/>
                    </a:solidFill>
                    <a:latin typeface="Arial"/>
                  </a:rPr>
                  <a:t>, and </a:t>
                </a:r>
                <a:r>
                  <a:rPr lang="en-IN" sz="2400">
                    <a:solidFill>
                      <a:srgbClr val="111827"/>
                    </a:solidFill>
                    <a:latin typeface="Cambria Math" panose="02040503050406030204" pitchFamily="18" charset="0"/>
                  </a:rPr>
                  <a:t>$5a+2b=-6+\frac{18}{5}=-\frac{12}{5}$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12</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$-\frac{12}{5}$</a:t>
                </a:r>
                <a:endParaRPr sz="2800">
                  <a:solidFill>
                    <a:srgbClr val="15803D"/>
                  </a:solidFill>
                </a:endParaRPr>
              </a:p>
            </p:txBody>
          </p:sp>
        </mc:Fallback>
      </mc:AlternateContent>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Base-height: the locus is a line parallel to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at distance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den>
                    </m:f>
                  </m:oMath>
                </a14:m>
                <a:r>
                  <a:rPr sz="2400" b="0">
                    <a:solidFill>
                      <a:srgbClr val="78350F"/>
                    </a:solidFill>
                    <a:latin typeface="Arial"/>
                  </a:rPr>
                  <a:t>, on the upper side.</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Base-height: the locus is a line parallel to </a:t>
                </a:r>
                <a:r>
                  <a:rPr lang="en-IN" sz="2400">
                    <a:solidFill>
                      <a:srgbClr val="78350F"/>
                    </a:solidFill>
                    <a:latin typeface="Cambria Math" panose="02040503050406030204" pitchFamily="18" charset="0"/>
                  </a:rPr>
                  <a:t>$AB$</a:t>
                </a:r>
                <a:r>
                  <a:rPr sz="2400" b="0">
                    <a:solidFill>
                      <a:srgbClr val="78350F"/>
                    </a:solidFill>
                    <a:latin typeface="Arial"/>
                  </a:rPr>
                  <a:t> at distance </a:t>
                </a:r>
                <a:r>
                  <a:rPr lang="en-IN" sz="2400">
                    <a:solidFill>
                      <a:srgbClr val="78350F"/>
                    </a:solidFill>
                    <a:latin typeface="Cambria Math" panose="02040503050406030204" pitchFamily="18" charset="0"/>
                  </a:rPr>
                  <a:t>$h=\frac{2\times10}{AB}$</a:t>
                </a:r>
                <a:r>
                  <a:rPr sz="2400" b="0">
                    <a:solidFill>
                      <a:srgbClr val="78350F"/>
                    </a:solidFill>
                    <a:latin typeface="Arial"/>
                  </a:rPr>
                  <a:t>, on the upper side.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oMath>
                </a14:m>
                <a:r>
                  <a:rPr sz="2400" b="0">
                    <a:solidFill>
                      <a:srgbClr val="111827"/>
                    </a:solidFill>
                    <a:latin typeface="Arial"/>
                  </a:rPr>
                  <a:t>.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on the line parallel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distance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 on the side above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$AB=\sqrt{3^2+2^2}=\sqrt{13}$</a:t>
                </a:r>
                <a:r>
                  <a:rPr sz="2400" b="0">
                    <a:solidFill>
                      <a:srgbClr val="111827"/>
                    </a:solidFill>
                    <a:latin typeface="Arial"/>
                  </a:rPr>
                  <a:t>. Area </a:t>
                </a:r>
                <a:r>
                  <a:rPr lang="en-IN" sz="2400">
                    <a:solidFill>
                      <a:srgbClr val="111827"/>
                    </a:solidFill>
                    <a:latin typeface="Cambria Math" panose="02040503050406030204" pitchFamily="18" charset="0"/>
                  </a:rPr>
                  <a:t>$=\frac{1}{2}\cdot AB\cdot h=10\Rightarrow h=\frac{20}{\sqrt{13}}$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a:t>
                </a:r>
                <a:r>
                  <a:rPr sz="2400" b="0">
                    <a:solidFill>
                      <a:srgbClr val="111827"/>
                    </a:solidFill>
                    <a:latin typeface="Arial"/>
                  </a:rPr>
                  <a:t> lies on the line parallel to </a:t>
                </a:r>
                <a:r>
                  <a:rPr lang="en-IN" sz="2400">
                    <a:solidFill>
                      <a:srgbClr val="111827"/>
                    </a:solidFill>
                    <a:latin typeface="Cambria Math" panose="02040503050406030204" pitchFamily="18" charset="0"/>
                  </a:rPr>
                  <a:t>$AB$</a:t>
                </a:r>
                <a:r>
                  <a:rPr sz="2400" b="0">
                    <a:solidFill>
                      <a:srgbClr val="111827"/>
                    </a:solidFill>
                    <a:latin typeface="Arial"/>
                  </a:rPr>
                  <a:t> at distance </a:t>
                </a:r>
                <a:r>
                  <a:rPr lang="en-IN" sz="2400">
                    <a:solidFill>
                      <a:srgbClr val="111827"/>
                    </a:solidFill>
                    <a:latin typeface="Cambria Math" panose="02040503050406030204" pitchFamily="18" charset="0"/>
                  </a:rPr>
                  <a:t>$\frac{20}{\sqrt{13}}$</a:t>
                </a:r>
                <a:r>
                  <a:rPr sz="2400" b="0">
                    <a:solidFill>
                      <a:srgbClr val="111827"/>
                    </a:solidFill>
                    <a:latin typeface="Arial"/>
                  </a:rPr>
                  <a:t>, on the side above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 above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the expression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negative,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Scale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$(x,y)$</a:t>
                </a:r>
                <a:r>
                  <a:rPr sz="2400" b="0">
                    <a:solidFill>
                      <a:srgbClr val="111827"/>
                    </a:solidFill>
                    <a:latin typeface="Arial"/>
                  </a:rPr>
                  <a:t> from </a:t>
                </a:r>
                <a:r>
                  <a:rPr lang="en-IN" sz="2400">
                    <a:solidFill>
                      <a:srgbClr val="111827"/>
                    </a:solidFill>
                    <a:latin typeface="Cambria Math" panose="02040503050406030204" pitchFamily="18" charset="0"/>
                  </a:rPr>
                  <a:t>$2x-3y+5=0$</a:t>
                </a:r>
                <a:r>
                  <a:rPr sz="2400" b="0">
                    <a:solidFill>
                      <a:srgbClr val="111827"/>
                    </a:solidFill>
                    <a:latin typeface="Arial"/>
                  </a:rPr>
                  <a:t> is </a:t>
                </a:r>
                <a:r>
                  <a:rPr lang="en-IN" sz="2400">
                    <a:solidFill>
                      <a:srgbClr val="111827"/>
                    </a:solidFill>
                    <a:latin typeface="Cambria Math" panose="02040503050406030204" pitchFamily="18" charset="0"/>
                  </a:rPr>
                  <a:t>$\frac{|2x-3y+5|}{\sqrt{13}}$</a:t>
                </a:r>
                <a:r>
                  <a:rPr sz="2400" b="0">
                    <a:solidFill>
                      <a:srgbClr val="111827"/>
                    </a:solidFill>
                    <a:latin typeface="Arial"/>
                  </a:rPr>
                  <a:t>; above </a:t>
                </a:r>
                <a:r>
                  <a:rPr lang="en-IN" sz="2400">
                    <a:solidFill>
                      <a:srgbClr val="111827"/>
                    </a:solidFill>
                    <a:latin typeface="Cambria Math" panose="02040503050406030204" pitchFamily="18" charset="0"/>
                  </a:rPr>
                  <a:t>$AB$</a:t>
                </a:r>
                <a:r>
                  <a:rPr sz="2400" b="0">
                    <a:solidFill>
                      <a:srgbClr val="111827"/>
                    </a:solidFill>
                    <a:latin typeface="Arial"/>
                  </a:rPr>
                  <a:t> the expression </a:t>
                </a:r>
                <a:r>
                  <a:rPr lang="en-IN" sz="2400">
                    <a:solidFill>
                      <a:srgbClr val="111827"/>
                    </a:solidFill>
                    <a:latin typeface="Cambria Math" panose="02040503050406030204" pitchFamily="18" charset="0"/>
                  </a:rPr>
                  <a:t>$2x-3y+5$</a:t>
                </a:r>
                <a:r>
                  <a:rPr sz="2400" b="0">
                    <a:solidFill>
                      <a:srgbClr val="111827"/>
                    </a:solidFill>
                    <a:latin typeface="Arial"/>
                  </a:rPr>
                  <a:t> is negative, so </a:t>
                </a:r>
                <a:r>
                  <a:rPr lang="en-IN" sz="2400">
                    <a:solidFill>
                      <a:srgbClr val="111827"/>
                    </a:solidFill>
                    <a:latin typeface="Cambria Math" panose="02040503050406030204" pitchFamily="18" charset="0"/>
                  </a:rPr>
                  <a:t>$-(2x-3y+5)=20$</a:t>
                </a:r>
                <a:r>
                  <a:rPr sz="2400" b="0">
                    <a:solidFill>
                      <a:srgbClr val="111827"/>
                    </a:solidFill>
                    <a:latin typeface="Arial"/>
                  </a:rPr>
                  <a:t>, i.e. </a:t>
                </a:r>
                <a:r>
                  <a:rPr lang="en-IN" sz="2400">
                    <a:solidFill>
                      <a:srgbClr val="111827"/>
                    </a:solidFill>
                    <a:latin typeface="Cambria Math" panose="02040503050406030204" pitchFamily="18" charset="0"/>
                  </a:rPr>
                  <a:t>$-2x+3y=25$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Scale to </a:t>
                </a:r>
                <a:r>
                  <a:rPr lang="en-IN" sz="2400">
                    <a:solidFill>
                      <a:srgbClr val="111827"/>
                    </a:solidFill>
                    <a:latin typeface="Cambria Math" panose="02040503050406030204" pitchFamily="18" charset="0"/>
                  </a:rPr>
                  <a:t>$15$</a:t>
                </a:r>
                <a:r>
                  <a:rPr sz="2400" b="0">
                    <a:solidFill>
                      <a:srgbClr val="111827"/>
                    </a:solidFill>
                    <a:latin typeface="Arial"/>
                  </a:rPr>
                  <a:t>: </a:t>
                </a:r>
                <a:r>
                  <a:rPr lang="en-IN" sz="2400">
                    <a:solidFill>
                      <a:srgbClr val="111827"/>
                    </a:solidFill>
                    <a:latin typeface="Cambria Math" panose="02040503050406030204" pitchFamily="18" charset="0"/>
                  </a:rPr>
                  <a:t>$-\frac{6}{5}x+\frac{9}{5}y=15$</a:t>
                </a:r>
                <a:r>
                  <a:rPr sz="2400" b="0">
                    <a:solidFill>
                      <a:srgbClr val="111827"/>
                    </a:solidFill>
                    <a:latin typeface="Arial"/>
                  </a:rPr>
                  <a:t>, so </a:t>
                </a:r>
                <a:r>
                  <a:rPr lang="en-IN" sz="2400">
                    <a:solidFill>
                      <a:srgbClr val="111827"/>
                    </a:solidFill>
                    <a:latin typeface="Cambria Math" panose="02040503050406030204" pitchFamily="18" charset="0"/>
                  </a:rPr>
                  <a:t>$5a+2b=-6+\frac{18}{5}=-\frac{12}{5}$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12</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$-\frac{12}{5}$</a:t>
                </a:r>
                <a:endParaRPr sz="2800">
                  <a:solidFill>
                    <a:srgbClr val="15803D"/>
                  </a:solidFill>
                </a:endParaRPr>
              </a:p>
            </p:txBody>
          </p:sp>
        </mc:Fallback>
      </mc:AlternateContent>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Locus of a point at a fixed area (or fixed distance) from a fixed segment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a pair of lines parallel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'above' picks one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 triangle with vertices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det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e>
                                <m:e>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e>
                                <m:e>
                                  <m:r>
                                    <a:rPr lang="en-IN" sz="2400" i="1">
                                      <a:solidFill>
                                        <a:srgbClr val="111827"/>
                                      </a:solidFill>
                                      <a:latin typeface="Cambria Math" panose="02040503050406030204" pitchFamily="18" charset="0"/>
                                    </a:rPr>
                                    <m:t>1</m:t>
                                  </m:r>
                                </m:e>
                              </m:mr>
                              <m:mr>
                                <m:e>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e>
                                <m:e>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e>
                                <m:e>
                                  <m:r>
                                    <a:rPr lang="en-IN" sz="2400" i="1">
                                      <a:solidFill>
                                        <a:srgbClr val="111827"/>
                                      </a:solidFill>
                                      <a:latin typeface="Cambria Math" panose="02040503050406030204" pitchFamily="18" charset="0"/>
                                    </a:rPr>
                                    <m:t>1</m:t>
                                  </m:r>
                                </m:e>
                              </m:mr>
                              <m:mr>
                                <m:e>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e>
                                <m:e>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e>
                                <m:e>
                                  <m:r>
                                    <a:rPr lang="en-IN" sz="2400" i="1">
                                      <a:solidFill>
                                        <a:srgbClr val="111827"/>
                                      </a:solidFill>
                                      <a:latin typeface="Cambria Math" panose="02040503050406030204" pitchFamily="18" charset="0"/>
                                    </a:rPr>
                                    <m:t>1</m:t>
                                  </m:r>
                                </m:e>
                              </m:mr>
                            </m:m>
                          </m:e>
                        </m:d>
                      </m:e>
                    </m:d>
                  </m:oMath>
                </a14:m>
                <a:r>
                  <a:rPr sz="2400" b="0">
                    <a:solidFill>
                      <a:srgbClr val="111827"/>
                    </a:solidFill>
                    <a:latin typeface="Arial"/>
                  </a:rPr>
                  <a:t> - the sign inside tells the side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on which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Never drop the modulus by choosing the sign arbitrarily - determine it from the stated position (above/below).</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Locus of a point at a fixed area (or fixed distance) from a fixed segment </a:t>
                </a:r>
                <a:r>
                  <a:rPr lang="en-IN" sz="2400">
                    <a:solidFill>
                      <a:srgbClr val="111827"/>
                    </a:solidFill>
                    <a:latin typeface="Cambria Math" panose="02040503050406030204" pitchFamily="18" charset="0"/>
                  </a:rPr>
                  <a:t>$AB$</a:t>
                </a:r>
                <a:r>
                  <a:rPr sz="2400" b="0">
                    <a:solidFill>
                      <a:srgbClr val="111827"/>
                    </a:solidFill>
                    <a:latin typeface="Arial"/>
                  </a:rPr>
                  <a:t> is a pair of lines parallel to </a:t>
                </a:r>
                <a:r>
                  <a:rPr lang="en-IN" sz="2400">
                    <a:solidFill>
                      <a:srgbClr val="111827"/>
                    </a:solidFill>
                    <a:latin typeface="Cambria Math" panose="02040503050406030204" pitchFamily="18" charset="0"/>
                  </a:rPr>
                  <a:t>$AB$</a:t>
                </a:r>
                <a:r>
                  <a:rPr sz="2400" b="0">
                    <a:solidFill>
                      <a:srgbClr val="111827"/>
                    </a:solidFill>
                    <a:latin typeface="Arial"/>
                  </a:rPr>
                  <a:t>; 'above' picks one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 triangle with vertices </a:t>
                </a:r>
                <a:r>
                  <a:rPr lang="en-IN" sz="2400">
                    <a:solidFill>
                      <a:srgbClr val="111827"/>
                    </a:solidFill>
                    <a:latin typeface="Cambria Math" panose="02040503050406030204" pitchFamily="18" charset="0"/>
                  </a:rPr>
                  <a:t>$(x_i,y_i)$</a:t>
                </a:r>
                <a:r>
                  <a:rPr sz="2400" b="0">
                    <a:solidFill>
                      <a:srgbClr val="111827"/>
                    </a:solidFill>
                    <a:latin typeface="Arial"/>
                  </a:rPr>
                  <a:t>: </a:t>
                </a:r>
                <a:r>
                  <a:rPr lang="en-IN" sz="2400">
                    <a:solidFill>
                      <a:srgbClr val="111827"/>
                    </a:solidFill>
                    <a:latin typeface="Cambria Math" panose="02040503050406030204" pitchFamily="18" charset="0"/>
                  </a:rPr>
                  <a:t>$\frac{1}{2}\left|\det\begin{pmatrix}x_1&amp;y_1&amp;1\\x_2&amp;y_2&amp;1\\x_3&amp;y_3&amp;1\end{pmatrix}\right|$</a:t>
                </a:r>
                <a:r>
                  <a:rPr sz="2400" b="0">
                    <a:solidFill>
                      <a:srgbClr val="111827"/>
                    </a:solidFill>
                    <a:latin typeface="Arial"/>
                  </a:rPr>
                  <a:t> - the sign inside tells the side of </a:t>
                </a:r>
                <a:r>
                  <a:rPr lang="en-IN" sz="2400">
                    <a:solidFill>
                      <a:srgbClr val="111827"/>
                    </a:solidFill>
                    <a:latin typeface="Cambria Math" panose="02040503050406030204" pitchFamily="18" charset="0"/>
                  </a:rPr>
                  <a:t>$AB$</a:t>
                </a:r>
                <a:r>
                  <a:rPr sz="2400" b="0">
                    <a:solidFill>
                      <a:srgbClr val="111827"/>
                    </a:solidFill>
                    <a:latin typeface="Arial"/>
                  </a:rPr>
                  <a:t> on which </a:t>
                </a:r>
                <a:r>
                  <a:rPr lang="en-IN" sz="2400">
                    <a:solidFill>
                      <a:srgbClr val="111827"/>
                    </a:solidFill>
                    <a:latin typeface="Cambria Math" panose="02040503050406030204" pitchFamily="18" charset="0"/>
                  </a:rPr>
                  <a:t>$P$</a:t>
                </a:r>
                <a:r>
                  <a:rPr sz="2400" b="0">
                    <a:solidFill>
                      <a:srgbClr val="111827"/>
                    </a:solidFill>
                    <a:latin typeface="Arial"/>
                  </a:rPr>
                  <a:t> lies.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Never drop the modulus by choosing the sign arbitrarily - determine it from the stated position (above/below).</a:t>
                </a:r>
                <a:endParaRPr sz="2400">
                  <a:solidFill>
                    <a:srgbClr val="111827"/>
                  </a:solidFill>
                </a:endParaRPr>
              </a:p>
            </p:txBody>
          </p:sp>
        </mc:Fallback>
      </mc:AlternateContent>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variable line of slope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passing through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intersect the coordinate axes at the points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The minimum value of the sum of the distances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from the origin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10</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variable line of slope </a:t>
                </a:r>
                <a:r>
                  <a:rPr lang="en-IN" sz="2400">
                    <a:solidFill>
                      <a:srgbClr val="111827"/>
                    </a:solidFill>
                    <a:latin typeface="Cambria Math" panose="02040503050406030204" pitchFamily="18" charset="0"/>
                  </a:rPr>
                  <a:t>$m&gt;0$</a:t>
                </a:r>
                <a:r>
                  <a:rPr sz="2400" b="0">
                    <a:solidFill>
                      <a:srgbClr val="111827"/>
                    </a:solidFill>
                    <a:latin typeface="Arial"/>
                  </a:rPr>
                  <a:t> passing through the point </a:t>
                </a:r>
                <a:r>
                  <a:rPr lang="en-IN" sz="2400">
                    <a:solidFill>
                      <a:srgbClr val="111827"/>
                    </a:solidFill>
                    <a:latin typeface="Cambria Math" panose="02040503050406030204" pitchFamily="18" charset="0"/>
                  </a:rPr>
                  <a:t>$(4,-9)$</a:t>
                </a:r>
                <a:r>
                  <a:rPr sz="2400" b="0">
                    <a:solidFill>
                      <a:srgbClr val="111827"/>
                    </a:solidFill>
                    <a:latin typeface="Arial"/>
                  </a:rPr>
                  <a:t> intersect the coordinate axes at the points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The minimum value of the sum of the distances of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from the origin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$30$</a:t>
                </a:r>
                <a:r>
                  <a:rPr sz="2400" b="0">
                    <a:solidFill>
                      <a:srgbClr val="111827"/>
                    </a:solidFill>
                    <a:latin typeface="Arial"/>
                  </a:rPr>
                  <a:t>   (B) </a:t>
                </a:r>
                <a:r>
                  <a:rPr lang="en-IN" sz="2400">
                    <a:solidFill>
                      <a:srgbClr val="111827"/>
                    </a:solidFill>
                    <a:latin typeface="Cambria Math" panose="02040503050406030204" pitchFamily="18" charset="0"/>
                  </a:rPr>
                  <a:t>$25$</a:t>
                </a:r>
                <a:r>
                  <a:rPr sz="2400" b="0">
                    <a:solidFill>
                      <a:srgbClr val="111827"/>
                    </a:solidFill>
                    <a:latin typeface="Arial"/>
                  </a:rPr>
                  <a:t>   (C) </a:t>
                </a:r>
                <a:r>
                  <a:rPr lang="en-IN" sz="2400">
                    <a:solidFill>
                      <a:srgbClr val="111827"/>
                    </a:solidFill>
                    <a:latin typeface="Cambria Math" panose="02040503050406030204" pitchFamily="18" charset="0"/>
                  </a:rPr>
                  <a:t>$15$</a:t>
                </a:r>
                <a:r>
                  <a:rPr sz="2400" b="0">
                    <a:solidFill>
                      <a:srgbClr val="111827"/>
                    </a:solidFill>
                    <a:latin typeface="Arial"/>
                  </a:rPr>
                  <a:t>   (D) </a:t>
                </a:r>
                <a:r>
                  <a:rPr lang="en-IN" sz="2400">
                    <a:solidFill>
                      <a:srgbClr val="111827"/>
                    </a:solidFill>
                    <a:latin typeface="Cambria Math" panose="02040503050406030204" pitchFamily="18" charset="0"/>
                  </a:rPr>
                  <a:t>$10$</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Intercepts of a line and AM-GM minimisation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sum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oMath>
                </a14:m>
                <a:r>
                  <a:rPr sz="2400" b="0">
                    <a:solidFill>
                      <a:srgbClr val="78350F"/>
                    </a:solidFill>
                    <a:latin typeface="Arial"/>
                  </a:rPr>
                  <a:t> simplifies to </a:t>
                </a:r>
                <a14:m>
                  <m:oMath xmlns:m="http://schemas.openxmlformats.org/officeDocument/2006/math">
                    <m:r>
                      <a:rPr lang="en-IN" sz="2400" i="1">
                        <a:solidFill>
                          <a:srgbClr val="78350F"/>
                        </a:solidFill>
                        <a:latin typeface="Cambria Math" panose="02040503050406030204" pitchFamily="18" charset="0"/>
                      </a:rPr>
                      <m:t>13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m:t>
                        </m:r>
                      </m:num>
                      <m:den>
                        <m:r>
                          <a:rPr lang="en-IN" sz="2400" i="1">
                            <a:solidFill>
                              <a:srgbClr val="78350F"/>
                            </a:solidFill>
                            <a:latin typeface="Cambria Math" panose="02040503050406030204" pitchFamily="18" charset="0"/>
                          </a:rPr>
                          <m:t>𝑚</m:t>
                        </m:r>
                      </m:den>
                    </m:f>
                  </m:oMath>
                </a14:m>
                <a:r>
                  <a:rPr sz="2400" b="0">
                    <a:solidFill>
                      <a:srgbClr val="78350F"/>
                    </a:solidFill>
                    <a:latin typeface="Arial"/>
                  </a:rPr>
                  <a:t>, to be minimised by AM-GM for </a:t>
                </a:r>
                <a14:m>
                  <m:oMath xmlns:m="http://schemas.openxmlformats.org/officeDocument/2006/math">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sum </a:t>
                </a:r>
                <a:r>
                  <a:rPr lang="en-IN" sz="2400">
                    <a:solidFill>
                      <a:srgbClr val="78350F"/>
                    </a:solidFill>
                    <a:latin typeface="Cambria Math" panose="02040503050406030204" pitchFamily="18" charset="0"/>
                  </a:rPr>
                  <a:t>$OA+OB$</a:t>
                </a:r>
                <a:r>
                  <a:rPr sz="2400" b="0">
                    <a:solidFill>
                      <a:srgbClr val="78350F"/>
                    </a:solidFill>
                    <a:latin typeface="Arial"/>
                  </a:rPr>
                  <a:t> simplifies to </a:t>
                </a:r>
                <a:r>
                  <a:rPr lang="en-IN" sz="2400">
                    <a:solidFill>
                      <a:srgbClr val="78350F"/>
                    </a:solidFill>
                    <a:latin typeface="Cambria Math" panose="02040503050406030204" pitchFamily="18" charset="0"/>
                  </a:rPr>
                  <a:t>$13+4m+\frac{9}{m}$</a:t>
                </a:r>
                <a:r>
                  <a:rPr sz="2400" b="0">
                    <a:solidFill>
                      <a:srgbClr val="78350F"/>
                    </a:solidFill>
                    <a:latin typeface="Arial"/>
                  </a:rPr>
                  <a:t>, to be minimised by AM-GM for </a:t>
                </a:r>
                <a:r>
                  <a:rPr lang="en-IN" sz="2400">
                    <a:solidFill>
                      <a:srgbClr val="78350F"/>
                    </a:solidFill>
                    <a:latin typeface="Cambria Math" panose="02040503050406030204" pitchFamily="18" charset="0"/>
                  </a:rPr>
                  <a:t>$m&gt;0$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oMath>
                </a14:m>
                <a:r>
                  <a:rPr sz="2400" b="0">
                    <a:solidFill>
                      <a:srgbClr val="111827"/>
                    </a:solidFill>
                    <a:latin typeface="Arial"/>
                  </a:rPr>
                  <a:t> (both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are positive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is </a:t>
                </a:r>
                <a:r>
                  <a:rPr lang="en-IN" sz="2400">
                    <a:solidFill>
                      <a:srgbClr val="111827"/>
                    </a:solidFill>
                    <a:latin typeface="Cambria Math" panose="02040503050406030204" pitchFamily="18" charset="0"/>
                  </a:rPr>
                  <a:t>$y+9=m(x-4)$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$x=\frac{9+4m}{m}$</a:t>
                </a:r>
                <a:r>
                  <a:rPr sz="2400" b="0">
                    <a:solidFill>
                      <a:srgbClr val="111827"/>
                    </a:solidFill>
                    <a:latin typeface="Arial"/>
                  </a:rPr>
                  <a:t>, so </a:t>
                </a:r>
                <a:r>
                  <a:rPr lang="en-IN" sz="2400">
                    <a:solidFill>
                      <a:srgbClr val="111827"/>
                    </a:solidFill>
                    <a:latin typeface="Cambria Math" panose="02040503050406030204" pitchFamily="18" charset="0"/>
                  </a:rPr>
                  <a:t>$A=\left(\frac{9+4m}{m},0\right)$</a:t>
                </a:r>
                <a:r>
                  <a:rPr sz="2400" b="0">
                    <a:solidFill>
                      <a:srgbClr val="111827"/>
                    </a:solidFill>
                    <a:latin typeface="Arial"/>
                  </a:rPr>
                  <a:t>. 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$y=-9-4m$</a:t>
                </a:r>
                <a:r>
                  <a:rPr sz="2400" b="0">
                    <a:solidFill>
                      <a:srgbClr val="111827"/>
                    </a:solidFill>
                    <a:latin typeface="Arial"/>
                  </a:rPr>
                  <a:t>, so </a:t>
                </a:r>
                <a:r>
                  <a:rPr lang="en-IN" sz="2400">
                    <a:solidFill>
                      <a:srgbClr val="111827"/>
                    </a:solidFill>
                    <a:latin typeface="Cambria Math" panose="02040503050406030204" pitchFamily="18" charset="0"/>
                  </a:rPr>
                  <a:t>$B=(0,-9-4m)$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$OA+OB=\frac{9+4m}{m}+9+4m$</a:t>
                </a:r>
                <a:r>
                  <a:rPr sz="2400" b="0">
                    <a:solidFill>
                      <a:srgbClr val="111827"/>
                    </a:solidFill>
                    <a:latin typeface="Arial"/>
                  </a:rPr>
                  <a:t> (both </a:t>
                </a:r>
                <a:r>
                  <a:rPr lang="en-IN" sz="2400">
                    <a:solidFill>
                      <a:srgbClr val="111827"/>
                    </a:solidFill>
                    <a:latin typeface="Cambria Math" panose="02040503050406030204" pitchFamily="18" charset="0"/>
                  </a:rPr>
                  <a:t>$9+4m$</a:t>
                </a:r>
                <a:r>
                  <a:rPr sz="2400" b="0">
                    <a:solidFill>
                      <a:srgbClr val="111827"/>
                    </a:solidFill>
                    <a:latin typeface="Arial"/>
                  </a:rPr>
                  <a:t> and </a:t>
                </a:r>
                <a:r>
                  <a:rPr lang="en-IN" sz="2400">
                    <a:solidFill>
                      <a:srgbClr val="111827"/>
                    </a:solidFill>
                    <a:latin typeface="Cambria Math" panose="02040503050406030204" pitchFamily="18" charset="0"/>
                  </a:rPr>
                  <a:t>$\frac{9+4m}{m}$</a:t>
                </a:r>
                <a:r>
                  <a:rPr sz="2400" b="0">
                    <a:solidFill>
                      <a:srgbClr val="111827"/>
                    </a:solidFill>
                    <a:latin typeface="Arial"/>
                  </a:rPr>
                  <a:t> are positive for </a:t>
                </a:r>
                <a:r>
                  <a:rPr lang="en-IN" sz="2400">
                    <a:solidFill>
                      <a:srgbClr val="111827"/>
                    </a:solidFill>
                    <a:latin typeface="Cambria Math" panose="02040503050406030204" pitchFamily="18" charset="0"/>
                  </a:rPr>
                  <a:t>$m&gt;0$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AM-GM,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with equality when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minimum value of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$=13+4m+\frac{9}{m}$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AM-GM, </a:t>
                </a:r>
                <a:r>
                  <a:rPr lang="en-IN" sz="2400">
                    <a:solidFill>
                      <a:srgbClr val="111827"/>
                    </a:solidFill>
                    <a:latin typeface="Cambria Math" panose="02040503050406030204" pitchFamily="18" charset="0"/>
                  </a:rPr>
                  <a:t>$4m+\frac{9}{m}\ge2\sqrt{36}=12$</a:t>
                </a:r>
                <a:r>
                  <a:rPr sz="2400" b="0">
                    <a:solidFill>
                      <a:srgbClr val="111827"/>
                    </a:solidFill>
                    <a:latin typeface="Arial"/>
                  </a:rPr>
                  <a:t>, with equality when </a:t>
                </a:r>
                <a:r>
                  <a:rPr lang="en-IN" sz="2400">
                    <a:solidFill>
                      <a:srgbClr val="111827"/>
                    </a:solidFill>
                    <a:latin typeface="Cambria Math" panose="02040503050406030204" pitchFamily="18" charset="0"/>
                  </a:rPr>
                  <a:t>$4m=\frac{9}{m}$</a:t>
                </a:r>
                <a:r>
                  <a:rPr sz="2400" b="0">
                    <a:solidFill>
                      <a:srgbClr val="111827"/>
                    </a:solidFill>
                    <a:latin typeface="Arial"/>
                  </a:rPr>
                  <a:t>, i.e. </a:t>
                </a:r>
                <a:r>
                  <a:rPr lang="en-IN" sz="2400">
                    <a:solidFill>
                      <a:srgbClr val="111827"/>
                    </a:solidFill>
                    <a:latin typeface="Cambria Math" panose="02040503050406030204" pitchFamily="18" charset="0"/>
                  </a:rPr>
                  <a:t>$m=\frac{3}{2}&gt;0$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minimum value of </a:t>
                </a:r>
                <a:r>
                  <a:rPr lang="en-IN" sz="2400">
                    <a:solidFill>
                      <a:srgbClr val="111827"/>
                    </a:solidFill>
                    <a:latin typeface="Cambria Math" panose="02040503050406030204" pitchFamily="18" charset="0"/>
                  </a:rPr>
                  <a:t>$OA+OB$</a:t>
                </a:r>
                <a:r>
                  <a:rPr sz="2400" b="0">
                    <a:solidFill>
                      <a:srgbClr val="111827"/>
                    </a:solidFill>
                    <a:latin typeface="Arial"/>
                  </a:rPr>
                  <a:t> is </a:t>
                </a:r>
                <a:r>
                  <a:rPr lang="en-IN" sz="2400">
                    <a:solidFill>
                      <a:srgbClr val="111827"/>
                    </a:solidFill>
                    <a:latin typeface="Cambria Math" panose="02040503050406030204" pitchFamily="18" charset="0"/>
                  </a:rPr>
                  <a:t>$13+12=25$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25</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$25$</a:t>
                </a:r>
                <a:endParaRPr sz="2800">
                  <a:solidFill>
                    <a:srgbClr val="15803D"/>
                  </a:solidFill>
                </a:endParaRPr>
              </a:p>
            </p:txBody>
          </p:sp>
        </mc:Fallback>
      </mc:AlternateContent>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intercept form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𝑝</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𝑟</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Cauchy-Schwarz on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𝑝</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intercept form </a:t>
                </a:r>
                <a:r>
                  <a:rPr lang="en-IN" sz="2400">
                    <a:solidFill>
                      <a:srgbClr val="78350F"/>
                    </a:solidFill>
                    <a:latin typeface="Cambria Math" panose="02040503050406030204" pitchFamily="18" charset="0"/>
                  </a:rPr>
                  <a:t>$\frac{x}{p}-\frac{y}{r}=1$</a:t>
                </a:r>
                <a:r>
                  <a:rPr sz="2400" b="0">
                    <a:solidFill>
                      <a:srgbClr val="78350F"/>
                    </a:solidFill>
                    <a:latin typeface="Arial"/>
                  </a:rPr>
                  <a:t> and Cauchy-Schwarz on </a:t>
                </a:r>
                <a:r>
                  <a:rPr lang="en-IN" sz="2400">
                    <a:solidFill>
                      <a:srgbClr val="78350F"/>
                    </a:solidFill>
                    <a:latin typeface="Cambria Math" panose="02040503050406030204" pitchFamily="18" charset="0"/>
                  </a:rPr>
                  <a:t>$\left(\frac{4}{p}+\frac{9}{r}\right)(p+r)$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of positive slope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-intercept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and a negative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-intercept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of positive slope through </a:t>
                </a:r>
                <a:r>
                  <a:rPr lang="en-IN" sz="2400">
                    <a:solidFill>
                      <a:srgbClr val="111827"/>
                    </a:solidFill>
                    <a:latin typeface="Cambria Math" panose="02040503050406030204" pitchFamily="18" charset="0"/>
                  </a:rPr>
                  <a:t>$(4,-9)$</a:t>
                </a:r>
                <a:r>
                  <a:rPr sz="2400" b="0">
                    <a:solidFill>
                      <a:srgbClr val="111827"/>
                    </a:solidFill>
                    <a:latin typeface="Arial"/>
                  </a:rPr>
                  <a:t> has a positive </a:t>
                </a:r>
                <a:r>
                  <a:rPr lang="en-IN" sz="2400">
                    <a:solidFill>
                      <a:srgbClr val="111827"/>
                    </a:solidFill>
                    <a:latin typeface="Cambria Math" panose="02040503050406030204" pitchFamily="18" charset="0"/>
                  </a:rPr>
                  <a:t>$x$</a:t>
                </a:r>
                <a:r>
                  <a:rPr sz="2400" b="0">
                    <a:solidFill>
                      <a:srgbClr val="111827"/>
                    </a:solidFill>
                    <a:latin typeface="Arial"/>
                  </a:rPr>
                  <a:t>-intercept </a:t>
                </a:r>
                <a:r>
                  <a:rPr lang="en-IN" sz="2400">
                    <a:solidFill>
                      <a:srgbClr val="111827"/>
                    </a:solidFill>
                    <a:latin typeface="Cambria Math" panose="02040503050406030204" pitchFamily="18" charset="0"/>
                  </a:rPr>
                  <a:t>$p=OA$</a:t>
                </a:r>
                <a:r>
                  <a:rPr sz="2400" b="0">
                    <a:solidFill>
                      <a:srgbClr val="111827"/>
                    </a:solidFill>
                    <a:latin typeface="Arial"/>
                  </a:rPr>
                  <a:t> and a negative </a:t>
                </a:r>
                <a:r>
                  <a:rPr lang="en-IN" sz="2400">
                    <a:solidFill>
                      <a:srgbClr val="111827"/>
                    </a:solidFill>
                    <a:latin typeface="Cambria Math" panose="02040503050406030204" pitchFamily="18" charset="0"/>
                  </a:rPr>
                  <a:t>$y$</a:t>
                </a:r>
                <a:r>
                  <a:rPr sz="2400" b="0">
                    <a:solidFill>
                      <a:srgbClr val="111827"/>
                    </a:solidFill>
                    <a:latin typeface="Arial"/>
                  </a:rPr>
                  <a:t>-intercept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$r=OB&gt;0$</a:t>
                </a:r>
                <a:r>
                  <a:rPr sz="2400" b="0">
                    <a:solidFill>
                      <a:srgbClr val="111827"/>
                    </a:solidFill>
                    <a:latin typeface="Arial"/>
                  </a:rPr>
                  <a:t>): </a:t>
                </a:r>
                <a:r>
                  <a:rPr lang="en-IN" sz="2400">
                    <a:solidFill>
                      <a:srgbClr val="111827"/>
                    </a:solidFill>
                    <a:latin typeface="Cambria Math" panose="02040503050406030204" pitchFamily="18" charset="0"/>
                  </a:rPr>
                  <a:t>$\frac{x}{p}-\frac{y}{r}=1$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Through </a:t>
                </a:r>
                <a:r>
                  <a:rPr lang="en-IN" sz="2400">
                    <a:solidFill>
                      <a:srgbClr val="111827"/>
                    </a:solidFill>
                    <a:latin typeface="Cambria Math" panose="02040503050406030204" pitchFamily="18" charset="0"/>
                  </a:rPr>
                  <a:t>$(4,-9)$</a:t>
                </a:r>
                <a:r>
                  <a:rPr sz="2400" b="0">
                    <a:solidFill>
                      <a:srgbClr val="111827"/>
                    </a:solidFill>
                    <a:latin typeface="Arial"/>
                  </a:rPr>
                  <a:t>: </a:t>
                </a:r>
                <a:r>
                  <a:rPr lang="en-IN" sz="2400">
                    <a:solidFill>
                      <a:srgbClr val="111827"/>
                    </a:solidFill>
                    <a:latin typeface="Cambria Math" panose="02040503050406030204" pitchFamily="18" charset="0"/>
                  </a:rPr>
                  <a:t>$\frac{4}{p}+\frac{9}{r}=1$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r>
                  <a:rPr lang="en-IN" sz="2400">
                    <a:solidFill>
                      <a:srgbClr val="111827"/>
                    </a:solidFill>
                    <a:latin typeface="Cambria Math" panose="02040503050406030204" pitchFamily="18" charset="0"/>
                  </a:rPr>
                  <a:t>$(p+r)\left(\frac{4}{p}+\frac{9}{r}\right)\ge(2+3)^2=25$</a:t>
                </a:r>
                <a:r>
                  <a:rPr sz="2400" b="0">
                    <a:solidFill>
                      <a:srgbClr val="111827"/>
                    </a:solidFill>
                    <a:latin typeface="Arial"/>
                  </a:rPr>
                  <a:t>, so </a:t>
                </a:r>
                <a:r>
                  <a:rPr lang="en-IN" sz="2400">
                    <a:solidFill>
                      <a:srgbClr val="111827"/>
                    </a:solidFill>
                    <a:latin typeface="Cambria Math" panose="02040503050406030204" pitchFamily="18" charset="0"/>
                  </a:rPr>
                  <a:t>$p+r\ge25$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when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(they satisfy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and the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minimum of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when </a:t>
                </a:r>
                <a:r>
                  <a:rPr lang="en-IN" sz="2400">
                    <a:solidFill>
                      <a:srgbClr val="111827"/>
                    </a:solidFill>
                    <a:latin typeface="Cambria Math" panose="02040503050406030204" pitchFamily="18" charset="0"/>
                  </a:rPr>
                  <a:t>$\frac{p}{2}=\frac{r}{3}$</a:t>
                </a:r>
                <a:r>
                  <a:rPr sz="2400" b="0">
                    <a:solidFill>
                      <a:srgbClr val="111827"/>
                    </a:solidFill>
                    <a:latin typeface="Arial"/>
                  </a:rPr>
                  <a:t>: </a:t>
                </a:r>
                <a:r>
                  <a:rPr lang="en-IN" sz="2400">
                    <a:solidFill>
                      <a:srgbClr val="111827"/>
                    </a:solidFill>
                    <a:latin typeface="Cambria Math" panose="02040503050406030204" pitchFamily="18" charset="0"/>
                  </a:rPr>
                  <a:t>$p=10$</a:t>
                </a:r>
                <a:r>
                  <a:rPr sz="2400" b="0">
                    <a:solidFill>
                      <a:srgbClr val="111827"/>
                    </a:solidFill>
                    <a:latin typeface="Arial"/>
                  </a:rPr>
                  <a:t>, </a:t>
                </a:r>
                <a:r>
                  <a:rPr lang="en-IN" sz="2400">
                    <a:solidFill>
                      <a:srgbClr val="111827"/>
                    </a:solidFill>
                    <a:latin typeface="Cambria Math" panose="02040503050406030204" pitchFamily="18" charset="0"/>
                  </a:rPr>
                  <a:t>$r=15$</a:t>
                </a:r>
                <a:r>
                  <a:rPr sz="2400" b="0">
                    <a:solidFill>
                      <a:srgbClr val="111827"/>
                    </a:solidFill>
                    <a:latin typeface="Arial"/>
                  </a:rPr>
                  <a:t> (they satisfy </a:t>
                </a:r>
                <a:r>
                  <a:rPr lang="en-IN" sz="2400">
                    <a:solidFill>
                      <a:srgbClr val="111827"/>
                    </a:solidFill>
                    <a:latin typeface="Cambria Math" panose="02040503050406030204" pitchFamily="18" charset="0"/>
                  </a:rPr>
                  <a:t>$\frac{4}{10}+\frac{9}{15}=1$</a:t>
                </a:r>
                <a:r>
                  <a:rPr sz="2400" b="0">
                    <a:solidFill>
                      <a:srgbClr val="111827"/>
                    </a:solidFill>
                    <a:latin typeface="Arial"/>
                  </a:rPr>
                  <a:t> ✓), and the slope </a:t>
                </a:r>
                <a:r>
                  <a:rPr lang="en-IN" sz="2400">
                    <a:solidFill>
                      <a:srgbClr val="111827"/>
                    </a:solidFill>
                    <a:latin typeface="Cambria Math" panose="02040503050406030204" pitchFamily="18" charset="0"/>
                  </a:rPr>
                  <a:t>$\frac{r}{p}=\frac{3}{2}&gt;0$</a:t>
                </a:r>
                <a:r>
                  <a:rPr sz="2400" b="0">
                    <a:solidFill>
                      <a:srgbClr val="111827"/>
                    </a:solidFill>
                    <a:latin typeface="Arial"/>
                  </a:rPr>
                  <a:t> is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minimum of </a:t>
                </a:r>
                <a:r>
                  <a:rPr lang="en-IN" sz="2400">
                    <a:solidFill>
                      <a:srgbClr val="111827"/>
                    </a:solidFill>
                    <a:latin typeface="Cambria Math" panose="02040503050406030204" pitchFamily="18" charset="0"/>
                  </a:rPr>
                  <a:t>$OA+OB$</a:t>
                </a:r>
                <a:r>
                  <a:rPr sz="2400" b="0">
                    <a:solidFill>
                      <a:srgbClr val="111827"/>
                    </a:solidFill>
                    <a:latin typeface="Arial"/>
                  </a:rPr>
                  <a:t> is </a:t>
                </a:r>
                <a:r>
                  <a:rPr lang="en-IN" sz="2400">
                    <a:solidFill>
                      <a:srgbClr val="111827"/>
                    </a:solidFill>
                    <a:latin typeface="Cambria Math" panose="02040503050406030204" pitchFamily="18" charset="0"/>
                  </a:rPr>
                  <a:t>$25$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25</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$25$</a:t>
                </a:r>
                <a:endParaRPr sz="2800">
                  <a:solidFill>
                    <a:srgbClr val="15803D"/>
                  </a:solidFill>
                </a:endParaRPr>
              </a:p>
            </p:txBody>
          </p:sp>
        </mc:Fallback>
      </mc:AlternateContent>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line through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intercepts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minimising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by Cauchy-Schwarz.</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point is in the fourth quadrant, so the line has intercepts of opposite signs and the sum of distances uses the absolute values: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e>
                    </m:ra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equality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line through </a:t>
                </a:r>
                <a:r>
                  <a:rPr lang="en-IN" sz="2400">
                    <a:solidFill>
                      <a:srgbClr val="111827"/>
                    </a:solidFill>
                    <a:latin typeface="Cambria Math" panose="02040503050406030204" pitchFamily="18" charset="0"/>
                  </a:rPr>
                  <a:t>$(x_0,y_0)$</a:t>
                </a:r>
                <a:r>
                  <a:rPr sz="2400" b="0">
                    <a:solidFill>
                      <a:srgbClr val="111827"/>
                    </a:solidFill>
                    <a:latin typeface="Arial"/>
                  </a:rPr>
                  <a:t> with intercepts </a:t>
                </a:r>
                <a:r>
                  <a:rPr lang="en-IN" sz="2400">
                    <a:solidFill>
                      <a:srgbClr val="111827"/>
                    </a:solidFill>
                    <a:latin typeface="Cambria Math" panose="02040503050406030204" pitchFamily="18" charset="0"/>
                  </a:rPr>
                  <a:t>$p,q$</a:t>
                </a:r>
                <a:r>
                  <a:rPr sz="2400" b="0">
                    <a:solidFill>
                      <a:srgbClr val="111827"/>
                    </a:solidFill>
                    <a:latin typeface="Arial"/>
                  </a:rPr>
                  <a:t>: </a:t>
                </a:r>
                <a:r>
                  <a:rPr lang="en-IN" sz="2400">
                    <a:solidFill>
                      <a:srgbClr val="111827"/>
                    </a:solidFill>
                    <a:latin typeface="Cambria Math" panose="02040503050406030204" pitchFamily="18" charset="0"/>
                  </a:rPr>
                  <a:t>$\frac{x_0}{p}+\frac{y_0}{q}=1$</a:t>
                </a:r>
                <a:r>
                  <a:rPr sz="2400" b="0">
                    <a:solidFill>
                      <a:srgbClr val="111827"/>
                    </a:solidFill>
                    <a:latin typeface="Arial"/>
                  </a:rPr>
                  <a:t>; minimising </a:t>
                </a:r>
                <a:r>
                  <a:rPr lang="en-IN" sz="2400">
                    <a:solidFill>
                      <a:srgbClr val="111827"/>
                    </a:solidFill>
                    <a:latin typeface="Cambria Math" panose="02040503050406030204" pitchFamily="18" charset="0"/>
                  </a:rPr>
                  <a:t>$p+q$</a:t>
                </a:r>
                <a:r>
                  <a:rPr sz="2400" b="0">
                    <a:solidFill>
                      <a:srgbClr val="111827"/>
                    </a:solidFill>
                    <a:latin typeface="Arial"/>
                  </a:rPr>
                  <a:t> (with </a:t>
                </a:r>
                <a:r>
                  <a:rPr lang="en-IN" sz="2400">
                    <a:solidFill>
                      <a:srgbClr val="111827"/>
                    </a:solidFill>
                    <a:latin typeface="Cambria Math" panose="02040503050406030204" pitchFamily="18" charset="0"/>
                  </a:rPr>
                  <a:t>$x_0,y_0&gt;0$</a:t>
                </a:r>
                <a:r>
                  <a:rPr sz="2400" b="0">
                    <a:solidFill>
                      <a:srgbClr val="111827"/>
                    </a:solidFill>
                    <a:latin typeface="Arial"/>
                  </a:rPr>
                  <a:t>) gives </a:t>
                </a:r>
                <a:r>
                  <a:rPr lang="en-IN" sz="2400">
                    <a:solidFill>
                      <a:srgbClr val="111827"/>
                    </a:solidFill>
                    <a:latin typeface="Cambria Math" panose="02040503050406030204" pitchFamily="18" charset="0"/>
                  </a:rPr>
                  <a:t>$(\sqrt{x_0}+\sqrt{y_0})^2$</a:t>
                </a:r>
                <a:r>
                  <a:rPr sz="2400" b="0">
                    <a:solidFill>
                      <a:srgbClr val="111827"/>
                    </a:solidFill>
                    <a:latin typeface="Arial"/>
                  </a:rPr>
                  <a:t> by Cauchy-Schwarz.</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point is in the fourth quadrant, so the line has intercepts of opposite signs and the sum of distances uses the absolute values: </a:t>
                </a:r>
                <a:r>
                  <a:rPr lang="en-IN" sz="2400">
                    <a:solidFill>
                      <a:srgbClr val="111827"/>
                    </a:solidFill>
                    <a:latin typeface="Cambria Math" panose="02040503050406030204" pitchFamily="18" charset="0"/>
                  </a:rPr>
                  <a:t>$(\sqrt{4}+\sqrt{9})^2=25$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a:t>
                </a:r>
                <a:r>
                  <a:rPr lang="en-IN" sz="2400">
                    <a:solidFill>
                      <a:srgbClr val="111827"/>
                    </a:solidFill>
                    <a:latin typeface="Cambria Math" panose="02040503050406030204" pitchFamily="18" charset="0"/>
                  </a:rPr>
                  <a:t>$\alpha m+\frac{\beta}{m}\ge2\sqrt{\alpha\beta}$</a:t>
                </a:r>
                <a:r>
                  <a:rPr sz="2400" b="0">
                    <a:solidFill>
                      <a:srgbClr val="111827"/>
                    </a:solidFill>
                    <a:latin typeface="Arial"/>
                  </a:rPr>
                  <a:t> for </a:t>
                </a:r>
                <a:r>
                  <a:rPr lang="en-IN" sz="2400">
                    <a:solidFill>
                      <a:srgbClr val="111827"/>
                    </a:solidFill>
                    <a:latin typeface="Cambria Math" panose="02040503050406030204" pitchFamily="18" charset="0"/>
                  </a:rPr>
                  <a:t>$m&gt;0$</a:t>
                </a:r>
                <a:r>
                  <a:rPr sz="2400" b="0">
                    <a:solidFill>
                      <a:srgbClr val="111827"/>
                    </a:solidFill>
                    <a:latin typeface="Arial"/>
                  </a:rPr>
                  <a:t>, equality at </a:t>
                </a:r>
                <a:r>
                  <a:rPr lang="en-IN" sz="2400">
                    <a:solidFill>
                      <a:srgbClr val="111827"/>
                    </a:solidFill>
                    <a:latin typeface="Cambria Math" panose="02040503050406030204" pitchFamily="18" charset="0"/>
                  </a:rPr>
                  <a:t>$m=\sqrt{\beta/\alpha}$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orthocentre of the triangle whose vertices are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point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the circle: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$P(6,1)$</a:t>
                </a:r>
                <a:r>
                  <a:rPr sz="2400" b="0">
                    <a:solidFill>
                      <a:srgbClr val="111827"/>
                    </a:solidFill>
                    <a:latin typeface="Arial"/>
                  </a:rPr>
                  <a:t> be the orthocentre of the triangle whose vertices are </a:t>
                </a:r>
                <a:r>
                  <a:rPr lang="en-IN" sz="2400">
                    <a:solidFill>
                      <a:srgbClr val="111827"/>
                    </a:solidFill>
                    <a:latin typeface="Cambria Math" panose="02040503050406030204" pitchFamily="18" charset="0"/>
                  </a:rPr>
                  <a:t>$A(5,-2)$</a:t>
                </a:r>
                <a:r>
                  <a:rPr sz="2400" b="0">
                    <a:solidFill>
                      <a:srgbClr val="111827"/>
                    </a:solidFill>
                    <a:latin typeface="Arial"/>
                  </a:rPr>
                  <a:t>, </a:t>
                </a:r>
                <a:r>
                  <a:rPr lang="en-IN" sz="2400">
                    <a:solidFill>
                      <a:srgbClr val="111827"/>
                    </a:solidFill>
                    <a:latin typeface="Cambria Math" panose="02040503050406030204" pitchFamily="18" charset="0"/>
                  </a:rPr>
                  <a:t>$B(8,3)$</a:t>
                </a:r>
                <a:r>
                  <a:rPr sz="2400" b="0">
                    <a:solidFill>
                      <a:srgbClr val="111827"/>
                    </a:solidFill>
                    <a:latin typeface="Arial"/>
                  </a:rPr>
                  <a:t> and </a:t>
                </a:r>
                <a:r>
                  <a:rPr lang="en-IN" sz="2400">
                    <a:solidFill>
                      <a:srgbClr val="111827"/>
                    </a:solidFill>
                    <a:latin typeface="Cambria Math" panose="02040503050406030204" pitchFamily="18" charset="0"/>
                  </a:rPr>
                  <a:t>$C(h,k)$</a:t>
                </a:r>
                <a:r>
                  <a:rPr sz="2400" b="0">
                    <a:solidFill>
                      <a:srgbClr val="111827"/>
                    </a:solidFill>
                    <a:latin typeface="Arial"/>
                  </a:rPr>
                  <a:t>, then the point </a:t>
                </a:r>
                <a:r>
                  <a:rPr lang="en-IN" sz="2400">
                    <a:solidFill>
                      <a:srgbClr val="111827"/>
                    </a:solidFill>
                    <a:latin typeface="Cambria Math" panose="02040503050406030204" pitchFamily="18" charset="0"/>
                  </a:rPr>
                  <a:t>$C$</a:t>
                </a:r>
                <a:r>
                  <a:rPr sz="2400" b="0">
                    <a:solidFill>
                      <a:srgbClr val="111827"/>
                    </a:solidFill>
                    <a:latin typeface="Arial"/>
                  </a:rPr>
                  <a:t> lies on the circle: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$x^2+y^2-52=0$</a:t>
                </a:r>
                <a:r>
                  <a:rPr sz="2400" b="0">
                    <a:solidFill>
                      <a:srgbClr val="111827"/>
                    </a:solidFill>
                    <a:latin typeface="Arial"/>
                  </a:rPr>
                  <a:t>   (B) </a:t>
                </a:r>
                <a:r>
                  <a:rPr lang="en-IN" sz="2400">
                    <a:solidFill>
                      <a:srgbClr val="111827"/>
                    </a:solidFill>
                    <a:latin typeface="Cambria Math" panose="02040503050406030204" pitchFamily="18" charset="0"/>
                  </a:rPr>
                  <a:t>$x^2+y^2-61=0$</a:t>
                </a:r>
                <a:r>
                  <a:rPr sz="2400" b="0">
                    <a:solidFill>
                      <a:srgbClr val="111827"/>
                    </a:solidFill>
                    <a:latin typeface="Arial"/>
                  </a:rPr>
                  <a:t>   (C) </a:t>
                </a:r>
                <a:r>
                  <a:rPr lang="en-IN" sz="2400">
                    <a:solidFill>
                      <a:srgbClr val="111827"/>
                    </a:solidFill>
                    <a:latin typeface="Cambria Math" panose="02040503050406030204" pitchFamily="18" charset="0"/>
                  </a:rPr>
                  <a:t>$x^2+y^2-74=0$</a:t>
                </a:r>
                <a:r>
                  <a:rPr sz="2400" b="0">
                    <a:solidFill>
                      <a:srgbClr val="111827"/>
                    </a:solidFill>
                    <a:latin typeface="Arial"/>
                  </a:rPr>
                  <a:t>   (D) </a:t>
                </a:r>
                <a:r>
                  <a:rPr lang="en-IN" sz="2400">
                    <a:solidFill>
                      <a:srgbClr val="111827"/>
                    </a:solidFill>
                    <a:latin typeface="Cambria Math" panose="02040503050406030204" pitchFamily="18" charset="0"/>
                  </a:rPr>
                  <a:t>$x^2+y^2-65=0$</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of a triangle, Equation of a circle through a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𝑃</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𝑃</m:t>
                    </m:r>
                  </m:oMath>
                </a14:m>
                <a:r>
                  <a:rPr sz="2400" b="0">
                    <a:solidFill>
                      <a:srgbClr val="78350F"/>
                    </a:solidFill>
                    <a:latin typeface="Arial"/>
                  </a:rPr>
                  <a:t> to get two linear equations in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r>
                  <a:rPr lang="en-IN" sz="2400">
                    <a:solidFill>
                      <a:srgbClr val="78350F"/>
                    </a:solidFill>
                    <a:latin typeface="Cambria Math" panose="02040503050406030204" pitchFamily="18" charset="0"/>
                  </a:rPr>
                  <a:t>$AC\perp BP$</a:t>
                </a:r>
                <a:r>
                  <a:rPr sz="2400" b="0">
                    <a:solidFill>
                      <a:srgbClr val="78350F"/>
                    </a:solidFill>
                    <a:latin typeface="Arial"/>
                  </a:rPr>
                  <a:t> and </a:t>
                </a:r>
                <a:r>
                  <a:rPr lang="en-IN" sz="2400">
                    <a:solidFill>
                      <a:srgbClr val="78350F"/>
                    </a:solidFill>
                    <a:latin typeface="Cambria Math" panose="02040503050406030204" pitchFamily="18" charset="0"/>
                  </a:rPr>
                  <a:t>$BC\perp AP$</a:t>
                </a:r>
                <a:r>
                  <a:rPr sz="2400" b="0">
                    <a:solidFill>
                      <a:srgbClr val="78350F"/>
                    </a:solidFill>
                    <a:latin typeface="Arial"/>
                  </a:rPr>
                  <a:t> to get two linear equations in </a:t>
                </a:r>
                <a:r>
                  <a:rPr lang="en-IN" sz="2400">
                    <a:solidFill>
                      <a:srgbClr val="78350F"/>
                    </a:solidFill>
                    <a:latin typeface="Cambria Math" panose="02040503050406030204" pitchFamily="18" charset="0"/>
                  </a:rPr>
                  <a:t>$h,k$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(the altitude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oMath>
                </a14:m>
                <a:r>
                  <a:rPr sz="2400" b="0">
                    <a:solidFill>
                      <a:srgbClr val="111827"/>
                    </a:solidFill>
                    <a:latin typeface="Arial"/>
                  </a:rPr>
                  <a:t> (the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$BP$</a:t>
                </a:r>
                <a:r>
                  <a:rPr sz="2400" b="0">
                    <a:solidFill>
                      <a:srgbClr val="111827"/>
                    </a:solidFill>
                    <a:latin typeface="Arial"/>
                  </a:rPr>
                  <a:t> (the altitude from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$\frac{3-1}{8-6}=1$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$AC\perp BP$</a:t>
                </a:r>
                <a:r>
                  <a:rPr sz="2400" b="0">
                    <a:solidFill>
                      <a:srgbClr val="111827"/>
                    </a:solidFill>
                    <a:latin typeface="Arial"/>
                  </a:rPr>
                  <a:t>: </a:t>
                </a:r>
                <a:r>
                  <a:rPr lang="en-IN" sz="2400">
                    <a:solidFill>
                      <a:srgbClr val="111827"/>
                    </a:solidFill>
                    <a:latin typeface="Cambria Math" panose="02040503050406030204" pitchFamily="18" charset="0"/>
                  </a:rPr>
                  <a:t>$\frac{k+2}{h-5}=-1\Rightarrow k+2=5-h\Rightarrow k=3-h$</a:t>
                </a:r>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$AP$</a:t>
                </a:r>
                <a:r>
                  <a:rPr sz="2400" b="0">
                    <a:solidFill>
                      <a:srgbClr val="111827"/>
                    </a:solidFill>
                    <a:latin typeface="Arial"/>
                  </a:rPr>
                  <a:t> (the altitude from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$\frac{1+2}{6-5}=3$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and (ii):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$BC\perp AP$</a:t>
                </a:r>
                <a:r>
                  <a:rPr sz="2400" b="0">
                    <a:solidFill>
                      <a:srgbClr val="111827"/>
                    </a:solidFill>
                    <a:latin typeface="Arial"/>
                  </a:rPr>
                  <a:t>: </a:t>
                </a:r>
                <a:r>
                  <a:rPr lang="en-IN" sz="2400">
                    <a:solidFill>
                      <a:srgbClr val="111827"/>
                    </a:solidFill>
                    <a:latin typeface="Cambria Math" panose="02040503050406030204" pitchFamily="18" charset="0"/>
                  </a:rPr>
                  <a:t>$\frac{k-3}{h-8}=-\frac{1}{3}\Rightarrow3k-9=8-h$</a:t>
                </a:r>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and (ii): </a:t>
                </a:r>
                <a:r>
                  <a:rPr lang="en-IN" sz="2400">
                    <a:solidFill>
                      <a:srgbClr val="111827"/>
                    </a:solidFill>
                    <a:latin typeface="Cambria Math" panose="02040503050406030204" pitchFamily="18" charset="0"/>
                  </a:rPr>
                  <a:t>$3(3-h)-9=8-h\Rightarrow-3h=8-h\Rightarrow h=-4$</a:t>
                </a:r>
                <a:r>
                  <a:rPr sz="2400" b="0">
                    <a:solidFill>
                      <a:srgbClr val="111827"/>
                    </a:solidFill>
                    <a:latin typeface="Arial"/>
                  </a:rPr>
                  <a:t>, </a:t>
                </a:r>
                <a:r>
                  <a:rPr lang="en-IN" sz="2400">
                    <a:solidFill>
                      <a:srgbClr val="111827"/>
                    </a:solidFill>
                    <a:latin typeface="Cambria Math" panose="02040503050406030204" pitchFamily="18" charset="0"/>
                  </a:rPr>
                  <a:t>$k=7$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$h^2+k^2=16+49=65$</a:t>
                </a:r>
                <a:r>
                  <a:rPr sz="2400" b="0">
                    <a:solidFill>
                      <a:srgbClr val="111827"/>
                    </a:solidFill>
                    <a:latin typeface="Arial"/>
                  </a:rPr>
                  <a:t>, so </a:t>
                </a: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$x^2+y^2-65=0$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65</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$x^2+y^2-65=0$</a:t>
                </a:r>
                <a:endParaRPr sz="2800">
                  <a:solidFill>
                    <a:srgbClr val="15803D"/>
                  </a:solidFill>
                </a:endParaRPr>
              </a:p>
            </p:txBody>
          </p:sp>
        </mc:Fallback>
      </mc:AlternateContent>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Orthocentric system: if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is the orthocentre of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is the orthocentre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𝑃</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Orthocentric system: if </a:t>
                </a:r>
                <a:r>
                  <a:rPr lang="en-IN" sz="2400">
                    <a:solidFill>
                      <a:srgbClr val="78350F"/>
                    </a:solidFill>
                    <a:latin typeface="Cambria Math" panose="02040503050406030204" pitchFamily="18" charset="0"/>
                  </a:rPr>
                  <a:t>$P$</a:t>
                </a:r>
                <a:r>
                  <a:rPr sz="2400" b="0">
                    <a:solidFill>
                      <a:srgbClr val="78350F"/>
                    </a:solidFill>
                    <a:latin typeface="Arial"/>
                  </a:rPr>
                  <a:t> is the orthocentre of </a:t>
                </a:r>
                <a:r>
                  <a:rPr lang="en-IN" sz="2400">
                    <a:solidFill>
                      <a:srgbClr val="78350F"/>
                    </a:solidFill>
                    <a:latin typeface="Cambria Math" panose="02040503050406030204" pitchFamily="18" charset="0"/>
                  </a:rPr>
                  <a:t>$ABC$</a:t>
                </a:r>
                <a:r>
                  <a:rPr sz="2400" b="0">
                    <a:solidFill>
                      <a:srgbClr val="78350F"/>
                    </a:solidFill>
                    <a:latin typeface="Arial"/>
                  </a:rPr>
                  <a:t>, then </a:t>
                </a:r>
                <a:r>
                  <a:rPr lang="en-IN" sz="2400">
                    <a:solidFill>
                      <a:srgbClr val="78350F"/>
                    </a:solidFill>
                    <a:latin typeface="Cambria Math" panose="02040503050406030204" pitchFamily="18" charset="0"/>
                  </a:rPr>
                  <a:t>$C$</a:t>
                </a:r>
                <a:r>
                  <a:rPr sz="2400" b="0">
                    <a:solidFill>
                      <a:srgbClr val="78350F"/>
                    </a:solidFill>
                    <a:latin typeface="Arial"/>
                  </a:rPr>
                  <a:t> is the orthocentre of </a:t>
                </a:r>
                <a:r>
                  <a:rPr lang="en-IN" sz="2400">
                    <a:solidFill>
                      <a:srgbClr val="78350F"/>
                    </a:solidFill>
                    <a:latin typeface="Cambria Math" panose="02040503050406030204" pitchFamily="18" charset="0"/>
                  </a:rPr>
                  <a:t>$\triangle ABP$</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points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 form an orthocentric system: each is the orthocentre of the triangle formed by the other three. So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the orthocentre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the altitude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points </a:t>
                </a:r>
                <a:r>
                  <a:rPr lang="en-IN" sz="2400">
                    <a:solidFill>
                      <a:srgbClr val="111827"/>
                    </a:solidFill>
                    <a:latin typeface="Cambria Math" panose="02040503050406030204" pitchFamily="18" charset="0"/>
                  </a:rPr>
                  <a:t>$A,B,C,P$</a:t>
                </a:r>
                <a:r>
                  <a:rPr sz="2400" b="0">
                    <a:solidFill>
                      <a:srgbClr val="111827"/>
                    </a:solidFill>
                    <a:latin typeface="Arial"/>
                  </a:rPr>
                  <a:t> form an orthocentric system: each is the orthocentre of the triangle formed by the other three. So </a:t>
                </a:r>
                <a:r>
                  <a:rPr lang="en-IN" sz="2400">
                    <a:solidFill>
                      <a:srgbClr val="111827"/>
                    </a:solidFill>
                    <a:latin typeface="Cambria Math" panose="02040503050406030204" pitchFamily="18" charset="0"/>
                  </a:rPr>
                  <a:t>$C$</a:t>
                </a:r>
                <a:r>
                  <a:rPr sz="2400" b="0">
                    <a:solidFill>
                      <a:srgbClr val="111827"/>
                    </a:solidFill>
                    <a:latin typeface="Arial"/>
                  </a:rPr>
                  <a:t> is the orthocentre of </a:t>
                </a:r>
                <a:r>
                  <a:rPr lang="en-IN" sz="2400">
                    <a:solidFill>
                      <a:srgbClr val="111827"/>
                    </a:solidFill>
                    <a:latin typeface="Cambria Math" panose="02040503050406030204" pitchFamily="18" charset="0"/>
                  </a:rPr>
                  <a:t>$\triangle ABP$</a:t>
                </a:r>
                <a:r>
                  <a:rPr sz="2400" b="0">
                    <a:solidFill>
                      <a:srgbClr val="111827"/>
                    </a:solidFill>
                    <a:latin typeface="Arial"/>
                  </a:rPr>
                  <a:t> with </a:t>
                </a:r>
                <a:r>
                  <a:rPr lang="en-IN" sz="2400">
                    <a:solidFill>
                      <a:srgbClr val="111827"/>
                    </a:solidFill>
                    <a:latin typeface="Cambria Math" panose="02040503050406030204" pitchFamily="18" charset="0"/>
                  </a:rPr>
                  <a:t>$A(5,-2)$</a:t>
                </a:r>
                <a:r>
                  <a:rPr sz="2400" b="0">
                    <a:solidFill>
                      <a:srgbClr val="111827"/>
                    </a:solidFill>
                    <a:latin typeface="Arial"/>
                  </a:rPr>
                  <a:t>, </a:t>
                </a:r>
                <a:r>
                  <a:rPr lang="en-IN" sz="2400">
                    <a:solidFill>
                      <a:srgbClr val="111827"/>
                    </a:solidFill>
                    <a:latin typeface="Cambria Math" panose="02040503050406030204" pitchFamily="18" charset="0"/>
                  </a:rPr>
                  <a:t>$B(8,3)$</a:t>
                </a:r>
                <a:r>
                  <a:rPr sz="2400" b="0">
                    <a:solidFill>
                      <a:srgbClr val="111827"/>
                    </a:solidFill>
                    <a:latin typeface="Arial"/>
                  </a:rPr>
                  <a:t>, </a:t>
                </a:r>
                <a:r>
                  <a:rPr lang="en-IN" sz="2400">
                    <a:solidFill>
                      <a:srgbClr val="111827"/>
                    </a:solidFill>
                    <a:latin typeface="Cambria Math" panose="02040503050406030204" pitchFamily="18" charset="0"/>
                  </a:rPr>
                  <a:t>$P(6,1)$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a:t>
                </a:r>
                <a:r>
                  <a:rPr lang="en-IN" sz="2400">
                    <a:solidFill>
                      <a:srgbClr val="111827"/>
                    </a:solidFill>
                    <a:latin typeface="Cambria Math" panose="02040503050406030204" pitchFamily="18" charset="0"/>
                  </a:rPr>
                  <a:t>$AB=\frac{5}{3}$</a:t>
                </a:r>
                <a:r>
                  <a:rPr sz="2400" b="0">
                    <a:solidFill>
                      <a:srgbClr val="111827"/>
                    </a:solidFill>
                    <a:latin typeface="Arial"/>
                  </a:rPr>
                  <a:t>, so the altitude from </a:t>
                </a:r>
                <a:r>
                  <a:rPr lang="en-IN" sz="2400">
                    <a:solidFill>
                      <a:srgbClr val="111827"/>
                    </a:solidFill>
                    <a:latin typeface="Cambria Math" panose="02040503050406030204" pitchFamily="18" charset="0"/>
                  </a:rPr>
                  <a:t>$P$</a:t>
                </a:r>
                <a:r>
                  <a:rPr sz="2400" b="0">
                    <a:solidFill>
                      <a:srgbClr val="111827"/>
                    </a:solidFill>
                    <a:latin typeface="Arial"/>
                  </a:rPr>
                  <a:t> has slope </a:t>
                </a:r>
                <a:r>
                  <a:rPr lang="en-IN" sz="2400">
                    <a:solidFill>
                      <a:srgbClr val="111827"/>
                    </a:solidFill>
                    <a:latin typeface="Cambria Math" panose="02040503050406030204" pitchFamily="18" charset="0"/>
                  </a:rPr>
                  <a:t>$-\frac{3}{5}$</a:t>
                </a:r>
                <a:r>
                  <a:rPr sz="2400" b="0">
                    <a:solidFill>
                      <a:srgbClr val="111827"/>
                    </a:solidFill>
                    <a:latin typeface="Arial"/>
                  </a:rPr>
                  <a:t>: </a:t>
                </a:r>
                <a:r>
                  <a:rPr lang="en-IN" sz="2400">
                    <a:solidFill>
                      <a:srgbClr val="111827"/>
                    </a:solidFill>
                    <a:latin typeface="Cambria Math" panose="02040503050406030204" pitchFamily="18" charset="0"/>
                  </a:rPr>
                  <a:t>$y-1=-\frac{3}{5}(x-6)$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a:t>
                </a:r>
                <a:r>
                  <a:rPr lang="en-IN" sz="2400">
                    <a:solidFill>
                      <a:srgbClr val="111827"/>
                    </a:solidFill>
                    <a:latin typeface="Cambria Math" panose="02040503050406030204" pitchFamily="18" charset="0"/>
                  </a:rPr>
                  <a:t>$BP=\frac{1-3}{6-8}=1$</a:t>
                </a:r>
                <a:r>
                  <a:rPr sz="2400" b="0">
                    <a:solidFill>
                      <a:srgbClr val="111827"/>
                    </a:solidFill>
                    <a:latin typeface="Arial"/>
                  </a:rPr>
                  <a:t>, so the altitude from </a:t>
                </a:r>
                <a:r>
                  <a:rPr lang="en-IN" sz="2400">
                    <a:solidFill>
                      <a:srgbClr val="111827"/>
                    </a:solidFill>
                    <a:latin typeface="Cambria Math" panose="02040503050406030204" pitchFamily="18" charset="0"/>
                  </a:rPr>
                  <a:t>$A$</a:t>
                </a:r>
                <a:r>
                  <a:rPr sz="2400" b="0">
                    <a:solidFill>
                      <a:srgbClr val="111827"/>
                    </a:solidFill>
                    <a:latin typeface="Arial"/>
                  </a:rPr>
                  <a:t> has slope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$y+2=-(x-5)$</a:t>
                </a:r>
                <a:r>
                  <a:rPr sz="2400" b="0">
                    <a:solidFill>
                      <a:srgbClr val="111827"/>
                    </a:solidFill>
                    <a:latin typeface="Arial"/>
                  </a:rPr>
                  <a:t>, i.e. </a:t>
                </a:r>
                <a:r>
                  <a:rPr lang="en-IN" sz="2400">
                    <a:solidFill>
                      <a:srgbClr val="111827"/>
                    </a:solidFill>
                    <a:latin typeface="Cambria Math" panose="02040503050406030204" pitchFamily="18" charset="0"/>
                  </a:rPr>
                  <a:t>$y=3-x$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$3-x-1=-\frac{3}{5}(x-6)\Rightarrow10-5x=-3x+18\Rightarrow x=-4$</a:t>
                </a:r>
                <a:r>
                  <a:rPr sz="2400" b="0">
                    <a:solidFill>
                      <a:srgbClr val="111827"/>
                    </a:solidFill>
                    <a:latin typeface="Arial"/>
                  </a:rPr>
                  <a:t>, </a:t>
                </a:r>
                <a:r>
                  <a:rPr lang="en-IN" sz="2400">
                    <a:solidFill>
                      <a:srgbClr val="111827"/>
                    </a:solidFill>
                    <a:latin typeface="Cambria Math" panose="02040503050406030204" pitchFamily="18" charset="0"/>
                  </a:rPr>
                  <a:t>$y=7$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$C=(-4,7)$</a:t>
                </a:r>
                <a:r>
                  <a:rPr sz="2400" b="0">
                    <a:solidFill>
                      <a:srgbClr val="111827"/>
                    </a:solidFill>
                    <a:latin typeface="Arial"/>
                  </a:rPr>
                  <a:t> and </a:t>
                </a:r>
                <a:r>
                  <a:rPr lang="en-IN" sz="2400">
                    <a:solidFill>
                      <a:srgbClr val="111827"/>
                    </a:solidFill>
                    <a:latin typeface="Cambria Math" panose="02040503050406030204" pitchFamily="18" charset="0"/>
                  </a:rPr>
                  <a:t>$h^2+k^2=65$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65</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$x^2+y^2-65=0$</a:t>
                </a:r>
                <a:endParaRPr sz="2800">
                  <a:solidFill>
                    <a:srgbClr val="15803D"/>
                  </a:solidFill>
                </a:endParaRPr>
              </a:p>
            </p:txBody>
          </p:sp>
        </mc:Fallback>
      </mc:AlternateContent>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Orthocentric system: for any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with orthocentre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each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oMath>
                </a14:m>
                <a:r>
                  <a:rPr sz="2400" b="0">
                    <a:solidFill>
                      <a:srgbClr val="111827"/>
                    </a:solidFill>
                    <a:latin typeface="Arial"/>
                  </a:rPr>
                  <a:t> is the orthocentre of the triangle formed by the other three.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altitudes suffice: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oMath>
                </a14:m>
                <a:r>
                  <a:rPr sz="2400" b="0">
                    <a:solidFill>
                      <a:srgbClr val="111827"/>
                    </a:solidFill>
                    <a:latin typeface="Arial"/>
                  </a:rPr>
                  <a:t> give two linear equations for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numbers were chosen so that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after finding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test each circle by substitution.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Orthocentric system: for any triangle </a:t>
                </a:r>
                <a:r>
                  <a:rPr lang="en-IN" sz="2400">
                    <a:solidFill>
                      <a:srgbClr val="111827"/>
                    </a:solidFill>
                    <a:latin typeface="Cambria Math" panose="02040503050406030204" pitchFamily="18" charset="0"/>
                  </a:rPr>
                  <a:t>$ABC$</a:t>
                </a:r>
                <a:r>
                  <a:rPr sz="2400" b="0">
                    <a:solidFill>
                      <a:srgbClr val="111827"/>
                    </a:solidFill>
                    <a:latin typeface="Arial"/>
                  </a:rPr>
                  <a:t> with orthocentre </a:t>
                </a:r>
                <a:r>
                  <a:rPr lang="en-IN" sz="2400">
                    <a:solidFill>
                      <a:srgbClr val="111827"/>
                    </a:solidFill>
                    <a:latin typeface="Cambria Math" panose="02040503050406030204" pitchFamily="18" charset="0"/>
                  </a:rPr>
                  <a:t>$H$</a:t>
                </a:r>
                <a:r>
                  <a:rPr sz="2400" b="0">
                    <a:solidFill>
                      <a:srgbClr val="111827"/>
                    </a:solidFill>
                    <a:latin typeface="Arial"/>
                  </a:rPr>
                  <a:t>, each of </a:t>
                </a:r>
                <a:r>
                  <a:rPr lang="en-IN" sz="2400">
                    <a:solidFill>
                      <a:srgbClr val="111827"/>
                    </a:solidFill>
                    <a:latin typeface="Cambria Math" panose="02040503050406030204" pitchFamily="18" charset="0"/>
                  </a:rPr>
                  <a:t>$A,B,C,H$</a:t>
                </a:r>
                <a:r>
                  <a:rPr sz="2400" b="0">
                    <a:solidFill>
                      <a:srgbClr val="111827"/>
                    </a:solidFill>
                    <a:latin typeface="Arial"/>
                  </a:rPr>
                  <a:t> is the orthocentre of the triangle formed by the other three.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altitudes suffice: </a:t>
                </a:r>
                <a:r>
                  <a:rPr lang="en-IN" sz="2400">
                    <a:solidFill>
                      <a:srgbClr val="111827"/>
                    </a:solidFill>
                    <a:latin typeface="Cambria Math" panose="02040503050406030204" pitchFamily="18" charset="0"/>
                  </a:rPr>
                  <a:t>$AC\perp BH$</a:t>
                </a:r>
                <a:r>
                  <a:rPr sz="2400" b="0">
                    <a:solidFill>
                      <a:srgbClr val="111827"/>
                    </a:solidFill>
                    <a:latin typeface="Arial"/>
                  </a:rPr>
                  <a:t> and </a:t>
                </a:r>
                <a:r>
                  <a:rPr lang="en-IN" sz="2400">
                    <a:solidFill>
                      <a:srgbClr val="111827"/>
                    </a:solidFill>
                    <a:latin typeface="Cambria Math" panose="02040503050406030204" pitchFamily="18" charset="0"/>
                  </a:rPr>
                  <a:t>$BC\perp AH$</a:t>
                </a:r>
                <a:r>
                  <a:rPr sz="2400" b="0">
                    <a:solidFill>
                      <a:srgbClr val="111827"/>
                    </a:solidFill>
                    <a:latin typeface="Arial"/>
                  </a:rPr>
                  <a:t> give two linear equations for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numbers were chosen so that </a:t>
                </a:r>
                <a:r>
                  <a:rPr lang="en-IN" sz="2400">
                    <a:solidFill>
                      <a:srgbClr val="111827"/>
                    </a:solidFill>
                    <a:latin typeface="Cambria Math" panose="02040503050406030204" pitchFamily="18" charset="0"/>
                  </a:rPr>
                  <a:t>$|C|^2=65=64+1$</a:t>
                </a:r>
                <a:r>
                  <a:rPr sz="2400" b="0">
                    <a:solidFill>
                      <a:srgbClr val="111827"/>
                    </a:solidFill>
                    <a:latin typeface="Arial"/>
                  </a:rPr>
                  <a:t> - after finding </a:t>
                </a:r>
                <a:r>
                  <a:rPr lang="en-IN" sz="2400">
                    <a:solidFill>
                      <a:srgbClr val="111827"/>
                    </a:solidFill>
                    <a:latin typeface="Cambria Math" panose="02040503050406030204" pitchFamily="18" charset="0"/>
                  </a:rPr>
                  <a:t>$C$</a:t>
                </a:r>
                <a:r>
                  <a:rPr sz="2400" b="0">
                    <a:solidFill>
                      <a:srgbClr val="111827"/>
                    </a:solidFill>
                    <a:latin typeface="Arial"/>
                  </a:rPr>
                  <a:t>, test each circle by substitution.</a:t>
                </a:r>
                <a:endParaRPr sz="2400">
                  <a:solidFill>
                    <a:srgbClr val="111827"/>
                  </a:solidFill>
                </a:endParaRPr>
              </a:p>
            </p:txBody>
          </p:sp>
        </mc:Fallback>
      </mc:AlternateContent>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locus of the point, whose distances from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in the ratio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the value of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437</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locus of the point, whose distances from the point </a:t>
                </a:r>
                <a:r>
                  <a:rPr lang="en-IN" sz="2400">
                    <a:solidFill>
                      <a:srgbClr val="111827"/>
                    </a:solidFill>
                    <a:latin typeface="Cambria Math" panose="02040503050406030204" pitchFamily="18" charset="0"/>
                  </a:rPr>
                  <a:t>$(2,1)$</a:t>
                </a:r>
                <a:r>
                  <a:rPr sz="2400" b="0">
                    <a:solidFill>
                      <a:srgbClr val="111827"/>
                    </a:solidFill>
                    <a:latin typeface="Arial"/>
                  </a:rPr>
                  <a:t> and </a:t>
                </a:r>
                <a:r>
                  <a:rPr lang="en-IN" sz="2400">
                    <a:solidFill>
                      <a:srgbClr val="111827"/>
                    </a:solidFill>
                    <a:latin typeface="Cambria Math" panose="02040503050406030204" pitchFamily="18" charset="0"/>
                  </a:rPr>
                  <a:t>$(1,3)$</a:t>
                </a:r>
                <a:r>
                  <a:rPr sz="2400" b="0">
                    <a:solidFill>
                      <a:srgbClr val="111827"/>
                    </a:solidFill>
                    <a:latin typeface="Arial"/>
                  </a:rPr>
                  <a:t> are in the ratio </a:t>
                </a:r>
                <a:r>
                  <a:rPr lang="en-IN" sz="2400">
                    <a:solidFill>
                      <a:srgbClr val="111827"/>
                    </a:solidFill>
                    <a:latin typeface="Cambria Math" panose="02040503050406030204" pitchFamily="18" charset="0"/>
                  </a:rPr>
                  <a:t>$5:4$</a:t>
                </a:r>
                <a:r>
                  <a:rPr sz="2400" b="0">
                    <a:solidFill>
                      <a:srgbClr val="111827"/>
                    </a:solidFill>
                    <a:latin typeface="Arial"/>
                  </a:rPr>
                  <a:t>, is </a:t>
                </a:r>
                <a:r>
                  <a:rPr lang="en-IN" sz="2400">
                    <a:solidFill>
                      <a:srgbClr val="111827"/>
                    </a:solidFill>
                    <a:latin typeface="Cambria Math" panose="02040503050406030204" pitchFamily="18" charset="0"/>
                  </a:rPr>
                  <a:t>$ax^2+by^2+cxy+dx+ey+170=0$</a:t>
                </a:r>
                <a:r>
                  <a:rPr sz="2400" b="0">
                    <a:solidFill>
                      <a:srgbClr val="111827"/>
                    </a:solidFill>
                    <a:latin typeface="Arial"/>
                  </a:rPr>
                  <a:t>, then the value of </a:t>
                </a:r>
                <a:r>
                  <a:rPr lang="en-IN" sz="2400">
                    <a:solidFill>
                      <a:srgbClr val="111827"/>
                    </a:solidFill>
                    <a:latin typeface="Cambria Math" panose="02040503050406030204" pitchFamily="18" charset="0"/>
                  </a:rPr>
                  <a:t>$a^2+2b+3c+4d+e$</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$-27$</a:t>
                </a:r>
                <a:r>
                  <a:rPr sz="2400" b="0">
                    <a:solidFill>
                      <a:srgbClr val="111827"/>
                    </a:solidFill>
                    <a:latin typeface="Arial"/>
                  </a:rPr>
                  <a:t>   (B) </a:t>
                </a:r>
                <a:r>
                  <a:rPr lang="en-IN" sz="2400">
                    <a:solidFill>
                      <a:srgbClr val="111827"/>
                    </a:solidFill>
                    <a:latin typeface="Cambria Math" panose="02040503050406030204" pitchFamily="18" charset="0"/>
                  </a:rPr>
                  <a:t>$37$</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a:t>
                </a:r>
                <a:r>
                  <a:rPr lang="en-IN" sz="2400">
                    <a:solidFill>
                      <a:srgbClr val="111827"/>
                    </a:solidFill>
                    <a:latin typeface="Cambria Math" panose="02040503050406030204" pitchFamily="18" charset="0"/>
                  </a:rPr>
                  <a:t>$437$</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Locus of a point whose distances from two points are in a given ratio</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Translate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𝐵</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into </a:t>
                </a:r>
                <a14:m>
                  <m:oMath xmlns:m="http://schemas.openxmlformats.org/officeDocument/2006/math">
                    <m:r>
                      <a:rPr lang="en-IN" sz="2400" i="1">
                        <a:solidFill>
                          <a:srgbClr val="78350F"/>
                        </a:solidFill>
                        <a:latin typeface="Cambria Math" panose="02040503050406030204" pitchFamily="18" charset="0"/>
                      </a:rPr>
                      <m:t>16</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𝑃</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25</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𝑃</m:t>
                    </m:r>
                    <m:sSup>
                      <m:e>
                        <m:r>
                          <a:rPr lang="en-IN" sz="2400" i="1">
                            <a:solidFill>
                              <a:srgbClr val="78350F"/>
                            </a:solidFill>
                            <a:latin typeface="Cambria Math" panose="02040503050406030204" pitchFamily="18" charset="0"/>
                          </a:rPr>
                          <m:t>𝐵</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expand; the constant must match </a:t>
                </a:r>
                <a14:m>
                  <m:oMath xmlns:m="http://schemas.openxmlformats.org/officeDocument/2006/math">
                    <m:r>
                      <a:rPr lang="en-IN" sz="2400" i="1">
                        <a:solidFill>
                          <a:srgbClr val="78350F"/>
                        </a:solidFill>
                        <a:latin typeface="Cambria Math" panose="02040503050406030204" pitchFamily="18" charset="0"/>
                      </a:rPr>
                      <m:t>170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Translate </a:t>
                </a:r>
                <a:r>
                  <a:rPr lang="en-IN" sz="2400">
                    <a:solidFill>
                      <a:srgbClr val="78350F"/>
                    </a:solidFill>
                    <a:latin typeface="Cambria Math" panose="02040503050406030204" pitchFamily="18" charset="0"/>
                  </a:rPr>
                  <a:t>$\frac{PA}{PB}=\frac{5}{4}$</a:t>
                </a:r>
                <a:r>
                  <a:rPr sz="2400" b="0">
                    <a:solidFill>
                      <a:srgbClr val="78350F"/>
                    </a:solidFill>
                    <a:latin typeface="Arial"/>
                  </a:rPr>
                  <a:t> into </a:t>
                </a:r>
                <a:r>
                  <a:rPr lang="en-IN" sz="2400">
                    <a:solidFill>
                      <a:srgbClr val="78350F"/>
                    </a:solidFill>
                    <a:latin typeface="Cambria Math" panose="02040503050406030204" pitchFamily="18" charset="0"/>
                  </a:rPr>
                  <a:t>$16\,PA^2=25\,PB^2$</a:t>
                </a:r>
                <a:r>
                  <a:rPr sz="2400" b="0">
                    <a:solidFill>
                      <a:srgbClr val="78350F"/>
                    </a:solidFill>
                    <a:latin typeface="Arial"/>
                  </a:rPr>
                  <a:t> and expand; the constant must match </a:t>
                </a:r>
                <a:r>
                  <a:rPr lang="en-IN" sz="2400">
                    <a:solidFill>
                      <a:srgbClr val="78350F"/>
                    </a:solidFill>
                    <a:latin typeface="Cambria Math" panose="02040503050406030204" pitchFamily="18" charset="0"/>
                  </a:rPr>
                  <a:t>$170$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point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and cross-multiply: </a:t>
                </a:r>
                <a14:m>
                  <m:oMath xmlns:m="http://schemas.openxmlformats.org/officeDocument/2006/math">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point be </a:t>
                </a:r>
                <a:r>
                  <a:rPr lang="en-IN" sz="2400">
                    <a:solidFill>
                      <a:srgbClr val="111827"/>
                    </a:solidFill>
                    <a:latin typeface="Cambria Math" panose="02040503050406030204" pitchFamily="18" charset="0"/>
                  </a:rPr>
                  <a:t>$(h,k)$</a:t>
                </a:r>
                <a:r>
                  <a:rPr sz="2400" b="0">
                    <a:solidFill>
                      <a:srgbClr val="111827"/>
                    </a:solidFill>
                    <a:latin typeface="Arial"/>
                  </a:rPr>
                  <a:t>. Then </a:t>
                </a:r>
                <a:r>
                  <a:rPr lang="en-IN" sz="2400">
                    <a:solidFill>
                      <a:srgbClr val="111827"/>
                    </a:solidFill>
                    <a:latin typeface="Cambria Math" panose="02040503050406030204" pitchFamily="18" charset="0"/>
                  </a:rPr>
                  <a:t>$\frac{(h-2)^2+(k-1)^2}{(h-1)^2+(k-3)^2}=\frac{25}{16}$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$\frac{h^2+k^2-4h-2k+5}{h^2+k^2-2h-6k+10}=\frac{25}{16}$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r>
                  <a:rPr lang="en-IN" sz="2400">
                    <a:solidFill>
                      <a:srgbClr val="111827"/>
                    </a:solidFill>
                    <a:latin typeface="Cambria Math" panose="02040503050406030204" pitchFamily="18" charset="0"/>
                  </a:rPr>
                  <a:t>$h\to x$</a:t>
                </a:r>
                <a:r>
                  <a:rPr sz="2400" b="0">
                    <a:solidFill>
                      <a:srgbClr val="111827"/>
                    </a:solidFill>
                    <a:latin typeface="Arial"/>
                  </a:rPr>
                  <a:t>, </a:t>
                </a:r>
                <a:r>
                  <a:rPr lang="en-IN" sz="2400">
                    <a:solidFill>
                      <a:srgbClr val="111827"/>
                    </a:solidFill>
                    <a:latin typeface="Cambria Math" panose="02040503050406030204" pitchFamily="18" charset="0"/>
                  </a:rPr>
                  <a:t>$k\to y$</a:t>
                </a:r>
                <a:r>
                  <a:rPr sz="2400" b="0">
                    <a:solidFill>
                      <a:srgbClr val="111827"/>
                    </a:solidFill>
                    <a:latin typeface="Arial"/>
                  </a:rPr>
                  <a:t> and cross-multiply: </a:t>
                </a:r>
                <a:r>
                  <a:rPr lang="en-IN" sz="2400">
                    <a:solidFill>
                      <a:srgbClr val="111827"/>
                    </a:solidFill>
                    <a:latin typeface="Cambria Math" panose="02040503050406030204" pitchFamily="18" charset="0"/>
                  </a:rPr>
                  <a:t>$16x^2+16y^2-64x-32y+80=25x^2+25y^2-50x-150y+250$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Bring to one side: </a:t>
                </a:r>
                <a14:m>
                  <m:oMath xmlns:m="http://schemas.openxmlformats.org/officeDocument/2006/math">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the constant is </a:t>
                </a:r>
                <a14:m>
                  <m:oMath xmlns:m="http://schemas.openxmlformats.org/officeDocument/2006/math">
                    <m:r>
                      <a:rPr lang="en-IN" sz="2400" i="1">
                        <a:solidFill>
                          <a:srgbClr val="111827"/>
                        </a:solidFill>
                        <a:latin typeface="Cambria Math" panose="02040503050406030204" pitchFamily="18" charset="0"/>
                      </a:rPr>
                      <m:t>170</m:t>
                    </m:r>
                  </m:oMath>
                </a14:m>
                <a:r>
                  <a:rPr sz="2400" b="0">
                    <a:solidFill>
                      <a:srgbClr val="111827"/>
                    </a:solidFill>
                    <a:latin typeface="Arial"/>
                  </a:rPr>
                  <a:t> as in the question, so no rescaling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Bring to one side: </a:t>
                </a:r>
                <a:r>
                  <a:rPr lang="en-IN" sz="2400">
                    <a:solidFill>
                      <a:srgbClr val="111827"/>
                    </a:solidFill>
                    <a:latin typeface="Cambria Math" panose="02040503050406030204" pitchFamily="18" charset="0"/>
                  </a:rPr>
                  <a:t>$9x^2+9y^2+14x-118y+170=0$</a:t>
                </a:r>
                <a:r>
                  <a:rPr sz="2400" b="0">
                    <a:solidFill>
                      <a:srgbClr val="111827"/>
                    </a:solidFill>
                    <a:latin typeface="Arial"/>
                  </a:rPr>
                  <a:t> - the constant is </a:t>
                </a:r>
                <a:r>
                  <a:rPr lang="en-IN" sz="2400">
                    <a:solidFill>
                      <a:srgbClr val="111827"/>
                    </a:solidFill>
                    <a:latin typeface="Cambria Math" panose="02040503050406030204" pitchFamily="18" charset="0"/>
                  </a:rPr>
                  <a:t>$170$</a:t>
                </a:r>
                <a:r>
                  <a:rPr sz="2400" b="0">
                    <a:solidFill>
                      <a:srgbClr val="111827"/>
                    </a:solidFill>
                    <a:latin typeface="Arial"/>
                  </a:rPr>
                  <a:t> as in the question, so no rescaling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$a=9$</a:t>
                </a:r>
                <a:r>
                  <a:rPr sz="2400" b="0">
                    <a:solidFill>
                      <a:srgbClr val="111827"/>
                    </a:solidFill>
                    <a:latin typeface="Arial"/>
                  </a:rPr>
                  <a:t>, </a:t>
                </a:r>
                <a:r>
                  <a:rPr lang="en-IN" sz="2400">
                    <a:solidFill>
                      <a:srgbClr val="111827"/>
                    </a:solidFill>
                    <a:latin typeface="Cambria Math" panose="02040503050406030204" pitchFamily="18" charset="0"/>
                  </a:rPr>
                  <a:t>$b=9$</a:t>
                </a:r>
                <a:r>
                  <a:rPr sz="2400" b="0">
                    <a:solidFill>
                      <a:srgbClr val="111827"/>
                    </a:solidFill>
                    <a:latin typeface="Arial"/>
                  </a:rPr>
                  <a:t>, </a:t>
                </a:r>
                <a:r>
                  <a:rPr lang="en-IN" sz="2400">
                    <a:solidFill>
                      <a:srgbClr val="111827"/>
                    </a:solidFill>
                    <a:latin typeface="Cambria Math" panose="02040503050406030204" pitchFamily="18" charset="0"/>
                  </a:rPr>
                  <a:t>$c=0$</a:t>
                </a:r>
                <a:r>
                  <a:rPr sz="2400" b="0">
                    <a:solidFill>
                      <a:srgbClr val="111827"/>
                    </a:solidFill>
                    <a:latin typeface="Arial"/>
                  </a:rPr>
                  <a:t>, </a:t>
                </a:r>
                <a:r>
                  <a:rPr lang="en-IN" sz="2400">
                    <a:solidFill>
                      <a:srgbClr val="111827"/>
                    </a:solidFill>
                    <a:latin typeface="Cambria Math" panose="02040503050406030204" pitchFamily="18" charset="0"/>
                  </a:rPr>
                  <a:t>$d=14$</a:t>
                </a:r>
                <a:r>
                  <a:rPr sz="2400" b="0">
                    <a:solidFill>
                      <a:srgbClr val="111827"/>
                    </a:solidFill>
                    <a:latin typeface="Arial"/>
                  </a:rPr>
                  <a:t>, </a:t>
                </a:r>
                <a:r>
                  <a:rPr lang="en-IN" sz="2400">
                    <a:solidFill>
                      <a:srgbClr val="111827"/>
                    </a:solidFill>
                    <a:latin typeface="Cambria Math" panose="02040503050406030204" pitchFamily="18" charset="0"/>
                  </a:rPr>
                  <a:t>$e=-118$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$a^2+2b+3c+4d+e=81+18+0+56-118=37$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37</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$37$</a:t>
                </a:r>
                <a:endParaRPr sz="2800">
                  <a:solidFill>
                    <a:srgbClr val="15803D"/>
                  </a:solidFill>
                </a:endParaRPr>
              </a:p>
            </p:txBody>
          </p:sp>
        </mc:Fallback>
      </mc:AlternateContent>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locus is an Apollonius circle: it has the internal and external division points of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in the ratio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as ends of a diameter.</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locus is an Apollonius circle: it has the internal and external division points of </a:t>
                </a:r>
                <a:r>
                  <a:rPr lang="en-IN" sz="2400">
                    <a:solidFill>
                      <a:srgbClr val="78350F"/>
                    </a:solidFill>
                    <a:latin typeface="Cambria Math" panose="02040503050406030204" pitchFamily="18" charset="0"/>
                  </a:rPr>
                  <a:t>$AB$</a:t>
                </a:r>
                <a:r>
                  <a:rPr sz="2400" b="0">
                    <a:solidFill>
                      <a:srgbClr val="78350F"/>
                    </a:solidFill>
                    <a:latin typeface="Arial"/>
                  </a:rPr>
                  <a:t> in the ratio </a:t>
                </a:r>
                <a:r>
                  <a:rPr lang="en-IN" sz="2400">
                    <a:solidFill>
                      <a:srgbClr val="78350F"/>
                    </a:solidFill>
                    <a:latin typeface="Cambria Math" panose="02040503050406030204" pitchFamily="18" charset="0"/>
                  </a:rPr>
                  <a:t>$5:4$</a:t>
                </a:r>
                <a:r>
                  <a:rPr sz="2400" b="0">
                    <a:solidFill>
                      <a:srgbClr val="78350F"/>
                    </a:solidFill>
                    <a:latin typeface="Arial"/>
                  </a:rPr>
                  <a:t> as ends of a diameter.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the internal division 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external division point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$A(2,1)$</a:t>
                </a:r>
                <a:r>
                  <a:rPr sz="2400" b="0">
                    <a:solidFill>
                      <a:srgbClr val="111827"/>
                    </a:solidFill>
                    <a:latin typeface="Arial"/>
                  </a:rPr>
                  <a:t>, </a:t>
                </a:r>
                <a:r>
                  <a:rPr lang="en-IN" sz="2400">
                    <a:solidFill>
                      <a:srgbClr val="111827"/>
                    </a:solidFill>
                    <a:latin typeface="Cambria Math" panose="02040503050406030204" pitchFamily="18" charset="0"/>
                  </a:rPr>
                  <a:t>$B(1,3)$</a:t>
                </a:r>
                <a:r>
                  <a:rPr sz="2400" b="0">
                    <a:solidFill>
                      <a:srgbClr val="111827"/>
                    </a:solidFill>
                    <a:latin typeface="Arial"/>
                  </a:rPr>
                  <a:t> and </a:t>
                </a:r>
                <a:r>
                  <a:rPr lang="en-IN" sz="2400">
                    <a:solidFill>
                      <a:srgbClr val="111827"/>
                    </a:solidFill>
                    <a:latin typeface="Cambria Math" panose="02040503050406030204" pitchFamily="18" charset="0"/>
                  </a:rPr>
                  <a:t>$\frac{PA}{PB}=\frac{5}{4}$</a:t>
                </a:r>
                <a:r>
                  <a:rPr sz="2400" b="0">
                    <a:solidFill>
                      <a:srgbClr val="111827"/>
                    </a:solidFill>
                    <a:latin typeface="Arial"/>
                  </a:rPr>
                  <a:t>, the internal division point of </a:t>
                </a:r>
                <a:r>
                  <a:rPr lang="en-IN" sz="2400">
                    <a:solidFill>
                      <a:srgbClr val="111827"/>
                    </a:solidFill>
                    <a:latin typeface="Cambria Math" panose="02040503050406030204" pitchFamily="18" charset="0"/>
                  </a:rPr>
                  <a:t>$AB$</a:t>
                </a:r>
                <a:r>
                  <a:rPr sz="2400" b="0">
                    <a:solidFill>
                      <a:srgbClr val="111827"/>
                    </a:solidFill>
                    <a:latin typeface="Arial"/>
                  </a:rPr>
                  <a:t> in </a:t>
                </a:r>
                <a:r>
                  <a:rPr lang="en-IN" sz="2400">
                    <a:solidFill>
                      <a:srgbClr val="111827"/>
                    </a:solidFill>
                    <a:latin typeface="Cambria Math" panose="02040503050406030204" pitchFamily="18" charset="0"/>
                  </a:rPr>
                  <a:t>$5:4$</a:t>
                </a:r>
                <a:r>
                  <a:rPr sz="2400" b="0">
                    <a:solidFill>
                      <a:srgbClr val="111827"/>
                    </a:solidFill>
                    <a:latin typeface="Arial"/>
                  </a:rPr>
                  <a:t> is </a:t>
                </a:r>
                <a:r>
                  <a:rPr lang="en-IN" sz="2400">
                    <a:solidFill>
                      <a:srgbClr val="111827"/>
                    </a:solidFill>
                    <a:latin typeface="Cambria Math" panose="02040503050406030204" pitchFamily="18" charset="0"/>
                  </a:rPr>
                  <a:t>$\left(\frac{5\cdot1+4\cdot2}{9},\frac{5\cdot3+4\cdot1}{9}\right)=\left(\frac{13}{9},\frac{19}{9}\right)$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external division point is </a:t>
                </a:r>
                <a:r>
                  <a:rPr lang="en-IN" sz="2400">
                    <a:solidFill>
                      <a:srgbClr val="111827"/>
                    </a:solidFill>
                    <a:latin typeface="Cambria Math" panose="02040503050406030204" pitchFamily="18" charset="0"/>
                  </a:rPr>
                  <a:t>$\frac{5B-4A}{5-4}=(5-8,15-4)=(-3,11)$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two points are the ends of a diameter of the locus: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and multiplying by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oMath>
                </a14:m>
                <a:r>
                  <a:rPr sz="2400" b="0">
                    <a:solidFill>
                      <a:srgbClr val="111827"/>
                    </a:solidFill>
                    <a:latin typeface="Arial"/>
                  </a:rPr>
                  <a:t> and the value is </a:t>
                </a:r>
                <a14:m>
                  <m:oMath xmlns:m="http://schemas.openxmlformats.org/officeDocument/2006/math">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two points are the ends of a diameter of the locus: </a:t>
                </a:r>
                <a:r>
                  <a:rPr lang="en-IN" sz="2400">
                    <a:solidFill>
                      <a:srgbClr val="111827"/>
                    </a:solidFill>
                    <a:latin typeface="Cambria Math" panose="02040503050406030204" pitchFamily="18" charset="0"/>
                  </a:rPr>
                  <a:t>$\left(x-\frac{13}{9}\right)(x+3)+\left(y-\frac{19}{9}\right)(y-11)=0$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and multiplying by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$9x^2+9y^2+14x-118y+170=0$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$a=9,b=9,c=0,d=14,e=-118$</a:t>
                </a:r>
                <a:r>
                  <a:rPr sz="2400" b="0">
                    <a:solidFill>
                      <a:srgbClr val="111827"/>
                    </a:solidFill>
                    <a:latin typeface="Arial"/>
                  </a:rPr>
                  <a:t> and the value is </a:t>
                </a:r>
                <a:r>
                  <a:rPr lang="en-IN" sz="2400">
                    <a:solidFill>
                      <a:srgbClr val="111827"/>
                    </a:solidFill>
                    <a:latin typeface="Cambria Math" panose="02040503050406030204" pitchFamily="18" charset="0"/>
                  </a:rPr>
                  <a:t>$81+18+56-118=37$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37</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$37$</a:t>
                </a:r>
                <a:endParaRPr sz="2800">
                  <a:solidFill>
                    <a:srgbClr val="15803D"/>
                  </a:solidFill>
                </a:endParaRPr>
              </a:p>
            </p:txBody>
          </p:sp>
        </mc:Fallback>
      </mc:AlternateContent>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Apollonius circle: the locus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circle whose diameter joins the internal and external points dividing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locus degenerates into the perpendicular bisector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Convert 'distance ratio' to 'squared distance ratio' first, so there are no radicals.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Apollonius circle: the locus of </a:t>
                </a:r>
                <a:r>
                  <a:rPr lang="en-IN" sz="2400">
                    <a:solidFill>
                      <a:srgbClr val="111827"/>
                    </a:solidFill>
                    <a:latin typeface="Cambria Math" panose="02040503050406030204" pitchFamily="18" charset="0"/>
                  </a:rPr>
                  <a:t>$P$</a:t>
                </a:r>
                <a:r>
                  <a:rPr sz="2400" b="0">
                    <a:solidFill>
                      <a:srgbClr val="111827"/>
                    </a:solidFill>
                    <a:latin typeface="Arial"/>
                  </a:rPr>
                  <a:t> with </a:t>
                </a:r>
                <a:r>
                  <a:rPr lang="en-IN" sz="2400">
                    <a:solidFill>
                      <a:srgbClr val="111827"/>
                    </a:solidFill>
                    <a:latin typeface="Cambria Math" panose="02040503050406030204" pitchFamily="18" charset="0"/>
                  </a:rPr>
                  <a:t>$\frac{PA}{PB}=k\neq1$</a:t>
                </a:r>
                <a:r>
                  <a:rPr sz="2400" b="0">
                    <a:solidFill>
                      <a:srgbClr val="111827"/>
                    </a:solidFill>
                    <a:latin typeface="Arial"/>
                  </a:rPr>
                  <a:t> is a circle whose diameter joins the internal and external points dividing </a:t>
                </a:r>
                <a:r>
                  <a:rPr lang="en-IN" sz="2400">
                    <a:solidFill>
                      <a:srgbClr val="111827"/>
                    </a:solidFill>
                    <a:latin typeface="Cambria Math" panose="02040503050406030204" pitchFamily="18" charset="0"/>
                  </a:rPr>
                  <a:t>$AB$</a:t>
                </a:r>
                <a:r>
                  <a:rPr sz="2400" b="0">
                    <a:solidFill>
                      <a:srgbClr val="111827"/>
                    </a:solidFill>
                    <a:latin typeface="Arial"/>
                  </a:rPr>
                  <a:t> in the ratio </a:t>
                </a:r>
                <a:r>
                  <a:rPr lang="en-IN" sz="2400">
                    <a:solidFill>
                      <a:srgbClr val="111827"/>
                    </a:solidFill>
                    <a:latin typeface="Cambria Math" panose="02040503050406030204" pitchFamily="18" charset="0"/>
                  </a:rPr>
                  <a:t>$k:1$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$k=1$</a:t>
                </a:r>
                <a:r>
                  <a:rPr sz="2400" b="0">
                    <a:solidFill>
                      <a:srgbClr val="111827"/>
                    </a:solidFill>
                    <a:latin typeface="Arial"/>
                  </a:rPr>
                  <a:t> the locus degenerates into the perpendicular bisector of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Convert 'distance ratio' to 'squared distance ratio' first, so there are no radicals.</a:t>
                </a:r>
                <a:endParaRPr sz="2400">
                  <a:solidFill>
                    <a:srgbClr val="111827"/>
                  </a:solidFill>
                </a:endParaRPr>
              </a:p>
            </p:txBody>
          </p:sp>
        </mc:Fallback>
      </mc:AlternateContent>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equations of two sides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of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respectively. The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divides the third side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internally in the ratio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equation of the side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equations of two sides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$AC$</a:t>
                </a:r>
                <a:r>
                  <a:rPr sz="2400" b="0">
                    <a:solidFill>
                      <a:srgbClr val="111827"/>
                    </a:solidFill>
                    <a:latin typeface="Arial"/>
                  </a:rPr>
                  <a:t> of a triangle </a:t>
                </a:r>
                <a:r>
                  <a:rPr lang="en-IN" sz="2400">
                    <a:solidFill>
                      <a:srgbClr val="111827"/>
                    </a:solidFill>
                    <a:latin typeface="Cambria Math" panose="02040503050406030204" pitchFamily="18" charset="0"/>
                  </a:rPr>
                  <a:t>$ABC$</a:t>
                </a:r>
                <a:r>
                  <a:rPr sz="2400" b="0">
                    <a:solidFill>
                      <a:srgbClr val="111827"/>
                    </a:solidFill>
                    <a:latin typeface="Arial"/>
                  </a:rPr>
                  <a:t> are </a:t>
                </a:r>
                <a:r>
                  <a:rPr lang="en-IN" sz="2400">
                    <a:solidFill>
                      <a:srgbClr val="111827"/>
                    </a:solidFill>
                    <a:latin typeface="Cambria Math" panose="02040503050406030204" pitchFamily="18" charset="0"/>
                  </a:rPr>
                  <a:t>$4x+y=14$</a:t>
                </a:r>
                <a:r>
                  <a:rPr sz="2400" b="0">
                    <a:solidFill>
                      <a:srgbClr val="111827"/>
                    </a:solidFill>
                    <a:latin typeface="Arial"/>
                  </a:rPr>
                  <a:t> and </a:t>
                </a:r>
                <a:r>
                  <a:rPr lang="en-IN" sz="2400">
                    <a:solidFill>
                      <a:srgbClr val="111827"/>
                    </a:solidFill>
                    <a:latin typeface="Cambria Math" panose="02040503050406030204" pitchFamily="18" charset="0"/>
                  </a:rPr>
                  <a:t>$3x-2y=5$</a:t>
                </a:r>
                <a:r>
                  <a:rPr sz="2400" b="0">
                    <a:solidFill>
                      <a:srgbClr val="111827"/>
                    </a:solidFill>
                    <a:latin typeface="Arial"/>
                  </a:rPr>
                  <a:t>, respectively. The point </a:t>
                </a:r>
                <a:r>
                  <a:rPr lang="en-IN" sz="2400">
                    <a:solidFill>
                      <a:srgbClr val="111827"/>
                    </a:solidFill>
                    <a:latin typeface="Cambria Math" panose="02040503050406030204" pitchFamily="18" charset="0"/>
                  </a:rPr>
                  <a:t>$\left(2,-\frac{4}{3}\right)$</a:t>
                </a:r>
                <a:r>
                  <a:rPr sz="2400" b="0">
                    <a:solidFill>
                      <a:srgbClr val="111827"/>
                    </a:solidFill>
                    <a:latin typeface="Arial"/>
                  </a:rPr>
                  <a:t> divides the third side </a:t>
                </a:r>
                <a:r>
                  <a:rPr lang="en-IN" sz="2400">
                    <a:solidFill>
                      <a:srgbClr val="111827"/>
                    </a:solidFill>
                    <a:latin typeface="Cambria Math" panose="02040503050406030204" pitchFamily="18" charset="0"/>
                  </a:rPr>
                  <a:t>$BC$</a:t>
                </a:r>
                <a:r>
                  <a:rPr sz="2400" b="0">
                    <a:solidFill>
                      <a:srgbClr val="111827"/>
                    </a:solidFill>
                    <a:latin typeface="Arial"/>
                  </a:rPr>
                  <a:t> internally in the ratio </a:t>
                </a:r>
                <a:r>
                  <a:rPr lang="en-IN" sz="2400">
                    <a:solidFill>
                      <a:srgbClr val="111827"/>
                    </a:solidFill>
                    <a:latin typeface="Cambria Math" panose="02040503050406030204" pitchFamily="18" charset="0"/>
                  </a:rPr>
                  <a:t>$2:1$</a:t>
                </a:r>
                <a:r>
                  <a:rPr sz="2400" b="0">
                    <a:solidFill>
                      <a:srgbClr val="111827"/>
                    </a:solidFill>
                    <a:latin typeface="Arial"/>
                  </a:rPr>
                  <a:t>. The equation of the side </a:t>
                </a:r>
                <a:r>
                  <a:rPr lang="en-IN" sz="2400">
                    <a:solidFill>
                      <a:srgbClr val="111827"/>
                    </a:solidFill>
                    <a:latin typeface="Cambria Math" panose="02040503050406030204" pitchFamily="18" charset="0"/>
                  </a:rPr>
                  <a:t>$BC$</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$x+3y+2=0$</a:t>
                </a:r>
                <a:r>
                  <a:rPr sz="2400" b="0">
                    <a:solidFill>
                      <a:srgbClr val="111827"/>
                    </a:solidFill>
                    <a:latin typeface="Arial"/>
                  </a:rPr>
                  <a:t>   (B) </a:t>
                </a:r>
                <a:r>
                  <a:rPr lang="en-IN" sz="2400">
                    <a:solidFill>
                      <a:srgbClr val="111827"/>
                    </a:solidFill>
                    <a:latin typeface="Cambria Math" panose="02040503050406030204" pitchFamily="18" charset="0"/>
                  </a:rPr>
                  <a:t>$x+6y+6=0$</a:t>
                </a:r>
                <a:r>
                  <a:rPr sz="2400" b="0">
                    <a:solidFill>
                      <a:srgbClr val="111827"/>
                    </a:solidFill>
                    <a:latin typeface="Arial"/>
                  </a:rPr>
                  <a:t>   (C) </a:t>
                </a:r>
                <a:r>
                  <a:rPr lang="en-IN" sz="2400">
                    <a:solidFill>
                      <a:srgbClr val="111827"/>
                    </a:solidFill>
                    <a:latin typeface="Cambria Math" panose="02040503050406030204" pitchFamily="18" charset="0"/>
                  </a:rPr>
                  <a:t>$x-6y-10=0$</a:t>
                </a:r>
                <a:r>
                  <a:rPr sz="2400" b="0">
                    <a:solidFill>
                      <a:srgbClr val="111827"/>
                    </a:solidFill>
                    <a:latin typeface="Arial"/>
                  </a:rPr>
                  <a:t>   (D) </a:t>
                </a:r>
                <a:r>
                  <a:rPr lang="en-IN" sz="2400">
                    <a:solidFill>
                      <a:srgbClr val="111827"/>
                    </a:solidFill>
                    <a:latin typeface="Cambria Math" panose="02040503050406030204" pitchFamily="18" charset="0"/>
                  </a:rPr>
                  <a:t>$x-3y-6=0$</a:t>
                </a:r>
                <a:endParaRPr sz="2400">
                  <a:solidFill>
                    <a:srgbClr val="111827"/>
                  </a:solidFill>
                </a:endParaRPr>
              </a:p>
            </p:txBody>
          </p:sp>
        </mc:Fallback>
      </mc:AlternateContent>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Section formula, Equation of a side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Let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lie on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the section formula for the point </a:t>
                </a:r>
                <a14:m>
                  <m:oMath xmlns:m="http://schemas.openxmlformats.org/officeDocument/2006/math">
                    <m:r>
                      <a:rPr lang="en-IN" sz="2400" i="1">
                        <a:solidFill>
                          <a:srgbClr val="78350F"/>
                        </a:solidFill>
                        <a:latin typeface="Cambria Math" panose="02040503050406030204" pitchFamily="18" charset="0"/>
                      </a:rPr>
                      <m:t>𝐷</m:t>
                    </m:r>
                  </m:oMath>
                </a14:m>
                <a:r>
                  <a:rPr sz="2400" b="0">
                    <a:solidFill>
                      <a:srgbClr val="78350F"/>
                    </a:solidFill>
                    <a:latin typeface="Arial"/>
                  </a:rPr>
                  <a:t> gives two equations; solve for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Let </a:t>
                </a:r>
                <a:r>
                  <a:rPr lang="en-IN" sz="2400">
                    <a:solidFill>
                      <a:srgbClr val="78350F"/>
                    </a:solidFill>
                    <a:latin typeface="Cambria Math" panose="02040503050406030204" pitchFamily="18" charset="0"/>
                  </a:rPr>
                  <a:t>$B$</a:t>
                </a:r>
                <a:r>
                  <a:rPr sz="2400" b="0">
                    <a:solidFill>
                      <a:srgbClr val="78350F"/>
                    </a:solidFill>
                    <a:latin typeface="Arial"/>
                  </a:rPr>
                  <a:t> and </a:t>
                </a:r>
                <a:r>
                  <a:rPr lang="en-IN" sz="2400">
                    <a:solidFill>
                      <a:srgbClr val="78350F"/>
                    </a:solidFill>
                    <a:latin typeface="Cambria Math" panose="02040503050406030204" pitchFamily="18" charset="0"/>
                  </a:rPr>
                  <a:t>$C$</a:t>
                </a:r>
                <a:r>
                  <a:rPr sz="2400" b="0">
                    <a:solidFill>
                      <a:srgbClr val="78350F"/>
                    </a:solidFill>
                    <a:latin typeface="Arial"/>
                  </a:rPr>
                  <a:t> lie on </a:t>
                </a:r>
                <a:r>
                  <a:rPr lang="en-IN" sz="2400">
                    <a:solidFill>
                      <a:srgbClr val="78350F"/>
                    </a:solidFill>
                    <a:latin typeface="Cambria Math" panose="02040503050406030204" pitchFamily="18" charset="0"/>
                  </a:rPr>
                  <a:t>$AB$</a:t>
                </a:r>
                <a:r>
                  <a:rPr sz="2400" b="0">
                    <a:solidFill>
                      <a:srgbClr val="78350F"/>
                    </a:solidFill>
                    <a:latin typeface="Arial"/>
                  </a:rPr>
                  <a:t> and </a:t>
                </a:r>
                <a:r>
                  <a:rPr lang="en-IN" sz="2400">
                    <a:solidFill>
                      <a:srgbClr val="78350F"/>
                    </a:solidFill>
                    <a:latin typeface="Cambria Math" panose="02040503050406030204" pitchFamily="18" charset="0"/>
                  </a:rPr>
                  <a:t>$AC$</a:t>
                </a:r>
                <a:r>
                  <a:rPr sz="2400" b="0">
                    <a:solidFill>
                      <a:srgbClr val="78350F"/>
                    </a:solidFill>
                    <a:latin typeface="Arial"/>
                  </a:rPr>
                  <a:t>; the section formula for the point </a:t>
                </a:r>
                <a:r>
                  <a:rPr lang="en-IN" sz="2400">
                    <a:solidFill>
                      <a:srgbClr val="78350F"/>
                    </a:solidFill>
                    <a:latin typeface="Cambria Math" panose="02040503050406030204" pitchFamily="18" charset="0"/>
                  </a:rPr>
                  <a:t>$D$</a:t>
                </a:r>
                <a:r>
                  <a:rPr sz="2400" b="0">
                    <a:solidFill>
                      <a:srgbClr val="78350F"/>
                    </a:solidFill>
                    <a:latin typeface="Arial"/>
                  </a:rPr>
                  <a:t> gives two equations; solve for </a:t>
                </a:r>
                <a:r>
                  <a:rPr lang="en-IN" sz="2400">
                    <a:solidFill>
                      <a:srgbClr val="78350F"/>
                    </a:solidFill>
                    <a:latin typeface="Cambria Math" panose="02040503050406030204" pitchFamily="18" charset="0"/>
                  </a:rPr>
                  <a:t>$B,C$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 (1) and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 (3).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 (4).</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$B(x_1,y_1)$</a:t>
                </a:r>
                <a:r>
                  <a:rPr sz="2400" b="0">
                    <a:solidFill>
                      <a:srgbClr val="111827"/>
                    </a:solidFill>
                    <a:latin typeface="Arial"/>
                  </a:rPr>
                  <a:t> on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$C(x_2,y_2)$</a:t>
                </a:r>
                <a:r>
                  <a:rPr sz="2400" b="0">
                    <a:solidFill>
                      <a:srgbClr val="111827"/>
                    </a:solidFill>
                    <a:latin typeface="Arial"/>
                  </a:rPr>
                  <a:t> on </a:t>
                </a:r>
                <a:r>
                  <a:rPr lang="en-IN" sz="2400">
                    <a:solidFill>
                      <a:srgbClr val="111827"/>
                    </a:solidFill>
                    <a:latin typeface="Cambria Math" panose="02040503050406030204" pitchFamily="18" charset="0"/>
                  </a:rPr>
                  <a:t>$AC$</a:t>
                </a:r>
                <a:r>
                  <a:rPr sz="2400" b="0">
                    <a:solidFill>
                      <a:srgbClr val="111827"/>
                    </a:solidFill>
                    <a:latin typeface="Arial"/>
                  </a:rPr>
                  <a:t>. </a:t>
                </a:r>
                <a:r>
                  <a:rPr lang="en-IN" sz="2400">
                    <a:solidFill>
                      <a:srgbClr val="111827"/>
                    </a:solidFill>
                    <a:latin typeface="Cambria Math" panose="02040503050406030204" pitchFamily="18" charset="0"/>
                  </a:rPr>
                  <a:t>$D\left(2,-\frac{4}{3}\right)$</a:t>
                </a:r>
                <a:r>
                  <a:rPr sz="2400" b="0">
                    <a:solidFill>
                      <a:srgbClr val="111827"/>
                    </a:solidFill>
                    <a:latin typeface="Arial"/>
                  </a:rPr>
                  <a:t> divides </a:t>
                </a:r>
                <a:r>
                  <a:rPr lang="en-IN" sz="2400">
                    <a:solidFill>
                      <a:srgbClr val="111827"/>
                    </a:solidFill>
                    <a:latin typeface="Cambria Math" panose="02040503050406030204" pitchFamily="18" charset="0"/>
                  </a:rPr>
                  <a:t>$BC$</a:t>
                </a:r>
                <a:r>
                  <a:rPr sz="2400" b="0">
                    <a:solidFill>
                      <a:srgbClr val="111827"/>
                    </a:solidFill>
                    <a:latin typeface="Arial"/>
                  </a:rPr>
                  <a:t> in the ratio </a:t>
                </a:r>
                <a:r>
                  <a:rPr lang="en-IN" sz="2400">
                    <a:solidFill>
                      <a:srgbClr val="111827"/>
                    </a:solidFill>
                    <a:latin typeface="Cambria Math" panose="02040503050406030204" pitchFamily="18" charset="0"/>
                  </a:rPr>
                  <a:t>$2:1$</a:t>
                </a:r>
                <a:r>
                  <a:rPr sz="2400" b="0">
                    <a:solidFill>
                      <a:srgbClr val="111827"/>
                    </a:solidFill>
                    <a:latin typeface="Arial"/>
                  </a:rPr>
                  <a:t> (so </a:t>
                </a:r>
                <a:r>
                  <a:rPr lang="en-IN" sz="2400">
                    <a:solidFill>
                      <a:srgbClr val="111827"/>
                    </a:solidFill>
                    <a:latin typeface="Cambria Math" panose="02040503050406030204" pitchFamily="18" charset="0"/>
                  </a:rPr>
                  <a:t>$BD:DC=2:1$</a:t>
                </a:r>
                <a:r>
                  <a:rPr sz="2400" b="0">
                    <a:solidFill>
                      <a:srgbClr val="111827"/>
                    </a:solidFill>
                    <a:latin typeface="Arial"/>
                  </a:rPr>
                  <a:t>): </a:t>
                </a:r>
                <a:r>
                  <a:rPr lang="en-IN" sz="2400">
                    <a:solidFill>
                      <a:srgbClr val="111827"/>
                    </a:solidFill>
                    <a:latin typeface="Cambria Math" panose="02040503050406030204" pitchFamily="18" charset="0"/>
                  </a:rPr>
                  <a:t>$D=\frac{2C+B}{3}$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$\frac{2x_2+x_1}{3}=2$</a:t>
                </a:r>
                <a:r>
                  <a:rPr sz="2400" b="0">
                    <a:solidFill>
                      <a:srgbClr val="111827"/>
                    </a:solidFill>
                    <a:latin typeface="Arial"/>
                  </a:rPr>
                  <a:t> and </a:t>
                </a:r>
                <a:r>
                  <a:rPr lang="en-IN" sz="2400">
                    <a:solidFill>
                      <a:srgbClr val="111827"/>
                    </a:solidFill>
                    <a:latin typeface="Cambria Math" panose="02040503050406030204" pitchFamily="18" charset="0"/>
                  </a:rPr>
                  <a:t>$\frac{2y_2+y_1}{3}=-\frac{4}{3}$</a:t>
                </a:r>
                <a:r>
                  <a:rPr sz="2400" b="0">
                    <a:solidFill>
                      <a:srgbClr val="111827"/>
                    </a:solidFill>
                    <a:latin typeface="Arial"/>
                  </a:rPr>
                  <a:t>, i.e. </a:t>
                </a:r>
                <a:r>
                  <a:rPr lang="en-IN" sz="2400">
                    <a:solidFill>
                      <a:srgbClr val="111827"/>
                    </a:solidFill>
                    <a:latin typeface="Cambria Math" panose="02040503050406030204" pitchFamily="18" charset="0"/>
                  </a:rPr>
                  <a:t>$2x_2+x_1=6$</a:t>
                </a:r>
                <a:r>
                  <a:rPr sz="2400" b="0">
                    <a:solidFill>
                      <a:srgbClr val="111827"/>
                    </a:solidFill>
                    <a:latin typeface="Arial"/>
                  </a:rPr>
                  <a:t> and </a:t>
                </a:r>
                <a:r>
                  <a:rPr lang="en-IN" sz="2400">
                    <a:solidFill>
                      <a:srgbClr val="111827"/>
                    </a:solidFill>
                    <a:latin typeface="Cambria Math" panose="02040503050406030204" pitchFamily="18" charset="0"/>
                  </a:rPr>
                  <a:t>$2y_2+y_1=-4$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$x_1=6-2x_2$</a:t>
                </a:r>
                <a:r>
                  <a:rPr sz="2400" b="0">
                    <a:solidFill>
                      <a:srgbClr val="111827"/>
                    </a:solidFill>
                    <a:latin typeface="Arial"/>
                  </a:rPr>
                  <a:t> ... (1) and </a:t>
                </a:r>
                <a:r>
                  <a:rPr lang="en-IN" sz="2400">
                    <a:solidFill>
                      <a:srgbClr val="111827"/>
                    </a:solidFill>
                    <a:latin typeface="Cambria Math" panose="02040503050406030204" pitchFamily="18" charset="0"/>
                  </a:rPr>
                  <a:t>$y_1=-4-2y_2$</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lies on </a:t>
                </a:r>
                <a:r>
                  <a:rPr lang="en-IN" sz="2400">
                    <a:solidFill>
                      <a:srgbClr val="111827"/>
                    </a:solidFill>
                    <a:latin typeface="Cambria Math" panose="02040503050406030204" pitchFamily="18" charset="0"/>
                  </a:rPr>
                  <a:t>$4x+y=14$</a:t>
                </a:r>
                <a:r>
                  <a:rPr sz="2400" b="0">
                    <a:solidFill>
                      <a:srgbClr val="111827"/>
                    </a:solidFill>
                    <a:latin typeface="Arial"/>
                  </a:rPr>
                  <a:t>: </a:t>
                </a:r>
                <a:r>
                  <a:rPr lang="en-IN" sz="2400">
                    <a:solidFill>
                      <a:srgbClr val="111827"/>
                    </a:solidFill>
                    <a:latin typeface="Cambria Math" panose="02040503050406030204" pitchFamily="18" charset="0"/>
                  </a:rPr>
                  <a:t>$4x_1+y_1=14$</a:t>
                </a:r>
                <a:r>
                  <a:rPr sz="2400" b="0">
                    <a:solidFill>
                      <a:srgbClr val="111827"/>
                    </a:solidFill>
                    <a:latin typeface="Arial"/>
                  </a:rPr>
                  <a:t> ... (3). </a:t>
                </a: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$3x-2y=5$</a:t>
                </a:r>
                <a:r>
                  <a:rPr sz="2400" b="0">
                    <a:solidFill>
                      <a:srgbClr val="111827"/>
                    </a:solidFill>
                    <a:latin typeface="Arial"/>
                  </a:rPr>
                  <a:t>: </a:t>
                </a:r>
                <a:r>
                  <a:rPr lang="en-IN" sz="2400">
                    <a:solidFill>
                      <a:srgbClr val="111827"/>
                    </a:solidFill>
                    <a:latin typeface="Cambria Math" panose="02040503050406030204" pitchFamily="18" charset="0"/>
                  </a:rPr>
                  <a:t>$3x_2-2y_2=5$</a:t>
                </a:r>
                <a:r>
                  <a:rPr sz="2400" b="0">
                    <a:solidFill>
                      <a:srgbClr val="111827"/>
                    </a:solidFill>
                    <a:latin typeface="Arial"/>
                  </a:rPr>
                  <a:t> ... (4).</a:t>
                </a:r>
                <a:endParaRPr sz="2400">
                  <a:solidFill>
                    <a:srgbClr val="111827"/>
                  </a:solidFill>
                </a:endParaRPr>
              </a:p>
            </p:txBody>
          </p:sp>
        </mc:Fallback>
      </mc:AlternateContent>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(1) and (2) in (3):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Put this in (4): </a:t>
                </a:r>
                <a14:m>
                  <m:oMath xmlns:m="http://schemas.openxmlformats.org/officeDocument/2006/math">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(1) and (2) in (3): </a:t>
                </a:r>
                <a:r>
                  <a:rPr lang="en-IN" sz="2400">
                    <a:solidFill>
                      <a:srgbClr val="111827"/>
                    </a:solidFill>
                    <a:latin typeface="Cambria Math" panose="02040503050406030204" pitchFamily="18" charset="0"/>
                  </a:rPr>
                  <a:t>$4(6-2x_2)+(-4-2y_2)=14\Rightarrow8x_2+2y_2=6\Rightarrow y_2=3-4x_2$</a:t>
                </a:r>
                <a:r>
                  <a:rPr sz="2400" b="0">
                    <a:solidFill>
                      <a:srgbClr val="111827"/>
                    </a:solidFill>
                    <a:latin typeface="Arial"/>
                  </a:rPr>
                  <a:t>. Put this in (4): </a:t>
                </a:r>
                <a:r>
                  <a:rPr lang="en-IN" sz="2400">
                    <a:solidFill>
                      <a:srgbClr val="111827"/>
                    </a:solidFill>
                    <a:latin typeface="Cambria Math" panose="02040503050406030204" pitchFamily="18" charset="0"/>
                  </a:rPr>
                  <a:t>$3x_2-6+8x_2=5\Rightarrow x_2=1$</a:t>
                </a:r>
                <a:r>
                  <a:rPr sz="2400" b="0">
                    <a:solidFill>
                      <a:srgbClr val="111827"/>
                    </a:solidFill>
                    <a:latin typeface="Arial"/>
                  </a:rPr>
                  <a:t>, </a:t>
                </a:r>
                <a:r>
                  <a:rPr lang="en-IN" sz="2400">
                    <a:solidFill>
                      <a:srgbClr val="111827"/>
                    </a:solidFill>
                    <a:latin typeface="Cambria Math" panose="02040503050406030204" pitchFamily="18" charset="0"/>
                  </a:rPr>
                  <a:t>$y_2=-1$</a:t>
                </a:r>
                <a:r>
                  <a:rPr sz="2400" b="0">
                    <a:solidFill>
                      <a:srgbClr val="111827"/>
                    </a:solidFill>
                    <a:latin typeface="Arial"/>
                  </a:rPr>
                  <a:t>, so </a:t>
                </a:r>
                <a:r>
                  <a:rPr lang="en-IN" sz="2400">
                    <a:solidFill>
                      <a:srgbClr val="111827"/>
                    </a:solidFill>
                    <a:latin typeface="Cambria Math" panose="02040503050406030204" pitchFamily="18" charset="0"/>
                  </a:rPr>
                  <a:t>$C=(1,-1)$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$x_1=4$</a:t>
                </a:r>
                <a:r>
                  <a:rPr sz="2400" b="0">
                    <a:solidFill>
                      <a:srgbClr val="111827"/>
                    </a:solidFill>
                    <a:latin typeface="Arial"/>
                  </a:rPr>
                  <a:t>, </a:t>
                </a:r>
                <a:r>
                  <a:rPr lang="en-IN" sz="2400">
                    <a:solidFill>
                      <a:srgbClr val="111827"/>
                    </a:solidFill>
                    <a:latin typeface="Cambria Math" panose="02040503050406030204" pitchFamily="18" charset="0"/>
                  </a:rPr>
                  <a:t>$y_1=-2$</a:t>
                </a:r>
                <a:r>
                  <a:rPr sz="2400" b="0">
                    <a:solidFill>
                      <a:srgbClr val="111827"/>
                    </a:solidFill>
                    <a:latin typeface="Arial"/>
                  </a:rPr>
                  <a:t>, so </a:t>
                </a:r>
                <a:r>
                  <a:rPr lang="en-IN" sz="2400">
                    <a:solidFill>
                      <a:srgbClr val="111827"/>
                    </a:solidFill>
                    <a:latin typeface="Cambria Math" panose="02040503050406030204" pitchFamily="18" charset="0"/>
                  </a:rPr>
                  <a:t>$B=(4,-2)$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slope </a:t>
                </a:r>
                <a:r>
                  <a:rPr lang="en-IN" sz="2400">
                    <a:solidFill>
                      <a:srgbClr val="111827"/>
                    </a:solidFill>
                    <a:latin typeface="Cambria Math" panose="02040503050406030204" pitchFamily="18" charset="0"/>
                  </a:rPr>
                  <a:t>$\frac{-1+2}{1-4}=-\frac{1}{3}$</a:t>
                </a:r>
                <a:r>
                  <a:rPr sz="2400" b="0">
                    <a:solidFill>
                      <a:srgbClr val="111827"/>
                    </a:solidFill>
                    <a:latin typeface="Arial"/>
                  </a:rPr>
                  <a:t>, so </a:t>
                </a:r>
                <a:r>
                  <a:rPr lang="en-IN" sz="2400">
                    <a:solidFill>
                      <a:srgbClr val="111827"/>
                    </a:solidFill>
                    <a:latin typeface="Cambria Math" panose="02040503050406030204" pitchFamily="18" charset="0"/>
                  </a:rPr>
                  <a:t>$y+2=-\frac{1}{3}(x-4)\Rightarrow x+3y+2=0$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$x+3y+2=0$</a:t>
                </a:r>
                <a:endParaRPr sz="2800">
                  <a:solidFill>
                    <a:srgbClr val="15803D"/>
                  </a:solidFill>
                </a:endParaRPr>
              </a:p>
            </p:txBody>
          </p:sp>
        </mc:Fallback>
      </mc:AlternateContent>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fact that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14</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are affine, so they obey the section formula too: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fact that </a:t>
                </a:r>
                <a:r>
                  <a:rPr lang="en-IN" sz="2400">
                    <a:solidFill>
                      <a:srgbClr val="78350F"/>
                    </a:solidFill>
                    <a:latin typeface="Cambria Math" panose="02040503050406030204" pitchFamily="18" charset="0"/>
                  </a:rPr>
                  <a:t>$4x+y-14$</a:t>
                </a:r>
                <a:r>
                  <a:rPr sz="2400" b="0">
                    <a:solidFill>
                      <a:srgbClr val="78350F"/>
                    </a:solidFill>
                    <a:latin typeface="Arial"/>
                  </a:rPr>
                  <a:t> and </a:t>
                </a:r>
                <a:r>
                  <a:rPr lang="en-IN" sz="2400">
                    <a:solidFill>
                      <a:srgbClr val="78350F"/>
                    </a:solidFill>
                    <a:latin typeface="Cambria Math" panose="02040503050406030204" pitchFamily="18" charset="0"/>
                  </a:rPr>
                  <a:t>$3x-2y-5$</a:t>
                </a:r>
                <a:r>
                  <a:rPr sz="2400" b="0">
                    <a:solidFill>
                      <a:srgbClr val="78350F"/>
                    </a:solidFill>
                    <a:latin typeface="Arial"/>
                  </a:rPr>
                  <a:t> are affine, so they obey the section formula too: </a:t>
                </a:r>
                <a:r>
                  <a:rPr lang="en-IN" sz="2400">
                    <a:solidFill>
                      <a:srgbClr val="78350F"/>
                    </a:solidFill>
                    <a:latin typeface="Cambria Math" panose="02040503050406030204" pitchFamily="18" charset="0"/>
                  </a:rPr>
                  <a:t>$f(D)=\frac{f(B)+2f(C)}{3}$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(zero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(zero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𝐷</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Affine functions respect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$f=4x+y-14$</a:t>
                </a:r>
                <a:r>
                  <a:rPr sz="2400" b="0">
                    <a:solidFill>
                      <a:srgbClr val="111827"/>
                    </a:solidFill>
                    <a:latin typeface="Arial"/>
                  </a:rPr>
                  <a:t> (zero on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$g=3x-2y-5$</a:t>
                </a:r>
                <a:r>
                  <a:rPr sz="2400" b="0">
                    <a:solidFill>
                      <a:srgbClr val="111827"/>
                    </a:solidFill>
                    <a:latin typeface="Arial"/>
                  </a:rPr>
                  <a:t> (zero on </a:t>
                </a:r>
                <a:r>
                  <a:rPr lang="en-IN" sz="2400">
                    <a:solidFill>
                      <a:srgbClr val="111827"/>
                    </a:solidFill>
                    <a:latin typeface="Cambria Math" panose="02040503050406030204" pitchFamily="18" charset="0"/>
                  </a:rPr>
                  <a:t>$AC$</a:t>
                </a:r>
                <a:r>
                  <a:rPr sz="2400" b="0">
                    <a:solidFill>
                      <a:srgbClr val="111827"/>
                    </a:solidFill>
                    <a:latin typeface="Arial"/>
                  </a:rPr>
                  <a:t>). At </a:t>
                </a:r>
                <a:r>
                  <a:rPr lang="en-IN" sz="2400">
                    <a:solidFill>
                      <a:srgbClr val="111827"/>
                    </a:solidFill>
                    <a:latin typeface="Cambria Math" panose="02040503050406030204" pitchFamily="18" charset="0"/>
                  </a:rPr>
                  <a:t>$D\left(2,-\frac{4}{3}\right)$</a:t>
                </a:r>
                <a:r>
                  <a:rPr sz="2400" b="0">
                    <a:solidFill>
                      <a:srgbClr val="111827"/>
                    </a:solidFill>
                    <a:latin typeface="Arial"/>
                  </a:rPr>
                  <a:t>: </a:t>
                </a:r>
                <a:r>
                  <a:rPr lang="en-IN" sz="2400">
                    <a:solidFill>
                      <a:srgbClr val="111827"/>
                    </a:solidFill>
                    <a:latin typeface="Cambria Math" panose="02040503050406030204" pitchFamily="18" charset="0"/>
                  </a:rPr>
                  <a:t>$f(D)=8-\frac{4}{3}-14=-\frac{22}{3}$</a:t>
                </a:r>
                <a:r>
                  <a:rPr sz="2400" b="0">
                    <a:solidFill>
                      <a:srgbClr val="111827"/>
                    </a:solidFill>
                    <a:latin typeface="Arial"/>
                  </a:rPr>
                  <a:t>, </a:t>
                </a:r>
                <a:r>
                  <a:rPr lang="en-IN" sz="2400">
                    <a:solidFill>
                      <a:srgbClr val="111827"/>
                    </a:solidFill>
                    <a:latin typeface="Cambria Math" panose="02040503050406030204" pitchFamily="18" charset="0"/>
                  </a:rPr>
                  <a:t>$g(D)=6+\frac{8}{3}-5=\frac{11}{3}$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Affine functions respect </a:t>
                </a:r>
                <a:r>
                  <a:rPr lang="en-IN" sz="2400">
                    <a:solidFill>
                      <a:srgbClr val="111827"/>
                    </a:solidFill>
                    <a:latin typeface="Cambria Math" panose="02040503050406030204" pitchFamily="18" charset="0"/>
                  </a:rPr>
                  <a:t>$D=\frac{B+2C}{3}$</a:t>
                </a:r>
                <a:r>
                  <a:rPr sz="2400" b="0">
                    <a:solidFill>
                      <a:srgbClr val="111827"/>
                    </a:solidFill>
                    <a:latin typeface="Arial"/>
                  </a:rPr>
                  <a:t>: </a:t>
                </a:r>
                <a:r>
                  <a:rPr lang="en-IN" sz="2400">
                    <a:solidFill>
                      <a:srgbClr val="111827"/>
                    </a:solidFill>
                    <a:latin typeface="Cambria Math" panose="02040503050406030204" pitchFamily="18" charset="0"/>
                  </a:rPr>
                  <a:t>$f(D)=\frac{f(B)+2f(C)}{3}=\frac{2f(C)}{3}$</a:t>
                </a:r>
                <a:r>
                  <a:rPr sz="2400" b="0">
                    <a:solidFill>
                      <a:srgbClr val="111827"/>
                    </a:solidFill>
                    <a:latin typeface="Arial"/>
                  </a:rPr>
                  <a:t> (as </a:t>
                </a:r>
                <a:r>
                  <a:rPr lang="en-IN" sz="2400">
                    <a:solidFill>
                      <a:srgbClr val="111827"/>
                    </a:solidFill>
                    <a:latin typeface="Cambria Math" panose="02040503050406030204" pitchFamily="18" charset="0"/>
                  </a:rPr>
                  <a:t>$f(B)=0$</a:t>
                </a:r>
                <a:r>
                  <a:rPr sz="2400" b="0">
                    <a:solidFill>
                      <a:srgbClr val="111827"/>
                    </a:solidFill>
                    <a:latin typeface="Arial"/>
                  </a:rPr>
                  <a:t>), so </a:t>
                </a:r>
                <a:r>
                  <a:rPr lang="en-IN" sz="2400">
                    <a:solidFill>
                      <a:srgbClr val="111827"/>
                    </a:solidFill>
                    <a:latin typeface="Cambria Math" panose="02040503050406030204" pitchFamily="18" charset="0"/>
                  </a:rPr>
                  <a:t>$f(C)=\frac{3}{2}f(D)=-11$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is on </a:t>
                </a:r>
                <a:r>
                  <a:rPr lang="en-IN" sz="2400">
                    <a:solidFill>
                      <a:srgbClr val="111827"/>
                    </a:solidFill>
                    <a:latin typeface="Cambria Math" panose="02040503050406030204" pitchFamily="18" charset="0"/>
                  </a:rPr>
                  <a:t>$AC$</a:t>
                </a:r>
                <a:r>
                  <a:rPr sz="2400" b="0">
                    <a:solidFill>
                      <a:srgbClr val="111827"/>
                    </a:solidFill>
                    <a:latin typeface="Arial"/>
                  </a:rPr>
                  <a:t>: </a:t>
                </a:r>
                <a:r>
                  <a:rPr lang="en-IN" sz="2400">
                    <a:solidFill>
                      <a:srgbClr val="111827"/>
                    </a:solidFill>
                    <a:latin typeface="Cambria Math" panose="02040503050406030204" pitchFamily="18" charset="0"/>
                  </a:rPr>
                  <a:t>$C=\left(x,\frac{3x-5}{2}\right)$</a:t>
                </a:r>
                <a:r>
                  <a:rPr sz="2400" b="0">
                    <a:solidFill>
                      <a:srgbClr val="111827"/>
                    </a:solidFill>
                    <a:latin typeface="Arial"/>
                  </a:rPr>
                  <a:t> and </a:t>
                </a:r>
                <a:r>
                  <a:rPr lang="en-IN" sz="2400">
                    <a:solidFill>
                      <a:srgbClr val="111827"/>
                    </a:solidFill>
                    <a:latin typeface="Cambria Math" panose="02040503050406030204" pitchFamily="18" charset="0"/>
                  </a:rPr>
                  <a:t>$f(C)=4x+\frac{3x-5}{2}-14=\frac{11x-33}{2}=-11\Rightarrow x=1$</a:t>
                </a:r>
                <a:r>
                  <a:rPr sz="2400" b="0">
                    <a:solidFill>
                      <a:srgbClr val="111827"/>
                    </a:solidFill>
                    <a:latin typeface="Arial"/>
                  </a:rPr>
                  <a:t>, so </a:t>
                </a:r>
                <a:r>
                  <a:rPr lang="en-IN" sz="2400">
                    <a:solidFill>
                      <a:srgbClr val="111827"/>
                    </a:solidFill>
                    <a:latin typeface="Cambria Math" panose="02040503050406030204" pitchFamily="18" charset="0"/>
                  </a:rPr>
                  <a:t>$C=(1,-1)$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$g(D)=\frac{g(B)+2g(C)}{3}=\frac{g(B)}{3}$</a:t>
                </a:r>
                <a:r>
                  <a:rPr sz="2400" b="0">
                    <a:solidFill>
                      <a:srgbClr val="111827"/>
                    </a:solidFill>
                    <a:latin typeface="Arial"/>
                  </a:rPr>
                  <a:t>, so </a:t>
                </a:r>
                <a:r>
                  <a:rPr lang="en-IN" sz="2400">
                    <a:solidFill>
                      <a:srgbClr val="111827"/>
                    </a:solidFill>
                    <a:latin typeface="Cambria Math" panose="02040503050406030204" pitchFamily="18" charset="0"/>
                  </a:rPr>
                  <a:t>$g(B)=11$</a:t>
                </a:r>
                <a:r>
                  <a:rPr sz="2400" b="0">
                    <a:solidFill>
                      <a:srgbClr val="111827"/>
                    </a:solidFill>
                    <a:latin typeface="Arial"/>
                  </a:rPr>
                  <a:t>; </a:t>
                </a:r>
                <a:r>
                  <a:rPr lang="en-IN" sz="2400">
                    <a:solidFill>
                      <a:srgbClr val="111827"/>
                    </a:solidFill>
                    <a:latin typeface="Cambria Math" panose="02040503050406030204" pitchFamily="18" charset="0"/>
                  </a:rPr>
                  <a:t>$B=(x,14-4x)$</a:t>
                </a:r>
                <a:r>
                  <a:rPr sz="2400" b="0">
                    <a:solidFill>
                      <a:srgbClr val="111827"/>
                    </a:solidFill>
                    <a:latin typeface="Arial"/>
                  </a:rPr>
                  <a:t> gives </a:t>
                </a:r>
                <a:r>
                  <a:rPr lang="en-IN" sz="2400">
                    <a:solidFill>
                      <a:srgbClr val="111827"/>
                    </a:solidFill>
                    <a:latin typeface="Cambria Math" panose="02040503050406030204" pitchFamily="18" charset="0"/>
                  </a:rPr>
                  <a:t>$3x-2(14-4x)-5=11x-33=11\Rightarrow x=4$</a:t>
                </a:r>
                <a:r>
                  <a:rPr sz="2400" b="0">
                    <a:solidFill>
                      <a:srgbClr val="111827"/>
                    </a:solidFill>
                    <a:latin typeface="Arial"/>
                  </a:rPr>
                  <a:t>, so </a:t>
                </a:r>
                <a:r>
                  <a:rPr lang="en-IN" sz="2400">
                    <a:solidFill>
                      <a:srgbClr val="111827"/>
                    </a:solidFill>
                    <a:latin typeface="Cambria Math" panose="02040503050406030204" pitchFamily="18" charset="0"/>
                  </a:rPr>
                  <a:t>$B=(4,-2)$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through </a:t>
                </a:r>
                <a:r>
                  <a:rPr lang="en-IN" sz="2400">
                    <a:solidFill>
                      <a:srgbClr val="111827"/>
                    </a:solidFill>
                    <a:latin typeface="Cambria Math" panose="02040503050406030204" pitchFamily="18" charset="0"/>
                  </a:rPr>
                  <a:t>$(4,-2)$</a:t>
                </a:r>
                <a:r>
                  <a:rPr sz="2400" b="0">
                    <a:solidFill>
                      <a:srgbClr val="111827"/>
                    </a:solidFill>
                    <a:latin typeface="Arial"/>
                  </a:rPr>
                  <a:t> and </a:t>
                </a:r>
                <a:r>
                  <a:rPr lang="en-IN" sz="2400">
                    <a:solidFill>
                      <a:srgbClr val="111827"/>
                    </a:solidFill>
                    <a:latin typeface="Cambria Math" panose="02040503050406030204" pitchFamily="18" charset="0"/>
                  </a:rPr>
                  <a:t>$(1,-1)$</a:t>
                </a:r>
                <a:r>
                  <a:rPr sz="2400" b="0">
                    <a:solidFill>
                      <a:srgbClr val="111827"/>
                    </a:solidFill>
                    <a:latin typeface="Arial"/>
                  </a:rPr>
                  <a:t> is </a:t>
                </a:r>
                <a:r>
                  <a:rPr lang="en-IN" sz="2400">
                    <a:solidFill>
                      <a:srgbClr val="111827"/>
                    </a:solidFill>
                    <a:latin typeface="Cambria Math" panose="02040503050406030204" pitchFamily="18" charset="0"/>
                  </a:rPr>
                  <a:t>$x+3y+2=0$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$x+3y+2=0$</a:t>
                </a:r>
                <a:endParaRPr sz="2800">
                  <a:solidFill>
                    <a:srgbClr val="15803D"/>
                  </a:solidFill>
                </a:endParaRPr>
              </a:p>
            </p:txBody>
          </p:sp>
        </mc:Fallback>
      </mc:AlternateContent>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Section formula: the point dividing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internally in the ratio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options pass through the given point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 they differ only in slope, so the actual vertices must be found (or the slope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tested for the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ratio).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affine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useful to avoid solving a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system.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Section formula: the point dividing </a:t>
                </a:r>
                <a:r>
                  <a:rPr lang="en-IN" sz="2400">
                    <a:solidFill>
                      <a:srgbClr val="111827"/>
                    </a:solidFill>
                    <a:latin typeface="Cambria Math" panose="02040503050406030204" pitchFamily="18" charset="0"/>
                  </a:rPr>
                  <a:t>$B$</a:t>
                </a:r>
                <a:r>
                  <a:rPr sz="2400" b="0">
                    <a:solidFill>
                      <a:srgbClr val="111827"/>
                    </a:solidFill>
                    <a:latin typeface="Arial"/>
                  </a:rPr>
                  <a:t> to </a:t>
                </a:r>
                <a:r>
                  <a:rPr lang="en-IN" sz="2400">
                    <a:solidFill>
                      <a:srgbClr val="111827"/>
                    </a:solidFill>
                    <a:latin typeface="Cambria Math" panose="02040503050406030204" pitchFamily="18" charset="0"/>
                  </a:rPr>
                  <a:t>$C$</a:t>
                </a:r>
                <a:r>
                  <a:rPr sz="2400" b="0">
                    <a:solidFill>
                      <a:srgbClr val="111827"/>
                    </a:solidFill>
                    <a:latin typeface="Arial"/>
                  </a:rPr>
                  <a:t> internally in the ratio </a:t>
                </a:r>
                <a:r>
                  <a:rPr lang="en-IN" sz="2400">
                    <a:solidFill>
                      <a:srgbClr val="111827"/>
                    </a:solidFill>
                    <a:latin typeface="Cambria Math" panose="02040503050406030204" pitchFamily="18" charset="0"/>
                  </a:rPr>
                  <a:t>$m:n$</a:t>
                </a:r>
                <a:r>
                  <a:rPr sz="2400" b="0">
                    <a:solidFill>
                      <a:srgbClr val="111827"/>
                    </a:solidFill>
                    <a:latin typeface="Arial"/>
                  </a:rPr>
                  <a:t> is </a:t>
                </a:r>
                <a:r>
                  <a:rPr lang="en-IN" sz="2400">
                    <a:solidFill>
                      <a:srgbClr val="111827"/>
                    </a:solidFill>
                    <a:latin typeface="Cambria Math" panose="02040503050406030204" pitchFamily="18" charset="0"/>
                  </a:rPr>
                  <a:t>$\frac{nB+mC}{m+n}$</a:t>
                </a:r>
                <a:r>
                  <a:rPr sz="2400" b="0">
                    <a:solidFill>
                      <a:srgbClr val="111827"/>
                    </a:solidFill>
                    <a:latin typeface="Arial"/>
                  </a:rPr>
                  <a:t>; here </a:t>
                </a:r>
                <a:r>
                  <a:rPr lang="en-IN" sz="2400">
                    <a:solidFill>
                      <a:srgbClr val="111827"/>
                    </a:solidFill>
                    <a:latin typeface="Cambria Math" panose="02040503050406030204" pitchFamily="18" charset="0"/>
                  </a:rPr>
                  <a:t>$m:n=2:1$</a:t>
                </a:r>
                <a:r>
                  <a:rPr sz="2400" b="0">
                    <a:solidFill>
                      <a:srgbClr val="111827"/>
                    </a:solidFill>
                    <a:latin typeface="Arial"/>
                  </a:rPr>
                  <a:t> gives </a:t>
                </a:r>
                <a:r>
                  <a:rPr lang="en-IN" sz="2400">
                    <a:solidFill>
                      <a:srgbClr val="111827"/>
                    </a:solidFill>
                    <a:latin typeface="Cambria Math" panose="02040503050406030204" pitchFamily="18" charset="0"/>
                  </a:rPr>
                  <a:t>$\frac{B+2C}{3}$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options pass through the given point </a:t>
                </a:r>
                <a:r>
                  <a:rPr lang="en-IN" sz="2400">
                    <a:solidFill>
                      <a:srgbClr val="111827"/>
                    </a:solidFill>
                    <a:latin typeface="Cambria Math" panose="02040503050406030204" pitchFamily="18" charset="0"/>
                  </a:rPr>
                  <a:t>$D$</a:t>
                </a:r>
                <a:r>
                  <a:rPr sz="2400" b="0">
                    <a:solidFill>
                      <a:srgbClr val="111827"/>
                    </a:solidFill>
                    <a:latin typeface="Arial"/>
                  </a:rPr>
                  <a:t> - they differ only in slope, so the actual vertices must be found (or the slope of </a:t>
                </a:r>
                <a:r>
                  <a:rPr lang="en-IN" sz="2400">
                    <a:solidFill>
                      <a:srgbClr val="111827"/>
                    </a:solidFill>
                    <a:latin typeface="Cambria Math" panose="02040503050406030204" pitchFamily="18" charset="0"/>
                  </a:rPr>
                  <a:t>$BC$</a:t>
                </a:r>
                <a:r>
                  <a:rPr sz="2400" b="0">
                    <a:solidFill>
                      <a:srgbClr val="111827"/>
                    </a:solidFill>
                    <a:latin typeface="Arial"/>
                  </a:rPr>
                  <a:t> tested for the </a:t>
                </a:r>
                <a:r>
                  <a:rPr lang="en-IN" sz="2400">
                    <a:solidFill>
                      <a:srgbClr val="111827"/>
                    </a:solidFill>
                    <a:latin typeface="Cambria Math" panose="02040503050406030204" pitchFamily="18" charset="0"/>
                  </a:rPr>
                  <a:t>$2:1$</a:t>
                </a:r>
                <a:r>
                  <a:rPr sz="2400" b="0">
                    <a:solidFill>
                      <a:srgbClr val="111827"/>
                    </a:solidFill>
                    <a:latin typeface="Arial"/>
                  </a:rPr>
                  <a:t> ratio).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affine function </a:t>
                </a:r>
                <a:r>
                  <a:rPr lang="en-IN" sz="2400">
                    <a:solidFill>
                      <a:srgbClr val="111827"/>
                    </a:solidFill>
                    <a:latin typeface="Cambria Math" panose="02040503050406030204" pitchFamily="18" charset="0"/>
                  </a:rPr>
                  <a:t>$f(x,y)=px+qy+r$</a:t>
                </a:r>
                <a:r>
                  <a:rPr sz="2400" b="0">
                    <a:solidFill>
                      <a:srgbClr val="111827"/>
                    </a:solidFill>
                    <a:latin typeface="Arial"/>
                  </a:rPr>
                  <a:t> satisfies </a:t>
                </a:r>
                <a:r>
                  <a:rPr lang="en-IN" sz="2400">
                    <a:solidFill>
                      <a:srgbClr val="111827"/>
                    </a:solidFill>
                    <a:latin typeface="Cambria Math" panose="02040503050406030204" pitchFamily="18" charset="0"/>
                  </a:rPr>
                  <a:t>$f(\lambda B+(1-\lambda)C)=\lambda f(B)+(1-\lambda)f(C)$</a:t>
                </a:r>
                <a:r>
                  <a:rPr sz="2400" b="0">
                    <a:solidFill>
                      <a:srgbClr val="111827"/>
                    </a:solidFill>
                    <a:latin typeface="Arial"/>
                  </a:rPr>
                  <a:t> - useful to avoid solving a </a:t>
                </a:r>
                <a:r>
                  <a:rPr lang="en-IN" sz="2400">
                    <a:solidFill>
                      <a:srgbClr val="111827"/>
                    </a:solidFill>
                    <a:latin typeface="Cambria Math" panose="02040503050406030204" pitchFamily="18" charset="0"/>
                  </a:rPr>
                  <a:t>$4\times4$</a:t>
                </a:r>
                <a:r>
                  <a:rPr sz="2400" b="0">
                    <a:solidFill>
                      <a:srgbClr val="111827"/>
                    </a:solidFill>
                    <a:latin typeface="Arial"/>
                  </a:rPr>
                  <a:t> system.</a:t>
                </a:r>
                <a:endParaRPr sz="2400">
                  <a:solidFill>
                    <a:srgbClr val="111827"/>
                  </a:solidFill>
                </a:endParaRPr>
              </a:p>
            </p:txBody>
          </p:sp>
        </mc:Fallback>
      </mc:AlternateContent>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line segment joining the points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subtends an angle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the origin, then the absolute value of the product of all possible values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line segment joining the points </a:t>
                </a:r>
                <a:r>
                  <a:rPr lang="en-IN" sz="2400">
                    <a:solidFill>
                      <a:srgbClr val="111827"/>
                    </a:solidFill>
                    <a:latin typeface="Cambria Math" panose="02040503050406030204" pitchFamily="18" charset="0"/>
                  </a:rPr>
                  <a:t>$(5,2)$</a:t>
                </a:r>
                <a:r>
                  <a:rPr sz="2400" b="0">
                    <a:solidFill>
                      <a:srgbClr val="111827"/>
                    </a:solidFill>
                    <a:latin typeface="Arial"/>
                  </a:rPr>
                  <a:t> and </a:t>
                </a:r>
                <a:r>
                  <a:rPr lang="en-IN" sz="2400">
                    <a:solidFill>
                      <a:srgbClr val="111827"/>
                    </a:solidFill>
                    <a:latin typeface="Cambria Math" panose="02040503050406030204" pitchFamily="18" charset="0"/>
                  </a:rPr>
                  <a:t>$(2,a)$</a:t>
                </a:r>
                <a:r>
                  <a:rPr sz="2400" b="0">
                    <a:solidFill>
                      <a:srgbClr val="111827"/>
                    </a:solidFill>
                    <a:latin typeface="Arial"/>
                  </a:rPr>
                  <a:t> subtends an angle </a:t>
                </a:r>
                <a:r>
                  <a:rPr lang="en-IN" sz="2400">
                    <a:solidFill>
                      <a:srgbClr val="111827"/>
                    </a:solidFill>
                    <a:latin typeface="Cambria Math" panose="02040503050406030204" pitchFamily="18" charset="0"/>
                  </a:rPr>
                  <a:t>$\frac{\pi}{4}$</a:t>
                </a:r>
                <a:r>
                  <a:rPr sz="2400" b="0">
                    <a:solidFill>
                      <a:srgbClr val="111827"/>
                    </a:solidFill>
                    <a:latin typeface="Arial"/>
                  </a:rPr>
                  <a:t> at the origin, then the absolute value of the product of all possible values of </a:t>
                </a:r>
                <a:r>
                  <a:rPr lang="en-IN" sz="2400">
                    <a:solidFill>
                      <a:srgbClr val="111827"/>
                    </a:solidFill>
                    <a:latin typeface="Cambria Math" panose="02040503050406030204" pitchFamily="18" charset="0"/>
                  </a:rPr>
                  <a:t>$a$</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$4$</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subtended at the origin by a segment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Slopes of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oMath>
                </a14:m>
                <a:r>
                  <a:rPr sz="2400" b="0">
                    <a:solidFill>
                      <a:srgbClr val="78350F"/>
                    </a:solidFill>
                    <a:latin typeface="Arial"/>
                  </a:rPr>
                  <a:t> are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set </a:t>
                </a:r>
                <a14:m>
                  <m:oMath xmlns:m="http://schemas.openxmlformats.org/officeDocument/2006/math">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with the modulus and solve both signs.</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Slopes of </a:t>
                </a:r>
                <a:r>
                  <a:rPr lang="en-IN" sz="2400">
                    <a:solidFill>
                      <a:srgbClr val="78350F"/>
                    </a:solidFill>
                    <a:latin typeface="Cambria Math" panose="02040503050406030204" pitchFamily="18" charset="0"/>
                  </a:rPr>
                  <a:t>$OA$</a:t>
                </a:r>
                <a:r>
                  <a:rPr sz="2400" b="0">
                    <a:solidFill>
                      <a:srgbClr val="78350F"/>
                    </a:solidFill>
                    <a:latin typeface="Arial"/>
                  </a:rPr>
                  <a:t> and </a:t>
                </a:r>
                <a:r>
                  <a:rPr lang="en-IN" sz="2400">
                    <a:solidFill>
                      <a:srgbClr val="78350F"/>
                    </a:solidFill>
                    <a:latin typeface="Cambria Math" panose="02040503050406030204" pitchFamily="18" charset="0"/>
                  </a:rPr>
                  <a:t>$OB$</a:t>
                </a:r>
                <a:r>
                  <a:rPr sz="2400" b="0">
                    <a:solidFill>
                      <a:srgbClr val="78350F"/>
                    </a:solidFill>
                    <a:latin typeface="Arial"/>
                  </a:rPr>
                  <a:t> are </a:t>
                </a:r>
                <a:r>
                  <a:rPr lang="en-IN" sz="2400">
                    <a:solidFill>
                      <a:srgbClr val="78350F"/>
                    </a:solidFill>
                    <a:latin typeface="Cambria Math" panose="02040503050406030204" pitchFamily="18" charset="0"/>
                  </a:rPr>
                  <a:t>$\frac{2}{5}$</a:t>
                </a:r>
                <a:r>
                  <a:rPr sz="2400" b="0">
                    <a:solidFill>
                      <a:srgbClr val="78350F"/>
                    </a:solidFill>
                    <a:latin typeface="Arial"/>
                  </a:rPr>
                  <a:t> and </a:t>
                </a:r>
                <a:r>
                  <a:rPr lang="en-IN" sz="2400">
                    <a:solidFill>
                      <a:srgbClr val="78350F"/>
                    </a:solidFill>
                    <a:latin typeface="Cambria Math" panose="02040503050406030204" pitchFamily="18" charset="0"/>
                  </a:rPr>
                  <a:t>$\frac{a}{2}$</a:t>
                </a:r>
                <a:r>
                  <a:rPr sz="2400" b="0">
                    <a:solidFill>
                      <a:srgbClr val="78350F"/>
                    </a:solidFill>
                    <a:latin typeface="Arial"/>
                  </a:rPr>
                  <a:t>; set </a:t>
                </a:r>
                <a:r>
                  <a:rPr lang="en-IN" sz="2400">
                    <a:solidFill>
                      <a:srgbClr val="78350F"/>
                    </a:solidFill>
                    <a:latin typeface="Cambria Math" panose="02040503050406030204" pitchFamily="18" charset="0"/>
                  </a:rPr>
                  <a:t>$\tan\frac{\pi}{4}=1$</a:t>
                </a:r>
                <a:r>
                  <a:rPr sz="2400" b="0">
                    <a:solidFill>
                      <a:srgbClr val="78350F"/>
                    </a:solidFill>
                    <a:latin typeface="Arial"/>
                  </a:rPr>
                  <a:t> with the modulus and solve both signs.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slopes are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$A(5,2)$</a:t>
                </a:r>
                <a:r>
                  <a:rPr sz="2400" b="0">
                    <a:solidFill>
                      <a:srgbClr val="111827"/>
                    </a:solidFill>
                    <a:latin typeface="Arial"/>
                  </a:rPr>
                  <a:t> and </a:t>
                </a:r>
                <a:r>
                  <a:rPr lang="en-IN" sz="2400">
                    <a:solidFill>
                      <a:srgbClr val="111827"/>
                    </a:solidFill>
                    <a:latin typeface="Cambria Math" panose="02040503050406030204" pitchFamily="18" charset="0"/>
                  </a:rPr>
                  <a:t>$B(2,a)$</a:t>
                </a:r>
                <a:r>
                  <a:rPr sz="2400" b="0">
                    <a:solidFill>
                      <a:srgbClr val="111827"/>
                    </a:solidFill>
                    <a:latin typeface="Arial"/>
                  </a:rPr>
                  <a:t>. The slopes are </a:t>
                </a:r>
                <a:r>
                  <a:rPr lang="en-IN" sz="2400">
                    <a:solidFill>
                      <a:srgbClr val="111827"/>
                    </a:solidFill>
                    <a:latin typeface="Cambria Math" panose="02040503050406030204" pitchFamily="18" charset="0"/>
                  </a:rPr>
                  <a:t>$m_{OA}=\frac{2}{5}$</a:t>
                </a:r>
                <a:r>
                  <a:rPr sz="2400" b="0">
                    <a:solidFill>
                      <a:srgbClr val="111827"/>
                    </a:solidFill>
                    <a:latin typeface="Arial"/>
                  </a:rPr>
                  <a:t> and </a:t>
                </a:r>
                <a:r>
                  <a:rPr lang="en-IN" sz="2400">
                    <a:solidFill>
                      <a:srgbClr val="111827"/>
                    </a:solidFill>
                    <a:latin typeface="Cambria Math" panose="02040503050406030204" pitchFamily="18" charset="0"/>
                  </a:rPr>
                  <a:t>$m_{OB}=\frac{a}{2}$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$\tan\frac{\pi}{4}=\left|\frac{\frac{a}{2}-\frac{2}{5}}{1+\frac{2}{5}\cdot\frac{a}{2}}\right|=\left|\frac{5a-4}{10+2a}\right|=1$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$\frac{5a-4}{10+2a}=1\Rightarrow3a=14\Rightarrow a=\frac{14}{3}$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of the possible values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the absolute value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$\frac{5a-4}{10+2a}=-1\Rightarrow7a=-6\Rightarrow a=-\frac{6}{7}$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of the possible values is </a:t>
                </a:r>
                <a:r>
                  <a:rPr lang="en-IN" sz="2400">
                    <a:solidFill>
                      <a:srgbClr val="111827"/>
                    </a:solidFill>
                    <a:latin typeface="Cambria Math" panose="02040503050406030204" pitchFamily="18" charset="0"/>
                  </a:rPr>
                  <a:t>$\frac{14}{3}\cdot\left(-\frac{6}{7}\right)=-4$</a:t>
                </a:r>
                <a:r>
                  <a:rPr sz="2400" b="0">
                    <a:solidFill>
                      <a:srgbClr val="111827"/>
                    </a:solidFill>
                    <a:latin typeface="Arial"/>
                  </a:rPr>
                  <a:t>, so the absolute value is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dot product </a:t>
                </a:r>
                <a14:m>
                  <m:oMath xmlns:m="http://schemas.openxmlformats.org/officeDocument/2006/math">
                    <m:r>
                      <m:rPr>
                        <m:sty m:val="p"/>
                      </m:rPr>
                      <a:rPr lang="en-IN" sz="2400">
                        <a:solidFill>
                          <a:srgbClr val="78350F"/>
                        </a:solidFill>
                        <a:latin typeface="Cambria Math" panose="02040503050406030204" pitchFamily="18" charset="0"/>
                      </a:rPr>
                      <m:t>cos</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e>
                        </m:acc>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and read the product of roots from the quadratic (Vieta).</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dot product </a:t>
                </a:r>
                <a:r>
                  <a:rPr lang="en-IN" sz="2400">
                    <a:solidFill>
                      <a:srgbClr val="78350F"/>
                    </a:solidFill>
                    <a:latin typeface="Cambria Math" panose="02040503050406030204" pitchFamily="18" charset="0"/>
                  </a:rPr>
                  <a:t>$\cos\frac{\pi}{4}=\frac{\vec{OA}\cdot\vec{OB}}{|OA||OB|}$</a:t>
                </a:r>
                <a:r>
                  <a:rPr sz="2400" b="0">
                    <a:solidFill>
                      <a:srgbClr val="78350F"/>
                    </a:solidFill>
                    <a:latin typeface="Arial"/>
                  </a:rPr>
                  <a:t> and read the product of roots from the quadratic (Vieta).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29</m:t>
                            </m:r>
                          </m:e>
                        </m:rad>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116</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21</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$\vec{OA}=(5,2)$</a:t>
                </a:r>
                <a:r>
                  <a:rPr sz="2400" b="0">
                    <a:solidFill>
                      <a:srgbClr val="111827"/>
                    </a:solidFill>
                    <a:latin typeface="Arial"/>
                  </a:rPr>
                  <a:t>, </a:t>
                </a:r>
                <a:r>
                  <a:rPr lang="en-IN" sz="2400">
                    <a:solidFill>
                      <a:srgbClr val="111827"/>
                    </a:solidFill>
                    <a:latin typeface="Cambria Math" panose="02040503050406030204" pitchFamily="18" charset="0"/>
                  </a:rPr>
                  <a:t>$\vec{OB}=(2,a)$</a:t>
                </a:r>
                <a:r>
                  <a:rPr sz="2400" b="0">
                    <a:solidFill>
                      <a:srgbClr val="111827"/>
                    </a:solidFill>
                    <a:latin typeface="Arial"/>
                  </a:rPr>
                  <a:t>: </a:t>
                </a:r>
                <a:r>
                  <a:rPr lang="en-IN" sz="2400">
                    <a:solidFill>
                      <a:srgbClr val="111827"/>
                    </a:solidFill>
                    <a:latin typeface="Cambria Math" panose="02040503050406030204" pitchFamily="18" charset="0"/>
                  </a:rPr>
                  <a:t>$\cos\frac{\pi}{4}=\frac{10+2a}{\sqrt{29}\sqrt{a^2+4}}=\frac{1}{\sqrt{2}}$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a:t>
                </a:r>
                <a:r>
                  <a:rPr lang="en-IN" sz="2400">
                    <a:solidFill>
                      <a:srgbClr val="111827"/>
                    </a:solidFill>
                    <a:latin typeface="Cambria Math" panose="02040503050406030204" pitchFamily="18" charset="0"/>
                  </a:rPr>
                  <a:t>$2(10+2a)^2=29(a^2+4)\Rightarrow200+80a+8a^2=29a^2+116$</a:t>
                </a:r>
                <a:r>
                  <a:rPr sz="2400" b="0">
                    <a:solidFill>
                      <a:srgbClr val="111827"/>
                    </a:solidFill>
                    <a:latin typeface="Arial"/>
                  </a:rPr>
                  <a:t>, i.e. </a:t>
                </a:r>
                <a:r>
                  <a:rPr lang="en-IN" sz="2400">
                    <a:solidFill>
                      <a:srgbClr val="111827"/>
                    </a:solidFill>
                    <a:latin typeface="Cambria Math" panose="02040503050406030204" pitchFamily="18" charset="0"/>
                  </a:rPr>
                  <a:t>$21a^2-80a-84=0$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of the roots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num>
                      <m:den>
                        <m:r>
                          <a:rPr lang="en-IN" sz="2400" i="1">
                            <a:solidFill>
                              <a:srgbClr val="111827"/>
                            </a:solidFill>
                            <a:latin typeface="Cambria Math" panose="02040503050406030204" pitchFamily="18" charset="0"/>
                          </a:rPr>
                          <m:t>21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its absolute value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without finding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both roots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each makes an angle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(not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both valid.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of the roots is </a:t>
                </a:r>
                <a:r>
                  <a:rPr lang="en-IN" sz="2400">
                    <a:solidFill>
                      <a:srgbClr val="111827"/>
                    </a:solidFill>
                    <a:latin typeface="Cambria Math" panose="02040503050406030204" pitchFamily="18" charset="0"/>
                  </a:rPr>
                  <a:t>$\frac{-84}{21}=-4$</a:t>
                </a:r>
                <a:r>
                  <a:rPr sz="2400" b="0">
                    <a:solidFill>
                      <a:srgbClr val="111827"/>
                    </a:solidFill>
                    <a:latin typeface="Arial"/>
                  </a:rPr>
                  <a:t>, so its absolute value is </a:t>
                </a:r>
                <a:r>
                  <a:rPr lang="en-IN" sz="2400">
                    <a:solidFill>
                      <a:srgbClr val="111827"/>
                    </a:solidFill>
                    <a:latin typeface="Cambria Math" panose="02040503050406030204" pitchFamily="18" charset="0"/>
                  </a:rPr>
                  <a:t>$4$</a:t>
                </a:r>
                <a:r>
                  <a:rPr sz="2400" b="0">
                    <a:solidFill>
                      <a:srgbClr val="111827"/>
                    </a:solidFill>
                    <a:latin typeface="Arial"/>
                  </a:rPr>
                  <a:t> without finding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both roots </a:t>
                </a:r>
                <a:r>
                  <a:rPr lang="en-IN" sz="2400">
                    <a:solidFill>
                      <a:srgbClr val="111827"/>
                    </a:solidFill>
                    <a:latin typeface="Cambria Math" panose="02040503050406030204" pitchFamily="18" charset="0"/>
                  </a:rPr>
                  <a:t>$a=\frac{14}{3},-\frac{6}{7}$</a:t>
                </a:r>
                <a:r>
                  <a:rPr sz="2400" b="0">
                    <a:solidFill>
                      <a:srgbClr val="111827"/>
                    </a:solidFill>
                    <a:latin typeface="Arial"/>
                  </a:rPr>
                  <a:t> give </a:t>
                </a:r>
                <a:r>
                  <a:rPr lang="en-IN" sz="2400">
                    <a:solidFill>
                      <a:srgbClr val="111827"/>
                    </a:solidFill>
                    <a:latin typeface="Cambria Math" panose="02040503050406030204" pitchFamily="18" charset="0"/>
                  </a:rPr>
                  <a:t>$10+2a&gt;0$</a:t>
                </a:r>
                <a:r>
                  <a:rPr sz="2400" b="0">
                    <a:solidFill>
                      <a:srgbClr val="111827"/>
                    </a:solidFill>
                    <a:latin typeface="Arial"/>
                  </a:rPr>
                  <a:t>, so each makes an angle </a:t>
                </a:r>
                <a:r>
                  <a:rPr lang="en-IN" sz="2400">
                    <a:solidFill>
                      <a:srgbClr val="111827"/>
                    </a:solidFill>
                    <a:latin typeface="Cambria Math" panose="02040503050406030204" pitchFamily="18" charset="0"/>
                  </a:rPr>
                  <a:t>$\frac{\pi}{4}$</a:t>
                </a:r>
                <a:r>
                  <a:rPr sz="2400" b="0">
                    <a:solidFill>
                      <a:srgbClr val="111827"/>
                    </a:solidFill>
                    <a:latin typeface="Arial"/>
                  </a:rPr>
                  <a:t> (not </a:t>
                </a:r>
                <a:r>
                  <a:rPr lang="en-IN" sz="2400">
                    <a:solidFill>
                      <a:srgbClr val="111827"/>
                    </a:solidFill>
                    <a:latin typeface="Cambria Math" panose="02040503050406030204" pitchFamily="18" charset="0"/>
                  </a:rPr>
                  <a:t>$\frac{3\pi}{4}$</a:t>
                </a:r>
                <a:r>
                  <a:rPr sz="2400" b="0">
                    <a:solidFill>
                      <a:srgbClr val="111827"/>
                    </a:solidFill>
                    <a:latin typeface="Arial"/>
                  </a:rPr>
                  <a:t>): both valid.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between lines of slopes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e>
                    </m:d>
                  </m:oMath>
                </a14:m>
                <a:r>
                  <a:rPr sz="2400" b="0">
                    <a:solidFill>
                      <a:srgbClr val="111827"/>
                    </a:solidFill>
                    <a:latin typeface="Arial"/>
                  </a:rPr>
                  <a:t>; remove the modulus by taking both signs.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between vectors: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squaring keeps both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oMath>
                </a14:m>
                <a:r>
                  <a:rPr sz="2400" b="0">
                    <a:solidFill>
                      <a:srgbClr val="111827"/>
                    </a:solidFill>
                    <a:latin typeface="Arial"/>
                  </a:rPr>
                  <a:t>, so check the sign of the dot product afterwards.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of all possible values' signals Vieta - the quadratic's constant term over leading coefficient.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between lines of slopes </a:t>
                </a:r>
                <a:r>
                  <a:rPr lang="en-IN" sz="2400">
                    <a:solidFill>
                      <a:srgbClr val="111827"/>
                    </a:solidFill>
                    <a:latin typeface="Cambria Math" panose="02040503050406030204" pitchFamily="18" charset="0"/>
                  </a:rPr>
                  <a:t>$m_1,m_2$</a:t>
                </a:r>
                <a:r>
                  <a:rPr sz="2400" b="0">
                    <a:solidFill>
                      <a:srgbClr val="111827"/>
                    </a:solidFill>
                    <a:latin typeface="Arial"/>
                  </a:rPr>
                  <a:t>: </a:t>
                </a:r>
                <a:r>
                  <a:rPr lang="en-IN" sz="2400">
                    <a:solidFill>
                      <a:srgbClr val="111827"/>
                    </a:solidFill>
                    <a:latin typeface="Cambria Math" panose="02040503050406030204" pitchFamily="18" charset="0"/>
                  </a:rPr>
                  <a:t>$\tan\theta=\left|\frac{m_1-m_2}{1+m_1m_2}\right|$</a:t>
                </a:r>
                <a:r>
                  <a:rPr sz="2400" b="0">
                    <a:solidFill>
                      <a:srgbClr val="111827"/>
                    </a:solidFill>
                    <a:latin typeface="Arial"/>
                  </a:rPr>
                  <a:t>; remove the modulus by taking both signs.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between vectors: </a:t>
                </a:r>
                <a:r>
                  <a:rPr lang="en-IN" sz="2400">
                    <a:solidFill>
                      <a:srgbClr val="111827"/>
                    </a:solidFill>
                    <a:latin typeface="Cambria Math" panose="02040503050406030204" pitchFamily="18" charset="0"/>
                  </a:rPr>
                  <a:t>$\cos\theta=\frac{\vec{u}\cdot\vec{v}}{|\vec{u}||\vec{v}|}$</a:t>
                </a:r>
                <a:r>
                  <a:rPr sz="2400" b="0">
                    <a:solidFill>
                      <a:srgbClr val="111827"/>
                    </a:solidFill>
                    <a:latin typeface="Arial"/>
                  </a:rPr>
                  <a:t>; squaring keeps both </a:t>
                </a:r>
                <a:r>
                  <a:rPr lang="en-IN" sz="2400">
                    <a:solidFill>
                      <a:srgbClr val="111827"/>
                    </a:solidFill>
                    <a:latin typeface="Cambria Math" panose="02040503050406030204" pitchFamily="18" charset="0"/>
                  </a:rPr>
                  <a:t>$\theta$</a:t>
                </a:r>
                <a:r>
                  <a:rPr sz="2400" b="0">
                    <a:solidFill>
                      <a:srgbClr val="111827"/>
                    </a:solidFill>
                    <a:latin typeface="Arial"/>
                  </a:rPr>
                  <a:t> and </a:t>
                </a:r>
                <a:r>
                  <a:rPr lang="en-IN" sz="2400">
                    <a:solidFill>
                      <a:srgbClr val="111827"/>
                    </a:solidFill>
                    <a:latin typeface="Cambria Math" panose="02040503050406030204" pitchFamily="18" charset="0"/>
                  </a:rPr>
                  <a:t>$\pi-\theta$</a:t>
                </a:r>
                <a:r>
                  <a:rPr sz="2400" b="0">
                    <a:solidFill>
                      <a:srgbClr val="111827"/>
                    </a:solidFill>
                    <a:latin typeface="Arial"/>
                  </a:rPr>
                  <a:t>, so check the sign of the dot product afterwards.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of all possible values' signals Vieta - the quadratic's constant term over leading coefficient.</a:t>
                </a:r>
                <a:endParaRPr sz="2400">
                  <a:solidFill>
                    <a:srgbClr val="111827"/>
                  </a:solidFill>
                </a:endParaRPr>
              </a:p>
            </p:txBody>
          </p:sp>
        </mc:Fallback>
      </mc:AlternateContent>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ray of light coming from the point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gets reflected from the point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on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and then passes through the point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point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such that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oMath>
                </a14:m>
                <a:r>
                  <a:rPr sz="2400" b="0">
                    <a:solidFill>
                      <a:srgbClr val="111827"/>
                    </a:solidFill>
                    <a:latin typeface="Arial"/>
                  </a:rPr>
                  <a:t> is a parallelogram, then </a:t>
                </a:r>
                <a14:m>
                  <m:oMath xmlns:m="http://schemas.openxmlformats.org/officeDocument/2006/math">
                    <m:r>
                      <a:rPr lang="en-IN" sz="2400" i="1">
                        <a:solidFill>
                          <a:srgbClr val="111827"/>
                        </a:solidFill>
                        <a:latin typeface="Cambria Math" panose="02040503050406030204" pitchFamily="18" charset="0"/>
                      </a:rPr>
                      <m:t>ℎ</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80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90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70</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ray of light coming from the point </a:t>
                </a:r>
                <a:r>
                  <a:rPr lang="en-IN" sz="2400">
                    <a:solidFill>
                      <a:srgbClr val="111827"/>
                    </a:solidFill>
                    <a:latin typeface="Cambria Math" panose="02040503050406030204" pitchFamily="18" charset="0"/>
                  </a:rPr>
                  <a:t>$P(1,2)$</a:t>
                </a:r>
                <a:r>
                  <a:rPr sz="2400" b="0">
                    <a:solidFill>
                      <a:srgbClr val="111827"/>
                    </a:solidFill>
                    <a:latin typeface="Arial"/>
                  </a:rPr>
                  <a:t> gets reflected from the point </a:t>
                </a:r>
                <a:r>
                  <a:rPr lang="en-IN" sz="2400">
                    <a:solidFill>
                      <a:srgbClr val="111827"/>
                    </a:solidFill>
                    <a:latin typeface="Cambria Math" panose="02040503050406030204" pitchFamily="18" charset="0"/>
                  </a:rPr>
                  <a:t>$Q$</a:t>
                </a:r>
                <a:r>
                  <a:rPr sz="2400" b="0">
                    <a:solidFill>
                      <a:srgbClr val="111827"/>
                    </a:solidFill>
                    <a:latin typeface="Arial"/>
                  </a:rPr>
                  <a:t> on the </a:t>
                </a:r>
                <a:r>
                  <a:rPr lang="en-IN" sz="2400">
                    <a:solidFill>
                      <a:srgbClr val="111827"/>
                    </a:solidFill>
                    <a:latin typeface="Cambria Math" panose="02040503050406030204" pitchFamily="18" charset="0"/>
                  </a:rPr>
                  <a:t>$x$</a:t>
                </a:r>
                <a:r>
                  <a:rPr sz="2400" b="0">
                    <a:solidFill>
                      <a:srgbClr val="111827"/>
                    </a:solidFill>
                    <a:latin typeface="Arial"/>
                  </a:rPr>
                  <a:t>-axis and then passes through the point </a:t>
                </a:r>
                <a:r>
                  <a:rPr lang="en-IN" sz="2400">
                    <a:solidFill>
                      <a:srgbClr val="111827"/>
                    </a:solidFill>
                    <a:latin typeface="Cambria Math" panose="02040503050406030204" pitchFamily="18" charset="0"/>
                  </a:rPr>
                  <a:t>$R(4,3)$</a:t>
                </a:r>
                <a:r>
                  <a:rPr sz="2400" b="0">
                    <a:solidFill>
                      <a:srgbClr val="111827"/>
                    </a:solidFill>
                    <a:latin typeface="Arial"/>
                  </a:rPr>
                  <a:t>. If the point </a:t>
                </a:r>
                <a:r>
                  <a:rPr lang="en-IN" sz="2400">
                    <a:solidFill>
                      <a:srgbClr val="111827"/>
                    </a:solidFill>
                    <a:latin typeface="Cambria Math" panose="02040503050406030204" pitchFamily="18" charset="0"/>
                  </a:rPr>
                  <a:t>$S(h,k)$</a:t>
                </a:r>
                <a:r>
                  <a:rPr sz="2400" b="0">
                    <a:solidFill>
                      <a:srgbClr val="111827"/>
                    </a:solidFill>
                    <a:latin typeface="Arial"/>
                  </a:rPr>
                  <a:t> is such that </a:t>
                </a:r>
                <a:r>
                  <a:rPr lang="en-IN" sz="2400">
                    <a:solidFill>
                      <a:srgbClr val="111827"/>
                    </a:solidFill>
                    <a:latin typeface="Cambria Math" panose="02040503050406030204" pitchFamily="18" charset="0"/>
                  </a:rPr>
                  <a:t>$PQRS$</a:t>
                </a:r>
                <a:r>
                  <a:rPr sz="2400" b="0">
                    <a:solidFill>
                      <a:srgbClr val="111827"/>
                    </a:solidFill>
                    <a:latin typeface="Arial"/>
                  </a:rPr>
                  <a:t> is a parallelogram, then </a:t>
                </a:r>
                <a:r>
                  <a:rPr lang="en-IN" sz="2400">
                    <a:solidFill>
                      <a:srgbClr val="111827"/>
                    </a:solidFill>
                    <a:latin typeface="Cambria Math" panose="02040503050406030204" pitchFamily="18" charset="0"/>
                  </a:rPr>
                  <a:t>$hk^2$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$80$</a:t>
                </a:r>
                <a:r>
                  <a:rPr sz="2400" b="0">
                    <a:solidFill>
                      <a:srgbClr val="111827"/>
                    </a:solidFill>
                    <a:latin typeface="Arial"/>
                  </a:rPr>
                  <a:t>   (B) </a:t>
                </a:r>
                <a:r>
                  <a:rPr lang="en-IN" sz="2400">
                    <a:solidFill>
                      <a:srgbClr val="111827"/>
                    </a:solidFill>
                    <a:latin typeface="Cambria Math" panose="02040503050406030204" pitchFamily="18" charset="0"/>
                  </a:rPr>
                  <a:t>$90$</a:t>
                </a:r>
                <a:r>
                  <a:rPr sz="2400" b="0">
                    <a:solidFill>
                      <a:srgbClr val="111827"/>
                    </a:solidFill>
                    <a:latin typeface="Arial"/>
                  </a:rPr>
                  <a:t>   (C) </a:t>
                </a:r>
                <a:r>
                  <a:rPr lang="en-IN" sz="2400">
                    <a:solidFill>
                      <a:srgbClr val="111827"/>
                    </a:solidFill>
                    <a:latin typeface="Cambria Math" panose="02040503050406030204" pitchFamily="18" charset="0"/>
                  </a:rPr>
                  <a:t>$60$</a:t>
                </a:r>
                <a:r>
                  <a:rPr sz="2400" b="0">
                    <a:solidFill>
                      <a:srgbClr val="111827"/>
                    </a:solidFill>
                    <a:latin typeface="Arial"/>
                  </a:rPr>
                  <a:t>   (D) </a:t>
                </a:r>
                <a:r>
                  <a:rPr lang="en-IN" sz="2400">
                    <a:solidFill>
                      <a:srgbClr val="111827"/>
                    </a:solidFill>
                    <a:latin typeface="Cambria Math" panose="02040503050406030204" pitchFamily="18" charset="0"/>
                  </a:rPr>
                  <a:t>$70$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Reflection of a ray at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Parallelogram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Reflection of a ray at the </a:t>
                </a:r>
                <a:r>
                  <a:rPr lang="en-IN" sz="2400">
                    <a:solidFill>
                      <a:srgbClr val="111827"/>
                    </a:solidFill>
                    <a:latin typeface="Cambria Math" panose="02040503050406030204" pitchFamily="18" charset="0"/>
                  </a:rPr>
                  <a:t>$x$</a:t>
                </a:r>
                <a:r>
                  <a:rPr sz="2400" b="0">
                    <a:solidFill>
                      <a:srgbClr val="111827"/>
                    </a:solidFill>
                    <a:latin typeface="Arial"/>
                  </a:rPr>
                  <a:t>-axis, Parallelogram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reflection </a:t>
                </a:r>
                <a14:m>
                  <m:oMath xmlns:m="http://schemas.openxmlformats.org/officeDocument/2006/math">
                    <m:sSup>
                      <m:e>
                        <m:r>
                          <a:rPr lang="en-IN" sz="2400" i="1">
                            <a:solidFill>
                              <a:srgbClr val="78350F"/>
                            </a:solidFill>
                            <a:latin typeface="Cambria Math" panose="02040503050406030204" pitchFamily="18" charset="0"/>
                          </a:rPr>
                          <m:t>𝑃</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of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lies on the line through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𝑄</m:t>
                    </m:r>
                  </m:oMath>
                </a14:m>
                <a:r>
                  <a:rPr sz="2400" b="0">
                    <a:solidFill>
                      <a:srgbClr val="78350F"/>
                    </a:solidFill>
                    <a:latin typeface="Arial"/>
                  </a:rPr>
                  <a:t> by the parallelogram rule.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reflection </a:t>
                </a:r>
                <a:r>
                  <a:rPr lang="en-IN" sz="2400">
                    <a:solidFill>
                      <a:srgbClr val="78350F"/>
                    </a:solidFill>
                    <a:latin typeface="Cambria Math" panose="02040503050406030204" pitchFamily="18" charset="0"/>
                  </a:rPr>
                  <a:t>$P'(1,-2)$</a:t>
                </a:r>
                <a:r>
                  <a:rPr sz="2400" b="0">
                    <a:solidFill>
                      <a:srgbClr val="78350F"/>
                    </a:solidFill>
                    <a:latin typeface="Arial"/>
                  </a:rPr>
                  <a:t> of </a:t>
                </a:r>
                <a:r>
                  <a:rPr lang="en-IN" sz="2400">
                    <a:solidFill>
                      <a:srgbClr val="78350F"/>
                    </a:solidFill>
                    <a:latin typeface="Cambria Math" panose="02040503050406030204" pitchFamily="18" charset="0"/>
                  </a:rPr>
                  <a:t>$P$</a:t>
                </a:r>
                <a:r>
                  <a:rPr sz="2400" b="0">
                    <a:solidFill>
                      <a:srgbClr val="78350F"/>
                    </a:solidFill>
                    <a:latin typeface="Arial"/>
                  </a:rPr>
                  <a:t> lies on the line through </a:t>
                </a:r>
                <a:r>
                  <a:rPr lang="en-IN" sz="2400">
                    <a:solidFill>
                      <a:srgbClr val="78350F"/>
                    </a:solidFill>
                    <a:latin typeface="Cambria Math" panose="02040503050406030204" pitchFamily="18" charset="0"/>
                  </a:rPr>
                  <a:t>$Q$</a:t>
                </a:r>
                <a:r>
                  <a:rPr sz="2400" b="0">
                    <a:solidFill>
                      <a:srgbClr val="78350F"/>
                    </a:solidFill>
                    <a:latin typeface="Arial"/>
                  </a:rPr>
                  <a:t> and </a:t>
                </a:r>
                <a:r>
                  <a:rPr lang="en-IN" sz="2400">
                    <a:solidFill>
                      <a:srgbClr val="78350F"/>
                    </a:solidFill>
                    <a:latin typeface="Cambria Math" panose="02040503050406030204" pitchFamily="18" charset="0"/>
                  </a:rPr>
                  <a:t>$R$</a:t>
                </a:r>
                <a:r>
                  <a:rPr sz="2400" b="0">
                    <a:solidFill>
                      <a:srgbClr val="78350F"/>
                    </a:solidFill>
                    <a:latin typeface="Arial"/>
                  </a:rPr>
                  <a:t>; then </a:t>
                </a:r>
                <a:r>
                  <a:rPr lang="en-IN" sz="2400">
                    <a:solidFill>
                      <a:srgbClr val="78350F"/>
                    </a:solidFill>
                    <a:latin typeface="Cambria Math" panose="02040503050406030204" pitchFamily="18" charset="0"/>
                  </a:rPr>
                  <a:t>$S=P+R-Q$</a:t>
                </a:r>
                <a:r>
                  <a:rPr sz="2400" b="0">
                    <a:solidFill>
                      <a:srgbClr val="78350F"/>
                    </a:solidFill>
                    <a:latin typeface="Arial"/>
                  </a:rPr>
                  <a:t> by the parallelogram rule.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reflected ray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oMath>
                </a14:m>
                <a:r>
                  <a:rPr sz="2400" b="0">
                    <a:solidFill>
                      <a:srgbClr val="111827"/>
                    </a:solidFill>
                    <a:latin typeface="Arial"/>
                  </a:rPr>
                  <a:t> extended backwards passes through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𝑅</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is where this meets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 </a:t>
                </a:r>
                <a:r>
                  <a:rPr lang="en-IN" sz="2400">
                    <a:solidFill>
                      <a:srgbClr val="111827"/>
                    </a:solidFill>
                    <a:latin typeface="Cambria Math" panose="02040503050406030204" pitchFamily="18" charset="0"/>
                  </a:rPr>
                  <a:t>$P(1,2)$</a:t>
                </a:r>
                <a:r>
                  <a:rPr sz="2400" b="0">
                    <a:solidFill>
                      <a:srgbClr val="111827"/>
                    </a:solidFill>
                    <a:latin typeface="Arial"/>
                  </a:rPr>
                  <a:t> in the </a:t>
                </a:r>
                <a:r>
                  <a:rPr lang="en-IN" sz="2400">
                    <a:solidFill>
                      <a:srgbClr val="111827"/>
                    </a:solidFill>
                    <a:latin typeface="Cambria Math" panose="02040503050406030204" pitchFamily="18" charset="0"/>
                  </a:rPr>
                  <a:t>$x$</a:t>
                </a:r>
                <a:r>
                  <a:rPr sz="2400" b="0">
                    <a:solidFill>
                      <a:srgbClr val="111827"/>
                    </a:solidFill>
                    <a:latin typeface="Arial"/>
                  </a:rPr>
                  <a:t>-axis: </a:t>
                </a:r>
                <a:r>
                  <a:rPr lang="en-IN" sz="2400">
                    <a:solidFill>
                      <a:srgbClr val="111827"/>
                    </a:solidFill>
                    <a:latin typeface="Cambria Math" panose="02040503050406030204" pitchFamily="18" charset="0"/>
                  </a:rPr>
                  <a:t>$P'(1,-2)$</a:t>
                </a:r>
                <a:r>
                  <a:rPr sz="2400" b="0">
                    <a:solidFill>
                      <a:srgbClr val="111827"/>
                    </a:solidFill>
                    <a:latin typeface="Arial"/>
                  </a:rPr>
                  <a:t>. The reflected ray </a:t>
                </a:r>
                <a:r>
                  <a:rPr lang="en-IN" sz="2400">
                    <a:solidFill>
                      <a:srgbClr val="111827"/>
                    </a:solidFill>
                    <a:latin typeface="Cambria Math" panose="02040503050406030204" pitchFamily="18" charset="0"/>
                  </a:rPr>
                  <a:t>$QR$</a:t>
                </a:r>
                <a:r>
                  <a:rPr sz="2400" b="0">
                    <a:solidFill>
                      <a:srgbClr val="111827"/>
                    </a:solidFill>
                    <a:latin typeface="Arial"/>
                  </a:rPr>
                  <a:t> extended backwards passes through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 </a:t>
                </a:r>
                <a:r>
                  <a:rPr lang="en-IN" sz="2400">
                    <a:solidFill>
                      <a:srgbClr val="111827"/>
                    </a:solidFill>
                    <a:latin typeface="Cambria Math" panose="02040503050406030204" pitchFamily="18" charset="0"/>
                  </a:rPr>
                  <a:t>$P'R$</a:t>
                </a:r>
                <a:r>
                  <a:rPr sz="2400" b="0">
                    <a:solidFill>
                      <a:srgbClr val="111827"/>
                    </a:solidFill>
                    <a:latin typeface="Arial"/>
                  </a:rPr>
                  <a:t>: slope </a:t>
                </a:r>
                <a:r>
                  <a:rPr lang="en-IN" sz="2400">
                    <a:solidFill>
                      <a:srgbClr val="111827"/>
                    </a:solidFill>
                    <a:latin typeface="Cambria Math" panose="02040503050406030204" pitchFamily="18" charset="0"/>
                  </a:rPr>
                  <a:t>$\frac{3+2}{4-1}=\frac{5}{3}$</a:t>
                </a:r>
                <a:r>
                  <a:rPr sz="2400" b="0">
                    <a:solidFill>
                      <a:srgbClr val="111827"/>
                    </a:solidFill>
                    <a:latin typeface="Arial"/>
                  </a:rPr>
                  <a:t>, so </a:t>
                </a:r>
                <a:r>
                  <a:rPr lang="en-IN" sz="2400">
                    <a:solidFill>
                      <a:srgbClr val="111827"/>
                    </a:solidFill>
                    <a:latin typeface="Cambria Math" panose="02040503050406030204" pitchFamily="18" charset="0"/>
                  </a:rPr>
                  <a:t>$y+2=\frac{5}{3}(x-1)$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a:t>
                </a:r>
                <a:r>
                  <a:rPr sz="2400" b="0">
                    <a:solidFill>
                      <a:srgbClr val="111827"/>
                    </a:solidFill>
                    <a:latin typeface="Arial"/>
                  </a:rPr>
                  <a:t> is where this meets </a:t>
                </a: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$2=\frac{5}{3}(x-1)\Rightarrow x=\frac{11}{5}$</a:t>
                </a:r>
                <a:r>
                  <a:rPr sz="2400" b="0">
                    <a:solidFill>
                      <a:srgbClr val="111827"/>
                    </a:solidFill>
                    <a:latin typeface="Arial"/>
                  </a:rPr>
                  <a:t>, so </a:t>
                </a:r>
                <a:r>
                  <a:rPr lang="en-IN" sz="2400">
                    <a:solidFill>
                      <a:srgbClr val="111827"/>
                    </a:solidFill>
                    <a:latin typeface="Cambria Math" panose="02040503050406030204" pitchFamily="18" charset="0"/>
                  </a:rPr>
                  <a:t>$Q=\left(\frac{11}{5},0\right)$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oMath>
                </a14:m>
                <a:r>
                  <a:rPr sz="2400" b="0">
                    <a:solidFill>
                      <a:srgbClr val="111827"/>
                    </a:solidFill>
                    <a:latin typeface="Arial"/>
                  </a:rPr>
                  <a:t> is a parallelogram, so the diagonals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𝑆</m:t>
                    </m:r>
                  </m:oMath>
                </a14:m>
                <a:r>
                  <a:rPr sz="2400" b="0">
                    <a:solidFill>
                      <a:srgbClr val="111827"/>
                    </a:solidFill>
                    <a:latin typeface="Arial"/>
                  </a:rPr>
                  <a:t> bisect each other: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$PQRS$</a:t>
                </a:r>
                <a:r>
                  <a:rPr sz="2400" b="0">
                    <a:solidFill>
                      <a:srgbClr val="111827"/>
                    </a:solidFill>
                    <a:latin typeface="Arial"/>
                  </a:rPr>
                  <a:t> is a parallelogram, so the diagonals </a:t>
                </a:r>
                <a:r>
                  <a:rPr lang="en-IN" sz="2400">
                    <a:solidFill>
                      <a:srgbClr val="111827"/>
                    </a:solidFill>
                    <a:latin typeface="Cambria Math" panose="02040503050406030204" pitchFamily="18" charset="0"/>
                  </a:rPr>
                  <a:t>$PR$</a:t>
                </a:r>
                <a:r>
                  <a:rPr sz="2400" b="0">
                    <a:solidFill>
                      <a:srgbClr val="111827"/>
                    </a:solidFill>
                    <a:latin typeface="Arial"/>
                  </a:rPr>
                  <a:t> and </a:t>
                </a:r>
                <a:r>
                  <a:rPr lang="en-IN" sz="2400">
                    <a:solidFill>
                      <a:srgbClr val="111827"/>
                    </a:solidFill>
                    <a:latin typeface="Cambria Math" panose="02040503050406030204" pitchFamily="18" charset="0"/>
                  </a:rPr>
                  <a:t>$QS$</a:t>
                </a:r>
                <a:r>
                  <a:rPr sz="2400" b="0">
                    <a:solidFill>
                      <a:srgbClr val="111827"/>
                    </a:solidFill>
                    <a:latin typeface="Arial"/>
                  </a:rPr>
                  <a:t> bisect each other: </a:t>
                </a:r>
                <a:r>
                  <a:rPr lang="en-IN" sz="2400">
                    <a:solidFill>
                      <a:srgbClr val="111827"/>
                    </a:solidFill>
                    <a:latin typeface="Cambria Math" panose="02040503050406030204" pitchFamily="18" charset="0"/>
                  </a:rPr>
                  <a:t>$\frac{h+\frac{11}{5}}{2}=\frac{1+4}{2}$</a:t>
                </a:r>
                <a:r>
                  <a:rPr sz="2400" b="0">
                    <a:solidFill>
                      <a:srgbClr val="111827"/>
                    </a:solidFill>
                    <a:latin typeface="Arial"/>
                  </a:rPr>
                  <a:t> and </a:t>
                </a:r>
                <a:r>
                  <a:rPr lang="en-IN" sz="2400">
                    <a:solidFill>
                      <a:srgbClr val="111827"/>
                    </a:solidFill>
                    <a:latin typeface="Cambria Math" panose="02040503050406030204" pitchFamily="18" charset="0"/>
                  </a:rPr>
                  <a:t>$\frac{k+0}{2}=\frac{2+3}{2}$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$h=5-\frac{11}{5}=\frac{14}{5}$</a:t>
                </a:r>
                <a:r>
                  <a:rPr sz="2400" b="0">
                    <a:solidFill>
                      <a:srgbClr val="111827"/>
                    </a:solidFill>
                    <a:latin typeface="Arial"/>
                  </a:rPr>
                  <a:t> and </a:t>
                </a:r>
                <a:r>
                  <a:rPr lang="en-IN" sz="2400">
                    <a:solidFill>
                      <a:srgbClr val="111827"/>
                    </a:solidFill>
                    <a:latin typeface="Cambria Math" panose="02040503050406030204" pitchFamily="18" charset="0"/>
                  </a:rPr>
                  <a:t>$k=5$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$hk^2=\frac{14}{5}\cdot25=70$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70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$70$</a:t>
                </a:r>
                <a:endParaRPr sz="2800">
                  <a:solidFill>
                    <a:srgbClr val="15803D"/>
                  </a:solidFill>
                </a:endParaRPr>
              </a:p>
            </p:txBody>
          </p:sp>
        </mc:Fallback>
      </mc:AlternateContent>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path is symmetric: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divides the horizontal span in the ratio of the heights of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above the mirror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path is symmetric: </a:t>
                </a:r>
                <a:r>
                  <a:rPr lang="en-IN" sz="2400">
                    <a:solidFill>
                      <a:srgbClr val="78350F"/>
                    </a:solidFill>
                    <a:latin typeface="Cambria Math" panose="02040503050406030204" pitchFamily="18" charset="0"/>
                  </a:rPr>
                  <a:t>$Q$</a:t>
                </a:r>
                <a:r>
                  <a:rPr sz="2400" b="0">
                    <a:solidFill>
                      <a:srgbClr val="78350F"/>
                    </a:solidFill>
                    <a:latin typeface="Arial"/>
                  </a:rPr>
                  <a:t> divides the horizontal span in the ratio of the heights of </a:t>
                </a:r>
                <a:r>
                  <a:rPr lang="en-IN" sz="2400">
                    <a:solidFill>
                      <a:srgbClr val="78350F"/>
                    </a:solidFill>
                    <a:latin typeface="Cambria Math" panose="02040503050406030204" pitchFamily="18" charset="0"/>
                  </a:rPr>
                  <a:t>$P$</a:t>
                </a:r>
                <a:r>
                  <a:rPr sz="2400" b="0">
                    <a:solidFill>
                      <a:srgbClr val="78350F"/>
                    </a:solidFill>
                    <a:latin typeface="Arial"/>
                  </a:rPr>
                  <a:t> and </a:t>
                </a:r>
                <a:r>
                  <a:rPr lang="en-IN" sz="2400">
                    <a:solidFill>
                      <a:srgbClr val="78350F"/>
                    </a:solidFill>
                    <a:latin typeface="Cambria Math" panose="02040503050406030204" pitchFamily="18" charset="0"/>
                  </a:rPr>
                  <a:t>$R$</a:t>
                </a:r>
                <a:r>
                  <a:rPr sz="2400" b="0">
                    <a:solidFill>
                      <a:srgbClr val="78350F"/>
                    </a:solidFill>
                    <a:latin typeface="Arial"/>
                  </a:rPr>
                  <a:t> above the mirror (</a:t>
                </a:r>
                <a:r>
                  <a:rPr lang="en-IN" sz="2400">
                    <a:solidFill>
                      <a:srgbClr val="78350F"/>
                    </a:solidFill>
                    <a:latin typeface="Cambria Math" panose="02040503050406030204" pitchFamily="18" charset="0"/>
                  </a:rPr>
                  <a:t>$2:3$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Triangles formed by dropping perpendiculars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to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are similar (equal angles at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𝑄</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𝑃</m:t>
                            </m:r>
                          </m:sub>
                        </m:sSub>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𝑅</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𝑄</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𝑃</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𝑅</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𝑄</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Triangles formed by dropping perpendiculars from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to the </a:t>
                </a:r>
                <a:r>
                  <a:rPr lang="en-IN" sz="2400">
                    <a:solidFill>
                      <a:srgbClr val="111827"/>
                    </a:solidFill>
                    <a:latin typeface="Cambria Math" panose="02040503050406030204" pitchFamily="18" charset="0"/>
                  </a:rPr>
                  <a:t>$x$</a:t>
                </a:r>
                <a:r>
                  <a:rPr sz="2400" b="0">
                    <a:solidFill>
                      <a:srgbClr val="111827"/>
                    </a:solidFill>
                    <a:latin typeface="Arial"/>
                  </a:rPr>
                  <a:t>-axis are similar (equal angles at </a:t>
                </a:r>
                <a:r>
                  <a:rPr lang="en-IN" sz="2400">
                    <a:solidFill>
                      <a:srgbClr val="111827"/>
                    </a:solidFill>
                    <a:latin typeface="Cambria Math" panose="02040503050406030204" pitchFamily="18" charset="0"/>
                  </a:rPr>
                  <a:t>$Q$</a:t>
                </a:r>
                <a:r>
                  <a:rPr sz="2400" b="0">
                    <a:solidFill>
                      <a:srgbClr val="111827"/>
                    </a:solidFill>
                    <a:latin typeface="Arial"/>
                  </a:rPr>
                  <a:t>), so </a:t>
                </a:r>
                <a:r>
                  <a:rPr lang="en-IN" sz="2400">
                    <a:solidFill>
                      <a:srgbClr val="111827"/>
                    </a:solidFill>
                    <a:latin typeface="Cambria Math" panose="02040503050406030204" pitchFamily="18" charset="0"/>
                  </a:rPr>
                  <a:t>$\frac{x_Q-x_P}{x_R-x_Q}=\frac{y_P}{y_R}=\frac{2}{3}$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$x_Q=1+\frac{2}{5}(4-1)=\frac{11}{5}$</a:t>
                </a:r>
                <a:r>
                  <a:rPr sz="2400" b="0">
                    <a:solidFill>
                      <a:srgbClr val="111827"/>
                    </a:solidFill>
                    <a:latin typeface="Arial"/>
                  </a:rPr>
                  <a:t>, so </a:t>
                </a:r>
                <a:r>
                  <a:rPr lang="en-IN" sz="2400">
                    <a:solidFill>
                      <a:srgbClr val="111827"/>
                    </a:solidFill>
                    <a:latin typeface="Cambria Math" panose="02040503050406030204" pitchFamily="18" charset="0"/>
                  </a:rPr>
                  <a:t>$Q=\left(\frac{11}{5},0\right)$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$S=P+R-Q=\left(1+4-\frac{11}{5},\,2+3-0\right)=\left(\frac{14}{5},5\right)$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$hk^2=\frac{14}{5}\cdot25=70$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70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$70$</a:t>
                </a:r>
                <a:endParaRPr sz="2800">
                  <a:solidFill>
                    <a:srgbClr val="15803D"/>
                  </a:solidFill>
                </a:endParaRPr>
              </a:p>
            </p:txBody>
          </p:sp>
        </mc:Fallback>
      </mc:AlternateContent>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principle at a line: the reflection point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on the axis divides the span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oMath>
                </a14:m>
                <a:r>
                  <a:rPr sz="2400" b="0">
                    <a:solidFill>
                      <a:srgbClr val="111827"/>
                    </a:solidFill>
                    <a:latin typeface="Arial"/>
                  </a:rPr>
                  <a:t> in the ratio of the distances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from the axis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𝑅</m:t>
                        </m:r>
                      </m:sub>
                    </m:sSub>
                  </m:oMath>
                </a14:m>
                <a:r>
                  <a:rPr sz="2400" b="0">
                    <a:solidFill>
                      <a:srgbClr val="111827"/>
                    </a:solidFill>
                    <a:latin typeface="Arial"/>
                  </a:rPr>
                  <a:t> for points on the same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Parallelogram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oMath>
                </a14:m>
                <a:r>
                  <a:rPr sz="2400" b="0">
                    <a:solidFill>
                      <a:srgbClr val="111827"/>
                    </a:solidFill>
                    <a:latin typeface="Arial"/>
                  </a:rPr>
                  <a:t> (in this order):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Shortest broken path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over the mirror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the image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principle at a line: the reflection point </a:t>
                </a:r>
                <a:r>
                  <a:rPr lang="en-IN" sz="2400">
                    <a:solidFill>
                      <a:srgbClr val="111827"/>
                    </a:solidFill>
                    <a:latin typeface="Cambria Math" panose="02040503050406030204" pitchFamily="18" charset="0"/>
                  </a:rPr>
                  <a:t>$Q$</a:t>
                </a:r>
                <a:r>
                  <a:rPr sz="2400" b="0">
                    <a:solidFill>
                      <a:srgbClr val="111827"/>
                    </a:solidFill>
                    <a:latin typeface="Arial"/>
                  </a:rPr>
                  <a:t> on the axis divides the span </a:t>
                </a:r>
                <a:r>
                  <a:rPr lang="en-IN" sz="2400">
                    <a:solidFill>
                      <a:srgbClr val="111827"/>
                    </a:solidFill>
                    <a:latin typeface="Cambria Math" panose="02040503050406030204" pitchFamily="18" charset="0"/>
                  </a:rPr>
                  <a:t>$PR$</a:t>
                </a:r>
                <a:r>
                  <a:rPr sz="2400" b="0">
                    <a:solidFill>
                      <a:srgbClr val="111827"/>
                    </a:solidFill>
                    <a:latin typeface="Arial"/>
                  </a:rPr>
                  <a:t> in the ratio of the distances of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from the axis (</a:t>
                </a:r>
                <a:r>
                  <a:rPr lang="en-IN" sz="2400">
                    <a:solidFill>
                      <a:srgbClr val="111827"/>
                    </a:solidFill>
                    <a:latin typeface="Cambria Math" panose="02040503050406030204" pitchFamily="18" charset="0"/>
                  </a:rPr>
                  <a:t>$y_P:y_R$</a:t>
                </a:r>
                <a:r>
                  <a:rPr sz="2400" b="0">
                    <a:solidFill>
                      <a:srgbClr val="111827"/>
                    </a:solidFill>
                    <a:latin typeface="Arial"/>
                  </a:rPr>
                  <a:t> for points on the same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Parallelogram </a:t>
                </a:r>
                <a:r>
                  <a:rPr lang="en-IN" sz="2400">
                    <a:solidFill>
                      <a:srgbClr val="111827"/>
                    </a:solidFill>
                    <a:latin typeface="Cambria Math" panose="02040503050406030204" pitchFamily="18" charset="0"/>
                  </a:rPr>
                  <a:t>$PQRS$</a:t>
                </a:r>
                <a:r>
                  <a:rPr sz="2400" b="0">
                    <a:solidFill>
                      <a:srgbClr val="111827"/>
                    </a:solidFill>
                    <a:latin typeface="Arial"/>
                  </a:rPr>
                  <a:t> (in this order): </a:t>
                </a:r>
                <a:r>
                  <a:rPr lang="en-IN" sz="2400">
                    <a:solidFill>
                      <a:srgbClr val="111827"/>
                    </a:solidFill>
                    <a:latin typeface="Cambria Math" panose="02040503050406030204" pitchFamily="18" charset="0"/>
                  </a:rPr>
                  <a:t>$S=P+R-Q$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Shortest broken path </a:t>
                </a:r>
                <a:r>
                  <a:rPr lang="en-IN" sz="2400">
                    <a:solidFill>
                      <a:srgbClr val="111827"/>
                    </a:solidFill>
                    <a:latin typeface="Cambria Math" panose="02040503050406030204" pitchFamily="18" charset="0"/>
                  </a:rPr>
                  <a:t>$P\to Q\to R$</a:t>
                </a:r>
                <a:r>
                  <a:rPr sz="2400" b="0">
                    <a:solidFill>
                      <a:srgbClr val="111827"/>
                    </a:solidFill>
                    <a:latin typeface="Arial"/>
                  </a:rPr>
                  <a:t> over the mirror is </a:t>
                </a:r>
                <a:r>
                  <a:rPr lang="en-IN" sz="2400">
                    <a:solidFill>
                      <a:srgbClr val="111827"/>
                    </a:solidFill>
                    <a:latin typeface="Cambria Math" panose="02040503050406030204" pitchFamily="18" charset="0"/>
                  </a:rPr>
                  <a:t>$|P'R|$</a:t>
                </a:r>
                <a:r>
                  <a:rPr sz="2400" b="0">
                    <a:solidFill>
                      <a:srgbClr val="111827"/>
                    </a:solidFill>
                    <a:latin typeface="Arial"/>
                  </a:rPr>
                  <a:t> where </a:t>
                </a:r>
                <a:r>
                  <a:rPr lang="en-IN" sz="2400">
                    <a:solidFill>
                      <a:srgbClr val="111827"/>
                    </a:solidFill>
                    <a:latin typeface="Cambria Math" panose="02040503050406030204" pitchFamily="18" charset="0"/>
                  </a:rPr>
                  <a:t>$P'$</a:t>
                </a:r>
                <a:r>
                  <a:rPr sz="2400" b="0">
                    <a:solidFill>
                      <a:srgbClr val="111827"/>
                    </a:solidFill>
                    <a:latin typeface="Arial"/>
                  </a:rPr>
                  <a:t> is the image of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vertices of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its orthocentre 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coordinates of the point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centre of the circle circumscribing the triangle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81</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vertices of a triangle </a:t>
                </a:r>
                <a:r>
                  <a:rPr lang="en-IN" sz="2400">
                    <a:solidFill>
                      <a:srgbClr val="111827"/>
                    </a:solidFill>
                    <a:latin typeface="Cambria Math" panose="02040503050406030204" pitchFamily="18" charset="0"/>
                  </a:rPr>
                  <a:t>$ABC$</a:t>
                </a:r>
                <a:r>
                  <a:rPr sz="2400" b="0">
                    <a:solidFill>
                      <a:srgbClr val="111827"/>
                    </a:solidFill>
                    <a:latin typeface="Arial"/>
                  </a:rPr>
                  <a:t> are </a:t>
                </a:r>
                <a:r>
                  <a:rPr lang="en-IN" sz="2400">
                    <a:solidFill>
                      <a:srgbClr val="111827"/>
                    </a:solidFill>
                    <a:latin typeface="Cambria Math" panose="02040503050406030204" pitchFamily="18" charset="0"/>
                  </a:rPr>
                  <a:t>$A(3,-1)$</a:t>
                </a:r>
                <a:r>
                  <a:rPr sz="2400" b="0">
                    <a:solidFill>
                      <a:srgbClr val="111827"/>
                    </a:solidFill>
                    <a:latin typeface="Arial"/>
                  </a:rPr>
                  <a:t> and </a:t>
                </a:r>
                <a:r>
                  <a:rPr lang="en-IN" sz="2400">
                    <a:solidFill>
                      <a:srgbClr val="111827"/>
                    </a:solidFill>
                    <a:latin typeface="Cambria Math" panose="02040503050406030204" pitchFamily="18" charset="0"/>
                  </a:rPr>
                  <a:t>$B(-2,3)$</a:t>
                </a:r>
                <a:r>
                  <a:rPr sz="2400" b="0">
                    <a:solidFill>
                      <a:srgbClr val="111827"/>
                    </a:solidFill>
                    <a:latin typeface="Arial"/>
                  </a:rPr>
                  <a:t>, and its orthocentre is </a:t>
                </a:r>
                <a:r>
                  <a:rPr lang="en-IN" sz="2400">
                    <a:solidFill>
                      <a:srgbClr val="111827"/>
                    </a:solidFill>
                    <a:latin typeface="Cambria Math" panose="02040503050406030204" pitchFamily="18" charset="0"/>
                  </a:rPr>
                  <a:t>$P(1,1)$</a:t>
                </a:r>
                <a:r>
                  <a:rPr sz="2400" b="0">
                    <a:solidFill>
                      <a:srgbClr val="111827"/>
                    </a:solidFill>
                    <a:latin typeface="Arial"/>
                  </a:rPr>
                  <a:t>. If the coordinates of the point </a:t>
                </a:r>
                <a:r>
                  <a:rPr lang="en-IN" sz="2400">
                    <a:solidFill>
                      <a:srgbClr val="111827"/>
                    </a:solidFill>
                    <a:latin typeface="Cambria Math" panose="02040503050406030204" pitchFamily="18" charset="0"/>
                  </a:rPr>
                  <a:t>$C$</a:t>
                </a:r>
                <a:r>
                  <a:rPr sz="2400" b="0">
                    <a:solidFill>
                      <a:srgbClr val="111827"/>
                    </a:solidFill>
                    <a:latin typeface="Arial"/>
                  </a:rPr>
                  <a:t> are </a:t>
                </a:r>
                <a:r>
                  <a:rPr lang="en-IN" sz="2400">
                    <a:solidFill>
                      <a:srgbClr val="111827"/>
                    </a:solidFill>
                    <a:latin typeface="Cambria Math" panose="02040503050406030204" pitchFamily="18" charset="0"/>
                  </a:rPr>
                  <a:t>$(\alpha,\beta)$</a:t>
                </a:r>
                <a:r>
                  <a:rPr sz="2400" b="0">
                    <a:solidFill>
                      <a:srgbClr val="111827"/>
                    </a:solidFill>
                    <a:latin typeface="Arial"/>
                  </a:rPr>
                  <a:t> and the centre of the circle circumscribing the triangle </a:t>
                </a:r>
                <a:r>
                  <a:rPr lang="en-IN" sz="2400">
                    <a:solidFill>
                      <a:srgbClr val="111827"/>
                    </a:solidFill>
                    <a:latin typeface="Cambria Math" panose="02040503050406030204" pitchFamily="18" charset="0"/>
                  </a:rPr>
                  <a:t>$PAB$</a:t>
                </a:r>
                <a:r>
                  <a:rPr sz="2400" b="0">
                    <a:solidFill>
                      <a:srgbClr val="111827"/>
                    </a:solidFill>
                    <a:latin typeface="Arial"/>
                  </a:rPr>
                  <a:t> is </a:t>
                </a:r>
                <a:r>
                  <a:rPr lang="en-IN" sz="2400">
                    <a:solidFill>
                      <a:srgbClr val="111827"/>
                    </a:solidFill>
                    <a:latin typeface="Cambria Math" panose="02040503050406030204" pitchFamily="18" charset="0"/>
                  </a:rPr>
                  <a:t>$(h,k)$</a:t>
                </a:r>
                <a:r>
                  <a:rPr sz="2400" b="0">
                    <a:solidFill>
                      <a:srgbClr val="111827"/>
                    </a:solidFill>
                    <a:latin typeface="Arial"/>
                  </a:rPr>
                  <a:t>, then the value of </a:t>
                </a:r>
                <a:r>
                  <a:rPr lang="en-IN" sz="2400">
                    <a:solidFill>
                      <a:srgbClr val="111827"/>
                    </a:solidFill>
                    <a:latin typeface="Cambria Math" panose="02040503050406030204" pitchFamily="18" charset="0"/>
                  </a:rPr>
                  <a:t>$(\alpha+\beta)+2(h+k)$</a:t>
                </a:r>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a:t>
                </a:r>
                <a:r>
                  <a:rPr sz="2400" b="0">
                    <a:solidFill>
                      <a:srgbClr val="111827"/>
                    </a:solidFill>
                    <a:latin typeface="Arial"/>
                  </a:rPr>
                  <a:t>   (B) </a:t>
                </a:r>
                <a:r>
                  <a:rPr lang="en-IN" sz="2400">
                    <a:solidFill>
                      <a:srgbClr val="111827"/>
                    </a:solidFill>
                    <a:latin typeface="Cambria Math" panose="02040503050406030204" pitchFamily="18" charset="0"/>
                  </a:rPr>
                  <a:t>$51$</a:t>
                </a:r>
                <a:r>
                  <a:rPr sz="2400" b="0">
                    <a:solidFill>
                      <a:srgbClr val="111827"/>
                    </a:solidFill>
                    <a:latin typeface="Arial"/>
                  </a:rPr>
                  <a:t>   (C) </a:t>
                </a:r>
                <a:r>
                  <a:rPr lang="en-IN" sz="2400">
                    <a:solidFill>
                      <a:srgbClr val="111827"/>
                    </a:solidFill>
                    <a:latin typeface="Cambria Math" panose="02040503050406030204" pitchFamily="18" charset="0"/>
                  </a:rPr>
                  <a:t>$15$</a:t>
                </a:r>
                <a:r>
                  <a:rPr sz="2400" b="0">
                    <a:solidFill>
                      <a:srgbClr val="111827"/>
                    </a:solidFill>
                    <a:latin typeface="Arial"/>
                  </a:rPr>
                  <a:t>   (D) </a:t>
                </a:r>
                <a:r>
                  <a:rPr lang="en-IN" sz="2400">
                    <a:solidFill>
                      <a:srgbClr val="111827"/>
                    </a:solidFill>
                    <a:latin typeface="Cambria Math" panose="02040503050406030204" pitchFamily="18" charset="0"/>
                  </a:rPr>
                  <a:t>$81$</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and circumcentre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comes from </a:t>
                </a:r>
                <a14:m>
                  <m:oMath xmlns:m="http://schemas.openxmlformats.org/officeDocument/2006/math">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𝑃</m:t>
                    </m:r>
                  </m:oMath>
                </a14:m>
                <a:r>
                  <a:rPr sz="2400" b="0">
                    <a:solidFill>
                      <a:srgbClr val="78350F"/>
                    </a:solidFill>
                    <a:latin typeface="Arial"/>
                  </a:rPr>
                  <a:t>; the circumcentre of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comes from two perpendicular bisectors.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$C$</a:t>
                </a:r>
                <a:r>
                  <a:rPr sz="2400" b="0">
                    <a:solidFill>
                      <a:srgbClr val="78350F"/>
                    </a:solidFill>
                    <a:latin typeface="Arial"/>
                  </a:rPr>
                  <a:t> comes from </a:t>
                </a:r>
                <a:r>
                  <a:rPr lang="en-IN" sz="2400">
                    <a:solidFill>
                      <a:srgbClr val="78350F"/>
                    </a:solidFill>
                    <a:latin typeface="Cambria Math" panose="02040503050406030204" pitchFamily="18" charset="0"/>
                  </a:rPr>
                  <a:t>$CP\perp AB$</a:t>
                </a:r>
                <a:r>
                  <a:rPr sz="2400" b="0">
                    <a:solidFill>
                      <a:srgbClr val="78350F"/>
                    </a:solidFill>
                    <a:latin typeface="Arial"/>
                  </a:rPr>
                  <a:t> and </a:t>
                </a:r>
                <a:r>
                  <a:rPr lang="en-IN" sz="2400">
                    <a:solidFill>
                      <a:srgbClr val="78350F"/>
                    </a:solidFill>
                    <a:latin typeface="Cambria Math" panose="02040503050406030204" pitchFamily="18" charset="0"/>
                  </a:rPr>
                  <a:t>$BC\perp AP$</a:t>
                </a:r>
                <a:r>
                  <a:rPr sz="2400" b="0">
                    <a:solidFill>
                      <a:srgbClr val="78350F"/>
                    </a:solidFill>
                    <a:latin typeface="Arial"/>
                  </a:rPr>
                  <a:t>; the circumcentre of </a:t>
                </a:r>
                <a:r>
                  <a:rPr lang="en-IN" sz="2400">
                    <a:solidFill>
                      <a:srgbClr val="78350F"/>
                    </a:solidFill>
                    <a:latin typeface="Cambria Math" panose="02040503050406030204" pitchFamily="18" charset="0"/>
                  </a:rPr>
                  <a:t>$PAB$</a:t>
                </a:r>
                <a:r>
                  <a:rPr sz="2400" b="0">
                    <a:solidFill>
                      <a:srgbClr val="78350F"/>
                    </a:solidFill>
                    <a:latin typeface="Arial"/>
                  </a:rPr>
                  <a:t> comes from two perpendicular bisectors.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𝑃</m:t>
                    </m:r>
                  </m:oMath>
                </a14:m>
                <a:r>
                  <a:rPr sz="2400" b="0">
                    <a:solidFill>
                      <a:srgbClr val="111827"/>
                    </a:solidFill>
                    <a:latin typeface="Arial"/>
                  </a:rPr>
                  <a:t> has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has slope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(1) and (2):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Circumcentre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the perpendicular bisector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oMath>
                </a14:m>
                <a:r>
                  <a:rPr sz="2400" b="0">
                    <a:solidFill>
                      <a:srgbClr val="111827"/>
                    </a:solidFill>
                    <a:latin typeface="Arial"/>
                  </a:rPr>
                  <a:t> passes through the midpoint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slope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 (3).</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$AB=\frac{3+1}{-2-3}=-\frac{4}{5}$</a:t>
                </a:r>
                <a:r>
                  <a:rPr sz="2400" b="0">
                    <a:solidFill>
                      <a:srgbClr val="111827"/>
                    </a:solidFill>
                    <a:latin typeface="Arial"/>
                  </a:rPr>
                  <a:t>. </a:t>
                </a:r>
                <a:r>
                  <a:rPr lang="en-IN" sz="2400">
                    <a:solidFill>
                      <a:srgbClr val="111827"/>
                    </a:solidFill>
                    <a:latin typeface="Cambria Math" panose="02040503050406030204" pitchFamily="18" charset="0"/>
                  </a:rPr>
                  <a:t>$CP\perp AB$</a:t>
                </a:r>
                <a:r>
                  <a:rPr sz="2400" b="0">
                    <a:solidFill>
                      <a:srgbClr val="111827"/>
                    </a:solidFill>
                    <a:latin typeface="Arial"/>
                  </a:rPr>
                  <a:t>, so </a:t>
                </a:r>
                <a:r>
                  <a:rPr lang="en-IN" sz="2400">
                    <a:solidFill>
                      <a:srgbClr val="111827"/>
                    </a:solidFill>
                    <a:latin typeface="Cambria Math" panose="02040503050406030204" pitchFamily="18" charset="0"/>
                  </a:rPr>
                  <a:t>$CP$</a:t>
                </a:r>
                <a:r>
                  <a:rPr sz="2400" b="0">
                    <a:solidFill>
                      <a:srgbClr val="111827"/>
                    </a:solidFill>
                    <a:latin typeface="Arial"/>
                  </a:rPr>
                  <a:t> has slope </a:t>
                </a:r>
                <a:r>
                  <a:rPr lang="en-IN" sz="2400">
                    <a:solidFill>
                      <a:srgbClr val="111827"/>
                    </a:solidFill>
                    <a:latin typeface="Cambria Math" panose="02040503050406030204" pitchFamily="18" charset="0"/>
                  </a:rPr>
                  <a:t>$\frac{5}{4}$</a:t>
                </a:r>
                <a:r>
                  <a:rPr sz="2400" b="0">
                    <a:solidFill>
                      <a:srgbClr val="111827"/>
                    </a:solidFill>
                    <a:latin typeface="Arial"/>
                  </a:rPr>
                  <a:t>: </a:t>
                </a:r>
                <a:r>
                  <a:rPr lang="en-IN" sz="2400">
                    <a:solidFill>
                      <a:srgbClr val="111827"/>
                    </a:solidFill>
                    <a:latin typeface="Cambria Math" panose="02040503050406030204" pitchFamily="18" charset="0"/>
                  </a:rPr>
                  <a:t>$y-1=\frac{5}{4}(x-1)\Rightarrow5x-4y=1$</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$AP=\frac{1+1}{1-3}=-1$</a:t>
                </a:r>
                <a:r>
                  <a:rPr sz="2400" b="0">
                    <a:solidFill>
                      <a:srgbClr val="111827"/>
                    </a:solidFill>
                    <a:latin typeface="Arial"/>
                  </a:rPr>
                  <a:t>. </a:t>
                </a:r>
                <a:r>
                  <a:rPr lang="en-IN" sz="2400">
                    <a:solidFill>
                      <a:srgbClr val="111827"/>
                    </a:solidFill>
                    <a:latin typeface="Cambria Math" panose="02040503050406030204" pitchFamily="18" charset="0"/>
                  </a:rPr>
                  <a:t>$BC\perp AP$</a:t>
                </a:r>
                <a:r>
                  <a:rPr sz="2400" b="0">
                    <a:solidFill>
                      <a:srgbClr val="111827"/>
                    </a:solidFill>
                    <a:latin typeface="Arial"/>
                  </a:rPr>
                  <a:t>, so </a:t>
                </a:r>
                <a:r>
                  <a:rPr lang="en-IN" sz="2400">
                    <a:solidFill>
                      <a:srgbClr val="111827"/>
                    </a:solidFill>
                    <a:latin typeface="Cambria Math" panose="02040503050406030204" pitchFamily="18" charset="0"/>
                  </a:rPr>
                  <a:t>$BC$</a:t>
                </a:r>
                <a:r>
                  <a:rPr sz="2400" b="0">
                    <a:solidFill>
                      <a:srgbClr val="111827"/>
                    </a:solidFill>
                    <a:latin typeface="Arial"/>
                  </a:rPr>
                  <a:t> has slope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$y-3=x+2\Rightarrow x-y=-5$</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(1) and (2): </a:t>
                </a:r>
                <a:r>
                  <a:rPr lang="en-IN" sz="2400">
                    <a:solidFill>
                      <a:srgbClr val="111827"/>
                    </a:solidFill>
                    <a:latin typeface="Cambria Math" panose="02040503050406030204" pitchFamily="18" charset="0"/>
                  </a:rPr>
                  <a:t>$x=21$</a:t>
                </a:r>
                <a:r>
                  <a:rPr sz="2400" b="0">
                    <a:solidFill>
                      <a:srgbClr val="111827"/>
                    </a:solidFill>
                    <a:latin typeface="Arial"/>
                  </a:rPr>
                  <a:t>, </a:t>
                </a:r>
                <a:r>
                  <a:rPr lang="en-IN" sz="2400">
                    <a:solidFill>
                      <a:srgbClr val="111827"/>
                    </a:solidFill>
                    <a:latin typeface="Cambria Math" panose="02040503050406030204" pitchFamily="18" charset="0"/>
                  </a:rPr>
                  <a:t>$y=26$</a:t>
                </a:r>
                <a:r>
                  <a:rPr sz="2400" b="0">
                    <a:solidFill>
                      <a:srgbClr val="111827"/>
                    </a:solidFill>
                    <a:latin typeface="Arial"/>
                  </a:rPr>
                  <a:t>, so </a:t>
                </a:r>
                <a:r>
                  <a:rPr lang="en-IN" sz="2400">
                    <a:solidFill>
                      <a:srgbClr val="111827"/>
                    </a:solidFill>
                    <a:latin typeface="Cambria Math" panose="02040503050406030204" pitchFamily="18" charset="0"/>
                  </a:rPr>
                  <a:t>$\alpha=21$</a:t>
                </a:r>
                <a:r>
                  <a:rPr sz="2400" b="0">
                    <a:solidFill>
                      <a:srgbClr val="111827"/>
                    </a:solidFill>
                    <a:latin typeface="Arial"/>
                  </a:rPr>
                  <a:t>, </a:t>
                </a:r>
                <a:r>
                  <a:rPr lang="en-IN" sz="2400">
                    <a:solidFill>
                      <a:srgbClr val="111827"/>
                    </a:solidFill>
                    <a:latin typeface="Cambria Math" panose="02040503050406030204" pitchFamily="18" charset="0"/>
                  </a:rPr>
                  <a:t>$\beta=26$</a:t>
                </a:r>
                <a:r>
                  <a:rPr sz="2400" b="0">
                    <a:solidFill>
                      <a:srgbClr val="111827"/>
                    </a:solidFill>
                    <a:latin typeface="Arial"/>
                  </a:rPr>
                  <a:t> and </a:t>
                </a:r>
                <a:r>
                  <a:rPr lang="en-IN" sz="2400">
                    <a:solidFill>
                      <a:srgbClr val="111827"/>
                    </a:solidFill>
                    <a:latin typeface="Cambria Math" panose="02040503050406030204" pitchFamily="18" charset="0"/>
                  </a:rPr>
                  <a:t>$\alpha+\beta=47$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Circumcentre of </a:t>
                </a:r>
                <a:r>
                  <a:rPr lang="en-IN" sz="2400">
                    <a:solidFill>
                      <a:srgbClr val="111827"/>
                    </a:solidFill>
                    <a:latin typeface="Cambria Math" panose="02040503050406030204" pitchFamily="18" charset="0"/>
                  </a:rPr>
                  <a:t>$\triangle PAB$</a:t>
                </a:r>
                <a:r>
                  <a:rPr sz="2400" b="0">
                    <a:solidFill>
                      <a:srgbClr val="111827"/>
                    </a:solidFill>
                    <a:latin typeface="Arial"/>
                  </a:rPr>
                  <a:t>: the perpendicular bisector of </a:t>
                </a:r>
                <a:r>
                  <a:rPr lang="en-IN" sz="2400">
                    <a:solidFill>
                      <a:srgbClr val="111827"/>
                    </a:solidFill>
                    <a:latin typeface="Cambria Math" panose="02040503050406030204" pitchFamily="18" charset="0"/>
                  </a:rPr>
                  <a:t>$AP$</a:t>
                </a:r>
                <a:r>
                  <a:rPr sz="2400" b="0">
                    <a:solidFill>
                      <a:srgbClr val="111827"/>
                    </a:solidFill>
                    <a:latin typeface="Arial"/>
                  </a:rPr>
                  <a:t> passes through the midpoint </a:t>
                </a:r>
                <a:r>
                  <a:rPr lang="en-IN" sz="2400">
                    <a:solidFill>
                      <a:srgbClr val="111827"/>
                    </a:solidFill>
                    <a:latin typeface="Cambria Math" panose="02040503050406030204" pitchFamily="18" charset="0"/>
                  </a:rPr>
                  <a:t>$(2,0)$</a:t>
                </a:r>
                <a:r>
                  <a:rPr sz="2400" b="0">
                    <a:solidFill>
                      <a:srgbClr val="111827"/>
                    </a:solidFill>
                    <a:latin typeface="Arial"/>
                  </a:rPr>
                  <a:t> with slope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$x-y=2$</a:t>
                </a:r>
                <a:r>
                  <a:rPr sz="2400" b="0">
                    <a:solidFill>
                      <a:srgbClr val="111827"/>
                    </a:solidFill>
                    <a:latin typeface="Arial"/>
                  </a:rPr>
                  <a:t> ... (3).</a:t>
                </a:r>
                <a:endParaRPr sz="2400">
                  <a:solidFill>
                    <a:srgbClr val="111827"/>
                  </a:solidFill>
                </a:endParaRPr>
              </a:p>
            </p:txBody>
          </p:sp>
        </mc:Fallback>
      </mc:AlternateContent>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perpendicular bisector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passes through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with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 (4).</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(3) and (4):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perpendicular bisector of </a:t>
                </a:r>
                <a:r>
                  <a:rPr lang="en-IN" sz="2400">
                    <a:solidFill>
                      <a:srgbClr val="111827"/>
                    </a:solidFill>
                    <a:latin typeface="Cambria Math" panose="02040503050406030204" pitchFamily="18" charset="0"/>
                  </a:rPr>
                  <a:t>$AB$</a:t>
                </a:r>
                <a:r>
                  <a:rPr sz="2400" b="0">
                    <a:solidFill>
                      <a:srgbClr val="111827"/>
                    </a:solidFill>
                    <a:latin typeface="Arial"/>
                  </a:rPr>
                  <a:t> passes through </a:t>
                </a:r>
                <a:r>
                  <a:rPr lang="en-IN" sz="2400">
                    <a:solidFill>
                      <a:srgbClr val="111827"/>
                    </a:solidFill>
                    <a:latin typeface="Cambria Math" panose="02040503050406030204" pitchFamily="18" charset="0"/>
                  </a:rPr>
                  <a:t>$\left(\frac{1}{2},1\right)$</a:t>
                </a:r>
                <a:r>
                  <a:rPr sz="2400" b="0">
                    <a:solidFill>
                      <a:srgbClr val="111827"/>
                    </a:solidFill>
                    <a:latin typeface="Arial"/>
                  </a:rPr>
                  <a:t> with slope </a:t>
                </a:r>
                <a:r>
                  <a:rPr lang="en-IN" sz="2400">
                    <a:solidFill>
                      <a:srgbClr val="111827"/>
                    </a:solidFill>
                    <a:latin typeface="Cambria Math" panose="02040503050406030204" pitchFamily="18" charset="0"/>
                  </a:rPr>
                  <a:t>$\frac{5}{4}$</a:t>
                </a:r>
                <a:r>
                  <a:rPr sz="2400" b="0">
                    <a:solidFill>
                      <a:srgbClr val="111827"/>
                    </a:solidFill>
                    <a:latin typeface="Arial"/>
                  </a:rPr>
                  <a:t>: </a:t>
                </a:r>
                <a:r>
                  <a:rPr lang="en-IN" sz="2400">
                    <a:solidFill>
                      <a:srgbClr val="111827"/>
                    </a:solidFill>
                    <a:latin typeface="Cambria Math" panose="02040503050406030204" pitchFamily="18" charset="0"/>
                  </a:rPr>
                  <a:t>$y-1=\frac{5}{4}\left(x-\frac{1}{2}\right)$</a:t>
                </a:r>
                <a:r>
                  <a:rPr sz="2400" b="0">
                    <a:solidFill>
                      <a:srgbClr val="111827"/>
                    </a:solidFill>
                    <a:latin typeface="Arial"/>
                  </a:rPr>
                  <a:t> ... (4).</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(3) and (4): </a:t>
                </a:r>
                <a:r>
                  <a:rPr lang="en-IN" sz="2400">
                    <a:solidFill>
                      <a:srgbClr val="111827"/>
                    </a:solidFill>
                    <a:latin typeface="Cambria Math" panose="02040503050406030204" pitchFamily="18" charset="0"/>
                  </a:rPr>
                  <a:t>$x=-\frac{19}{2}$</a:t>
                </a:r>
                <a:r>
                  <a:rPr sz="2400" b="0">
                    <a:solidFill>
                      <a:srgbClr val="111827"/>
                    </a:solidFill>
                    <a:latin typeface="Arial"/>
                  </a:rPr>
                  <a:t>, </a:t>
                </a:r>
                <a:r>
                  <a:rPr lang="en-IN" sz="2400">
                    <a:solidFill>
                      <a:srgbClr val="111827"/>
                    </a:solidFill>
                    <a:latin typeface="Cambria Math" panose="02040503050406030204" pitchFamily="18" charset="0"/>
                  </a:rPr>
                  <a:t>$y=-\frac{23}{2}$</a:t>
                </a:r>
                <a:r>
                  <a:rPr sz="2400" b="0">
                    <a:solidFill>
                      <a:srgbClr val="111827"/>
                    </a:solidFill>
                    <a:latin typeface="Arial"/>
                  </a:rPr>
                  <a:t>, so </a:t>
                </a:r>
                <a:r>
                  <a:rPr lang="en-IN" sz="2400">
                    <a:solidFill>
                      <a:srgbClr val="111827"/>
                    </a:solidFill>
                    <a:latin typeface="Cambria Math" panose="02040503050406030204" pitchFamily="18" charset="0"/>
                  </a:rPr>
                  <a:t>$2h=-19$</a:t>
                </a:r>
                <a:r>
                  <a:rPr sz="2400" b="0">
                    <a:solidFill>
                      <a:srgbClr val="111827"/>
                    </a:solidFill>
                    <a:latin typeface="Arial"/>
                  </a:rPr>
                  <a:t>, </a:t>
                </a:r>
                <a:r>
                  <a:rPr lang="en-IN" sz="2400">
                    <a:solidFill>
                      <a:srgbClr val="111827"/>
                    </a:solidFill>
                    <a:latin typeface="Cambria Math" panose="02040503050406030204" pitchFamily="18" charset="0"/>
                  </a:rPr>
                  <a:t>$2k=-23$</a:t>
                </a:r>
                <a:r>
                  <a:rPr sz="2400" b="0">
                    <a:solidFill>
                      <a:srgbClr val="111827"/>
                    </a:solidFill>
                    <a:latin typeface="Arial"/>
                  </a:rPr>
                  <a:t> and </a:t>
                </a:r>
                <a:r>
                  <a:rPr lang="en-IN" sz="2400">
                    <a:solidFill>
                      <a:srgbClr val="111827"/>
                    </a:solidFill>
                    <a:latin typeface="Cambria Math" panose="02040503050406030204" pitchFamily="18" charset="0"/>
                  </a:rPr>
                  <a:t>$2(h+k)=-42$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$(\alpha+\beta)+2(h+k)=47-42=5$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5</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$5$</a:t>
                </a:r>
                <a:endParaRPr sz="2800">
                  <a:solidFill>
                    <a:srgbClr val="15803D"/>
                  </a:solidFill>
                </a:endParaRPr>
              </a:p>
            </p:txBody>
          </p:sp>
        </mc:Fallback>
      </mc:AlternateContent>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orthocentre of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𝑃</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so by </a:t>
                </a:r>
                <a14:m>
                  <m:oMath xmlns:m="http://schemas.openxmlformats.org/officeDocument/2006/math">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𝑂</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we get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the required sum collapses to a constant.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orthocentre of </a:t>
                </a:r>
                <a:r>
                  <a:rPr lang="en-IN" sz="2400">
                    <a:solidFill>
                      <a:srgbClr val="78350F"/>
                    </a:solidFill>
                    <a:latin typeface="Cambria Math" panose="02040503050406030204" pitchFamily="18" charset="0"/>
                  </a:rPr>
                  <a:t>$ABP$</a:t>
                </a:r>
                <a:r>
                  <a:rPr sz="2400" b="0">
                    <a:solidFill>
                      <a:srgbClr val="78350F"/>
                    </a:solidFill>
                    <a:latin typeface="Arial"/>
                  </a:rPr>
                  <a:t> is </a:t>
                </a:r>
                <a:r>
                  <a:rPr lang="en-IN" sz="2400">
                    <a:solidFill>
                      <a:srgbClr val="78350F"/>
                    </a:solidFill>
                    <a:latin typeface="Cambria Math" panose="02040503050406030204" pitchFamily="18" charset="0"/>
                  </a:rPr>
                  <a:t>$C$</a:t>
                </a:r>
                <a:r>
                  <a:rPr sz="2400" b="0">
                    <a:solidFill>
                      <a:srgbClr val="78350F"/>
                    </a:solidFill>
                    <a:latin typeface="Arial"/>
                  </a:rPr>
                  <a:t>, so by </a:t>
                </a:r>
                <a:r>
                  <a:rPr lang="en-IN" sz="2400">
                    <a:solidFill>
                      <a:srgbClr val="78350F"/>
                    </a:solidFill>
                    <a:latin typeface="Cambria Math" panose="02040503050406030204" pitchFamily="18" charset="0"/>
                  </a:rPr>
                  <a:t>$H=A+B+P-2O'$</a:t>
                </a:r>
                <a:r>
                  <a:rPr sz="2400" b="0">
                    <a:solidFill>
                      <a:srgbClr val="78350F"/>
                    </a:solidFill>
                    <a:latin typeface="Arial"/>
                  </a:rPr>
                  <a:t> we get </a:t>
                </a:r>
                <a:r>
                  <a:rPr lang="en-IN" sz="2400">
                    <a:solidFill>
                      <a:srgbClr val="78350F"/>
                    </a:solidFill>
                    <a:latin typeface="Cambria Math" panose="02040503050406030204" pitchFamily="18" charset="0"/>
                  </a:rPr>
                  <a:t>$C=A+B+P-2(h,k)$</a:t>
                </a:r>
                <a:r>
                  <a:rPr sz="2400" b="0">
                    <a:solidFill>
                      <a:srgbClr val="78350F"/>
                    </a:solidFill>
                    <a:latin typeface="Arial"/>
                  </a:rPr>
                  <a:t>, and the required sum collapses to a constant.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the orthocentre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the orthocentre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(orthocentric system). Its circumcentre is </a:t>
                </a:r>
                <a14:m>
                  <m:oMath xmlns:m="http://schemas.openxmlformats.org/officeDocument/2006/math">
                    <m:sSup>
                      <m:e>
                        <m:r>
                          <a:rPr lang="en-IN" sz="2400" i="1">
                            <a:solidFill>
                              <a:srgbClr val="111827"/>
                            </a:solidFill>
                            <a:latin typeface="Cambria Math" panose="02040503050406030204" pitchFamily="18" charset="0"/>
                          </a:rPr>
                          <m:t>𝑂</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Euler's relation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orthocentre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𝑂</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is the orthocentre of </a:t>
                </a:r>
                <a:r>
                  <a:rPr lang="en-IN" sz="2400">
                    <a:solidFill>
                      <a:srgbClr val="111827"/>
                    </a:solidFill>
                    <a:latin typeface="Cambria Math" panose="02040503050406030204" pitchFamily="18" charset="0"/>
                  </a:rPr>
                  <a:t>$\triangle ABC$</a:t>
                </a:r>
                <a:r>
                  <a:rPr sz="2400" b="0">
                    <a:solidFill>
                      <a:srgbClr val="111827"/>
                    </a:solidFill>
                    <a:latin typeface="Arial"/>
                  </a:rPr>
                  <a:t>, so </a:t>
                </a:r>
                <a:r>
                  <a:rPr lang="en-IN" sz="2400">
                    <a:solidFill>
                      <a:srgbClr val="111827"/>
                    </a:solidFill>
                    <a:latin typeface="Cambria Math" panose="02040503050406030204" pitchFamily="18" charset="0"/>
                  </a:rPr>
                  <a:t>$C$</a:t>
                </a:r>
                <a:r>
                  <a:rPr sz="2400" b="0">
                    <a:solidFill>
                      <a:srgbClr val="111827"/>
                    </a:solidFill>
                    <a:latin typeface="Arial"/>
                  </a:rPr>
                  <a:t> is the orthocentre of </a:t>
                </a:r>
                <a:r>
                  <a:rPr lang="en-IN" sz="2400">
                    <a:solidFill>
                      <a:srgbClr val="111827"/>
                    </a:solidFill>
                    <a:latin typeface="Cambria Math" panose="02040503050406030204" pitchFamily="18" charset="0"/>
                  </a:rPr>
                  <a:t>$\triangle ABP$</a:t>
                </a:r>
                <a:r>
                  <a:rPr sz="2400" b="0">
                    <a:solidFill>
                      <a:srgbClr val="111827"/>
                    </a:solidFill>
                    <a:latin typeface="Arial"/>
                  </a:rPr>
                  <a:t> (orthocentric system). Its circumcentre is </a:t>
                </a:r>
                <a:r>
                  <a:rPr lang="en-IN" sz="2400">
                    <a:solidFill>
                      <a:srgbClr val="111827"/>
                    </a:solidFill>
                    <a:latin typeface="Cambria Math" panose="02040503050406030204" pitchFamily="18" charset="0"/>
                  </a:rPr>
                  <a:t>$O'(h,k)$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Euler's relation for </a:t>
                </a:r>
                <a:r>
                  <a:rPr lang="en-IN" sz="2400">
                    <a:solidFill>
                      <a:srgbClr val="111827"/>
                    </a:solidFill>
                    <a:latin typeface="Cambria Math" panose="02040503050406030204" pitchFamily="18" charset="0"/>
                  </a:rPr>
                  <a:t>$\triangle ABP$</a:t>
                </a:r>
                <a:r>
                  <a:rPr sz="2400" b="0">
                    <a:solidFill>
                      <a:srgbClr val="111827"/>
                    </a:solidFill>
                    <a:latin typeface="Arial"/>
                  </a:rPr>
                  <a:t>: orthocentre </a:t>
                </a:r>
                <a:r>
                  <a:rPr lang="en-IN" sz="2400">
                    <a:solidFill>
                      <a:srgbClr val="111827"/>
                    </a:solidFill>
                    <a:latin typeface="Cambria Math" panose="02040503050406030204" pitchFamily="18" charset="0"/>
                  </a:rPr>
                  <a:t>$=A+B+P-2O'$</a:t>
                </a:r>
                <a:r>
                  <a:rPr sz="2400" b="0">
                    <a:solidFill>
                      <a:srgbClr val="111827"/>
                    </a:solidFill>
                    <a:latin typeface="Arial"/>
                  </a:rPr>
                  <a:t>, so </a:t>
                </a:r>
                <a:r>
                  <a:rPr lang="en-IN" sz="2400">
                    <a:solidFill>
                      <a:srgbClr val="111827"/>
                    </a:solidFill>
                    <a:latin typeface="Cambria Math" panose="02040503050406030204" pitchFamily="18" charset="0"/>
                  </a:rPr>
                  <a:t>$(\alpha,\beta)=(3-2+1-2h,\,-1+3+1-2k)=(2-2h,\,3-2k)$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for every position of the circumcentre.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the numbers: </a:t>
                </a:r>
                <a14:m>
                  <m:oMath xmlns:m="http://schemas.openxmlformats.org/officeDocument/2006/math">
                    <m:sSup>
                      <m:e>
                        <m:r>
                          <a:rPr lang="en-IN" sz="2400" i="1">
                            <a:solidFill>
                              <a:srgbClr val="111827"/>
                            </a:solidFill>
                            <a:latin typeface="Cambria Math" panose="02040503050406030204" pitchFamily="18" charset="0"/>
                          </a:rPr>
                          <m:t>𝑂</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$\alpha+\beta=5-2(h+k)$</a:t>
                </a:r>
                <a:r>
                  <a:rPr sz="2400" b="0">
                    <a:solidFill>
                      <a:srgbClr val="111827"/>
                    </a:solidFill>
                    <a:latin typeface="Arial"/>
                  </a:rPr>
                  <a:t>, hence </a:t>
                </a:r>
                <a:r>
                  <a:rPr lang="en-IN" sz="2400">
                    <a:solidFill>
                      <a:srgbClr val="111827"/>
                    </a:solidFill>
                    <a:latin typeface="Cambria Math" panose="02040503050406030204" pitchFamily="18" charset="0"/>
                  </a:rPr>
                  <a:t>$(\alpha+\beta)+2(h+k)=5$</a:t>
                </a:r>
                <a:r>
                  <a:rPr sz="2400" b="0">
                    <a:solidFill>
                      <a:srgbClr val="111827"/>
                    </a:solidFill>
                    <a:latin typeface="Arial"/>
                  </a:rPr>
                  <a:t> for every position of the circumcentre.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the numbers: </a:t>
                </a:r>
                <a:r>
                  <a:rPr lang="en-IN" sz="2400">
                    <a:solidFill>
                      <a:srgbClr val="111827"/>
                    </a:solidFill>
                    <a:latin typeface="Cambria Math" panose="02040503050406030204" pitchFamily="18" charset="0"/>
                  </a:rPr>
                  <a:t>$O'=\left(-\frac{19}{2},-\frac{23}{2}\right)$</a:t>
                </a:r>
                <a:r>
                  <a:rPr sz="2400" b="0">
                    <a:solidFill>
                      <a:srgbClr val="111827"/>
                    </a:solidFill>
                    <a:latin typeface="Arial"/>
                  </a:rPr>
                  <a:t> gives </a:t>
                </a:r>
                <a:r>
                  <a:rPr lang="en-IN" sz="2400">
                    <a:solidFill>
                      <a:srgbClr val="111827"/>
                    </a:solidFill>
                    <a:latin typeface="Cambria Math" panose="02040503050406030204" pitchFamily="18" charset="0"/>
                  </a:rPr>
                  <a:t>$C=(2+19,\,3+23)=(21,26)$</a:t>
                </a:r>
                <a:r>
                  <a:rPr sz="2400" b="0">
                    <a:solidFill>
                      <a:srgbClr val="111827"/>
                    </a:solidFill>
                    <a:latin typeface="Arial"/>
                  </a:rPr>
                  <a:t> ✓.</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5</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$5$</a:t>
                </a:r>
                <a:endParaRPr sz="2800">
                  <a:solidFill>
                    <a:srgbClr val="15803D"/>
                  </a:solidFill>
                </a:endParaRPr>
              </a:p>
            </p:txBody>
          </p:sp>
        </mc:Fallback>
      </mc:AlternateContent>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triangle,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oMath>
                </a14:m>
                <a:r>
                  <a:rPr sz="2400" b="0">
                    <a:solidFill>
                      <a:srgbClr val="111827"/>
                    </a:solidFill>
                    <a:latin typeface="Arial"/>
                  </a:rPr>
                  <a:t> (vector form);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Orthocentric system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each is the orthocentre of the other three, and the circumcircle of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the reflection of the circumcircle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in the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(so the four triangles have equal circumradii).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expression mixes a vertex and a circumcentre, look for a vector identity that cancels the unknowns.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triangle, </a:t>
                </a:r>
                <a:r>
                  <a:rPr lang="en-IN" sz="2400">
                    <a:solidFill>
                      <a:srgbClr val="111827"/>
                    </a:solidFill>
                    <a:latin typeface="Cambria Math" panose="02040503050406030204" pitchFamily="18" charset="0"/>
                  </a:rPr>
                  <a:t>$H=A+B+C-2O$</a:t>
                </a:r>
                <a:r>
                  <a:rPr sz="2400" b="0">
                    <a:solidFill>
                      <a:srgbClr val="111827"/>
                    </a:solidFill>
                    <a:latin typeface="Arial"/>
                  </a:rPr>
                  <a:t> (vector form); </a:t>
                </a:r>
                <a:r>
                  <a:rPr lang="en-IN" sz="2400">
                    <a:solidFill>
                      <a:srgbClr val="111827"/>
                    </a:solidFill>
                    <a:latin typeface="Cambria Math" panose="02040503050406030204" pitchFamily="18" charset="0"/>
                  </a:rPr>
                  <a:t>$G=\frac{A+B+C}{3}$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Orthocentric system </a:t>
                </a:r>
                <a:r>
                  <a:rPr lang="en-IN" sz="2400">
                    <a:solidFill>
                      <a:srgbClr val="111827"/>
                    </a:solidFill>
                    <a:latin typeface="Cambria Math" panose="02040503050406030204" pitchFamily="18" charset="0"/>
                  </a:rPr>
                  <a:t>$\{A,B,C,H\}$</a:t>
                </a:r>
                <a:r>
                  <a:rPr sz="2400" b="0">
                    <a:solidFill>
                      <a:srgbClr val="111827"/>
                    </a:solidFill>
                    <a:latin typeface="Arial"/>
                  </a:rPr>
                  <a:t>: each is the orthocentre of the other three, and the circumcircle of </a:t>
                </a:r>
                <a:r>
                  <a:rPr lang="en-IN" sz="2400">
                    <a:solidFill>
                      <a:srgbClr val="111827"/>
                    </a:solidFill>
                    <a:latin typeface="Cambria Math" panose="02040503050406030204" pitchFamily="18" charset="0"/>
                  </a:rPr>
                  <a:t>$HAB$</a:t>
                </a:r>
                <a:r>
                  <a:rPr sz="2400" b="0">
                    <a:solidFill>
                      <a:srgbClr val="111827"/>
                    </a:solidFill>
                    <a:latin typeface="Arial"/>
                  </a:rPr>
                  <a:t> is the reflection of the circumcircle of </a:t>
                </a:r>
                <a:r>
                  <a:rPr lang="en-IN" sz="2400">
                    <a:solidFill>
                      <a:srgbClr val="111827"/>
                    </a:solidFill>
                    <a:latin typeface="Cambria Math" panose="02040503050406030204" pitchFamily="18" charset="0"/>
                  </a:rPr>
                  <a:t>$ABC$</a:t>
                </a:r>
                <a:r>
                  <a:rPr sz="2400" b="0">
                    <a:solidFill>
                      <a:srgbClr val="111827"/>
                    </a:solidFill>
                    <a:latin typeface="Arial"/>
                  </a:rPr>
                  <a:t> in the side </a:t>
                </a:r>
                <a:r>
                  <a:rPr lang="en-IN" sz="2400">
                    <a:solidFill>
                      <a:srgbClr val="111827"/>
                    </a:solidFill>
                    <a:latin typeface="Cambria Math" panose="02040503050406030204" pitchFamily="18" charset="0"/>
                  </a:rPr>
                  <a:t>$AB$</a:t>
                </a:r>
                <a:r>
                  <a:rPr sz="2400" b="0">
                    <a:solidFill>
                      <a:srgbClr val="111827"/>
                    </a:solidFill>
                    <a:latin typeface="Arial"/>
                  </a:rPr>
                  <a:t> (so the four triangles have equal circumradii).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expression mixes a vertex and a circumcentre, look for a vector identity that cancels the unknowns.</a:t>
                </a:r>
                <a:endParaRPr sz="2400">
                  <a:solidFill>
                    <a:srgbClr val="111827"/>
                  </a:solidFill>
                </a:endParaRPr>
              </a:p>
            </p:txBody>
          </p:sp>
        </mc:Fallback>
      </mc:AlternateContent>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Q42 – Q44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994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having the vertices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angles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If the points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 on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5994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triangle </a:t>
                </a:r>
                <a:r>
                  <a:rPr lang="en-IN" sz="2400">
                    <a:solidFill>
                      <a:srgbClr val="111827"/>
                    </a:solidFill>
                    <a:latin typeface="Cambria Math" panose="02040503050406030204" pitchFamily="18" charset="0"/>
                  </a:rPr>
                  <a:t>$ABC$</a:t>
                </a:r>
                <a:r>
                  <a:rPr sz="2400" b="0">
                    <a:solidFill>
                      <a:srgbClr val="111827"/>
                    </a:solidFill>
                    <a:latin typeface="Arial"/>
                  </a:rPr>
                  <a:t> having the vertices </a:t>
                </a:r>
                <a:r>
                  <a:rPr lang="en-IN" sz="2400">
                    <a:solidFill>
                      <a:srgbClr val="111827"/>
                    </a:solidFill>
                    <a:latin typeface="Cambria Math" panose="02040503050406030204" pitchFamily="18" charset="0"/>
                  </a:rPr>
                  <a:t>$A(1,2)$</a:t>
                </a:r>
                <a:r>
                  <a:rPr sz="2400" b="0">
                    <a:solidFill>
                      <a:srgbClr val="111827"/>
                    </a:solidFill>
                    <a:latin typeface="Arial"/>
                  </a:rPr>
                  <a:t>, </a:t>
                </a:r>
                <a:r>
                  <a:rPr lang="en-IN" sz="2400">
                    <a:solidFill>
                      <a:srgbClr val="111827"/>
                    </a:solidFill>
                    <a:latin typeface="Cambria Math" panose="02040503050406030204" pitchFamily="18" charset="0"/>
                  </a:rPr>
                  <a:t>$B(\alpha,\beta)$</a:t>
                </a:r>
                <a:r>
                  <a:rPr sz="2400" b="0">
                    <a:solidFill>
                      <a:srgbClr val="111827"/>
                    </a:solidFill>
                    <a:latin typeface="Arial"/>
                  </a:rPr>
                  <a:t> and </a:t>
                </a:r>
                <a:r>
                  <a:rPr lang="en-IN" sz="2400">
                    <a:solidFill>
                      <a:srgbClr val="111827"/>
                    </a:solidFill>
                    <a:latin typeface="Cambria Math" panose="02040503050406030204" pitchFamily="18" charset="0"/>
                  </a:rPr>
                  <a:t>$C(\gamma,\delta)$</a:t>
                </a:r>
                <a:r>
                  <a:rPr sz="2400" b="0">
                    <a:solidFill>
                      <a:srgbClr val="111827"/>
                    </a:solidFill>
                    <a:latin typeface="Arial"/>
                  </a:rPr>
                  <a:t> and angles </a:t>
                </a:r>
                <a:r>
                  <a:rPr lang="en-IN" sz="2400">
                    <a:solidFill>
                      <a:srgbClr val="111827"/>
                    </a:solidFill>
                    <a:latin typeface="Cambria Math" panose="02040503050406030204" pitchFamily="18" charset="0"/>
                  </a:rPr>
                  <a:t>$\angle ABC=\frac{\pi}{6}$</a:t>
                </a:r>
                <a:r>
                  <a:rPr sz="2400" b="0">
                    <a:solidFill>
                      <a:srgbClr val="111827"/>
                    </a:solidFill>
                    <a:latin typeface="Arial"/>
                  </a:rPr>
                  <a:t> and </a:t>
                </a:r>
                <a:r>
                  <a:rPr lang="en-IN" sz="2400">
                    <a:solidFill>
                      <a:srgbClr val="111827"/>
                    </a:solidFill>
                    <a:latin typeface="Cambria Math" panose="02040503050406030204" pitchFamily="18" charset="0"/>
                  </a:rPr>
                  <a:t>$\angle BAC=\frac{2\pi}{3}$</a:t>
                </a:r>
                <a:r>
                  <a:rPr sz="2400" b="0">
                    <a:solidFill>
                      <a:srgbClr val="111827"/>
                    </a:solidFill>
                    <a:latin typeface="Arial"/>
                  </a:rPr>
                  <a:t>. If the points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lie on the line </a:t>
                </a:r>
                <a:r>
                  <a:rPr lang="en-IN" sz="2400">
                    <a:solidFill>
                      <a:srgbClr val="111827"/>
                    </a:solidFill>
                    <a:latin typeface="Cambria Math" panose="02040503050406030204" pitchFamily="18" charset="0"/>
                  </a:rPr>
                  <a:t>$y=x+4$</a:t>
                </a:r>
                <a:r>
                  <a:rPr sz="2400" b="0">
                    <a:solidFill>
                      <a:srgbClr val="111827"/>
                    </a:solidFill>
                    <a:latin typeface="Arial"/>
                  </a:rPr>
                  <a:t>, then </a:t>
                </a:r>
                <a:r>
                  <a:rPr lang="en-IN" sz="2400">
                    <a:solidFill>
                      <a:srgbClr val="111827"/>
                    </a:solidFill>
                    <a:latin typeface="Cambria Math" panose="02040503050406030204" pitchFamily="18" charset="0"/>
                  </a:rPr>
                  <a:t>$\alpha^2+\gamma^2$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41081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Triangle with given angles and vertices on a line, Angle between two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angle at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is also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both make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 with the line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find their slopes with the tangent formula.</a:t>
                </a:r>
                <a:endParaRPr sz="2400">
                  <a:solidFill>
                    <a:srgbClr val="78350F"/>
                  </a:solidFill>
                </a:endParaRPr>
              </a:p>
            </p:txBody>
          </p:sp>
        </mc:Choice>
        <mc:Fallback>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angle at </a:t>
                </a:r>
                <a:r>
                  <a:rPr lang="en-IN" sz="2400">
                    <a:solidFill>
                      <a:srgbClr val="78350F"/>
                    </a:solidFill>
                    <a:latin typeface="Cambria Math" panose="02040503050406030204" pitchFamily="18" charset="0"/>
                  </a:rPr>
                  <a:t>$C$</a:t>
                </a:r>
                <a:r>
                  <a:rPr sz="2400" b="0">
                    <a:solidFill>
                      <a:srgbClr val="78350F"/>
                    </a:solidFill>
                    <a:latin typeface="Arial"/>
                  </a:rPr>
                  <a:t> is also </a:t>
                </a:r>
                <a:r>
                  <a:rPr lang="en-IN" sz="2400">
                    <a:solidFill>
                      <a:srgbClr val="78350F"/>
                    </a:solidFill>
                    <a:latin typeface="Cambria Math" panose="02040503050406030204" pitchFamily="18" charset="0"/>
                  </a:rPr>
                  <a:t>$\frac{\pi}{6}$</a:t>
                </a:r>
                <a:r>
                  <a:rPr sz="2400" b="0">
                    <a:solidFill>
                      <a:srgbClr val="78350F"/>
                    </a:solidFill>
                    <a:latin typeface="Arial"/>
                  </a:rPr>
                  <a:t>, so </a:t>
                </a:r>
                <a:r>
                  <a:rPr lang="en-IN" sz="2400">
                    <a:solidFill>
                      <a:srgbClr val="78350F"/>
                    </a:solidFill>
                    <a:latin typeface="Cambria Math" panose="02040503050406030204" pitchFamily="18" charset="0"/>
                  </a:rPr>
                  <a:t>$AB$</a:t>
                </a:r>
                <a:r>
                  <a:rPr sz="2400" b="0">
                    <a:solidFill>
                      <a:srgbClr val="78350F"/>
                    </a:solidFill>
                    <a:latin typeface="Arial"/>
                  </a:rPr>
                  <a:t> and </a:t>
                </a:r>
                <a:r>
                  <a:rPr lang="en-IN" sz="2400">
                    <a:solidFill>
                      <a:srgbClr val="78350F"/>
                    </a:solidFill>
                    <a:latin typeface="Cambria Math" panose="02040503050406030204" pitchFamily="18" charset="0"/>
                  </a:rPr>
                  <a:t>$AC$</a:t>
                </a:r>
                <a:r>
                  <a:rPr sz="2400" b="0">
                    <a:solidFill>
                      <a:srgbClr val="78350F"/>
                    </a:solidFill>
                    <a:latin typeface="Arial"/>
                  </a:rPr>
                  <a:t> both make </a:t>
                </a:r>
                <a:r>
                  <a:rPr lang="en-IN" sz="2400">
                    <a:solidFill>
                      <a:srgbClr val="78350F"/>
                    </a:solidFill>
                    <a:latin typeface="Cambria Math" panose="02040503050406030204" pitchFamily="18" charset="0"/>
                  </a:rPr>
                  <a:t>$\frac{\pi}{6}$</a:t>
                </a:r>
                <a:r>
                  <a:rPr sz="2400" b="0">
                    <a:solidFill>
                      <a:srgbClr val="78350F"/>
                    </a:solidFill>
                    <a:latin typeface="Arial"/>
                  </a:rPr>
                  <a:t> with the line </a:t>
                </a:r>
                <a:r>
                  <a:rPr lang="en-IN" sz="2400">
                    <a:solidFill>
                      <a:srgbClr val="78350F"/>
                    </a:solidFill>
                    <a:latin typeface="Cambria Math" panose="02040503050406030204" pitchFamily="18" charset="0"/>
                  </a:rPr>
                  <a:t>$BC$</a:t>
                </a:r>
                <a:r>
                  <a:rPr sz="2400" b="0">
                    <a:solidFill>
                      <a:srgbClr val="78350F"/>
                    </a:solidFill>
                    <a:latin typeface="Arial"/>
                  </a:rPr>
                  <a:t>: find their slopes with the tangent formula.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Both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make an angle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(slope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through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(1), and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B=\frac{\pi}{6}$</a:t>
                </a:r>
                <a:r>
                  <a:rPr sz="2400" b="0">
                    <a:solidFill>
                      <a:srgbClr val="111827"/>
                    </a:solidFill>
                    <a:latin typeface="Arial"/>
                  </a:rPr>
                  <a:t> and </a:t>
                </a:r>
                <a:r>
                  <a:rPr lang="en-IN" sz="2400">
                    <a:solidFill>
                      <a:srgbClr val="111827"/>
                    </a:solidFill>
                    <a:latin typeface="Cambria Math" panose="02040503050406030204" pitchFamily="18" charset="0"/>
                  </a:rPr>
                  <a:t>$\angle A=\frac{2\pi}{3}$</a:t>
                </a:r>
                <a:r>
                  <a:rPr sz="2400" b="0">
                    <a:solidFill>
                      <a:srgbClr val="111827"/>
                    </a:solidFill>
                    <a:latin typeface="Arial"/>
                  </a:rPr>
                  <a:t>, so </a:t>
                </a:r>
                <a:r>
                  <a:rPr lang="en-IN" sz="2400">
                    <a:solidFill>
                      <a:srgbClr val="111827"/>
                    </a:solidFill>
                    <a:latin typeface="Cambria Math" panose="02040503050406030204" pitchFamily="18" charset="0"/>
                  </a:rPr>
                  <a:t>$\angle C=\pi-\frac{\pi}{6}-\frac{2\pi}{3}=\frac{\pi}{6}$</a:t>
                </a:r>
                <a:r>
                  <a:rPr sz="2400" b="0">
                    <a:solidFill>
                      <a:srgbClr val="111827"/>
                    </a:solidFill>
                    <a:latin typeface="Arial"/>
                  </a:rPr>
                  <a:t>. Both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$AC$</a:t>
                </a:r>
                <a:r>
                  <a:rPr sz="2400" b="0">
                    <a:solidFill>
                      <a:srgbClr val="111827"/>
                    </a:solidFill>
                    <a:latin typeface="Arial"/>
                  </a:rPr>
                  <a:t> make an angle </a:t>
                </a:r>
                <a:r>
                  <a:rPr lang="en-IN" sz="2400">
                    <a:solidFill>
                      <a:srgbClr val="111827"/>
                    </a:solidFill>
                    <a:latin typeface="Cambria Math" panose="02040503050406030204" pitchFamily="18" charset="0"/>
                  </a:rPr>
                  <a:t>$\frac{\pi}{6}$</a:t>
                </a:r>
                <a:r>
                  <a:rPr sz="2400" b="0">
                    <a:solidFill>
                      <a:srgbClr val="111827"/>
                    </a:solidFill>
                    <a:latin typeface="Arial"/>
                  </a:rPr>
                  <a:t> with </a:t>
                </a:r>
                <a:r>
                  <a:rPr lang="en-IN" sz="2400">
                    <a:solidFill>
                      <a:srgbClr val="111827"/>
                    </a:solidFill>
                    <a:latin typeface="Cambria Math" panose="02040503050406030204" pitchFamily="18" charset="0"/>
                  </a:rPr>
                  <a:t>$BC:y=x+4$</a:t>
                </a:r>
                <a:r>
                  <a:rPr sz="2400" b="0">
                    <a:solidFill>
                      <a:srgbClr val="111827"/>
                    </a:solidFill>
                    <a:latin typeface="Arial"/>
                  </a:rPr>
                  <a:t> (slope </a:t>
                </a:r>
                <a:r>
                  <a:rPr lang="en-IN" sz="2400">
                    <a:solidFill>
                      <a:srgbClr val="111827"/>
                    </a:solidFill>
                    <a:latin typeface="Cambria Math" panose="02040503050406030204" pitchFamily="18" charset="0"/>
                  </a:rPr>
                  <a:t>$m_1=1$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through </a:t>
                </a:r>
                <a:r>
                  <a:rPr lang="en-IN" sz="2400">
                    <a:solidFill>
                      <a:srgbClr val="111827"/>
                    </a:solidFill>
                    <a:latin typeface="Cambria Math" panose="02040503050406030204" pitchFamily="18" charset="0"/>
                  </a:rPr>
                  <a:t>$A(1,2)$</a:t>
                </a:r>
                <a:r>
                  <a:rPr sz="2400" b="0">
                    <a:solidFill>
                      <a:srgbClr val="111827"/>
                    </a:solidFill>
                    <a:latin typeface="Arial"/>
                  </a:rPr>
                  <a:t> with slope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$y-2=m(x-1)$</a:t>
                </a:r>
                <a:r>
                  <a:rPr sz="2400" b="0">
                    <a:solidFill>
                      <a:srgbClr val="111827"/>
                    </a:solidFill>
                    <a:latin typeface="Arial"/>
                  </a:rPr>
                  <a:t> ... (1), and </a:t>
                </a:r>
                <a:r>
                  <a:rPr lang="en-IN" sz="2400">
                    <a:solidFill>
                      <a:srgbClr val="111827"/>
                    </a:solidFill>
                    <a:latin typeface="Cambria Math" panose="02040503050406030204" pitchFamily="18" charset="0"/>
                  </a:rPr>
                  <a:t>$\tan\frac{\pi}{6}=\left|\frac{m-1}{1+m}\right|=\frac{1}{\sqrt{3}}$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gives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the two lines are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γ</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56</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gives </a:t>
                </a:r>
                <a:r>
                  <a:rPr lang="en-IN" sz="2400">
                    <a:solidFill>
                      <a:srgbClr val="111827"/>
                    </a:solidFill>
                    <a:latin typeface="Cambria Math" panose="02040503050406030204" pitchFamily="18" charset="0"/>
                  </a:rPr>
                  <a:t>$m=2\pm\sqrt{3}$</a:t>
                </a:r>
                <a:r>
                  <a:rPr sz="2400" b="0">
                    <a:solidFill>
                      <a:srgbClr val="111827"/>
                    </a:solidFill>
                    <a:latin typeface="Arial"/>
                  </a:rPr>
                  <a:t>, so the two lines are </a:t>
                </a:r>
                <a:r>
                  <a:rPr lang="en-IN" sz="2400">
                    <a:solidFill>
                      <a:srgbClr val="111827"/>
                    </a:solidFill>
                    <a:latin typeface="Cambria Math" panose="02040503050406030204" pitchFamily="18" charset="0"/>
                  </a:rPr>
                  <a:t>$y-2=\left(2\pm\sqrt{3}\right)(x-1)$</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 with </a:t>
                </a:r>
                <a:r>
                  <a:rPr lang="en-IN" sz="2400">
                    <a:solidFill>
                      <a:srgbClr val="111827"/>
                    </a:solidFill>
                    <a:latin typeface="Cambria Math" panose="02040503050406030204" pitchFamily="18" charset="0"/>
                  </a:rPr>
                  <a:t>$y=x+4$</a:t>
                </a:r>
                <a:r>
                  <a:rPr sz="2400" b="0">
                    <a:solidFill>
                      <a:srgbClr val="111827"/>
                    </a:solidFill>
                    <a:latin typeface="Arial"/>
                  </a:rPr>
                  <a:t>: </a:t>
                </a:r>
                <a:r>
                  <a:rPr lang="en-IN" sz="2400">
                    <a:solidFill>
                      <a:srgbClr val="111827"/>
                    </a:solidFill>
                    <a:latin typeface="Cambria Math" panose="02040503050406030204" pitchFamily="18" charset="0"/>
                  </a:rPr>
                  <a:t>$x+2=\left(2\pm\sqrt{3}\right)(x-1)$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$m=2+\sqrt{3}$</a:t>
                </a:r>
                <a:r>
                  <a:rPr sz="2400" b="0">
                    <a:solidFill>
                      <a:srgbClr val="111827"/>
                    </a:solidFill>
                    <a:latin typeface="Arial"/>
                  </a:rPr>
                  <a:t>: </a:t>
                </a:r>
                <a:r>
                  <a:rPr lang="en-IN" sz="2400">
                    <a:solidFill>
                      <a:srgbClr val="111827"/>
                    </a:solidFill>
                    <a:latin typeface="Cambria Math" panose="02040503050406030204" pitchFamily="18" charset="0"/>
                  </a:rPr>
                  <a:t>$(1+\sqrt{3})x=4+\sqrt{3}$</a:t>
                </a:r>
                <a:r>
                  <a:rPr sz="2400" b="0">
                    <a:solidFill>
                      <a:srgbClr val="111827"/>
                    </a:solidFill>
                    <a:latin typeface="Arial"/>
                  </a:rPr>
                  <a:t>, so </a:t>
                </a:r>
                <a:r>
                  <a:rPr lang="en-IN" sz="2400">
                    <a:solidFill>
                      <a:srgbClr val="111827"/>
                    </a:solidFill>
                    <a:latin typeface="Cambria Math" panose="02040503050406030204" pitchFamily="18" charset="0"/>
                  </a:rPr>
                  <a:t>$\alpha=\frac{4+\sqrt{3}}{1+\sqrt{3}}$</a:t>
                </a:r>
                <a:r>
                  <a:rPr sz="2400" b="0">
                    <a:solidFill>
                      <a:srgbClr val="111827"/>
                    </a:solidFill>
                    <a:latin typeface="Arial"/>
                  </a:rPr>
                  <a:t> (or </a:t>
                </a:r>
                <a:r>
                  <a:rPr lang="en-IN" sz="2400">
                    <a:solidFill>
                      <a:srgbClr val="111827"/>
                    </a:solidFill>
                    <a:latin typeface="Cambria Math" panose="02040503050406030204" pitchFamily="18" charset="0"/>
                  </a:rPr>
                  <a:t>$\gamma$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$m=2-\sqrt{3}$</a:t>
                </a:r>
                <a:r>
                  <a:rPr sz="2400" b="0">
                    <a:solidFill>
                      <a:srgbClr val="111827"/>
                    </a:solidFill>
                    <a:latin typeface="Arial"/>
                  </a:rPr>
                  <a:t>: </a:t>
                </a:r>
                <a:r>
                  <a:rPr lang="en-IN" sz="2400">
                    <a:solidFill>
                      <a:srgbClr val="111827"/>
                    </a:solidFill>
                    <a:latin typeface="Cambria Math" panose="02040503050406030204" pitchFamily="18" charset="0"/>
                  </a:rPr>
                  <a:t>$(\sqrt{3}-1)x=\sqrt{3}-4$</a:t>
                </a:r>
                <a:r>
                  <a:rPr sz="2400" b="0">
                    <a:solidFill>
                      <a:srgbClr val="111827"/>
                    </a:solidFill>
                    <a:latin typeface="Arial"/>
                  </a:rPr>
                  <a:t>, so </a:t>
                </a:r>
                <a:r>
                  <a:rPr lang="en-IN" sz="2400">
                    <a:solidFill>
                      <a:srgbClr val="111827"/>
                    </a:solidFill>
                    <a:latin typeface="Cambria Math" panose="02040503050406030204" pitchFamily="18" charset="0"/>
                  </a:rPr>
                  <a:t>$\gamma=\frac{4-\sqrt{3}}{1-\sqrt{3}}$</a:t>
                </a:r>
                <a:r>
                  <a:rPr sz="2400" b="0">
                    <a:solidFill>
                      <a:srgbClr val="111827"/>
                    </a:solidFill>
                    <a:latin typeface="Arial"/>
                  </a:rPr>
                  <a:t> (or </a:t>
                </a:r>
                <a:r>
                  <a:rPr lang="en-IN" sz="2400">
                    <a:solidFill>
                      <a:srgbClr val="111827"/>
                    </a:solidFill>
                    <a:latin typeface="Cambria Math" panose="02040503050406030204" pitchFamily="18" charset="0"/>
                  </a:rPr>
                  <a:t>$\alpha$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$\alpha=\frac{3\sqrt{3}-1}{2}$</a:t>
                </a:r>
                <a:r>
                  <a:rPr sz="2400" b="0">
                    <a:solidFill>
                      <a:srgbClr val="111827"/>
                    </a:solidFill>
                    <a:latin typeface="Arial"/>
                  </a:rPr>
                  <a:t> and </a:t>
                </a:r>
                <a:r>
                  <a:rPr lang="en-IN" sz="2400">
                    <a:solidFill>
                      <a:srgbClr val="111827"/>
                    </a:solidFill>
                    <a:latin typeface="Cambria Math" panose="02040503050406030204" pitchFamily="18" charset="0"/>
                  </a:rPr>
                  <a:t>$\gamma=-\frac{3\sqrt{3}+1}{2}$</a:t>
                </a:r>
                <a:r>
                  <a:rPr sz="2400" b="0">
                    <a:solidFill>
                      <a:srgbClr val="111827"/>
                    </a:solidFill>
                    <a:latin typeface="Arial"/>
                  </a:rPr>
                  <a:t>, so </a:t>
                </a:r>
                <a:r>
                  <a:rPr lang="en-IN" sz="2400">
                    <a:solidFill>
                      <a:srgbClr val="111827"/>
                    </a:solidFill>
                    <a:latin typeface="Cambria Math" panose="02040503050406030204" pitchFamily="18" charset="0"/>
                  </a:rPr>
                  <a:t>$\alpha^2+\gamma^2=\frac{(3\sqrt{3}-1)^2+(3\sqrt{3}+1)^2}{4}=\frac{56}{4}=14$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14</a:t>
            </a:r>
            <a:endParaRPr sz="2800">
              <a:solidFill>
                <a:srgbClr val="15803D"/>
              </a:solidFill>
            </a:endParaRP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Drop the perpendicular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𝑀</m:t>
                    </m:r>
                  </m:oMath>
                </a14:m>
                <a:r>
                  <a:rPr sz="2400" b="0">
                    <a:solidFill>
                      <a:srgbClr val="78350F"/>
                    </a:solidFill>
                    <a:latin typeface="Arial"/>
                  </a:rPr>
                  <a:t> onto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in the isosceles triangle </a:t>
                </a:r>
                <a14:m>
                  <m:oMath xmlns:m="http://schemas.openxmlformats.org/officeDocument/2006/math">
                    <m:r>
                      <a:rPr lang="en-IN" sz="2400" i="1">
                        <a:solidFill>
                          <a:srgbClr val="78350F"/>
                        </a:solidFill>
                        <a:latin typeface="Cambria Math" panose="02040503050406030204" pitchFamily="18" charset="0"/>
                      </a:rPr>
                      <m:t>𝑀</m:t>
                    </m:r>
                  </m:oMath>
                </a14:m>
                <a:r>
                  <a:rPr sz="2400" b="0">
                    <a:solidFill>
                      <a:srgbClr val="78350F"/>
                    </a:solidFill>
                    <a:latin typeface="Arial"/>
                  </a:rPr>
                  <a:t> is the midpoint, and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𝑀</m:t>
                    </m:r>
                    <m:r>
                      <m:rPr>
                        <m:sty m:val="p"/>
                      </m:rPr>
                      <a:rPr lang="en-IN" sz="2400">
                        <a:solidFill>
                          <a:srgbClr val="78350F"/>
                        </a:solidFill>
                        <a:latin typeface="Cambria Math" panose="02040503050406030204" pitchFamily="18" charset="0"/>
                      </a:rPr>
                      <m:t>tan</m:t>
                    </m:r>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Drop the perpendicular </a:t>
                </a:r>
                <a:r>
                  <a:rPr lang="en-IN" sz="2400">
                    <a:solidFill>
                      <a:srgbClr val="78350F"/>
                    </a:solidFill>
                    <a:latin typeface="Cambria Math" panose="02040503050406030204" pitchFamily="18" charset="0"/>
                  </a:rPr>
                  <a:t>$AM$</a:t>
                </a:r>
                <a:r>
                  <a:rPr sz="2400" b="0">
                    <a:solidFill>
                      <a:srgbClr val="78350F"/>
                    </a:solidFill>
                    <a:latin typeface="Arial"/>
                  </a:rPr>
                  <a:t> onto </a:t>
                </a:r>
                <a:r>
                  <a:rPr lang="en-IN" sz="2400">
                    <a:solidFill>
                      <a:srgbClr val="78350F"/>
                    </a:solidFill>
                    <a:latin typeface="Cambria Math" panose="02040503050406030204" pitchFamily="18" charset="0"/>
                  </a:rPr>
                  <a:t>$BC$</a:t>
                </a:r>
                <a:r>
                  <a:rPr sz="2400" b="0">
                    <a:solidFill>
                      <a:srgbClr val="78350F"/>
                    </a:solidFill>
                    <a:latin typeface="Arial"/>
                  </a:rPr>
                  <a:t>: in the isosceles triangle </a:t>
                </a:r>
                <a:r>
                  <a:rPr lang="en-IN" sz="2400">
                    <a:solidFill>
                      <a:srgbClr val="78350F"/>
                    </a:solidFill>
                    <a:latin typeface="Cambria Math" panose="02040503050406030204" pitchFamily="18" charset="0"/>
                  </a:rPr>
                  <a:t>$M$</a:t>
                </a:r>
                <a:r>
                  <a:rPr sz="2400" b="0">
                    <a:solidFill>
                      <a:srgbClr val="78350F"/>
                    </a:solidFill>
                    <a:latin typeface="Arial"/>
                  </a:rPr>
                  <a:t> is the midpoint, and </a:t>
                </a:r>
                <a:r>
                  <a:rPr lang="en-IN" sz="2400">
                    <a:solidFill>
                      <a:srgbClr val="78350F"/>
                    </a:solidFill>
                    <a:latin typeface="Cambria Math" panose="02040503050406030204" pitchFamily="18" charset="0"/>
                  </a:rPr>
                  <a:t>$BM=AM\tan60^\circ$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(base angles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the altitude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Foot of the perpendicular from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$AB=AC$</a:t>
                </a:r>
                <a:r>
                  <a:rPr sz="2400" b="0">
                    <a:solidFill>
                      <a:srgbClr val="111827"/>
                    </a:solidFill>
                    <a:latin typeface="Arial"/>
                  </a:rPr>
                  <a:t> (base angles </a:t>
                </a:r>
                <a:r>
                  <a:rPr lang="en-IN" sz="2400">
                    <a:solidFill>
                      <a:srgbClr val="111827"/>
                    </a:solidFill>
                    <a:latin typeface="Cambria Math" panose="02040503050406030204" pitchFamily="18" charset="0"/>
                  </a:rPr>
                  <a:t>$\frac{\pi}{6}$</a:t>
                </a:r>
                <a:r>
                  <a:rPr sz="2400" b="0">
                    <a:solidFill>
                      <a:srgbClr val="111827"/>
                    </a:solidFill>
                    <a:latin typeface="Arial"/>
                  </a:rPr>
                  <a:t>) and </a:t>
                </a:r>
                <a:r>
                  <a:rPr lang="en-IN" sz="2400">
                    <a:solidFill>
                      <a:srgbClr val="111827"/>
                    </a:solidFill>
                    <a:latin typeface="Cambria Math" panose="02040503050406030204" pitchFamily="18" charset="0"/>
                  </a:rPr>
                  <a:t>$\angle A=120^\circ$</a:t>
                </a:r>
                <a:r>
                  <a:rPr sz="2400" b="0">
                    <a:solidFill>
                      <a:srgbClr val="111827"/>
                    </a:solidFill>
                    <a:latin typeface="Arial"/>
                  </a:rPr>
                  <a:t>, so the altitude </a:t>
                </a:r>
                <a:r>
                  <a:rPr lang="en-IN" sz="2400">
                    <a:solidFill>
                      <a:srgbClr val="111827"/>
                    </a:solidFill>
                    <a:latin typeface="Cambria Math" panose="02040503050406030204" pitchFamily="18" charset="0"/>
                  </a:rPr>
                  <a:t>$AM$</a:t>
                </a:r>
                <a:r>
                  <a:rPr sz="2400" b="0">
                    <a:solidFill>
                      <a:srgbClr val="111827"/>
                    </a:solidFill>
                    <a:latin typeface="Arial"/>
                  </a:rPr>
                  <a:t> to </a:t>
                </a:r>
                <a:r>
                  <a:rPr lang="en-IN" sz="2400">
                    <a:solidFill>
                      <a:srgbClr val="111827"/>
                    </a:solidFill>
                    <a:latin typeface="Cambria Math" panose="02040503050406030204" pitchFamily="18" charset="0"/>
                  </a:rPr>
                  <a:t>$BC$</a:t>
                </a:r>
                <a:r>
                  <a:rPr sz="2400" b="0">
                    <a:solidFill>
                      <a:srgbClr val="111827"/>
                    </a:solidFill>
                    <a:latin typeface="Arial"/>
                  </a:rPr>
                  <a:t> bisects </a:t>
                </a:r>
                <a:r>
                  <a:rPr lang="en-IN" sz="2400">
                    <a:solidFill>
                      <a:srgbClr val="111827"/>
                    </a:solidFill>
                    <a:latin typeface="Cambria Math" panose="02040503050406030204" pitchFamily="18" charset="0"/>
                  </a:rPr>
                  <a:t>$\angle A$</a:t>
                </a:r>
                <a:r>
                  <a:rPr sz="2400" b="0">
                    <a:solidFill>
                      <a:srgbClr val="111827"/>
                    </a:solidFill>
                    <a:latin typeface="Arial"/>
                  </a:rPr>
                  <a:t> and </a:t>
                </a:r>
                <a:r>
                  <a:rPr lang="en-IN" sz="2400">
                    <a:solidFill>
                      <a:srgbClr val="111827"/>
                    </a:solidFill>
                    <a:latin typeface="Cambria Math" panose="02040503050406030204" pitchFamily="18" charset="0"/>
                  </a:rPr>
                  <a:t>$M$</a:t>
                </a:r>
                <a:r>
                  <a:rPr sz="2400" b="0">
                    <a:solidFill>
                      <a:srgbClr val="111827"/>
                    </a:solidFill>
                    <a:latin typeface="Arial"/>
                  </a:rPr>
                  <a:t> is the midpoint of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$\angle BAM=60^\circ$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Foot of the perpendicular from </a:t>
                </a:r>
                <a:r>
                  <a:rPr lang="en-IN" sz="2400">
                    <a:solidFill>
                      <a:srgbClr val="111827"/>
                    </a:solidFill>
                    <a:latin typeface="Cambria Math" panose="02040503050406030204" pitchFamily="18" charset="0"/>
                  </a:rPr>
                  <a:t>$A(1,2)$</a:t>
                </a:r>
                <a:r>
                  <a:rPr sz="2400" b="0">
                    <a:solidFill>
                      <a:srgbClr val="111827"/>
                    </a:solidFill>
                    <a:latin typeface="Arial"/>
                  </a:rPr>
                  <a:t> to </a:t>
                </a:r>
                <a:r>
                  <a:rPr lang="en-IN" sz="2400">
                    <a:solidFill>
                      <a:srgbClr val="111827"/>
                    </a:solidFill>
                    <a:latin typeface="Cambria Math" panose="02040503050406030204" pitchFamily="18" charset="0"/>
                  </a:rPr>
                  <a:t>$x-y+4=0$</a:t>
                </a:r>
                <a:r>
                  <a:rPr sz="2400" b="0">
                    <a:solidFill>
                      <a:srgbClr val="111827"/>
                    </a:solidFill>
                    <a:latin typeface="Arial"/>
                  </a:rPr>
                  <a:t>: </a:t>
                </a:r>
                <a:r>
                  <a:rPr lang="en-IN" sz="2400">
                    <a:solidFill>
                      <a:srgbClr val="111827"/>
                    </a:solidFill>
                    <a:latin typeface="Cambria Math" panose="02040503050406030204" pitchFamily="18" charset="0"/>
                  </a:rPr>
                  <a:t>$M=A-\frac{1-2+4}{2}(1,-1)=\left(-\frac{1}{2},\frac{7}{2}\right)$</a:t>
                </a:r>
                <a:r>
                  <a:rPr sz="2400" b="0">
                    <a:solidFill>
                      <a:srgbClr val="111827"/>
                    </a:solidFill>
                    <a:latin typeface="Arial"/>
                  </a:rPr>
                  <a:t>, and </a:t>
                </a:r>
                <a:r>
                  <a:rPr lang="en-IN" sz="2400">
                    <a:solidFill>
                      <a:srgbClr val="111827"/>
                    </a:solidFill>
                    <a:latin typeface="Cambria Math" panose="02040503050406030204" pitchFamily="18" charset="0"/>
                  </a:rPr>
                  <a:t>$AM=\frac{3}{\sqrt{2}}$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Along the line (direction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the offset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𝑀</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$BM=AM\tan60^\circ=\frac{3\sqrt{3}}{\sqrt{2}}$</a:t>
                </a:r>
                <a:r>
                  <a:rPr sz="2400" b="0">
                    <a:solidFill>
                      <a:srgbClr val="111827"/>
                    </a:solidFill>
                    <a:latin typeface="Arial"/>
                  </a:rPr>
                  <a:t>. Along the line (direction </a:t>
                </a:r>
                <a:r>
                  <a:rPr lang="en-IN" sz="2400">
                    <a:solidFill>
                      <a:srgbClr val="111827"/>
                    </a:solidFill>
                    <a:latin typeface="Cambria Math" panose="02040503050406030204" pitchFamily="18" charset="0"/>
                  </a:rPr>
                  <a:t>$\frac{(1,1)}{\sqrt{2}}$</a:t>
                </a:r>
                <a:r>
                  <a:rPr sz="2400" b="0">
                    <a:solidFill>
                      <a:srgbClr val="111827"/>
                    </a:solidFill>
                    <a:latin typeface="Arial"/>
                  </a:rPr>
                  <a:t>) the offset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$\frac{BM}{\sqrt{2}}=\frac{3\sqrt{3}}{2}$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$\alpha,\gamma=-\frac{1}{2}\pm\frac{3\sqrt{3}}{2}$</a:t>
                </a:r>
                <a:r>
                  <a:rPr sz="2400" b="0">
                    <a:solidFill>
                      <a:srgbClr val="111827"/>
                    </a:solidFill>
                    <a:latin typeface="Arial"/>
                  </a:rPr>
                  <a:t> and </a:t>
                </a:r>
                <a:r>
                  <a:rPr lang="en-IN" sz="2400">
                    <a:solidFill>
                      <a:srgbClr val="111827"/>
                    </a:solidFill>
                    <a:latin typeface="Cambria Math" panose="02040503050406030204" pitchFamily="18" charset="0"/>
                  </a:rPr>
                  <a:t>$\alpha^2+\gamma^2=2\left(\frac{1}{4}+\frac{27}{4}\right)=14$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14</a:t>
            </a:r>
            <a:endParaRPr sz="2800">
              <a:solidFill>
                <a:srgbClr val="15803D"/>
              </a:solidFill>
            </a:endParaRP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 where the two lines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meet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 slopes are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foot of the perpendicular from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$\angle A=120^\circ$</a:t>
                </a:r>
                <a:r>
                  <a:rPr sz="2400" b="0">
                    <a:solidFill>
                      <a:srgbClr val="111827"/>
                    </a:solidFill>
                    <a:latin typeface="Arial"/>
                  </a:rPr>
                  <a:t> and </a:t>
                </a:r>
                <a:r>
                  <a:rPr lang="en-IN" sz="2400">
                    <a:solidFill>
                      <a:srgbClr val="111827"/>
                    </a:solidFill>
                    <a:latin typeface="Cambria Math" panose="02040503050406030204" pitchFamily="18" charset="0"/>
                  </a:rPr>
                  <a:t>$AB=AC$</a:t>
                </a:r>
                <a:r>
                  <a:rPr sz="2400" b="0">
                    <a:solidFill>
                      <a:srgbClr val="111827"/>
                    </a:solidFill>
                    <a:latin typeface="Arial"/>
                  </a:rPr>
                  <a:t>, then </a:t>
                </a:r>
                <a:r>
                  <a:rPr lang="en-IN" sz="2400">
                    <a:solidFill>
                      <a:srgbClr val="111827"/>
                    </a:solidFill>
                    <a:latin typeface="Cambria Math" panose="02040503050406030204" pitchFamily="18" charset="0"/>
                  </a:rPr>
                  <a:t>$\angle B=\angle C=30^\circ$</a:t>
                </a:r>
                <a:r>
                  <a:rPr sz="2400" b="0">
                    <a:solidFill>
                      <a:srgbClr val="111827"/>
                    </a:solidFill>
                    <a:latin typeface="Arial"/>
                  </a:rPr>
                  <a:t> and </a:t>
                </a:r>
                <a:r>
                  <a:rPr lang="en-IN" sz="2400">
                    <a:solidFill>
                      <a:srgbClr val="111827"/>
                    </a:solidFill>
                    <a:latin typeface="Cambria Math" panose="02040503050406030204" pitchFamily="18" charset="0"/>
                  </a:rPr>
                  <a:t>$BC=\sqrt{3}\,AB$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lie where the two lines through </a:t>
                </a:r>
                <a:r>
                  <a:rPr lang="en-IN" sz="2400">
                    <a:solidFill>
                      <a:srgbClr val="111827"/>
                    </a:solidFill>
                    <a:latin typeface="Cambria Math" panose="02040503050406030204" pitchFamily="18" charset="0"/>
                  </a:rPr>
                  <a:t>$A$</a:t>
                </a:r>
                <a:r>
                  <a:rPr sz="2400" b="0">
                    <a:solidFill>
                      <a:srgbClr val="111827"/>
                    </a:solidFill>
                    <a:latin typeface="Arial"/>
                  </a:rPr>
                  <a:t> at </a:t>
                </a:r>
                <a:r>
                  <a:rPr lang="en-IN" sz="2400">
                    <a:solidFill>
                      <a:srgbClr val="111827"/>
                    </a:solidFill>
                    <a:latin typeface="Cambria Math" panose="02040503050406030204" pitchFamily="18" charset="0"/>
                  </a:rPr>
                  <a:t>$\pm\theta$</a:t>
                </a:r>
                <a:r>
                  <a:rPr sz="2400" b="0">
                    <a:solidFill>
                      <a:srgbClr val="111827"/>
                    </a:solidFill>
                    <a:latin typeface="Arial"/>
                  </a:rPr>
                  <a:t> to </a:t>
                </a:r>
                <a:r>
                  <a:rPr lang="en-IN" sz="2400">
                    <a:solidFill>
                      <a:srgbClr val="111827"/>
                    </a:solidFill>
                    <a:latin typeface="Cambria Math" panose="02040503050406030204" pitchFamily="18" charset="0"/>
                  </a:rPr>
                  <a:t>$BC$</a:t>
                </a:r>
                <a:r>
                  <a:rPr sz="2400" b="0">
                    <a:solidFill>
                      <a:srgbClr val="111827"/>
                    </a:solidFill>
                    <a:latin typeface="Arial"/>
                  </a:rPr>
                  <a:t> meet </a:t>
                </a:r>
                <a:r>
                  <a:rPr lang="en-IN" sz="2400">
                    <a:solidFill>
                      <a:srgbClr val="111827"/>
                    </a:solidFill>
                    <a:latin typeface="Cambria Math" panose="02040503050406030204" pitchFamily="18" charset="0"/>
                  </a:rPr>
                  <a:t>$BC$</a:t>
                </a:r>
                <a:r>
                  <a:rPr sz="2400" b="0">
                    <a:solidFill>
                      <a:srgbClr val="111827"/>
                    </a:solidFill>
                    <a:latin typeface="Arial"/>
                  </a:rPr>
                  <a:t>; the slopes are </a:t>
                </a:r>
                <a:r>
                  <a:rPr lang="en-IN" sz="2400">
                    <a:solidFill>
                      <a:srgbClr val="111827"/>
                    </a:solidFill>
                    <a:latin typeface="Cambria Math" panose="02040503050406030204" pitchFamily="18" charset="0"/>
                  </a:rPr>
                  <a:t>$\frac{m_1\pm\tan\theta}{1\mp m_1\tan\theta}$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foot of the perpendicular from </a:t>
                </a:r>
                <a:r>
                  <a:rPr lang="en-IN" sz="2400">
                    <a:solidFill>
                      <a:srgbClr val="111827"/>
                    </a:solidFill>
                    <a:latin typeface="Cambria Math" panose="02040503050406030204" pitchFamily="18" charset="0"/>
                  </a:rPr>
                  <a:t>$(x_1,y_1)$</a:t>
                </a:r>
                <a:r>
                  <a:rPr sz="2400" b="0">
                    <a:solidFill>
                      <a:srgbClr val="111827"/>
                    </a:solidFill>
                    <a:latin typeface="Arial"/>
                  </a:rPr>
                  <a:t> to </a:t>
                </a:r>
                <a:r>
                  <a:rPr lang="en-IN" sz="2400">
                    <a:solidFill>
                      <a:srgbClr val="111827"/>
                    </a:solidFill>
                    <a:latin typeface="Cambria Math" panose="02040503050406030204" pitchFamily="18" charset="0"/>
                  </a:rPr>
                  <a:t>$ax+by+c=0$</a:t>
                </a:r>
                <a:r>
                  <a:rPr sz="2400" b="0">
                    <a:solidFill>
                      <a:srgbClr val="111827"/>
                    </a:solidFill>
                    <a:latin typeface="Arial"/>
                  </a:rPr>
                  <a:t> is </a:t>
                </a:r>
                <a:r>
                  <a:rPr lang="en-IN" sz="2400">
                    <a:solidFill>
                      <a:srgbClr val="111827"/>
                    </a:solidFill>
                    <a:latin typeface="Cambria Math" panose="02040503050406030204" pitchFamily="18" charset="0"/>
                  </a:rPr>
                  <a:t>$(x_1,y_1)-\frac{ax_1+by_1+c}{a^2+b^2}(a,b)$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orthocentre of the triangle formed by the lines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the centroid of another triangle, whose circumcentre and orthocentre respectively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orthocentre of the triangle formed by the lines </a:t>
                </a:r>
                <a:r>
                  <a:rPr lang="en-IN" sz="2400">
                    <a:solidFill>
                      <a:srgbClr val="111827"/>
                    </a:solidFill>
                    <a:latin typeface="Cambria Math" panose="02040503050406030204" pitchFamily="18" charset="0"/>
                  </a:rPr>
                  <a:t>$2x+3y-1=0$</a:t>
                </a:r>
                <a:r>
                  <a:rPr sz="2400" b="0">
                    <a:solidFill>
                      <a:srgbClr val="111827"/>
                    </a:solidFill>
                    <a:latin typeface="Arial"/>
                  </a:rPr>
                  <a:t>, </a:t>
                </a:r>
                <a:r>
                  <a:rPr lang="en-IN" sz="2400">
                    <a:solidFill>
                      <a:srgbClr val="111827"/>
                    </a:solidFill>
                    <a:latin typeface="Cambria Math" panose="02040503050406030204" pitchFamily="18" charset="0"/>
                  </a:rPr>
                  <a:t>$x+2y-1=0$</a:t>
                </a:r>
                <a:r>
                  <a:rPr sz="2400" b="0">
                    <a:solidFill>
                      <a:srgbClr val="111827"/>
                    </a:solidFill>
                    <a:latin typeface="Arial"/>
                  </a:rPr>
                  <a:t> and </a:t>
                </a:r>
                <a:r>
                  <a:rPr lang="en-IN" sz="2400">
                    <a:solidFill>
                      <a:srgbClr val="111827"/>
                    </a:solidFill>
                    <a:latin typeface="Cambria Math" panose="02040503050406030204" pitchFamily="18" charset="0"/>
                  </a:rPr>
                  <a:t>$ax+by-1=0$</a:t>
                </a:r>
                <a:r>
                  <a:rPr sz="2400" b="0">
                    <a:solidFill>
                      <a:srgbClr val="111827"/>
                    </a:solidFill>
                    <a:latin typeface="Arial"/>
                  </a:rPr>
                  <a:t>, is the centroid of another triangle, whose circumcentre and orthocentre respectively are </a:t>
                </a:r>
                <a:r>
                  <a:rPr lang="en-IN" sz="2400">
                    <a:solidFill>
                      <a:srgbClr val="111827"/>
                    </a:solidFill>
                    <a:latin typeface="Cambria Math" panose="02040503050406030204" pitchFamily="18" charset="0"/>
                  </a:rPr>
                  <a:t>$(3,4)$</a:t>
                </a:r>
                <a:r>
                  <a:rPr sz="2400" b="0">
                    <a:solidFill>
                      <a:srgbClr val="111827"/>
                    </a:solidFill>
                    <a:latin typeface="Arial"/>
                  </a:rPr>
                  <a:t> and </a:t>
                </a:r>
                <a:r>
                  <a:rPr lang="en-IN" sz="2400">
                    <a:solidFill>
                      <a:srgbClr val="111827"/>
                    </a:solidFill>
                    <a:latin typeface="Cambria Math" panose="02040503050406030204" pitchFamily="18" charset="0"/>
                  </a:rPr>
                  <a:t>$(-6,-8)$</a:t>
                </a:r>
                <a:r>
                  <a:rPr sz="2400" b="0">
                    <a:solidFill>
                      <a:srgbClr val="111827"/>
                    </a:solidFill>
                    <a:latin typeface="Arial"/>
                  </a:rPr>
                  <a:t>, then the value of </a:t>
                </a:r>
                <a:r>
                  <a:rPr lang="en-IN" sz="2400">
                    <a:solidFill>
                      <a:srgbClr val="111827"/>
                    </a:solidFill>
                    <a:latin typeface="Cambria Math" panose="02040503050406030204" pitchFamily="18" charset="0"/>
                  </a:rPr>
                  <a:t>$|a-b|$</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5168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and centroid of triangles, Euler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centroid of the second triangle gives the orthocentre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of the first; then the altitudes through the origin fix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centroid of the second triangle gives the orthocentre </a:t>
                </a:r>
                <a:r>
                  <a:rPr lang="en-IN" sz="2400">
                    <a:solidFill>
                      <a:srgbClr val="78350F"/>
                    </a:solidFill>
                    <a:latin typeface="Cambria Math" panose="02040503050406030204" pitchFamily="18" charset="0"/>
                  </a:rPr>
                  <a:t>$(0,0)$</a:t>
                </a:r>
                <a:r>
                  <a:rPr sz="2400" b="0">
                    <a:solidFill>
                      <a:srgbClr val="78350F"/>
                    </a:solidFill>
                    <a:latin typeface="Arial"/>
                  </a:rPr>
                  <a:t> of the first; then the altitudes through the origin fix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other triangle,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orthocentre of the first triangle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Vertex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passes through the orthocentre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slope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is perpendicular to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slope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other triangle, </a:t>
                </a:r>
                <a:r>
                  <a:rPr lang="en-IN" sz="2400">
                    <a:solidFill>
                      <a:srgbClr val="111827"/>
                    </a:solidFill>
                    <a:latin typeface="Cambria Math" panose="02040503050406030204" pitchFamily="18" charset="0"/>
                  </a:rPr>
                  <a:t>$G$</a:t>
                </a:r>
                <a:r>
                  <a:rPr sz="2400" b="0">
                    <a:solidFill>
                      <a:srgbClr val="111827"/>
                    </a:solidFill>
                    <a:latin typeface="Arial"/>
                  </a:rPr>
                  <a:t> divides </a:t>
                </a:r>
                <a:r>
                  <a:rPr lang="en-IN" sz="2400">
                    <a:solidFill>
                      <a:srgbClr val="111827"/>
                    </a:solidFill>
                    <a:latin typeface="Cambria Math" panose="02040503050406030204" pitchFamily="18" charset="0"/>
                  </a:rPr>
                  <a:t>$OH$</a:t>
                </a:r>
                <a:r>
                  <a:rPr sz="2400" b="0">
                    <a:solidFill>
                      <a:srgbClr val="111827"/>
                    </a:solidFill>
                    <a:latin typeface="Arial"/>
                  </a:rPr>
                  <a:t> (</a:t>
                </a:r>
                <a:r>
                  <a:rPr lang="en-IN" sz="2400">
                    <a:solidFill>
                      <a:srgbClr val="111827"/>
                    </a:solidFill>
                    <a:latin typeface="Cambria Math" panose="02040503050406030204" pitchFamily="18" charset="0"/>
                  </a:rPr>
                  <a:t>$O(3,4)$</a:t>
                </a:r>
                <a:r>
                  <a:rPr sz="2400" b="0">
                    <a:solidFill>
                      <a:srgbClr val="111827"/>
                    </a:solidFill>
                    <a:latin typeface="Arial"/>
                  </a:rPr>
                  <a:t>, </a:t>
                </a:r>
                <a:r>
                  <a:rPr lang="en-IN" sz="2400">
                    <a:solidFill>
                      <a:srgbClr val="111827"/>
                    </a:solidFill>
                    <a:latin typeface="Cambria Math" panose="02040503050406030204" pitchFamily="18" charset="0"/>
                  </a:rPr>
                  <a:t>$H(-6,-8)$</a:t>
                </a:r>
                <a:r>
                  <a:rPr sz="2400" b="0">
                    <a:solidFill>
                      <a:srgbClr val="111827"/>
                    </a:solidFill>
                    <a:latin typeface="Arial"/>
                  </a:rPr>
                  <a:t>) in the ratio </a:t>
                </a:r>
                <a:r>
                  <a:rPr lang="en-IN" sz="2400">
                    <a:solidFill>
                      <a:srgbClr val="111827"/>
                    </a:solidFill>
                    <a:latin typeface="Cambria Math" panose="02040503050406030204" pitchFamily="18" charset="0"/>
                  </a:rPr>
                  <a:t>$2:1$</a:t>
                </a:r>
                <a:r>
                  <a:rPr sz="2400" b="0">
                    <a:solidFill>
                      <a:srgbClr val="111827"/>
                    </a:solidFill>
                    <a:latin typeface="Arial"/>
                  </a:rPr>
                  <a:t> from </a:t>
                </a:r>
                <a:r>
                  <a:rPr lang="en-IN" sz="2400">
                    <a:solidFill>
                      <a:srgbClr val="111827"/>
                    </a:solidFill>
                    <a:latin typeface="Cambria Math" panose="02040503050406030204" pitchFamily="18" charset="0"/>
                  </a:rPr>
                  <a:t>$H$</a:t>
                </a:r>
                <a:r>
                  <a:rPr sz="2400" b="0">
                    <a:solidFill>
                      <a:srgbClr val="111827"/>
                    </a:solidFill>
                    <a:latin typeface="Arial"/>
                  </a:rPr>
                  <a:t>: </a:t>
                </a:r>
                <a:r>
                  <a:rPr lang="en-IN" sz="2400">
                    <a:solidFill>
                      <a:srgbClr val="111827"/>
                    </a:solidFill>
                    <a:latin typeface="Cambria Math" panose="02040503050406030204" pitchFamily="18" charset="0"/>
                  </a:rPr>
                  <a:t>$G=\left(\frac{2\cdot3-6}{3},\frac{2\cdot4-8}{3}\right)=(0,0)$</a:t>
                </a:r>
                <a:r>
                  <a:rPr sz="2400" b="0">
                    <a:solidFill>
                      <a:srgbClr val="111827"/>
                    </a:solidFill>
                    <a:latin typeface="Arial"/>
                  </a:rPr>
                  <a:t>. So the orthocentre of the first triangle is </a:t>
                </a:r>
                <a:r>
                  <a:rPr lang="en-IN" sz="2400">
                    <a:solidFill>
                      <a:srgbClr val="111827"/>
                    </a:solidFill>
                    <a:latin typeface="Cambria Math" panose="02040503050406030204" pitchFamily="18" charset="0"/>
                  </a:rPr>
                  <a:t>$(0,0)$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Vertex </a:t>
                </a:r>
                <a:r>
                  <a:rPr lang="en-IN" sz="2400">
                    <a:solidFill>
                      <a:srgbClr val="111827"/>
                    </a:solidFill>
                    <a:latin typeface="Cambria Math" panose="02040503050406030204" pitchFamily="18" charset="0"/>
                  </a:rPr>
                  <a:t>$A=\{2x+3y=1\}\cap\{x+2y=1\}=(-1,1)$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a:t>
                </a:r>
                <a:r>
                  <a:rPr lang="en-IN" sz="2400">
                    <a:solidFill>
                      <a:srgbClr val="111827"/>
                    </a:solidFill>
                    <a:latin typeface="Cambria Math" panose="02040503050406030204" pitchFamily="18" charset="0"/>
                  </a:rPr>
                  <a:t>$AD$</a:t>
                </a:r>
                <a:r>
                  <a:rPr sz="2400" b="0">
                    <a:solidFill>
                      <a:srgbClr val="111827"/>
                    </a:solidFill>
                    <a:latin typeface="Arial"/>
                  </a:rPr>
                  <a:t> passes through the orthocentre </a:t>
                </a:r>
                <a:r>
                  <a:rPr lang="en-IN" sz="2400">
                    <a:solidFill>
                      <a:srgbClr val="111827"/>
                    </a:solidFill>
                    <a:latin typeface="Cambria Math" panose="02040503050406030204" pitchFamily="18" charset="0"/>
                  </a:rPr>
                  <a:t>$(0,0)$</a:t>
                </a:r>
                <a:r>
                  <a:rPr sz="2400" b="0">
                    <a:solidFill>
                      <a:srgbClr val="111827"/>
                    </a:solidFill>
                    <a:latin typeface="Arial"/>
                  </a:rPr>
                  <a:t>: slope of </a:t>
                </a:r>
                <a:r>
                  <a:rPr lang="en-IN" sz="2400">
                    <a:solidFill>
                      <a:srgbClr val="111827"/>
                    </a:solidFill>
                    <a:latin typeface="Cambria Math" panose="02040503050406030204" pitchFamily="18" charset="0"/>
                  </a:rPr>
                  <a:t>$AD=\frac{0-1}{0+1}=-1$</a:t>
                </a:r>
                <a:r>
                  <a:rPr sz="2400" b="0">
                    <a:solidFill>
                      <a:srgbClr val="111827"/>
                    </a:solidFill>
                    <a:latin typeface="Arial"/>
                  </a:rPr>
                  <a:t>. It is perpendicular to </a:t>
                </a:r>
                <a:r>
                  <a:rPr lang="en-IN" sz="2400">
                    <a:solidFill>
                      <a:srgbClr val="111827"/>
                    </a:solidFill>
                    <a:latin typeface="Cambria Math" panose="02040503050406030204" pitchFamily="18" charset="0"/>
                  </a:rPr>
                  <a:t>$BC:ax+by-1=0$</a:t>
                </a:r>
                <a:r>
                  <a:rPr sz="2400" b="0">
                    <a:solidFill>
                      <a:srgbClr val="111827"/>
                    </a:solidFill>
                    <a:latin typeface="Arial"/>
                  </a:rPr>
                  <a:t>, so slope of </a:t>
                </a:r>
                <a:r>
                  <a:rPr lang="en-IN" sz="2400">
                    <a:solidFill>
                      <a:srgbClr val="111827"/>
                    </a:solidFill>
                    <a:latin typeface="Cambria Math" panose="02040503050406030204" pitchFamily="18" charset="0"/>
                  </a:rPr>
                  <a:t>$BC=1$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passes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is perpendicular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its slope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on this altitude: adding,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passes through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with slope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r>
                  <a:rPr lang="en-IN" sz="2400">
                    <a:solidFill>
                      <a:srgbClr val="111827"/>
                    </a:solidFill>
                    <a:latin typeface="Cambria Math" panose="02040503050406030204" pitchFamily="18" charset="0"/>
                  </a:rPr>
                  <a:t>$C$</a:t>
                </a:r>
                <a:r>
                  <a:rPr sz="2400" b="0">
                    <a:solidFill>
                      <a:srgbClr val="111827"/>
                    </a:solidFill>
                    <a:latin typeface="Arial"/>
                  </a:rPr>
                  <a:t> passes through </a:t>
                </a:r>
                <a:r>
                  <a:rPr lang="en-IN" sz="2400">
                    <a:solidFill>
                      <a:srgbClr val="111827"/>
                    </a:solidFill>
                    <a:latin typeface="Cambria Math" panose="02040503050406030204" pitchFamily="18" charset="0"/>
                  </a:rPr>
                  <a:t>$(0,0)$</a:t>
                </a:r>
                <a:r>
                  <a:rPr sz="2400" b="0">
                    <a:solidFill>
                      <a:srgbClr val="111827"/>
                    </a:solidFill>
                    <a:latin typeface="Arial"/>
                  </a:rPr>
                  <a:t> and is perpendicular to </a:t>
                </a:r>
                <a:r>
                  <a:rPr lang="en-IN" sz="2400">
                    <a:solidFill>
                      <a:srgbClr val="111827"/>
                    </a:solidFill>
                    <a:latin typeface="Cambria Math" panose="02040503050406030204" pitchFamily="18" charset="0"/>
                  </a:rPr>
                  <a:t>$AB: 2x+3y-1=0$</a:t>
                </a:r>
                <a:r>
                  <a:rPr sz="2400" b="0">
                    <a:solidFill>
                      <a:srgbClr val="111827"/>
                    </a:solidFill>
                    <a:latin typeface="Arial"/>
                  </a:rPr>
                  <a:t> (slope </a:t>
                </a:r>
                <a:r>
                  <a:rPr lang="en-IN" sz="2400">
                    <a:solidFill>
                      <a:srgbClr val="111827"/>
                    </a:solidFill>
                    <a:latin typeface="Cambria Math" panose="02040503050406030204" pitchFamily="18" charset="0"/>
                  </a:rPr>
                  <a:t>$-\frac{2}{3}$</a:t>
                </a:r>
                <a:r>
                  <a:rPr sz="2400" b="0">
                    <a:solidFill>
                      <a:srgbClr val="111827"/>
                    </a:solidFill>
                    <a:latin typeface="Arial"/>
                  </a:rPr>
                  <a:t>), so its slope is </a:t>
                </a:r>
                <a:r>
                  <a:rPr lang="en-IN" sz="2400">
                    <a:solidFill>
                      <a:srgbClr val="111827"/>
                    </a:solidFill>
                    <a:latin typeface="Cambria Math" panose="02040503050406030204" pitchFamily="18" charset="0"/>
                  </a:rPr>
                  <a:t>$\frac{3}{2}$</a:t>
                </a:r>
                <a:r>
                  <a:rPr sz="2400" b="0">
                    <a:solidFill>
                      <a:srgbClr val="111827"/>
                    </a:solidFill>
                    <a:latin typeface="Arial"/>
                  </a:rPr>
                  <a:t>: </a:t>
                </a:r>
                <a:r>
                  <a:rPr lang="en-IN" sz="2400">
                    <a:solidFill>
                      <a:srgbClr val="111827"/>
                    </a:solidFill>
                    <a:latin typeface="Cambria Math" panose="02040503050406030204" pitchFamily="18" charset="0"/>
                  </a:rPr>
                  <a:t>$y=\frac{3}{2}x$</a:t>
                </a:r>
                <a:r>
                  <a:rPr sz="2400" b="0">
                    <a:solidFill>
                      <a:srgbClr val="111827"/>
                    </a:solidFill>
                    <a:latin typeface="Arial"/>
                  </a:rPr>
                  <a:t>, i.e. </a:t>
                </a:r>
                <a:r>
                  <a:rPr lang="en-IN" sz="2400">
                    <a:solidFill>
                      <a:srgbClr val="111827"/>
                    </a:solidFill>
                    <a:latin typeface="Cambria Math" panose="02040503050406030204" pitchFamily="18" charset="0"/>
                  </a:rPr>
                  <a:t>$3x-2y=0$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$AC: x+2y-1=0$</a:t>
                </a:r>
                <a:r>
                  <a:rPr sz="2400" b="0">
                    <a:solidFill>
                      <a:srgbClr val="111827"/>
                    </a:solidFill>
                    <a:latin typeface="Arial"/>
                  </a:rPr>
                  <a:t> and on this altitude: adding, </a:t>
                </a:r>
                <a:r>
                  <a:rPr lang="en-IN" sz="2400">
                    <a:solidFill>
                      <a:srgbClr val="111827"/>
                    </a:solidFill>
                    <a:latin typeface="Cambria Math" panose="02040503050406030204" pitchFamily="18" charset="0"/>
                  </a:rPr>
                  <a:t>$4x-1=0$</a:t>
                </a:r>
                <a:r>
                  <a:rPr sz="2400" b="0">
                    <a:solidFill>
                      <a:srgbClr val="111827"/>
                    </a:solidFill>
                    <a:latin typeface="Arial"/>
                  </a:rPr>
                  <a:t>, so </a:t>
                </a:r>
                <a:r>
                  <a:rPr lang="en-IN" sz="2400">
                    <a:solidFill>
                      <a:srgbClr val="111827"/>
                    </a:solidFill>
                    <a:latin typeface="Cambria Math" panose="02040503050406030204" pitchFamily="18" charset="0"/>
                  </a:rPr>
                  <a:t>$x=\frac{1}{4}$</a:t>
                </a:r>
                <a:r>
                  <a:rPr sz="2400" b="0">
                    <a:solidFill>
                      <a:srgbClr val="111827"/>
                    </a:solidFill>
                    <a:latin typeface="Arial"/>
                  </a:rPr>
                  <a:t> and </a:t>
                </a:r>
                <a:r>
                  <a:rPr lang="en-IN" sz="2400">
                    <a:solidFill>
                      <a:srgbClr val="111827"/>
                    </a:solidFill>
                    <a:latin typeface="Cambria Math" panose="02040503050406030204" pitchFamily="18" charset="0"/>
                  </a:rPr>
                  <a:t>$y=\frac{3}{8}$</a:t>
                </a:r>
                <a:r>
                  <a:rPr sz="2400" b="0">
                    <a:solidFill>
                      <a:srgbClr val="111827"/>
                    </a:solidFill>
                    <a:latin typeface="Arial"/>
                  </a:rPr>
                  <a:t>: </a:t>
                </a:r>
                <a:r>
                  <a:rPr lang="en-IN" sz="2400">
                    <a:solidFill>
                      <a:srgbClr val="111827"/>
                    </a:solidFill>
                    <a:latin typeface="Cambria Math" panose="02040503050406030204" pitchFamily="18" charset="0"/>
                  </a:rPr>
                  <a:t>$C=\left(\frac{1}{4},\frac{3}{8}\right)$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passes through </a:t>
                </a:r>
                <a:r>
                  <a:rPr lang="en-IN" sz="2400">
                    <a:solidFill>
                      <a:srgbClr val="111827"/>
                    </a:solidFill>
                    <a:latin typeface="Cambria Math" panose="02040503050406030204" pitchFamily="18" charset="0"/>
                  </a:rPr>
                  <a:t>$C$</a:t>
                </a:r>
                <a:r>
                  <a:rPr sz="2400" b="0">
                    <a:solidFill>
                      <a:srgbClr val="111827"/>
                    </a:solidFill>
                    <a:latin typeface="Arial"/>
                  </a:rPr>
                  <a:t> with slope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$y-\frac{3}{8}=x-\frac{1}{4}\Rightarrow-8x+8y-1=0$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$ax+by-1=0$</a:t>
                </a:r>
                <a:r>
                  <a:rPr sz="2400" b="0">
                    <a:solidFill>
                      <a:srgbClr val="111827"/>
                    </a:solidFill>
                    <a:latin typeface="Arial"/>
                  </a:rPr>
                  <a:t>: </a:t>
                </a:r>
                <a:r>
                  <a:rPr lang="en-IN" sz="2400">
                    <a:solidFill>
                      <a:srgbClr val="111827"/>
                    </a:solidFill>
                    <a:latin typeface="Cambria Math" panose="02040503050406030204" pitchFamily="18" charset="0"/>
                  </a:rPr>
                  <a:t>$a=-8$</a:t>
                </a:r>
                <a:r>
                  <a:rPr sz="2400" b="0">
                    <a:solidFill>
                      <a:srgbClr val="111827"/>
                    </a:solidFill>
                    <a:latin typeface="Arial"/>
                  </a:rPr>
                  <a:t>, </a:t>
                </a:r>
                <a:r>
                  <a:rPr lang="en-IN" sz="2400">
                    <a:solidFill>
                      <a:srgbClr val="111827"/>
                    </a:solidFill>
                    <a:latin typeface="Cambria Math" panose="02040503050406030204" pitchFamily="18" charset="0"/>
                  </a:rPr>
                  <a:t>$b=8$</a:t>
                </a:r>
                <a:r>
                  <a:rPr sz="2400" b="0">
                    <a:solidFill>
                      <a:srgbClr val="111827"/>
                    </a:solidFill>
                    <a:latin typeface="Arial"/>
                  </a:rPr>
                  <a:t>, so </a:t>
                </a:r>
                <a:r>
                  <a:rPr lang="en-IN" sz="2400">
                    <a:solidFill>
                      <a:srgbClr val="111827"/>
                    </a:solidFill>
                    <a:latin typeface="Cambria Math" panose="02040503050406030204" pitchFamily="18" charset="0"/>
                  </a:rPr>
                  <a:t>$|a-b|=16$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a:t>
            </a:r>
            <a:endParaRPr sz="2800">
              <a:solidFill>
                <a:srgbClr val="15803D"/>
              </a:solidFill>
            </a:endParaRP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With the orthocentre at the origin, each vertex lies on the line through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perpendicular to the opposite side: use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𝑛𝑜𝑟𝑚𝑎𝑙 𝑜𝑓 </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normal of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With the orthocentre at the origin, each vertex lies on the line through </a:t>
                </a:r>
                <a:r>
                  <a:rPr lang="en-IN" sz="2400">
                    <a:solidFill>
                      <a:srgbClr val="78350F"/>
                    </a:solidFill>
                    <a:latin typeface="Cambria Math" panose="02040503050406030204" pitchFamily="18" charset="0"/>
                  </a:rPr>
                  <a:t>$O$</a:t>
                </a:r>
                <a:r>
                  <a:rPr sz="2400" b="0">
                    <a:solidFill>
                      <a:srgbClr val="78350F"/>
                    </a:solidFill>
                    <a:latin typeface="Arial"/>
                  </a:rPr>
                  <a:t> perpendicular to the opposite side: use </a:t>
                </a:r>
                <a:r>
                  <a:rPr lang="en-IN" sz="2400">
                    <a:solidFill>
                      <a:srgbClr val="78350F"/>
                    </a:solidFill>
                    <a:latin typeface="Cambria Math" panose="02040503050406030204" pitchFamily="18" charset="0"/>
                  </a:rPr>
                  <a:t>$B=t\cdot(\text{normal of }AC)$</a:t>
                </a:r>
                <a:r>
                  <a:rPr sz="2400" b="0">
                    <a:solidFill>
                      <a:srgbClr val="78350F"/>
                    </a:solidFill>
                    <a:latin typeface="Arial"/>
                  </a:rPr>
                  <a:t> and </a:t>
                </a:r>
                <a:r>
                  <a:rPr lang="en-IN" sz="2400">
                    <a:solidFill>
                      <a:srgbClr val="78350F"/>
                    </a:solidFill>
                    <a:latin typeface="Cambria Math" panose="02040503050406030204" pitchFamily="18" charset="0"/>
                  </a:rPr>
                  <a:t>$A\parallel$</a:t>
                </a:r>
                <a:r>
                  <a:rPr sz="2400" b="0">
                    <a:solidFill>
                      <a:srgbClr val="78350F"/>
                    </a:solidFill>
                    <a:latin typeface="Arial"/>
                  </a:rPr>
                  <a:t> normal of </a:t>
                </a:r>
                <a:r>
                  <a:rPr lang="en-IN" sz="2400">
                    <a:solidFill>
                      <a:srgbClr val="78350F"/>
                    </a:solidFill>
                    <a:latin typeface="Cambria Math" panose="02040503050406030204" pitchFamily="18" charset="0"/>
                  </a:rPr>
                  <a:t>$BC$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before. The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line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perpendicular to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(the vertex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passes through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is perpendicular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$H=(0,0)$</a:t>
                </a:r>
                <a:r>
                  <a:rPr sz="2400" b="0">
                    <a:solidFill>
                      <a:srgbClr val="111827"/>
                    </a:solidFill>
                    <a:latin typeface="Arial"/>
                  </a:rPr>
                  <a:t> and </a:t>
                </a:r>
                <a:r>
                  <a:rPr lang="en-IN" sz="2400">
                    <a:solidFill>
                      <a:srgbClr val="111827"/>
                    </a:solidFill>
                    <a:latin typeface="Cambria Math" panose="02040503050406030204" pitchFamily="18" charset="0"/>
                  </a:rPr>
                  <a:t>$A=(-1,1)$</a:t>
                </a:r>
                <a:r>
                  <a:rPr sz="2400" b="0">
                    <a:solidFill>
                      <a:srgbClr val="111827"/>
                    </a:solidFill>
                    <a:latin typeface="Arial"/>
                  </a:rPr>
                  <a:t> as before. The altitude from </a:t>
                </a:r>
                <a:r>
                  <a:rPr lang="en-IN" sz="2400">
                    <a:solidFill>
                      <a:srgbClr val="111827"/>
                    </a:solidFill>
                    <a:latin typeface="Cambria Math" panose="02040503050406030204" pitchFamily="18" charset="0"/>
                  </a:rPr>
                  <a:t>$A$</a:t>
                </a:r>
                <a:r>
                  <a:rPr sz="2400" b="0">
                    <a:solidFill>
                      <a:srgbClr val="111827"/>
                    </a:solidFill>
                    <a:latin typeface="Arial"/>
                  </a:rPr>
                  <a:t> is the line </a:t>
                </a:r>
                <a:r>
                  <a:rPr lang="en-IN" sz="2400">
                    <a:solidFill>
                      <a:srgbClr val="111827"/>
                    </a:solidFill>
                    <a:latin typeface="Cambria Math" panose="02040503050406030204" pitchFamily="18" charset="0"/>
                  </a:rPr>
                  <a:t>$OA$</a:t>
                </a:r>
                <a:r>
                  <a:rPr sz="2400" b="0">
                    <a:solidFill>
                      <a:srgbClr val="111827"/>
                    </a:solidFill>
                    <a:latin typeface="Arial"/>
                  </a:rPr>
                  <a:t>, perpendicular to </a:t>
                </a:r>
                <a:r>
                  <a:rPr lang="en-IN" sz="2400">
                    <a:solidFill>
                      <a:srgbClr val="111827"/>
                    </a:solidFill>
                    <a:latin typeface="Cambria Math" panose="02040503050406030204" pitchFamily="18" charset="0"/>
                  </a:rPr>
                  <a:t>$BC:ax+by-1=0$</a:t>
                </a:r>
                <a:r>
                  <a:rPr sz="2400" b="0">
                    <a:solidFill>
                      <a:srgbClr val="111827"/>
                    </a:solidFill>
                    <a:latin typeface="Arial"/>
                  </a:rPr>
                  <a:t>, so </a:t>
                </a:r>
                <a:r>
                  <a:rPr lang="en-IN" sz="2400">
                    <a:solidFill>
                      <a:srgbClr val="111827"/>
                    </a:solidFill>
                    <a:latin typeface="Cambria Math" panose="02040503050406030204" pitchFamily="18" charset="0"/>
                  </a:rPr>
                  <a:t>$(-1,1)\parallel(a,b)$</a:t>
                </a:r>
                <a:r>
                  <a:rPr sz="2400" b="0">
                    <a:solidFill>
                      <a:srgbClr val="111827"/>
                    </a:solidFill>
                    <a:latin typeface="Arial"/>
                  </a:rPr>
                  <a:t>: </a:t>
                </a:r>
                <a:r>
                  <a:rPr lang="en-IN" sz="2400">
                    <a:solidFill>
                      <a:srgbClr val="111827"/>
                    </a:solidFill>
                    <a:latin typeface="Cambria Math" panose="02040503050406030204" pitchFamily="18" charset="0"/>
                  </a:rPr>
                  <a:t>$b=-a$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r>
                  <a:rPr lang="en-IN" sz="2400">
                    <a:solidFill>
                      <a:srgbClr val="111827"/>
                    </a:solidFill>
                    <a:latin typeface="Cambria Math" panose="02040503050406030204" pitchFamily="18" charset="0"/>
                  </a:rPr>
                  <a:t>$B$</a:t>
                </a:r>
                <a:r>
                  <a:rPr sz="2400" b="0">
                    <a:solidFill>
                      <a:srgbClr val="111827"/>
                    </a:solidFill>
                    <a:latin typeface="Arial"/>
                  </a:rPr>
                  <a:t> (the vertex </a:t>
                </a:r>
                <a:r>
                  <a:rPr lang="en-IN" sz="2400">
                    <a:solidFill>
                      <a:srgbClr val="111827"/>
                    </a:solidFill>
                    <a:latin typeface="Cambria Math" panose="02040503050406030204" pitchFamily="18" charset="0"/>
                  </a:rPr>
                  <a:t>$AB\cap BC$</a:t>
                </a:r>
                <a:r>
                  <a:rPr sz="2400" b="0">
                    <a:solidFill>
                      <a:srgbClr val="111827"/>
                    </a:solidFill>
                    <a:latin typeface="Arial"/>
                  </a:rPr>
                  <a:t>, on </a:t>
                </a:r>
                <a:r>
                  <a:rPr lang="en-IN" sz="2400">
                    <a:solidFill>
                      <a:srgbClr val="111827"/>
                    </a:solidFill>
                    <a:latin typeface="Cambria Math" panose="02040503050406030204" pitchFamily="18" charset="0"/>
                  </a:rPr>
                  <a:t>$2x+3y=1$</a:t>
                </a:r>
                <a:r>
                  <a:rPr sz="2400" b="0">
                    <a:solidFill>
                      <a:srgbClr val="111827"/>
                    </a:solidFill>
                    <a:latin typeface="Arial"/>
                  </a:rPr>
                  <a:t>) passes through </a:t>
                </a:r>
                <a:r>
                  <a:rPr lang="en-IN" sz="2400">
                    <a:solidFill>
                      <a:srgbClr val="111827"/>
                    </a:solidFill>
                    <a:latin typeface="Cambria Math" panose="02040503050406030204" pitchFamily="18" charset="0"/>
                  </a:rPr>
                  <a:t>$O$</a:t>
                </a:r>
                <a:r>
                  <a:rPr sz="2400" b="0">
                    <a:solidFill>
                      <a:srgbClr val="111827"/>
                    </a:solidFill>
                    <a:latin typeface="Arial"/>
                  </a:rPr>
                  <a:t> and is perpendicular to </a:t>
                </a:r>
                <a:r>
                  <a:rPr lang="en-IN" sz="2400">
                    <a:solidFill>
                      <a:srgbClr val="111827"/>
                    </a:solidFill>
                    <a:latin typeface="Cambria Math" panose="02040503050406030204" pitchFamily="18" charset="0"/>
                  </a:rPr>
                  <a:t>$AC: x+2y=1$</a:t>
                </a:r>
                <a:r>
                  <a:rPr sz="2400" b="0">
                    <a:solidFill>
                      <a:srgbClr val="111827"/>
                    </a:solidFill>
                    <a:latin typeface="Arial"/>
                  </a:rPr>
                  <a:t>, so </a:t>
                </a:r>
                <a:r>
                  <a:rPr lang="en-IN" sz="2400">
                    <a:solidFill>
                      <a:srgbClr val="111827"/>
                    </a:solidFill>
                    <a:latin typeface="Cambria Math" panose="02040503050406030204" pitchFamily="18" charset="0"/>
                  </a:rPr>
                  <a:t>$B=t(1,2)$</a:t>
                </a:r>
                <a:r>
                  <a:rPr sz="2400" b="0">
                    <a:solidFill>
                      <a:srgbClr val="111827"/>
                    </a:solidFill>
                    <a:latin typeface="Arial"/>
                  </a:rPr>
                  <a:t>. On </a:t>
                </a:r>
                <a:r>
                  <a:rPr lang="en-IN" sz="2400">
                    <a:solidFill>
                      <a:srgbClr val="111827"/>
                    </a:solidFill>
                    <a:latin typeface="Cambria Math" panose="02040503050406030204" pitchFamily="18" charset="0"/>
                  </a:rPr>
                  <a:t>$2x+3y=1$</a:t>
                </a:r>
                <a:r>
                  <a:rPr sz="2400" b="0">
                    <a:solidFill>
                      <a:srgbClr val="111827"/>
                    </a:solidFill>
                    <a:latin typeface="Arial"/>
                  </a:rPr>
                  <a:t>: </a:t>
                </a:r>
                <a:r>
                  <a:rPr lang="en-IN" sz="2400">
                    <a:solidFill>
                      <a:srgbClr val="111827"/>
                    </a:solidFill>
                    <a:latin typeface="Cambria Math" panose="02040503050406030204" pitchFamily="18" charset="0"/>
                  </a:rPr>
                  <a:t>$2t+6t=1\Rightarrow t=\frac{1}{8}$</a:t>
                </a:r>
                <a:r>
                  <a:rPr sz="2400" b="0">
                    <a:solidFill>
                      <a:srgbClr val="111827"/>
                    </a:solidFill>
                    <a:latin typeface="Arial"/>
                  </a:rPr>
                  <a:t>, </a:t>
                </a:r>
                <a:r>
                  <a:rPr lang="en-IN" sz="2400">
                    <a:solidFill>
                      <a:srgbClr val="111827"/>
                    </a:solidFill>
                    <a:latin typeface="Cambria Math" panose="02040503050406030204" pitchFamily="18" charset="0"/>
                  </a:rPr>
                  <a:t>$B=\left(\frac{1}{8},\frac{1}{4}\right)$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lies on </a:t>
                </a:r>
                <a:r>
                  <a:rPr lang="en-IN" sz="2400">
                    <a:solidFill>
                      <a:srgbClr val="111827"/>
                    </a:solidFill>
                    <a:latin typeface="Cambria Math" panose="02040503050406030204" pitchFamily="18" charset="0"/>
                  </a:rPr>
                  <a:t>$BC: ax+by=1$</a:t>
                </a:r>
                <a:r>
                  <a:rPr sz="2400" b="0">
                    <a:solidFill>
                      <a:srgbClr val="111827"/>
                    </a:solidFill>
                    <a:latin typeface="Arial"/>
                  </a:rPr>
                  <a:t>: </a:t>
                </a:r>
                <a:r>
                  <a:rPr lang="en-IN" sz="2400">
                    <a:solidFill>
                      <a:srgbClr val="111827"/>
                    </a:solidFill>
                    <a:latin typeface="Cambria Math" panose="02040503050406030204" pitchFamily="18" charset="0"/>
                  </a:rPr>
                  <a:t>$\frac{a}{8}+\frac{b}{4}=1$</a:t>
                </a:r>
                <a:r>
                  <a:rPr sz="2400" b="0">
                    <a:solidFill>
                      <a:srgbClr val="111827"/>
                    </a:solidFill>
                    <a:latin typeface="Arial"/>
                  </a:rPr>
                  <a:t>. With </a:t>
                </a:r>
                <a:r>
                  <a:rPr lang="en-IN" sz="2400">
                    <a:solidFill>
                      <a:srgbClr val="111827"/>
                    </a:solidFill>
                    <a:latin typeface="Cambria Math" panose="02040503050406030204" pitchFamily="18" charset="0"/>
                  </a:rPr>
                  <a:t>$b=-a$</a:t>
                </a:r>
                <a:r>
                  <a:rPr sz="2400" b="0">
                    <a:solidFill>
                      <a:srgbClr val="111827"/>
                    </a:solidFill>
                    <a:latin typeface="Arial"/>
                  </a:rPr>
                  <a:t>: </a:t>
                </a:r>
                <a:r>
                  <a:rPr lang="en-IN" sz="2400">
                    <a:solidFill>
                      <a:srgbClr val="111827"/>
                    </a:solidFill>
                    <a:latin typeface="Cambria Math" panose="02040503050406030204" pitchFamily="18" charset="0"/>
                  </a:rPr>
                  <a:t>$-\frac{a}{8}=1$</a:t>
                </a:r>
                <a:r>
                  <a:rPr sz="2400" b="0">
                    <a:solidFill>
                      <a:srgbClr val="111827"/>
                    </a:solidFill>
                    <a:latin typeface="Arial"/>
                  </a:rPr>
                  <a:t>, so </a:t>
                </a:r>
                <a:r>
                  <a:rPr lang="en-IN" sz="2400">
                    <a:solidFill>
                      <a:srgbClr val="111827"/>
                    </a:solidFill>
                    <a:latin typeface="Cambria Math" panose="02040503050406030204" pitchFamily="18" charset="0"/>
                  </a:rPr>
                  <a:t>$a=-8$</a:t>
                </a:r>
                <a:r>
                  <a:rPr sz="2400" b="0">
                    <a:solidFill>
                      <a:srgbClr val="111827"/>
                    </a:solidFill>
                    <a:latin typeface="Arial"/>
                  </a:rPr>
                  <a:t>, </a:t>
                </a:r>
                <a:r>
                  <a:rPr lang="en-IN" sz="2400">
                    <a:solidFill>
                      <a:srgbClr val="111827"/>
                    </a:solidFill>
                    <a:latin typeface="Cambria Math" panose="02040503050406030204" pitchFamily="18" charset="0"/>
                  </a:rPr>
                  <a:t>$b=8$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$|a-b|=16$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a:t>
            </a:r>
            <a:endParaRPr sz="2800">
              <a:solidFill>
                <a:srgbClr val="15803D"/>
              </a:solidFill>
            </a:endParaRP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orthocentre is the origin, the vertex opposite a side lies on the line through the origin perpendicular to that side - i.e. the vertex is a multiple of the side's normal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Lines of the form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the polars of the points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respect to the unit circle - the pairing makes concurrency and perpendicularity conditions easy.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line: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collinear with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orthocentre is the origin, the vertex opposite a side lies on the line through the origin perpendicular to that side - i.e. the vertex is a multiple of the side's normal </a:t>
                </a:r>
                <a:r>
                  <a:rPr lang="en-IN" sz="2400">
                    <a:solidFill>
                      <a:srgbClr val="111827"/>
                    </a:solidFill>
                    <a:latin typeface="Cambria Math" panose="02040503050406030204" pitchFamily="18" charset="0"/>
                  </a:rPr>
                  <a:t>$(p,q)$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Lines of the form </a:t>
                </a:r>
                <a:r>
                  <a:rPr lang="en-IN" sz="2400">
                    <a:solidFill>
                      <a:srgbClr val="111827"/>
                    </a:solidFill>
                    <a:latin typeface="Cambria Math" panose="02040503050406030204" pitchFamily="18" charset="0"/>
                  </a:rPr>
                  <a:t>$px+qy=1$</a:t>
                </a:r>
                <a:r>
                  <a:rPr sz="2400" b="0">
                    <a:solidFill>
                      <a:srgbClr val="111827"/>
                    </a:solidFill>
                    <a:latin typeface="Arial"/>
                  </a:rPr>
                  <a:t> are the polars of the points </a:t>
                </a:r>
                <a:r>
                  <a:rPr lang="en-IN" sz="2400">
                    <a:solidFill>
                      <a:srgbClr val="111827"/>
                    </a:solidFill>
                    <a:latin typeface="Cambria Math" panose="02040503050406030204" pitchFamily="18" charset="0"/>
                  </a:rPr>
                  <a:t>$(p,q)$</a:t>
                </a:r>
                <a:r>
                  <a:rPr sz="2400" b="0">
                    <a:solidFill>
                      <a:srgbClr val="111827"/>
                    </a:solidFill>
                    <a:latin typeface="Arial"/>
                  </a:rPr>
                  <a:t> with respect to the unit circle - the pairing makes concurrency and perpendicularity conditions easy.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line: </a:t>
                </a:r>
                <a:r>
                  <a:rPr lang="en-IN" sz="2400">
                    <a:solidFill>
                      <a:srgbClr val="111827"/>
                    </a:solidFill>
                    <a:latin typeface="Cambria Math" panose="02040503050406030204" pitchFamily="18" charset="0"/>
                  </a:rPr>
                  <a:t>$H$</a:t>
                </a:r>
                <a:r>
                  <a:rPr sz="2400" b="0">
                    <a:solidFill>
                      <a:srgbClr val="111827"/>
                    </a:solidFill>
                    <a:latin typeface="Arial"/>
                  </a:rPr>
                  <a:t>,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$O$</a:t>
                </a:r>
                <a:r>
                  <a:rPr sz="2400" b="0">
                    <a:solidFill>
                      <a:srgbClr val="111827"/>
                    </a:solidFill>
                    <a:latin typeface="Arial"/>
                  </a:rPr>
                  <a:t> collinear with </a:t>
                </a:r>
                <a:r>
                  <a:rPr lang="en-IN" sz="2400">
                    <a:solidFill>
                      <a:srgbClr val="111827"/>
                    </a:solidFill>
                    <a:latin typeface="Cambria Math" panose="02040503050406030204" pitchFamily="18" charset="0"/>
                  </a:rPr>
                  <a:t>$HG:GO=2:1$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ray of light passing through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reflects on the line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the reflected ray passes through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equation of the incident ray is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ray of light passing through the point </a:t>
                </a:r>
                <a:r>
                  <a:rPr lang="en-IN" sz="2400">
                    <a:solidFill>
                      <a:srgbClr val="111827"/>
                    </a:solidFill>
                    <a:latin typeface="Cambria Math" panose="02040503050406030204" pitchFamily="18" charset="0"/>
                  </a:rPr>
                  <a:t>$(3,10)$</a:t>
                </a:r>
                <a:r>
                  <a:rPr sz="2400" b="0">
                    <a:solidFill>
                      <a:srgbClr val="111827"/>
                    </a:solidFill>
                    <a:latin typeface="Arial"/>
                  </a:rPr>
                  <a:t> reflects on the line </a:t>
                </a:r>
                <a:r>
                  <a:rPr lang="en-IN" sz="2400">
                    <a:solidFill>
                      <a:srgbClr val="111827"/>
                    </a:solidFill>
                    <a:latin typeface="Cambria Math" panose="02040503050406030204" pitchFamily="18" charset="0"/>
                  </a:rPr>
                  <a:t>$2x+y=6$</a:t>
                </a:r>
                <a:r>
                  <a:rPr sz="2400" b="0">
                    <a:solidFill>
                      <a:srgbClr val="111827"/>
                    </a:solidFill>
                    <a:latin typeface="Arial"/>
                  </a:rPr>
                  <a:t> and the reflected ray passes through the point </a:t>
                </a:r>
                <a:r>
                  <a:rPr lang="en-IN" sz="2400">
                    <a:solidFill>
                      <a:srgbClr val="111827"/>
                    </a:solidFill>
                    <a:latin typeface="Cambria Math" panose="02040503050406030204" pitchFamily="18" charset="0"/>
                  </a:rPr>
                  <a:t>$(7,2)$</a:t>
                </a:r>
                <a:r>
                  <a:rPr sz="2400" b="0">
                    <a:solidFill>
                      <a:srgbClr val="111827"/>
                    </a:solidFill>
                    <a:latin typeface="Arial"/>
                  </a:rPr>
                  <a:t>. If the equation of the incident ray is </a:t>
                </a:r>
                <a:r>
                  <a:rPr lang="en-IN" sz="2400">
                    <a:solidFill>
                      <a:srgbClr val="111827"/>
                    </a:solidFill>
                    <a:latin typeface="Cambria Math" panose="02040503050406030204" pitchFamily="18" charset="0"/>
                  </a:rPr>
                  <a:t>$ax+by+1=0$</a:t>
                </a:r>
                <a:r>
                  <a:rPr sz="2400" b="0">
                    <a:solidFill>
                      <a:srgbClr val="111827"/>
                    </a:solidFill>
                    <a:latin typeface="Arial"/>
                  </a:rPr>
                  <a:t>, then </a:t>
                </a:r>
                <a:r>
                  <a:rPr lang="en-IN" sz="2400">
                    <a:solidFill>
                      <a:srgbClr val="111827"/>
                    </a:solidFill>
                    <a:latin typeface="Cambria Math" panose="02040503050406030204" pitchFamily="18" charset="0"/>
                  </a:rPr>
                  <a:t>$a^2+b^2+3ab$</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Reflection of a ray in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image of the source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 the mirror lies on the reflected ray; its line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meets the mirror at the point of incidence.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image of the source </a:t>
                </a:r>
                <a:r>
                  <a:rPr lang="en-IN" sz="2400">
                    <a:solidFill>
                      <a:srgbClr val="78350F"/>
                    </a:solidFill>
                    <a:latin typeface="Cambria Math" panose="02040503050406030204" pitchFamily="18" charset="0"/>
                  </a:rPr>
                  <a:t>$(3,10)$</a:t>
                </a:r>
                <a:r>
                  <a:rPr sz="2400" b="0">
                    <a:solidFill>
                      <a:srgbClr val="78350F"/>
                    </a:solidFill>
                    <a:latin typeface="Arial"/>
                  </a:rPr>
                  <a:t> in the mirror lies on the reflected ray; its line to </a:t>
                </a:r>
                <a:r>
                  <a:rPr lang="en-IN" sz="2400">
                    <a:solidFill>
                      <a:srgbClr val="78350F"/>
                    </a:solidFill>
                    <a:latin typeface="Cambria Math" panose="02040503050406030204" pitchFamily="18" charset="0"/>
                  </a:rPr>
                  <a:t>$(7,2)$</a:t>
                </a:r>
                <a:r>
                  <a:rPr sz="2400" b="0">
                    <a:solidFill>
                      <a:srgbClr val="78350F"/>
                    </a:solidFill>
                    <a:latin typeface="Arial"/>
                  </a:rPr>
                  <a:t> meets the mirror at the point of incidence.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Image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reflected ray is the line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𝐵</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of incidence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is where it meets the mirror: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Image </a:t>
                </a:r>
                <a:r>
                  <a:rPr lang="en-IN" sz="2400">
                    <a:solidFill>
                      <a:srgbClr val="111827"/>
                    </a:solidFill>
                    <a:latin typeface="Cambria Math" panose="02040503050406030204" pitchFamily="18" charset="0"/>
                  </a:rPr>
                  <a:t>$A'$</a:t>
                </a:r>
                <a:r>
                  <a:rPr sz="2400" b="0">
                    <a:solidFill>
                      <a:srgbClr val="111827"/>
                    </a:solidFill>
                    <a:latin typeface="Arial"/>
                  </a:rPr>
                  <a:t> of </a:t>
                </a:r>
                <a:r>
                  <a:rPr lang="en-IN" sz="2400">
                    <a:solidFill>
                      <a:srgbClr val="111827"/>
                    </a:solidFill>
                    <a:latin typeface="Cambria Math" panose="02040503050406030204" pitchFamily="18" charset="0"/>
                  </a:rPr>
                  <a:t>$A(3,10)$</a:t>
                </a:r>
                <a:r>
                  <a:rPr sz="2400" b="0">
                    <a:solidFill>
                      <a:srgbClr val="111827"/>
                    </a:solidFill>
                    <a:latin typeface="Arial"/>
                  </a:rPr>
                  <a:t> in </a:t>
                </a:r>
                <a:r>
                  <a:rPr lang="en-IN" sz="2400">
                    <a:solidFill>
                      <a:srgbClr val="111827"/>
                    </a:solidFill>
                    <a:latin typeface="Cambria Math" panose="02040503050406030204" pitchFamily="18" charset="0"/>
                  </a:rPr>
                  <a:t>$2x+y-6=0$</a:t>
                </a:r>
                <a:r>
                  <a:rPr sz="2400" b="0">
                    <a:solidFill>
                      <a:srgbClr val="111827"/>
                    </a:solidFill>
                    <a:latin typeface="Arial"/>
                  </a:rPr>
                  <a:t>: </a:t>
                </a:r>
                <a:r>
                  <a:rPr lang="en-IN" sz="2400">
                    <a:solidFill>
                      <a:srgbClr val="111827"/>
                    </a:solidFill>
                    <a:latin typeface="Cambria Math" panose="02040503050406030204" pitchFamily="18" charset="0"/>
                  </a:rPr>
                  <a:t>$\frac{x-3}{2}=\frac{y-10}{1}=-\frac{2(6+10-6)}{4+1}=-4$</a:t>
                </a:r>
                <a:r>
                  <a:rPr sz="2400" b="0">
                    <a:solidFill>
                      <a:srgbClr val="111827"/>
                    </a:solidFill>
                    <a:latin typeface="Arial"/>
                  </a:rPr>
                  <a:t>, so </a:t>
                </a:r>
                <a:r>
                  <a:rPr lang="en-IN" sz="2400">
                    <a:solidFill>
                      <a:srgbClr val="111827"/>
                    </a:solidFill>
                    <a:latin typeface="Cambria Math" panose="02040503050406030204" pitchFamily="18" charset="0"/>
                  </a:rPr>
                  <a:t>$A'(-5,6)$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reflected ray is the line </a:t>
                </a:r>
                <a:r>
                  <a:rPr lang="en-IN" sz="2400">
                    <a:solidFill>
                      <a:srgbClr val="111827"/>
                    </a:solidFill>
                    <a:latin typeface="Cambria Math" panose="02040503050406030204" pitchFamily="18" charset="0"/>
                  </a:rPr>
                  <a:t>$A'B$</a:t>
                </a:r>
                <a:r>
                  <a:rPr sz="2400" b="0">
                    <a:solidFill>
                      <a:srgbClr val="111827"/>
                    </a:solidFill>
                    <a:latin typeface="Arial"/>
                  </a:rPr>
                  <a:t> with </a:t>
                </a:r>
                <a:r>
                  <a:rPr lang="en-IN" sz="2400">
                    <a:solidFill>
                      <a:srgbClr val="111827"/>
                    </a:solidFill>
                    <a:latin typeface="Cambria Math" panose="02040503050406030204" pitchFamily="18" charset="0"/>
                  </a:rPr>
                  <a:t>$B(7,2)$</a:t>
                </a:r>
                <a:r>
                  <a:rPr sz="2400" b="0">
                    <a:solidFill>
                      <a:srgbClr val="111827"/>
                    </a:solidFill>
                    <a:latin typeface="Arial"/>
                  </a:rPr>
                  <a:t>: slope </a:t>
                </a:r>
                <a:r>
                  <a:rPr lang="en-IN" sz="2400">
                    <a:solidFill>
                      <a:srgbClr val="111827"/>
                    </a:solidFill>
                    <a:latin typeface="Cambria Math" panose="02040503050406030204" pitchFamily="18" charset="0"/>
                  </a:rPr>
                  <a:t>$\frac{2-6}{7+5}=-\frac{1}{3}$</a:t>
                </a:r>
                <a:r>
                  <a:rPr sz="2400" b="0">
                    <a:solidFill>
                      <a:srgbClr val="111827"/>
                    </a:solidFill>
                    <a:latin typeface="Arial"/>
                  </a:rPr>
                  <a:t>, i.e. </a:t>
                </a:r>
                <a:r>
                  <a:rPr lang="en-IN" sz="2400">
                    <a:solidFill>
                      <a:srgbClr val="111827"/>
                    </a:solidFill>
                    <a:latin typeface="Cambria Math" panose="02040503050406030204" pitchFamily="18" charset="0"/>
                  </a:rPr>
                  <a:t>$x+3y=13$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of incidence </a:t>
                </a:r>
                <a:r>
                  <a:rPr lang="en-IN" sz="2400">
                    <a:solidFill>
                      <a:srgbClr val="111827"/>
                    </a:solidFill>
                    <a:latin typeface="Cambria Math" panose="02040503050406030204" pitchFamily="18" charset="0"/>
                  </a:rPr>
                  <a:t>$Q$</a:t>
                </a:r>
                <a:r>
                  <a:rPr sz="2400" b="0">
                    <a:solidFill>
                      <a:srgbClr val="111827"/>
                    </a:solidFill>
                    <a:latin typeface="Arial"/>
                  </a:rPr>
                  <a:t> is where it meets the mirror: </a:t>
                </a:r>
                <a:r>
                  <a:rPr lang="en-IN" sz="2400">
                    <a:solidFill>
                      <a:srgbClr val="111827"/>
                    </a:solidFill>
                    <a:latin typeface="Cambria Math" panose="02040503050406030204" pitchFamily="18" charset="0"/>
                  </a:rPr>
                  <a:t>$2x+y=6$</a:t>
                </a:r>
                <a:r>
                  <a:rPr sz="2400" b="0">
                    <a:solidFill>
                      <a:srgbClr val="111827"/>
                    </a:solidFill>
                    <a:latin typeface="Arial"/>
                  </a:rPr>
                  <a:t> and </a:t>
                </a:r>
                <a:r>
                  <a:rPr lang="en-IN" sz="2400">
                    <a:solidFill>
                      <a:srgbClr val="111827"/>
                    </a:solidFill>
                    <a:latin typeface="Cambria Math" panose="02040503050406030204" pitchFamily="18" charset="0"/>
                  </a:rPr>
                  <a:t>$x+3y=13$</a:t>
                </a:r>
                <a:r>
                  <a:rPr sz="2400" b="0">
                    <a:solidFill>
                      <a:srgbClr val="111827"/>
                    </a:solidFill>
                    <a:latin typeface="Arial"/>
                  </a:rPr>
                  <a:t> give </a:t>
                </a:r>
                <a:r>
                  <a:rPr lang="en-IN" sz="2400">
                    <a:solidFill>
                      <a:srgbClr val="111827"/>
                    </a:solidFill>
                    <a:latin typeface="Cambria Math" panose="02040503050406030204" pitchFamily="18" charset="0"/>
                  </a:rPr>
                  <a:t>$y=4$</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so </a:t>
                </a:r>
                <a:r>
                  <a:rPr lang="en-IN" sz="2400">
                    <a:solidFill>
                      <a:srgbClr val="111827"/>
                    </a:solidFill>
                    <a:latin typeface="Cambria Math" panose="02040503050406030204" pitchFamily="18" charset="0"/>
                  </a:rPr>
                  <a:t>$Q=(1,4)$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incident ray passes through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incident ray passes through </a:t>
                </a:r>
                <a:r>
                  <a:rPr lang="en-IN" sz="2400">
                    <a:solidFill>
                      <a:srgbClr val="111827"/>
                    </a:solidFill>
                    <a:latin typeface="Cambria Math" panose="02040503050406030204" pitchFamily="18" charset="0"/>
                  </a:rPr>
                  <a:t>$A(3,10)$</a:t>
                </a:r>
                <a:r>
                  <a:rPr sz="2400" b="0">
                    <a:solidFill>
                      <a:srgbClr val="111827"/>
                    </a:solidFill>
                    <a:latin typeface="Arial"/>
                  </a:rPr>
                  <a:t> and </a:t>
                </a:r>
                <a:r>
                  <a:rPr lang="en-IN" sz="2400">
                    <a:solidFill>
                      <a:srgbClr val="111827"/>
                    </a:solidFill>
                    <a:latin typeface="Cambria Math" panose="02040503050406030204" pitchFamily="18" charset="0"/>
                  </a:rPr>
                  <a:t>$Q(1,4)$</a:t>
                </a:r>
                <a:r>
                  <a:rPr sz="2400" b="0">
                    <a:solidFill>
                      <a:srgbClr val="111827"/>
                    </a:solidFill>
                    <a:latin typeface="Arial"/>
                  </a:rPr>
                  <a:t>: slope </a:t>
                </a:r>
                <a:r>
                  <a:rPr lang="en-IN" sz="2400">
                    <a:solidFill>
                      <a:srgbClr val="111827"/>
                    </a:solidFill>
                    <a:latin typeface="Cambria Math" panose="02040503050406030204" pitchFamily="18" charset="0"/>
                  </a:rPr>
                  <a:t>$\frac{4-10}{1-3}=3$</a:t>
                </a:r>
                <a:r>
                  <a:rPr sz="2400" b="0">
                    <a:solidFill>
                      <a:srgbClr val="111827"/>
                    </a:solidFill>
                    <a:latin typeface="Arial"/>
                  </a:rPr>
                  <a:t>, so </a:t>
                </a:r>
                <a:r>
                  <a:rPr lang="en-IN" sz="2400">
                    <a:solidFill>
                      <a:srgbClr val="111827"/>
                    </a:solidFill>
                    <a:latin typeface="Cambria Math" panose="02040503050406030204" pitchFamily="18" charset="0"/>
                  </a:rPr>
                  <a:t>$y-10=3(x-3)$</a:t>
                </a:r>
                <a:r>
                  <a:rPr sz="2400" b="0">
                    <a:solidFill>
                      <a:srgbClr val="111827"/>
                    </a:solidFill>
                    <a:latin typeface="Arial"/>
                  </a:rPr>
                  <a:t>, i.e. </a:t>
                </a:r>
                <a:r>
                  <a:rPr lang="en-IN" sz="2400">
                    <a:solidFill>
                      <a:srgbClr val="111827"/>
                    </a:solidFill>
                    <a:latin typeface="Cambria Math" panose="02040503050406030204" pitchFamily="18" charset="0"/>
                  </a:rPr>
                  <a:t>$3x-y+1=0$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$ax+by+1=0$</a:t>
                </a:r>
                <a:r>
                  <a:rPr sz="2400" b="0">
                    <a:solidFill>
                      <a:srgbClr val="111827"/>
                    </a:solidFill>
                    <a:latin typeface="Arial"/>
                  </a:rPr>
                  <a:t>: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$a^2+b^2+3ab=9+1-9=1$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Both points are at the same distance (</a:t>
                </a:r>
                <a14:m>
                  <m:oMath xmlns:m="http://schemas.openxmlformats.org/officeDocument/2006/math">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5</m:t>
                        </m:r>
                      </m:e>
                    </m:rad>
                  </m:oMath>
                </a14:m>
                <a:r>
                  <a:rPr sz="2400" b="0">
                    <a:solidFill>
                      <a:srgbClr val="78350F"/>
                    </a:solidFill>
                    <a:latin typeface="Arial"/>
                  </a:rPr>
                  <a:t>) from the mirror and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is parallel to it, so the point of incidence is the foot of the perpendicular from the midpoint of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Both points are at the same distance (</a:t>
                </a:r>
                <a:r>
                  <a:rPr lang="en-IN" sz="2400">
                    <a:solidFill>
                      <a:srgbClr val="78350F"/>
                    </a:solidFill>
                    <a:latin typeface="Cambria Math" panose="02040503050406030204" pitchFamily="18" charset="0"/>
                  </a:rPr>
                  <a:t>$2\sqrt5$</a:t>
                </a:r>
                <a:r>
                  <a:rPr sz="2400" b="0">
                    <a:solidFill>
                      <a:srgbClr val="78350F"/>
                    </a:solidFill>
                    <a:latin typeface="Arial"/>
                  </a:rPr>
                  <a:t>) from the mirror and </a:t>
                </a:r>
                <a:r>
                  <a:rPr lang="en-IN" sz="2400">
                    <a:solidFill>
                      <a:srgbClr val="78350F"/>
                    </a:solidFill>
                    <a:latin typeface="Cambria Math" panose="02040503050406030204" pitchFamily="18" charset="0"/>
                  </a:rPr>
                  <a:t>$AB$</a:t>
                </a:r>
                <a:r>
                  <a:rPr sz="2400" b="0">
                    <a:solidFill>
                      <a:srgbClr val="78350F"/>
                    </a:solidFill>
                    <a:latin typeface="Arial"/>
                  </a:rPr>
                  <a:t> is parallel to it, so the point of incidence is the foot of the perpendicular from the midpoint of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Distances from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Equal, and both on the same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mirror (slope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equals the mirror's slope). The path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symmetric about the perpendicular through 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foot 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Distances from </a:t>
                </a:r>
                <a:r>
                  <a:rPr lang="en-IN" sz="2400">
                    <a:solidFill>
                      <a:srgbClr val="111827"/>
                    </a:solidFill>
                    <a:latin typeface="Cambria Math" panose="02040503050406030204" pitchFamily="18" charset="0"/>
                  </a:rPr>
                  <a:t>$2x+y-6=0$</a:t>
                </a:r>
                <a:r>
                  <a:rPr sz="2400" b="0">
                    <a:solidFill>
                      <a:srgbClr val="111827"/>
                    </a:solidFill>
                    <a:latin typeface="Arial"/>
                  </a:rPr>
                  <a:t>: </a:t>
                </a:r>
                <a:r>
                  <a:rPr lang="en-IN" sz="2400">
                    <a:solidFill>
                      <a:srgbClr val="111827"/>
                    </a:solidFill>
                    <a:latin typeface="Cambria Math" panose="02040503050406030204" pitchFamily="18" charset="0"/>
                  </a:rPr>
                  <a:t>$A(3,10)$</a:t>
                </a:r>
                <a:r>
                  <a:rPr sz="2400" b="0">
                    <a:solidFill>
                      <a:srgbClr val="111827"/>
                    </a:solidFill>
                    <a:latin typeface="Arial"/>
                  </a:rPr>
                  <a:t>: </a:t>
                </a:r>
                <a:r>
                  <a:rPr lang="en-IN" sz="2400">
                    <a:solidFill>
                      <a:srgbClr val="111827"/>
                    </a:solidFill>
                    <a:latin typeface="Cambria Math" panose="02040503050406030204" pitchFamily="18" charset="0"/>
                  </a:rPr>
                  <a:t>$\frac{|6+10-6|}{\sqrt{5}}=2\sqrt{5}$</a:t>
                </a:r>
                <a:r>
                  <a:rPr sz="2400" b="0">
                    <a:solidFill>
                      <a:srgbClr val="111827"/>
                    </a:solidFill>
                    <a:latin typeface="Arial"/>
                  </a:rPr>
                  <a:t>; </a:t>
                </a:r>
                <a:r>
                  <a:rPr lang="en-IN" sz="2400">
                    <a:solidFill>
                      <a:srgbClr val="111827"/>
                    </a:solidFill>
                    <a:latin typeface="Cambria Math" panose="02040503050406030204" pitchFamily="18" charset="0"/>
                  </a:rPr>
                  <a:t>$B(7,2)$</a:t>
                </a:r>
                <a:r>
                  <a:rPr sz="2400" b="0">
                    <a:solidFill>
                      <a:srgbClr val="111827"/>
                    </a:solidFill>
                    <a:latin typeface="Arial"/>
                  </a:rPr>
                  <a:t>: </a:t>
                </a:r>
                <a:r>
                  <a:rPr lang="en-IN" sz="2400">
                    <a:solidFill>
                      <a:srgbClr val="111827"/>
                    </a:solidFill>
                    <a:latin typeface="Cambria Math" panose="02040503050406030204" pitchFamily="18" charset="0"/>
                  </a:rPr>
                  <a:t>$\frac{|14+2-6|}{\sqrt{5}}=2\sqrt{5}$</a:t>
                </a:r>
                <a:r>
                  <a:rPr sz="2400" b="0">
                    <a:solidFill>
                      <a:srgbClr val="111827"/>
                    </a:solidFill>
                    <a:latin typeface="Arial"/>
                  </a:rPr>
                  <a:t>. Equal, and both on the same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$AB\parallel$</a:t>
                </a:r>
                <a:r>
                  <a:rPr sz="2400" b="0">
                    <a:solidFill>
                      <a:srgbClr val="111827"/>
                    </a:solidFill>
                    <a:latin typeface="Arial"/>
                  </a:rPr>
                  <a:t> mirror (slope of </a:t>
                </a:r>
                <a:r>
                  <a:rPr lang="en-IN" sz="2400">
                    <a:solidFill>
                      <a:srgbClr val="111827"/>
                    </a:solidFill>
                    <a:latin typeface="Cambria Math" panose="02040503050406030204" pitchFamily="18" charset="0"/>
                  </a:rPr>
                  <a:t>$AB=\frac{2-10}{7-3}=-2$</a:t>
                </a:r>
                <a:r>
                  <a:rPr sz="2400" b="0">
                    <a:solidFill>
                      <a:srgbClr val="111827"/>
                    </a:solidFill>
                    <a:latin typeface="Arial"/>
                  </a:rPr>
                  <a:t> equals the mirror's slope). The path </a:t>
                </a:r>
                <a:r>
                  <a:rPr lang="en-IN" sz="2400">
                    <a:solidFill>
                      <a:srgbClr val="111827"/>
                    </a:solidFill>
                    <a:latin typeface="Cambria Math" panose="02040503050406030204" pitchFamily="18" charset="0"/>
                  </a:rPr>
                  <a:t>$A\to Q\to B$</a:t>
                </a:r>
                <a:r>
                  <a:rPr sz="2400" b="0">
                    <a:solidFill>
                      <a:srgbClr val="111827"/>
                    </a:solidFill>
                    <a:latin typeface="Arial"/>
                  </a:rPr>
                  <a:t> is symmetric about the perpendicular through the midpoint of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 is </a:t>
                </a:r>
                <a:r>
                  <a:rPr lang="en-IN" sz="2400">
                    <a:solidFill>
                      <a:srgbClr val="111827"/>
                    </a:solidFill>
                    <a:latin typeface="Cambria Math" panose="02040503050406030204" pitchFamily="18" charset="0"/>
                  </a:rPr>
                  <a:t>$(5,6)$</a:t>
                </a:r>
                <a:r>
                  <a:rPr sz="2400" b="0">
                    <a:solidFill>
                      <a:srgbClr val="111827"/>
                    </a:solidFill>
                    <a:latin typeface="Arial"/>
                  </a:rPr>
                  <a:t>; its foot on </a:t>
                </a:r>
                <a:r>
                  <a:rPr lang="en-IN" sz="2400">
                    <a:solidFill>
                      <a:srgbClr val="111827"/>
                    </a:solidFill>
                    <a:latin typeface="Cambria Math" panose="02040503050406030204" pitchFamily="18" charset="0"/>
                  </a:rPr>
                  <a:t>$2x+y=6$</a:t>
                </a:r>
                <a:r>
                  <a:rPr sz="2400" b="0">
                    <a:solidFill>
                      <a:srgbClr val="111827"/>
                    </a:solidFill>
                    <a:latin typeface="Arial"/>
                  </a:rPr>
                  <a:t> is </a:t>
                </a:r>
                <a:r>
                  <a:rPr lang="en-IN" sz="2400">
                    <a:solidFill>
                      <a:srgbClr val="111827"/>
                    </a:solidFill>
                    <a:latin typeface="Cambria Math" panose="02040503050406030204" pitchFamily="18" charset="0"/>
                  </a:rPr>
                  <a:t>$(5,6)-\frac{10}{5}(2,1)=(1,4)=Q$</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Incident ray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oMath>
                </a14:m>
                <a:r>
                  <a:rPr sz="2400" b="0">
                    <a:solidFill>
                      <a:srgbClr val="111827"/>
                    </a:solidFill>
                    <a:latin typeface="Arial"/>
                  </a:rPr>
                  <a:t>: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Incident ray </a:t>
                </a:r>
                <a:r>
                  <a:rPr lang="en-IN" sz="2400">
                    <a:solidFill>
                      <a:srgbClr val="111827"/>
                    </a:solidFill>
                    <a:latin typeface="Cambria Math" panose="02040503050406030204" pitchFamily="18" charset="0"/>
                  </a:rPr>
                  <a:t>$AQ$</a:t>
                </a:r>
                <a:r>
                  <a:rPr sz="2400" b="0">
                    <a:solidFill>
                      <a:srgbClr val="111827"/>
                    </a:solidFill>
                    <a:latin typeface="Arial"/>
                  </a:rPr>
                  <a:t>: slope </a:t>
                </a:r>
                <a:r>
                  <a:rPr lang="en-IN" sz="2400">
                    <a:solidFill>
                      <a:srgbClr val="111827"/>
                    </a:solidFill>
                    <a:latin typeface="Cambria Math" panose="02040503050406030204" pitchFamily="18" charset="0"/>
                  </a:rPr>
                  <a:t>$\frac{4-10}{1-3}=3$</a:t>
                </a:r>
                <a:r>
                  <a:rPr sz="2400" b="0">
                    <a:solidFill>
                      <a:srgbClr val="111827"/>
                    </a:solidFill>
                    <a:latin typeface="Arial"/>
                  </a:rPr>
                  <a:t>, so </a:t>
                </a:r>
                <a:r>
                  <a:rPr lang="en-IN" sz="2400">
                    <a:solidFill>
                      <a:srgbClr val="111827"/>
                    </a:solidFill>
                    <a:latin typeface="Cambria Math" panose="02040503050406030204" pitchFamily="18" charset="0"/>
                  </a:rPr>
                  <a:t>$3x-y+1=0$</a:t>
                </a:r>
                <a:r>
                  <a:rPr sz="2400" b="0">
                    <a:solidFill>
                      <a:srgbClr val="111827"/>
                    </a:solidFill>
                    <a:latin typeface="Arial"/>
                  </a:rPr>
                  <a:t> and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$a^2+b^2+3ab=9+1-9=1$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a:t>
            </a:r>
            <a:endParaRPr sz="2800">
              <a:solidFill>
                <a:srgbClr val="15803D"/>
              </a:solidFill>
            </a:endParaRP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Image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source and target are equidistant from the mirror (so the segment joining them is parallel to it), the point of incidence is the foot of the perpendicular from the midpoint of the segment.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its constant normalised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divide the equation by the constant term, then read off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Image of </a:t>
                </a:r>
                <a:r>
                  <a:rPr lang="en-IN" sz="2400">
                    <a:solidFill>
                      <a:srgbClr val="111827"/>
                    </a:solidFill>
                    <a:latin typeface="Cambria Math" panose="02040503050406030204" pitchFamily="18" charset="0"/>
                  </a:rPr>
                  <a:t>$(x_1,y_1)$</a:t>
                </a:r>
                <a:r>
                  <a:rPr sz="2400" b="0">
                    <a:solidFill>
                      <a:srgbClr val="111827"/>
                    </a:solidFill>
                    <a:latin typeface="Arial"/>
                  </a:rPr>
                  <a:t> in </a:t>
                </a:r>
                <a:r>
                  <a:rPr lang="en-IN" sz="2400">
                    <a:solidFill>
                      <a:srgbClr val="111827"/>
                    </a:solidFill>
                    <a:latin typeface="Cambria Math" panose="02040503050406030204" pitchFamily="18" charset="0"/>
                  </a:rPr>
                  <a:t>$ax+by+c=0$</a:t>
                </a:r>
                <a:r>
                  <a:rPr sz="2400" b="0">
                    <a:solidFill>
                      <a:srgbClr val="111827"/>
                    </a:solidFill>
                    <a:latin typeface="Arial"/>
                  </a:rPr>
                  <a:t>: </a:t>
                </a:r>
                <a:r>
                  <a:rPr lang="en-IN" sz="2400">
                    <a:solidFill>
                      <a:srgbClr val="111827"/>
                    </a:solidFill>
                    <a:latin typeface="Cambria Math" panose="02040503050406030204" pitchFamily="18" charset="0"/>
                  </a:rPr>
                  <a:t>$\frac{x-x_1}{a}=\frac{y-y_1}{b}=-\frac{2(ax_1+by_1+c)}{a^2+b^2}$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source and target are equidistant from the mirror (so the segment joining them is parallel to it), the point of incidence is the foot of the perpendicular from the midpoint of the segment.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a:t>
                </a:r>
                <a:r>
                  <a:rPr lang="en-IN" sz="2400">
                    <a:solidFill>
                      <a:srgbClr val="111827"/>
                    </a:solidFill>
                    <a:latin typeface="Cambria Math" panose="02040503050406030204" pitchFamily="18" charset="0"/>
                  </a:rPr>
                  <a:t>$ax+by+1=0$</a:t>
                </a:r>
                <a:r>
                  <a:rPr sz="2400" b="0">
                    <a:solidFill>
                      <a:srgbClr val="111827"/>
                    </a:solidFill>
                    <a:latin typeface="Arial"/>
                  </a:rPr>
                  <a:t> has its constant normalised to </a:t>
                </a:r>
                <a:r>
                  <a:rPr lang="en-IN" sz="2400">
                    <a:solidFill>
                      <a:srgbClr val="111827"/>
                    </a:solidFill>
                    <a:latin typeface="Cambria Math" panose="02040503050406030204" pitchFamily="18" charset="0"/>
                  </a:rPr>
                  <a:t>$1$</a:t>
                </a:r>
                <a:r>
                  <a:rPr sz="2400" b="0">
                    <a:solidFill>
                      <a:srgbClr val="111827"/>
                    </a:solidFill>
                    <a:latin typeface="Arial"/>
                  </a:rPr>
                  <a:t>: divide the equation by the constant term, then read off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(8/9)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(9/9)</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2.05</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9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24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11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44 questions, 176 marks.  Index = Σ(marks × level) ÷ Σ marks, on the 0-5 scale.</a:t>
            </a:r>
            <a:endParaRPr sz="2400">
              <a:solidFill>
                <a:srgbClr val="111827"/>
              </a:solidFill>
            </a:endParaRP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Straight Line (JEE Main) SHEET STRAIGHT LINE · Exercise J-M · detailed solutions</a:t>
                      </a:r>
                    </a:p>
                  </a:txBody>
                  <a:tcPr anchor="ctr" marL="137160" marR="137160">
                    <a:solidFill>
                      <a:srgbClr val="E0ECFF"/>
                    </a:solidFill>
                  </a:tcPr>
                </a:tc>
                <a:tc>
                  <a:txBody>
                    <a:bodyPr/>
                    <a:lstStyle/>
                    <a:p>
                      <a:pPr algn="ctr"/>
                      <a:r>
                        <a:rPr sz="2600" b="1">
                          <a:solidFill>
                            <a:srgbClr val="0B1F3A"/>
                          </a:solidFill>
                          <a:latin typeface="Arial"/>
                        </a:rPr>
                        <a:t>2.05</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