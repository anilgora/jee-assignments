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 id="544" r:id="rId296"/>
    <p:sldId id="545" r:id="rId297"/>
    <p:sldId id="546" r:id="rId298"/>
    <p:sldId id="547" r:id="rId299"/>
    <p:sldId id="548" r:id="rId300"/>
    <p:sldId id="549" r:id="rId301"/>
    <p:sldId id="550" r:id="rId302"/>
    <p:sldId id="551" r:id="rId303"/>
    <p:sldId id="552" r:id="rId304"/>
    <p:sldId id="553" r:id="rId305"/>
    <p:sldId id="554" r:id="rId306"/>
    <p:sldId id="555" r:id="rId307"/>
    <p:sldId id="556" r:id="rId308"/>
    <p:sldId id="557" r:id="rId309"/>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 id="575" r:id="rId327"/>
    <p:sldId id="576" r:id="rId328"/>
    <p:sldId id="577" r:id="rId329"/>
    <p:sldId id="578" r:id="rId330"/>
    <p:sldId id="579" r:id="rId331"/>
    <p:sldId id="580" r:id="rId332"/>
    <p:sldId id="581" r:id="rId333"/>
    <p:sldId id="582" r:id="rId334"/>
    <p:sldId id="583" r:id="rId335"/>
    <p:sldId id="584" r:id="rId336"/>
    <p:sldId id="585" r:id="rId337"/>
    <p:sldId id="586" r:id="rId338"/>
    <p:sldId id="587" r:id="rId339"/>
    <p:sldId id="588" r:id="rId340"/>
    <p:sldId id="589" r:id="rId341"/>
    <p:sldId id="590" r:id="rId342"/>
    <p:sldId id="591" r:id="rId343"/>
    <p:sldId id="592" r:id="rId344"/>
    <p:sldId id="593" r:id="rId345"/>
    <p:sldId id="594" r:id="rId346"/>
    <p:sldId id="595" r:id="rId347"/>
    <p:sldId id="596" r:id="rId348"/>
    <p:sldId id="597" r:id="rId349"/>
    <p:sldId id="598" r:id="rId350"/>
    <p:sldId id="599" r:id="rId351"/>
    <p:sldId id="600" r:id="rId352"/>
    <p:sldId id="601" r:id="rId353"/>
    <p:sldId id="602" r:id="rId354"/>
    <p:sldId id="603" r:id="rId355"/>
    <p:sldId id="604" r:id="rId356"/>
    <p:sldId id="605" r:id="rId357"/>
    <p:sldId id="606" r:id="rId358"/>
    <p:sldId id="607" r:id="rId359"/>
    <p:sldId id="608" r:id="rId360"/>
    <p:sldId id="609" r:id="rId361"/>
    <p:sldId id="610" r:id="rId362"/>
    <p:sldId id="611" r:id="rId363"/>
    <p:sldId id="612" r:id="rId364"/>
    <p:sldId id="613" r:id="rId365"/>
    <p:sldId id="614" r:id="rId366"/>
    <p:sldId id="615" r:id="rId367"/>
    <p:sldId id="616" r:id="rId368"/>
    <p:sldId id="617" r:id="rId369"/>
    <p:sldId id="618" r:id="rId370"/>
    <p:sldId id="619" r:id="rId371"/>
    <p:sldId id="620" r:id="rId372"/>
    <p:sldId id="621" r:id="rId373"/>
    <p:sldId id="622" r:id="rId374"/>
    <p:sldId id="623" r:id="rId375"/>
    <p:sldId id="624" r:id="rId376"/>
    <p:sldId id="625" r:id="rId377"/>
    <p:sldId id="626" r:id="rId378"/>
    <p:sldId id="627" r:id="rId379"/>
    <p:sldId id="628" r:id="rId380"/>
    <p:sldId id="629" r:id="rId381"/>
    <p:sldId id="630" r:id="rId382"/>
    <p:sldId id="631" r:id="rId383"/>
    <p:sldId id="632" r:id="rId384"/>
    <p:sldId id="633" r:id="rId385"/>
    <p:sldId id="634" r:id="rId386"/>
    <p:sldId id="635" r:id="rId387"/>
    <p:sldId id="636" r:id="rId388"/>
    <p:sldId id="637" r:id="rId389"/>
    <p:sldId id="638" r:id="rId390"/>
    <p:sldId id="639" r:id="rId391"/>
    <p:sldId id="640" r:id="rId392"/>
    <p:sldId id="641" r:id="rId393"/>
    <p:sldId id="642" r:id="rId394"/>
    <p:sldId id="643" r:id="rId395"/>
    <p:sldId id="644" r:id="rId396"/>
    <p:sldId id="645" r:id="rId397"/>
    <p:sldId id="646" r:id="rId398"/>
    <p:sldId id="647" r:id="rId399"/>
    <p:sldId id="648" r:id="rId400"/>
    <p:sldId id="649" r:id="rId401"/>
    <p:sldId id="650" r:id="rId402"/>
    <p:sldId id="651" r:id="rId403"/>
    <p:sldId id="652" r:id="rId404"/>
    <p:sldId id="653" r:id="rId405"/>
    <p:sldId id="654" r:id="rId406"/>
    <p:sldId id="655" r:id="rId407"/>
    <p:sldId id="656" r:id="rId408"/>
    <p:sldId id="657" r:id="rId409"/>
    <p:sldId id="658" r:id="rId410"/>
    <p:sldId id="659" r:id="rId411"/>
    <p:sldId id="660" r:id="rId412"/>
    <p:sldId id="661" r:id="rId413"/>
    <p:sldId id="662" r:id="rId414"/>
    <p:sldId id="663" r:id="rId415"/>
    <p:sldId id="664" r:id="rId416"/>
    <p:sldId id="665" r:id="rId417"/>
    <p:sldId id="666" r:id="rId418"/>
    <p:sldId id="667" r:id="rId419"/>
    <p:sldId id="668" r:id="rId420"/>
    <p:sldId id="669" r:id="rId421"/>
    <p:sldId id="670" r:id="rId422"/>
    <p:sldId id="671" r:id="rId423"/>
    <p:sldId id="672" r:id="rId424"/>
    <p:sldId id="673" r:id="rId425"/>
    <p:sldId id="674" r:id="rId426"/>
    <p:sldId id="675" r:id="rId427"/>
    <p:sldId id="676" r:id="rId428"/>
    <p:sldId id="677" r:id="rId429"/>
    <p:sldId id="678" r:id="rId430"/>
    <p:sldId id="679" r:id="rId431"/>
    <p:sldId id="680" r:id="rId432"/>
    <p:sldId id="681" r:id="rId433"/>
    <p:sldId id="682" r:id="rId434"/>
    <p:sldId id="683" r:id="rId435"/>
    <p:sldId id="684" r:id="rId436"/>
    <p:sldId id="685" r:id="rId437"/>
    <p:sldId id="686" r:id="rId438"/>
    <p:sldId id="687" r:id="rId439"/>
    <p:sldId id="688" r:id="rId440"/>
    <p:sldId id="689" r:id="rId441"/>
    <p:sldId id="690" r:id="rId442"/>
    <p:sldId id="691" r:id="rId443"/>
    <p:sldId id="692" r:id="rId444"/>
    <p:sldId id="693" r:id="rId445"/>
    <p:sldId id="694" r:id="rId446"/>
    <p:sldId id="695" r:id="rId447"/>
    <p:sldId id="696" r:id="rId448"/>
    <p:sldId id="697" r:id="rId449"/>
    <p:sldId id="698" r:id="rId450"/>
    <p:sldId id="699" r:id="rId451"/>
    <p:sldId id="700" r:id="rId452"/>
    <p:sldId id="701" r:id="rId453"/>
    <p:sldId id="702" r:id="rId454"/>
    <p:sldId id="703" r:id="rId455"/>
    <p:sldId id="704" r:id="rId456"/>
    <p:sldId id="705" r:id="rId457"/>
    <p:sldId id="706" r:id="rId458"/>
    <p:sldId id="707" r:id="rId459"/>
    <p:sldId id="708" r:id="rId460"/>
    <p:sldId id="709" r:id="rId461"/>
    <p:sldId id="710" r:id="rId462"/>
    <p:sldId id="711" r:id="rId463"/>
    <p:sldId id="712" r:id="rId464"/>
    <p:sldId id="713" r:id="rId465"/>
    <p:sldId id="714" r:id="rId466"/>
    <p:sldId id="715" r:id="rId467"/>
    <p:sldId id="716" r:id="rId468"/>
    <p:sldId id="717" r:id="rId469"/>
    <p:sldId id="718" r:id="rId470"/>
    <p:sldId id="719" r:id="rId471"/>
    <p:sldId id="720" r:id="rId472"/>
    <p:sldId id="721" r:id="rId473"/>
    <p:sldId id="722" r:id="rId474"/>
    <p:sldId id="723" r:id="rId475"/>
    <p:sldId id="724" r:id="rId476"/>
    <p:sldId id="725" r:id="rId477"/>
    <p:sldId id="726" r:id="rId478"/>
    <p:sldId id="727" r:id="rId479"/>
    <p:sldId id="728" r:id="rId480"/>
    <p:sldId id="729" r:id="rId481"/>
    <p:sldId id="730" r:id="rId482"/>
    <p:sldId id="731" r:id="rId483"/>
    <p:sldId id="732" r:id="rId484"/>
    <p:sldId id="733" r:id="rId485"/>
    <p:sldId id="734" r:id="rId486"/>
    <p:sldId id="735" r:id="rId487"/>
    <p:sldId id="736" r:id="rId488"/>
    <p:sldId id="737" r:id="rId489"/>
    <p:sldId id="738" r:id="rId490"/>
    <p:sldId id="739" r:id="rId491"/>
    <p:sldId id="740" r:id="rId492"/>
    <p:sldId id="741" r:id="rId493"/>
    <p:sldId id="742" r:id="rId494"/>
  </p:sldIdLst>
  <p:sldSz cx="12191695"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slide" Target="slides/slide85.xml"/><Relationship Id="rId93" Type="http://schemas.openxmlformats.org/officeDocument/2006/relationships/slide" Target="slides/slide86.xml"/><Relationship Id="rId94" Type="http://schemas.openxmlformats.org/officeDocument/2006/relationships/slide" Target="slides/slide87.xml"/><Relationship Id="rId95" Type="http://schemas.openxmlformats.org/officeDocument/2006/relationships/slide" Target="slides/slide88.xml"/><Relationship Id="rId96" Type="http://schemas.openxmlformats.org/officeDocument/2006/relationships/slide" Target="slides/slide89.xml"/><Relationship Id="rId97" Type="http://schemas.openxmlformats.org/officeDocument/2006/relationships/slide" Target="slides/slide90.xml"/><Relationship Id="rId98"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4" Type="http://schemas.openxmlformats.org/officeDocument/2006/relationships/slide" Target="slides/slide97.xml"/><Relationship Id="rId105" Type="http://schemas.openxmlformats.org/officeDocument/2006/relationships/slide" Target="slides/slide98.xml"/><Relationship Id="rId106" Type="http://schemas.openxmlformats.org/officeDocument/2006/relationships/slide" Target="slides/slide99.xml"/><Relationship Id="rId107" Type="http://schemas.openxmlformats.org/officeDocument/2006/relationships/slide" Target="slides/slide100.xml"/><Relationship Id="rId108" Type="http://schemas.openxmlformats.org/officeDocument/2006/relationships/slide" Target="slides/slide101.xml"/><Relationship Id="rId109" Type="http://schemas.openxmlformats.org/officeDocument/2006/relationships/slide" Target="slides/slide102.xml"/><Relationship Id="rId110" Type="http://schemas.openxmlformats.org/officeDocument/2006/relationships/slide" Target="slides/slide103.xml"/><Relationship Id="rId111" Type="http://schemas.openxmlformats.org/officeDocument/2006/relationships/slide" Target="slides/slide104.xml"/><Relationship Id="rId112" Type="http://schemas.openxmlformats.org/officeDocument/2006/relationships/slide" Target="slides/slide105.xml"/><Relationship Id="rId113" Type="http://schemas.openxmlformats.org/officeDocument/2006/relationships/slide" Target="slides/slide106.xml"/><Relationship Id="rId114" Type="http://schemas.openxmlformats.org/officeDocument/2006/relationships/slide" Target="slides/slide107.xml"/><Relationship Id="rId115" Type="http://schemas.openxmlformats.org/officeDocument/2006/relationships/slide" Target="slides/slide108.xml"/><Relationship Id="rId116" Type="http://schemas.openxmlformats.org/officeDocument/2006/relationships/slide" Target="slides/slide109.xml"/><Relationship Id="rId117" Type="http://schemas.openxmlformats.org/officeDocument/2006/relationships/slide" Target="slides/slide110.xml"/><Relationship Id="rId118" Type="http://schemas.openxmlformats.org/officeDocument/2006/relationships/slide" Target="slides/slide111.xml"/><Relationship Id="rId119" Type="http://schemas.openxmlformats.org/officeDocument/2006/relationships/slide" Target="slides/slide112.xml"/><Relationship Id="rId120" Type="http://schemas.openxmlformats.org/officeDocument/2006/relationships/slide" Target="slides/slide113.xml"/><Relationship Id="rId121" Type="http://schemas.openxmlformats.org/officeDocument/2006/relationships/slide" Target="slides/slide114.xml"/><Relationship Id="rId122" Type="http://schemas.openxmlformats.org/officeDocument/2006/relationships/slide" Target="slides/slide115.xml"/><Relationship Id="rId123" Type="http://schemas.openxmlformats.org/officeDocument/2006/relationships/slide" Target="slides/slide116.xml"/><Relationship Id="rId124" Type="http://schemas.openxmlformats.org/officeDocument/2006/relationships/slide" Target="slides/slide117.xml"/><Relationship Id="rId125" Type="http://schemas.openxmlformats.org/officeDocument/2006/relationships/slide" Target="slides/slide118.xml"/><Relationship Id="rId126" Type="http://schemas.openxmlformats.org/officeDocument/2006/relationships/slide" Target="slides/slide119.xml"/><Relationship Id="rId127" Type="http://schemas.openxmlformats.org/officeDocument/2006/relationships/slide" Target="slides/slide120.xml"/><Relationship Id="rId128" Type="http://schemas.openxmlformats.org/officeDocument/2006/relationships/slide" Target="slides/slide121.xml"/><Relationship Id="rId129" Type="http://schemas.openxmlformats.org/officeDocument/2006/relationships/slide" Target="slides/slide122.xml"/><Relationship Id="rId130" Type="http://schemas.openxmlformats.org/officeDocument/2006/relationships/slide" Target="slides/slide123.xml"/><Relationship Id="rId131" Type="http://schemas.openxmlformats.org/officeDocument/2006/relationships/slide" Target="slides/slide124.xml"/><Relationship Id="rId132" Type="http://schemas.openxmlformats.org/officeDocument/2006/relationships/slide" Target="slides/slide125.xml"/><Relationship Id="rId133" Type="http://schemas.openxmlformats.org/officeDocument/2006/relationships/slide" Target="slides/slide126.xml"/><Relationship Id="rId134" Type="http://schemas.openxmlformats.org/officeDocument/2006/relationships/slide" Target="slides/slide127.xml"/><Relationship Id="rId135" Type="http://schemas.openxmlformats.org/officeDocument/2006/relationships/slide" Target="slides/slide128.xml"/><Relationship Id="rId136" Type="http://schemas.openxmlformats.org/officeDocument/2006/relationships/slide" Target="slides/slide129.xml"/><Relationship Id="rId137" Type="http://schemas.openxmlformats.org/officeDocument/2006/relationships/slide" Target="slides/slide130.xml"/><Relationship Id="rId138" Type="http://schemas.openxmlformats.org/officeDocument/2006/relationships/slide" Target="slides/slide131.xml"/><Relationship Id="rId139" Type="http://schemas.openxmlformats.org/officeDocument/2006/relationships/slide" Target="slides/slide132.xml"/><Relationship Id="rId140" Type="http://schemas.openxmlformats.org/officeDocument/2006/relationships/slide" Target="slides/slide133.xml"/><Relationship Id="rId141" Type="http://schemas.openxmlformats.org/officeDocument/2006/relationships/slide" Target="slides/slide134.xml"/><Relationship Id="rId142" Type="http://schemas.openxmlformats.org/officeDocument/2006/relationships/slide" Target="slides/slide135.xml"/><Relationship Id="rId143" Type="http://schemas.openxmlformats.org/officeDocument/2006/relationships/slide" Target="slides/slide136.xml"/><Relationship Id="rId144" Type="http://schemas.openxmlformats.org/officeDocument/2006/relationships/slide" Target="slides/slide137.xml"/><Relationship Id="rId145" Type="http://schemas.openxmlformats.org/officeDocument/2006/relationships/slide" Target="slides/slide138.xml"/><Relationship Id="rId146" Type="http://schemas.openxmlformats.org/officeDocument/2006/relationships/slide" Target="slides/slide139.xml"/><Relationship Id="rId147" Type="http://schemas.openxmlformats.org/officeDocument/2006/relationships/slide" Target="slides/slide140.xml"/><Relationship Id="rId148" Type="http://schemas.openxmlformats.org/officeDocument/2006/relationships/slide" Target="slides/slide141.xml"/><Relationship Id="rId149" Type="http://schemas.openxmlformats.org/officeDocument/2006/relationships/slide" Target="slides/slide142.xml"/><Relationship Id="rId150" Type="http://schemas.openxmlformats.org/officeDocument/2006/relationships/slide" Target="slides/slide143.xml"/><Relationship Id="rId151" Type="http://schemas.openxmlformats.org/officeDocument/2006/relationships/slide" Target="slides/slide144.xml"/><Relationship Id="rId152" Type="http://schemas.openxmlformats.org/officeDocument/2006/relationships/slide" Target="slides/slide145.xml"/><Relationship Id="rId153" Type="http://schemas.openxmlformats.org/officeDocument/2006/relationships/slide" Target="slides/slide146.xml"/><Relationship Id="rId154" Type="http://schemas.openxmlformats.org/officeDocument/2006/relationships/slide" Target="slides/slide147.xml"/><Relationship Id="rId155" Type="http://schemas.openxmlformats.org/officeDocument/2006/relationships/slide" Target="slides/slide148.xml"/><Relationship Id="rId156" Type="http://schemas.openxmlformats.org/officeDocument/2006/relationships/slide" Target="slides/slide149.xml"/><Relationship Id="rId157" Type="http://schemas.openxmlformats.org/officeDocument/2006/relationships/slide" Target="slides/slide150.xml"/><Relationship Id="rId158" Type="http://schemas.openxmlformats.org/officeDocument/2006/relationships/slide" Target="slides/slide151.xml"/><Relationship Id="rId159" Type="http://schemas.openxmlformats.org/officeDocument/2006/relationships/slide" Target="slides/slide152.xml"/><Relationship Id="rId160" Type="http://schemas.openxmlformats.org/officeDocument/2006/relationships/slide" Target="slides/slide153.xml"/><Relationship Id="rId161" Type="http://schemas.openxmlformats.org/officeDocument/2006/relationships/slide" Target="slides/slide154.xml"/><Relationship Id="rId162" Type="http://schemas.openxmlformats.org/officeDocument/2006/relationships/slide" Target="slides/slide155.xml"/><Relationship Id="rId163" Type="http://schemas.openxmlformats.org/officeDocument/2006/relationships/slide" Target="slides/slide156.xml"/><Relationship Id="rId164" Type="http://schemas.openxmlformats.org/officeDocument/2006/relationships/slide" Target="slides/slide157.xml"/><Relationship Id="rId165" Type="http://schemas.openxmlformats.org/officeDocument/2006/relationships/slide" Target="slides/slide158.xml"/><Relationship Id="rId166" Type="http://schemas.openxmlformats.org/officeDocument/2006/relationships/slide" Target="slides/slide159.xml"/><Relationship Id="rId167" Type="http://schemas.openxmlformats.org/officeDocument/2006/relationships/slide" Target="slides/slide160.xml"/><Relationship Id="rId168" Type="http://schemas.openxmlformats.org/officeDocument/2006/relationships/slide" Target="slides/slide161.xml"/><Relationship Id="rId169" Type="http://schemas.openxmlformats.org/officeDocument/2006/relationships/slide" Target="slides/slide162.xml"/><Relationship Id="rId170" Type="http://schemas.openxmlformats.org/officeDocument/2006/relationships/slide" Target="slides/slide163.xml"/><Relationship Id="rId171" Type="http://schemas.openxmlformats.org/officeDocument/2006/relationships/slide" Target="slides/slide164.xml"/><Relationship Id="rId172" Type="http://schemas.openxmlformats.org/officeDocument/2006/relationships/slide" Target="slides/slide165.xml"/><Relationship Id="rId173" Type="http://schemas.openxmlformats.org/officeDocument/2006/relationships/slide" Target="slides/slide166.xml"/><Relationship Id="rId174" Type="http://schemas.openxmlformats.org/officeDocument/2006/relationships/slide" Target="slides/slide167.xml"/><Relationship Id="rId175" Type="http://schemas.openxmlformats.org/officeDocument/2006/relationships/slide" Target="slides/slide168.xml"/><Relationship Id="rId176" Type="http://schemas.openxmlformats.org/officeDocument/2006/relationships/slide" Target="slides/slide169.xml"/><Relationship Id="rId177" Type="http://schemas.openxmlformats.org/officeDocument/2006/relationships/slide" Target="slides/slide170.xml"/><Relationship Id="rId178" Type="http://schemas.openxmlformats.org/officeDocument/2006/relationships/slide" Target="slides/slide171.xml"/><Relationship Id="rId179" Type="http://schemas.openxmlformats.org/officeDocument/2006/relationships/slide" Target="slides/slide172.xml"/><Relationship Id="rId180" Type="http://schemas.openxmlformats.org/officeDocument/2006/relationships/slide" Target="slides/slide173.xml"/><Relationship Id="rId181" Type="http://schemas.openxmlformats.org/officeDocument/2006/relationships/slide" Target="slides/slide174.xml"/><Relationship Id="rId182" Type="http://schemas.openxmlformats.org/officeDocument/2006/relationships/slide" Target="slides/slide175.xml"/><Relationship Id="rId183" Type="http://schemas.openxmlformats.org/officeDocument/2006/relationships/slide" Target="slides/slide176.xml"/><Relationship Id="rId184" Type="http://schemas.openxmlformats.org/officeDocument/2006/relationships/slide" Target="slides/slide177.xml"/><Relationship Id="rId185" Type="http://schemas.openxmlformats.org/officeDocument/2006/relationships/slide" Target="slides/slide178.xml"/><Relationship Id="rId186" Type="http://schemas.openxmlformats.org/officeDocument/2006/relationships/slide" Target="slides/slide179.xml"/><Relationship Id="rId187" Type="http://schemas.openxmlformats.org/officeDocument/2006/relationships/slide" Target="slides/slide180.xml"/><Relationship Id="rId188" Type="http://schemas.openxmlformats.org/officeDocument/2006/relationships/slide" Target="slides/slide181.xml"/><Relationship Id="rId189" Type="http://schemas.openxmlformats.org/officeDocument/2006/relationships/slide" Target="slides/slide182.xml"/><Relationship Id="rId190" Type="http://schemas.openxmlformats.org/officeDocument/2006/relationships/slide" Target="slides/slide183.xml"/><Relationship Id="rId191" Type="http://schemas.openxmlformats.org/officeDocument/2006/relationships/slide" Target="slides/slide184.xml"/><Relationship Id="rId192" Type="http://schemas.openxmlformats.org/officeDocument/2006/relationships/slide" Target="slides/slide185.xml"/><Relationship Id="rId193" Type="http://schemas.openxmlformats.org/officeDocument/2006/relationships/slide" Target="slides/slide186.xml"/><Relationship Id="rId194" Type="http://schemas.openxmlformats.org/officeDocument/2006/relationships/slide" Target="slides/slide187.xml"/><Relationship Id="rId195" Type="http://schemas.openxmlformats.org/officeDocument/2006/relationships/slide" Target="slides/slide188.xml"/><Relationship Id="rId196" Type="http://schemas.openxmlformats.org/officeDocument/2006/relationships/slide" Target="slides/slide189.xml"/><Relationship Id="rId197" Type="http://schemas.openxmlformats.org/officeDocument/2006/relationships/slide" Target="slides/slide190.xml"/><Relationship Id="rId198" Type="http://schemas.openxmlformats.org/officeDocument/2006/relationships/slide" Target="slides/slide191.xml"/><Relationship Id="rId199" Type="http://schemas.openxmlformats.org/officeDocument/2006/relationships/slide" Target="slides/slide192.xml"/><Relationship Id="rId200" Type="http://schemas.openxmlformats.org/officeDocument/2006/relationships/slide" Target="slides/slide193.xml"/><Relationship Id="rId201" Type="http://schemas.openxmlformats.org/officeDocument/2006/relationships/slide" Target="slides/slide194.xml"/><Relationship Id="rId202" Type="http://schemas.openxmlformats.org/officeDocument/2006/relationships/slide" Target="slides/slide195.xml"/><Relationship Id="rId203" Type="http://schemas.openxmlformats.org/officeDocument/2006/relationships/slide" Target="slides/slide196.xml"/><Relationship Id="rId204" Type="http://schemas.openxmlformats.org/officeDocument/2006/relationships/slide" Target="slides/slide197.xml"/><Relationship Id="rId205" Type="http://schemas.openxmlformats.org/officeDocument/2006/relationships/slide" Target="slides/slide198.xml"/><Relationship Id="rId206" Type="http://schemas.openxmlformats.org/officeDocument/2006/relationships/slide" Target="slides/slide199.xml"/><Relationship Id="rId207" Type="http://schemas.openxmlformats.org/officeDocument/2006/relationships/slide" Target="slides/slide200.xml"/><Relationship Id="rId208" Type="http://schemas.openxmlformats.org/officeDocument/2006/relationships/slide" Target="slides/slide201.xml"/><Relationship Id="rId209" Type="http://schemas.openxmlformats.org/officeDocument/2006/relationships/slide" Target="slides/slide202.xml"/><Relationship Id="rId210" Type="http://schemas.openxmlformats.org/officeDocument/2006/relationships/slide" Target="slides/slide203.xml"/><Relationship Id="rId211" Type="http://schemas.openxmlformats.org/officeDocument/2006/relationships/slide" Target="slides/slide204.xml"/><Relationship Id="rId212" Type="http://schemas.openxmlformats.org/officeDocument/2006/relationships/slide" Target="slides/slide205.xml"/><Relationship Id="rId213" Type="http://schemas.openxmlformats.org/officeDocument/2006/relationships/slide" Target="slides/slide206.xml"/><Relationship Id="rId214" Type="http://schemas.openxmlformats.org/officeDocument/2006/relationships/slide" Target="slides/slide207.xml"/><Relationship Id="rId215" Type="http://schemas.openxmlformats.org/officeDocument/2006/relationships/slide" Target="slides/slide208.xml"/><Relationship Id="rId216" Type="http://schemas.openxmlformats.org/officeDocument/2006/relationships/slide" Target="slides/slide209.xml"/><Relationship Id="rId217" Type="http://schemas.openxmlformats.org/officeDocument/2006/relationships/slide" Target="slides/slide210.xml"/><Relationship Id="rId218" Type="http://schemas.openxmlformats.org/officeDocument/2006/relationships/slide" Target="slides/slide211.xml"/><Relationship Id="rId219" Type="http://schemas.openxmlformats.org/officeDocument/2006/relationships/slide" Target="slides/slide212.xml"/><Relationship Id="rId220" Type="http://schemas.openxmlformats.org/officeDocument/2006/relationships/slide" Target="slides/slide213.xml"/><Relationship Id="rId221" Type="http://schemas.openxmlformats.org/officeDocument/2006/relationships/slide" Target="slides/slide214.xml"/><Relationship Id="rId222" Type="http://schemas.openxmlformats.org/officeDocument/2006/relationships/slide" Target="slides/slide215.xml"/><Relationship Id="rId223" Type="http://schemas.openxmlformats.org/officeDocument/2006/relationships/slide" Target="slides/slide216.xml"/><Relationship Id="rId224" Type="http://schemas.openxmlformats.org/officeDocument/2006/relationships/slide" Target="slides/slide217.xml"/><Relationship Id="rId225" Type="http://schemas.openxmlformats.org/officeDocument/2006/relationships/slide" Target="slides/slide218.xml"/><Relationship Id="rId226" Type="http://schemas.openxmlformats.org/officeDocument/2006/relationships/slide" Target="slides/slide219.xml"/><Relationship Id="rId227" Type="http://schemas.openxmlformats.org/officeDocument/2006/relationships/slide" Target="slides/slide220.xml"/><Relationship Id="rId228" Type="http://schemas.openxmlformats.org/officeDocument/2006/relationships/slide" Target="slides/slide221.xml"/><Relationship Id="rId229" Type="http://schemas.openxmlformats.org/officeDocument/2006/relationships/slide" Target="slides/slide222.xml"/><Relationship Id="rId230" Type="http://schemas.openxmlformats.org/officeDocument/2006/relationships/slide" Target="slides/slide223.xml"/><Relationship Id="rId231" Type="http://schemas.openxmlformats.org/officeDocument/2006/relationships/slide" Target="slides/slide224.xml"/><Relationship Id="rId232" Type="http://schemas.openxmlformats.org/officeDocument/2006/relationships/slide" Target="slides/slide225.xml"/><Relationship Id="rId233" Type="http://schemas.openxmlformats.org/officeDocument/2006/relationships/slide" Target="slides/slide226.xml"/><Relationship Id="rId234" Type="http://schemas.openxmlformats.org/officeDocument/2006/relationships/slide" Target="slides/slide227.xml"/><Relationship Id="rId235" Type="http://schemas.openxmlformats.org/officeDocument/2006/relationships/slide" Target="slides/slide228.xml"/><Relationship Id="rId236" Type="http://schemas.openxmlformats.org/officeDocument/2006/relationships/slide" Target="slides/slide229.xml"/><Relationship Id="rId237" Type="http://schemas.openxmlformats.org/officeDocument/2006/relationships/slide" Target="slides/slide230.xml"/><Relationship Id="rId238" Type="http://schemas.openxmlformats.org/officeDocument/2006/relationships/slide" Target="slides/slide231.xml"/><Relationship Id="rId239" Type="http://schemas.openxmlformats.org/officeDocument/2006/relationships/slide" Target="slides/slide232.xml"/><Relationship Id="rId240" Type="http://schemas.openxmlformats.org/officeDocument/2006/relationships/slide" Target="slides/slide233.xml"/><Relationship Id="rId241" Type="http://schemas.openxmlformats.org/officeDocument/2006/relationships/slide" Target="slides/slide234.xml"/><Relationship Id="rId242" Type="http://schemas.openxmlformats.org/officeDocument/2006/relationships/slide" Target="slides/slide235.xml"/><Relationship Id="rId243" Type="http://schemas.openxmlformats.org/officeDocument/2006/relationships/slide" Target="slides/slide236.xml"/><Relationship Id="rId244" Type="http://schemas.openxmlformats.org/officeDocument/2006/relationships/slide" Target="slides/slide237.xml"/><Relationship Id="rId245" Type="http://schemas.openxmlformats.org/officeDocument/2006/relationships/slide" Target="slides/slide238.xml"/><Relationship Id="rId246" Type="http://schemas.openxmlformats.org/officeDocument/2006/relationships/slide" Target="slides/slide239.xml"/><Relationship Id="rId247" Type="http://schemas.openxmlformats.org/officeDocument/2006/relationships/slide" Target="slides/slide240.xml"/><Relationship Id="rId248" Type="http://schemas.openxmlformats.org/officeDocument/2006/relationships/slide" Target="slides/slide241.xml"/><Relationship Id="rId249" Type="http://schemas.openxmlformats.org/officeDocument/2006/relationships/slide" Target="slides/slide242.xml"/><Relationship Id="rId250" Type="http://schemas.openxmlformats.org/officeDocument/2006/relationships/slide" Target="slides/slide243.xml"/><Relationship Id="rId251" Type="http://schemas.openxmlformats.org/officeDocument/2006/relationships/slide" Target="slides/slide244.xml"/><Relationship Id="rId252" Type="http://schemas.openxmlformats.org/officeDocument/2006/relationships/slide" Target="slides/slide245.xml"/><Relationship Id="rId253" Type="http://schemas.openxmlformats.org/officeDocument/2006/relationships/slide" Target="slides/slide246.xml"/><Relationship Id="rId254" Type="http://schemas.openxmlformats.org/officeDocument/2006/relationships/slide" Target="slides/slide247.xml"/><Relationship Id="rId255" Type="http://schemas.openxmlformats.org/officeDocument/2006/relationships/slide" Target="slides/slide248.xml"/><Relationship Id="rId256" Type="http://schemas.openxmlformats.org/officeDocument/2006/relationships/slide" Target="slides/slide249.xml"/><Relationship Id="rId257" Type="http://schemas.openxmlformats.org/officeDocument/2006/relationships/slide" Target="slides/slide250.xml"/><Relationship Id="rId258" Type="http://schemas.openxmlformats.org/officeDocument/2006/relationships/slide" Target="slides/slide251.xml"/><Relationship Id="rId259" Type="http://schemas.openxmlformats.org/officeDocument/2006/relationships/slide" Target="slides/slide252.xml"/><Relationship Id="rId260" Type="http://schemas.openxmlformats.org/officeDocument/2006/relationships/slide" Target="slides/slide253.xml"/><Relationship Id="rId261" Type="http://schemas.openxmlformats.org/officeDocument/2006/relationships/slide" Target="slides/slide254.xml"/><Relationship Id="rId262" Type="http://schemas.openxmlformats.org/officeDocument/2006/relationships/slide" Target="slides/slide255.xml"/><Relationship Id="rId263" Type="http://schemas.openxmlformats.org/officeDocument/2006/relationships/slide" Target="slides/slide256.xml"/><Relationship Id="rId264" Type="http://schemas.openxmlformats.org/officeDocument/2006/relationships/slide" Target="slides/slide257.xml"/><Relationship Id="rId265" Type="http://schemas.openxmlformats.org/officeDocument/2006/relationships/slide" Target="slides/slide258.xml"/><Relationship Id="rId266" Type="http://schemas.openxmlformats.org/officeDocument/2006/relationships/slide" Target="slides/slide259.xml"/><Relationship Id="rId267" Type="http://schemas.openxmlformats.org/officeDocument/2006/relationships/slide" Target="slides/slide260.xml"/><Relationship Id="rId268" Type="http://schemas.openxmlformats.org/officeDocument/2006/relationships/slide" Target="slides/slide261.xml"/><Relationship Id="rId269" Type="http://schemas.openxmlformats.org/officeDocument/2006/relationships/slide" Target="slides/slide262.xml"/><Relationship Id="rId270" Type="http://schemas.openxmlformats.org/officeDocument/2006/relationships/slide" Target="slides/slide263.xml"/><Relationship Id="rId271" Type="http://schemas.openxmlformats.org/officeDocument/2006/relationships/slide" Target="slides/slide264.xml"/><Relationship Id="rId272" Type="http://schemas.openxmlformats.org/officeDocument/2006/relationships/slide" Target="slides/slide265.xml"/><Relationship Id="rId273" Type="http://schemas.openxmlformats.org/officeDocument/2006/relationships/slide" Target="slides/slide266.xml"/><Relationship Id="rId274" Type="http://schemas.openxmlformats.org/officeDocument/2006/relationships/slide" Target="slides/slide267.xml"/><Relationship Id="rId275" Type="http://schemas.openxmlformats.org/officeDocument/2006/relationships/slide" Target="slides/slide268.xml"/><Relationship Id="rId276" Type="http://schemas.openxmlformats.org/officeDocument/2006/relationships/slide" Target="slides/slide269.xml"/><Relationship Id="rId277" Type="http://schemas.openxmlformats.org/officeDocument/2006/relationships/slide" Target="slides/slide270.xml"/><Relationship Id="rId278" Type="http://schemas.openxmlformats.org/officeDocument/2006/relationships/slide" Target="slides/slide271.xml"/><Relationship Id="rId279" Type="http://schemas.openxmlformats.org/officeDocument/2006/relationships/slide" Target="slides/slide272.xml"/><Relationship Id="rId280" Type="http://schemas.openxmlformats.org/officeDocument/2006/relationships/slide" Target="slides/slide273.xml"/><Relationship Id="rId281" Type="http://schemas.openxmlformats.org/officeDocument/2006/relationships/slide" Target="slides/slide274.xml"/><Relationship Id="rId282" Type="http://schemas.openxmlformats.org/officeDocument/2006/relationships/slide" Target="slides/slide275.xml"/><Relationship Id="rId283" Type="http://schemas.openxmlformats.org/officeDocument/2006/relationships/slide" Target="slides/slide276.xml"/><Relationship Id="rId284" Type="http://schemas.openxmlformats.org/officeDocument/2006/relationships/slide" Target="slides/slide277.xml"/><Relationship Id="rId285" Type="http://schemas.openxmlformats.org/officeDocument/2006/relationships/slide" Target="slides/slide278.xml"/><Relationship Id="rId286" Type="http://schemas.openxmlformats.org/officeDocument/2006/relationships/slide" Target="slides/slide279.xml"/><Relationship Id="rId287" Type="http://schemas.openxmlformats.org/officeDocument/2006/relationships/slide" Target="slides/slide280.xml"/><Relationship Id="rId288" Type="http://schemas.openxmlformats.org/officeDocument/2006/relationships/slide" Target="slides/slide281.xml"/><Relationship Id="rId289" Type="http://schemas.openxmlformats.org/officeDocument/2006/relationships/slide" Target="slides/slide282.xml"/><Relationship Id="rId290" Type="http://schemas.openxmlformats.org/officeDocument/2006/relationships/slide" Target="slides/slide283.xml"/><Relationship Id="rId291" Type="http://schemas.openxmlformats.org/officeDocument/2006/relationships/slide" Target="slides/slide284.xml"/><Relationship Id="rId292" Type="http://schemas.openxmlformats.org/officeDocument/2006/relationships/slide" Target="slides/slide285.xml"/><Relationship Id="rId293" Type="http://schemas.openxmlformats.org/officeDocument/2006/relationships/slide" Target="slides/slide286.xml"/><Relationship Id="rId294" Type="http://schemas.openxmlformats.org/officeDocument/2006/relationships/slide" Target="slides/slide287.xml"/><Relationship Id="rId295" Type="http://schemas.openxmlformats.org/officeDocument/2006/relationships/slide" Target="slides/slide288.xml"/><Relationship Id="rId296" Type="http://schemas.openxmlformats.org/officeDocument/2006/relationships/slide" Target="slides/slide289.xml"/><Relationship Id="rId297" Type="http://schemas.openxmlformats.org/officeDocument/2006/relationships/slide" Target="slides/slide290.xml"/><Relationship Id="rId298" Type="http://schemas.openxmlformats.org/officeDocument/2006/relationships/slide" Target="slides/slide291.xml"/><Relationship Id="rId299" Type="http://schemas.openxmlformats.org/officeDocument/2006/relationships/slide" Target="slides/slide292.xml"/><Relationship Id="rId300" Type="http://schemas.openxmlformats.org/officeDocument/2006/relationships/slide" Target="slides/slide293.xml"/><Relationship Id="rId301" Type="http://schemas.openxmlformats.org/officeDocument/2006/relationships/slide" Target="slides/slide294.xml"/><Relationship Id="rId302" Type="http://schemas.openxmlformats.org/officeDocument/2006/relationships/slide" Target="slides/slide295.xml"/><Relationship Id="rId303" Type="http://schemas.openxmlformats.org/officeDocument/2006/relationships/slide" Target="slides/slide296.xml"/><Relationship Id="rId304" Type="http://schemas.openxmlformats.org/officeDocument/2006/relationships/slide" Target="slides/slide297.xml"/><Relationship Id="rId305" Type="http://schemas.openxmlformats.org/officeDocument/2006/relationships/slide" Target="slides/slide298.xml"/><Relationship Id="rId306" Type="http://schemas.openxmlformats.org/officeDocument/2006/relationships/slide" Target="slides/slide299.xml"/><Relationship Id="rId307" Type="http://schemas.openxmlformats.org/officeDocument/2006/relationships/slide" Target="slides/slide300.xml"/><Relationship Id="rId308" Type="http://schemas.openxmlformats.org/officeDocument/2006/relationships/slide" Target="slides/slide301.xml"/><Relationship Id="rId309" Type="http://schemas.openxmlformats.org/officeDocument/2006/relationships/slide" Target="slides/slide302.xml"/><Relationship Id="rId310" Type="http://schemas.openxmlformats.org/officeDocument/2006/relationships/slide" Target="slides/slide303.xml"/><Relationship Id="rId311" Type="http://schemas.openxmlformats.org/officeDocument/2006/relationships/slide" Target="slides/slide304.xml"/><Relationship Id="rId312" Type="http://schemas.openxmlformats.org/officeDocument/2006/relationships/slide" Target="slides/slide305.xml"/><Relationship Id="rId313" Type="http://schemas.openxmlformats.org/officeDocument/2006/relationships/slide" Target="slides/slide306.xml"/><Relationship Id="rId314" Type="http://schemas.openxmlformats.org/officeDocument/2006/relationships/slide" Target="slides/slide307.xml"/><Relationship Id="rId315" Type="http://schemas.openxmlformats.org/officeDocument/2006/relationships/slide" Target="slides/slide308.xml"/><Relationship Id="rId316" Type="http://schemas.openxmlformats.org/officeDocument/2006/relationships/slide" Target="slides/slide309.xml"/><Relationship Id="rId317" Type="http://schemas.openxmlformats.org/officeDocument/2006/relationships/slide" Target="slides/slide310.xml"/><Relationship Id="rId318" Type="http://schemas.openxmlformats.org/officeDocument/2006/relationships/slide" Target="slides/slide311.xml"/><Relationship Id="rId319" Type="http://schemas.openxmlformats.org/officeDocument/2006/relationships/slide" Target="slides/slide312.xml"/><Relationship Id="rId320" Type="http://schemas.openxmlformats.org/officeDocument/2006/relationships/slide" Target="slides/slide313.xml"/><Relationship Id="rId321" Type="http://schemas.openxmlformats.org/officeDocument/2006/relationships/slide" Target="slides/slide314.xml"/><Relationship Id="rId322" Type="http://schemas.openxmlformats.org/officeDocument/2006/relationships/slide" Target="slides/slide315.xml"/><Relationship Id="rId323" Type="http://schemas.openxmlformats.org/officeDocument/2006/relationships/slide" Target="slides/slide316.xml"/><Relationship Id="rId324" Type="http://schemas.openxmlformats.org/officeDocument/2006/relationships/slide" Target="slides/slide317.xml"/><Relationship Id="rId325" Type="http://schemas.openxmlformats.org/officeDocument/2006/relationships/slide" Target="slides/slide318.xml"/><Relationship Id="rId326" Type="http://schemas.openxmlformats.org/officeDocument/2006/relationships/slide" Target="slides/slide319.xml"/><Relationship Id="rId327" Type="http://schemas.openxmlformats.org/officeDocument/2006/relationships/slide" Target="slides/slide320.xml"/><Relationship Id="rId328" Type="http://schemas.openxmlformats.org/officeDocument/2006/relationships/slide" Target="slides/slide321.xml"/><Relationship Id="rId329" Type="http://schemas.openxmlformats.org/officeDocument/2006/relationships/slide" Target="slides/slide322.xml"/><Relationship Id="rId330" Type="http://schemas.openxmlformats.org/officeDocument/2006/relationships/slide" Target="slides/slide323.xml"/><Relationship Id="rId331" Type="http://schemas.openxmlformats.org/officeDocument/2006/relationships/slide" Target="slides/slide324.xml"/><Relationship Id="rId332" Type="http://schemas.openxmlformats.org/officeDocument/2006/relationships/slide" Target="slides/slide325.xml"/><Relationship Id="rId333" Type="http://schemas.openxmlformats.org/officeDocument/2006/relationships/slide" Target="slides/slide326.xml"/><Relationship Id="rId334" Type="http://schemas.openxmlformats.org/officeDocument/2006/relationships/slide" Target="slides/slide327.xml"/><Relationship Id="rId335" Type="http://schemas.openxmlformats.org/officeDocument/2006/relationships/slide" Target="slides/slide328.xml"/><Relationship Id="rId336" Type="http://schemas.openxmlformats.org/officeDocument/2006/relationships/slide" Target="slides/slide329.xml"/><Relationship Id="rId337" Type="http://schemas.openxmlformats.org/officeDocument/2006/relationships/slide" Target="slides/slide330.xml"/><Relationship Id="rId338" Type="http://schemas.openxmlformats.org/officeDocument/2006/relationships/slide" Target="slides/slide331.xml"/><Relationship Id="rId339" Type="http://schemas.openxmlformats.org/officeDocument/2006/relationships/slide" Target="slides/slide332.xml"/><Relationship Id="rId340" Type="http://schemas.openxmlformats.org/officeDocument/2006/relationships/slide" Target="slides/slide333.xml"/><Relationship Id="rId341" Type="http://schemas.openxmlformats.org/officeDocument/2006/relationships/slide" Target="slides/slide334.xml"/><Relationship Id="rId342" Type="http://schemas.openxmlformats.org/officeDocument/2006/relationships/slide" Target="slides/slide335.xml"/><Relationship Id="rId343" Type="http://schemas.openxmlformats.org/officeDocument/2006/relationships/slide" Target="slides/slide336.xml"/><Relationship Id="rId344" Type="http://schemas.openxmlformats.org/officeDocument/2006/relationships/slide" Target="slides/slide337.xml"/><Relationship Id="rId345" Type="http://schemas.openxmlformats.org/officeDocument/2006/relationships/slide" Target="slides/slide338.xml"/><Relationship Id="rId346" Type="http://schemas.openxmlformats.org/officeDocument/2006/relationships/slide" Target="slides/slide339.xml"/><Relationship Id="rId347" Type="http://schemas.openxmlformats.org/officeDocument/2006/relationships/slide" Target="slides/slide340.xml"/><Relationship Id="rId348" Type="http://schemas.openxmlformats.org/officeDocument/2006/relationships/slide" Target="slides/slide341.xml"/><Relationship Id="rId349" Type="http://schemas.openxmlformats.org/officeDocument/2006/relationships/slide" Target="slides/slide342.xml"/><Relationship Id="rId350" Type="http://schemas.openxmlformats.org/officeDocument/2006/relationships/slide" Target="slides/slide343.xml"/><Relationship Id="rId351" Type="http://schemas.openxmlformats.org/officeDocument/2006/relationships/slide" Target="slides/slide344.xml"/><Relationship Id="rId352" Type="http://schemas.openxmlformats.org/officeDocument/2006/relationships/slide" Target="slides/slide345.xml"/><Relationship Id="rId353" Type="http://schemas.openxmlformats.org/officeDocument/2006/relationships/slide" Target="slides/slide346.xml"/><Relationship Id="rId354" Type="http://schemas.openxmlformats.org/officeDocument/2006/relationships/slide" Target="slides/slide347.xml"/><Relationship Id="rId355" Type="http://schemas.openxmlformats.org/officeDocument/2006/relationships/slide" Target="slides/slide348.xml"/><Relationship Id="rId356" Type="http://schemas.openxmlformats.org/officeDocument/2006/relationships/slide" Target="slides/slide349.xml"/><Relationship Id="rId357" Type="http://schemas.openxmlformats.org/officeDocument/2006/relationships/slide" Target="slides/slide350.xml"/><Relationship Id="rId358" Type="http://schemas.openxmlformats.org/officeDocument/2006/relationships/slide" Target="slides/slide351.xml"/><Relationship Id="rId359" Type="http://schemas.openxmlformats.org/officeDocument/2006/relationships/slide" Target="slides/slide352.xml"/><Relationship Id="rId360" Type="http://schemas.openxmlformats.org/officeDocument/2006/relationships/slide" Target="slides/slide353.xml"/><Relationship Id="rId361" Type="http://schemas.openxmlformats.org/officeDocument/2006/relationships/slide" Target="slides/slide354.xml"/><Relationship Id="rId362" Type="http://schemas.openxmlformats.org/officeDocument/2006/relationships/slide" Target="slides/slide355.xml"/><Relationship Id="rId363" Type="http://schemas.openxmlformats.org/officeDocument/2006/relationships/slide" Target="slides/slide356.xml"/><Relationship Id="rId364" Type="http://schemas.openxmlformats.org/officeDocument/2006/relationships/slide" Target="slides/slide357.xml"/><Relationship Id="rId365" Type="http://schemas.openxmlformats.org/officeDocument/2006/relationships/slide" Target="slides/slide358.xml"/><Relationship Id="rId366" Type="http://schemas.openxmlformats.org/officeDocument/2006/relationships/slide" Target="slides/slide359.xml"/><Relationship Id="rId367" Type="http://schemas.openxmlformats.org/officeDocument/2006/relationships/slide" Target="slides/slide360.xml"/><Relationship Id="rId368" Type="http://schemas.openxmlformats.org/officeDocument/2006/relationships/slide" Target="slides/slide361.xml"/><Relationship Id="rId369" Type="http://schemas.openxmlformats.org/officeDocument/2006/relationships/slide" Target="slides/slide362.xml"/><Relationship Id="rId370" Type="http://schemas.openxmlformats.org/officeDocument/2006/relationships/slide" Target="slides/slide363.xml"/><Relationship Id="rId371" Type="http://schemas.openxmlformats.org/officeDocument/2006/relationships/slide" Target="slides/slide364.xml"/><Relationship Id="rId372" Type="http://schemas.openxmlformats.org/officeDocument/2006/relationships/slide" Target="slides/slide365.xml"/><Relationship Id="rId373" Type="http://schemas.openxmlformats.org/officeDocument/2006/relationships/slide" Target="slides/slide366.xml"/><Relationship Id="rId374" Type="http://schemas.openxmlformats.org/officeDocument/2006/relationships/slide" Target="slides/slide367.xml"/><Relationship Id="rId375" Type="http://schemas.openxmlformats.org/officeDocument/2006/relationships/slide" Target="slides/slide368.xml"/><Relationship Id="rId376" Type="http://schemas.openxmlformats.org/officeDocument/2006/relationships/slide" Target="slides/slide369.xml"/><Relationship Id="rId377" Type="http://schemas.openxmlformats.org/officeDocument/2006/relationships/slide" Target="slides/slide370.xml"/><Relationship Id="rId378" Type="http://schemas.openxmlformats.org/officeDocument/2006/relationships/slide" Target="slides/slide371.xml"/><Relationship Id="rId379" Type="http://schemas.openxmlformats.org/officeDocument/2006/relationships/slide" Target="slides/slide372.xml"/><Relationship Id="rId380" Type="http://schemas.openxmlformats.org/officeDocument/2006/relationships/slide" Target="slides/slide373.xml"/><Relationship Id="rId381" Type="http://schemas.openxmlformats.org/officeDocument/2006/relationships/slide" Target="slides/slide374.xml"/><Relationship Id="rId382" Type="http://schemas.openxmlformats.org/officeDocument/2006/relationships/slide" Target="slides/slide375.xml"/><Relationship Id="rId383" Type="http://schemas.openxmlformats.org/officeDocument/2006/relationships/slide" Target="slides/slide376.xml"/><Relationship Id="rId384" Type="http://schemas.openxmlformats.org/officeDocument/2006/relationships/slide" Target="slides/slide377.xml"/><Relationship Id="rId385" Type="http://schemas.openxmlformats.org/officeDocument/2006/relationships/slide" Target="slides/slide378.xml"/><Relationship Id="rId386" Type="http://schemas.openxmlformats.org/officeDocument/2006/relationships/slide" Target="slides/slide379.xml"/><Relationship Id="rId387" Type="http://schemas.openxmlformats.org/officeDocument/2006/relationships/slide" Target="slides/slide380.xml"/><Relationship Id="rId388" Type="http://schemas.openxmlformats.org/officeDocument/2006/relationships/slide" Target="slides/slide381.xml"/><Relationship Id="rId389" Type="http://schemas.openxmlformats.org/officeDocument/2006/relationships/slide" Target="slides/slide382.xml"/><Relationship Id="rId390" Type="http://schemas.openxmlformats.org/officeDocument/2006/relationships/slide" Target="slides/slide383.xml"/><Relationship Id="rId391" Type="http://schemas.openxmlformats.org/officeDocument/2006/relationships/slide" Target="slides/slide384.xml"/><Relationship Id="rId392" Type="http://schemas.openxmlformats.org/officeDocument/2006/relationships/slide" Target="slides/slide385.xml"/><Relationship Id="rId393" Type="http://schemas.openxmlformats.org/officeDocument/2006/relationships/slide" Target="slides/slide386.xml"/><Relationship Id="rId394" Type="http://schemas.openxmlformats.org/officeDocument/2006/relationships/slide" Target="slides/slide387.xml"/><Relationship Id="rId395" Type="http://schemas.openxmlformats.org/officeDocument/2006/relationships/slide" Target="slides/slide388.xml"/><Relationship Id="rId396" Type="http://schemas.openxmlformats.org/officeDocument/2006/relationships/slide" Target="slides/slide389.xml"/><Relationship Id="rId397" Type="http://schemas.openxmlformats.org/officeDocument/2006/relationships/slide" Target="slides/slide390.xml"/><Relationship Id="rId398" Type="http://schemas.openxmlformats.org/officeDocument/2006/relationships/slide" Target="slides/slide391.xml"/><Relationship Id="rId399" Type="http://schemas.openxmlformats.org/officeDocument/2006/relationships/slide" Target="slides/slide392.xml"/><Relationship Id="rId400" Type="http://schemas.openxmlformats.org/officeDocument/2006/relationships/slide" Target="slides/slide393.xml"/><Relationship Id="rId401" Type="http://schemas.openxmlformats.org/officeDocument/2006/relationships/slide" Target="slides/slide394.xml"/><Relationship Id="rId402" Type="http://schemas.openxmlformats.org/officeDocument/2006/relationships/slide" Target="slides/slide395.xml"/><Relationship Id="rId403" Type="http://schemas.openxmlformats.org/officeDocument/2006/relationships/slide" Target="slides/slide396.xml"/><Relationship Id="rId404" Type="http://schemas.openxmlformats.org/officeDocument/2006/relationships/slide" Target="slides/slide397.xml"/><Relationship Id="rId405" Type="http://schemas.openxmlformats.org/officeDocument/2006/relationships/slide" Target="slides/slide398.xml"/><Relationship Id="rId406" Type="http://schemas.openxmlformats.org/officeDocument/2006/relationships/slide" Target="slides/slide399.xml"/><Relationship Id="rId407" Type="http://schemas.openxmlformats.org/officeDocument/2006/relationships/slide" Target="slides/slide400.xml"/><Relationship Id="rId408" Type="http://schemas.openxmlformats.org/officeDocument/2006/relationships/slide" Target="slides/slide401.xml"/><Relationship Id="rId409" Type="http://schemas.openxmlformats.org/officeDocument/2006/relationships/slide" Target="slides/slide402.xml"/><Relationship Id="rId410" Type="http://schemas.openxmlformats.org/officeDocument/2006/relationships/slide" Target="slides/slide403.xml"/><Relationship Id="rId411" Type="http://schemas.openxmlformats.org/officeDocument/2006/relationships/slide" Target="slides/slide404.xml"/><Relationship Id="rId412" Type="http://schemas.openxmlformats.org/officeDocument/2006/relationships/slide" Target="slides/slide405.xml"/><Relationship Id="rId413" Type="http://schemas.openxmlformats.org/officeDocument/2006/relationships/slide" Target="slides/slide406.xml"/><Relationship Id="rId414" Type="http://schemas.openxmlformats.org/officeDocument/2006/relationships/slide" Target="slides/slide407.xml"/><Relationship Id="rId415" Type="http://schemas.openxmlformats.org/officeDocument/2006/relationships/slide" Target="slides/slide408.xml"/><Relationship Id="rId416" Type="http://schemas.openxmlformats.org/officeDocument/2006/relationships/slide" Target="slides/slide409.xml"/><Relationship Id="rId417" Type="http://schemas.openxmlformats.org/officeDocument/2006/relationships/slide" Target="slides/slide410.xml"/><Relationship Id="rId418" Type="http://schemas.openxmlformats.org/officeDocument/2006/relationships/slide" Target="slides/slide411.xml"/><Relationship Id="rId419" Type="http://schemas.openxmlformats.org/officeDocument/2006/relationships/slide" Target="slides/slide412.xml"/><Relationship Id="rId420" Type="http://schemas.openxmlformats.org/officeDocument/2006/relationships/slide" Target="slides/slide413.xml"/><Relationship Id="rId421" Type="http://schemas.openxmlformats.org/officeDocument/2006/relationships/slide" Target="slides/slide414.xml"/><Relationship Id="rId422" Type="http://schemas.openxmlformats.org/officeDocument/2006/relationships/slide" Target="slides/slide415.xml"/><Relationship Id="rId423" Type="http://schemas.openxmlformats.org/officeDocument/2006/relationships/slide" Target="slides/slide416.xml"/><Relationship Id="rId424" Type="http://schemas.openxmlformats.org/officeDocument/2006/relationships/slide" Target="slides/slide417.xml"/><Relationship Id="rId425" Type="http://schemas.openxmlformats.org/officeDocument/2006/relationships/slide" Target="slides/slide418.xml"/><Relationship Id="rId426" Type="http://schemas.openxmlformats.org/officeDocument/2006/relationships/slide" Target="slides/slide419.xml"/><Relationship Id="rId427" Type="http://schemas.openxmlformats.org/officeDocument/2006/relationships/slide" Target="slides/slide420.xml"/><Relationship Id="rId428" Type="http://schemas.openxmlformats.org/officeDocument/2006/relationships/slide" Target="slides/slide421.xml"/><Relationship Id="rId429" Type="http://schemas.openxmlformats.org/officeDocument/2006/relationships/slide" Target="slides/slide422.xml"/><Relationship Id="rId430" Type="http://schemas.openxmlformats.org/officeDocument/2006/relationships/slide" Target="slides/slide423.xml"/><Relationship Id="rId431" Type="http://schemas.openxmlformats.org/officeDocument/2006/relationships/slide" Target="slides/slide424.xml"/><Relationship Id="rId432" Type="http://schemas.openxmlformats.org/officeDocument/2006/relationships/slide" Target="slides/slide425.xml"/><Relationship Id="rId433" Type="http://schemas.openxmlformats.org/officeDocument/2006/relationships/slide" Target="slides/slide426.xml"/><Relationship Id="rId434" Type="http://schemas.openxmlformats.org/officeDocument/2006/relationships/slide" Target="slides/slide427.xml"/><Relationship Id="rId435" Type="http://schemas.openxmlformats.org/officeDocument/2006/relationships/slide" Target="slides/slide428.xml"/><Relationship Id="rId436" Type="http://schemas.openxmlformats.org/officeDocument/2006/relationships/slide" Target="slides/slide429.xml"/><Relationship Id="rId437" Type="http://schemas.openxmlformats.org/officeDocument/2006/relationships/slide" Target="slides/slide430.xml"/><Relationship Id="rId438" Type="http://schemas.openxmlformats.org/officeDocument/2006/relationships/slide" Target="slides/slide431.xml"/><Relationship Id="rId439" Type="http://schemas.openxmlformats.org/officeDocument/2006/relationships/slide" Target="slides/slide432.xml"/><Relationship Id="rId440" Type="http://schemas.openxmlformats.org/officeDocument/2006/relationships/slide" Target="slides/slide433.xml"/><Relationship Id="rId441" Type="http://schemas.openxmlformats.org/officeDocument/2006/relationships/slide" Target="slides/slide434.xml"/><Relationship Id="rId442" Type="http://schemas.openxmlformats.org/officeDocument/2006/relationships/slide" Target="slides/slide435.xml"/><Relationship Id="rId443" Type="http://schemas.openxmlformats.org/officeDocument/2006/relationships/slide" Target="slides/slide436.xml"/><Relationship Id="rId444" Type="http://schemas.openxmlformats.org/officeDocument/2006/relationships/slide" Target="slides/slide437.xml"/><Relationship Id="rId445" Type="http://schemas.openxmlformats.org/officeDocument/2006/relationships/slide" Target="slides/slide438.xml"/><Relationship Id="rId446" Type="http://schemas.openxmlformats.org/officeDocument/2006/relationships/slide" Target="slides/slide439.xml"/><Relationship Id="rId447" Type="http://schemas.openxmlformats.org/officeDocument/2006/relationships/slide" Target="slides/slide440.xml"/><Relationship Id="rId448" Type="http://schemas.openxmlformats.org/officeDocument/2006/relationships/slide" Target="slides/slide441.xml"/><Relationship Id="rId449" Type="http://schemas.openxmlformats.org/officeDocument/2006/relationships/slide" Target="slides/slide442.xml"/><Relationship Id="rId450" Type="http://schemas.openxmlformats.org/officeDocument/2006/relationships/slide" Target="slides/slide443.xml"/><Relationship Id="rId451" Type="http://schemas.openxmlformats.org/officeDocument/2006/relationships/slide" Target="slides/slide444.xml"/><Relationship Id="rId452" Type="http://schemas.openxmlformats.org/officeDocument/2006/relationships/slide" Target="slides/slide445.xml"/><Relationship Id="rId453" Type="http://schemas.openxmlformats.org/officeDocument/2006/relationships/slide" Target="slides/slide446.xml"/><Relationship Id="rId454" Type="http://schemas.openxmlformats.org/officeDocument/2006/relationships/slide" Target="slides/slide447.xml"/><Relationship Id="rId455" Type="http://schemas.openxmlformats.org/officeDocument/2006/relationships/slide" Target="slides/slide448.xml"/><Relationship Id="rId456" Type="http://schemas.openxmlformats.org/officeDocument/2006/relationships/slide" Target="slides/slide449.xml"/><Relationship Id="rId457" Type="http://schemas.openxmlformats.org/officeDocument/2006/relationships/slide" Target="slides/slide450.xml"/><Relationship Id="rId458" Type="http://schemas.openxmlformats.org/officeDocument/2006/relationships/slide" Target="slides/slide451.xml"/><Relationship Id="rId459" Type="http://schemas.openxmlformats.org/officeDocument/2006/relationships/slide" Target="slides/slide452.xml"/><Relationship Id="rId460" Type="http://schemas.openxmlformats.org/officeDocument/2006/relationships/slide" Target="slides/slide453.xml"/><Relationship Id="rId461" Type="http://schemas.openxmlformats.org/officeDocument/2006/relationships/slide" Target="slides/slide454.xml"/><Relationship Id="rId462" Type="http://schemas.openxmlformats.org/officeDocument/2006/relationships/slide" Target="slides/slide455.xml"/><Relationship Id="rId463" Type="http://schemas.openxmlformats.org/officeDocument/2006/relationships/slide" Target="slides/slide456.xml"/><Relationship Id="rId464" Type="http://schemas.openxmlformats.org/officeDocument/2006/relationships/slide" Target="slides/slide457.xml"/><Relationship Id="rId465" Type="http://schemas.openxmlformats.org/officeDocument/2006/relationships/slide" Target="slides/slide458.xml"/><Relationship Id="rId466" Type="http://schemas.openxmlformats.org/officeDocument/2006/relationships/slide" Target="slides/slide459.xml"/><Relationship Id="rId467" Type="http://schemas.openxmlformats.org/officeDocument/2006/relationships/slide" Target="slides/slide460.xml"/><Relationship Id="rId468" Type="http://schemas.openxmlformats.org/officeDocument/2006/relationships/slide" Target="slides/slide461.xml"/><Relationship Id="rId469" Type="http://schemas.openxmlformats.org/officeDocument/2006/relationships/slide" Target="slides/slide462.xml"/><Relationship Id="rId470" Type="http://schemas.openxmlformats.org/officeDocument/2006/relationships/slide" Target="slides/slide463.xml"/><Relationship Id="rId471" Type="http://schemas.openxmlformats.org/officeDocument/2006/relationships/slide" Target="slides/slide464.xml"/><Relationship Id="rId472" Type="http://schemas.openxmlformats.org/officeDocument/2006/relationships/slide" Target="slides/slide465.xml"/><Relationship Id="rId473" Type="http://schemas.openxmlformats.org/officeDocument/2006/relationships/slide" Target="slides/slide466.xml"/><Relationship Id="rId474" Type="http://schemas.openxmlformats.org/officeDocument/2006/relationships/slide" Target="slides/slide467.xml"/><Relationship Id="rId475" Type="http://schemas.openxmlformats.org/officeDocument/2006/relationships/slide" Target="slides/slide468.xml"/><Relationship Id="rId476" Type="http://schemas.openxmlformats.org/officeDocument/2006/relationships/slide" Target="slides/slide469.xml"/><Relationship Id="rId477" Type="http://schemas.openxmlformats.org/officeDocument/2006/relationships/slide" Target="slides/slide470.xml"/><Relationship Id="rId478" Type="http://schemas.openxmlformats.org/officeDocument/2006/relationships/slide" Target="slides/slide471.xml"/><Relationship Id="rId479" Type="http://schemas.openxmlformats.org/officeDocument/2006/relationships/slide" Target="slides/slide472.xml"/><Relationship Id="rId480" Type="http://schemas.openxmlformats.org/officeDocument/2006/relationships/slide" Target="slides/slide473.xml"/><Relationship Id="rId481" Type="http://schemas.openxmlformats.org/officeDocument/2006/relationships/slide" Target="slides/slide474.xml"/><Relationship Id="rId482" Type="http://schemas.openxmlformats.org/officeDocument/2006/relationships/slide" Target="slides/slide475.xml"/><Relationship Id="rId483" Type="http://schemas.openxmlformats.org/officeDocument/2006/relationships/slide" Target="slides/slide476.xml"/><Relationship Id="rId484" Type="http://schemas.openxmlformats.org/officeDocument/2006/relationships/slide" Target="slides/slide477.xml"/><Relationship Id="rId485" Type="http://schemas.openxmlformats.org/officeDocument/2006/relationships/slide" Target="slides/slide478.xml"/><Relationship Id="rId486" Type="http://schemas.openxmlformats.org/officeDocument/2006/relationships/slide" Target="slides/slide479.xml"/><Relationship Id="rId487" Type="http://schemas.openxmlformats.org/officeDocument/2006/relationships/slide" Target="slides/slide480.xml"/><Relationship Id="rId488" Type="http://schemas.openxmlformats.org/officeDocument/2006/relationships/slide" Target="slides/slide481.xml"/><Relationship Id="rId489" Type="http://schemas.openxmlformats.org/officeDocument/2006/relationships/slide" Target="slides/slide482.xml"/><Relationship Id="rId490" Type="http://schemas.openxmlformats.org/officeDocument/2006/relationships/slide" Target="slides/slide483.xml"/><Relationship Id="rId491" Type="http://schemas.openxmlformats.org/officeDocument/2006/relationships/slide" Target="slides/slide484.xml"/><Relationship Id="rId492" Type="http://schemas.openxmlformats.org/officeDocument/2006/relationships/slide" Target="slides/slide485.xml"/><Relationship Id="rId493" Type="http://schemas.openxmlformats.org/officeDocument/2006/relationships/slide" Target="slides/slide486.xml"/><Relationship Id="rId494" Type="http://schemas.openxmlformats.org/officeDocument/2006/relationships/slide" Target="slides/slide487.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ser>
          <c:idx val="0"/>
          <c:order val="0"/>
          <c:tx>
            <c:strRef>
              <c:f>Sheet1!$B$1</c:f>
              <c:strCache>
                <c:ptCount val="1"/>
                <c:pt idx="0">
                  <c:v>Level</c:v>
                </c:pt>
              </c:strCache>
            </c:strRef>
          </c:tx>
          <c:dPt>
            <c:idx val="0"/>
            <c:spPr>
              <a:solidFill>
                <a:srgbClr val="FFD966"/>
              </a:solidFill>
              <a:ln w="9525">
                <a:solidFill>
                  <a:srgbClr val="111827"/>
                </a:solidFill>
              </a:ln>
            </c:spPr>
          </c:dPt>
          <c:dPt>
            <c:idx val="1"/>
            <c:spPr>
              <a:solidFill>
                <a:srgbClr val="FFD966"/>
              </a:solidFill>
              <a:ln w="9525">
                <a:solidFill>
                  <a:srgbClr val="111827"/>
                </a:solidFill>
              </a:ln>
            </c:spPr>
          </c:dPt>
          <c:dPt>
            <c:idx val="2"/>
            <c:spPr>
              <a:solidFill>
                <a:srgbClr val="FFD966"/>
              </a:solidFill>
              <a:ln w="9525">
                <a:solidFill>
                  <a:srgbClr val="111827"/>
                </a:solidFill>
              </a:ln>
            </c:spPr>
          </c:dPt>
          <c:dPt>
            <c:idx val="3"/>
            <c:spPr>
              <a:solidFill>
                <a:srgbClr val="F6B26B"/>
              </a:solidFill>
              <a:ln w="9525">
                <a:solidFill>
                  <a:srgbClr val="111827"/>
                </a:solidFill>
              </a:ln>
            </c:spPr>
          </c:dPt>
          <c:dPt>
            <c:idx val="4"/>
            <c:spPr>
              <a:solidFill>
                <a:srgbClr val="F6B26B"/>
              </a:solidFill>
              <a:ln w="9525">
                <a:solidFill>
                  <a:srgbClr val="111827"/>
                </a:solidFill>
              </a:ln>
            </c:spPr>
          </c:dPt>
          <c:dPt>
            <c:idx val="5"/>
            <c:spPr>
              <a:solidFill>
                <a:srgbClr val="F6B26B"/>
              </a:solidFill>
              <a:ln w="9525">
                <a:solidFill>
                  <a:srgbClr val="111827"/>
                </a:solidFill>
              </a:ln>
            </c:spPr>
          </c:dPt>
          <c:dPt>
            <c:idx val="6"/>
            <c:spPr>
              <a:solidFill>
                <a:srgbClr val="FFD966"/>
              </a:solidFill>
              <a:ln w="9525">
                <a:solidFill>
                  <a:srgbClr val="111827"/>
                </a:solidFill>
              </a:ln>
            </c:spPr>
          </c:dPt>
          <c:dPt>
            <c:idx val="7"/>
            <c:spPr>
              <a:solidFill>
                <a:srgbClr val="F6B26B"/>
              </a:solidFill>
              <a:ln w="9525">
                <a:solidFill>
                  <a:srgbClr val="111827"/>
                </a:solidFill>
              </a:ln>
            </c:spPr>
          </c:dPt>
          <c:dPt>
            <c:idx val="8"/>
            <c:spPr>
              <a:solidFill>
                <a:srgbClr val="FFD966"/>
              </a:solidFill>
              <a:ln w="9525">
                <a:solidFill>
                  <a:srgbClr val="111827"/>
                </a:solidFill>
              </a:ln>
            </c:spPr>
          </c:dPt>
          <c:dPt>
            <c:idx val="9"/>
            <c:spPr>
              <a:solidFill>
                <a:srgbClr val="FFD966"/>
              </a:solidFill>
              <a:ln w="9525">
                <a:solidFill>
                  <a:srgbClr val="111827"/>
                </a:solidFill>
              </a:ln>
            </c:spPr>
          </c:dPt>
          <c:dPt>
            <c:idx val="10"/>
            <c:spPr>
              <a:solidFill>
                <a:srgbClr val="FFD966"/>
              </a:solidFill>
              <a:ln w="9525">
                <a:solidFill>
                  <a:srgbClr val="111827"/>
                </a:solidFill>
              </a:ln>
            </c:spPr>
          </c:dPt>
          <c:dPt>
            <c:idx val="11"/>
            <c:spPr>
              <a:solidFill>
                <a:srgbClr val="FFD966"/>
              </a:solidFill>
              <a:ln w="9525">
                <a:solidFill>
                  <a:srgbClr val="111827"/>
                </a:solidFill>
              </a:ln>
            </c:spPr>
          </c:dPt>
          <c:dPt>
            <c:idx val="12"/>
            <c:spPr>
              <a:solidFill>
                <a:srgbClr val="FFD966"/>
              </a:solidFill>
              <a:ln w="9525">
                <a:solidFill>
                  <a:srgbClr val="111827"/>
                </a:solidFill>
              </a:ln>
            </c:spPr>
          </c:dPt>
          <c:dPt>
            <c:idx val="13"/>
            <c:spPr>
              <a:solidFill>
                <a:srgbClr val="F6B26B"/>
              </a:solidFill>
              <a:ln w="9525">
                <a:solidFill>
                  <a:srgbClr val="111827"/>
                </a:solidFill>
              </a:ln>
            </c:spPr>
          </c:dPt>
          <c:dPt>
            <c:idx val="14"/>
            <c:spPr>
              <a:solidFill>
                <a:srgbClr val="FFD966"/>
              </a:solidFill>
              <a:ln w="9525">
                <a:solidFill>
                  <a:srgbClr val="111827"/>
                </a:solidFill>
              </a:ln>
            </c:spPr>
          </c:dPt>
          <c:dPt>
            <c:idx val="15"/>
            <c:spPr>
              <a:solidFill>
                <a:srgbClr val="F6B26B"/>
              </a:solidFill>
              <a:ln w="9525">
                <a:solidFill>
                  <a:srgbClr val="111827"/>
                </a:solidFill>
              </a:ln>
            </c:spPr>
          </c:dPt>
          <c:dPt>
            <c:idx val="16"/>
            <c:spPr>
              <a:solidFill>
                <a:srgbClr val="B6D7A8"/>
              </a:solidFill>
              <a:ln w="9525">
                <a:solidFill>
                  <a:srgbClr val="111827"/>
                </a:solidFill>
              </a:ln>
            </c:spPr>
          </c:dPt>
          <c:dPt>
            <c:idx val="17"/>
            <c:spPr>
              <a:solidFill>
                <a:srgbClr val="E88080"/>
              </a:solidFill>
              <a:ln w="9525">
                <a:solidFill>
                  <a:srgbClr val="111827"/>
                </a:solidFill>
              </a:ln>
            </c:spPr>
          </c:dPt>
          <c:dPt>
            <c:idx val="18"/>
            <c:spPr>
              <a:solidFill>
                <a:srgbClr val="FFD966"/>
              </a:solidFill>
              <a:ln w="9525">
                <a:solidFill>
                  <a:srgbClr val="111827"/>
                </a:solidFill>
              </a:ln>
            </c:spPr>
          </c:dPt>
          <c:dPt>
            <c:idx val="19"/>
            <c:spPr>
              <a:solidFill>
                <a:srgbClr val="E88080"/>
              </a:solidFill>
              <a:ln w="9525">
                <a:solidFill>
                  <a:srgbClr val="111827"/>
                </a:solidFill>
              </a:ln>
            </c:spPr>
          </c:dPt>
          <c:dPt>
            <c:idx val="20"/>
            <c:spPr>
              <a:solidFill>
                <a:srgbClr val="F6B26B"/>
              </a:solidFill>
              <a:ln w="9525">
                <a:solidFill>
                  <a:srgbClr val="111827"/>
                </a:solidFill>
              </a:ln>
            </c:spPr>
          </c:dPt>
          <c:dPt>
            <c:idx val="21"/>
            <c:spPr>
              <a:solidFill>
                <a:srgbClr val="FFD966"/>
              </a:solidFill>
              <a:ln w="9525">
                <a:solidFill>
                  <a:srgbClr val="111827"/>
                </a:solidFill>
              </a:ln>
            </c:spPr>
          </c:dPt>
          <c:dPt>
            <c:idx val="22"/>
            <c:spPr>
              <a:solidFill>
                <a:srgbClr val="F6B26B"/>
              </a:solidFill>
              <a:ln w="9525">
                <a:solidFill>
                  <a:srgbClr val="111827"/>
                </a:solidFill>
              </a:ln>
            </c:spPr>
          </c:dPt>
          <c:dPt>
            <c:idx val="23"/>
            <c:spPr>
              <a:solidFill>
                <a:srgbClr val="F6B26B"/>
              </a:solidFill>
              <a:ln w="9525">
                <a:solidFill>
                  <a:srgbClr val="111827"/>
                </a:solidFill>
              </a:ln>
            </c:spPr>
          </c:dPt>
          <c:dPt>
            <c:idx val="24"/>
            <c:spPr>
              <a:solidFill>
                <a:srgbClr val="F6B26B"/>
              </a:solidFill>
              <a:ln w="9525">
                <a:solidFill>
                  <a:srgbClr val="111827"/>
                </a:solidFill>
              </a:ln>
            </c:spPr>
          </c:dPt>
          <c:dPt>
            <c:idx val="25"/>
            <c:spPr>
              <a:solidFill>
                <a:srgbClr val="F6B26B"/>
              </a:solidFill>
              <a:ln w="9525">
                <a:solidFill>
                  <a:srgbClr val="111827"/>
                </a:solidFill>
              </a:ln>
            </c:spPr>
          </c:dPt>
          <c:dPt>
            <c:idx val="26"/>
            <c:spPr>
              <a:solidFill>
                <a:srgbClr val="F6B26B"/>
              </a:solidFill>
              <a:ln w="9525">
                <a:solidFill>
                  <a:srgbClr val="111827"/>
                </a:solidFill>
              </a:ln>
            </c:spPr>
          </c:dPt>
          <c:dPt>
            <c:idx val="27"/>
            <c:spPr>
              <a:solidFill>
                <a:srgbClr val="F6B26B"/>
              </a:solidFill>
              <a:ln w="9525">
                <a:solidFill>
                  <a:srgbClr val="111827"/>
                </a:solidFill>
              </a:ln>
            </c:spPr>
          </c:dPt>
          <c:dPt>
            <c:idx val="28"/>
            <c:spPr>
              <a:solidFill>
                <a:srgbClr val="FFD966"/>
              </a:solidFill>
              <a:ln w="9525">
                <a:solidFill>
                  <a:srgbClr val="111827"/>
                </a:solidFill>
              </a:ln>
            </c:spPr>
          </c:dPt>
          <c:dPt>
            <c:idx val="29"/>
            <c:spPr>
              <a:solidFill>
                <a:srgbClr val="F6B26B"/>
              </a:solidFill>
              <a:ln w="9525">
                <a:solidFill>
                  <a:srgbClr val="111827"/>
                </a:solidFill>
              </a:ln>
            </c:spPr>
          </c:dPt>
          <c:dPt>
            <c:idx val="30"/>
            <c:spPr>
              <a:solidFill>
                <a:srgbClr val="F6B26B"/>
              </a:solidFill>
              <a:ln w="9525">
                <a:solidFill>
                  <a:srgbClr val="111827"/>
                </a:solidFill>
              </a:ln>
            </c:spPr>
          </c:dPt>
          <c:dPt>
            <c:idx val="31"/>
            <c:spPr>
              <a:solidFill>
                <a:srgbClr val="FFD966"/>
              </a:solidFill>
              <a:ln w="9525">
                <a:solidFill>
                  <a:srgbClr val="111827"/>
                </a:solidFill>
              </a:ln>
            </c:spPr>
          </c:dPt>
          <c:dPt>
            <c:idx val="32"/>
            <c:spPr>
              <a:solidFill>
                <a:srgbClr val="FFD966"/>
              </a:solidFill>
              <a:ln w="9525">
                <a:solidFill>
                  <a:srgbClr val="111827"/>
                </a:solidFill>
              </a:ln>
            </c:spPr>
          </c:dPt>
          <c:dPt>
            <c:idx val="33"/>
            <c:spPr>
              <a:solidFill>
                <a:srgbClr val="FFD966"/>
              </a:solidFill>
              <a:ln w="9525">
                <a:solidFill>
                  <a:srgbClr val="111827"/>
                </a:solidFill>
              </a:ln>
            </c:spPr>
          </c:dPt>
          <c:dPt>
            <c:idx val="34"/>
            <c:spPr>
              <a:solidFill>
                <a:srgbClr val="E88080"/>
              </a:solidFill>
              <a:ln w="9525">
                <a:solidFill>
                  <a:srgbClr val="111827"/>
                </a:solidFill>
              </a:ln>
            </c:spPr>
          </c:dPt>
          <c:dPt>
            <c:idx val="35"/>
            <c:spPr>
              <a:solidFill>
                <a:srgbClr val="FFD966"/>
              </a:solidFill>
              <a:ln w="9525">
                <a:solidFill>
                  <a:srgbClr val="111827"/>
                </a:solidFill>
              </a:ln>
            </c:spPr>
          </c:dPt>
          <c:dPt>
            <c:idx val="36"/>
            <c:spPr>
              <a:solidFill>
                <a:srgbClr val="F6B26B"/>
              </a:solidFill>
              <a:ln w="9525">
                <a:solidFill>
                  <a:srgbClr val="111827"/>
                </a:solidFill>
              </a:ln>
            </c:spPr>
          </c:dPt>
          <c:dPt>
            <c:idx val="37"/>
            <c:spPr>
              <a:solidFill>
                <a:srgbClr val="FFD966"/>
              </a:solidFill>
              <a:ln w="9525">
                <a:solidFill>
                  <a:srgbClr val="111827"/>
                </a:solidFill>
              </a:ln>
            </c:spPr>
          </c:dPt>
          <c:dPt>
            <c:idx val="38"/>
            <c:spPr>
              <a:solidFill>
                <a:srgbClr val="E88080"/>
              </a:solidFill>
              <a:ln w="9525">
                <a:solidFill>
                  <a:srgbClr val="111827"/>
                </a:solidFill>
              </a:ln>
            </c:spPr>
          </c:dPt>
          <c:dPt>
            <c:idx val="39"/>
            <c:spPr>
              <a:solidFill>
                <a:srgbClr val="F6B26B"/>
              </a:solidFill>
              <a:ln w="9525">
                <a:solidFill>
                  <a:srgbClr val="111827"/>
                </a:solidFill>
              </a:ln>
            </c:spPr>
          </c:dPt>
          <c:dPt>
            <c:idx val="40"/>
            <c:spPr>
              <a:solidFill>
                <a:srgbClr val="E88080"/>
              </a:solidFill>
              <a:ln w="9525">
                <a:solidFill>
                  <a:srgbClr val="111827"/>
                </a:solidFill>
              </a:ln>
            </c:spPr>
          </c:dPt>
          <c:dPt>
            <c:idx val="41"/>
            <c:spPr>
              <a:solidFill>
                <a:srgbClr val="FFD966"/>
              </a:solidFill>
              <a:ln w="9525">
                <a:solidFill>
                  <a:srgbClr val="111827"/>
                </a:solidFill>
              </a:ln>
            </c:spPr>
          </c:dPt>
          <c:dPt>
            <c:idx val="42"/>
            <c:spPr>
              <a:solidFill>
                <a:srgbClr val="F6B26B"/>
              </a:solidFill>
              <a:ln w="9525">
                <a:solidFill>
                  <a:srgbClr val="111827"/>
                </a:solidFill>
              </a:ln>
            </c:spPr>
          </c:dPt>
          <c:dPt>
            <c:idx val="43"/>
            <c:spPr>
              <a:solidFill>
                <a:srgbClr val="FFD966"/>
              </a:solidFill>
              <a:ln w="9525">
                <a:solidFill>
                  <a:srgbClr val="111827"/>
                </a:solidFill>
              </a:ln>
            </c:spPr>
          </c:dPt>
          <c:dPt>
            <c:idx val="44"/>
            <c:spPr>
              <a:solidFill>
                <a:srgbClr val="FFD966"/>
              </a:solidFill>
              <a:ln w="9525">
                <a:solidFill>
                  <a:srgbClr val="111827"/>
                </a:solidFill>
              </a:ln>
            </c:spPr>
          </c:dPt>
          <c:dPt>
            <c:idx val="45"/>
            <c:spPr>
              <a:solidFill>
                <a:srgbClr val="FFD966"/>
              </a:solidFill>
              <a:ln w="9525">
                <a:solidFill>
                  <a:srgbClr val="111827"/>
                </a:solidFill>
              </a:ln>
            </c:spPr>
          </c:dPt>
          <c:dPt>
            <c:idx val="46"/>
            <c:spPr>
              <a:solidFill>
                <a:srgbClr val="F6B26B"/>
              </a:solidFill>
              <a:ln w="9525">
                <a:solidFill>
                  <a:srgbClr val="111827"/>
                </a:solidFill>
              </a:ln>
            </c:spPr>
          </c:dPt>
          <c:dPt>
            <c:idx val="47"/>
            <c:spPr>
              <a:solidFill>
                <a:srgbClr val="F6B26B"/>
              </a:solidFill>
              <a:ln w="9525">
                <a:solidFill>
                  <a:srgbClr val="111827"/>
                </a:solidFill>
              </a:ln>
            </c:spPr>
          </c:dPt>
          <c:dPt>
            <c:idx val="48"/>
            <c:spPr>
              <a:solidFill>
                <a:srgbClr val="F6B26B"/>
              </a:solidFill>
              <a:ln w="9525">
                <a:solidFill>
                  <a:srgbClr val="111827"/>
                </a:solidFill>
              </a:ln>
            </c:spPr>
          </c:dPt>
          <c:dPt>
            <c:idx val="49"/>
            <c:spPr>
              <a:solidFill>
                <a:srgbClr val="FFD966"/>
              </a:solidFill>
              <a:ln w="9525">
                <a:solidFill>
                  <a:srgbClr val="111827"/>
                </a:solidFill>
              </a:ln>
            </c:spPr>
          </c:dPt>
          <c:dPt>
            <c:idx val="50"/>
            <c:spPr>
              <a:solidFill>
                <a:srgbClr val="FFD966"/>
              </a:solidFill>
              <a:ln w="9525">
                <a:solidFill>
                  <a:srgbClr val="111827"/>
                </a:solidFill>
              </a:ln>
            </c:spPr>
          </c:dPt>
          <c:dPt>
            <c:idx val="51"/>
            <c:spPr>
              <a:solidFill>
                <a:srgbClr val="F6B26B"/>
              </a:solidFill>
              <a:ln w="9525">
                <a:solidFill>
                  <a:srgbClr val="111827"/>
                </a:solidFill>
              </a:ln>
            </c:spPr>
          </c:dPt>
          <c:dPt>
            <c:idx val="52"/>
            <c:spPr>
              <a:solidFill>
                <a:srgbClr val="F6B26B"/>
              </a:solidFill>
              <a:ln w="9525">
                <a:solidFill>
                  <a:srgbClr val="111827"/>
                </a:solidFill>
              </a:ln>
            </c:spPr>
          </c:dPt>
          <c:dPt>
            <c:idx val="53"/>
            <c:spPr>
              <a:solidFill>
                <a:srgbClr val="FFD966"/>
              </a:solidFill>
              <a:ln w="9525">
                <a:solidFill>
                  <a:srgbClr val="111827"/>
                </a:solidFill>
              </a:ln>
            </c:spPr>
          </c:dPt>
          <c:dPt>
            <c:idx val="54"/>
            <c:spPr>
              <a:solidFill>
                <a:srgbClr val="F6B26B"/>
              </a:solidFill>
              <a:ln w="9525">
                <a:solidFill>
                  <a:srgbClr val="111827"/>
                </a:solidFill>
              </a:ln>
            </c:spPr>
          </c:dPt>
          <c:dPt>
            <c:idx val="55"/>
            <c:spPr>
              <a:solidFill>
                <a:srgbClr val="FFD966"/>
              </a:solidFill>
              <a:ln w="9525">
                <a:solidFill>
                  <a:srgbClr val="111827"/>
                </a:solidFill>
              </a:ln>
            </c:spPr>
          </c:dPt>
          <c:dPt>
            <c:idx val="56"/>
            <c:spPr>
              <a:solidFill>
                <a:srgbClr val="FFD966"/>
              </a:solidFill>
              <a:ln w="9525">
                <a:solidFill>
                  <a:srgbClr val="111827"/>
                </a:solidFill>
              </a:ln>
            </c:spPr>
          </c:dPt>
          <c:dPt>
            <c:idx val="57"/>
            <c:spPr>
              <a:solidFill>
                <a:srgbClr val="FFD966"/>
              </a:solidFill>
              <a:ln w="9525">
                <a:solidFill>
                  <a:srgbClr val="111827"/>
                </a:solidFill>
              </a:ln>
            </c:spPr>
          </c:dPt>
          <c:dPt>
            <c:idx val="58"/>
            <c:spPr>
              <a:solidFill>
                <a:srgbClr val="F6B26B"/>
              </a:solidFill>
              <a:ln w="9525">
                <a:solidFill>
                  <a:srgbClr val="111827"/>
                </a:solidFill>
              </a:ln>
            </c:spPr>
          </c:dPt>
          <c:dPt>
            <c:idx val="59"/>
            <c:spPr>
              <a:solidFill>
                <a:srgbClr val="FFD966"/>
              </a:solidFill>
              <a:ln w="9525">
                <a:solidFill>
                  <a:srgbClr val="111827"/>
                </a:solidFill>
              </a:ln>
            </c:spPr>
          </c:dPt>
          <c:dPt>
            <c:idx val="60"/>
            <c:spPr>
              <a:solidFill>
                <a:srgbClr val="F6B26B"/>
              </a:solidFill>
              <a:ln w="9525">
                <a:solidFill>
                  <a:srgbClr val="111827"/>
                </a:solidFill>
              </a:ln>
            </c:spPr>
          </c:dPt>
          <c:dPt>
            <c:idx val="61"/>
            <c:spPr>
              <a:solidFill>
                <a:srgbClr val="FFD966"/>
              </a:solidFill>
              <a:ln w="9525">
                <a:solidFill>
                  <a:srgbClr val="111827"/>
                </a:solidFill>
              </a:ln>
            </c:spPr>
          </c:dPt>
          <c:dPt>
            <c:idx val="62"/>
            <c:spPr>
              <a:solidFill>
                <a:srgbClr val="B6D7A8"/>
              </a:solidFill>
              <a:ln w="9525">
                <a:solidFill>
                  <a:srgbClr val="111827"/>
                </a:solidFill>
              </a:ln>
            </c:spPr>
          </c:dPt>
          <c:dPt>
            <c:idx val="63"/>
            <c:spPr>
              <a:solidFill>
                <a:srgbClr val="B6D7A8"/>
              </a:solidFill>
              <a:ln w="9525">
                <a:solidFill>
                  <a:srgbClr val="111827"/>
                </a:solidFill>
              </a:ln>
            </c:spPr>
          </c:dPt>
          <c:dPt>
            <c:idx val="64"/>
            <c:spPr>
              <a:solidFill>
                <a:srgbClr val="F6B26B"/>
              </a:solidFill>
              <a:ln w="9525">
                <a:solidFill>
                  <a:srgbClr val="111827"/>
                </a:solidFill>
              </a:ln>
            </c:spPr>
          </c:dPt>
          <c:dPt>
            <c:idx val="65"/>
            <c:spPr>
              <a:solidFill>
                <a:srgbClr val="F6B26B"/>
              </a:solidFill>
              <a:ln w="9525">
                <a:solidFill>
                  <a:srgbClr val="111827"/>
                </a:solidFill>
              </a:ln>
            </c:spPr>
          </c:dPt>
          <c:dPt>
            <c:idx val="66"/>
            <c:spPr>
              <a:solidFill>
                <a:srgbClr val="B6D7A8"/>
              </a:solidFill>
              <a:ln w="9525">
                <a:solidFill>
                  <a:srgbClr val="111827"/>
                </a:solidFill>
              </a:ln>
            </c:spPr>
          </c:dPt>
          <c:dPt>
            <c:idx val="67"/>
            <c:spPr>
              <a:solidFill>
                <a:srgbClr val="F6B26B"/>
              </a:solidFill>
              <a:ln w="9525">
                <a:solidFill>
                  <a:srgbClr val="111827"/>
                </a:solidFill>
              </a:ln>
            </c:spPr>
          </c:dPt>
          <c:dPt>
            <c:idx val="68"/>
            <c:spPr>
              <a:solidFill>
                <a:srgbClr val="F6B26B"/>
              </a:solidFill>
              <a:ln w="9525">
                <a:solidFill>
                  <a:srgbClr val="111827"/>
                </a:solidFill>
              </a:ln>
            </c:spPr>
          </c:dPt>
          <c:dPt>
            <c:idx val="69"/>
            <c:spPr>
              <a:solidFill>
                <a:srgbClr val="FFD966"/>
              </a:solidFill>
              <a:ln w="9525">
                <a:solidFill>
                  <a:srgbClr val="111827"/>
                </a:solidFill>
              </a:ln>
            </c:spPr>
          </c:dPt>
          <c:dPt>
            <c:idx val="70"/>
            <c:spPr>
              <a:solidFill>
                <a:srgbClr val="FFD966"/>
              </a:solidFill>
              <a:ln w="9525">
                <a:solidFill>
                  <a:srgbClr val="111827"/>
                </a:solidFill>
              </a:ln>
            </c:spPr>
          </c:dPt>
          <c:dPt>
            <c:idx val="71"/>
            <c:spPr>
              <a:solidFill>
                <a:srgbClr val="F6B26B"/>
              </a:solidFill>
              <a:ln w="9525">
                <a:solidFill>
                  <a:srgbClr val="111827"/>
                </a:solidFill>
              </a:ln>
            </c:spPr>
          </c:dPt>
          <c:dPt>
            <c:idx val="72"/>
            <c:spPr>
              <a:solidFill>
                <a:srgbClr val="FFD966"/>
              </a:solidFill>
              <a:ln w="9525">
                <a:solidFill>
                  <a:srgbClr val="111827"/>
                </a:solidFill>
              </a:ln>
            </c:spPr>
          </c:dPt>
          <c:dPt>
            <c:idx val="73"/>
            <c:spPr>
              <a:solidFill>
                <a:srgbClr val="FFD966"/>
              </a:solidFill>
              <a:ln w="9525">
                <a:solidFill>
                  <a:srgbClr val="111827"/>
                </a:solidFill>
              </a:ln>
            </c:spPr>
          </c:dPt>
          <c:dPt>
            <c:idx val="74"/>
            <c:spPr>
              <a:solidFill>
                <a:srgbClr val="F6B26B"/>
              </a:solidFill>
              <a:ln w="9525">
                <a:solidFill>
                  <a:srgbClr val="111827"/>
                </a:solidFill>
              </a:ln>
            </c:spPr>
          </c:dPt>
          <c:dPt>
            <c:idx val="75"/>
            <c:spPr>
              <a:solidFill>
                <a:srgbClr val="B6D7A8"/>
              </a:solidFill>
              <a:ln w="9525">
                <a:solidFill>
                  <a:srgbClr val="111827"/>
                </a:solidFill>
              </a:ln>
            </c:spPr>
          </c:dPt>
          <c:dPt>
            <c:idx val="76"/>
            <c:spPr>
              <a:solidFill>
                <a:srgbClr val="F6B26B"/>
              </a:solidFill>
              <a:ln w="9525">
                <a:solidFill>
                  <a:srgbClr val="111827"/>
                </a:solidFill>
              </a:ln>
            </c:spPr>
          </c:dPt>
          <c:dPt>
            <c:idx val="77"/>
            <c:spPr>
              <a:solidFill>
                <a:srgbClr val="F6B26B"/>
              </a:solidFill>
              <a:ln w="9525">
                <a:solidFill>
                  <a:srgbClr val="111827"/>
                </a:solidFill>
              </a:ln>
            </c:spPr>
          </c:dPt>
          <c:dPt>
            <c:idx val="78"/>
            <c:spPr>
              <a:solidFill>
                <a:srgbClr val="F6B26B"/>
              </a:solidFill>
              <a:ln w="9525">
                <a:solidFill>
                  <a:srgbClr val="111827"/>
                </a:solidFill>
              </a:ln>
            </c:spPr>
          </c:dPt>
          <c:dPt>
            <c:idx val="79"/>
            <c:spPr>
              <a:solidFill>
                <a:srgbClr val="F6B26B"/>
              </a:solidFill>
              <a:ln w="9525">
                <a:solidFill>
                  <a:srgbClr val="111827"/>
                </a:solidFill>
              </a:ln>
            </c:spPr>
          </c:dPt>
          <c:cat>
            <c:strRef>
              <c:f>Sheet1!$A$2:$A$81</c:f>
              <c:strCache>
                <c:ptCount val="80"/>
                <c:pt idx="0">
                  <c:v>Q1</c:v>
                </c:pt>
                <c:pt idx="1">
                  <c:v>Q2</c:v>
                </c:pt>
                <c:pt idx="2">
                  <c:v>Q3</c:v>
                </c:pt>
                <c:pt idx="3">
                  <c:v>Q4</c:v>
                </c:pt>
                <c:pt idx="4">
                  <c:v>Q5</c:v>
                </c:pt>
                <c:pt idx="5">
                  <c:v>Q6</c:v>
                </c:pt>
                <c:pt idx="6">
                  <c:v>Q7</c:v>
                </c:pt>
                <c:pt idx="7">
                  <c:v>Q8</c:v>
                </c:pt>
                <c:pt idx="8">
                  <c:v>Q9</c:v>
                </c:pt>
                <c:pt idx="9">
                  <c:v>Q10</c:v>
                </c:pt>
                <c:pt idx="10">
                  <c:v>Q11</c:v>
                </c:pt>
                <c:pt idx="11">
                  <c:v>Q12</c:v>
                </c:pt>
                <c:pt idx="12">
                  <c:v>Q13</c:v>
                </c:pt>
                <c:pt idx="13">
                  <c:v>Q14</c:v>
                </c:pt>
                <c:pt idx="14">
                  <c:v>Q15</c:v>
                </c:pt>
                <c:pt idx="15">
                  <c:v>Q16</c:v>
                </c:pt>
                <c:pt idx="16">
                  <c:v>Q17</c:v>
                </c:pt>
                <c:pt idx="17">
                  <c:v>Q18</c:v>
                </c:pt>
                <c:pt idx="18">
                  <c:v>Q19</c:v>
                </c:pt>
                <c:pt idx="19">
                  <c:v>Q20</c:v>
                </c:pt>
                <c:pt idx="20">
                  <c:v>Q21</c:v>
                </c:pt>
                <c:pt idx="21">
                  <c:v>Q22</c:v>
                </c:pt>
                <c:pt idx="22">
                  <c:v>Q23</c:v>
                </c:pt>
                <c:pt idx="23">
                  <c:v>Q24</c:v>
                </c:pt>
                <c:pt idx="24">
                  <c:v>Q25</c:v>
                </c:pt>
                <c:pt idx="25">
                  <c:v>Q26</c:v>
                </c:pt>
                <c:pt idx="26">
                  <c:v>Q27</c:v>
                </c:pt>
                <c:pt idx="27">
                  <c:v>Q28</c:v>
                </c:pt>
                <c:pt idx="28">
                  <c:v>Q29</c:v>
                </c:pt>
                <c:pt idx="29">
                  <c:v>Q30</c:v>
                </c:pt>
                <c:pt idx="30">
                  <c:v>Q31</c:v>
                </c:pt>
                <c:pt idx="31">
                  <c:v>Q32</c:v>
                </c:pt>
                <c:pt idx="32">
                  <c:v>Q33</c:v>
                </c:pt>
                <c:pt idx="33">
                  <c:v>Q34</c:v>
                </c:pt>
                <c:pt idx="34">
                  <c:v>Q35</c:v>
                </c:pt>
                <c:pt idx="35">
                  <c:v>Q36</c:v>
                </c:pt>
                <c:pt idx="36">
                  <c:v>Q37</c:v>
                </c:pt>
                <c:pt idx="37">
                  <c:v>Q38</c:v>
                </c:pt>
                <c:pt idx="38">
                  <c:v>Q39</c:v>
                </c:pt>
                <c:pt idx="39">
                  <c:v>Q40</c:v>
                </c:pt>
                <c:pt idx="40">
                  <c:v>Q41</c:v>
                </c:pt>
                <c:pt idx="41">
                  <c:v>Q42</c:v>
                </c:pt>
                <c:pt idx="42">
                  <c:v>Q43</c:v>
                </c:pt>
                <c:pt idx="43">
                  <c:v>Q44</c:v>
                </c:pt>
                <c:pt idx="44">
                  <c:v>Q45</c:v>
                </c:pt>
                <c:pt idx="45">
                  <c:v>Q46</c:v>
                </c:pt>
                <c:pt idx="46">
                  <c:v>Q47</c:v>
                </c:pt>
                <c:pt idx="47">
                  <c:v>Q48</c:v>
                </c:pt>
                <c:pt idx="48">
                  <c:v>Q49</c:v>
                </c:pt>
                <c:pt idx="49">
                  <c:v>Q50</c:v>
                </c:pt>
                <c:pt idx="50">
                  <c:v>Q51</c:v>
                </c:pt>
                <c:pt idx="51">
                  <c:v>Q52</c:v>
                </c:pt>
                <c:pt idx="52">
                  <c:v>Q53</c:v>
                </c:pt>
                <c:pt idx="53">
                  <c:v>Q54</c:v>
                </c:pt>
                <c:pt idx="54">
                  <c:v>Q55</c:v>
                </c:pt>
                <c:pt idx="55">
                  <c:v>Q56</c:v>
                </c:pt>
                <c:pt idx="56">
                  <c:v>Q57</c:v>
                </c:pt>
                <c:pt idx="57">
                  <c:v>Q58</c:v>
                </c:pt>
                <c:pt idx="58">
                  <c:v>Q59</c:v>
                </c:pt>
                <c:pt idx="59">
                  <c:v>Q60</c:v>
                </c:pt>
                <c:pt idx="60">
                  <c:v>Q61</c:v>
                </c:pt>
                <c:pt idx="61">
                  <c:v>Q62</c:v>
                </c:pt>
                <c:pt idx="62">
                  <c:v>Q63</c:v>
                </c:pt>
                <c:pt idx="63">
                  <c:v>Q64</c:v>
                </c:pt>
                <c:pt idx="64">
                  <c:v>Q65</c:v>
                </c:pt>
                <c:pt idx="65">
                  <c:v>Q66</c:v>
                </c:pt>
                <c:pt idx="66">
                  <c:v>Q67</c:v>
                </c:pt>
                <c:pt idx="67">
                  <c:v>Q68</c:v>
                </c:pt>
                <c:pt idx="68">
                  <c:v>Q69</c:v>
                </c:pt>
                <c:pt idx="69">
                  <c:v>Q70</c:v>
                </c:pt>
                <c:pt idx="70">
                  <c:v>Q71</c:v>
                </c:pt>
                <c:pt idx="71">
                  <c:v>Q72</c:v>
                </c:pt>
                <c:pt idx="72">
                  <c:v>Q73</c:v>
                </c:pt>
                <c:pt idx="73">
                  <c:v>Q74</c:v>
                </c:pt>
                <c:pt idx="74">
                  <c:v>Q75</c:v>
                </c:pt>
                <c:pt idx="75">
                  <c:v>Q76</c:v>
                </c:pt>
                <c:pt idx="76">
                  <c:v>Q77</c:v>
                </c:pt>
                <c:pt idx="77">
                  <c:v>Q78</c:v>
                </c:pt>
                <c:pt idx="78">
                  <c:v>Q79</c:v>
                </c:pt>
                <c:pt idx="79">
                  <c:v>Q80</c:v>
                </c:pt>
              </c:strCache>
            </c:strRef>
          </c:cat>
          <c:val>
            <c:numRef>
              <c:f>Sheet1!$B$2:$B$81</c:f>
              <c:numCache>
                <c:formatCode>General</c:formatCode>
                <c:ptCount val="80"/>
                <c:pt idx="0">
                  <c:v>2.0</c:v>
                </c:pt>
                <c:pt idx="1">
                  <c:v>2.0</c:v>
                </c:pt>
                <c:pt idx="2">
                  <c:v>2.0</c:v>
                </c:pt>
                <c:pt idx="3">
                  <c:v>3.0</c:v>
                </c:pt>
                <c:pt idx="4">
                  <c:v>3.0</c:v>
                </c:pt>
                <c:pt idx="5">
                  <c:v>3.0</c:v>
                </c:pt>
                <c:pt idx="6">
                  <c:v>2.0</c:v>
                </c:pt>
                <c:pt idx="7">
                  <c:v>3.0</c:v>
                </c:pt>
                <c:pt idx="8">
                  <c:v>2.0</c:v>
                </c:pt>
                <c:pt idx="9">
                  <c:v>2.0</c:v>
                </c:pt>
                <c:pt idx="10">
                  <c:v>2.0</c:v>
                </c:pt>
                <c:pt idx="11">
                  <c:v>2.0</c:v>
                </c:pt>
                <c:pt idx="12">
                  <c:v>2.0</c:v>
                </c:pt>
                <c:pt idx="13">
                  <c:v>3.0</c:v>
                </c:pt>
                <c:pt idx="14">
                  <c:v>2.0</c:v>
                </c:pt>
                <c:pt idx="15">
                  <c:v>3.0</c:v>
                </c:pt>
                <c:pt idx="16">
                  <c:v>1.0</c:v>
                </c:pt>
                <c:pt idx="17">
                  <c:v>4.0</c:v>
                </c:pt>
                <c:pt idx="18">
                  <c:v>2.0</c:v>
                </c:pt>
                <c:pt idx="19">
                  <c:v>4.0</c:v>
                </c:pt>
                <c:pt idx="20">
                  <c:v>3.0</c:v>
                </c:pt>
                <c:pt idx="21">
                  <c:v>2.0</c:v>
                </c:pt>
                <c:pt idx="22">
                  <c:v>3.0</c:v>
                </c:pt>
                <c:pt idx="23">
                  <c:v>3.0</c:v>
                </c:pt>
                <c:pt idx="24">
                  <c:v>3.0</c:v>
                </c:pt>
                <c:pt idx="25">
                  <c:v>3.0</c:v>
                </c:pt>
                <c:pt idx="26">
                  <c:v>3.0</c:v>
                </c:pt>
                <c:pt idx="27">
                  <c:v>3.0</c:v>
                </c:pt>
                <c:pt idx="28">
                  <c:v>2.0</c:v>
                </c:pt>
                <c:pt idx="29">
                  <c:v>3.0</c:v>
                </c:pt>
                <c:pt idx="30">
                  <c:v>3.0</c:v>
                </c:pt>
                <c:pt idx="31">
                  <c:v>2.0</c:v>
                </c:pt>
                <c:pt idx="32">
                  <c:v>2.0</c:v>
                </c:pt>
                <c:pt idx="33">
                  <c:v>2.0</c:v>
                </c:pt>
                <c:pt idx="34">
                  <c:v>4.0</c:v>
                </c:pt>
                <c:pt idx="35">
                  <c:v>2.0</c:v>
                </c:pt>
                <c:pt idx="36">
                  <c:v>3.0</c:v>
                </c:pt>
                <c:pt idx="37">
                  <c:v>2.0</c:v>
                </c:pt>
                <c:pt idx="38">
                  <c:v>4.0</c:v>
                </c:pt>
                <c:pt idx="39">
                  <c:v>3.0</c:v>
                </c:pt>
                <c:pt idx="40">
                  <c:v>4.0</c:v>
                </c:pt>
                <c:pt idx="41">
                  <c:v>2.0</c:v>
                </c:pt>
                <c:pt idx="42">
                  <c:v>3.0</c:v>
                </c:pt>
                <c:pt idx="43">
                  <c:v>2.0</c:v>
                </c:pt>
                <c:pt idx="44">
                  <c:v>2.0</c:v>
                </c:pt>
                <c:pt idx="45">
                  <c:v>2.0</c:v>
                </c:pt>
                <c:pt idx="46">
                  <c:v>3.0</c:v>
                </c:pt>
                <c:pt idx="47">
                  <c:v>3.0</c:v>
                </c:pt>
                <c:pt idx="48">
                  <c:v>3.0</c:v>
                </c:pt>
                <c:pt idx="49">
                  <c:v>2.0</c:v>
                </c:pt>
                <c:pt idx="50">
                  <c:v>2.0</c:v>
                </c:pt>
                <c:pt idx="51">
                  <c:v>3.0</c:v>
                </c:pt>
                <c:pt idx="52">
                  <c:v>3.0</c:v>
                </c:pt>
                <c:pt idx="53">
                  <c:v>2.0</c:v>
                </c:pt>
                <c:pt idx="54">
                  <c:v>3.0</c:v>
                </c:pt>
                <c:pt idx="55">
                  <c:v>2.0</c:v>
                </c:pt>
                <c:pt idx="56">
                  <c:v>2.0</c:v>
                </c:pt>
                <c:pt idx="57">
                  <c:v>2.0</c:v>
                </c:pt>
                <c:pt idx="58">
                  <c:v>3.0</c:v>
                </c:pt>
                <c:pt idx="59">
                  <c:v>2.0</c:v>
                </c:pt>
                <c:pt idx="60">
                  <c:v>3.0</c:v>
                </c:pt>
                <c:pt idx="61">
                  <c:v>2.0</c:v>
                </c:pt>
                <c:pt idx="62">
                  <c:v>1.0</c:v>
                </c:pt>
                <c:pt idx="63">
                  <c:v>1.0</c:v>
                </c:pt>
                <c:pt idx="64">
                  <c:v>3.0</c:v>
                </c:pt>
                <c:pt idx="65">
                  <c:v>3.0</c:v>
                </c:pt>
                <c:pt idx="66">
                  <c:v>1.0</c:v>
                </c:pt>
                <c:pt idx="67">
                  <c:v>3.0</c:v>
                </c:pt>
                <c:pt idx="68">
                  <c:v>3.0</c:v>
                </c:pt>
                <c:pt idx="69">
                  <c:v>2.0</c:v>
                </c:pt>
                <c:pt idx="70">
                  <c:v>2.0</c:v>
                </c:pt>
                <c:pt idx="71">
                  <c:v>3.0</c:v>
                </c:pt>
                <c:pt idx="72">
                  <c:v>2.0</c:v>
                </c:pt>
                <c:pt idx="73">
                  <c:v>2.0</c:v>
                </c:pt>
                <c:pt idx="74">
                  <c:v>3.0</c:v>
                </c:pt>
                <c:pt idx="75">
                  <c:v>1.0</c:v>
                </c:pt>
                <c:pt idx="76">
                  <c:v>3.0</c:v>
                </c:pt>
                <c:pt idx="77">
                  <c:v>3.0</c:v>
                </c:pt>
                <c:pt idx="78">
                  <c:v>3.0</c:v>
                </c:pt>
                <c:pt idx="79">
                  <c:v>3.0</c:v>
                </c:pt>
              </c:numCache>
            </c:numRef>
          </c:val>
        </c:ser>
        <c:dLbls>
          <c:numFmt formatCode="0.0#" sourceLinked="0"/>
          <c:txPr>
            <a:bodyPr/>
            <a:lstStyle/>
            <a:p>
              <a:pPr>
                <a:defRPr sz="2000" b="1">
                  <a:solidFill>
                    <a:srgbClr val="111827"/>
                  </a:solidFill>
                  <a:latin typeface="Arial"/>
                </a:defRPr>
              </a:pPr>
            </a:p>
          </c:txPr>
          <c:dLblPos val="outEnd"/>
          <c:showLegendKey val="0"/>
          <c:showVal val="1"/>
          <c:showCatName val="0"/>
          <c:showSerName val="0"/>
          <c:showPercent val="0"/>
          <c:showBubbleSize val="0"/>
          <c:showLeaderLines val="1"/>
        </c:dLbls>
        <c:gapWidth val="40"/>
        <c:axId val="-2068027336"/>
        <c:axId val="-2113994440"/>
      </c:barChart>
      <c:catAx>
        <c:axId val="-2068027336"/>
        <c:scaling>
          <c:orientation val="minMax"/>
        </c:scaling>
        <c:delete val="0"/>
        <c:axPos val="b"/>
        <c:majorTickMark val="out"/>
        <c:minorTickMark val="none"/>
        <c:tickLblPos val="nextTo"/>
        <c:txPr>
          <a:bodyPr/>
          <a:lstStyle/>
          <a:p>
            <a:pPr>
              <a:defRPr sz="2000" b="1">
                <a:latin typeface="Arial"/>
              </a:defRPr>
            </a:pPr>
          </a:p>
        </c:txPr>
        <c:crossAx val="-2113994440"/>
        <c:crosses val="autoZero"/>
        <c:auto val="1"/>
        <c:lblAlgn val="ctr"/>
        <c:lblOffset val="100"/>
        <c:noMultiLvlLbl val="0"/>
      </c:catAx>
      <c:valAx>
        <c:axId val="-2113994440"/>
        <c:scaling>
          <c:max val="5.5"/>
          <c:min val="0.0"/>
        </c:scaling>
        <c:delete val="0"/>
        <c:axPos val="l"/>
        <c:majorGridlines>
          <c:spPr>
            <a:ln>
              <a:solidFill>
                <a:srgbClr val="D1D5DB"/>
              </a:solidFill>
            </a:ln>
          </c:spPr>
        </c:majorGridlines>
        <c:title>
          <c:tx>
            <c:rich>
              <a:bodyPr/>
              <a:lstStyle/>
              <a:p>
                <a:r>
                  <a:rPr sz="2000"/>
                  <a:t>Level</a:t>
                </a:r>
              </a:p>
            </c:rich>
          </c:tx>
          <c:layout/>
          <c:overlay val="0"/>
        </c:title>
        <c:majorTickMark val="out"/>
        <c:minorTickMark val="none"/>
        <c:tickLblPos val="nextTo"/>
        <c:txPr>
          <a:bodyPr/>
          <a:lstStyle/>
          <a:p>
            <a:pPr>
              <a:defRPr sz="2000">
                <a:latin typeface="Arial"/>
              </a:defRPr>
            </a:pPr>
          </a:p>
        </c:txPr>
        <c:crossAx val="-2068027336"/>
        <c:crosses val="autoZero"/>
        <c:majorUnit val="1.0"/>
      </c:valAx>
    </c:plotArea>
    <c:dispBlanksAs val="gap"/>
  </c:chart>
  <c:txPr>
    <a:bodyPr/>
    <a:lstStyle/>
    <a:p>
      <a:pPr>
        <a:defRPr sz="1800"/>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5.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9.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5.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7.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4.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7.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4.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line '= 2 - 2(lm+mn+nl) - 2(l+m+n)' has a sign error: 3-(l^2+m^2+n^2)+2(lm+mn+nl)-2(l+m+n) equals 2 + 2(lm+mn+nl) - 2(l+m+n). The following lines of the PDF (1+(l+m+n)^2-2(l+m+n)=(1-sum l)^2) are correct, so the answer (A) is unchanged.</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used the symbol lambda for alpha (writes 'lambda=(c+d)/10, lambda=5') and wrote 'l=0,-3'. Corrected to alpha=5 and lambda in {0,-3}; the second root gives alpha*lambda=-15 which is not an option, so (D) 0 still stands.</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wrote 'x = a/(2p), y = a/(2p)' for the second vector; from p x = q y and p x + q y = a we get q y = a/2, i.e. y = a/(2q). The ratio |x|/|y| = q/p is correct as printed.</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printed the third row of the determinant as (0, 2, 3); the components of c = i + 2j + 3k give the row (1, 2, 3). With (1, 2, 3) the determinant is sqrt3 - 1/2 = 2cos(pi/6) - sin(pi/6), which is option (C); the PDF's printed expansion (3sqrt3/4 - 1/2) is one term short.</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wrote the volume as 24[a b c] = 18 (should be 24[a b c]^2 = 18, since [a x b, b x c, c x a] = [a b c]^2) and stops at sin3t(1+sin t) - sin2t = +-1 without solving it. Solving that equation (checked numerically) gives a single root t = 1.076 rad in (0, pi/2), none of the options; the printed key A, B, D (pi/9, 2pi/9, 4pi/9, i.e. sin3t = +-sqrt3/2) does not follow from the printed vectors. Probably the vector a in the original differs. Left flagged for the teacher.</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wrote p = (a x b).c and q = (a x c).b using a CROSS product for ab cos(...) (a scalar multiple of the dot product), then used [a a b] = [a a c] = 0. ab cos(a^b) is a . b, so p = (a.b)c and q = -(a.c)b; a.(p+q) = 0 follows from the dot products cancelling. Final answer (B, C) is unchanged.</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took AG = lambda*AO with AO = i + j + sqrt3 k (the position vector of the centre) instead of the vector from A to O, which is j + sqrt3 k. It then got G = 3i+2j+2sqrt3k or -i-2j-2sqrt3k (options C and B). The correct foot of the altitude is (1,2,2sqrt3) = D, option (A). Also the pyramid is fixed, so G is unique. The paper's key (B, C) is wrong.</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paper's key says (A, C) but the PDF's own working shows x = sqrt3/sqrt2, so (B) is also true; answer is (A, B, C). Also the PDF's first dot-product equation prints 3x + y/2 + z/2 instead of 3x + 3y/2 + 3z/2 (harmless because y = x, z = -x). (D) was not examined in the PDF: the integral points with x^2+y^2+z^2 &lt;= 12 number 179, so (D) is false.</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PDF's displayed determinant for the area has rows (1,1,1) and (2,-1,-1), which are not AB and AC; the correct rows are AB = (0,-1,-1), AC = (2,-1,-1), giving AB x AC = (0,-2,2), area sqrt2 and h = 2 (the PDF's later 'h|j-k| = 2 sqrt2' line is consistent with this). The rest of the PDF working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compared the angle alpha with cos(alpha)=1/sqrt3 (angle between the plane's NORMAL and the axis, about 54.7 degrees) with 60 degrees. The criterion needs the angle between the PLANE and the axis (35.3 degrees); both happen to be below 60 degrees, so the answer (A) is right. Verified by direct substitution (x^2+3xy+y^2=0, two real lines).</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line '3 lambda + 1 - lambda + 2 + 2 - (4 lambda - 3) = 4' is mis-transcribed (taken literally it gives lambda = 2); the correct equation of the intersection with the plane is (3 lambda+1) + (2 - lambda) - (4 lambda - 3) - 4 = 0, i.e. -2 lambda + 2 = 0, lambda = 1, which is what the PDF's following lines use. d2 = sqrt26 and the answer 10 are unchanged.</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writes the area as (1/2) x sqrt26 x (1/5) sqrt(26/100), which equals 13/50 (not sqrt(13/50)); the factor AP = (1/5) sqrt(26/100) is wrong (AP is the distance 1/5 of A from the plane). With AP = 1/5 the area is sqrt26/10 = sqrt(13/50), which is what the PDF's next line states. Answer 2 unchanged. R's position is irrelevant because L is parallel to the plane.</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line '1/2 a^2 sin60 = 4 sqrt3 / 2' has a stray '/2' on the right-hand side; the face area is 4 sqrt3, so (sqrt3/4) a^2 = 4 sqrt3 and a^2 = 16 (as the next PDF line states). The answer 8 is unchanged.</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wrote 'a.b = 0 =&gt; a perp b and |a| perp |b|' (the second part is meaningless; the given condition is |a| = |b|, not a perpendicularity). Also the printed condition |a| = |b| is true only at x ~ 0.083 (root of x^4 + 12x - 1 = 0), so it cannot hold for every x in [1,3]; the answer 3 follows only under the intended reading that it holds throughout. Reported to the teacher.</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answer and last line give r = +-(1/2)(i - j), which has length 1/sqrt2, not 1. The unit vector parallel to BC = i - j is +-(1/sqrt2)(i - j).</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4.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6.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8.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0.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4.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5.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6.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0.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1.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4.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5.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6.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9.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2.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3.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4.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5.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6.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7.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8.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0.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1.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2.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3.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5.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6.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7.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8.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9.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0.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2.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3.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4.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6.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7.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8.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9.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0.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1.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a:lstStyle>
            <a:lvl1pPr>
              <a:defRPr sz="4000">
                <a:solidFill>
                  <a:srgbClr val="FFFFFF"/>
                </a:solidFill>
              </a:defRPr>
            </a:lvl1pPr>
          </a:lstStyle>
          <a:p>
            <a:pPr algn="ctr">
              <a:defRPr sz="4000">
                <a:solidFill>
                  <a:srgbClr val="FFFFFF"/>
                </a:solidFill>
              </a:defRPr>
            </a:pPr>
            <a:r>
              <a:rPr sz="4000" b="1">
                <a:solidFill>
                  <a:srgbClr val="FFFFFF"/>
                </a:solidFill>
                <a:latin typeface="Arial"/>
              </a:rPr>
              <a:t>B1 Assignment Vector 3D — Paper Analysis</a:t>
            </a:r>
            <a:endParaRPr sz="4000">
              <a:solidFill>
                <a:srgbClr val="FFFFFF"/>
              </a:solidFill>
            </a:endParaRPr>
          </a:p>
          <a:p>
            <a:pPr algn="ctr"/>
            <a:r>
              <a:rPr sz="2200">
                <a:solidFill>
                  <a:srgbClr val="FFFFFF"/>
                </a:solidFill>
                <a:latin typeface="Arial"/>
              </a:rPr>
              <a:t>Assignment · detailed solutions</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1</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Single Correct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Q01 – Q17</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Marks not printed in the paper: JEE Advanced default of 4 marks assumed</a:t>
            </a:r>
            <a:endParaRPr sz="2800">
              <a:solidFill>
                <a:srgbClr val="FFFFFF"/>
              </a:solidFill>
            </a:endParaRP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6629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r>
                      <a:rPr lang="en-IN" sz="2400" i="1">
                        <a:solidFill>
                          <a:srgbClr val="111827"/>
                        </a:solidFill>
                        <a:latin typeface="Cambria Math" panose="02040503050406030204" pitchFamily="18" charset="0"/>
                      </a:rPr>
                      <m:t>𝐸</m:t>
                    </m:r>
                  </m:oMath>
                </a14:m>
                <a:r>
                  <a:rPr sz="2400" b="0">
                    <a:solidFill>
                      <a:srgbClr val="111827"/>
                    </a:solidFill>
                    <a:latin typeface="Arial"/>
                  </a:rPr>
                  <a:t> be a regular hexagon,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the origin and the position vectors of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are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respectively. The position vector of the point of intersection of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3</m:t>
                        </m:r>
                      </m:den>
                    </m:f>
                  </m:oMath>
                </a14:m>
                <a:r>
                  <a:rPr sz="2400" b="0">
                    <a:solidFill>
                      <a:srgbClr val="111827"/>
                    </a:solidFill>
                    <a:latin typeface="Arial"/>
                  </a:rPr>
                  <a:t>   (D)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3</m:t>
                        </m:r>
                      </m:den>
                    </m:f>
                  </m:oMath>
                </a14:m>
                <a:endParaRPr sz="2400">
                  <a:solidFill>
                    <a:srgbClr val="111827"/>
                  </a:solidFill>
                </a:endParaRPr>
              </a:p>
            </p:txBody>
          </p:sp>
        </mc:Choice>
        <mc:Fallback>
          <p:sp>
            <p:nvSpPr>
              <p:cNvPr id="4" name="Rounded Rectangle 3"/>
              <p:cNvSpPr/>
              <p:nvPr/>
            </p:nvSpPr>
            <p:spPr>
              <a:xfrm>
                <a:off x="731520" y="1280160"/>
                <a:ext cx="10725912" cy="26629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$OABCDE$</a:t>
                </a:r>
                <a:r>
                  <a:rPr sz="2400" b="0">
                    <a:solidFill>
                      <a:srgbClr val="111827"/>
                    </a:solidFill>
                    <a:latin typeface="Arial"/>
                  </a:rPr>
                  <a:t> be a regular hexagon, </a:t>
                </a:r>
                <a:r>
                  <a:rPr lang="en-IN" sz="2400">
                    <a:solidFill>
                      <a:srgbClr val="111827"/>
                    </a:solidFill>
                    <a:latin typeface="Cambria Math" panose="02040503050406030204" pitchFamily="18" charset="0"/>
                  </a:rPr>
                  <a:t>$O$</a:t>
                </a:r>
                <a:r>
                  <a:rPr sz="2400" b="0">
                    <a:solidFill>
                      <a:srgbClr val="111827"/>
                    </a:solidFill>
                    <a:latin typeface="Arial"/>
                  </a:rPr>
                  <a:t> is the origin and the position vectors of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are </a:t>
                </a:r>
                <a:r>
                  <a:rPr lang="en-IN" sz="2400">
                    <a:solidFill>
                      <a:srgbClr val="111827"/>
                    </a:solidFill>
                    <a:latin typeface="Cambria Math" panose="02040503050406030204" pitchFamily="18" charset="0"/>
                  </a:rPr>
                  <a:t>$\vec a$</a:t>
                </a:r>
                <a:r>
                  <a:rPr sz="2400" b="0">
                    <a:solidFill>
                      <a:srgbClr val="111827"/>
                    </a:solidFill>
                    <a:latin typeface="Arial"/>
                  </a:rPr>
                  <a:t> and </a:t>
                </a:r>
                <a:r>
                  <a:rPr lang="en-IN" sz="2400">
                    <a:solidFill>
                      <a:srgbClr val="111827"/>
                    </a:solidFill>
                    <a:latin typeface="Cambria Math" panose="02040503050406030204" pitchFamily="18" charset="0"/>
                  </a:rPr>
                  <a:t>$\vec b$</a:t>
                </a:r>
                <a:r>
                  <a:rPr sz="2400" b="0">
                    <a:solidFill>
                      <a:srgbClr val="111827"/>
                    </a:solidFill>
                    <a:latin typeface="Arial"/>
                  </a:rPr>
                  <a:t> respectively. The position vector of the point of intersection of </a:t>
                </a:r>
                <a:r>
                  <a:rPr lang="en-IN" sz="2400">
                    <a:solidFill>
                      <a:srgbClr val="111827"/>
                    </a:solidFill>
                    <a:latin typeface="Cambria Math" panose="02040503050406030204" pitchFamily="18" charset="0"/>
                  </a:rPr>
                  <a:t>$OB$</a:t>
                </a:r>
                <a:r>
                  <a:rPr sz="2400" b="0">
                    <a:solidFill>
                      <a:srgbClr val="111827"/>
                    </a:solidFill>
                    <a:latin typeface="Arial"/>
                  </a:rPr>
                  <a:t> and </a:t>
                </a:r>
                <a:r>
                  <a:rPr lang="en-IN" sz="2400">
                    <a:solidFill>
                      <a:srgbClr val="111827"/>
                    </a:solidFill>
                    <a:latin typeface="Cambria Math" panose="02040503050406030204" pitchFamily="18" charset="0"/>
                  </a:rPr>
                  <a:t>$AC$</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$\frac{2}{3}\vec b$</a:t>
                </a:r>
                <a:r>
                  <a:rPr sz="2400" b="0">
                    <a:solidFill>
                      <a:srgbClr val="111827"/>
                    </a:solidFill>
                    <a:latin typeface="Arial"/>
                  </a:rPr>
                  <a:t>   (B) </a:t>
                </a:r>
                <a:r>
                  <a:rPr lang="en-IN" sz="2400">
                    <a:solidFill>
                      <a:srgbClr val="111827"/>
                    </a:solidFill>
                    <a:latin typeface="Cambria Math" panose="02040503050406030204" pitchFamily="18" charset="0"/>
                  </a:rPr>
                  <a:t>$\frac{2}{3}(\vec a+\vec b)$</a:t>
                </a:r>
                <a:r>
                  <a:rPr sz="2400" b="0">
                    <a:solidFill>
                      <a:srgbClr val="111827"/>
                    </a:solidFill>
                    <a:latin typeface="Arial"/>
                  </a:rPr>
                  <a:t>   (C) </a:t>
                </a:r>
                <a:r>
                  <a:rPr lang="en-IN" sz="2400">
                    <a:solidFill>
                      <a:srgbClr val="111827"/>
                    </a:solidFill>
                    <a:latin typeface="Cambria Math" panose="02040503050406030204" pitchFamily="18" charset="0"/>
                  </a:rPr>
                  <a:t>$\frac{\vec b}{3}$</a:t>
                </a:r>
                <a:r>
                  <a:rPr sz="2400" b="0">
                    <a:solidFill>
                      <a:srgbClr val="111827"/>
                    </a:solidFill>
                    <a:latin typeface="Arial"/>
                  </a:rPr>
                  <a:t>   (D) </a:t>
                </a:r>
                <a:r>
                  <a:rPr lang="en-IN" sz="2400">
                    <a:solidFill>
                      <a:srgbClr val="111827"/>
                    </a:solidFill>
                    <a:latin typeface="Cambria Math" panose="02040503050406030204" pitchFamily="18" charset="0"/>
                  </a:rPr>
                  <a:t>$\vec a-\frac{\vec b}{3}$</a:t>
                </a:r>
                <a:endParaRPr sz="2400">
                  <a:solidFill>
                    <a:srgbClr val="111827"/>
                  </a:solidFill>
                </a:endParaRPr>
              </a:p>
            </p:txBody>
          </p:sp>
        </mc:Fallback>
      </mc:AlternateContent>
      <p:sp>
        <p:nvSpPr>
          <p:cNvPr id="5" name="Rectangle 4"/>
          <p:cNvSpPr/>
          <p:nvPr/>
        </p:nvSpPr>
        <p:spPr>
          <a:xfrm>
            <a:off x="731520" y="4171695"/>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Position vector of the intersection of two lines in a regular hexagon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In a regular hexagon the long diagonal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𝐶</m:t>
                    </m:r>
                  </m:oMath>
                </a14:m>
                <a:r>
                  <a:rPr sz="2400" b="0">
                    <a:solidFill>
                      <a:srgbClr val="78350F"/>
                    </a:solidFill>
                    <a:latin typeface="Arial"/>
                  </a:rPr>
                  <a:t> is parallel to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and twice its length, so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𝐶</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In a regular hexagon the long diagonal </a:t>
                </a:r>
                <a:r>
                  <a:rPr lang="en-IN" sz="2400">
                    <a:solidFill>
                      <a:srgbClr val="78350F"/>
                    </a:solidFill>
                    <a:latin typeface="Cambria Math" panose="02040503050406030204" pitchFamily="18" charset="0"/>
                  </a:rPr>
                  <a:t>$OC$</a:t>
                </a:r>
                <a:r>
                  <a:rPr sz="2400" b="0">
                    <a:solidFill>
                      <a:srgbClr val="78350F"/>
                    </a:solidFill>
                    <a:latin typeface="Arial"/>
                  </a:rPr>
                  <a:t> is parallel to </a:t>
                </a:r>
                <a:r>
                  <a:rPr lang="en-IN" sz="2400">
                    <a:solidFill>
                      <a:srgbClr val="78350F"/>
                    </a:solidFill>
                    <a:latin typeface="Cambria Math" panose="02040503050406030204" pitchFamily="18" charset="0"/>
                  </a:rPr>
                  <a:t>$AB$</a:t>
                </a:r>
                <a:r>
                  <a:rPr sz="2400" b="0">
                    <a:solidFill>
                      <a:srgbClr val="78350F"/>
                    </a:solidFill>
                    <a:latin typeface="Arial"/>
                  </a:rPr>
                  <a:t> and twice its length, so </a:t>
                </a:r>
                <a:r>
                  <a:rPr lang="en-IN" sz="2400">
                    <a:solidFill>
                      <a:srgbClr val="78350F"/>
                    </a:solidFill>
                    <a:latin typeface="Cambria Math" panose="02040503050406030204" pitchFamily="18" charset="0"/>
                  </a:rPr>
                  <a:t>$\overrightarrow{OC}=2(\vec b-\vec 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 regular hexagon the length of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oMath>
                </a14:m>
                <a:r>
                  <a:rPr sz="2400" b="0">
                    <a:solidFill>
                      <a:srgbClr val="111827"/>
                    </a:solidFill>
                    <a:latin typeface="Arial"/>
                  </a:rPr>
                  <a:t> is double the length of a side and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$\overrightarrow{AB}=\vec b-\vec 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 regular hexagon the length of </a:t>
                </a:r>
                <a:r>
                  <a:rPr lang="en-IN" sz="2400">
                    <a:solidFill>
                      <a:srgbClr val="111827"/>
                    </a:solidFill>
                    <a:latin typeface="Cambria Math" panose="02040503050406030204" pitchFamily="18" charset="0"/>
                  </a:rPr>
                  <a:t>$OC$</a:t>
                </a:r>
                <a:r>
                  <a:rPr sz="2400" b="0">
                    <a:solidFill>
                      <a:srgbClr val="111827"/>
                    </a:solidFill>
                    <a:latin typeface="Arial"/>
                  </a:rPr>
                  <a:t> is double the length of a side and </a:t>
                </a:r>
                <a:r>
                  <a:rPr lang="en-IN" sz="2400">
                    <a:solidFill>
                      <a:srgbClr val="111827"/>
                    </a:solidFill>
                    <a:latin typeface="Cambria Math" panose="02040503050406030204" pitchFamily="18" charset="0"/>
                  </a:rPr>
                  <a:t>$OC\parallel AB$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$\overrightarrow{OC}=2(\vec b-\vec 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a:t>
                </a:r>
                <a:r>
                  <a:rPr lang="en-IN" sz="2400">
                    <a:solidFill>
                      <a:srgbClr val="111827"/>
                    </a:solidFill>
                    <a:latin typeface="Cambria Math" panose="02040503050406030204" pitchFamily="18" charset="0"/>
                  </a:rPr>
                  <a:t>$OB$</a:t>
                </a:r>
                <a:r>
                  <a:rPr sz="2400" b="0">
                    <a:solidFill>
                      <a:srgbClr val="111827"/>
                    </a:solidFill>
                    <a:latin typeface="Arial"/>
                  </a:rPr>
                  <a:t>: </a:t>
                </a:r>
                <a:r>
                  <a:rPr lang="en-IN" sz="2400">
                    <a:solidFill>
                      <a:srgbClr val="111827"/>
                    </a:solidFill>
                    <a:latin typeface="Cambria Math" panose="02040503050406030204" pitchFamily="18" charset="0"/>
                  </a:rPr>
                  <a:t>$\vec r=\lambda\vec 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At the common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equate the coefficients of the independent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μ</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a:t>
                </a:r>
                <a:r>
                  <a:rPr lang="en-IN" sz="2400">
                    <a:solidFill>
                      <a:srgbClr val="111827"/>
                    </a:solidFill>
                    <a:latin typeface="Cambria Math" panose="02040503050406030204" pitchFamily="18" charset="0"/>
                  </a:rPr>
                  <a:t>$AC$</a:t>
                </a:r>
                <a:r>
                  <a:rPr sz="2400" b="0">
                    <a:solidFill>
                      <a:srgbClr val="111827"/>
                    </a:solidFill>
                    <a:latin typeface="Arial"/>
                  </a:rPr>
                  <a:t>: </a:t>
                </a:r>
                <a:r>
                  <a:rPr lang="en-IN" sz="2400">
                    <a:solidFill>
                      <a:srgbClr val="111827"/>
                    </a:solidFill>
                    <a:latin typeface="Cambria Math" panose="02040503050406030204" pitchFamily="18" charset="0"/>
                  </a:rPr>
                  <a:t>$\vec r=\vec a+\mu(\overrightarrow{OC}-\vec a)=\vec a+\mu(2\vec b-2\vec a-\vec 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At the common point </a:t>
                </a:r>
                <a:r>
                  <a:rPr lang="en-IN" sz="2400">
                    <a:solidFill>
                      <a:srgbClr val="111827"/>
                    </a:solidFill>
                    <a:latin typeface="Cambria Math" panose="02040503050406030204" pitchFamily="18" charset="0"/>
                  </a:rPr>
                  <a:t>$P$</a:t>
                </a:r>
                <a:r>
                  <a:rPr sz="2400" b="0">
                    <a:solidFill>
                      <a:srgbClr val="111827"/>
                    </a:solidFill>
                    <a:latin typeface="Arial"/>
                  </a:rPr>
                  <a:t>, equate the coefficients of the independent vectors </a:t>
                </a:r>
                <a:r>
                  <a:rPr lang="en-IN" sz="2400">
                    <a:solidFill>
                      <a:srgbClr val="111827"/>
                    </a:solidFill>
                    <a:latin typeface="Cambria Math" panose="02040503050406030204" pitchFamily="18" charset="0"/>
                  </a:rPr>
                  <a:t>$\vec a,\vec b$</a:t>
                </a:r>
                <a:r>
                  <a:rPr sz="2400" b="0">
                    <a:solidFill>
                      <a:srgbClr val="111827"/>
                    </a:solidFill>
                    <a:latin typeface="Arial"/>
                  </a:rPr>
                  <a:t>: </a:t>
                </a:r>
                <a:r>
                  <a:rPr lang="en-IN" sz="2400">
                    <a:solidFill>
                      <a:srgbClr val="111827"/>
                    </a:solidFill>
                    <a:latin typeface="Cambria Math" panose="02040503050406030204" pitchFamily="18" charset="0"/>
                  </a:rPr>
                  <a:t>$\lambda=2\mu$</a:t>
                </a:r>
                <a:r>
                  <a:rPr sz="2400" b="0">
                    <a:solidFill>
                      <a:srgbClr val="111827"/>
                    </a:solidFill>
                    <a:latin typeface="Arial"/>
                  </a:rPr>
                  <a:t> and </a:t>
                </a:r>
                <a:r>
                  <a:rPr lang="en-IN" sz="2400">
                    <a:solidFill>
                      <a:srgbClr val="111827"/>
                    </a:solidFill>
                    <a:latin typeface="Cambria Math" panose="02040503050406030204" pitchFamily="18" charset="0"/>
                  </a:rPr>
                  <a:t>$1-3\mu=0$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$\mu=\frac13$</a:t>
                </a:r>
                <a:r>
                  <a:rPr sz="2400" b="0">
                    <a:solidFill>
                      <a:srgbClr val="111827"/>
                    </a:solidFill>
                    <a:latin typeface="Arial"/>
                  </a:rPr>
                  <a:t> and </a:t>
                </a:r>
                <a:r>
                  <a:rPr lang="en-IN" sz="2400">
                    <a:solidFill>
                      <a:srgbClr val="111827"/>
                    </a:solidFill>
                    <a:latin typeface="Cambria Math" panose="02040503050406030204" pitchFamily="18" charset="0"/>
                  </a:rPr>
                  <a:t>$\lambda=\frac23$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$\vec r=\frac23\vec b$</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m:t>
                        </m:r>
                      </m:num>
                      <m:den>
                        <m:r>
                          <a:rPr lang="en-IN" sz="2800" i="1">
                            <a:solidFill>
                              <a:srgbClr val="15803D"/>
                            </a:solidFill>
                            <a:latin typeface="Cambria Math" panose="02040503050406030204" pitchFamily="18" charset="0"/>
                          </a:rPr>
                          <m:t>3</m:t>
                        </m:r>
                      </m:den>
                    </m:f>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𝑏</m:t>
                        </m:r>
                      </m:e>
                    </m:acc>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$\frac{2}{3}\vec b$</a:t>
                </a:r>
                <a:endParaRPr sz="2800">
                  <a:solidFill>
                    <a:srgbClr val="15803D"/>
                  </a:solidFill>
                </a:endParaRPr>
              </a:p>
            </p:txBody>
          </p:sp>
        </mc:Fallback>
      </mc:AlternateContent>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Since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𝐶</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𝐶</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triangles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𝐶</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𝐴</m:t>
                    </m:r>
                  </m:oMath>
                </a14:m>
                <a:r>
                  <a:rPr sz="2400" b="0">
                    <a:solidFill>
                      <a:srgbClr val="78350F"/>
                    </a:solidFill>
                    <a:latin typeface="Arial"/>
                  </a:rPr>
                  <a:t> are similar with ratio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Since </a:t>
                </a:r>
                <a:r>
                  <a:rPr lang="en-IN" sz="2400">
                    <a:solidFill>
                      <a:srgbClr val="78350F"/>
                    </a:solidFill>
                    <a:latin typeface="Cambria Math" panose="02040503050406030204" pitchFamily="18" charset="0"/>
                  </a:rPr>
                  <a:t>$OC\parallel AB$</a:t>
                </a:r>
                <a:r>
                  <a:rPr sz="2400" b="0">
                    <a:solidFill>
                      <a:srgbClr val="78350F"/>
                    </a:solidFill>
                    <a:latin typeface="Arial"/>
                  </a:rPr>
                  <a:t> and </a:t>
                </a:r>
                <a:r>
                  <a:rPr lang="en-IN" sz="2400">
                    <a:solidFill>
                      <a:srgbClr val="78350F"/>
                    </a:solidFill>
                    <a:latin typeface="Cambria Math" panose="02040503050406030204" pitchFamily="18" charset="0"/>
                  </a:rPr>
                  <a:t>$OC=2AB$</a:t>
                </a:r>
                <a:r>
                  <a:rPr sz="2400" b="0">
                    <a:solidFill>
                      <a:srgbClr val="78350F"/>
                    </a:solidFill>
                    <a:latin typeface="Arial"/>
                  </a:rPr>
                  <a:t>, triangles </a:t>
                </a:r>
                <a:r>
                  <a:rPr lang="en-IN" sz="2400">
                    <a:solidFill>
                      <a:srgbClr val="78350F"/>
                    </a:solidFill>
                    <a:latin typeface="Cambria Math" panose="02040503050406030204" pitchFamily="18" charset="0"/>
                  </a:rPr>
                  <a:t>$POC$</a:t>
                </a:r>
                <a:r>
                  <a:rPr sz="2400" b="0">
                    <a:solidFill>
                      <a:srgbClr val="78350F"/>
                    </a:solidFill>
                    <a:latin typeface="Arial"/>
                  </a:rPr>
                  <a:t> and </a:t>
                </a:r>
                <a:r>
                  <a:rPr lang="en-IN" sz="2400">
                    <a:solidFill>
                      <a:srgbClr val="78350F"/>
                    </a:solidFill>
                    <a:latin typeface="Cambria Math" panose="02040503050406030204" pitchFamily="18" charset="0"/>
                  </a:rPr>
                  <a:t>$PBA$</a:t>
                </a:r>
                <a:r>
                  <a:rPr sz="2400" b="0">
                    <a:solidFill>
                      <a:srgbClr val="78350F"/>
                    </a:solidFill>
                    <a:latin typeface="Arial"/>
                  </a:rPr>
                  <a:t> are similar with ratio </a:t>
                </a:r>
                <a:r>
                  <a:rPr lang="en-IN" sz="2400">
                    <a:solidFill>
                      <a:srgbClr val="78350F"/>
                    </a:solidFill>
                    <a:latin typeface="Cambria Math" panose="02040503050406030204" pitchFamily="18" charset="0"/>
                  </a:rPr>
                  <a:t>$2:1$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oMath>
                </a14:m>
                <a:r>
                  <a:rPr sz="2400" b="0">
                    <a:solidFill>
                      <a:srgbClr val="111827"/>
                    </a:solidFill>
                    <a:latin typeface="Arial"/>
                  </a:rPr>
                  <a:t>. The vertical angles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are equal and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𝐴</m:t>
                    </m:r>
                  </m:oMath>
                </a14:m>
                <a:r>
                  <a:rPr sz="2400" b="0">
                    <a:solidFill>
                      <a:srgbClr val="111827"/>
                    </a:solidFill>
                    <a:latin typeface="Arial"/>
                  </a:rPr>
                  <a:t> gives equal alternate angles.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𝑂</m:t>
                        </m:r>
                      </m:num>
                      <m:den>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num>
                      <m:den>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𝐴</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divides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internally in the ratio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position vector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$P=OB\cap AC$</a:t>
                </a:r>
                <a:r>
                  <a:rPr sz="2400" b="0">
                    <a:solidFill>
                      <a:srgbClr val="111827"/>
                    </a:solidFill>
                    <a:latin typeface="Arial"/>
                  </a:rPr>
                  <a:t>. The vertical angles at </a:t>
                </a:r>
                <a:r>
                  <a:rPr lang="en-IN" sz="2400">
                    <a:solidFill>
                      <a:srgbClr val="111827"/>
                    </a:solidFill>
                    <a:latin typeface="Cambria Math" panose="02040503050406030204" pitchFamily="18" charset="0"/>
                  </a:rPr>
                  <a:t>$P$</a:t>
                </a:r>
                <a:r>
                  <a:rPr sz="2400" b="0">
                    <a:solidFill>
                      <a:srgbClr val="111827"/>
                    </a:solidFill>
                    <a:latin typeface="Arial"/>
                  </a:rPr>
                  <a:t> are equal and </a:t>
                </a:r>
                <a:r>
                  <a:rPr lang="en-IN" sz="2400">
                    <a:solidFill>
                      <a:srgbClr val="111827"/>
                    </a:solidFill>
                    <a:latin typeface="Cambria Math" panose="02040503050406030204" pitchFamily="18" charset="0"/>
                  </a:rPr>
                  <a:t>$OC\parallel BA$</a:t>
                </a:r>
                <a:r>
                  <a:rPr sz="2400" b="0">
                    <a:solidFill>
                      <a:srgbClr val="111827"/>
                    </a:solidFill>
                    <a:latin typeface="Arial"/>
                  </a:rPr>
                  <a:t> gives equal alternate angles.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$\triangle POC\sim\triangle PBA$</a:t>
                </a:r>
                <a:r>
                  <a:rPr sz="2400" b="0">
                    <a:solidFill>
                      <a:srgbClr val="111827"/>
                    </a:solidFill>
                    <a:latin typeface="Arial"/>
                  </a:rPr>
                  <a:t> and </a:t>
                </a:r>
                <a:r>
                  <a:rPr lang="en-IN" sz="2400">
                    <a:solidFill>
                      <a:srgbClr val="111827"/>
                    </a:solidFill>
                    <a:latin typeface="Cambria Math" panose="02040503050406030204" pitchFamily="18" charset="0"/>
                  </a:rPr>
                  <a:t>$\frac{PO}{PB}=\frac{OC}{BA}=2$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r>
                  <a:rPr lang="en-IN" sz="2400">
                    <a:solidFill>
                      <a:srgbClr val="111827"/>
                    </a:solidFill>
                    <a:latin typeface="Cambria Math" panose="02040503050406030204" pitchFamily="18" charset="0"/>
                  </a:rPr>
                  <a:t>$P$</a:t>
                </a:r>
                <a:r>
                  <a:rPr sz="2400" b="0">
                    <a:solidFill>
                      <a:srgbClr val="111827"/>
                    </a:solidFill>
                    <a:latin typeface="Arial"/>
                  </a:rPr>
                  <a:t> divides </a:t>
                </a:r>
                <a:r>
                  <a:rPr lang="en-IN" sz="2400">
                    <a:solidFill>
                      <a:srgbClr val="111827"/>
                    </a:solidFill>
                    <a:latin typeface="Cambria Math" panose="02040503050406030204" pitchFamily="18" charset="0"/>
                  </a:rPr>
                  <a:t>$OB$</a:t>
                </a:r>
                <a:r>
                  <a:rPr sz="2400" b="0">
                    <a:solidFill>
                      <a:srgbClr val="111827"/>
                    </a:solidFill>
                    <a:latin typeface="Arial"/>
                  </a:rPr>
                  <a:t> internally in the ratio </a:t>
                </a:r>
                <a:r>
                  <a:rPr lang="en-IN" sz="2400">
                    <a:solidFill>
                      <a:srgbClr val="111827"/>
                    </a:solidFill>
                    <a:latin typeface="Cambria Math" panose="02040503050406030204" pitchFamily="18" charset="0"/>
                  </a:rPr>
                  <a:t>$2:1$</a:t>
                </a:r>
                <a:r>
                  <a:rPr sz="2400" b="0">
                    <a:solidFill>
                      <a:srgbClr val="111827"/>
                    </a:solidFill>
                    <a:latin typeface="Arial"/>
                  </a:rPr>
                  <a:t>, i.e. </a:t>
                </a:r>
                <a:r>
                  <a:rPr lang="en-IN" sz="2400">
                    <a:solidFill>
                      <a:srgbClr val="111827"/>
                    </a:solidFill>
                    <a:latin typeface="Cambria Math" panose="02040503050406030204" pitchFamily="18" charset="0"/>
                  </a:rPr>
                  <a:t>$OP=\frac23\,OB$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position vector of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$\frac23\vec b$</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m:t>
                        </m:r>
                      </m:num>
                      <m:den>
                        <m:r>
                          <a:rPr lang="en-IN" sz="2800" i="1">
                            <a:solidFill>
                              <a:srgbClr val="15803D"/>
                            </a:solidFill>
                            <a:latin typeface="Cambria Math" panose="02040503050406030204" pitchFamily="18" charset="0"/>
                          </a:rPr>
                          <m:t>3</m:t>
                        </m:r>
                      </m:den>
                    </m:f>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𝑏</m:t>
                        </m:r>
                      </m:e>
                    </m:acc>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$\frac{2}{3}\vec b$</a:t>
                </a:r>
                <a:endParaRPr sz="2800">
                  <a:solidFill>
                    <a:srgbClr val="15803D"/>
                  </a:solidFill>
                </a:endParaRPr>
              </a:p>
            </p:txBody>
          </p:sp>
        </mc:Fallback>
      </mc:AlternateContent>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regular hexagon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r>
                      <a:rPr lang="en-IN" sz="2400" i="1">
                        <a:solidFill>
                          <a:srgbClr val="111827"/>
                        </a:solidFill>
                        <a:latin typeface="Cambria Math" panose="02040503050406030204" pitchFamily="18" charset="0"/>
                      </a:rPr>
                      <m:t>𝐸</m:t>
                    </m:r>
                  </m:oMath>
                </a14:m>
                <a:r>
                  <a:rPr sz="2400" b="0">
                    <a:solidFill>
                      <a:srgbClr val="111827"/>
                    </a:solidFill>
                    <a:latin typeface="Arial"/>
                  </a:rPr>
                  <a:t>: the long diagonal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(also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with the same factor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lines cut by a pair of parallel lines meet at a point that divides them in the ratio of the parallel segments: here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intersect two lines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express everything in two independent vectors and equate coefficients.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regular hexagon </a:t>
                </a:r>
                <a:r>
                  <a:rPr lang="en-IN" sz="2400">
                    <a:solidFill>
                      <a:srgbClr val="111827"/>
                    </a:solidFill>
                    <a:latin typeface="Cambria Math" panose="02040503050406030204" pitchFamily="18" charset="0"/>
                  </a:rPr>
                  <a:t>$OABCDE$</a:t>
                </a:r>
                <a:r>
                  <a:rPr sz="2400" b="0">
                    <a:solidFill>
                      <a:srgbClr val="111827"/>
                    </a:solidFill>
                    <a:latin typeface="Arial"/>
                  </a:rPr>
                  <a:t>: the long diagonal </a:t>
                </a:r>
                <a:r>
                  <a:rPr lang="en-IN" sz="2400">
                    <a:solidFill>
                      <a:srgbClr val="111827"/>
                    </a:solidFill>
                    <a:latin typeface="Cambria Math" panose="02040503050406030204" pitchFamily="18" charset="0"/>
                  </a:rPr>
                  <a:t>$OC\parallel AB$</a:t>
                </a:r>
                <a:r>
                  <a:rPr sz="2400" b="0">
                    <a:solidFill>
                      <a:srgbClr val="111827"/>
                    </a:solidFill>
                    <a:latin typeface="Arial"/>
                  </a:rPr>
                  <a:t> and </a:t>
                </a:r>
                <a:r>
                  <a:rPr lang="en-IN" sz="2400">
                    <a:solidFill>
                      <a:srgbClr val="111827"/>
                    </a:solidFill>
                    <a:latin typeface="Cambria Math" panose="02040503050406030204" pitchFamily="18" charset="0"/>
                  </a:rPr>
                  <a:t>$OC=2AB$</a:t>
                </a:r>
                <a:r>
                  <a:rPr sz="2400" b="0">
                    <a:solidFill>
                      <a:srgbClr val="111827"/>
                    </a:solidFill>
                    <a:latin typeface="Arial"/>
                  </a:rPr>
                  <a:t> (also </a:t>
                </a:r>
                <a:r>
                  <a:rPr lang="en-IN" sz="2400">
                    <a:solidFill>
                      <a:srgbClr val="111827"/>
                    </a:solidFill>
                    <a:latin typeface="Cambria Math" panose="02040503050406030204" pitchFamily="18" charset="0"/>
                  </a:rPr>
                  <a:t>$AD\parallel BC$</a:t>
                </a:r>
                <a:r>
                  <a:rPr sz="2400" b="0">
                    <a:solidFill>
                      <a:srgbClr val="111827"/>
                    </a:solidFill>
                    <a:latin typeface="Arial"/>
                  </a:rPr>
                  <a:t>, </a:t>
                </a:r>
                <a:r>
                  <a:rPr lang="en-IN" sz="2400">
                    <a:solidFill>
                      <a:srgbClr val="111827"/>
                    </a:solidFill>
                    <a:latin typeface="Cambria Math" panose="02040503050406030204" pitchFamily="18" charset="0"/>
                  </a:rPr>
                  <a:t>$BE\parallel CD$</a:t>
                </a:r>
                <a:r>
                  <a:rPr sz="2400" b="0">
                    <a:solidFill>
                      <a:srgbClr val="111827"/>
                    </a:solidFill>
                    <a:latin typeface="Arial"/>
                  </a:rPr>
                  <a:t> with the same factor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lines cut by a pair of parallel lines meet at a point that divides them in the ratio of the parallel segments: here </a:t>
                </a:r>
                <a:r>
                  <a:rPr lang="en-IN" sz="2400">
                    <a:solidFill>
                      <a:srgbClr val="111827"/>
                    </a:solidFill>
                    <a:latin typeface="Cambria Math" panose="02040503050406030204" pitchFamily="18" charset="0"/>
                  </a:rPr>
                  <a:t>$OP:PB=OC:AB=2:1$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intersect two lines </a:t>
                </a:r>
                <a:r>
                  <a:rPr lang="en-IN" sz="2400">
                    <a:solidFill>
                      <a:srgbClr val="111827"/>
                    </a:solidFill>
                    <a:latin typeface="Cambria Math" panose="02040503050406030204" pitchFamily="18" charset="0"/>
                  </a:rPr>
                  <a:t>$\vec r=\lambda\vec p$</a:t>
                </a:r>
                <a:r>
                  <a:rPr sz="2400" b="0">
                    <a:solidFill>
                      <a:srgbClr val="111827"/>
                    </a:solidFill>
                    <a:latin typeface="Arial"/>
                  </a:rPr>
                  <a:t> and </a:t>
                </a:r>
                <a:r>
                  <a:rPr lang="en-IN" sz="2400">
                    <a:solidFill>
                      <a:srgbClr val="111827"/>
                    </a:solidFill>
                    <a:latin typeface="Cambria Math" panose="02040503050406030204" pitchFamily="18" charset="0"/>
                  </a:rPr>
                  <a:t>$\vec r=\vec a+\mu\vec d$</a:t>
                </a:r>
                <a:r>
                  <a:rPr sz="2400" b="0">
                    <a:solidFill>
                      <a:srgbClr val="111827"/>
                    </a:solidFill>
                    <a:latin typeface="Arial"/>
                  </a:rPr>
                  <a:t>, express everything in two independent vectors and equate coefficients.</a:t>
                </a:r>
                <a:endParaRPr sz="2400">
                  <a:solidFill>
                    <a:srgbClr val="111827"/>
                  </a:solidFill>
                </a:endParaRPr>
              </a:p>
            </p:txBody>
          </p:sp>
        </mc:Fallback>
      </mc:AlternateContent>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9250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figure shows a square. On each side of the square an outward equilateral triangle is constructed. The vectors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6</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7</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8</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are as shown in the figure. If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6</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8</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7</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oMath>
                </a14:m>
                <a:endParaRPr sz="2400">
                  <a:solidFill>
                    <a:srgbClr val="111827"/>
                  </a:solidFill>
                </a:endParaRPr>
              </a:p>
            </p:txBody>
          </p:sp>
        </mc:Choice>
        <mc:Fallback>
          <p:sp>
            <p:nvSpPr>
              <p:cNvPr id="4" name="Rounded Rectangle 3"/>
              <p:cNvSpPr/>
              <p:nvPr/>
            </p:nvSpPr>
            <p:spPr>
              <a:xfrm>
                <a:off x="731520" y="1280160"/>
                <a:ext cx="10725912" cy="29250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figure shows a square. On each side of the square an outward equilateral triangle is constructed. The vectors </a:t>
                </a:r>
                <a:r>
                  <a:rPr lang="en-IN" sz="2400">
                    <a:solidFill>
                      <a:srgbClr val="111827"/>
                    </a:solidFill>
                    <a:latin typeface="Cambria Math" panose="02040503050406030204" pitchFamily="18" charset="0"/>
                  </a:rPr>
                  <a:t>$\vec a_1,\vec a_2,\vec a_3,\vec a_4,\vec a_5,\vec a_6,\vec a_7,\vec a_8,\vec p$</a:t>
                </a:r>
                <a:r>
                  <a:rPr sz="2400" b="0">
                    <a:solidFill>
                      <a:srgbClr val="111827"/>
                    </a:solidFill>
                    <a:latin typeface="Arial"/>
                  </a:rPr>
                  <a:t> and </a:t>
                </a:r>
                <a:r>
                  <a:rPr lang="en-IN" sz="2400">
                    <a:solidFill>
                      <a:srgbClr val="111827"/>
                    </a:solidFill>
                    <a:latin typeface="Cambria Math" panose="02040503050406030204" pitchFamily="18" charset="0"/>
                  </a:rPr>
                  <a:t>$\vec q$</a:t>
                </a:r>
                <a:r>
                  <a:rPr sz="2400" b="0">
                    <a:solidFill>
                      <a:srgbClr val="111827"/>
                    </a:solidFill>
                    <a:latin typeface="Arial"/>
                  </a:rPr>
                  <a:t> are as shown in the figure. If </a:t>
                </a:r>
                <a:r>
                  <a:rPr lang="en-IN" sz="2400">
                    <a:solidFill>
                      <a:srgbClr val="111827"/>
                    </a:solidFill>
                    <a:latin typeface="Cambria Math" panose="02040503050406030204" pitchFamily="18" charset="0"/>
                  </a:rPr>
                  <a:t>$\vec a_2\times\vec a_1+\vec a_4\times\vec a_3+\vec a_6\times\vec a_5+\vec a_8\times\vec a_7=\lambda\,\vec p\times\vec q$</a:t>
                </a:r>
                <a:r>
                  <a:rPr sz="2400" b="0">
                    <a:solidFill>
                      <a:srgbClr val="111827"/>
                    </a:solidFill>
                    <a:latin typeface="Arial"/>
                  </a:rPr>
                  <a:t>, then </a:t>
                </a:r>
                <a:r>
                  <a:rPr lang="en-IN" sz="2400">
                    <a:solidFill>
                      <a:srgbClr val="111827"/>
                    </a:solidFill>
                    <a:latin typeface="Cambria Math" panose="02040503050406030204" pitchFamily="18" charset="0"/>
                  </a:rPr>
                  <a:t>$\lambda$</a:t>
                </a:r>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$\sqrt3$</a:t>
                </a:r>
                <a:r>
                  <a:rPr sz="2400" b="0">
                    <a:solidFill>
                      <a:srgbClr val="111827"/>
                    </a:solidFill>
                    <a:latin typeface="Arial"/>
                  </a:rPr>
                  <a:t>   (B) </a:t>
                </a:r>
                <a:r>
                  <a:rPr lang="en-IN" sz="2400">
                    <a:solidFill>
                      <a:srgbClr val="111827"/>
                    </a:solidFill>
                    <a:latin typeface="Cambria Math" panose="02040503050406030204" pitchFamily="18" charset="0"/>
                  </a:rPr>
                  <a:t>$\frac{\sqrt3}{2}$</a:t>
                </a:r>
                <a:r>
                  <a:rPr sz="2400" b="0">
                    <a:solidFill>
                      <a:srgbClr val="111827"/>
                    </a:solidFill>
                    <a:latin typeface="Arial"/>
                  </a:rPr>
                  <a:t>   (C) </a:t>
                </a:r>
                <a:r>
                  <a:rPr lang="en-IN" sz="2400">
                    <a:solidFill>
                      <a:srgbClr val="111827"/>
                    </a:solidFill>
                    <a:latin typeface="Cambria Math" panose="02040503050406030204" pitchFamily="18" charset="0"/>
                  </a:rPr>
                  <a:t>$2\sqrt3$</a:t>
                </a:r>
                <a:r>
                  <a:rPr sz="2400" b="0">
                    <a:solidFill>
                      <a:srgbClr val="111827"/>
                    </a:solidFill>
                    <a:latin typeface="Arial"/>
                  </a:rPr>
                  <a:t>   (D) </a:t>
                </a:r>
                <a:r>
                  <a:rPr lang="en-IN" sz="2400">
                    <a:solidFill>
                      <a:srgbClr val="111827"/>
                    </a:solidFill>
                    <a:latin typeface="Cambria Math" panose="02040503050406030204" pitchFamily="18" charset="0"/>
                  </a:rPr>
                  <a:t>$\frac{\sqrt3}{4}$</a:t>
                </a:r>
                <a:endParaRPr sz="2400">
                  <a:solidFill>
                    <a:srgbClr val="111827"/>
                  </a:solidFill>
                </a:endParaRPr>
              </a:p>
            </p:txBody>
          </p:sp>
        </mc:Fallback>
      </mc:AlternateContent>
      <p:sp>
        <p:nvSpPr>
          <p:cNvPr id="5" name="Rectangle 4"/>
          <p:cNvSpPr/>
          <p:nvPr/>
        </p:nvSpPr>
        <p:spPr>
          <a:xfrm>
            <a:off x="731520" y="4433823"/>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product and vector area of a square and equilateral triangles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cross product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e>
                      <m:sub>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e>
                      <m:sub>
                        <m:r>
                          <a:rPr lang="en-IN" sz="2400" i="1">
                            <a:solidFill>
                              <a:srgbClr val="78350F"/>
                            </a:solidFill>
                            <a:latin typeface="Cambria Math" panose="02040503050406030204" pitchFamily="18" charset="0"/>
                          </a:rPr>
                          <m:t>𝑖</m:t>
                        </m:r>
                      </m:sub>
                    </m:sSub>
                  </m:oMath>
                </a14:m>
                <a:r>
                  <a:rPr sz="2400" b="0">
                    <a:solidFill>
                      <a:srgbClr val="78350F"/>
                    </a:solidFill>
                    <a:latin typeface="Arial"/>
                  </a:rPr>
                  <a:t> is the same vector </a:t>
                </a:r>
                <a14:m>
                  <m:oMath xmlns:m="http://schemas.openxmlformats.org/officeDocument/2006/math">
                    <m:f>
                      <m:fPr>
                        <m:type m:val="bar"/>
                        <m:ctrlPr>
                          <a:rPr lang="en-IN" sz="2400" i="1">
                            <a:solidFill>
                              <a:srgbClr val="78350F"/>
                            </a:solidFill>
                            <a:latin typeface="Cambria Math" panose="02040503050406030204" pitchFamily="18" charset="0"/>
                          </a:rPr>
                        </m:ctrlPr>
                      </m:fPr>
                      <m:num>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num>
                      <m:den>
                        <m:r>
                          <a:rPr lang="en-IN" sz="2400" i="1">
                            <a:solidFill>
                              <a:srgbClr val="78350F"/>
                            </a:solidFill>
                            <a:latin typeface="Cambria Math" panose="02040503050406030204" pitchFamily="18" charset="0"/>
                          </a:rPr>
                          <m:t>2</m:t>
                        </m:r>
                      </m:den>
                    </m:f>
                    <m:sSup>
                      <m:e>
                        <m:r>
                          <a:rPr lang="en-IN" sz="2400" i="1">
                            <a:solidFill>
                              <a:srgbClr val="78350F"/>
                            </a:solidFill>
                            <a:latin typeface="Cambria Math" panose="02040503050406030204" pitchFamily="18" charset="0"/>
                          </a:rPr>
                          <m:t>𝑙</m:t>
                        </m:r>
                      </m:e>
                      <m:sup>
                        <m:r>
                          <a:rPr lang="en-IN" sz="2400" i="1">
                            <a:solidFill>
                              <a:srgbClr val="78350F"/>
                            </a:solidFill>
                            <a:latin typeface="Cambria Math" panose="02040503050406030204" pitchFamily="18" charset="0"/>
                          </a:rPr>
                          <m:t>2</m:t>
                        </m:r>
                      </m:sup>
                    </m:sSup>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oMath>
                </a14:m>
                <a:r>
                  <a:rPr sz="2400" b="0">
                    <a:solidFill>
                      <a:srgbClr val="78350F"/>
                    </a:solidFill>
                    <a:latin typeface="Arial"/>
                  </a:rPr>
                  <a:t>, while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𝑙</m:t>
                        </m:r>
                      </m:e>
                      <m:sup>
                        <m:r>
                          <a:rPr lang="en-IN" sz="2400" i="1">
                            <a:solidFill>
                              <a:srgbClr val="78350F"/>
                            </a:solidFill>
                            <a:latin typeface="Cambria Math" panose="02040503050406030204" pitchFamily="18" charset="0"/>
                          </a:rPr>
                          <m:t>2</m:t>
                        </m:r>
                      </m:sup>
                    </m:sSup>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cross product </a:t>
                </a:r>
                <a:r>
                  <a:rPr lang="en-IN" sz="2400">
                    <a:solidFill>
                      <a:srgbClr val="78350F"/>
                    </a:solidFill>
                    <a:latin typeface="Cambria Math" panose="02040503050406030204" pitchFamily="18" charset="0"/>
                  </a:rPr>
                  <a:t>$\vec a_{i+1}\times\vec a_i$</a:t>
                </a:r>
                <a:r>
                  <a:rPr sz="2400" b="0">
                    <a:solidFill>
                      <a:srgbClr val="78350F"/>
                    </a:solidFill>
                    <a:latin typeface="Arial"/>
                  </a:rPr>
                  <a:t> is the same vector </a:t>
                </a:r>
                <a:r>
                  <a:rPr lang="en-IN" sz="2400">
                    <a:solidFill>
                      <a:srgbClr val="78350F"/>
                    </a:solidFill>
                    <a:latin typeface="Cambria Math" panose="02040503050406030204" pitchFamily="18" charset="0"/>
                  </a:rPr>
                  <a:t>$\frac{\sqrt3}{2}l^2\hat n$</a:t>
                </a:r>
                <a:r>
                  <a:rPr sz="2400" b="0">
                    <a:solidFill>
                      <a:srgbClr val="78350F"/>
                    </a:solidFill>
                    <a:latin typeface="Arial"/>
                  </a:rPr>
                  <a:t>, while </a:t>
                </a:r>
                <a:r>
                  <a:rPr lang="en-IN" sz="2400">
                    <a:solidFill>
                      <a:srgbClr val="78350F"/>
                    </a:solidFill>
                    <a:latin typeface="Cambria Math" panose="02040503050406030204" pitchFamily="18" charset="0"/>
                  </a:rPr>
                  <a:t>$\vec p\times\vec q=l^2\hat n$</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side of the square be </a:t>
                </a:r>
                <a14:m>
                  <m:oMath xmlns:m="http://schemas.openxmlformats.org/officeDocument/2006/math">
                    <m:r>
                      <a:rPr lang="en-IN" sz="2400" i="1">
                        <a:solidFill>
                          <a:srgbClr val="111827"/>
                        </a:solidFill>
                        <a:latin typeface="Cambria Math" panose="02040503050406030204" pitchFamily="18" charset="0"/>
                      </a:rPr>
                      <m:t>𝑙</m:t>
                    </m:r>
                  </m:oMath>
                </a14:m>
                <a:r>
                  <a:rPr sz="2400" b="0">
                    <a:solidFill>
                      <a:srgbClr val="111827"/>
                    </a:solidFill>
                    <a:latin typeface="Arial"/>
                  </a:rPr>
                  <a:t> and 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be the unit vector perpendicular to the plane (towards the reader).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sides of an equilateral triangle make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sin</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the figure each of the four pairs is taken in the same (anticlockwise) sense, so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for all four pairs.</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side of the square be </a:t>
                </a:r>
                <a:r>
                  <a:rPr lang="en-IN" sz="2400">
                    <a:solidFill>
                      <a:srgbClr val="111827"/>
                    </a:solidFill>
                    <a:latin typeface="Cambria Math" panose="02040503050406030204" pitchFamily="18" charset="0"/>
                  </a:rPr>
                  <a:t>$l$</a:t>
                </a:r>
                <a:r>
                  <a:rPr sz="2400" b="0">
                    <a:solidFill>
                      <a:srgbClr val="111827"/>
                    </a:solidFill>
                    <a:latin typeface="Arial"/>
                  </a:rPr>
                  <a:t> and let </a:t>
                </a:r>
                <a:r>
                  <a:rPr lang="en-IN" sz="2400">
                    <a:solidFill>
                      <a:srgbClr val="111827"/>
                    </a:solidFill>
                    <a:latin typeface="Cambria Math" panose="02040503050406030204" pitchFamily="18" charset="0"/>
                  </a:rPr>
                  <a:t>$\hat n$</a:t>
                </a:r>
                <a:r>
                  <a:rPr sz="2400" b="0">
                    <a:solidFill>
                      <a:srgbClr val="111827"/>
                    </a:solidFill>
                    <a:latin typeface="Arial"/>
                  </a:rPr>
                  <a:t> be the unit vector perpendicular to the plane (towards the reader).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sides of an equilateral triangle make </a:t>
                </a:r>
                <a:r>
                  <a:rPr lang="en-IN" sz="2400">
                    <a:solidFill>
                      <a:srgbClr val="111827"/>
                    </a:solidFill>
                    <a:latin typeface="Cambria Math" panose="02040503050406030204" pitchFamily="18" charset="0"/>
                  </a:rPr>
                  <a:t>$60^\circ$</a:t>
                </a:r>
                <a:r>
                  <a:rPr sz="2400" b="0">
                    <a:solidFill>
                      <a:srgbClr val="111827"/>
                    </a:solidFill>
                    <a:latin typeface="Arial"/>
                  </a:rPr>
                  <a:t>, so </a:t>
                </a:r>
                <a:r>
                  <a:rPr lang="en-IN" sz="2400">
                    <a:solidFill>
                      <a:srgbClr val="111827"/>
                    </a:solidFill>
                    <a:latin typeface="Cambria Math" panose="02040503050406030204" pitchFamily="18" charset="0"/>
                  </a:rPr>
                  <a:t>$|\vec a_{i+1}\times\vec a_i|=l\cdot l\sin60^\circ=\frac{\sqrt3}{2}l^2$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the figure each of the four pairs is taken in the same (anticlockwise) sense, so </a:t>
                </a:r>
                <a:r>
                  <a:rPr lang="en-IN" sz="2400">
                    <a:solidFill>
                      <a:srgbClr val="111827"/>
                    </a:solidFill>
                    <a:latin typeface="Cambria Math" panose="02040503050406030204" pitchFamily="18" charset="0"/>
                  </a:rPr>
                  <a:t>$\vec a_{i+1}\times\vec a_i=\frac{\sqrt3}{2}l^2\hat n$</a:t>
                </a:r>
                <a:r>
                  <a:rPr sz="2400" b="0">
                    <a:solidFill>
                      <a:srgbClr val="111827"/>
                    </a:solidFill>
                    <a:latin typeface="Arial"/>
                  </a:rPr>
                  <a:t> for all four pairs.</a:t>
                </a:r>
                <a:endParaRPr sz="2400">
                  <a:solidFill>
                    <a:srgbClr val="111827"/>
                  </a:solidFill>
                </a:endParaRPr>
              </a:p>
            </p:txBody>
          </p:sp>
        </mc:Fallback>
      </mc:AlternateContent>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are adjacent sides of the square).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left side of the equation is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p\times\vec q=l^2\hat n$</a:t>
                </a:r>
                <a:r>
                  <a:rPr sz="2400" b="0">
                    <a:solidFill>
                      <a:srgbClr val="111827"/>
                    </a:solidFill>
                    <a:latin typeface="Arial"/>
                  </a:rPr>
                  <a:t> (</a:t>
                </a:r>
                <a:r>
                  <a:rPr lang="en-IN" sz="2400">
                    <a:solidFill>
                      <a:srgbClr val="111827"/>
                    </a:solidFill>
                    <a:latin typeface="Cambria Math" panose="02040503050406030204" pitchFamily="18" charset="0"/>
                  </a:rPr>
                  <a:t>$\vec p$</a:t>
                </a:r>
                <a:r>
                  <a:rPr sz="2400" b="0">
                    <a:solidFill>
                      <a:srgbClr val="111827"/>
                    </a:solidFill>
                    <a:latin typeface="Arial"/>
                  </a:rPr>
                  <a:t> and </a:t>
                </a:r>
                <a:r>
                  <a:rPr lang="en-IN" sz="2400">
                    <a:solidFill>
                      <a:srgbClr val="111827"/>
                    </a:solidFill>
                    <a:latin typeface="Cambria Math" panose="02040503050406030204" pitchFamily="18" charset="0"/>
                  </a:rPr>
                  <a:t>$\vec q$</a:t>
                </a:r>
                <a:r>
                  <a:rPr sz="2400" b="0">
                    <a:solidFill>
                      <a:srgbClr val="111827"/>
                    </a:solidFill>
                    <a:latin typeface="Arial"/>
                  </a:rPr>
                  <a:t> are adjacent sides of the square).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left side of the equation is </a:t>
                </a:r>
                <a:r>
                  <a:rPr lang="en-IN" sz="2400">
                    <a:solidFill>
                      <a:srgbClr val="111827"/>
                    </a:solidFill>
                    <a:latin typeface="Cambria Math" panose="02040503050406030204" pitchFamily="18" charset="0"/>
                  </a:rPr>
                  <a:t>$4\cdot\frac{\sqrt3}{2}l^2\hat n=2\sqrt3\,l^2\hat 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$2\sqrt3\,l^2\hat n=\lambda\,l^2\hat n$</a:t>
                </a:r>
                <a:r>
                  <a:rPr sz="2400" b="0">
                    <a:solidFill>
                      <a:srgbClr val="111827"/>
                    </a:solidFill>
                    <a:latin typeface="Arial"/>
                  </a:rPr>
                  <a:t>, giving </a:t>
                </a:r>
                <a:r>
                  <a:rPr lang="en-IN" sz="2400">
                    <a:solidFill>
                      <a:srgbClr val="111827"/>
                    </a:solidFill>
                    <a:latin typeface="Cambria Math" panose="02040503050406030204" pitchFamily="18" charset="0"/>
                  </a:rPr>
                  <a:t>$\lambda=2\sqrt3$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$2\sqrt3$</a:t>
                </a:r>
                <a:endParaRPr sz="2800">
                  <a:solidFill>
                    <a:srgbClr val="15803D"/>
                  </a:solidFill>
                </a:endParaRPr>
              </a:p>
            </p:txBody>
          </p:sp>
        </mc:Fallback>
      </mc:AlternateContent>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Put numbers on the figure: take </a:t>
                </a:r>
                <a14:m>
                  <m:oMath xmlns:m="http://schemas.openxmlformats.org/officeDocument/2006/math">
                    <m:r>
                      <a:rPr lang="en-IN" sz="2400" i="1">
                        <a:solidFill>
                          <a:srgbClr val="78350F"/>
                        </a:solidFill>
                        <a:latin typeface="Cambria Math" panose="02040503050406030204" pitchFamily="18" charset="0"/>
                      </a:rPr>
                      <m:t>𝑙</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𝑖</m:t>
                        </m:r>
                      </m:e>
                    </m:acc>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𝑗</m:t>
                        </m:r>
                      </m:e>
                    </m:acc>
                  </m:oMath>
                </a14:m>
                <a:r>
                  <a:rPr sz="2400" b="0">
                    <a:solidFill>
                      <a:srgbClr val="78350F"/>
                    </a:solidFill>
                    <a:latin typeface="Arial"/>
                  </a:rPr>
                  <a:t> and write the sides of the left triangle in components.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Put numbers on the figure: take </a:t>
                </a:r>
                <a:r>
                  <a:rPr lang="en-IN" sz="2400">
                    <a:solidFill>
                      <a:srgbClr val="78350F"/>
                    </a:solidFill>
                    <a:latin typeface="Cambria Math" panose="02040503050406030204" pitchFamily="18" charset="0"/>
                  </a:rPr>
                  <a:t>$l=1$</a:t>
                </a:r>
                <a:r>
                  <a:rPr sz="2400" b="0">
                    <a:solidFill>
                      <a:srgbClr val="78350F"/>
                    </a:solidFill>
                    <a:latin typeface="Arial"/>
                  </a:rPr>
                  <a:t>, </a:t>
                </a:r>
                <a:r>
                  <a:rPr lang="en-IN" sz="2400">
                    <a:solidFill>
                      <a:srgbClr val="78350F"/>
                    </a:solidFill>
                    <a:latin typeface="Cambria Math" panose="02040503050406030204" pitchFamily="18" charset="0"/>
                  </a:rPr>
                  <a:t>$\vec p=\hat i$</a:t>
                </a:r>
                <a:r>
                  <a:rPr sz="2400" b="0">
                    <a:solidFill>
                      <a:srgbClr val="78350F"/>
                    </a:solidFill>
                    <a:latin typeface="Arial"/>
                  </a:rPr>
                  <a:t>, </a:t>
                </a:r>
                <a:r>
                  <a:rPr lang="en-IN" sz="2400">
                    <a:solidFill>
                      <a:srgbClr val="78350F"/>
                    </a:solidFill>
                    <a:latin typeface="Cambria Math" panose="02040503050406030204" pitchFamily="18" charset="0"/>
                  </a:rPr>
                  <a:t>$\vec q=\hat j$</a:t>
                </a:r>
                <a:r>
                  <a:rPr sz="2400" b="0">
                    <a:solidFill>
                      <a:srgbClr val="78350F"/>
                    </a:solidFill>
                    <a:latin typeface="Arial"/>
                  </a:rPr>
                  <a:t> and write the sides of the left triangle in components.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the square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the left apex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(apex to top-left corner) and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(apex to bottom-left corner).</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along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the square </a:t>
                </a:r>
                <a:r>
                  <a:rPr lang="en-IN" sz="2400">
                    <a:solidFill>
                      <a:srgbClr val="111827"/>
                    </a:solidFill>
                    <a:latin typeface="Cambria Math" panose="02040503050406030204" pitchFamily="18" charset="0"/>
                  </a:rPr>
                  <a:t>$[0,1]\times[0,1]$</a:t>
                </a:r>
                <a:r>
                  <a:rPr sz="2400" b="0">
                    <a:solidFill>
                      <a:srgbClr val="111827"/>
                    </a:solidFill>
                    <a:latin typeface="Arial"/>
                  </a:rPr>
                  <a:t> with </a:t>
                </a:r>
                <a:r>
                  <a:rPr lang="en-IN" sz="2400">
                    <a:solidFill>
                      <a:srgbClr val="111827"/>
                    </a:solidFill>
                    <a:latin typeface="Cambria Math" panose="02040503050406030204" pitchFamily="18" charset="0"/>
                  </a:rPr>
                  <a:t>$\vec p=\hat i$</a:t>
                </a:r>
                <a:r>
                  <a:rPr sz="2400" b="0">
                    <a:solidFill>
                      <a:srgbClr val="111827"/>
                    </a:solidFill>
                    <a:latin typeface="Arial"/>
                  </a:rPr>
                  <a:t>, </a:t>
                </a:r>
                <a:r>
                  <a:rPr lang="en-IN" sz="2400">
                    <a:solidFill>
                      <a:srgbClr val="111827"/>
                    </a:solidFill>
                    <a:latin typeface="Cambria Math" panose="02040503050406030204" pitchFamily="18" charset="0"/>
                  </a:rPr>
                  <a:t>$\vec q=\hat j$</a:t>
                </a:r>
                <a:r>
                  <a:rPr sz="2400" b="0">
                    <a:solidFill>
                      <a:srgbClr val="111827"/>
                    </a:solidFill>
                    <a:latin typeface="Arial"/>
                  </a:rPr>
                  <a:t>; the left apex is </a:t>
                </a:r>
                <a:r>
                  <a:rPr lang="en-IN" sz="2400">
                    <a:solidFill>
                      <a:srgbClr val="111827"/>
                    </a:solidFill>
                    <a:latin typeface="Cambria Math" panose="02040503050406030204" pitchFamily="18" charset="0"/>
                  </a:rPr>
                  <a:t>$\left(-\frac{\sqrt3}{2},\frac12\right)$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$\vec a_1=\left(\frac{\sqrt3}{2},\frac12\right)$</a:t>
                </a:r>
                <a:r>
                  <a:rPr sz="2400" b="0">
                    <a:solidFill>
                      <a:srgbClr val="111827"/>
                    </a:solidFill>
                    <a:latin typeface="Arial"/>
                  </a:rPr>
                  <a:t> (apex to top-left corner) and </a:t>
                </a:r>
                <a:r>
                  <a:rPr lang="en-IN" sz="2400">
                    <a:solidFill>
                      <a:srgbClr val="111827"/>
                    </a:solidFill>
                    <a:latin typeface="Cambria Math" panose="02040503050406030204" pitchFamily="18" charset="0"/>
                  </a:rPr>
                  <a:t>$\vec a_2=\left(\frac{\sqrt3}{2},-\frac12\right)$</a:t>
                </a:r>
                <a:r>
                  <a:rPr sz="2400" b="0">
                    <a:solidFill>
                      <a:srgbClr val="111827"/>
                    </a:solidFill>
                    <a:latin typeface="Arial"/>
                  </a:rPr>
                  <a:t> (apex to bottom-left corner).</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a_2\times\vec a_1=\frac{\sqrt3}{2}\cdot\frac12-\left(-\frac12\right)\frac{\sqrt3}{2}=\frac{\sqrt3}{2}$</a:t>
                </a:r>
                <a:r>
                  <a:rPr sz="2400" b="0">
                    <a:solidFill>
                      <a:srgbClr val="111827"/>
                    </a:solidFill>
                    <a:latin typeface="Arial"/>
                  </a:rPr>
                  <a:t> along </a:t>
                </a:r>
                <a:r>
                  <a:rPr lang="en-IN" sz="2400">
                    <a:solidFill>
                      <a:srgbClr val="111827"/>
                    </a:solidFill>
                    <a:latin typeface="Cambria Math" panose="02040503050406030204" pitchFamily="18" charset="0"/>
                  </a:rPr>
                  <a:t>$\hat k$</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rotation by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about the centre of the square maps this triangle to the next one and keeps the cross product unchanged, so all four terms equal </a:t>
                </a:r>
                <a14:m>
                  <m:oMath xmlns:m="http://schemas.openxmlformats.org/officeDocument/2006/math">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rotation by </a:t>
                </a:r>
                <a:r>
                  <a:rPr lang="en-IN" sz="2400">
                    <a:solidFill>
                      <a:srgbClr val="111827"/>
                    </a:solidFill>
                    <a:latin typeface="Cambria Math" panose="02040503050406030204" pitchFamily="18" charset="0"/>
                  </a:rPr>
                  <a:t>$90^\circ$</a:t>
                </a:r>
                <a:r>
                  <a:rPr sz="2400" b="0">
                    <a:solidFill>
                      <a:srgbClr val="111827"/>
                    </a:solidFill>
                    <a:latin typeface="Arial"/>
                  </a:rPr>
                  <a:t> about the centre of the square maps this triangle to the next one and keeps the cross product unchanged, so all four terms equal </a:t>
                </a:r>
                <a:r>
                  <a:rPr lang="en-IN" sz="2400">
                    <a:solidFill>
                      <a:srgbClr val="111827"/>
                    </a:solidFill>
                    <a:latin typeface="Cambria Math" panose="02040503050406030204" pitchFamily="18" charset="0"/>
                  </a:rPr>
                  <a:t>$\frac{\sqrt3}{2}\hat 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a:t>
                </a:r>
                <a:r>
                  <a:rPr lang="en-IN" sz="2400">
                    <a:solidFill>
                      <a:srgbClr val="111827"/>
                    </a:solidFill>
                    <a:latin typeface="Cambria Math" panose="02040503050406030204" pitchFamily="18" charset="0"/>
                  </a:rPr>
                  <a:t>$=2\sqrt3\,\hat k$</a:t>
                </a:r>
                <a:r>
                  <a:rPr sz="2400" b="0">
                    <a:solidFill>
                      <a:srgbClr val="111827"/>
                    </a:solidFill>
                    <a:latin typeface="Arial"/>
                  </a:rPr>
                  <a:t> and </a:t>
                </a:r>
                <a:r>
                  <a:rPr lang="en-IN" sz="2400">
                    <a:solidFill>
                      <a:srgbClr val="111827"/>
                    </a:solidFill>
                    <a:latin typeface="Cambria Math" panose="02040503050406030204" pitchFamily="18" charset="0"/>
                  </a:rPr>
                  <a:t>$\vec p\times\vec q=\hat k$</a:t>
                </a:r>
                <a:r>
                  <a:rPr sz="2400" b="0">
                    <a:solidFill>
                      <a:srgbClr val="111827"/>
                    </a:solidFill>
                    <a:latin typeface="Arial"/>
                  </a:rPr>
                  <a:t>, so </a:t>
                </a:r>
                <a:r>
                  <a:rPr lang="en-IN" sz="2400">
                    <a:solidFill>
                      <a:srgbClr val="111827"/>
                    </a:solidFill>
                    <a:latin typeface="Cambria Math" panose="02040503050406030204" pitchFamily="18" charset="0"/>
                  </a:rPr>
                  <a:t>$\lambda=2\sqrt3$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$2\sqrt3$</a:t>
                </a:r>
                <a:endParaRPr sz="2800">
                  <a:solidFill>
                    <a:srgbClr val="15803D"/>
                  </a:solidFill>
                </a:endParaRPr>
              </a:p>
            </p:txBody>
          </p:sp>
        </mc:Fallback>
      </mc:AlternateContent>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twice the area of the triangle 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for an equilateral triangle of side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it equals </a:t>
                </a:r>
                <a14:m>
                  <m:oMath xmlns:m="http://schemas.openxmlformats.org/officeDocument/2006/math">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𝑠</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vectors in one plane, every cross product is a multiple of the same unit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so compare coefficients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(signs follow the sense of rotation).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Symmetry: a rotation of the whole configuration about the normal does not change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u\times\vec v|$</a:t>
                </a:r>
                <a:r>
                  <a:rPr sz="2400" b="0">
                    <a:solidFill>
                      <a:srgbClr val="111827"/>
                    </a:solidFill>
                    <a:latin typeface="Arial"/>
                  </a:rPr>
                  <a:t> is twice the area of the triangle on </a:t>
                </a:r>
                <a:r>
                  <a:rPr lang="en-IN" sz="2400">
                    <a:solidFill>
                      <a:srgbClr val="111827"/>
                    </a:solidFill>
                    <a:latin typeface="Cambria Math" panose="02040503050406030204" pitchFamily="18" charset="0"/>
                  </a:rPr>
                  <a:t>$\vec u,\vec v$</a:t>
                </a:r>
                <a:r>
                  <a:rPr sz="2400" b="0">
                    <a:solidFill>
                      <a:srgbClr val="111827"/>
                    </a:solidFill>
                    <a:latin typeface="Arial"/>
                  </a:rPr>
                  <a:t>; for an equilateral triangle of side </a:t>
                </a:r>
                <a:r>
                  <a:rPr lang="en-IN" sz="2400">
                    <a:solidFill>
                      <a:srgbClr val="111827"/>
                    </a:solidFill>
                    <a:latin typeface="Cambria Math" panose="02040503050406030204" pitchFamily="18" charset="0"/>
                  </a:rPr>
                  <a:t>$s$</a:t>
                </a:r>
                <a:r>
                  <a:rPr sz="2400" b="0">
                    <a:solidFill>
                      <a:srgbClr val="111827"/>
                    </a:solidFill>
                    <a:latin typeface="Arial"/>
                  </a:rPr>
                  <a:t> it equals </a:t>
                </a:r>
                <a:r>
                  <a:rPr lang="en-IN" sz="2400">
                    <a:solidFill>
                      <a:srgbClr val="111827"/>
                    </a:solidFill>
                    <a:latin typeface="Cambria Math" panose="02040503050406030204" pitchFamily="18" charset="0"/>
                  </a:rPr>
                  <a:t>$\frac{\sqrt3}{2}s^2$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vectors in one plane, every cross product is a multiple of the same unit normal </a:t>
                </a:r>
                <a:r>
                  <a:rPr lang="en-IN" sz="2400">
                    <a:solidFill>
                      <a:srgbClr val="111827"/>
                    </a:solidFill>
                    <a:latin typeface="Cambria Math" panose="02040503050406030204" pitchFamily="18" charset="0"/>
                  </a:rPr>
                  <a:t>$\hat n$</a:t>
                </a:r>
                <a:r>
                  <a:rPr sz="2400" b="0">
                    <a:solidFill>
                      <a:srgbClr val="111827"/>
                    </a:solidFill>
                    <a:latin typeface="Arial"/>
                  </a:rPr>
                  <a:t>, so compare coefficients of </a:t>
                </a:r>
                <a:r>
                  <a:rPr lang="en-IN" sz="2400">
                    <a:solidFill>
                      <a:srgbClr val="111827"/>
                    </a:solidFill>
                    <a:latin typeface="Cambria Math" panose="02040503050406030204" pitchFamily="18" charset="0"/>
                  </a:rPr>
                  <a:t>$\hat n$</a:t>
                </a:r>
                <a:r>
                  <a:rPr sz="2400" b="0">
                    <a:solidFill>
                      <a:srgbClr val="111827"/>
                    </a:solidFill>
                    <a:latin typeface="Arial"/>
                  </a:rPr>
                  <a:t> (signs follow the sense of rotation).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Symmetry: a rotation of the whole configuration about the normal does not change </a:t>
                </a:r>
                <a:r>
                  <a:rPr lang="en-IN" sz="2400">
                    <a:solidFill>
                      <a:srgbClr val="111827"/>
                    </a:solidFill>
                    <a:latin typeface="Cambria Math" panose="02040503050406030204" pitchFamily="18" charset="0"/>
                  </a:rPr>
                  <a:t>$\vec u\times\vec v$</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81660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Four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satisfy the relation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where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value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in terms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num>
                      <m:den>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num>
                      <m:den>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num>
                      <m:den>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endParaRPr sz="2400">
                  <a:solidFill>
                    <a:srgbClr val="111827"/>
                  </a:solidFill>
                </a:endParaRPr>
              </a:p>
            </p:txBody>
          </p:sp>
        </mc:Choice>
        <mc:Fallback>
          <p:sp>
            <p:nvSpPr>
              <p:cNvPr id="4" name="Rounded Rectangle 3"/>
              <p:cNvSpPr/>
              <p:nvPr/>
            </p:nvSpPr>
            <p:spPr>
              <a:xfrm>
                <a:off x="731520" y="1280160"/>
                <a:ext cx="10725912" cy="381660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Four vectors </a:t>
                </a:r>
                <a:r>
                  <a:rPr lang="en-IN" sz="2400">
                    <a:solidFill>
                      <a:srgbClr val="111827"/>
                    </a:solidFill>
                    <a:latin typeface="Cambria Math" panose="02040503050406030204" pitchFamily="18" charset="0"/>
                  </a:rPr>
                  <a:t>$\vec a,\vec b,\vec c$</a:t>
                </a:r>
                <a:r>
                  <a:rPr sz="2400" b="0">
                    <a:solidFill>
                      <a:srgbClr val="111827"/>
                    </a:solidFill>
                    <a:latin typeface="Arial"/>
                  </a:rPr>
                  <a:t> and </a:t>
                </a:r>
                <a:r>
                  <a:rPr lang="en-IN" sz="2400">
                    <a:solidFill>
                      <a:srgbClr val="111827"/>
                    </a:solidFill>
                    <a:latin typeface="Cambria Math" panose="02040503050406030204" pitchFamily="18" charset="0"/>
                  </a:rPr>
                  <a:t>$\vec x$</a:t>
                </a:r>
                <a:r>
                  <a:rPr sz="2400" b="0">
                    <a:solidFill>
                      <a:srgbClr val="111827"/>
                    </a:solidFill>
                    <a:latin typeface="Arial"/>
                  </a:rPr>
                  <a:t> satisfy the relation </a:t>
                </a:r>
                <a:r>
                  <a:rPr lang="en-IN" sz="2400">
                    <a:solidFill>
                      <a:srgbClr val="111827"/>
                    </a:solidFill>
                    <a:latin typeface="Cambria Math" panose="02040503050406030204" pitchFamily="18" charset="0"/>
                  </a:rPr>
                  <a:t>$(\vec a\cdot\vec x)\vec b=\vec c+\vec x$</a:t>
                </a:r>
                <a:r>
                  <a:rPr sz="2400" b="0">
                    <a:solidFill>
                      <a:srgbClr val="111827"/>
                    </a:solidFill>
                    <a:latin typeface="Arial"/>
                  </a:rPr>
                  <a:t> where </a:t>
                </a:r>
                <a:r>
                  <a:rPr lang="en-IN" sz="2400">
                    <a:solidFill>
                      <a:srgbClr val="111827"/>
                    </a:solidFill>
                    <a:latin typeface="Cambria Math" panose="02040503050406030204" pitchFamily="18" charset="0"/>
                  </a:rPr>
                  <a:t>$\vec b\cdot\vec a\neq1$</a:t>
                </a:r>
                <a:r>
                  <a:rPr sz="2400" b="0">
                    <a:solidFill>
                      <a:srgbClr val="111827"/>
                    </a:solidFill>
                    <a:latin typeface="Arial"/>
                  </a:rPr>
                  <a:t>. The value of </a:t>
                </a:r>
                <a:r>
                  <a:rPr lang="en-IN" sz="2400">
                    <a:solidFill>
                      <a:srgbClr val="111827"/>
                    </a:solidFill>
                    <a:latin typeface="Cambria Math" panose="02040503050406030204" pitchFamily="18" charset="0"/>
                  </a:rPr>
                  <a:t>$\vec x$</a:t>
                </a:r>
                <a:r>
                  <a:rPr sz="2400" b="0">
                    <a:solidFill>
                      <a:srgbClr val="111827"/>
                    </a:solidFill>
                    <a:latin typeface="Arial"/>
                  </a:rPr>
                  <a:t> in terms of </a:t>
                </a:r>
                <a:r>
                  <a:rPr lang="en-IN" sz="2400">
                    <a:solidFill>
                      <a:srgbClr val="111827"/>
                    </a:solidFill>
                    <a:latin typeface="Cambria Math" panose="02040503050406030204" pitchFamily="18" charset="0"/>
                  </a:rPr>
                  <a:t>$\vec a,\vec b$</a:t>
                </a:r>
                <a:r>
                  <a:rPr sz="2400" b="0">
                    <a:solidFill>
                      <a:srgbClr val="111827"/>
                    </a:solidFill>
                    <a:latin typeface="Arial"/>
                  </a:rPr>
                  <a:t> and </a:t>
                </a:r>
                <a:r>
                  <a:rPr lang="en-IN" sz="2400">
                    <a:solidFill>
                      <a:srgbClr val="111827"/>
                    </a:solidFill>
                    <a:latin typeface="Cambria Math" panose="02040503050406030204" pitchFamily="18" charset="0"/>
                  </a:rPr>
                  <a:t>$\vec c$</a:t>
                </a:r>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$\frac{(\vec a\cdot\vec c)\vec b-\vec c(\vec a\cdot\vec b-1)}{(\vec a\cdot\vec b-1)}$</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$\frac{\vec c}{\vec a\cdot\vec b-1}$</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$\frac{2(\vec a\cdot\vec c)\vec b+\vec c}{\vec a\cdot\vec b-1}$</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$\frac{2(\vec a\cdot\vec c)\vec c+\vec c}{\vec a\cdot\vec b-1}$</a:t>
                </a:r>
                <a:endParaRPr sz="2400">
                  <a:solidFill>
                    <a:srgbClr val="111827"/>
                  </a:solidFill>
                </a:endParaRPr>
              </a:p>
            </p:txBody>
          </p:sp>
        </mc:Fallback>
      </mc:AlternateContent>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Solving a vector equation using dot product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Take the dot product of the relation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oMath>
                </a14:m>
                <a:r>
                  <a:rPr sz="2400" b="0">
                    <a:solidFill>
                      <a:srgbClr val="78350F"/>
                    </a:solidFill>
                    <a:latin typeface="Arial"/>
                  </a:rPr>
                  <a:t> to find the scalar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oMath>
                </a14:m>
                <a:r>
                  <a:rPr sz="2400" b="0">
                    <a:solidFill>
                      <a:srgbClr val="78350F"/>
                    </a:solidFill>
                    <a:latin typeface="Arial"/>
                  </a:rPr>
                  <a:t>, then substitute back.</a:t>
                </a:r>
                <a:endParaRPr sz="2400">
                  <a:solidFill>
                    <a:srgbClr val="78350F"/>
                  </a:solidFill>
                </a:endParaRPr>
              </a:p>
            </p:txBody>
          </p:sp>
        </mc:Choice>
        <mc:Fallback>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Take the dot product of the relation with </a:t>
                </a:r>
                <a:r>
                  <a:rPr lang="en-IN" sz="2400">
                    <a:solidFill>
                      <a:srgbClr val="78350F"/>
                    </a:solidFill>
                    <a:latin typeface="Cambria Math" panose="02040503050406030204" pitchFamily="18" charset="0"/>
                  </a:rPr>
                  <a:t>$\vec a$</a:t>
                </a:r>
                <a:r>
                  <a:rPr sz="2400" b="0">
                    <a:solidFill>
                      <a:srgbClr val="78350F"/>
                    </a:solidFill>
                    <a:latin typeface="Arial"/>
                  </a:rPr>
                  <a:t> to find the scalar </a:t>
                </a:r>
                <a:r>
                  <a:rPr lang="en-IN" sz="2400">
                    <a:solidFill>
                      <a:srgbClr val="78350F"/>
                    </a:solidFill>
                    <a:latin typeface="Cambria Math" panose="02040503050406030204" pitchFamily="18" charset="0"/>
                  </a:rPr>
                  <a:t>$\vec a\cdot\vec x$</a:t>
                </a:r>
                <a:r>
                  <a:rPr sz="2400" b="0">
                    <a:solidFill>
                      <a:srgbClr val="78350F"/>
                    </a:solidFill>
                    <a:latin typeface="Arial"/>
                  </a:rPr>
                  <a:t>, then substitute back.</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Given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Dot (1)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Given </a:t>
                </a:r>
                <a:r>
                  <a:rPr lang="en-IN" sz="2400">
                    <a:solidFill>
                      <a:srgbClr val="111827"/>
                    </a:solidFill>
                    <a:latin typeface="Cambria Math" panose="02040503050406030204" pitchFamily="18" charset="0"/>
                  </a:rPr>
                  <a:t>$(\vec a\cdot\vec x)\vec b=\vec c+\vec x$</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Dot (1) with </a:t>
                </a:r>
                <a:r>
                  <a:rPr lang="en-IN" sz="2400">
                    <a:solidFill>
                      <a:srgbClr val="111827"/>
                    </a:solidFill>
                    <a:latin typeface="Cambria Math" panose="02040503050406030204" pitchFamily="18" charset="0"/>
                  </a:rPr>
                  <a:t>$\vec a$</a:t>
                </a:r>
                <a:r>
                  <a:rPr sz="2400" b="0">
                    <a:solidFill>
                      <a:srgbClr val="111827"/>
                    </a:solidFill>
                    <a:latin typeface="Arial"/>
                  </a:rPr>
                  <a:t>: </a:t>
                </a:r>
                <a:r>
                  <a:rPr lang="en-IN" sz="2400">
                    <a:solidFill>
                      <a:srgbClr val="111827"/>
                    </a:solidFill>
                    <a:latin typeface="Cambria Math" panose="02040503050406030204" pitchFamily="18" charset="0"/>
                  </a:rPr>
                  <a:t>$(\vec a\cdot\vec x)(\vec b\cdot\vec a)=(\vec c\cdot\vec a)+(\vec a\cdot\vec x)$</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num>
                      <m:den>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(2) in (1):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num>
                          <m:den>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num>
                          <m:den>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which is option (A).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$\Rightarrow(\vec a\cdot\vec x)(\vec b\cdot\vec a-1)=\vec c\cdot\vec 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$\Rightarrow\vec a\cdot\vec x=\frac{\vec c\cdot\vec a}{\vec b\cdot\vec a-1}$</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(2) in (1): </a:t>
                </a:r>
                <a:r>
                  <a:rPr lang="en-IN" sz="2400">
                    <a:solidFill>
                      <a:srgbClr val="111827"/>
                    </a:solidFill>
                    <a:latin typeface="Cambria Math" panose="02040503050406030204" pitchFamily="18" charset="0"/>
                  </a:rPr>
                  <a:t>$\left(\frac{\vec c\cdot\vec a}{\vec b\cdot\vec a-1}\right)\vec b=\vec c+\vec 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$\Rightarrow\vec x=\left(\frac{\vec c\cdot\vec a}{\vec b\cdot\vec a-1}\right)\vec b-\vec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$=\frac{(\vec a\cdot\vec c)\vec b-\vec c(\vec a\cdot\vec b-1)}{\vec a\cdot\vec b-1}$</a:t>
                </a:r>
                <a:r>
                  <a:rPr sz="2400" b="0">
                    <a:solidFill>
                      <a:srgbClr val="111827"/>
                    </a:solidFill>
                    <a:latin typeface="Arial"/>
                  </a:rPr>
                  <a:t>, which is option (A).</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a:t>
            </a:r>
            <a:endParaRPr sz="2800">
              <a:solidFill>
                <a:srgbClr val="15803D"/>
              </a:solidFill>
            </a:endParaRP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Test the options on two simple choices of vectors; the wrong options fail at once.</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forces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Options (A), (B) both give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but (C) gives </a:t>
                </a:r>
                <a14:m>
                  <m:oMath xmlns:m="http://schemas.openxmlformats.org/officeDocument/2006/math">
                    <m:r>
                      <a:rPr lang="en-IN" sz="2400" i="1">
                        <a:solidFill>
                          <a:srgbClr val="111827"/>
                        </a:solidFill>
                        <a:latin typeface="Cambria Math" panose="02040503050406030204" pitchFamily="18" charset="0"/>
                      </a:rPr>
                      <m:t>5</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and (D) gives </a:t>
                </a:r>
                <a14:m>
                  <m:oMath xmlns:m="http://schemas.openxmlformats.org/officeDocument/2006/math">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so (C), (D) are out.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with the same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gives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$\vec a=\hat i$</a:t>
                </a:r>
                <a:r>
                  <a:rPr sz="2400" b="0">
                    <a:solidFill>
                      <a:srgbClr val="111827"/>
                    </a:solidFill>
                    <a:latin typeface="Arial"/>
                  </a:rPr>
                  <a:t>, </a:t>
                </a:r>
                <a:r>
                  <a:rPr lang="en-IN" sz="2400">
                    <a:solidFill>
                      <a:srgbClr val="111827"/>
                    </a:solidFill>
                    <a:latin typeface="Cambria Math" panose="02040503050406030204" pitchFamily="18" charset="0"/>
                  </a:rPr>
                  <a:t>$\vec b=2\hat i$</a:t>
                </a:r>
                <a:r>
                  <a:rPr sz="2400" b="0">
                    <a:solidFill>
                      <a:srgbClr val="111827"/>
                    </a:solidFill>
                    <a:latin typeface="Arial"/>
                  </a:rPr>
                  <a:t> (so </a:t>
                </a:r>
                <a:r>
                  <a:rPr lang="en-IN" sz="2400">
                    <a:solidFill>
                      <a:srgbClr val="111827"/>
                    </a:solidFill>
                    <a:latin typeface="Cambria Math" panose="02040503050406030204" pitchFamily="18" charset="0"/>
                  </a:rPr>
                  <a:t>$\vec a\cdot\vec b-1=1$</a:t>
                </a:r>
                <a:r>
                  <a:rPr sz="2400" b="0">
                    <a:solidFill>
                      <a:srgbClr val="111827"/>
                    </a:solidFill>
                    <a:latin typeface="Arial"/>
                  </a:rPr>
                  <a:t>) and </a:t>
                </a:r>
                <a:r>
                  <a:rPr lang="en-IN" sz="2400">
                    <a:solidFill>
                      <a:srgbClr val="111827"/>
                    </a:solidFill>
                    <a:latin typeface="Cambria Math" panose="02040503050406030204" pitchFamily="18" charset="0"/>
                  </a:rPr>
                  <a:t>$\vec c=\hat i$</a:t>
                </a:r>
                <a:r>
                  <a:rPr sz="2400" b="0">
                    <a:solidFill>
                      <a:srgbClr val="111827"/>
                    </a:solidFill>
                    <a:latin typeface="Arial"/>
                  </a:rPr>
                  <a:t>. Then </a:t>
                </a:r>
                <a:r>
                  <a:rPr lang="en-IN" sz="2400">
                    <a:solidFill>
                      <a:srgbClr val="111827"/>
                    </a:solidFill>
                    <a:latin typeface="Cambria Math" panose="02040503050406030204" pitchFamily="18" charset="0"/>
                  </a:rPr>
                  <a:t>$x_1\cdot2\hat i=\hat i+\vec x$</a:t>
                </a:r>
                <a:r>
                  <a:rPr sz="2400" b="0">
                    <a:solidFill>
                      <a:srgbClr val="111827"/>
                    </a:solidFill>
                    <a:latin typeface="Arial"/>
                  </a:rPr>
                  <a:t> forces </a:t>
                </a:r>
                <a:r>
                  <a:rPr lang="en-IN" sz="2400">
                    <a:solidFill>
                      <a:srgbClr val="111827"/>
                    </a:solidFill>
                    <a:latin typeface="Cambria Math" panose="02040503050406030204" pitchFamily="18" charset="0"/>
                  </a:rPr>
                  <a:t>$\vec x=\hat i$</a:t>
                </a:r>
                <a:r>
                  <a:rPr sz="2400" b="0">
                    <a:solidFill>
                      <a:srgbClr val="111827"/>
                    </a:solidFill>
                    <a:latin typeface="Arial"/>
                  </a:rPr>
                  <a:t> (</a:t>
                </a:r>
                <a:r>
                  <a:rPr lang="en-IN" sz="2400">
                    <a:solidFill>
                      <a:srgbClr val="111827"/>
                    </a:solidFill>
                    <a:latin typeface="Cambria Math" panose="02040503050406030204" pitchFamily="18" charset="0"/>
                  </a:rPr>
                  <a:t>$x_1=1$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Options (A), (B) both give </a:t>
                </a:r>
                <a:r>
                  <a:rPr lang="en-IN" sz="2400">
                    <a:solidFill>
                      <a:srgbClr val="111827"/>
                    </a:solidFill>
                    <a:latin typeface="Cambria Math" panose="02040503050406030204" pitchFamily="18" charset="0"/>
                  </a:rPr>
                  <a:t>$\hat i$</a:t>
                </a:r>
                <a:r>
                  <a:rPr sz="2400" b="0">
                    <a:solidFill>
                      <a:srgbClr val="111827"/>
                    </a:solidFill>
                    <a:latin typeface="Arial"/>
                  </a:rPr>
                  <a:t>, but (C) gives </a:t>
                </a:r>
                <a:r>
                  <a:rPr lang="en-IN" sz="2400">
                    <a:solidFill>
                      <a:srgbClr val="111827"/>
                    </a:solidFill>
                    <a:latin typeface="Cambria Math" panose="02040503050406030204" pitchFamily="18" charset="0"/>
                  </a:rPr>
                  <a:t>$5\hat i$</a:t>
                </a:r>
                <a:r>
                  <a:rPr sz="2400" b="0">
                    <a:solidFill>
                      <a:srgbClr val="111827"/>
                    </a:solidFill>
                    <a:latin typeface="Arial"/>
                  </a:rPr>
                  <a:t> and (D) gives </a:t>
                </a:r>
                <a:r>
                  <a:rPr lang="en-IN" sz="2400">
                    <a:solidFill>
                      <a:srgbClr val="111827"/>
                    </a:solidFill>
                    <a:latin typeface="Cambria Math" panose="02040503050406030204" pitchFamily="18" charset="0"/>
                  </a:rPr>
                  <a:t>$3\hat i$</a:t>
                </a:r>
                <a:r>
                  <a:rPr sz="2400" b="0">
                    <a:solidFill>
                      <a:srgbClr val="111827"/>
                    </a:solidFill>
                    <a:latin typeface="Arial"/>
                  </a:rPr>
                  <a:t>, so (C), (D) are out.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take </a:t>
                </a:r>
                <a:r>
                  <a:rPr lang="en-IN" sz="2400">
                    <a:solidFill>
                      <a:srgbClr val="111827"/>
                    </a:solidFill>
                    <a:latin typeface="Cambria Math" panose="02040503050406030204" pitchFamily="18" charset="0"/>
                  </a:rPr>
                  <a:t>$\vec c=\hat j$</a:t>
                </a:r>
                <a:r>
                  <a:rPr sz="2400" b="0">
                    <a:solidFill>
                      <a:srgbClr val="111827"/>
                    </a:solidFill>
                    <a:latin typeface="Arial"/>
                  </a:rPr>
                  <a:t> with the same </a:t>
                </a:r>
                <a:r>
                  <a:rPr lang="en-IN" sz="2400">
                    <a:solidFill>
                      <a:srgbClr val="111827"/>
                    </a:solidFill>
                    <a:latin typeface="Cambria Math" panose="02040503050406030204" pitchFamily="18" charset="0"/>
                  </a:rPr>
                  <a:t>$\vec a,\vec b$</a:t>
                </a:r>
                <a:r>
                  <a:rPr sz="2400" b="0">
                    <a:solidFill>
                      <a:srgbClr val="111827"/>
                    </a:solidFill>
                    <a:latin typeface="Arial"/>
                  </a:rPr>
                  <a:t>: </a:t>
                </a:r>
                <a:r>
                  <a:rPr lang="en-IN" sz="2400">
                    <a:solidFill>
                      <a:srgbClr val="111827"/>
                    </a:solidFill>
                    <a:latin typeface="Cambria Math" panose="02040503050406030204" pitchFamily="18" charset="0"/>
                  </a:rPr>
                  <a:t>$2x_1\hat i=\hat j+\vec x$</a:t>
                </a:r>
                <a:r>
                  <a:rPr sz="2400" b="0">
                    <a:solidFill>
                      <a:srgbClr val="111827"/>
                    </a:solidFill>
                    <a:latin typeface="Arial"/>
                  </a:rPr>
                  <a:t> gives </a:t>
                </a:r>
                <a:r>
                  <a:rPr lang="en-IN" sz="2400">
                    <a:solidFill>
                      <a:srgbClr val="111827"/>
                    </a:solidFill>
                    <a:latin typeface="Cambria Math" panose="02040503050406030204" pitchFamily="18" charset="0"/>
                  </a:rPr>
                  <a:t>$x_1=0$</a:t>
                </a:r>
                <a:r>
                  <a:rPr sz="2400" b="0">
                    <a:solidFill>
                      <a:srgbClr val="111827"/>
                    </a:solidFill>
                    <a:latin typeface="Arial"/>
                  </a:rPr>
                  <a:t> and </a:t>
                </a:r>
                <a:r>
                  <a:rPr lang="en-IN" sz="2400">
                    <a:solidFill>
                      <a:srgbClr val="111827"/>
                    </a:solidFill>
                    <a:latin typeface="Cambria Math" panose="02040503050406030204" pitchFamily="18" charset="0"/>
                  </a:rPr>
                  <a:t>$\vec x=-\hat j$</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 (B) gives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(wrong sign) while option (A)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(A) survives both tests.</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 (B) gives </a:t>
                </a:r>
                <a:r>
                  <a:rPr lang="en-IN" sz="2400">
                    <a:solidFill>
                      <a:srgbClr val="111827"/>
                    </a:solidFill>
                    <a:latin typeface="Cambria Math" panose="02040503050406030204" pitchFamily="18" charset="0"/>
                  </a:rPr>
                  <a:t>$+\hat j$</a:t>
                </a:r>
                <a:r>
                  <a:rPr sz="2400" b="0">
                    <a:solidFill>
                      <a:srgbClr val="111827"/>
                    </a:solidFill>
                    <a:latin typeface="Arial"/>
                  </a:rPr>
                  <a:t> (wrong sign) while option (A) gives </a:t>
                </a:r>
                <a:r>
                  <a:rPr lang="en-IN" sz="2400">
                    <a:solidFill>
                      <a:srgbClr val="111827"/>
                    </a:solidFill>
                    <a:latin typeface="Cambria Math" panose="02040503050406030204" pitchFamily="18" charset="0"/>
                  </a:rPr>
                  <a:t>$\frac{0\cdot\vec b-\hat j(1)}{1}=-\hat j$</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(A) survives both tests.</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a:t>
            </a:r>
            <a:endParaRPr sz="2800">
              <a:solidFill>
                <a:srgbClr val="15803D"/>
              </a:solidFill>
            </a:endParaRP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equations of the form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dot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first to turn the vector unknown into the scalar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solution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put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back into the definition of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and solve the linear equation for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well-chosen numerical examples (one aligned, one perpendicular component) eliminate wrong vector formulas quickly in an MCQ.</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equations of the form </a:t>
                </a:r>
                <a:r>
                  <a:rPr lang="en-IN" sz="2400">
                    <a:solidFill>
                      <a:srgbClr val="111827"/>
                    </a:solidFill>
                    <a:latin typeface="Cambria Math" panose="02040503050406030204" pitchFamily="18" charset="0"/>
                  </a:rPr>
                  <a:t>$(\vec a\cdot\vec x)\vec b=\vec c+\vec x$</a:t>
                </a:r>
                <a:r>
                  <a:rPr sz="2400" b="0">
                    <a:solidFill>
                      <a:srgbClr val="111827"/>
                    </a:solidFill>
                    <a:latin typeface="Arial"/>
                  </a:rPr>
                  <a:t>, dot with </a:t>
                </a:r>
                <a:r>
                  <a:rPr lang="en-IN" sz="2400">
                    <a:solidFill>
                      <a:srgbClr val="111827"/>
                    </a:solidFill>
                    <a:latin typeface="Cambria Math" panose="02040503050406030204" pitchFamily="18" charset="0"/>
                  </a:rPr>
                  <a:t>$\vec a$</a:t>
                </a:r>
                <a:r>
                  <a:rPr sz="2400" b="0">
                    <a:solidFill>
                      <a:srgbClr val="111827"/>
                    </a:solidFill>
                    <a:latin typeface="Arial"/>
                  </a:rPr>
                  <a:t> first to turn the vector unknown into the scalar </a:t>
                </a:r>
                <a:r>
                  <a:rPr lang="en-IN" sz="2400">
                    <a:solidFill>
                      <a:srgbClr val="111827"/>
                    </a:solidFill>
                    <a:latin typeface="Cambria Math" panose="02040503050406030204" pitchFamily="18" charset="0"/>
                  </a:rPr>
                  <a:t>$\vec a\cdot\vec 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solution of </a:t>
                </a:r>
                <a:r>
                  <a:rPr lang="en-IN" sz="2400">
                    <a:solidFill>
                      <a:srgbClr val="111827"/>
                    </a:solidFill>
                    <a:latin typeface="Cambria Math" panose="02040503050406030204" pitchFamily="18" charset="0"/>
                  </a:rPr>
                  <a:t>$\vec x=k\vec u+\vec v$</a:t>
                </a:r>
                <a:r>
                  <a:rPr sz="2400" b="0">
                    <a:solidFill>
                      <a:srgbClr val="111827"/>
                    </a:solidFill>
                    <a:latin typeface="Arial"/>
                  </a:rPr>
                  <a:t> with </a:t>
                </a:r>
                <a:r>
                  <a:rPr lang="en-IN" sz="2400">
                    <a:solidFill>
                      <a:srgbClr val="111827"/>
                    </a:solidFill>
                    <a:latin typeface="Cambria Math" panose="02040503050406030204" pitchFamily="18" charset="0"/>
                  </a:rPr>
                  <a:t>$k=\vec a\cdot\vec x$</a:t>
                </a:r>
                <a:r>
                  <a:rPr sz="2400" b="0">
                    <a:solidFill>
                      <a:srgbClr val="111827"/>
                    </a:solidFill>
                    <a:latin typeface="Arial"/>
                  </a:rPr>
                  <a:t>: put </a:t>
                </a:r>
                <a:r>
                  <a:rPr lang="en-IN" sz="2400">
                    <a:solidFill>
                      <a:srgbClr val="111827"/>
                    </a:solidFill>
                    <a:latin typeface="Cambria Math" panose="02040503050406030204" pitchFamily="18" charset="0"/>
                  </a:rPr>
                  <a:t>$\vec x$</a:t>
                </a:r>
                <a:r>
                  <a:rPr sz="2400" b="0">
                    <a:solidFill>
                      <a:srgbClr val="111827"/>
                    </a:solidFill>
                    <a:latin typeface="Arial"/>
                  </a:rPr>
                  <a:t> back into the definition of </a:t>
                </a:r>
                <a:r>
                  <a:rPr lang="en-IN" sz="2400">
                    <a:solidFill>
                      <a:srgbClr val="111827"/>
                    </a:solidFill>
                    <a:latin typeface="Cambria Math" panose="02040503050406030204" pitchFamily="18" charset="0"/>
                  </a:rPr>
                  <a:t>$k$</a:t>
                </a:r>
                <a:r>
                  <a:rPr sz="2400" b="0">
                    <a:solidFill>
                      <a:srgbClr val="111827"/>
                    </a:solidFill>
                    <a:latin typeface="Arial"/>
                  </a:rPr>
                  <a:t> and solve the linear equation for </a:t>
                </a:r>
                <a:r>
                  <a:rPr lang="en-IN" sz="2400">
                    <a:solidFill>
                      <a:srgbClr val="111827"/>
                    </a:solidFill>
                    <a:latin typeface="Cambria Math" panose="02040503050406030204" pitchFamily="18" charset="0"/>
                  </a:rPr>
                  <a:t>$k$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well-chosen numerical examples (one aligned, one perpendicular component) eliminate wrong vector formulas quickly in an MCQ.</a:t>
                </a:r>
                <a:endParaRPr sz="2400">
                  <a:solidFill>
                    <a:srgbClr val="111827"/>
                  </a:solidFill>
                </a:endParaRPr>
              </a:p>
            </p:txBody>
          </p:sp>
        </mc:Fallback>
      </mc:AlternateContent>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5590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are three unit vectors and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are the angles between the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respectively and also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are the angles which the unit vector </a:t>
                </a:r>
                <a14:m>
                  <m:oMath xmlns:m="http://schemas.openxmlformats.org/officeDocument/2006/math">
                    <m:r>
                      <a:rPr lang="en-IN" sz="2400" i="1">
                        <a:solidFill>
                          <a:srgbClr val="111827"/>
                        </a:solidFill>
                        <a:latin typeface="Cambria Math" panose="02040503050406030204" pitchFamily="18" charset="0"/>
                      </a:rPr>
                      <m:t>𝑙</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makes with the positive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and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-axis respectively, then the value of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equals: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e>
                    </m:d>
                  </m:oMath>
                </a14:m>
                <a:endParaRPr sz="2400">
                  <a:solidFill>
                    <a:srgbClr val="111827"/>
                  </a:solidFill>
                </a:endParaRPr>
              </a:p>
            </p:txBody>
          </p:sp>
        </mc:Choice>
        <mc:Fallback>
          <p:sp>
            <p:nvSpPr>
              <p:cNvPr id="4" name="Rounded Rectangle 3"/>
              <p:cNvSpPr/>
              <p:nvPr/>
            </p:nvSpPr>
            <p:spPr>
              <a:xfrm>
                <a:off x="731520" y="1280160"/>
                <a:ext cx="10725912" cy="35590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a,\vec b,\vec c$</a:t>
                </a:r>
                <a:r>
                  <a:rPr sz="2400" b="0">
                    <a:solidFill>
                      <a:srgbClr val="111827"/>
                    </a:solidFill>
                    <a:latin typeface="Arial"/>
                  </a:rPr>
                  <a:t> are three unit vectors and </a:t>
                </a:r>
                <a:r>
                  <a:rPr lang="en-IN" sz="2400">
                    <a:solidFill>
                      <a:srgbClr val="111827"/>
                    </a:solidFill>
                    <a:latin typeface="Cambria Math" panose="02040503050406030204" pitchFamily="18" charset="0"/>
                  </a:rPr>
                  <a:t>$\alpha,\beta,\gamma$</a:t>
                </a:r>
                <a:r>
                  <a:rPr sz="2400" b="0">
                    <a:solidFill>
                      <a:srgbClr val="111827"/>
                    </a:solidFill>
                    <a:latin typeface="Arial"/>
                  </a:rPr>
                  <a:t> are the angles between the vectors </a:t>
                </a:r>
                <a:r>
                  <a:rPr lang="en-IN" sz="2400">
                    <a:solidFill>
                      <a:srgbClr val="111827"/>
                    </a:solidFill>
                    <a:latin typeface="Cambria Math" panose="02040503050406030204" pitchFamily="18" charset="0"/>
                  </a:rPr>
                  <a:t>$\vec a;\vec b$</a:t>
                </a:r>
                <a:r>
                  <a:rPr sz="2400" b="0">
                    <a:solidFill>
                      <a:srgbClr val="111827"/>
                    </a:solidFill>
                    <a:latin typeface="Arial"/>
                  </a:rPr>
                  <a:t> ; </a:t>
                </a:r>
                <a:r>
                  <a:rPr lang="en-IN" sz="2400">
                    <a:solidFill>
                      <a:srgbClr val="111827"/>
                    </a:solidFill>
                    <a:latin typeface="Cambria Math" panose="02040503050406030204" pitchFamily="18" charset="0"/>
                  </a:rPr>
                  <a:t>$\vec b;\vec c$</a:t>
                </a:r>
                <a:r>
                  <a:rPr sz="2400" b="0">
                    <a:solidFill>
                      <a:srgbClr val="111827"/>
                    </a:solidFill>
                    <a:latin typeface="Arial"/>
                  </a:rPr>
                  <a:t> ; </a:t>
                </a:r>
                <a:r>
                  <a:rPr lang="en-IN" sz="2400">
                    <a:solidFill>
                      <a:srgbClr val="111827"/>
                    </a:solidFill>
                    <a:latin typeface="Cambria Math" panose="02040503050406030204" pitchFamily="18" charset="0"/>
                  </a:rPr>
                  <a:t>$\vec c;\vec a$</a:t>
                </a:r>
                <a:r>
                  <a:rPr sz="2400" b="0">
                    <a:solidFill>
                      <a:srgbClr val="111827"/>
                    </a:solidFill>
                    <a:latin typeface="Arial"/>
                  </a:rPr>
                  <a:t> respectively and also </a:t>
                </a:r>
                <a:r>
                  <a:rPr lang="en-IN" sz="2400">
                    <a:solidFill>
                      <a:srgbClr val="111827"/>
                    </a:solidFill>
                    <a:latin typeface="Cambria Math" panose="02040503050406030204" pitchFamily="18" charset="0"/>
                  </a:rPr>
                  <a:t>$\alpha,\beta,\gamma$</a:t>
                </a:r>
                <a:r>
                  <a:rPr sz="2400" b="0">
                    <a:solidFill>
                      <a:srgbClr val="111827"/>
                    </a:solidFill>
                    <a:latin typeface="Arial"/>
                  </a:rPr>
                  <a:t> are the angles which the unit vector </a:t>
                </a:r>
                <a:r>
                  <a:rPr lang="en-IN" sz="2400">
                    <a:solidFill>
                      <a:srgbClr val="111827"/>
                    </a:solidFill>
                    <a:latin typeface="Cambria Math" panose="02040503050406030204" pitchFamily="18" charset="0"/>
                  </a:rPr>
                  <a:t>$l\hat i+m\hat j+n\hat k$</a:t>
                </a:r>
                <a:r>
                  <a:rPr sz="2400" b="0">
                    <a:solidFill>
                      <a:srgbClr val="111827"/>
                    </a:solidFill>
                    <a:latin typeface="Arial"/>
                  </a:rPr>
                  <a:t> makes with the positive </a:t>
                </a:r>
                <a:r>
                  <a:rPr lang="en-IN" sz="2400">
                    <a:solidFill>
                      <a:srgbClr val="111827"/>
                    </a:solidFill>
                    <a:latin typeface="Cambria Math" panose="02040503050406030204" pitchFamily="18" charset="0"/>
                  </a:rPr>
                  <a:t>$x$</a:t>
                </a:r>
                <a:r>
                  <a:rPr sz="2400" b="0">
                    <a:solidFill>
                      <a:srgbClr val="111827"/>
                    </a:solidFill>
                    <a:latin typeface="Arial"/>
                  </a:rPr>
                  <a:t>-axis, </a:t>
                </a:r>
                <a:r>
                  <a:rPr lang="en-IN" sz="2400">
                    <a:solidFill>
                      <a:srgbClr val="111827"/>
                    </a:solidFill>
                    <a:latin typeface="Cambria Math" panose="02040503050406030204" pitchFamily="18" charset="0"/>
                  </a:rPr>
                  <a:t>$y$</a:t>
                </a:r>
                <a:r>
                  <a:rPr sz="2400" b="0">
                    <a:solidFill>
                      <a:srgbClr val="111827"/>
                    </a:solidFill>
                    <a:latin typeface="Arial"/>
                  </a:rPr>
                  <a:t>-axis and </a:t>
                </a:r>
                <a:r>
                  <a:rPr lang="en-IN" sz="2400">
                    <a:solidFill>
                      <a:srgbClr val="111827"/>
                    </a:solidFill>
                    <a:latin typeface="Cambria Math" panose="02040503050406030204" pitchFamily="18" charset="0"/>
                  </a:rPr>
                  <a:t>$z$</a:t>
                </a:r>
                <a:r>
                  <a:rPr sz="2400" b="0">
                    <a:solidFill>
                      <a:srgbClr val="111827"/>
                    </a:solidFill>
                    <a:latin typeface="Arial"/>
                  </a:rPr>
                  <a:t>-axis respectively, then the value of </a:t>
                </a:r>
                <a:r>
                  <a:rPr lang="en-IN" sz="2400">
                    <a:solidFill>
                      <a:srgbClr val="111827"/>
                    </a:solidFill>
                    <a:latin typeface="Cambria Math" panose="02040503050406030204" pitchFamily="18" charset="0"/>
                  </a:rPr>
                  <a:t>$|\vec a\times\vec b+\vec b\times\vec c+\vec c\times\vec a|$</a:t>
                </a:r>
                <a:r>
                  <a:rPr sz="2400" b="0">
                    <a:solidFill>
                      <a:srgbClr val="111827"/>
                    </a:solidFill>
                    <a:latin typeface="Arial"/>
                  </a:rPr>
                  <a:t> equals: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$\left|\sum l-1\right|$</a:t>
                </a:r>
                <a:r>
                  <a:rPr sz="2400" b="0">
                    <a:solidFill>
                      <a:srgbClr val="111827"/>
                    </a:solidFill>
                    <a:latin typeface="Arial"/>
                  </a:rPr>
                  <a:t>   (B) </a:t>
                </a:r>
                <a:r>
                  <a:rPr lang="en-IN" sz="2400">
                    <a:solidFill>
                      <a:srgbClr val="111827"/>
                    </a:solidFill>
                    <a:latin typeface="Cambria Math" panose="02040503050406030204" pitchFamily="18" charset="0"/>
                  </a:rPr>
                  <a:t>$2\sum(lm-1)$</a:t>
                </a:r>
                <a:r>
                  <a:rPr sz="2400" b="0">
                    <a:solidFill>
                      <a:srgbClr val="111827"/>
                    </a:solidFill>
                    <a:latin typeface="Arial"/>
                  </a:rPr>
                  <a:t>   (C) </a:t>
                </a:r>
                <a:r>
                  <a:rPr lang="en-IN" sz="2400">
                    <a:solidFill>
                      <a:srgbClr val="111827"/>
                    </a:solidFill>
                    <a:latin typeface="Cambria Math" panose="02040503050406030204" pitchFamily="18" charset="0"/>
                  </a:rPr>
                  <a:t>$-2\sum lm+2\sum l+2$</a:t>
                </a:r>
                <a:r>
                  <a:rPr sz="2400" b="0">
                    <a:solidFill>
                      <a:srgbClr val="111827"/>
                    </a:solidFill>
                    <a:latin typeface="Arial"/>
                  </a:rPr>
                  <a:t>   (D) </a:t>
                </a:r>
                <a:r>
                  <a:rPr lang="en-IN" sz="2400">
                    <a:solidFill>
                      <a:srgbClr val="111827"/>
                    </a:solidFill>
                    <a:latin typeface="Cambria Math" panose="02040503050406030204" pitchFamily="18" charset="0"/>
                  </a:rPr>
                  <a:t>$2\left(1-\sum l/m\right)$</a:t>
                </a:r>
                <a:endParaRPr sz="2400">
                  <a:solidFill>
                    <a:srgbClr val="111827"/>
                  </a:solidFill>
                </a:endParaRPr>
              </a:p>
            </p:txBody>
          </p:sp>
        </mc:Fallback>
      </mc:AlternateContent>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Magnitude of a sum of vector products of unit vectors, Direction cosines of a line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three angles are also direction angles, so </a:t>
                </a:r>
                <a14:m>
                  <m:oMath xmlns:m="http://schemas.openxmlformats.org/officeDocument/2006/math">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𝑙</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β</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γ</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oMath>
                </a14:m>
                <a:r>
                  <a:rPr sz="2400" b="0">
                    <a:solidFill>
                      <a:srgbClr val="78350F"/>
                    </a:solidFill>
                    <a:latin typeface="Arial"/>
                  </a:rPr>
                  <a:t> with </a:t>
                </a:r>
                <a14:m>
                  <m:oMath xmlns:m="http://schemas.openxmlformats.org/officeDocument/2006/math">
                    <m:sSup>
                      <m:e>
                        <m:r>
                          <a:rPr lang="en-IN" sz="2400" i="1">
                            <a:solidFill>
                              <a:srgbClr val="78350F"/>
                            </a:solidFill>
                            <a:latin typeface="Cambria Math" panose="02040503050406030204" pitchFamily="18" charset="0"/>
                          </a:rPr>
                          <m:t>𝑙</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𝑚</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𝑛</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square the magnitude and use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three angles are also direction angles, so </a:t>
                </a:r>
                <a:r>
                  <a:rPr lang="en-IN" sz="2400">
                    <a:solidFill>
                      <a:srgbClr val="78350F"/>
                    </a:solidFill>
                    <a:latin typeface="Cambria Math" panose="02040503050406030204" pitchFamily="18" charset="0"/>
                  </a:rPr>
                  <a:t>$\cos\alpha=l,\cos\beta=m,\cos\gamma=n$</a:t>
                </a:r>
                <a:r>
                  <a:rPr sz="2400" b="0">
                    <a:solidFill>
                      <a:srgbClr val="78350F"/>
                    </a:solidFill>
                    <a:latin typeface="Arial"/>
                  </a:rPr>
                  <a:t> with </a:t>
                </a:r>
                <a:r>
                  <a:rPr lang="en-IN" sz="2400">
                    <a:solidFill>
                      <a:srgbClr val="78350F"/>
                    </a:solidFill>
                    <a:latin typeface="Cambria Math" panose="02040503050406030204" pitchFamily="18" charset="0"/>
                  </a:rPr>
                  <a:t>$l^2+m^2+n^2=1$</a:t>
                </a:r>
                <a:r>
                  <a:rPr sz="2400" b="0">
                    <a:solidFill>
                      <a:srgbClr val="78350F"/>
                    </a:solidFill>
                    <a:latin typeface="Arial"/>
                  </a:rPr>
                  <a:t>; square the magnitude and use </a:t>
                </a:r>
                <a:r>
                  <a:rPr lang="en-IN" sz="2400">
                    <a:solidFill>
                      <a:srgbClr val="78350F"/>
                    </a:solidFill>
                    <a:latin typeface="Cambria Math" panose="02040503050406030204" pitchFamily="18" charset="0"/>
                  </a:rPr>
                  <a:t>$(\vec a\times\vec b)\cdot(\vec b\times\vec c)=\vec a\cdot\vec b\,\vec b\cdot\vec c-\vec a\cdot\vec c$</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are direction angles of a unit vector, </a:t>
                </a:r>
                <a14:m>
                  <m:oMath xmlns:m="http://schemas.openxmlformats.org/officeDocument/2006/math">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$\alpha,\beta,\gamma$</a:t>
                </a:r>
                <a:r>
                  <a:rPr sz="2400" b="0">
                    <a:solidFill>
                      <a:srgbClr val="111827"/>
                    </a:solidFill>
                    <a:latin typeface="Arial"/>
                  </a:rPr>
                  <a:t> are direction angles of a unit vector, </a:t>
                </a:r>
                <a:r>
                  <a:rPr lang="en-IN" sz="2400">
                    <a:solidFill>
                      <a:srgbClr val="111827"/>
                    </a:solidFill>
                    <a:latin typeface="Cambria Math" panose="02040503050406030204" pitchFamily="18" charset="0"/>
                  </a:rPr>
                  <a:t>$l^2+m^2+n^2=1$</a:t>
                </a:r>
                <a:r>
                  <a:rPr sz="2400" b="0">
                    <a:solidFill>
                      <a:srgbClr val="111827"/>
                    </a:solidFill>
                    <a:latin typeface="Arial"/>
                  </a:rPr>
                  <a:t>, and </a:t>
                </a:r>
                <a:r>
                  <a:rPr lang="en-IN" sz="2400">
                    <a:solidFill>
                      <a:srgbClr val="111827"/>
                    </a:solidFill>
                    <a:latin typeface="Cambria Math" panose="02040503050406030204" pitchFamily="18" charset="0"/>
                  </a:rPr>
                  <a:t>$(l+m+n)^2=1+2(lm+mn+nl)$</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a\cdot\vec b=\cos\alpha=l$</a:t>
                </a:r>
                <a:r>
                  <a:rPr sz="2400" b="0">
                    <a:solidFill>
                      <a:srgbClr val="111827"/>
                    </a:solidFill>
                    <a:latin typeface="Arial"/>
                  </a:rPr>
                  <a:t>, </a:t>
                </a:r>
                <a:r>
                  <a:rPr lang="en-IN" sz="2400">
                    <a:solidFill>
                      <a:srgbClr val="111827"/>
                    </a:solidFill>
                    <a:latin typeface="Cambria Math" panose="02040503050406030204" pitchFamily="18" charset="0"/>
                  </a:rPr>
                  <a:t>$\ \vec b\cdot\vec c=\cos\beta=m$</a:t>
                </a:r>
                <a:r>
                  <a:rPr sz="2400" b="0">
                    <a:solidFill>
                      <a:srgbClr val="111827"/>
                    </a:solidFill>
                    <a:latin typeface="Arial"/>
                  </a:rPr>
                  <a:t>, </a:t>
                </a:r>
                <a:r>
                  <a:rPr lang="en-IN" sz="2400">
                    <a:solidFill>
                      <a:srgbClr val="111827"/>
                    </a:solidFill>
                    <a:latin typeface="Cambria Math" panose="02040503050406030204" pitchFamily="18" charset="0"/>
                  </a:rPr>
                  <a:t>$\ \vec c\cdot\vec a=\cos\gamma=n$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γ</m:t>
                    </m:r>
                  </m:oMath>
                </a14:m>
                <a:r>
                  <a:rPr sz="2400" b="0">
                    <a:solidFill>
                      <a:srgbClr val="111827"/>
                    </a:solidFill>
                    <a:latin typeface="Arial"/>
                  </a:rPr>
                  <a:t> and its cyclic forms: </a:t>
                </a:r>
                <a14:m>
                  <m:oMath xmlns:m="http://schemas.openxmlformats.org/officeDocument/2006/math">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b+\vec b\times\vec c+\vec c\times\vec a|^2=|\vec a\times\vec b|^2+|\vec b\times\vec c|^2+|\vec c\times\vec a|^2+2(\vec a\times\vec b)\cdot(\vec b\times\vec c)+2(\vec b\times\vec c)\cdot(\vec c\times\vec a)+2(\vec c\times\vec a)\cdot(\vec a\times\vec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r>
                  <a:rPr lang="en-IN" sz="2400">
                    <a:solidFill>
                      <a:srgbClr val="111827"/>
                    </a:solidFill>
                    <a:latin typeface="Cambria Math" panose="02040503050406030204" pitchFamily="18" charset="0"/>
                  </a:rPr>
                  <a:t>$(\vec a\times\vec b)\cdot(\vec b\times\vec c)=\cos\alpha\cos\beta-\cos\gamma$</a:t>
                </a:r>
                <a:r>
                  <a:rPr sz="2400" b="0">
                    <a:solidFill>
                      <a:srgbClr val="111827"/>
                    </a:solidFill>
                    <a:latin typeface="Arial"/>
                  </a:rPr>
                  <a:t> and its cyclic forms: </a:t>
                </a:r>
                <a:r>
                  <a:rPr lang="en-IN" sz="2400">
                    <a:solidFill>
                      <a:srgbClr val="111827"/>
                    </a:solidFill>
                    <a:latin typeface="Cambria Math" panose="02040503050406030204" pitchFamily="18" charset="0"/>
                  </a:rPr>
                  <a:t>$=\sin^2\alpha+\sin^2\beta+\sin^2\gamma+2[\cos\alpha\cos\beta+\cos\beta\cos\gamma+\cos\gamma\cos\alpha-\cos\alpha-\cos\beta-\cos\gamma]$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$=3-(l^2+m^2+n^2)+2(lm+mn+nl)-2(l+m+n)$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using </a:t>
                </a:r>
                <a14:m>
                  <m:oMath xmlns:m="http://schemas.openxmlformats.org/officeDocument/2006/math">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PDF prints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sign slip).</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the required magnitude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$=2+2(lm+mn+nl)-2(l+m+n)$</a:t>
                </a:r>
                <a:r>
                  <a:rPr sz="2400" b="0">
                    <a:solidFill>
                      <a:srgbClr val="111827"/>
                    </a:solidFill>
                    <a:latin typeface="Arial"/>
                  </a:rPr>
                  <a:t> using </a:t>
                </a:r>
                <a:r>
                  <a:rPr lang="en-IN" sz="2400">
                    <a:solidFill>
                      <a:srgbClr val="111827"/>
                    </a:solidFill>
                    <a:latin typeface="Cambria Math" panose="02040503050406030204" pitchFamily="18" charset="0"/>
                  </a:rPr>
                  <a:t>$l^2+m^2+n^2=1$</a:t>
                </a:r>
                <a:r>
                  <a:rPr sz="2400" b="0">
                    <a:solidFill>
                      <a:srgbClr val="111827"/>
                    </a:solidFill>
                    <a:latin typeface="Arial"/>
                  </a:rPr>
                  <a:t> (the PDF prints </a:t>
                </a:r>
                <a:r>
                  <a:rPr lang="en-IN" sz="2400">
                    <a:solidFill>
                      <a:srgbClr val="111827"/>
                    </a:solidFill>
                    <a:latin typeface="Cambria Math" panose="02040503050406030204" pitchFamily="18" charset="0"/>
                  </a:rPr>
                  <a:t>$2-2(lm+mn+nl)-\ldots$</a:t>
                </a:r>
                <a:r>
                  <a:rPr sz="2400" b="0">
                    <a:solidFill>
                      <a:srgbClr val="111827"/>
                    </a:solidFill>
                    <a:latin typeface="Arial"/>
                  </a:rPr>
                  <a:t>, a sign slip).</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$=1+\left[1+2(lm+mn+nl)\right]-2(l+m+n)=1+(l+m+n)^2-2(l+m+n)$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$=(1-\sum l)^2$</a:t>
                </a:r>
                <a:r>
                  <a:rPr sz="2400" b="0">
                    <a:solidFill>
                      <a:srgbClr val="111827"/>
                    </a:solidFill>
                    <a:latin typeface="Arial"/>
                  </a:rPr>
                  <a:t>, so the required magnitude is </a:t>
                </a:r>
                <a:r>
                  <a:rPr lang="en-IN" sz="2400">
                    <a:solidFill>
                      <a:srgbClr val="111827"/>
                    </a:solidFill>
                    <a:latin typeface="Cambria Math" panose="02040503050406030204" pitchFamily="18" charset="0"/>
                  </a:rPr>
                  <a:t>$\left|\sum l-1\right|$</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d>
                      <m:dPr>
                        <m:begChr m:val="|"/>
                        <m:sepChr m:val=""/>
                        <m:endChr m:val="|"/>
                        <m:grow/>
                        <m:ctrlPr>
                          <a:rPr lang="en-IN" sz="2800" i="1">
                            <a:solidFill>
                              <a:srgbClr val="15803D"/>
                            </a:solidFill>
                            <a:latin typeface="Cambria Math" panose="02040503050406030204" pitchFamily="18" charset="0"/>
                          </a:rPr>
                        </m:ctrlPr>
                      </m:dPr>
                      <m:e>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𝑙</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e>
                    </m:d>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$\left|\sum l-1\right|$</a:t>
                </a:r>
                <a:endParaRPr sz="2800">
                  <a:solidFill>
                    <a:srgbClr val="15803D"/>
                  </a:solidFill>
                </a:endParaRPr>
              </a:p>
            </p:txBody>
          </p:sp>
        </mc:Fallback>
      </mc:AlternateContent>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i.e. twice the vector area of the triangle with vertices at the tips of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lang="en-IN" sz="2400">
                    <a:solidFill>
                      <a:srgbClr val="78350F"/>
                    </a:solidFill>
                    <a:latin typeface="Cambria Math" panose="02040503050406030204" pitchFamily="18" charset="0"/>
                  </a:rPr>
                  <a:t>$\vec a\times\vec b+\vec b\times\vec c+\vec c\times\vec a=(\vec a-\vec c)\times(\vec b-\vec c)$</a:t>
                </a:r>
                <a:r>
                  <a:rPr sz="2400" b="0">
                    <a:solidFill>
                      <a:srgbClr val="78350F"/>
                    </a:solidFill>
                    <a:latin typeface="Arial"/>
                  </a:rPr>
                  <a:t>, i.e. twice the vector area of the triangle with vertices at the tips of </a:t>
                </a:r>
                <a:r>
                  <a:rPr lang="en-IN" sz="2400">
                    <a:solidFill>
                      <a:srgbClr val="78350F"/>
                    </a:solidFill>
                    <a:latin typeface="Cambria Math" panose="02040503050406030204" pitchFamily="18" charset="0"/>
                  </a:rPr>
                  <a:t>$\vec a,\vec b,\vec c$</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Expand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required modulus is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area of the triangle whose vertices are the tips of the three unit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Lagrange's identity: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Expand </a:t>
                </a:r>
                <a:r>
                  <a:rPr lang="en-IN" sz="2400">
                    <a:solidFill>
                      <a:srgbClr val="111827"/>
                    </a:solidFill>
                    <a:latin typeface="Cambria Math" panose="02040503050406030204" pitchFamily="18" charset="0"/>
                  </a:rPr>
                  <a:t>$(\vec a-\vec c)\times(\vec b-\vec c)=\vec a\times\vec b-\vec a\times\vec c-\vec c\times\vec b+\vec c\times\vec c=\vec a\times\vec b+\vec c\times\vec a+\vec b\times\vec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required modulus is </a:t>
                </a:r>
                <a:r>
                  <a:rPr lang="en-IN" sz="2400">
                    <a:solidFill>
                      <a:srgbClr val="111827"/>
                    </a:solidFill>
                    <a:latin typeface="Cambria Math" panose="02040503050406030204" pitchFamily="18" charset="0"/>
                  </a:rPr>
                  <a:t>$2\times$</a:t>
                </a:r>
                <a:r>
                  <a:rPr sz="2400" b="0">
                    <a:solidFill>
                      <a:srgbClr val="111827"/>
                    </a:solidFill>
                    <a:latin typeface="Arial"/>
                  </a:rPr>
                  <a:t> area of the triangle whose vertices are the tips of the three unit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$\vec a\cdot\vec b=l,\ \vec b\cdot\vec c=m,\ \vec c\cdot\vec a=n$</a:t>
                </a:r>
                <a:r>
                  <a:rPr sz="2400" b="0">
                    <a:solidFill>
                      <a:srgbClr val="111827"/>
                    </a:solidFill>
                    <a:latin typeface="Arial"/>
                  </a:rPr>
                  <a:t>: </a:t>
                </a:r>
                <a:r>
                  <a:rPr lang="en-IN" sz="2400">
                    <a:solidFill>
                      <a:srgbClr val="111827"/>
                    </a:solidFill>
                    <a:latin typeface="Cambria Math" panose="02040503050406030204" pitchFamily="18" charset="0"/>
                  </a:rPr>
                  <a:t>$|\vec a-\vec c|^2=2-2n$</a:t>
                </a:r>
                <a:r>
                  <a:rPr sz="2400" b="0">
                    <a:solidFill>
                      <a:srgbClr val="111827"/>
                    </a:solidFill>
                    <a:latin typeface="Arial"/>
                  </a:rPr>
                  <a:t>, </a:t>
                </a:r>
                <a:r>
                  <a:rPr lang="en-IN" sz="2400">
                    <a:solidFill>
                      <a:srgbClr val="111827"/>
                    </a:solidFill>
                    <a:latin typeface="Cambria Math" panose="02040503050406030204" pitchFamily="18" charset="0"/>
                  </a:rPr>
                  <a:t>$|\vec b-\vec c|^2=2-2m$</a:t>
                </a:r>
                <a:r>
                  <a:rPr sz="2400" b="0">
                    <a:solidFill>
                      <a:srgbClr val="111827"/>
                    </a:solidFill>
                    <a:latin typeface="Arial"/>
                  </a:rPr>
                  <a:t> and </a:t>
                </a:r>
                <a:r>
                  <a:rPr lang="en-IN" sz="2400">
                    <a:solidFill>
                      <a:srgbClr val="111827"/>
                    </a:solidFill>
                    <a:latin typeface="Cambria Math" panose="02040503050406030204" pitchFamily="18" charset="0"/>
                  </a:rPr>
                  <a:t>$(\vec a-\vec c)\cdot(\vec b-\vec c)=1+l-m-n$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Lagrange's identity: </a:t>
                </a:r>
                <a:r>
                  <a:rPr lang="en-IN" sz="2400">
                    <a:solidFill>
                      <a:srgbClr val="111827"/>
                    </a:solidFill>
                    <a:latin typeface="Cambria Math" panose="02040503050406030204" pitchFamily="18" charset="0"/>
                  </a:rPr>
                  <a:t>$|\vec u\times\vec v|^2=|\vec u|^2|\vec v|^2-(\vec u\cdot\vec v)^2=(2-2n)(2-2m)-(1+l-m-n)^2$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Expanding and using </a:t>
                </a:r>
                <a14:m>
                  <m:oMath xmlns:m="http://schemas.openxmlformats.org/officeDocument/2006/math">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this equals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it becomes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Expanding and using </a:t>
                </a:r>
                <a:r>
                  <a:rPr lang="en-IN" sz="2400">
                    <a:solidFill>
                      <a:srgbClr val="111827"/>
                    </a:solidFill>
                    <a:latin typeface="Cambria Math" panose="02040503050406030204" pitchFamily="18" charset="0"/>
                  </a:rPr>
                  <a:t>$l^2+m^2+n^2=1$</a:t>
                </a:r>
                <a:r>
                  <a:rPr sz="2400" b="0">
                    <a:solidFill>
                      <a:srgbClr val="111827"/>
                    </a:solidFill>
                    <a:latin typeface="Arial"/>
                  </a:rPr>
                  <a:t>, this equals </a:t>
                </a:r>
                <a:r>
                  <a:rPr lang="en-IN" sz="2400">
                    <a:solidFill>
                      <a:srgbClr val="111827"/>
                    </a:solidFill>
                    <a:latin typeface="Cambria Math" panose="02040503050406030204" pitchFamily="18" charset="0"/>
                  </a:rPr>
                  <a:t>$2+2(lm+mn+nl)-2(l+m+n)$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$2(lm+mn+nl)=(l+m+n)^2-1$</a:t>
                </a:r>
                <a:r>
                  <a:rPr sz="2400" b="0">
                    <a:solidFill>
                      <a:srgbClr val="111827"/>
                    </a:solidFill>
                    <a:latin typeface="Arial"/>
                  </a:rPr>
                  <a:t>, it becomes </a:t>
                </a:r>
                <a:r>
                  <a:rPr lang="en-IN" sz="2400">
                    <a:solidFill>
                      <a:srgbClr val="111827"/>
                    </a:solidFill>
                    <a:latin typeface="Cambria Math" panose="02040503050406030204" pitchFamily="18" charset="0"/>
                  </a:rPr>
                  <a:t>$(l+m+n)^2-2(l+m+n)+1=\left(\sum l-1\right)^2$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$|\ldots|=\left|\sum l-1\right|$</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d>
                      <m:dPr>
                        <m:begChr m:val="|"/>
                        <m:sepChr m:val=""/>
                        <m:endChr m:val="|"/>
                        <m:grow/>
                        <m:ctrlPr>
                          <a:rPr lang="en-IN" sz="2800" i="1">
                            <a:solidFill>
                              <a:srgbClr val="15803D"/>
                            </a:solidFill>
                            <a:latin typeface="Cambria Math" panose="02040503050406030204" pitchFamily="18" charset="0"/>
                          </a:rPr>
                        </m:ctrlPr>
                      </m:dPr>
                      <m:e>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𝑙</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e>
                    </m:d>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$\left|\sum l-1\right|$</a:t>
                </a:r>
                <a:endParaRPr sz="2800">
                  <a:solidFill>
                    <a:srgbClr val="15803D"/>
                  </a:solidFill>
                </a:endParaRPr>
              </a:p>
            </p:txBody>
          </p:sp>
        </mc:Fallback>
      </mc:AlternateContent>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twice the vector area of the triangle on the tips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it is zero iff the three tips are collinear.</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(Lagrange's identity).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direction angles of a line satisfy </a:t>
                </a:r>
                <a14:m>
                  <m:oMath xmlns:m="http://schemas.openxmlformats.org/officeDocument/2006/math">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here this is the hidden condition that makes the answer collapse to one expression.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Quick check by special case: </a:t>
                </a:r>
                <a14:m>
                  <m:oMath xmlns:m="http://schemas.openxmlformats.org/officeDocument/2006/math">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gives modulus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which eliminates options (B), (C), (D).</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b+\vec b\times\vec c+\vec c\times\vec a=(\vec a-\vec c)\times(\vec b-\vec c)$</a:t>
                </a:r>
                <a:r>
                  <a:rPr sz="2400" b="0">
                    <a:solidFill>
                      <a:srgbClr val="111827"/>
                    </a:solidFill>
                    <a:latin typeface="Arial"/>
                  </a:rPr>
                  <a:t>: twice the vector area of the triangle on the tips of </a:t>
                </a:r>
                <a:r>
                  <a:rPr lang="en-IN" sz="2400">
                    <a:solidFill>
                      <a:srgbClr val="111827"/>
                    </a:solidFill>
                    <a:latin typeface="Cambria Math" panose="02040503050406030204" pitchFamily="18" charset="0"/>
                  </a:rPr>
                  <a:t>$\vec a,\vec b,\vec c$</a:t>
                </a:r>
                <a:r>
                  <a:rPr sz="2400" b="0">
                    <a:solidFill>
                      <a:srgbClr val="111827"/>
                    </a:solidFill>
                    <a:latin typeface="Arial"/>
                  </a:rPr>
                  <a:t>; it is zero iff the three tips are collinear.</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b)\cdot(\vec c\times\vec d)=(\vec a\cdot\vec c)(\vec b\cdot\vec d)-(\vec a\cdot\vec d)(\vec b\cdot\vec c)$</a:t>
                </a:r>
                <a:r>
                  <a:rPr sz="2400" b="0">
                    <a:solidFill>
                      <a:srgbClr val="111827"/>
                    </a:solidFill>
                    <a:latin typeface="Arial"/>
                  </a:rPr>
                  <a:t> (Lagrange's identity).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direction angles of a line satisfy </a:t>
                </a:r>
                <a:r>
                  <a:rPr lang="en-IN" sz="2400">
                    <a:solidFill>
                      <a:srgbClr val="111827"/>
                    </a:solidFill>
                    <a:latin typeface="Cambria Math" panose="02040503050406030204" pitchFamily="18" charset="0"/>
                  </a:rPr>
                  <a:t>$\cos^2\alpha+\cos^2\beta+\cos^2\gamma=1$</a:t>
                </a:r>
                <a:r>
                  <a:rPr sz="2400" b="0">
                    <a:solidFill>
                      <a:srgbClr val="111827"/>
                    </a:solidFill>
                    <a:latin typeface="Arial"/>
                  </a:rPr>
                  <a:t>; here this is the hidden condition that makes the answer collapse to one expression.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Quick check by special case: </a:t>
                </a:r>
                <a:r>
                  <a:rPr lang="en-IN" sz="2400">
                    <a:solidFill>
                      <a:srgbClr val="111827"/>
                    </a:solidFill>
                    <a:latin typeface="Cambria Math" panose="02040503050406030204" pitchFamily="18" charset="0"/>
                  </a:rPr>
                  <a:t>$l=1,m=n=0$</a:t>
                </a:r>
                <a:r>
                  <a:rPr sz="2400" b="0">
                    <a:solidFill>
                      <a:srgbClr val="111827"/>
                    </a:solidFill>
                    <a:latin typeface="Arial"/>
                  </a:rPr>
                  <a:t> (i.e. </a:t>
                </a:r>
                <a:r>
                  <a:rPr lang="en-IN" sz="2400">
                    <a:solidFill>
                      <a:srgbClr val="111827"/>
                    </a:solidFill>
                    <a:latin typeface="Cambria Math" panose="02040503050406030204" pitchFamily="18" charset="0"/>
                  </a:rPr>
                  <a:t>$\vec a=\vec b\perp\vec c$</a:t>
                </a:r>
                <a:r>
                  <a:rPr sz="2400" b="0">
                    <a:solidFill>
                      <a:srgbClr val="111827"/>
                    </a:solidFill>
                    <a:latin typeface="Arial"/>
                  </a:rPr>
                  <a:t>) gives modulus </a:t>
                </a:r>
                <a:r>
                  <a:rPr lang="en-IN" sz="2400">
                    <a:solidFill>
                      <a:srgbClr val="111827"/>
                    </a:solidFill>
                    <a:latin typeface="Cambria Math" panose="02040503050406030204" pitchFamily="18" charset="0"/>
                  </a:rPr>
                  <a:t>$0=|1-1|$</a:t>
                </a:r>
                <a:r>
                  <a:rPr sz="2400" b="0">
                    <a:solidFill>
                      <a:srgbClr val="111827"/>
                    </a:solidFill>
                    <a:latin typeface="Arial"/>
                  </a:rPr>
                  <a:t>, which eliminates options (B), (C), (D).</a:t>
                </a:r>
                <a:endParaRPr sz="2400">
                  <a:solidFill>
                    <a:srgbClr val="111827"/>
                  </a:solidFill>
                </a:endParaRPr>
              </a:p>
            </p:txBody>
          </p:sp>
        </mc:Fallback>
      </mc:AlternateContent>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9921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bisects the circumference of the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If the lines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λ</m:t>
                        </m:r>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λ</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1</m:t>
                        </m:r>
                      </m:den>
                    </m:f>
                  </m:oMath>
                </a14:m>
                <a:r>
                  <a:rPr sz="2400" b="0">
                    <a:solidFill>
                      <a:srgbClr val="111827"/>
                    </a:solidFill>
                    <a:latin typeface="Arial"/>
                  </a:rPr>
                  <a:t> intersect, then the value of </a:t>
                </a:r>
                <a14:m>
                  <m:oMath xmlns:m="http://schemas.openxmlformats.org/officeDocument/2006/math">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λ</m:t>
                    </m:r>
                  </m:oMath>
                </a14:m>
                <a:r>
                  <a:rPr sz="2400" b="0">
                    <a:solidFill>
                      <a:srgbClr val="111827"/>
                    </a:solidFill>
                    <a:latin typeface="Arial"/>
                  </a:rPr>
                  <a:t> is (where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is equal to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0</m:t>
                    </m:r>
                  </m:oMath>
                </a14:m>
                <a:endParaRPr sz="2400">
                  <a:solidFill>
                    <a:srgbClr val="111827"/>
                  </a:solidFill>
                </a:endParaRPr>
              </a:p>
            </p:txBody>
          </p:sp>
        </mc:Choice>
        <mc:Fallback>
          <p:sp>
            <p:nvSpPr>
              <p:cNvPr id="4" name="Rounded Rectangle 3"/>
              <p:cNvSpPr/>
              <p:nvPr/>
            </p:nvSpPr>
            <p:spPr>
              <a:xfrm>
                <a:off x="731520" y="1280160"/>
                <a:ext cx="10725912" cy="29921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circle </a:t>
                </a:r>
                <a:r>
                  <a:rPr lang="en-IN" sz="2400">
                    <a:solidFill>
                      <a:srgbClr val="111827"/>
                    </a:solidFill>
                    <a:latin typeface="Cambria Math" panose="02040503050406030204" pitchFamily="18" charset="0"/>
                  </a:rPr>
                  <a:t>$x^2+y^2+4x+22y+c=0$</a:t>
                </a:r>
                <a:r>
                  <a:rPr sz="2400" b="0">
                    <a:solidFill>
                      <a:srgbClr val="111827"/>
                    </a:solidFill>
                    <a:latin typeface="Arial"/>
                  </a:rPr>
                  <a:t> bisects the circumference of the circle </a:t>
                </a:r>
                <a:r>
                  <a:rPr lang="en-IN" sz="2400">
                    <a:solidFill>
                      <a:srgbClr val="111827"/>
                    </a:solidFill>
                    <a:latin typeface="Cambria Math" panose="02040503050406030204" pitchFamily="18" charset="0"/>
                  </a:rPr>
                  <a:t>$x^2+y^2-2x+8y-d=0$</a:t>
                </a:r>
                <a:r>
                  <a:rPr sz="2400" b="0">
                    <a:solidFill>
                      <a:srgbClr val="111827"/>
                    </a:solidFill>
                    <a:latin typeface="Arial"/>
                  </a:rPr>
                  <a:t>. If the lines </a:t>
                </a:r>
                <a:r>
                  <a:rPr lang="en-IN" sz="2400">
                    <a:solidFill>
                      <a:srgbClr val="111827"/>
                    </a:solidFill>
                    <a:latin typeface="Cambria Math" panose="02040503050406030204" pitchFamily="18" charset="0"/>
                  </a:rPr>
                  <a:t>$\frac{x-2}{1}=\frac{y-3}{1}=\frac{4-z}{\lambda}$</a:t>
                </a:r>
                <a:r>
                  <a:rPr sz="2400" b="0">
                    <a:solidFill>
                      <a:srgbClr val="111827"/>
                    </a:solidFill>
                    <a:latin typeface="Arial"/>
                  </a:rPr>
                  <a:t> and </a:t>
                </a:r>
                <a:r>
                  <a:rPr lang="en-IN" sz="2400">
                    <a:solidFill>
                      <a:srgbClr val="111827"/>
                    </a:solidFill>
                    <a:latin typeface="Cambria Math" panose="02040503050406030204" pitchFamily="18" charset="0"/>
                  </a:rPr>
                  <a:t>$\frac{x-1}{\lambda}=\frac{y-4}{2}=\frac{z-\alpha}{1}$</a:t>
                </a:r>
                <a:r>
                  <a:rPr sz="2400" b="0">
                    <a:solidFill>
                      <a:srgbClr val="111827"/>
                    </a:solidFill>
                    <a:latin typeface="Arial"/>
                  </a:rPr>
                  <a:t> intersect, then the value of </a:t>
                </a:r>
                <a:r>
                  <a:rPr lang="en-IN" sz="2400">
                    <a:solidFill>
                      <a:srgbClr val="111827"/>
                    </a:solidFill>
                    <a:latin typeface="Cambria Math" panose="02040503050406030204" pitchFamily="18" charset="0"/>
                  </a:rPr>
                  <a:t>$\alpha\lambda$</a:t>
                </a:r>
                <a:r>
                  <a:rPr sz="2400" b="0">
                    <a:solidFill>
                      <a:srgbClr val="111827"/>
                    </a:solidFill>
                    <a:latin typeface="Arial"/>
                  </a:rPr>
                  <a:t> is (where </a:t>
                </a:r>
                <a:r>
                  <a:rPr lang="en-IN" sz="2400">
                    <a:solidFill>
                      <a:srgbClr val="111827"/>
                    </a:solidFill>
                    <a:latin typeface="Cambria Math" panose="02040503050406030204" pitchFamily="18" charset="0"/>
                  </a:rPr>
                  <a:t>$\alpha$</a:t>
                </a:r>
                <a:r>
                  <a:rPr sz="2400" b="0">
                    <a:solidFill>
                      <a:srgbClr val="111827"/>
                    </a:solidFill>
                    <a:latin typeface="Arial"/>
                  </a:rPr>
                  <a:t> is equal to </a:t>
                </a:r>
                <a:r>
                  <a:rPr lang="en-IN" sz="2400">
                    <a:solidFill>
                      <a:srgbClr val="111827"/>
                    </a:solidFill>
                    <a:latin typeface="Cambria Math" panose="02040503050406030204" pitchFamily="18" charset="0"/>
                  </a:rPr>
                  <a:t>$\frac{c+d}{10}$</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$2$</a:t>
                </a:r>
                <a:r>
                  <a:rPr sz="2400" b="0">
                    <a:solidFill>
                      <a:srgbClr val="111827"/>
                    </a:solidFill>
                    <a:latin typeface="Arial"/>
                  </a:rPr>
                  <a:t>   (C) </a:t>
                </a:r>
                <a:r>
                  <a:rPr lang="en-IN" sz="2400">
                    <a:solidFill>
                      <a:srgbClr val="111827"/>
                    </a:solidFill>
                    <a:latin typeface="Cambria Math" panose="02040503050406030204" pitchFamily="18" charset="0"/>
                  </a:rPr>
                  <a:t>$\frac12$</a:t>
                </a:r>
                <a:r>
                  <a:rPr sz="2400" b="0">
                    <a:solidFill>
                      <a:srgbClr val="111827"/>
                    </a:solidFill>
                    <a:latin typeface="Arial"/>
                  </a:rPr>
                  <a:t>   (D) </a:t>
                </a:r>
                <a:r>
                  <a:rPr lang="en-IN" sz="2400">
                    <a:solidFill>
                      <a:srgbClr val="111827"/>
                    </a:solidFill>
                    <a:latin typeface="Cambria Math" panose="02040503050406030204" pitchFamily="18" charset="0"/>
                  </a:rPr>
                  <a:t>$0$</a:t>
                </a:r>
                <a:endParaRPr sz="2400">
                  <a:solidFill>
                    <a:srgbClr val="111827"/>
                  </a:solidFill>
                </a:endParaRPr>
              </a:p>
            </p:txBody>
          </p:sp>
        </mc:Fallback>
      </mc:AlternateContent>
      <p:sp>
        <p:nvSpPr>
          <p:cNvPr id="5" name="Rectangle 4"/>
          <p:cNvSpPr/>
          <p:nvPr/>
        </p:nvSpPr>
        <p:spPr>
          <a:xfrm>
            <a:off x="731520" y="4500879"/>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Common chord of two circles that bisects the circumference of one, Intersection (coplanarity) of two lines in 3D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common chord is a diameter of the second circle, so it passes through its centre; then intersecting lines are coplanar: </a:t>
                </a:r>
                <a14:m>
                  <m:oMath xmlns:m="http://schemas.openxmlformats.org/officeDocument/2006/math">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𝑃</m:t>
                            </m:r>
                          </m:e>
                        </m:acc>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𝑃</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common chord is a diameter of the second circle, so it passes through its centre; then intersecting lines are coplanar: </a:t>
                </a:r>
                <a:r>
                  <a:rPr lang="en-IN" sz="2400">
                    <a:solidFill>
                      <a:srgbClr val="78350F"/>
                    </a:solidFill>
                    <a:latin typeface="Cambria Math" panose="02040503050406030204" pitchFamily="18" charset="0"/>
                  </a:rPr>
                  <a:t>$(\vec P_2-\vec P_1)\cdot(\vec d_1\times\vec d_2)=0$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first circle bisects the circumference of the second, so their common chord is a diameter of the second circle and passes through its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Common chord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Passing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num>
                      <m:den>
                        <m:r>
                          <a:rPr lang="en-IN" sz="2400" i="1">
                            <a:solidFill>
                              <a:srgbClr val="111827"/>
                            </a:solidFill>
                            <a:latin typeface="Cambria Math" panose="02040503050406030204" pitchFamily="18" charset="0"/>
                          </a:rPr>
                          <m:t>10</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(the PDF writes this value as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 slip of notation).</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first circle bisects the circumference of the second, so their common chord is a diameter of the second circle and passes through its centre </a:t>
                </a:r>
                <a:r>
                  <a:rPr lang="en-IN" sz="2400">
                    <a:solidFill>
                      <a:srgbClr val="111827"/>
                    </a:solidFill>
                    <a:latin typeface="Cambria Math" panose="02040503050406030204" pitchFamily="18" charset="0"/>
                  </a:rPr>
                  <a:t>$(1,-4)$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Common chord </a:t>
                </a:r>
                <a:r>
                  <a:rPr lang="en-IN" sz="2400">
                    <a:solidFill>
                      <a:srgbClr val="111827"/>
                    </a:solidFill>
                    <a:latin typeface="Cambria Math" panose="02040503050406030204" pitchFamily="18" charset="0"/>
                  </a:rPr>
                  <a:t>$S_1-S_2=0$</a:t>
                </a:r>
                <a:r>
                  <a:rPr sz="2400" b="0">
                    <a:solidFill>
                      <a:srgbClr val="111827"/>
                    </a:solidFill>
                    <a:latin typeface="Arial"/>
                  </a:rPr>
                  <a:t>: </a:t>
                </a:r>
                <a:r>
                  <a:rPr lang="en-IN" sz="2400">
                    <a:solidFill>
                      <a:srgbClr val="111827"/>
                    </a:solidFill>
                    <a:latin typeface="Cambria Math" panose="02040503050406030204" pitchFamily="18" charset="0"/>
                  </a:rPr>
                  <a:t>$6x+14y+c+d=0$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Passing through </a:t>
                </a:r>
                <a:r>
                  <a:rPr lang="en-IN" sz="2400">
                    <a:solidFill>
                      <a:srgbClr val="111827"/>
                    </a:solidFill>
                    <a:latin typeface="Cambria Math" panose="02040503050406030204" pitchFamily="18" charset="0"/>
                  </a:rPr>
                  <a:t>$(1,-4)$</a:t>
                </a:r>
                <a:r>
                  <a:rPr sz="2400" b="0">
                    <a:solidFill>
                      <a:srgbClr val="111827"/>
                    </a:solidFill>
                    <a:latin typeface="Arial"/>
                  </a:rPr>
                  <a:t>: </a:t>
                </a:r>
                <a:r>
                  <a:rPr lang="en-IN" sz="2400">
                    <a:solidFill>
                      <a:srgbClr val="111827"/>
                    </a:solidFill>
                    <a:latin typeface="Cambria Math" panose="02040503050406030204" pitchFamily="18" charset="0"/>
                  </a:rPr>
                  <a:t>$6-56+c+d=0\Rightarrow c+d=50$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$\alpha=\frac{c+d}{10}=5$</a:t>
                </a:r>
                <a:r>
                  <a:rPr sz="2400" b="0">
                    <a:solidFill>
                      <a:srgbClr val="111827"/>
                    </a:solidFill>
                    <a:latin typeface="Arial"/>
                  </a:rPr>
                  <a:t> (the PDF writes this value as '</a:t>
                </a:r>
                <a:r>
                  <a:rPr lang="en-IN" sz="2400">
                    <a:solidFill>
                      <a:srgbClr val="111827"/>
                    </a:solidFill>
                    <a:latin typeface="Cambria Math" panose="02040503050406030204" pitchFamily="18" charset="0"/>
                  </a:rPr>
                  <a:t>$\lambda=5$</a:t>
                </a:r>
                <a:r>
                  <a:rPr sz="2400" b="0">
                    <a:solidFill>
                      <a:srgbClr val="111827"/>
                    </a:solidFill>
                    <a:latin typeface="Arial"/>
                  </a:rPr>
                  <a:t>', a slip of notation).</a:t>
                </a:r>
                <a:endParaRPr sz="2400">
                  <a:solidFill>
                    <a:srgbClr val="111827"/>
                  </a:solidFill>
                </a:endParaRPr>
              </a:p>
            </p:txBody>
          </p:sp>
        </mc:Fallback>
      </mc:AlternateContent>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lines pass through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direction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direction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They intersect, so </a:t>
                </a:r>
                <a14:m>
                  <m:oMath xmlns:m="http://schemas.openxmlformats.org/officeDocument/2006/math">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e>
                          </m:mr>
                          <m:mr>
                            <m:e>
                              <m:r>
                                <a:rPr lang="en-IN" sz="2400" i="1">
                                  <a:solidFill>
                                    <a:srgbClr val="111827"/>
                                  </a:solidFill>
                                  <a:latin typeface="Cambria Math" panose="02040503050406030204" pitchFamily="18" charset="0"/>
                                </a:rPr>
                                <m:t>λ</m:t>
                              </m:r>
                            </m:e>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1</m:t>
                              </m:r>
                            </m:e>
                          </m:mr>
                        </m:m>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Only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is among the options, so the answer is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lines pass through </a:t>
                </a:r>
                <a:r>
                  <a:rPr lang="en-IN" sz="2400">
                    <a:solidFill>
                      <a:srgbClr val="111827"/>
                    </a:solidFill>
                    <a:latin typeface="Cambria Math" panose="02040503050406030204" pitchFamily="18" charset="0"/>
                  </a:rPr>
                  <a:t>$P_1(2,3,4)$</a:t>
                </a:r>
                <a:r>
                  <a:rPr sz="2400" b="0">
                    <a:solidFill>
                      <a:srgbClr val="111827"/>
                    </a:solidFill>
                    <a:latin typeface="Arial"/>
                  </a:rPr>
                  <a:t> with direction </a:t>
                </a:r>
                <a:r>
                  <a:rPr lang="en-IN" sz="2400">
                    <a:solidFill>
                      <a:srgbClr val="111827"/>
                    </a:solidFill>
                    <a:latin typeface="Cambria Math" panose="02040503050406030204" pitchFamily="18" charset="0"/>
                  </a:rPr>
                  <a:t>$(1,1,-\lambda)$</a:t>
                </a:r>
                <a:r>
                  <a:rPr sz="2400" b="0">
                    <a:solidFill>
                      <a:srgbClr val="111827"/>
                    </a:solidFill>
                    <a:latin typeface="Arial"/>
                  </a:rPr>
                  <a:t> and </a:t>
                </a:r>
                <a:r>
                  <a:rPr lang="en-IN" sz="2400">
                    <a:solidFill>
                      <a:srgbClr val="111827"/>
                    </a:solidFill>
                    <a:latin typeface="Cambria Math" panose="02040503050406030204" pitchFamily="18" charset="0"/>
                  </a:rPr>
                  <a:t>$P_2(1,4,5)$</a:t>
                </a:r>
                <a:r>
                  <a:rPr sz="2400" b="0">
                    <a:solidFill>
                      <a:srgbClr val="111827"/>
                    </a:solidFill>
                    <a:latin typeface="Arial"/>
                  </a:rPr>
                  <a:t> with direction </a:t>
                </a:r>
                <a:r>
                  <a:rPr lang="en-IN" sz="2400">
                    <a:solidFill>
                      <a:srgbClr val="111827"/>
                    </a:solidFill>
                    <a:latin typeface="Cambria Math" panose="02040503050406030204" pitchFamily="18" charset="0"/>
                  </a:rPr>
                  <a:t>$(\lambda,2,1)$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They intersect, so </a:t>
                </a:r>
                <a:r>
                  <a:rPr lang="en-IN" sz="2400">
                    <a:solidFill>
                      <a:srgbClr val="111827"/>
                    </a:solidFill>
                    <a:latin typeface="Cambria Math" panose="02040503050406030204" pitchFamily="18" charset="0"/>
                  </a:rPr>
                  <a:t>$(\vec P_2-\vec P_1)\cdot(\vec d_1\times\vec d_2)=0$</a:t>
                </a:r>
                <a:r>
                  <a:rPr sz="2400" b="0">
                    <a:solidFill>
                      <a:srgbClr val="111827"/>
                    </a:solidFill>
                    <a:latin typeface="Arial"/>
                  </a:rPr>
                  <a:t>, i.e. </a:t>
                </a:r>
                <a:r>
                  <a:rPr lang="en-IN" sz="2400">
                    <a:solidFill>
                      <a:srgbClr val="111827"/>
                    </a:solidFill>
                    <a:latin typeface="Cambria Math" panose="02040503050406030204" pitchFamily="18" charset="0"/>
                  </a:rPr>
                  <a:t>$\left|\begin{matrix}1&amp;-1&amp;-1\\1&amp;1&amp;-\lambda\\\lambda&amp;2&amp;1\end{matrix}\right|=0$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$(1+2\lambda)+(1+\lambda^2)-(2-\lambda)=0\Rightarrow\lambda^2+3\lambda=0\Rightarrow\lambda=0$</a:t>
                </a:r>
                <a:r>
                  <a:rPr sz="2400" b="0">
                    <a:solidFill>
                      <a:srgbClr val="111827"/>
                    </a:solidFill>
                    <a:latin typeface="Arial"/>
                  </a:rPr>
                  <a:t> or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$\alpha\lambda=0$</a:t>
                </a:r>
                <a:r>
                  <a:rPr sz="2400" b="0">
                    <a:solidFill>
                      <a:srgbClr val="111827"/>
                    </a:solidFill>
                    <a:latin typeface="Arial"/>
                  </a:rPr>
                  <a:t> or </a:t>
                </a:r>
                <a:r>
                  <a:rPr lang="en-IN" sz="2400">
                    <a:solidFill>
                      <a:srgbClr val="111827"/>
                    </a:solidFill>
                    <a:latin typeface="Cambria Math" panose="02040503050406030204" pitchFamily="18" charset="0"/>
                  </a:rPr>
                  <a:t>$-15$</a:t>
                </a:r>
                <a:r>
                  <a:rPr sz="2400" b="0">
                    <a:solidFill>
                      <a:srgbClr val="111827"/>
                    </a:solidFill>
                    <a:latin typeface="Arial"/>
                  </a:rPr>
                  <a:t>. Only </a:t>
                </a:r>
                <a:r>
                  <a:rPr lang="en-IN" sz="2400">
                    <a:solidFill>
                      <a:srgbClr val="111827"/>
                    </a:solidFill>
                    <a:latin typeface="Cambria Math" panose="02040503050406030204" pitchFamily="18" charset="0"/>
                  </a:rPr>
                  <a:t>$0$</a:t>
                </a:r>
                <a:r>
                  <a:rPr sz="2400" b="0">
                    <a:solidFill>
                      <a:srgbClr val="111827"/>
                    </a:solidFill>
                    <a:latin typeface="Arial"/>
                  </a:rPr>
                  <a:t> is among the options, so the answer is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0</a:t>
            </a:r>
            <a:endParaRPr sz="2800">
              <a:solidFill>
                <a:srgbClr val="15803D"/>
              </a:solidFill>
            </a:endParaRP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Intersection means a common point: solve the two parametric lines directly for the parameters instead of a determinant.</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1: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Line 2: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(using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Equate coordinates: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𝑡</m:t>
                    </m:r>
                  </m:oMath>
                </a14:m>
                <a:r>
                  <a:rPr sz="2400" b="0">
                    <a:solidFill>
                      <a:srgbClr val="111827"/>
                    </a:solidFill>
                    <a:latin typeface="Arial"/>
                  </a:rPr>
                  <a:t> ......(i);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oMath>
                </a14:m>
                <a:r>
                  <a:rPr sz="2400" b="0">
                    <a:solidFill>
                      <a:srgbClr val="111827"/>
                    </a:solidFill>
                    <a:latin typeface="Arial"/>
                  </a:rPr>
                  <a:t> ......(ii);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oMath>
                </a14:m>
                <a:r>
                  <a:rPr sz="2400" b="0">
                    <a:solidFill>
                      <a:srgbClr val="111827"/>
                    </a:solidFill>
                    <a:latin typeface="Arial"/>
                  </a:rPr>
                  <a:t> ......(iii).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(ii):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oMath>
                </a14:m>
                <a:r>
                  <a:rPr sz="2400" b="0">
                    <a:solidFill>
                      <a:srgbClr val="111827"/>
                    </a:solidFill>
                    <a:latin typeface="Arial"/>
                  </a:rPr>
                  <a:t>. Put in (i):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otherwise (i) is impossible).</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1: </a:t>
                </a:r>
                <a:r>
                  <a:rPr lang="en-IN" sz="2400">
                    <a:solidFill>
                      <a:srgbClr val="111827"/>
                    </a:solidFill>
                    <a:latin typeface="Cambria Math" panose="02040503050406030204" pitchFamily="18" charset="0"/>
                  </a:rPr>
                  <a:t>$(2+s,\,3+s,\,4-\lambda s)$</a:t>
                </a:r>
                <a:r>
                  <a:rPr sz="2400" b="0">
                    <a:solidFill>
                      <a:srgbClr val="111827"/>
                    </a:solidFill>
                    <a:latin typeface="Arial"/>
                  </a:rPr>
                  <a:t>. Line 2: </a:t>
                </a:r>
                <a:r>
                  <a:rPr lang="en-IN" sz="2400">
                    <a:solidFill>
                      <a:srgbClr val="111827"/>
                    </a:solidFill>
                    <a:latin typeface="Cambria Math" panose="02040503050406030204" pitchFamily="18" charset="0"/>
                  </a:rPr>
                  <a:t>$(1+\lambda t,\,4+2t,\,5+t)$</a:t>
                </a:r>
                <a:r>
                  <a:rPr sz="2400" b="0">
                    <a:solidFill>
                      <a:srgbClr val="111827"/>
                    </a:solidFill>
                    <a:latin typeface="Arial"/>
                  </a:rPr>
                  <a:t> (using </a:t>
                </a:r>
                <a:r>
                  <a:rPr lang="en-IN" sz="2400">
                    <a:solidFill>
                      <a:srgbClr val="111827"/>
                    </a:solidFill>
                    <a:latin typeface="Cambria Math" panose="02040503050406030204" pitchFamily="18" charset="0"/>
                  </a:rPr>
                  <a:t>$\alpha=5$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Equate coordinates: </a:t>
                </a:r>
                <a:r>
                  <a:rPr lang="en-IN" sz="2400">
                    <a:solidFill>
                      <a:srgbClr val="111827"/>
                    </a:solidFill>
                    <a:latin typeface="Cambria Math" panose="02040503050406030204" pitchFamily="18" charset="0"/>
                  </a:rPr>
                  <a:t>$2+s=1+\lambda t$</a:t>
                </a:r>
                <a:r>
                  <a:rPr sz="2400" b="0">
                    <a:solidFill>
                      <a:srgbClr val="111827"/>
                    </a:solidFill>
                    <a:latin typeface="Arial"/>
                  </a:rPr>
                  <a:t> ......(i); </a:t>
                </a:r>
                <a:r>
                  <a:rPr lang="en-IN" sz="2400">
                    <a:solidFill>
                      <a:srgbClr val="111827"/>
                    </a:solidFill>
                    <a:latin typeface="Cambria Math" panose="02040503050406030204" pitchFamily="18" charset="0"/>
                  </a:rPr>
                  <a:t>$3+s=4+2t$</a:t>
                </a:r>
                <a:r>
                  <a:rPr sz="2400" b="0">
                    <a:solidFill>
                      <a:srgbClr val="111827"/>
                    </a:solidFill>
                    <a:latin typeface="Arial"/>
                  </a:rPr>
                  <a:t> ......(ii); </a:t>
                </a:r>
                <a:r>
                  <a:rPr lang="en-IN" sz="2400">
                    <a:solidFill>
                      <a:srgbClr val="111827"/>
                    </a:solidFill>
                    <a:latin typeface="Cambria Math" panose="02040503050406030204" pitchFamily="18" charset="0"/>
                  </a:rPr>
                  <a:t>$4-\lambda s=5+t$</a:t>
                </a:r>
                <a:r>
                  <a:rPr sz="2400" b="0">
                    <a:solidFill>
                      <a:srgbClr val="111827"/>
                    </a:solidFill>
                    <a:latin typeface="Arial"/>
                  </a:rPr>
                  <a:t> ......(iii).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(ii): </a:t>
                </a:r>
                <a:r>
                  <a:rPr lang="en-IN" sz="2400">
                    <a:solidFill>
                      <a:srgbClr val="111827"/>
                    </a:solidFill>
                    <a:latin typeface="Cambria Math" panose="02040503050406030204" pitchFamily="18" charset="0"/>
                  </a:rPr>
                  <a:t>$s=1+2t$</a:t>
                </a:r>
                <a:r>
                  <a:rPr sz="2400" b="0">
                    <a:solidFill>
                      <a:srgbClr val="111827"/>
                    </a:solidFill>
                    <a:latin typeface="Arial"/>
                  </a:rPr>
                  <a:t>. Put in (i): </a:t>
                </a:r>
                <a:r>
                  <a:rPr lang="en-IN" sz="2400">
                    <a:solidFill>
                      <a:srgbClr val="111827"/>
                    </a:solidFill>
                    <a:latin typeface="Cambria Math" panose="02040503050406030204" pitchFamily="18" charset="0"/>
                  </a:rPr>
                  <a:t>$3+2t=1+\lambda t\Rightarrow t(\lambda-2)=2$</a:t>
                </a:r>
                <a:r>
                  <a:rPr sz="2400" b="0">
                    <a:solidFill>
                      <a:srgbClr val="111827"/>
                    </a:solidFill>
                    <a:latin typeface="Arial"/>
                  </a:rPr>
                  <a:t> (</a:t>
                </a:r>
                <a:r>
                  <a:rPr lang="en-IN" sz="2400">
                    <a:solidFill>
                      <a:srgbClr val="111827"/>
                    </a:solidFill>
                    <a:latin typeface="Cambria Math" panose="02040503050406030204" pitchFamily="18" charset="0"/>
                  </a:rPr>
                  <a:t>$\lambda\neq2$</a:t>
                </a:r>
                <a:r>
                  <a:rPr sz="2400" b="0">
                    <a:solidFill>
                      <a:srgbClr val="111827"/>
                    </a:solidFill>
                    <a:latin typeface="Arial"/>
                  </a:rPr>
                  <a:t>, otherwise (i) is impossible).</a:t>
                </a:r>
                <a:endParaRPr sz="2400">
                  <a:solidFill>
                    <a:srgbClr val="111827"/>
                  </a:solidFill>
                </a:endParaRPr>
              </a:p>
            </p:txBody>
          </p:sp>
        </mc:Fallback>
      </mc:AlternateContent>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oMath>
                </a14:m>
                <a:r>
                  <a:rPr sz="2400" b="0">
                    <a:solidFill>
                      <a:srgbClr val="111827"/>
                    </a:solidFill>
                    <a:latin typeface="Arial"/>
                  </a:rPr>
                  <a:t> in (iii):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Eliminate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the same as the determinant condition; </a:t>
                </a:r>
                <a14:m>
                  <m:oMath xmlns:m="http://schemas.openxmlformats.org/officeDocument/2006/math">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so (D).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$s=1+2t$</a:t>
                </a:r>
                <a:r>
                  <a:rPr sz="2400" b="0">
                    <a:solidFill>
                      <a:srgbClr val="111827"/>
                    </a:solidFill>
                    <a:latin typeface="Arial"/>
                  </a:rPr>
                  <a:t> in (iii): </a:t>
                </a:r>
                <a:r>
                  <a:rPr lang="en-IN" sz="2400">
                    <a:solidFill>
                      <a:srgbClr val="111827"/>
                    </a:solidFill>
                    <a:latin typeface="Cambria Math" panose="02040503050406030204" pitchFamily="18" charset="0"/>
                  </a:rPr>
                  <a:t>$4-\lambda-2\lambda t=5+t\Rightarrow t(1+2\lambda)=-(1+\lambda)$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Eliminate </a:t>
                </a:r>
                <a:r>
                  <a:rPr lang="en-IN" sz="2400">
                    <a:solidFill>
                      <a:srgbClr val="111827"/>
                    </a:solidFill>
                    <a:latin typeface="Cambria Math" panose="02040503050406030204" pitchFamily="18" charset="0"/>
                  </a:rPr>
                  <a:t>$t=\frac{2}{\lambda-2}$</a:t>
                </a:r>
                <a:r>
                  <a:rPr sz="2400" b="0">
                    <a:solidFill>
                      <a:srgbClr val="111827"/>
                    </a:solidFill>
                    <a:latin typeface="Arial"/>
                  </a:rPr>
                  <a:t>: </a:t>
                </a:r>
                <a:r>
                  <a:rPr lang="en-IN" sz="2400">
                    <a:solidFill>
                      <a:srgbClr val="111827"/>
                    </a:solidFill>
                    <a:latin typeface="Cambria Math" panose="02040503050406030204" pitchFamily="18" charset="0"/>
                  </a:rPr>
                  <a:t>$2(1+2\lambda)=-(1+\lambda)(\lambda-2)=-\lambda^2+\lambda+2$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$\lambda^2+3\lambda=0\Rightarrow\lambda=0$</a:t>
                </a:r>
                <a:r>
                  <a:rPr sz="2400" b="0">
                    <a:solidFill>
                      <a:srgbClr val="111827"/>
                    </a:solidFill>
                    <a:latin typeface="Arial"/>
                  </a:rPr>
                  <a:t> or </a:t>
                </a:r>
                <a:r>
                  <a:rPr lang="en-IN" sz="2400">
                    <a:solidFill>
                      <a:srgbClr val="111827"/>
                    </a:solidFill>
                    <a:latin typeface="Cambria Math" panose="02040503050406030204" pitchFamily="18" charset="0"/>
                  </a:rPr>
                  <a:t>$-3$</a:t>
                </a:r>
                <a:r>
                  <a:rPr sz="2400" b="0">
                    <a:solidFill>
                      <a:srgbClr val="111827"/>
                    </a:solidFill>
                    <a:latin typeface="Arial"/>
                  </a:rPr>
                  <a:t>, the same as the determinant condition; </a:t>
                </a:r>
                <a:r>
                  <a:rPr lang="en-IN" sz="2400">
                    <a:solidFill>
                      <a:srgbClr val="111827"/>
                    </a:solidFill>
                    <a:latin typeface="Cambria Math" panose="02040503050406030204" pitchFamily="18" charset="0"/>
                  </a:rPr>
                  <a:t>$\alpha\lambda=0$</a:t>
                </a:r>
                <a:r>
                  <a:rPr sz="2400" b="0">
                    <a:solidFill>
                      <a:srgbClr val="111827"/>
                    </a:solidFill>
                    <a:latin typeface="Arial"/>
                  </a:rPr>
                  <a:t> (or </a:t>
                </a:r>
                <a:r>
                  <a:rPr lang="en-IN" sz="2400">
                    <a:solidFill>
                      <a:srgbClr val="111827"/>
                    </a:solidFill>
                    <a:latin typeface="Cambria Math" panose="02040503050406030204" pitchFamily="18" charset="0"/>
                  </a:rPr>
                  <a:t>$-15$</a:t>
                </a:r>
                <a:r>
                  <a:rPr sz="2400" b="0">
                    <a:solidFill>
                      <a:srgbClr val="111827"/>
                    </a:solidFill>
                    <a:latin typeface="Arial"/>
                  </a:rPr>
                  <a:t>), so (D).</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0</a:t>
            </a:r>
            <a:endParaRPr sz="2800">
              <a:solidFill>
                <a:srgbClr val="15803D"/>
              </a:solidFill>
            </a:endParaRP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lines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intersect iff </a:t>
                </a:r>
                <a14:m>
                  <m:oMath xmlns:m="http://schemas.openxmlformats.org/officeDocument/2006/math">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circle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bisects the circumference of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iff the common chord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passes through the centre of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Read the symbols carefully: an unknown can appear in both a circle part and a line part of a mixed question; keep each letter's meaning fixed.</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lines </a:t>
                </a:r>
                <a:r>
                  <a:rPr lang="en-IN" sz="2400">
                    <a:solidFill>
                      <a:srgbClr val="111827"/>
                    </a:solidFill>
                    <a:latin typeface="Cambria Math" panose="02040503050406030204" pitchFamily="18" charset="0"/>
                  </a:rPr>
                  <a:t>$\vec r=\vec p_1+s\vec d_1$</a:t>
                </a:r>
                <a:r>
                  <a:rPr sz="2400" b="0">
                    <a:solidFill>
                      <a:srgbClr val="111827"/>
                    </a:solidFill>
                    <a:latin typeface="Arial"/>
                  </a:rPr>
                  <a:t>, </a:t>
                </a:r>
                <a:r>
                  <a:rPr lang="en-IN" sz="2400">
                    <a:solidFill>
                      <a:srgbClr val="111827"/>
                    </a:solidFill>
                    <a:latin typeface="Cambria Math" panose="02040503050406030204" pitchFamily="18" charset="0"/>
                  </a:rPr>
                  <a:t>$\vec r=\vec p_2+t\vec d_2$</a:t>
                </a:r>
                <a:r>
                  <a:rPr sz="2400" b="0">
                    <a:solidFill>
                      <a:srgbClr val="111827"/>
                    </a:solidFill>
                    <a:latin typeface="Arial"/>
                  </a:rPr>
                  <a:t> intersect iff </a:t>
                </a:r>
                <a:r>
                  <a:rPr lang="en-IN" sz="2400">
                    <a:solidFill>
                      <a:srgbClr val="111827"/>
                    </a:solidFill>
                    <a:latin typeface="Cambria Math" panose="02040503050406030204" pitchFamily="18" charset="0"/>
                  </a:rPr>
                  <a:t>$(\vec p_2-\vec p_1)\cdot(\vec d_1\times\vec d_2)=0$</a:t>
                </a:r>
                <a:r>
                  <a:rPr sz="2400" b="0">
                    <a:solidFill>
                      <a:srgbClr val="111827"/>
                    </a:solidFill>
                    <a:latin typeface="Arial"/>
                  </a:rPr>
                  <a:t> AND </a:t>
                </a:r>
                <a:r>
                  <a:rPr lang="en-IN" sz="2400">
                    <a:solidFill>
                      <a:srgbClr val="111827"/>
                    </a:solidFill>
                    <a:latin typeface="Cambria Math" panose="02040503050406030204" pitchFamily="18" charset="0"/>
                  </a:rPr>
                  <a:t>$\vec d_1\nparallel\vec d_2$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circle </a:t>
                </a:r>
                <a:r>
                  <a:rPr lang="en-IN" sz="2400">
                    <a:solidFill>
                      <a:srgbClr val="111827"/>
                    </a:solidFill>
                    <a:latin typeface="Cambria Math" panose="02040503050406030204" pitchFamily="18" charset="0"/>
                  </a:rPr>
                  <a:t>$S_1$</a:t>
                </a:r>
                <a:r>
                  <a:rPr sz="2400" b="0">
                    <a:solidFill>
                      <a:srgbClr val="111827"/>
                    </a:solidFill>
                    <a:latin typeface="Arial"/>
                  </a:rPr>
                  <a:t> bisects the circumference of </a:t>
                </a:r>
                <a:r>
                  <a:rPr lang="en-IN" sz="2400">
                    <a:solidFill>
                      <a:srgbClr val="111827"/>
                    </a:solidFill>
                    <a:latin typeface="Cambria Math" panose="02040503050406030204" pitchFamily="18" charset="0"/>
                  </a:rPr>
                  <a:t>$S_2$</a:t>
                </a:r>
                <a:r>
                  <a:rPr sz="2400" b="0">
                    <a:solidFill>
                      <a:srgbClr val="111827"/>
                    </a:solidFill>
                    <a:latin typeface="Arial"/>
                  </a:rPr>
                  <a:t> iff the common chord </a:t>
                </a:r>
                <a:r>
                  <a:rPr lang="en-IN" sz="2400">
                    <a:solidFill>
                      <a:srgbClr val="111827"/>
                    </a:solidFill>
                    <a:latin typeface="Cambria Math" panose="02040503050406030204" pitchFamily="18" charset="0"/>
                  </a:rPr>
                  <a:t>$S_1-S_2=0$</a:t>
                </a:r>
                <a:r>
                  <a:rPr sz="2400" b="0">
                    <a:solidFill>
                      <a:srgbClr val="111827"/>
                    </a:solidFill>
                    <a:latin typeface="Arial"/>
                  </a:rPr>
                  <a:t> passes through the centre of </a:t>
                </a:r>
                <a:r>
                  <a:rPr lang="en-IN" sz="2400">
                    <a:solidFill>
                      <a:srgbClr val="111827"/>
                    </a:solidFill>
                    <a:latin typeface="Cambria Math" panose="02040503050406030204" pitchFamily="18" charset="0"/>
                  </a:rPr>
                  <a:t>$S_2$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Read the symbols carefully: an unknown can appear in both a circle part and a line part of a mixed question; keep each letter's meaning fixed.</a:t>
                </a:r>
                <a:endParaRPr sz="2400">
                  <a:solidFill>
                    <a:srgbClr val="111827"/>
                  </a:solidFill>
                </a:endParaRPr>
              </a:p>
            </p:txBody>
          </p:sp>
        </mc:Fallback>
      </mc:AlternateContent>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0347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are non-zero, non-collinear vectors such that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the angle between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is any vector such that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(D) None of these</a:t>
                </a:r>
                <a:endParaRPr sz="2400">
                  <a:solidFill>
                    <a:srgbClr val="111827"/>
                  </a:solidFill>
                </a:endParaRPr>
              </a:p>
            </p:txBody>
          </p:sp>
        </mc:Choice>
        <mc:Fallback>
          <p:sp>
            <p:nvSpPr>
              <p:cNvPr id="4" name="Rounded Rectangle 3"/>
              <p:cNvSpPr/>
              <p:nvPr/>
            </p:nvSpPr>
            <p:spPr>
              <a:xfrm>
                <a:off x="731520" y="1280160"/>
                <a:ext cx="10725912" cy="30347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a:t>
                </a:r>
                <a:r>
                  <a:rPr sz="2400" b="0">
                    <a:solidFill>
                      <a:srgbClr val="111827"/>
                    </a:solidFill>
                    <a:latin typeface="Arial"/>
                  </a:rPr>
                  <a:t> and </a:t>
                </a:r>
                <a:r>
                  <a:rPr lang="en-IN" sz="2400">
                    <a:solidFill>
                      <a:srgbClr val="111827"/>
                    </a:solidFill>
                    <a:latin typeface="Cambria Math" panose="02040503050406030204" pitchFamily="18" charset="0"/>
                  </a:rPr>
                  <a:t>$\vec b$</a:t>
                </a:r>
                <a:r>
                  <a:rPr sz="2400" b="0">
                    <a:solidFill>
                      <a:srgbClr val="111827"/>
                    </a:solidFill>
                    <a:latin typeface="Arial"/>
                  </a:rPr>
                  <a:t> are non-zero, non-collinear vectors such that </a:t>
                </a:r>
                <a:r>
                  <a:rPr lang="en-IN" sz="2400">
                    <a:solidFill>
                      <a:srgbClr val="111827"/>
                    </a:solidFill>
                    <a:latin typeface="Cambria Math" panose="02040503050406030204" pitchFamily="18" charset="0"/>
                  </a:rPr>
                  <a:t>$|\vec a|=2$</a:t>
                </a:r>
                <a:r>
                  <a:rPr sz="2400" b="0">
                    <a:solidFill>
                      <a:srgbClr val="111827"/>
                    </a:solidFill>
                    <a:latin typeface="Arial"/>
                  </a:rPr>
                  <a:t>, </a:t>
                </a:r>
                <a:r>
                  <a:rPr lang="en-IN" sz="2400">
                    <a:solidFill>
                      <a:srgbClr val="111827"/>
                    </a:solidFill>
                    <a:latin typeface="Cambria Math" panose="02040503050406030204" pitchFamily="18" charset="0"/>
                  </a:rPr>
                  <a:t>$\vec a\cdot\vec b=1$</a:t>
                </a:r>
                <a:r>
                  <a:rPr sz="2400" b="0">
                    <a:solidFill>
                      <a:srgbClr val="111827"/>
                    </a:solidFill>
                    <a:latin typeface="Arial"/>
                  </a:rPr>
                  <a:t> and the angle between </a:t>
                </a:r>
                <a:r>
                  <a:rPr lang="en-IN" sz="2400">
                    <a:solidFill>
                      <a:srgbClr val="111827"/>
                    </a:solidFill>
                    <a:latin typeface="Cambria Math" panose="02040503050406030204" pitchFamily="18" charset="0"/>
                  </a:rPr>
                  <a:t>$\vec a$</a:t>
                </a:r>
                <a:r>
                  <a:rPr sz="2400" b="0">
                    <a:solidFill>
                      <a:srgbClr val="111827"/>
                    </a:solidFill>
                    <a:latin typeface="Arial"/>
                  </a:rPr>
                  <a:t> and </a:t>
                </a:r>
                <a:r>
                  <a:rPr lang="en-IN" sz="2400">
                    <a:solidFill>
                      <a:srgbClr val="111827"/>
                    </a:solidFill>
                    <a:latin typeface="Cambria Math" panose="02040503050406030204" pitchFamily="18" charset="0"/>
                  </a:rPr>
                  <a:t>$\vec b$</a:t>
                </a:r>
                <a:r>
                  <a:rPr sz="2400" b="0">
                    <a:solidFill>
                      <a:srgbClr val="111827"/>
                    </a:solidFill>
                    <a:latin typeface="Arial"/>
                  </a:rPr>
                  <a:t> is </a:t>
                </a:r>
                <a:r>
                  <a:rPr lang="en-IN" sz="2400">
                    <a:solidFill>
                      <a:srgbClr val="111827"/>
                    </a:solidFill>
                    <a:latin typeface="Cambria Math" panose="02040503050406030204" pitchFamily="18" charset="0"/>
                  </a:rPr>
                  <a:t>$\frac{\pi}{3}$</a:t>
                </a:r>
                <a:r>
                  <a:rPr sz="2400" b="0">
                    <a:solidFill>
                      <a:srgbClr val="111827"/>
                    </a:solidFill>
                    <a:latin typeface="Arial"/>
                  </a:rPr>
                  <a:t>. If </a:t>
                </a:r>
                <a:r>
                  <a:rPr lang="en-IN" sz="2400">
                    <a:solidFill>
                      <a:srgbClr val="111827"/>
                    </a:solidFill>
                    <a:latin typeface="Cambria Math" panose="02040503050406030204" pitchFamily="18" charset="0"/>
                  </a:rPr>
                  <a:t>$\vec r$</a:t>
                </a:r>
                <a:r>
                  <a:rPr sz="2400" b="0">
                    <a:solidFill>
                      <a:srgbClr val="111827"/>
                    </a:solidFill>
                    <a:latin typeface="Arial"/>
                  </a:rPr>
                  <a:t> is any vector such that </a:t>
                </a:r>
                <a:r>
                  <a:rPr lang="en-IN" sz="2400">
                    <a:solidFill>
                      <a:srgbClr val="111827"/>
                    </a:solidFill>
                    <a:latin typeface="Cambria Math" panose="02040503050406030204" pitchFamily="18" charset="0"/>
                  </a:rPr>
                  <a:t>$\vec r\cdot\vec a=2$</a:t>
                </a:r>
                <a:r>
                  <a:rPr sz="2400" b="0">
                    <a:solidFill>
                      <a:srgbClr val="111827"/>
                    </a:solidFill>
                    <a:latin typeface="Arial"/>
                  </a:rPr>
                  <a:t>, </a:t>
                </a:r>
                <a:r>
                  <a:rPr lang="en-IN" sz="2400">
                    <a:solidFill>
                      <a:srgbClr val="111827"/>
                    </a:solidFill>
                    <a:latin typeface="Cambria Math" panose="02040503050406030204" pitchFamily="18" charset="0"/>
                  </a:rPr>
                  <a:t>$\vec r\cdot\vec b=8$</a:t>
                </a:r>
                <a:r>
                  <a:rPr sz="2400" b="0">
                    <a:solidFill>
                      <a:srgbClr val="111827"/>
                    </a:solidFill>
                    <a:latin typeface="Arial"/>
                  </a:rPr>
                  <a:t>, </a:t>
                </a:r>
                <a:r>
                  <a:rPr lang="en-IN" sz="2400">
                    <a:solidFill>
                      <a:srgbClr val="111827"/>
                    </a:solidFill>
                    <a:latin typeface="Cambria Math" panose="02040503050406030204" pitchFamily="18" charset="0"/>
                  </a:rPr>
                  <a:t>$(\vec r+2\vec a-10\vec b)\cdot(\vec a\times\vec b)=4\sqrt3$</a:t>
                </a:r>
                <a:r>
                  <a:rPr sz="2400" b="0">
                    <a:solidFill>
                      <a:srgbClr val="111827"/>
                    </a:solidFill>
                    <a:latin typeface="Arial"/>
                  </a:rPr>
                  <a:t> and </a:t>
                </a:r>
                <a:r>
                  <a:rPr lang="en-IN" sz="2400">
                    <a:solidFill>
                      <a:srgbClr val="111827"/>
                    </a:solidFill>
                    <a:latin typeface="Cambria Math" panose="02040503050406030204" pitchFamily="18" charset="0"/>
                  </a:rPr>
                  <a:t>$\vec r+2\vec a-10\vec b=\lambda(\vec a\times\vec b)$</a:t>
                </a:r>
                <a:r>
                  <a:rPr sz="2400" b="0">
                    <a:solidFill>
                      <a:srgbClr val="111827"/>
                    </a:solidFill>
                    <a:latin typeface="Arial"/>
                  </a:rPr>
                  <a:t> then </a:t>
                </a:r>
                <a:r>
                  <a:rPr lang="en-IN" sz="2400">
                    <a:solidFill>
                      <a:srgbClr val="111827"/>
                    </a:solidFill>
                    <a:latin typeface="Cambria Math" panose="02040503050406030204" pitchFamily="18" charset="0"/>
                  </a:rPr>
                  <a:t>$\lambda$</a:t>
                </a:r>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$\frac12$</a:t>
                </a:r>
                <a:r>
                  <a:rPr sz="2400" b="0">
                    <a:solidFill>
                      <a:srgbClr val="111827"/>
                    </a:solidFill>
                    <a:latin typeface="Arial"/>
                  </a:rPr>
                  <a:t>   (B) </a:t>
                </a:r>
                <a:r>
                  <a:rPr lang="en-IN" sz="2400">
                    <a:solidFill>
                      <a:srgbClr val="111827"/>
                    </a:solidFill>
                    <a:latin typeface="Cambria Math" panose="02040503050406030204" pitchFamily="18" charset="0"/>
                  </a:rPr>
                  <a:t>$2$</a:t>
                </a:r>
                <a:r>
                  <a:rPr sz="2400" b="0">
                    <a:solidFill>
                      <a:srgbClr val="111827"/>
                    </a:solidFill>
                    <a:latin typeface="Arial"/>
                  </a:rPr>
                  <a:t>   (C) </a:t>
                </a:r>
                <a:r>
                  <a:rPr lang="en-IN" sz="2400">
                    <a:solidFill>
                      <a:srgbClr val="111827"/>
                    </a:solidFill>
                    <a:latin typeface="Cambria Math" panose="02040503050406030204" pitchFamily="18" charset="0"/>
                  </a:rPr>
                  <a:t>$\frac14$</a:t>
                </a:r>
                <a:r>
                  <a:rPr sz="2400" b="0">
                    <a:solidFill>
                      <a:srgbClr val="111827"/>
                    </a:solidFill>
                    <a:latin typeface="Arial"/>
                  </a:rPr>
                  <a:t>   (D) None of these</a:t>
                </a:r>
                <a:endParaRPr sz="2400">
                  <a:solidFill>
                    <a:srgbClr val="111827"/>
                  </a:solidFill>
                </a:endParaRPr>
              </a:p>
            </p:txBody>
          </p:sp>
        </mc:Fallback>
      </mc:AlternateContent>
      <p:sp>
        <p:nvSpPr>
          <p:cNvPr id="5" name="Rectangle 4"/>
          <p:cNvSpPr/>
          <p:nvPr/>
        </p:nvSpPr>
        <p:spPr>
          <a:xfrm>
            <a:off x="731520" y="4543552"/>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Scalar and vector products with given projections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Dot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10</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λ</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to get </a:t>
                </a:r>
                <a14:m>
                  <m:oMath xmlns:m="http://schemas.openxmlformats.org/officeDocument/2006/math">
                    <m:r>
                      <a:rPr lang="en-IN" sz="2400" i="1">
                        <a:solidFill>
                          <a:srgbClr val="78350F"/>
                        </a:solidFill>
                        <a:latin typeface="Cambria Math" panose="02040503050406030204" pitchFamily="18" charset="0"/>
                      </a:rPr>
                      <m:t>λ</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oMath>
                </a14:m>
                <a:r>
                  <a:rPr sz="2400" b="0">
                    <a:solidFill>
                      <a:srgbClr val="78350F"/>
                    </a:solidFill>
                    <a:latin typeface="Arial"/>
                  </a:rPr>
                  <a:t>; find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from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Dot </a:t>
                </a:r>
                <a:r>
                  <a:rPr lang="en-IN" sz="2400">
                    <a:solidFill>
                      <a:srgbClr val="78350F"/>
                    </a:solidFill>
                    <a:latin typeface="Cambria Math" panose="02040503050406030204" pitchFamily="18" charset="0"/>
                  </a:rPr>
                  <a:t>$\vec r+2\vec a-10\vec b=\lambda(\vec a\times\vec b)$</a:t>
                </a:r>
                <a:r>
                  <a:rPr sz="2400" b="0">
                    <a:solidFill>
                      <a:srgbClr val="78350F"/>
                    </a:solidFill>
                    <a:latin typeface="Arial"/>
                  </a:rPr>
                  <a:t> with </a:t>
                </a:r>
                <a:r>
                  <a:rPr lang="en-IN" sz="2400">
                    <a:solidFill>
                      <a:srgbClr val="78350F"/>
                    </a:solidFill>
                    <a:latin typeface="Cambria Math" panose="02040503050406030204" pitchFamily="18" charset="0"/>
                  </a:rPr>
                  <a:t>$\vec a\times\vec b$</a:t>
                </a:r>
                <a:r>
                  <a:rPr sz="2400" b="0">
                    <a:solidFill>
                      <a:srgbClr val="78350F"/>
                    </a:solidFill>
                    <a:latin typeface="Arial"/>
                  </a:rPr>
                  <a:t> to get </a:t>
                </a:r>
                <a:r>
                  <a:rPr lang="en-IN" sz="2400">
                    <a:solidFill>
                      <a:srgbClr val="78350F"/>
                    </a:solidFill>
                    <a:latin typeface="Cambria Math" panose="02040503050406030204" pitchFamily="18" charset="0"/>
                  </a:rPr>
                  <a:t>$\lambda|\vec a\times\vec b|^2=4\sqrt3$</a:t>
                </a:r>
                <a:r>
                  <a:rPr sz="2400" b="0">
                    <a:solidFill>
                      <a:srgbClr val="78350F"/>
                    </a:solidFill>
                    <a:latin typeface="Arial"/>
                  </a:rPr>
                  <a:t>; find </a:t>
                </a:r>
                <a:r>
                  <a:rPr lang="en-IN" sz="2400">
                    <a:solidFill>
                      <a:srgbClr val="78350F"/>
                    </a:solidFill>
                    <a:latin typeface="Cambria Math" panose="02040503050406030204" pitchFamily="18" charset="0"/>
                  </a:rPr>
                  <a:t>$|\vec b|$</a:t>
                </a:r>
                <a:r>
                  <a:rPr sz="2400" b="0">
                    <a:solidFill>
                      <a:srgbClr val="78350F"/>
                    </a:solidFill>
                    <a:latin typeface="Arial"/>
                  </a:rPr>
                  <a:t> from </a:t>
                </a:r>
                <a:r>
                  <a:rPr lang="en-IN" sz="2400">
                    <a:solidFill>
                      <a:srgbClr val="78350F"/>
                    </a:solidFill>
                    <a:latin typeface="Cambria Math" panose="02040503050406030204" pitchFamily="18" charset="0"/>
                  </a:rPr>
                  <a:t>$\vec a\cdot\vec b=1$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Dot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Dot </a:t>
                </a:r>
                <a:r>
                  <a:rPr lang="en-IN" sz="2400">
                    <a:solidFill>
                      <a:srgbClr val="111827"/>
                    </a:solidFill>
                    <a:latin typeface="Cambria Math" panose="02040503050406030204" pitchFamily="18" charset="0"/>
                  </a:rPr>
                  <a:t>$\vec r+2\vec a-10\vec b=\lambda(\vec a\times\vec b)$</a:t>
                </a:r>
                <a:r>
                  <a:rPr sz="2400" b="0">
                    <a:solidFill>
                      <a:srgbClr val="111827"/>
                    </a:solidFill>
                    <a:latin typeface="Arial"/>
                  </a:rPr>
                  <a:t> with </a:t>
                </a:r>
                <a:r>
                  <a:rPr lang="en-IN" sz="2400">
                    <a:solidFill>
                      <a:srgbClr val="111827"/>
                    </a:solidFill>
                    <a:latin typeface="Cambria Math" panose="02040503050406030204" pitchFamily="18" charset="0"/>
                  </a:rPr>
                  <a:t>$\vec a\times\vec b$</a:t>
                </a:r>
                <a:r>
                  <a:rPr sz="2400" b="0">
                    <a:solidFill>
                      <a:srgbClr val="111827"/>
                    </a:solidFill>
                    <a:latin typeface="Arial"/>
                  </a:rPr>
                  <a:t>: </a:t>
                </a:r>
                <a:r>
                  <a:rPr lang="en-IN" sz="2400">
                    <a:solidFill>
                      <a:srgbClr val="111827"/>
                    </a:solidFill>
                    <a:latin typeface="Cambria Math" panose="02040503050406030204" pitchFamily="18" charset="0"/>
                  </a:rPr>
                  <a:t>$\lambda(\vec a\times\vec b)\cdot(\vec a\times\vec b)=4\sqrt3$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t>
                </a:r>
                <a:r>
                  <a:rPr lang="en-IN" sz="2400">
                    <a:solidFill>
                      <a:srgbClr val="111827"/>
                    </a:solidFill>
                    <a:latin typeface="Cambria Math" panose="02040503050406030204" pitchFamily="18" charset="0"/>
                  </a:rPr>
                  <a:t>$\vec a\cdot\vec b=ab\cos\frac{\pi}{3}=1$</a:t>
                </a:r>
                <a:r>
                  <a:rPr sz="2400" b="0">
                    <a:solidFill>
                      <a:srgbClr val="111827"/>
                    </a:solidFill>
                    <a:latin typeface="Arial"/>
                  </a:rPr>
                  <a:t> with </a:t>
                </a:r>
                <a:r>
                  <a:rPr lang="en-IN" sz="2400">
                    <a:solidFill>
                      <a:srgbClr val="111827"/>
                    </a:solidFill>
                    <a:latin typeface="Cambria Math" panose="02040503050406030204" pitchFamily="18" charset="0"/>
                  </a:rPr>
                  <a:t>$a=2$</a:t>
                </a:r>
                <a:r>
                  <a:rPr sz="2400" b="0">
                    <a:solidFill>
                      <a:srgbClr val="111827"/>
                    </a:solidFill>
                    <a:latin typeface="Arial"/>
                  </a:rPr>
                  <a:t>: </a:t>
                </a:r>
                <a:r>
                  <a:rPr lang="en-IN" sz="2400">
                    <a:solidFill>
                      <a:srgbClr val="111827"/>
                    </a:solidFill>
                    <a:latin typeface="Cambria Math" panose="02040503050406030204" pitchFamily="18" charset="0"/>
                  </a:rPr>
                  <a:t>$2b\cdot\frac12=1\Rightarrow b=1$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b)\cdot(\vec a\times\vec b)=a^2b^2-(\vec a\cdot\vec b)^2=4\cdot1-1^2=3$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equals none of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so the answer is (D). (Check: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so such an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exists.)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$3\lambda=4\sqrt3\Rightarrow\lambda=\frac{4\sqrt3}{3}$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equals none of </a:t>
                </a:r>
                <a:r>
                  <a:rPr lang="en-IN" sz="2400">
                    <a:solidFill>
                      <a:srgbClr val="111827"/>
                    </a:solidFill>
                    <a:latin typeface="Cambria Math" panose="02040503050406030204" pitchFamily="18" charset="0"/>
                  </a:rPr>
                  <a:t>$\frac12,\ 2,\ \frac14$</a:t>
                </a:r>
                <a:r>
                  <a:rPr sz="2400" b="0">
                    <a:solidFill>
                      <a:srgbClr val="111827"/>
                    </a:solidFill>
                    <a:latin typeface="Arial"/>
                  </a:rPr>
                  <a:t>, so the answer is (D). (Check: </a:t>
                </a:r>
                <a:r>
                  <a:rPr lang="en-IN" sz="2400">
                    <a:solidFill>
                      <a:srgbClr val="111827"/>
                    </a:solidFill>
                    <a:latin typeface="Cambria Math" panose="02040503050406030204" pitchFamily="18" charset="0"/>
                  </a:rPr>
                  <a:t>$\vec r=\lambda(\vec a\times\vec b)-2\vec a+10\vec b$</a:t>
                </a:r>
                <a:r>
                  <a:rPr sz="2400" b="0">
                    <a:solidFill>
                      <a:srgbClr val="111827"/>
                    </a:solidFill>
                    <a:latin typeface="Arial"/>
                  </a:rPr>
                  <a:t> gives </a:t>
                </a:r>
                <a:r>
                  <a:rPr lang="en-IN" sz="2400">
                    <a:solidFill>
                      <a:srgbClr val="111827"/>
                    </a:solidFill>
                    <a:latin typeface="Cambria Math" panose="02040503050406030204" pitchFamily="18" charset="0"/>
                  </a:rPr>
                  <a:t>$\vec r\cdot\vec a=-8+10=2$</a:t>
                </a:r>
                <a:r>
                  <a:rPr sz="2400" b="0">
                    <a:solidFill>
                      <a:srgbClr val="111827"/>
                    </a:solidFill>
                    <a:latin typeface="Arial"/>
                  </a:rPr>
                  <a:t> and </a:t>
                </a:r>
                <a:r>
                  <a:rPr lang="en-IN" sz="2400">
                    <a:solidFill>
                      <a:srgbClr val="111827"/>
                    </a:solidFill>
                    <a:latin typeface="Cambria Math" panose="02040503050406030204" pitchFamily="18" charset="0"/>
                  </a:rPr>
                  <a:t>$\vec r\cdot\vec b=-2+10=8$</a:t>
                </a:r>
                <a:r>
                  <a:rPr sz="2400" b="0">
                    <a:solidFill>
                      <a:srgbClr val="111827"/>
                    </a:solidFill>
                    <a:latin typeface="Arial"/>
                  </a:rPr>
                  <a:t>, so such an </a:t>
                </a:r>
                <a:r>
                  <a:rPr lang="en-IN" sz="2400">
                    <a:solidFill>
                      <a:srgbClr val="111827"/>
                    </a:solidFill>
                    <a:latin typeface="Cambria Math" panose="02040503050406030204" pitchFamily="18" charset="0"/>
                  </a:rPr>
                  <a:t>$\vec r$</a:t>
                </a:r>
                <a:r>
                  <a:rPr sz="2400" b="0">
                    <a:solidFill>
                      <a:srgbClr val="111827"/>
                    </a:solidFill>
                    <a:latin typeface="Arial"/>
                  </a:rPr>
                  <a:t> exists.)</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None of these</a:t>
            </a:r>
            <a:endParaRPr sz="2800">
              <a:solidFill>
                <a:srgbClr val="15803D"/>
              </a:solidFill>
            </a:endParaRP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Fix coordinates: put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oMath>
                </a14:m>
                <a:r>
                  <a:rPr sz="2400" b="0">
                    <a:solidFill>
                      <a:srgbClr val="78350F"/>
                    </a:solidFill>
                    <a:latin typeface="Arial"/>
                  </a:rPr>
                  <a:t> along the </a:t>
                </a:r>
                <a14:m>
                  <m:oMath xmlns:m="http://schemas.openxmlformats.org/officeDocument/2006/math">
                    <m:r>
                      <a:rPr lang="en-IN" sz="2400" i="1">
                        <a:solidFill>
                          <a:srgbClr val="78350F"/>
                        </a:solidFill>
                        <a:latin typeface="Cambria Math" panose="02040503050406030204" pitchFamily="18" charset="0"/>
                      </a:rPr>
                      <m:t>𝑥</m:t>
                    </m:r>
                  </m:oMath>
                </a14:m>
                <a:r>
                  <a:rPr sz="2400" b="0">
                    <a:solidFill>
                      <a:srgbClr val="78350F"/>
                    </a:solidFill>
                    <a:latin typeface="Arial"/>
                  </a:rPr>
                  <a:t>-axis and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in the </a:t>
                </a:r>
                <a14:m>
                  <m:oMath xmlns:m="http://schemas.openxmlformats.org/officeDocument/2006/math">
                    <m:r>
                      <a:rPr lang="en-IN" sz="2400" i="1">
                        <a:solidFill>
                          <a:srgbClr val="78350F"/>
                        </a:solidFill>
                        <a:latin typeface="Cambria Math" panose="02040503050406030204" pitchFamily="18" charset="0"/>
                      </a:rPr>
                      <m:t>𝑥</m:t>
                    </m:r>
                    <m:r>
                      <a:rPr lang="en-IN" sz="2400" i="1">
                        <a:solidFill>
                          <a:srgbClr val="78350F"/>
                        </a:solidFill>
                        <a:latin typeface="Cambria Math" panose="02040503050406030204" pitchFamily="18" charset="0"/>
                      </a:rPr>
                      <m:t>𝑦</m:t>
                    </m:r>
                  </m:oMath>
                </a14:m>
                <a:r>
                  <a:rPr sz="2400" b="0">
                    <a:solidFill>
                      <a:srgbClr val="78350F"/>
                    </a:solidFill>
                    <a:latin typeface="Arial"/>
                  </a:rPr>
                  <a:t>-plane.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Fix coordinates: put </a:t>
                </a:r>
                <a:r>
                  <a:rPr lang="en-IN" sz="2400">
                    <a:solidFill>
                      <a:srgbClr val="78350F"/>
                    </a:solidFill>
                    <a:latin typeface="Cambria Math" panose="02040503050406030204" pitchFamily="18" charset="0"/>
                  </a:rPr>
                  <a:t>$\vec a$</a:t>
                </a:r>
                <a:r>
                  <a:rPr sz="2400" b="0">
                    <a:solidFill>
                      <a:srgbClr val="78350F"/>
                    </a:solidFill>
                    <a:latin typeface="Arial"/>
                  </a:rPr>
                  <a:t> along the </a:t>
                </a:r>
                <a:r>
                  <a:rPr lang="en-IN" sz="2400">
                    <a:solidFill>
                      <a:srgbClr val="78350F"/>
                    </a:solidFill>
                    <a:latin typeface="Cambria Math" panose="02040503050406030204" pitchFamily="18" charset="0"/>
                  </a:rPr>
                  <a:t>$x$</a:t>
                </a:r>
                <a:r>
                  <a:rPr sz="2400" b="0">
                    <a:solidFill>
                      <a:srgbClr val="78350F"/>
                    </a:solidFill>
                    <a:latin typeface="Arial"/>
                  </a:rPr>
                  <a:t>-axis and </a:t>
                </a:r>
                <a:r>
                  <a:rPr lang="en-IN" sz="2400">
                    <a:solidFill>
                      <a:srgbClr val="78350F"/>
                    </a:solidFill>
                    <a:latin typeface="Cambria Math" panose="02040503050406030204" pitchFamily="18" charset="0"/>
                  </a:rPr>
                  <a:t>$\vec b$</a:t>
                </a:r>
                <a:r>
                  <a:rPr sz="2400" b="0">
                    <a:solidFill>
                      <a:srgbClr val="78350F"/>
                    </a:solidFill>
                    <a:latin typeface="Arial"/>
                  </a:rPr>
                  <a:t> in the </a:t>
                </a:r>
                <a:r>
                  <a:rPr lang="en-IN" sz="2400">
                    <a:solidFill>
                      <a:srgbClr val="78350F"/>
                    </a:solidFill>
                    <a:latin typeface="Cambria Math" panose="02040503050406030204" pitchFamily="18" charset="0"/>
                  </a:rPr>
                  <a:t>$xy$</a:t>
                </a:r>
                <a:r>
                  <a:rPr sz="2400" b="0">
                    <a:solidFill>
                      <a:srgbClr val="78350F"/>
                    </a:solidFill>
                    <a:latin typeface="Arial"/>
                  </a:rPr>
                  <a:t>-plane.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(angle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check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as given.</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$\vec a=(2,0,0)$</a:t>
                </a:r>
                <a:r>
                  <a:rPr sz="2400" b="0">
                    <a:solidFill>
                      <a:srgbClr val="111827"/>
                    </a:solidFill>
                    <a:latin typeface="Arial"/>
                  </a:rPr>
                  <a:t> and </a:t>
                </a:r>
                <a:r>
                  <a:rPr lang="en-IN" sz="2400">
                    <a:solidFill>
                      <a:srgbClr val="111827"/>
                    </a:solidFill>
                    <a:latin typeface="Cambria Math" panose="02040503050406030204" pitchFamily="18" charset="0"/>
                  </a:rPr>
                  <a:t>$\vec b=\left(\frac12,\frac{\sqrt3}{2},0\right)$</a:t>
                </a:r>
                <a:r>
                  <a:rPr sz="2400" b="0">
                    <a:solidFill>
                      <a:srgbClr val="111827"/>
                    </a:solidFill>
                    <a:latin typeface="Arial"/>
                  </a:rPr>
                  <a:t>; then </a:t>
                </a:r>
                <a:r>
                  <a:rPr lang="en-IN" sz="2400">
                    <a:solidFill>
                      <a:srgbClr val="111827"/>
                    </a:solidFill>
                    <a:latin typeface="Cambria Math" panose="02040503050406030204" pitchFamily="18" charset="0"/>
                  </a:rPr>
                  <a:t>$|\vec b|=1$</a:t>
                </a:r>
                <a:r>
                  <a:rPr sz="2400" b="0">
                    <a:solidFill>
                      <a:srgbClr val="111827"/>
                    </a:solidFill>
                    <a:latin typeface="Arial"/>
                  </a:rPr>
                  <a:t> and </a:t>
                </a:r>
                <a:r>
                  <a:rPr lang="en-IN" sz="2400">
                    <a:solidFill>
                      <a:srgbClr val="111827"/>
                    </a:solidFill>
                    <a:latin typeface="Cambria Math" panose="02040503050406030204" pitchFamily="18" charset="0"/>
                  </a:rPr>
                  <a:t>$\vec a\cdot\vec b=1$</a:t>
                </a:r>
                <a:r>
                  <a:rPr sz="2400" b="0">
                    <a:solidFill>
                      <a:srgbClr val="111827"/>
                    </a:solidFill>
                    <a:latin typeface="Arial"/>
                  </a:rPr>
                  <a:t> (angle </a:t>
                </a:r>
                <a:r>
                  <a:rPr lang="en-IN" sz="2400">
                    <a:solidFill>
                      <a:srgbClr val="111827"/>
                    </a:solidFill>
                    <a:latin typeface="Cambria Math" panose="02040503050406030204" pitchFamily="18" charset="0"/>
                  </a:rPr>
                  <a:t>$60^\circ$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b=(0,0,\sqrt3)$</a:t>
                </a:r>
                <a:r>
                  <a:rPr sz="2400" b="0">
                    <a:solidFill>
                      <a:srgbClr val="111827"/>
                    </a:solidFill>
                    <a:latin typeface="Arial"/>
                  </a:rPr>
                  <a:t>, so </a:t>
                </a:r>
                <a:r>
                  <a:rPr lang="en-IN" sz="2400">
                    <a:solidFill>
                      <a:srgbClr val="111827"/>
                    </a:solidFill>
                    <a:latin typeface="Cambria Math" panose="02040503050406030204" pitchFamily="18" charset="0"/>
                  </a:rPr>
                  <a:t>$|\vec a\times\vec b|^2=3$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r+2\vec a-10\vec b=\lambda(0,0,\sqrt3)$</a:t>
                </a:r>
                <a:r>
                  <a:rPr sz="2400" b="0">
                    <a:solidFill>
                      <a:srgbClr val="111827"/>
                    </a:solidFill>
                    <a:latin typeface="Arial"/>
                  </a:rPr>
                  <a:t> gives </a:t>
                </a:r>
                <a:r>
                  <a:rPr lang="en-IN" sz="2400">
                    <a:solidFill>
                      <a:srgbClr val="111827"/>
                    </a:solidFill>
                    <a:latin typeface="Cambria Math" panose="02040503050406030204" pitchFamily="18" charset="0"/>
                  </a:rPr>
                  <a:t>$\vec r=(1,5\sqrt3,\lambda\sqrt3)$</a:t>
                </a:r>
                <a:r>
                  <a:rPr sz="2400" b="0">
                    <a:solidFill>
                      <a:srgbClr val="111827"/>
                    </a:solidFill>
                    <a:latin typeface="Arial"/>
                  </a:rPr>
                  <a:t>; check </a:t>
                </a:r>
                <a:r>
                  <a:rPr lang="en-IN" sz="2400">
                    <a:solidFill>
                      <a:srgbClr val="111827"/>
                    </a:solidFill>
                    <a:latin typeface="Cambria Math" panose="02040503050406030204" pitchFamily="18" charset="0"/>
                  </a:rPr>
                  <a:t>$\vec r\cdot\vec a=2$</a:t>
                </a:r>
                <a:r>
                  <a:rPr sz="2400" b="0">
                    <a:solidFill>
                      <a:srgbClr val="111827"/>
                    </a:solidFill>
                    <a:latin typeface="Arial"/>
                  </a:rPr>
                  <a:t> and </a:t>
                </a:r>
                <a:r>
                  <a:rPr lang="en-IN" sz="2400">
                    <a:solidFill>
                      <a:srgbClr val="111827"/>
                    </a:solidFill>
                    <a:latin typeface="Cambria Math" panose="02040503050406030204" pitchFamily="18" charset="0"/>
                  </a:rPr>
                  <a:t>$\vec r\cdot\vec b=\frac12+\frac{15}{2}=8$</a:t>
                </a:r>
                <a:r>
                  <a:rPr sz="2400" b="0">
                    <a:solidFill>
                      <a:srgbClr val="111827"/>
                    </a:solidFill>
                    <a:latin typeface="Arial"/>
                  </a:rPr>
                  <a:t> as given.</a:t>
                </a:r>
                <a:endParaRPr sz="2400">
                  <a:solidFill>
                    <a:srgbClr val="111827"/>
                  </a:solidFill>
                </a:endParaRPr>
              </a:p>
            </p:txBody>
          </p:sp>
        </mc:Fallback>
      </mc:AlternateContent>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3</m:t>
                        </m:r>
                      </m:den>
                    </m:f>
                  </m:oMath>
                </a14:m>
                <a:r>
                  <a:rPr sz="2400" b="0">
                    <a:solidFill>
                      <a:srgbClr val="111827"/>
                    </a:solidFill>
                    <a:latin typeface="Arial"/>
                  </a:rPr>
                  <a:t>, not among (A), (B), (C): option (D).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r+2\vec a-10\vec b)\cdot(\vec a\times\vec b)=\lambda\sqrt3\cdot\sqrt3=3\lambda=4\sqrt3$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$\lambda=\frac{4\sqrt3}{3}$</a:t>
                </a:r>
                <a:r>
                  <a:rPr sz="2400" b="0">
                    <a:solidFill>
                      <a:srgbClr val="111827"/>
                    </a:solidFill>
                    <a:latin typeface="Arial"/>
                  </a:rPr>
                  <a:t>, not among (A), (B), (C): option (D).</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None of these</a:t>
            </a:r>
            <a:endParaRPr sz="2800">
              <a:solidFill>
                <a:srgbClr val="15803D"/>
              </a:solidFill>
            </a:endParaRP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(dot with the vector itself).</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this is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'none of these' options, compute the exact value first and only then compare; do not force a match.</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v=\lambda\vec n$</a:t>
                </a:r>
                <a:r>
                  <a:rPr sz="2400" b="0">
                    <a:solidFill>
                      <a:srgbClr val="111827"/>
                    </a:solidFill>
                    <a:latin typeface="Arial"/>
                  </a:rPr>
                  <a:t> then </a:t>
                </a:r>
                <a:r>
                  <a:rPr lang="en-IN" sz="2400">
                    <a:solidFill>
                      <a:srgbClr val="111827"/>
                    </a:solidFill>
                    <a:latin typeface="Cambria Math" panose="02040503050406030204" pitchFamily="18" charset="0"/>
                  </a:rPr>
                  <a:t>$\lambda=\dfrac{\vec v\cdot\vec n}{|\vec n|^2}$</a:t>
                </a:r>
                <a:r>
                  <a:rPr sz="2400" b="0">
                    <a:solidFill>
                      <a:srgbClr val="111827"/>
                    </a:solidFill>
                    <a:latin typeface="Arial"/>
                  </a:rPr>
                  <a:t> (dot with the vector itself).</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b|^2=|\vec a|^2|\vec b|^2-(\vec a\cdot\vec b)^2$</a:t>
                </a:r>
                <a:r>
                  <a:rPr sz="2400" b="0">
                    <a:solidFill>
                      <a:srgbClr val="111827"/>
                    </a:solidFill>
                    <a:latin typeface="Arial"/>
                  </a:rPr>
                  <a:t>; with </a:t>
                </a:r>
                <a:r>
                  <a:rPr lang="en-IN" sz="2400">
                    <a:solidFill>
                      <a:srgbClr val="111827"/>
                    </a:solidFill>
                    <a:latin typeface="Cambria Math" panose="02040503050406030204" pitchFamily="18" charset="0"/>
                  </a:rPr>
                  <a:t>$|\vec a|=2,\ |\vec b|=1,\ \vec a\cdot\vec b=1$</a:t>
                </a:r>
                <a:r>
                  <a:rPr sz="2400" b="0">
                    <a:solidFill>
                      <a:srgbClr val="111827"/>
                    </a:solidFill>
                    <a:latin typeface="Arial"/>
                  </a:rPr>
                  <a:t> this is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'none of these' options, compute the exact value first and only then compare; do not force a match.</a:t>
                </a:r>
                <a:endParaRPr sz="2400">
                  <a:solidFill>
                    <a:srgbClr val="111827"/>
                  </a:solidFill>
                </a:endParaRPr>
              </a:p>
            </p:txBody>
          </p:sp>
        </mc:Fallback>
      </mc:AlternateContent>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are unit vectors, then the value of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does not exceed:</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12</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18</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21</m:t>
                    </m:r>
                  </m:oMath>
                </a14:m>
                <a:endParaRPr sz="2400">
                  <a:solidFill>
                    <a:srgbClr val="111827"/>
                  </a:solidFill>
                </a:endParaRPr>
              </a:p>
            </p:txBody>
          </p:sp>
        </mc:Choice>
        <mc:Fallback>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a,\vec b,\vec c$</a:t>
                </a:r>
                <a:r>
                  <a:rPr sz="2400" b="0">
                    <a:solidFill>
                      <a:srgbClr val="111827"/>
                    </a:solidFill>
                    <a:latin typeface="Arial"/>
                  </a:rPr>
                  <a:t> are unit vectors, then the value of </a:t>
                </a:r>
                <a:r>
                  <a:rPr lang="en-IN" sz="2400">
                    <a:solidFill>
                      <a:srgbClr val="111827"/>
                    </a:solidFill>
                    <a:latin typeface="Cambria Math" panose="02040503050406030204" pitchFamily="18" charset="0"/>
                  </a:rPr>
                  <a:t>$|\vec a-2\vec b|^2+|\vec b-2\vec c|^2+|\vec c-2\vec a|^2$</a:t>
                </a:r>
                <a:r>
                  <a:rPr sz="2400" b="0">
                    <a:solidFill>
                      <a:srgbClr val="111827"/>
                    </a:solidFill>
                    <a:latin typeface="Arial"/>
                  </a:rPr>
                  <a:t> does not exceed:</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$9$</a:t>
                </a:r>
                <a:r>
                  <a:rPr sz="2400" b="0">
                    <a:solidFill>
                      <a:srgbClr val="111827"/>
                    </a:solidFill>
                    <a:latin typeface="Arial"/>
                  </a:rPr>
                  <a:t>   (B) </a:t>
                </a:r>
                <a:r>
                  <a:rPr lang="en-IN" sz="2400">
                    <a:solidFill>
                      <a:srgbClr val="111827"/>
                    </a:solidFill>
                    <a:latin typeface="Cambria Math" panose="02040503050406030204" pitchFamily="18" charset="0"/>
                  </a:rPr>
                  <a:t>$12$</a:t>
                </a:r>
                <a:r>
                  <a:rPr sz="2400" b="0">
                    <a:solidFill>
                      <a:srgbClr val="111827"/>
                    </a:solidFill>
                    <a:latin typeface="Arial"/>
                  </a:rPr>
                  <a:t>   (C) </a:t>
                </a:r>
                <a:r>
                  <a:rPr lang="en-IN" sz="2400">
                    <a:solidFill>
                      <a:srgbClr val="111827"/>
                    </a:solidFill>
                    <a:latin typeface="Cambria Math" panose="02040503050406030204" pitchFamily="18" charset="0"/>
                  </a:rPr>
                  <a:t>$18$</a:t>
                </a:r>
                <a:r>
                  <a:rPr sz="2400" b="0">
                    <a:solidFill>
                      <a:srgbClr val="111827"/>
                    </a:solidFill>
                    <a:latin typeface="Arial"/>
                  </a:rPr>
                  <a:t>   (D) </a:t>
                </a:r>
                <a:r>
                  <a:rPr lang="en-IN" sz="2400">
                    <a:solidFill>
                      <a:srgbClr val="111827"/>
                    </a:solidFill>
                    <a:latin typeface="Cambria Math" panose="02040503050406030204" pitchFamily="18" charset="0"/>
                  </a:rPr>
                  <a:t>$21$</a:t>
                </a:r>
                <a:endParaRPr sz="2400">
                  <a:solidFill>
                    <a:srgbClr val="111827"/>
                  </a:solidFill>
                </a:endParaRPr>
              </a:p>
            </p:txBody>
          </p:sp>
        </mc:Fallback>
      </mc:AlternateContent>
      <p:sp>
        <p:nvSpPr>
          <p:cNvPr id="5" name="Rectangle 4"/>
          <p:cNvSpPr/>
          <p:nvPr/>
        </p:nvSpPr>
        <p:spPr>
          <a:xfrm>
            <a:off x="731520" y="3580383"/>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Maximum of a sum of squared lengths of unit-vector combinations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expression equals </a:t>
                </a:r>
                <a14:m>
                  <m:oMath xmlns:m="http://schemas.openxmlformats.org/officeDocument/2006/math">
                    <m:r>
                      <a:rPr lang="en-IN" sz="2400" i="1">
                        <a:solidFill>
                          <a:srgbClr val="78350F"/>
                        </a:solidFill>
                        <a:latin typeface="Cambria Math" panose="02040503050406030204" pitchFamily="18" charset="0"/>
                      </a:rPr>
                      <m:t>15</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bounds the bracket below by </a:t>
                </a:r>
                <a14:m>
                  <m:oMath xmlns:m="http://schemas.openxmlformats.org/officeDocument/2006/math">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expression equals </a:t>
                </a:r>
                <a:r>
                  <a:rPr lang="en-IN" sz="2400">
                    <a:solidFill>
                      <a:srgbClr val="78350F"/>
                    </a:solidFill>
                    <a:latin typeface="Cambria Math" panose="02040503050406030204" pitchFamily="18" charset="0"/>
                  </a:rPr>
                  <a:t>$15-4(\vec a\cdot\vec b+\vec b\cdot\vec c+\vec c\cdot\vec a)$</a:t>
                </a:r>
                <a:r>
                  <a:rPr sz="2400" b="0">
                    <a:solidFill>
                      <a:srgbClr val="78350F"/>
                    </a:solidFill>
                    <a:latin typeface="Arial"/>
                  </a:rPr>
                  <a:t>, and </a:t>
                </a:r>
                <a:r>
                  <a:rPr lang="en-IN" sz="2400">
                    <a:solidFill>
                      <a:srgbClr val="78350F"/>
                    </a:solidFill>
                    <a:latin typeface="Cambria Math" panose="02040503050406030204" pitchFamily="18" charset="0"/>
                  </a:rPr>
                  <a:t>$|\vec a+\vec b+\vec c|^2\ge0$</a:t>
                </a:r>
                <a:r>
                  <a:rPr sz="2400" b="0">
                    <a:solidFill>
                      <a:srgbClr val="78350F"/>
                    </a:solidFill>
                    <a:latin typeface="Arial"/>
                  </a:rPr>
                  <a:t> bounds the bracket below by </a:t>
                </a:r>
                <a:r>
                  <a:rPr lang="en-IN" sz="2400">
                    <a:solidFill>
                      <a:srgbClr val="78350F"/>
                    </a:solidFill>
                    <a:latin typeface="Cambria Math" panose="02040503050406030204" pitchFamily="18" charset="0"/>
                  </a:rPr>
                  <a:t>$-\frac32$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unit vectors this is </a:t>
                </a:r>
                <a14:m>
                  <m:oMath xmlns:m="http://schemas.openxmlformats.org/officeDocument/2006/math">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we get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a-2\vec b|^2+|\vec b-2\vec c|^2+|\vec c-2\vec a|^2=5a^2+5b^2+5c^2-4(\vec a\cdot\vec b+\vec b\cdot\vec c+\vec c\cdot\vec 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unit vectors this is </a:t>
                </a:r>
                <a:r>
                  <a:rPr lang="en-IN" sz="2400">
                    <a:solidFill>
                      <a:srgbClr val="111827"/>
                    </a:solidFill>
                    <a:latin typeface="Cambria Math" panose="02040503050406030204" pitchFamily="18" charset="0"/>
                  </a:rPr>
                  <a:t>$15-4(\vec a\cdot\vec b+\vec b\cdot\vec c+\vec c\cdot\vec 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$|\vec a+\vec b+\vec c|^2\ge0$</a:t>
                </a:r>
                <a:r>
                  <a:rPr sz="2400" b="0">
                    <a:solidFill>
                      <a:srgbClr val="111827"/>
                    </a:solidFill>
                    <a:latin typeface="Arial"/>
                  </a:rPr>
                  <a:t>, we get </a:t>
                </a:r>
                <a:r>
                  <a:rPr lang="en-IN" sz="2400">
                    <a:solidFill>
                      <a:srgbClr val="111827"/>
                    </a:solidFill>
                    <a:latin typeface="Cambria Math" panose="02040503050406030204" pitchFamily="18" charset="0"/>
                  </a:rPr>
                  <a:t>$3+2(\vec a\cdot\vec b+\vec b\cdot\vec c+\vec c\cdot\vec a)\ge0$</a:t>
                </a:r>
                <a:r>
                  <a:rPr sz="2400" b="0">
                    <a:solidFill>
                      <a:srgbClr val="111827"/>
                    </a:solidFill>
                    <a:latin typeface="Arial"/>
                  </a:rPr>
                  <a:t>, i.e. </a:t>
                </a:r>
                <a:r>
                  <a:rPr lang="en-IN" sz="2400">
                    <a:solidFill>
                      <a:srgbClr val="111827"/>
                    </a:solidFill>
                    <a:latin typeface="Cambria Math" panose="02040503050406030204" pitchFamily="18" charset="0"/>
                  </a:rPr>
                  <a:t>$\vec a\cdot\vec b+\vec b\cdot\vec c+\vec c\cdot\vec a\ge-\frac32$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the expression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Equality holds when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(three unit vectors at </a:t>
                </a:r>
                <a14:m>
                  <m:oMath xmlns:m="http://schemas.openxmlformats.org/officeDocument/2006/math">
                    <m:sSup>
                      <m:e>
                        <m:r>
                          <a:rPr lang="en-IN" sz="2400" i="1">
                            <a:solidFill>
                              <a:srgbClr val="111827"/>
                            </a:solidFill>
                            <a:latin typeface="Cambria Math" panose="02040503050406030204" pitchFamily="18" charset="0"/>
                          </a:rPr>
                          <m:t>120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so the maximum is exactly </a:t>
                </a:r>
                <a14:m>
                  <m:oMath xmlns:m="http://schemas.openxmlformats.org/officeDocument/2006/math">
                    <m:r>
                      <a:rPr lang="en-IN" sz="2400" i="1">
                        <a:solidFill>
                          <a:srgbClr val="111827"/>
                        </a:solidFill>
                        <a:latin typeface="Cambria Math" panose="02040503050406030204" pitchFamily="18" charset="0"/>
                      </a:rPr>
                      <m:t>21</m:t>
                    </m:r>
                  </m:oMath>
                </a14:m>
                <a:r>
                  <a:rPr sz="2400" b="0">
                    <a:solidFill>
                      <a:srgbClr val="111827"/>
                    </a:solidFill>
                    <a:latin typeface="Arial"/>
                  </a:rPr>
                  <a:t> and the value does not exceed </a:t>
                </a:r>
                <a14:m>
                  <m:oMath xmlns:m="http://schemas.openxmlformats.org/officeDocument/2006/math">
                    <m:r>
                      <a:rPr lang="en-IN" sz="2400" i="1">
                        <a:solidFill>
                          <a:srgbClr val="111827"/>
                        </a:solidFill>
                        <a:latin typeface="Cambria Math" panose="02040503050406030204" pitchFamily="18" charset="0"/>
                      </a:rPr>
                      <m:t>21</m:t>
                    </m:r>
                  </m:oMath>
                </a14:m>
                <a:r>
                  <a:rPr sz="2400" b="0">
                    <a:solidFill>
                      <a:srgbClr val="111827"/>
                    </a:solidFill>
                    <a:latin typeface="Arial"/>
                  </a:rPr>
                  <a:t>: option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the expression is </a:t>
                </a:r>
                <a:r>
                  <a:rPr lang="en-IN" sz="2400">
                    <a:solidFill>
                      <a:srgbClr val="111827"/>
                    </a:solidFill>
                    <a:latin typeface="Cambria Math" panose="02040503050406030204" pitchFamily="18" charset="0"/>
                  </a:rPr>
                  <a:t>$\le15-4\left(-\frac32\right)=21$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Equality holds when </a:t>
                </a:r>
                <a:r>
                  <a:rPr lang="en-IN" sz="2400">
                    <a:solidFill>
                      <a:srgbClr val="111827"/>
                    </a:solidFill>
                    <a:latin typeface="Cambria Math" panose="02040503050406030204" pitchFamily="18" charset="0"/>
                  </a:rPr>
                  <a:t>$\vec a+\vec b+\vec c=\vec 0$</a:t>
                </a:r>
                <a:r>
                  <a:rPr sz="2400" b="0">
                    <a:solidFill>
                      <a:srgbClr val="111827"/>
                    </a:solidFill>
                    <a:latin typeface="Arial"/>
                  </a:rPr>
                  <a:t> (three unit vectors at </a:t>
                </a:r>
                <a:r>
                  <a:rPr lang="en-IN" sz="2400">
                    <a:solidFill>
                      <a:srgbClr val="111827"/>
                    </a:solidFill>
                    <a:latin typeface="Cambria Math" panose="02040503050406030204" pitchFamily="18" charset="0"/>
                  </a:rPr>
                  <a:t>$120^\circ$</a:t>
                </a:r>
                <a:r>
                  <a:rPr sz="2400" b="0">
                    <a:solidFill>
                      <a:srgbClr val="111827"/>
                    </a:solidFill>
                    <a:latin typeface="Arial"/>
                  </a:rPr>
                  <a:t>), so the maximum is exactly </a:t>
                </a:r>
                <a:r>
                  <a:rPr lang="en-IN" sz="2400">
                    <a:solidFill>
                      <a:srgbClr val="111827"/>
                    </a:solidFill>
                    <a:latin typeface="Cambria Math" panose="02040503050406030204" pitchFamily="18" charset="0"/>
                  </a:rPr>
                  <a:t>$21$</a:t>
                </a:r>
                <a:r>
                  <a:rPr sz="2400" b="0">
                    <a:solidFill>
                      <a:srgbClr val="111827"/>
                    </a:solidFill>
                    <a:latin typeface="Arial"/>
                  </a:rPr>
                  <a:t> and the value does not exceed </a:t>
                </a:r>
                <a:r>
                  <a:rPr lang="en-IN" sz="2400">
                    <a:solidFill>
                      <a:srgbClr val="111827"/>
                    </a:solidFill>
                    <a:latin typeface="Cambria Math" panose="02040503050406030204" pitchFamily="18" charset="0"/>
                  </a:rPr>
                  <a:t>$21$</a:t>
                </a:r>
                <a:r>
                  <a:rPr sz="2400" b="0">
                    <a:solidFill>
                      <a:srgbClr val="111827"/>
                    </a:solidFill>
                    <a:latin typeface="Arial"/>
                  </a:rPr>
                  <a:t>: option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21</a:t>
            </a:r>
            <a:endParaRPr sz="2800">
              <a:solidFill>
                <a:srgbClr val="15803D"/>
              </a:solidFill>
            </a:endParaRP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Rewrite the whole sum as a constant minus a square so the maximum and the equality case appear together.</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𝑆</m:t>
                    </m:r>
                  </m:oMath>
                </a14:m>
                <a:r>
                  <a:rPr sz="2400" b="0">
                    <a:solidFill>
                      <a:srgbClr val="111827"/>
                    </a:solidFill>
                    <a:latin typeface="Arial"/>
                  </a:rPr>
                  <a:t> we have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sum equals </a:t>
                </a:r>
                <a14:m>
                  <m:oMath xmlns:m="http://schemas.openxmlformats.org/officeDocument/2006/math">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$S=\vec a\cdot\vec b+\vec b\cdot\vec c+\vec c\cdot\vec a$</a:t>
                </a:r>
                <a:r>
                  <a:rPr sz="2400" b="0">
                    <a:solidFill>
                      <a:srgbClr val="111827"/>
                    </a:solidFill>
                    <a:latin typeface="Arial"/>
                  </a:rPr>
                  <a:t> and </a:t>
                </a:r>
                <a:r>
                  <a:rPr lang="en-IN" sz="2400">
                    <a:solidFill>
                      <a:srgbClr val="111827"/>
                    </a:solidFill>
                    <a:latin typeface="Cambria Math" panose="02040503050406030204" pitchFamily="18" charset="0"/>
                  </a:rPr>
                  <a:t>$|\vec a+\vec b+\vec c|^2=3+2S$</a:t>
                </a:r>
                <a:r>
                  <a:rPr sz="2400" b="0">
                    <a:solidFill>
                      <a:srgbClr val="111827"/>
                    </a:solidFill>
                    <a:latin typeface="Arial"/>
                  </a:rPr>
                  <a:t> we have </a:t>
                </a:r>
                <a:r>
                  <a:rPr lang="en-IN" sz="2400">
                    <a:solidFill>
                      <a:srgbClr val="111827"/>
                    </a:solidFill>
                    <a:latin typeface="Cambria Math" panose="02040503050406030204" pitchFamily="18" charset="0"/>
                  </a:rPr>
                  <a:t>$S=\frac{|\vec a+\vec b+\vec c|^2-3}{2}$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sum equals </a:t>
                </a:r>
                <a:r>
                  <a:rPr lang="en-IN" sz="2400">
                    <a:solidFill>
                      <a:srgbClr val="111827"/>
                    </a:solidFill>
                    <a:latin typeface="Cambria Math" panose="02040503050406030204" pitchFamily="18" charset="0"/>
                  </a:rPr>
                  <a:t>$15-4S=15-2|\vec a+\vec b+\vec c|^2+6=21-2|\vec a+\vec b+\vec c|^2$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non-negative square is subtracted, so the value is at most </a:t>
                </a:r>
                <a14:m>
                  <m:oMath xmlns:m="http://schemas.openxmlformats.org/officeDocument/2006/math">
                    <m:r>
                      <a:rPr lang="en-IN" sz="2400" i="1">
                        <a:solidFill>
                          <a:srgbClr val="111827"/>
                        </a:solidFill>
                        <a:latin typeface="Cambria Math" panose="02040503050406030204" pitchFamily="18" charset="0"/>
                      </a:rPr>
                      <m:t>21</m:t>
                    </m:r>
                  </m:oMath>
                </a14:m>
                <a:r>
                  <a:rPr sz="2400" b="0">
                    <a:solidFill>
                      <a:srgbClr val="111827"/>
                    </a:solidFill>
                    <a:latin typeface="Arial"/>
                  </a:rPr>
                  <a:t>, attained when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sum never exceeds </a:t>
                </a:r>
                <a14:m>
                  <m:oMath xmlns:m="http://schemas.openxmlformats.org/officeDocument/2006/math">
                    <m:r>
                      <a:rPr lang="en-IN" sz="2400" i="1">
                        <a:solidFill>
                          <a:srgbClr val="111827"/>
                        </a:solidFill>
                        <a:latin typeface="Cambria Math" panose="02040503050406030204" pitchFamily="18" charset="0"/>
                      </a:rPr>
                      <m:t>21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18</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are exceeded for the equilateral choice): option (D).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non-negative square is subtracted, so the value is at most </a:t>
                </a:r>
                <a:r>
                  <a:rPr lang="en-IN" sz="2400">
                    <a:solidFill>
                      <a:srgbClr val="111827"/>
                    </a:solidFill>
                    <a:latin typeface="Cambria Math" panose="02040503050406030204" pitchFamily="18" charset="0"/>
                  </a:rPr>
                  <a:t>$21$</a:t>
                </a:r>
                <a:r>
                  <a:rPr sz="2400" b="0">
                    <a:solidFill>
                      <a:srgbClr val="111827"/>
                    </a:solidFill>
                    <a:latin typeface="Arial"/>
                  </a:rPr>
                  <a:t>, attained when </a:t>
                </a:r>
                <a:r>
                  <a:rPr lang="en-IN" sz="2400">
                    <a:solidFill>
                      <a:srgbClr val="111827"/>
                    </a:solidFill>
                    <a:latin typeface="Cambria Math" panose="02040503050406030204" pitchFamily="18" charset="0"/>
                  </a:rPr>
                  <a:t>$\vec a+\vec b+\vec c=\vec 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sum never exceeds </a:t>
                </a:r>
                <a:r>
                  <a:rPr lang="en-IN" sz="2400">
                    <a:solidFill>
                      <a:srgbClr val="111827"/>
                    </a:solidFill>
                    <a:latin typeface="Cambria Math" panose="02040503050406030204" pitchFamily="18" charset="0"/>
                  </a:rPr>
                  <a:t>$21$</a:t>
                </a:r>
                <a:r>
                  <a:rPr sz="2400" b="0">
                    <a:solidFill>
                      <a:srgbClr val="111827"/>
                    </a:solidFill>
                    <a:latin typeface="Arial"/>
                  </a:rPr>
                  <a:t> (and </a:t>
                </a:r>
                <a:r>
                  <a:rPr lang="en-IN" sz="2400">
                    <a:solidFill>
                      <a:srgbClr val="111827"/>
                    </a:solidFill>
                    <a:latin typeface="Cambria Math" panose="02040503050406030204" pitchFamily="18" charset="0"/>
                  </a:rPr>
                  <a:t>$18$</a:t>
                </a:r>
                <a:r>
                  <a:rPr sz="2400" b="0">
                    <a:solidFill>
                      <a:srgbClr val="111827"/>
                    </a:solidFill>
                    <a:latin typeface="Arial"/>
                  </a:rPr>
                  <a:t>, </a:t>
                </a:r>
                <a:r>
                  <a:rPr lang="en-IN" sz="2400">
                    <a:solidFill>
                      <a:srgbClr val="111827"/>
                    </a:solidFill>
                    <a:latin typeface="Cambria Math" panose="02040503050406030204" pitchFamily="18" charset="0"/>
                  </a:rPr>
                  <a:t>$12$</a:t>
                </a:r>
                <a:r>
                  <a:rPr sz="2400" b="0">
                    <a:solidFill>
                      <a:srgbClr val="111827"/>
                    </a:solidFill>
                    <a:latin typeface="Arial"/>
                  </a:rPr>
                  <a:t>, </a:t>
                </a:r>
                <a:r>
                  <a:rPr lang="en-IN" sz="2400">
                    <a:solidFill>
                      <a:srgbClr val="111827"/>
                    </a:solidFill>
                    <a:latin typeface="Cambria Math" panose="02040503050406030204" pitchFamily="18" charset="0"/>
                  </a:rPr>
                  <a:t>$9$</a:t>
                </a:r>
                <a:r>
                  <a:rPr sz="2400" b="0">
                    <a:solidFill>
                      <a:srgbClr val="111827"/>
                    </a:solidFill>
                    <a:latin typeface="Arial"/>
                  </a:rPr>
                  <a:t> are exceeded for the equilateral choice): option (D).</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21</a:t>
            </a:r>
            <a:endParaRPr sz="2800">
              <a:solidFill>
                <a:srgbClr val="15803D"/>
              </a:solidFill>
            </a:endParaRP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unit vectors,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type sums reduce to a constant plus a multiple of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always (equality iff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with equality iff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'Does not exceed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questions: the answer is the smallest option that is at least the maximum, and the maximum must be checked to be attained.</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unit vectors, </a:t>
                </a:r>
                <a:r>
                  <a:rPr lang="en-IN" sz="2400">
                    <a:solidFill>
                      <a:srgbClr val="111827"/>
                    </a:solidFill>
                    <a:latin typeface="Cambria Math" panose="02040503050406030204" pitchFamily="18" charset="0"/>
                  </a:rPr>
                  <a:t>$\sum(\vec a-k\vec b)^2$</a:t>
                </a:r>
                <a:r>
                  <a:rPr sz="2400" b="0">
                    <a:solidFill>
                      <a:srgbClr val="111827"/>
                    </a:solidFill>
                    <a:latin typeface="Arial"/>
                  </a:rPr>
                  <a:t> type sums reduce to a constant plus a multiple of </a:t>
                </a:r>
                <a:r>
                  <a:rPr lang="en-IN" sz="2400">
                    <a:solidFill>
                      <a:srgbClr val="111827"/>
                    </a:solidFill>
                    <a:latin typeface="Cambria Math" panose="02040503050406030204" pitchFamily="18" charset="0"/>
                  </a:rPr>
                  <a:t>$S=\vec a\cdot\vec b+\vec b\cdot\vec c+\vec c\cdot\vec a$</a:t>
                </a:r>
                <a:r>
                  <a:rPr sz="2400" b="0">
                    <a:solidFill>
                      <a:srgbClr val="111827"/>
                    </a:solidFill>
                    <a:latin typeface="Arial"/>
                  </a:rPr>
                  <a:t>, and </a:t>
                </a:r>
                <a:r>
                  <a:rPr lang="en-IN" sz="2400">
                    <a:solidFill>
                      <a:srgbClr val="111827"/>
                    </a:solidFill>
                    <a:latin typeface="Cambria Math" panose="02040503050406030204" pitchFamily="18" charset="0"/>
                  </a:rPr>
                  <a:t>$S\ge-\frac32$</a:t>
                </a:r>
                <a:r>
                  <a:rPr sz="2400" b="0">
                    <a:solidFill>
                      <a:srgbClr val="111827"/>
                    </a:solidFill>
                    <a:latin typeface="Arial"/>
                  </a:rPr>
                  <a:t> always (equality iff </a:t>
                </a:r>
                <a:r>
                  <a:rPr lang="en-IN" sz="2400">
                    <a:solidFill>
                      <a:srgbClr val="111827"/>
                    </a:solidFill>
                    <a:latin typeface="Cambria Math" panose="02040503050406030204" pitchFamily="18" charset="0"/>
                  </a:rPr>
                  <a:t>$\vec a+\vec b+\vec c=\vec 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r>
                  <a:rPr lang="en-IN" sz="2400">
                    <a:solidFill>
                      <a:srgbClr val="111827"/>
                    </a:solidFill>
                    <a:latin typeface="Cambria Math" panose="02040503050406030204" pitchFamily="18" charset="0"/>
                  </a:rPr>
                  <a:t>$S\le3$</a:t>
                </a:r>
                <a:r>
                  <a:rPr sz="2400" b="0">
                    <a:solidFill>
                      <a:srgbClr val="111827"/>
                    </a:solidFill>
                    <a:latin typeface="Arial"/>
                  </a:rPr>
                  <a:t> with equality iff </a:t>
                </a:r>
                <a:r>
                  <a:rPr lang="en-IN" sz="2400">
                    <a:solidFill>
                      <a:srgbClr val="111827"/>
                    </a:solidFill>
                    <a:latin typeface="Cambria Math" panose="02040503050406030204" pitchFamily="18" charset="0"/>
                  </a:rPr>
                  <a:t>$\vec a=\vec b=\vec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'Does not exceed </a:t>
                </a:r>
                <a:r>
                  <a:rPr lang="en-IN" sz="2400">
                    <a:solidFill>
                      <a:srgbClr val="111827"/>
                    </a:solidFill>
                    <a:latin typeface="Cambria Math" panose="02040503050406030204" pitchFamily="18" charset="0"/>
                  </a:rPr>
                  <a:t>$N$</a:t>
                </a:r>
                <a:r>
                  <a:rPr sz="2400" b="0">
                    <a:solidFill>
                      <a:srgbClr val="111827"/>
                    </a:solidFill>
                    <a:latin typeface="Arial"/>
                  </a:rPr>
                  <a:t>' questions: the answer is the smallest option that is at least the maximum, and the maximum must be checked to be attained.</a:t>
                </a:r>
                <a:endParaRPr sz="2400">
                  <a:solidFill>
                    <a:srgbClr val="111827"/>
                  </a:solidFill>
                </a:endParaRPr>
              </a:p>
            </p:txBody>
          </p:sp>
        </mc:Fallback>
      </mc:AlternateContent>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9250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adjacent side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e>
                    </m:acc>
                  </m:oMath>
                </a14:m>
                <a:r>
                  <a:rPr sz="2400" b="0">
                    <a:solidFill>
                      <a:srgbClr val="111827"/>
                    </a:solidFill>
                    <a:latin typeface="Arial"/>
                  </a:rPr>
                  <a:t> of a rectangle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𝐵</m:t>
                    </m:r>
                  </m:oMath>
                </a14:m>
                <a:r>
                  <a:rPr sz="2400" b="0">
                    <a:solidFill>
                      <a:srgbClr val="111827"/>
                    </a:solidFill>
                    <a:latin typeface="Arial"/>
                  </a:rPr>
                  <a:t> are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respectively where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the origin. If </a:t>
                </a:r>
                <a14:m>
                  <m:oMath xmlns:m="http://schemas.openxmlformats.org/officeDocument/2006/math">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be the acute angle between the diagonals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then the possible value of </a:t>
                </a:r>
                <a14:m>
                  <m:oMath xmlns:m="http://schemas.openxmlformats.org/officeDocument/2006/math">
                    <m:r>
                      <m:rPr>
                        <m:sty m:val="p"/>
                      </m:rPr>
                      <a:rPr lang="en-IN" sz="2400">
                        <a:solidFill>
                          <a:srgbClr val="111827"/>
                        </a:solidFill>
                        <a:latin typeface="Cambria Math" panose="02040503050406030204" pitchFamily="18" charset="0"/>
                      </a:rPr>
                      <m:t>tan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endParaRPr sz="2400">
                  <a:solidFill>
                    <a:srgbClr val="111827"/>
                  </a:solidFill>
                </a:endParaRPr>
              </a:p>
            </p:txBody>
          </p:sp>
        </mc:Choice>
        <mc:Fallback>
          <p:sp>
            <p:nvSpPr>
              <p:cNvPr id="4" name="Rounded Rectangle 3"/>
              <p:cNvSpPr/>
              <p:nvPr/>
            </p:nvSpPr>
            <p:spPr>
              <a:xfrm>
                <a:off x="731520" y="1280160"/>
                <a:ext cx="10725912" cy="29250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adjacent side vectors </a:t>
                </a:r>
                <a:r>
                  <a:rPr lang="en-IN" sz="2400">
                    <a:solidFill>
                      <a:srgbClr val="111827"/>
                    </a:solidFill>
                    <a:latin typeface="Cambria Math" panose="02040503050406030204" pitchFamily="18" charset="0"/>
                  </a:rPr>
                  <a:t>$\overrightarrow{OA}$</a:t>
                </a:r>
                <a:r>
                  <a:rPr sz="2400" b="0">
                    <a:solidFill>
                      <a:srgbClr val="111827"/>
                    </a:solidFill>
                    <a:latin typeface="Arial"/>
                  </a:rPr>
                  <a:t> and </a:t>
                </a:r>
                <a:r>
                  <a:rPr lang="en-IN" sz="2400">
                    <a:solidFill>
                      <a:srgbClr val="111827"/>
                    </a:solidFill>
                    <a:latin typeface="Cambria Math" panose="02040503050406030204" pitchFamily="18" charset="0"/>
                  </a:rPr>
                  <a:t>$\overrightarrow{OB}$</a:t>
                </a:r>
                <a:r>
                  <a:rPr sz="2400" b="0">
                    <a:solidFill>
                      <a:srgbClr val="111827"/>
                    </a:solidFill>
                    <a:latin typeface="Arial"/>
                  </a:rPr>
                  <a:t> of a rectangle </a:t>
                </a:r>
                <a:r>
                  <a:rPr lang="en-IN" sz="2400">
                    <a:solidFill>
                      <a:srgbClr val="111827"/>
                    </a:solidFill>
                    <a:latin typeface="Cambria Math" panose="02040503050406030204" pitchFamily="18" charset="0"/>
                  </a:rPr>
                  <a:t>$OACB$</a:t>
                </a:r>
                <a:r>
                  <a:rPr sz="2400" b="0">
                    <a:solidFill>
                      <a:srgbClr val="111827"/>
                    </a:solidFill>
                    <a:latin typeface="Arial"/>
                  </a:rPr>
                  <a:t> are </a:t>
                </a:r>
                <a:r>
                  <a:rPr lang="en-IN" sz="2400">
                    <a:solidFill>
                      <a:srgbClr val="111827"/>
                    </a:solidFill>
                    <a:latin typeface="Cambria Math" panose="02040503050406030204" pitchFamily="18" charset="0"/>
                  </a:rPr>
                  <a:t>$\vec a$</a:t>
                </a:r>
                <a:r>
                  <a:rPr sz="2400" b="0">
                    <a:solidFill>
                      <a:srgbClr val="111827"/>
                    </a:solidFill>
                    <a:latin typeface="Arial"/>
                  </a:rPr>
                  <a:t> and </a:t>
                </a:r>
                <a:r>
                  <a:rPr lang="en-IN" sz="2400">
                    <a:solidFill>
                      <a:srgbClr val="111827"/>
                    </a:solidFill>
                    <a:latin typeface="Cambria Math" panose="02040503050406030204" pitchFamily="18" charset="0"/>
                  </a:rPr>
                  <a:t>$\vec b$</a:t>
                </a:r>
                <a:r>
                  <a:rPr sz="2400" b="0">
                    <a:solidFill>
                      <a:srgbClr val="111827"/>
                    </a:solidFill>
                    <a:latin typeface="Arial"/>
                  </a:rPr>
                  <a:t> respectively where </a:t>
                </a:r>
                <a:r>
                  <a:rPr lang="en-IN" sz="2400">
                    <a:solidFill>
                      <a:srgbClr val="111827"/>
                    </a:solidFill>
                    <a:latin typeface="Cambria Math" panose="02040503050406030204" pitchFamily="18" charset="0"/>
                  </a:rPr>
                  <a:t>$O$</a:t>
                </a:r>
                <a:r>
                  <a:rPr sz="2400" b="0">
                    <a:solidFill>
                      <a:srgbClr val="111827"/>
                    </a:solidFill>
                    <a:latin typeface="Arial"/>
                  </a:rPr>
                  <a:t> is the origin. If </a:t>
                </a:r>
                <a:r>
                  <a:rPr lang="en-IN" sz="2400">
                    <a:solidFill>
                      <a:srgbClr val="111827"/>
                    </a:solidFill>
                    <a:latin typeface="Cambria Math" panose="02040503050406030204" pitchFamily="18" charset="0"/>
                  </a:rPr>
                  <a:t>$16|\vec a\times\vec b|=3(|\vec a|+|\vec b|)^2$</a:t>
                </a:r>
                <a:r>
                  <a:rPr sz="2400" b="0">
                    <a:solidFill>
                      <a:srgbClr val="111827"/>
                    </a:solidFill>
                    <a:latin typeface="Arial"/>
                  </a:rPr>
                  <a:t> and </a:t>
                </a:r>
                <a:r>
                  <a:rPr lang="en-IN" sz="2400">
                    <a:solidFill>
                      <a:srgbClr val="111827"/>
                    </a:solidFill>
                    <a:latin typeface="Cambria Math" panose="02040503050406030204" pitchFamily="18" charset="0"/>
                  </a:rPr>
                  <a:t>$\theta$</a:t>
                </a:r>
                <a:r>
                  <a:rPr sz="2400" b="0">
                    <a:solidFill>
                      <a:srgbClr val="111827"/>
                    </a:solidFill>
                    <a:latin typeface="Arial"/>
                  </a:rPr>
                  <a:t> be the acute angle between the diagonals </a:t>
                </a:r>
                <a:r>
                  <a:rPr lang="en-IN" sz="2400">
                    <a:solidFill>
                      <a:srgbClr val="111827"/>
                    </a:solidFill>
                    <a:latin typeface="Cambria Math" panose="02040503050406030204" pitchFamily="18" charset="0"/>
                  </a:rPr>
                  <a:t>$OC$</a:t>
                </a:r>
                <a:r>
                  <a:rPr sz="2400" b="0">
                    <a:solidFill>
                      <a:srgbClr val="111827"/>
                    </a:solidFill>
                    <a:latin typeface="Arial"/>
                  </a:rPr>
                  <a:t> and </a:t>
                </a:r>
                <a:r>
                  <a:rPr lang="en-IN" sz="2400">
                    <a:solidFill>
                      <a:srgbClr val="111827"/>
                    </a:solidFill>
                    <a:latin typeface="Cambria Math" panose="02040503050406030204" pitchFamily="18" charset="0"/>
                  </a:rPr>
                  <a:t>$AB$</a:t>
                </a:r>
                <a:r>
                  <a:rPr sz="2400" b="0">
                    <a:solidFill>
                      <a:srgbClr val="111827"/>
                    </a:solidFill>
                    <a:latin typeface="Arial"/>
                  </a:rPr>
                  <a:t> then the possible value of </a:t>
                </a:r>
                <a:r>
                  <a:rPr lang="en-IN" sz="2400">
                    <a:solidFill>
                      <a:srgbClr val="111827"/>
                    </a:solidFill>
                    <a:latin typeface="Cambria Math" panose="02040503050406030204" pitchFamily="18" charset="0"/>
                  </a:rPr>
                  <a:t>$\tan(\theta/2)$</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$\frac{1}{\sqrt2}$</a:t>
                </a:r>
                <a:r>
                  <a:rPr sz="2400" b="0">
                    <a:solidFill>
                      <a:srgbClr val="111827"/>
                    </a:solidFill>
                    <a:latin typeface="Arial"/>
                  </a:rPr>
                  <a:t>   (B) </a:t>
                </a:r>
                <a:r>
                  <a:rPr lang="en-IN" sz="2400">
                    <a:solidFill>
                      <a:srgbClr val="111827"/>
                    </a:solidFill>
                    <a:latin typeface="Cambria Math" panose="02040503050406030204" pitchFamily="18" charset="0"/>
                  </a:rPr>
                  <a:t>$\frac12$</a:t>
                </a:r>
                <a:r>
                  <a:rPr sz="2400" b="0">
                    <a:solidFill>
                      <a:srgbClr val="111827"/>
                    </a:solidFill>
                    <a:latin typeface="Arial"/>
                  </a:rPr>
                  <a:t>   (C) </a:t>
                </a:r>
                <a:r>
                  <a:rPr lang="en-IN" sz="2400">
                    <a:solidFill>
                      <a:srgbClr val="111827"/>
                    </a:solidFill>
                    <a:latin typeface="Cambria Math" panose="02040503050406030204" pitchFamily="18" charset="0"/>
                  </a:rPr>
                  <a:t>$\frac{1}{\sqrt3}$</a:t>
                </a:r>
                <a:r>
                  <a:rPr sz="2400" b="0">
                    <a:solidFill>
                      <a:srgbClr val="111827"/>
                    </a:solidFill>
                    <a:latin typeface="Arial"/>
                  </a:rPr>
                  <a:t>   (D) </a:t>
                </a:r>
                <a:r>
                  <a:rPr lang="en-IN" sz="2400">
                    <a:solidFill>
                      <a:srgbClr val="111827"/>
                    </a:solidFill>
                    <a:latin typeface="Cambria Math" panose="02040503050406030204" pitchFamily="18" charset="0"/>
                  </a:rPr>
                  <a:t>$\frac13$</a:t>
                </a:r>
                <a:endParaRPr sz="2400">
                  <a:solidFill>
                    <a:srgbClr val="111827"/>
                  </a:solidFill>
                </a:endParaRPr>
              </a:p>
            </p:txBody>
          </p:sp>
        </mc:Fallback>
      </mc:AlternateContent>
      <p:sp>
        <p:nvSpPr>
          <p:cNvPr id="5" name="Rectangle 4"/>
          <p:cNvSpPr/>
          <p:nvPr/>
        </p:nvSpPr>
        <p:spPr>
          <a:xfrm>
            <a:off x="731520" y="443382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Rectangle in vectors: diagonals and angle between them</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In a rectangle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oMath>
                </a14:m>
                <a:r>
                  <a:rPr sz="2400" b="0">
                    <a:solidFill>
                      <a:srgbClr val="78350F"/>
                    </a:solidFill>
                    <a:latin typeface="Arial"/>
                  </a:rPr>
                  <a:t> turns the condition into </a:t>
                </a:r>
                <a14:m>
                  <m:oMath xmlns:m="http://schemas.openxmlformats.org/officeDocument/2006/math">
                    <m:r>
                      <a:rPr lang="en-IN" sz="2400" i="1">
                        <a:solidFill>
                          <a:srgbClr val="78350F"/>
                        </a:solidFill>
                        <a:latin typeface="Cambria Math" panose="02040503050406030204" pitchFamily="18" charset="0"/>
                      </a:rPr>
                      <m:t>3</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10</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so one side is three times the other.</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In a rectangle </a:t>
                </a:r>
                <a:r>
                  <a:rPr lang="en-IN" sz="2400">
                    <a:solidFill>
                      <a:srgbClr val="78350F"/>
                    </a:solidFill>
                    <a:latin typeface="Cambria Math" panose="02040503050406030204" pitchFamily="18" charset="0"/>
                  </a:rPr>
                  <a:t>$|\vec a\times\vec b|=ab$</a:t>
                </a:r>
                <a:r>
                  <a:rPr sz="2400" b="0">
                    <a:solidFill>
                      <a:srgbClr val="78350F"/>
                    </a:solidFill>
                    <a:latin typeface="Arial"/>
                  </a:rPr>
                  <a:t> turns the condition into </a:t>
                </a:r>
                <a:r>
                  <a:rPr lang="en-IN" sz="2400">
                    <a:solidFill>
                      <a:srgbClr val="78350F"/>
                    </a:solidFill>
                    <a:latin typeface="Cambria Math" panose="02040503050406030204" pitchFamily="18" charset="0"/>
                  </a:rPr>
                  <a:t>$3a^2-10ab+3b^2=0$</a:t>
                </a:r>
                <a:r>
                  <a:rPr sz="2400" b="0">
                    <a:solidFill>
                      <a:srgbClr val="78350F"/>
                    </a:solidFill>
                    <a:latin typeface="Arial"/>
                  </a:rPr>
                  <a:t>, so one side is three times the other.</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rectangle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𝑏</m:t>
                    </m:r>
                  </m:oMath>
                </a14:m>
                <a:r>
                  <a:rPr sz="2400" b="0">
                    <a:solidFill>
                      <a:srgbClr val="111827"/>
                    </a:solidFill>
                    <a:latin typeface="Arial"/>
                  </a:rPr>
                  <a:t> (take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oMath>
                </a14:m>
                <a:r>
                  <a:rPr sz="2400" b="0">
                    <a:solidFill>
                      <a:srgbClr val="111827"/>
                    </a:solidFill>
                    <a:latin typeface="Arial"/>
                  </a:rPr>
                  <a:t>; the other case is symmetric).</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rectangle </a:t>
                </a:r>
                <a:r>
                  <a:rPr lang="en-IN" sz="2400">
                    <a:solidFill>
                      <a:srgbClr val="111827"/>
                    </a:solidFill>
                    <a:latin typeface="Cambria Math" panose="02040503050406030204" pitchFamily="18" charset="0"/>
                  </a:rPr>
                  <a:t>$\vec a\perp\vec b$</a:t>
                </a:r>
                <a:r>
                  <a:rPr sz="2400" b="0">
                    <a:solidFill>
                      <a:srgbClr val="111827"/>
                    </a:solidFill>
                    <a:latin typeface="Arial"/>
                  </a:rPr>
                  <a:t>, so </a:t>
                </a:r>
                <a:r>
                  <a:rPr lang="en-IN" sz="2400">
                    <a:solidFill>
                      <a:srgbClr val="111827"/>
                    </a:solidFill>
                    <a:latin typeface="Cambria Math" panose="02040503050406030204" pitchFamily="18" charset="0"/>
                  </a:rPr>
                  <a:t>$|\vec a\times\vec b|=ab\sin\frac{\pi}{2}=ab$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$16ab=3(a+b)^2=3a^2+3b^2+6ab\Rightarrow3a^2-10ab+3b^2=0$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$(3a-b)(a-3b)=0\Rightarrow b=3a$</a:t>
                </a:r>
                <a:r>
                  <a:rPr sz="2400" b="0">
                    <a:solidFill>
                      <a:srgbClr val="111827"/>
                    </a:solidFill>
                    <a:latin typeface="Arial"/>
                  </a:rPr>
                  <a:t> or </a:t>
                </a:r>
                <a:r>
                  <a:rPr lang="en-IN" sz="2400">
                    <a:solidFill>
                      <a:srgbClr val="111827"/>
                    </a:solidFill>
                    <a:latin typeface="Cambria Math" panose="02040503050406030204" pitchFamily="18" charset="0"/>
                  </a:rPr>
                  <a:t>$a=3b$</a:t>
                </a:r>
                <a:r>
                  <a:rPr sz="2400" b="0">
                    <a:solidFill>
                      <a:srgbClr val="111827"/>
                    </a:solidFill>
                    <a:latin typeface="Arial"/>
                  </a:rPr>
                  <a:t> (take </a:t>
                </a:r>
                <a:r>
                  <a:rPr lang="en-IN" sz="2400">
                    <a:solidFill>
                      <a:srgbClr val="111827"/>
                    </a:solidFill>
                    <a:latin typeface="Cambria Math" panose="02040503050406030204" pitchFamily="18" charset="0"/>
                  </a:rPr>
                  <a:t>$b=3a$</a:t>
                </a:r>
                <a:r>
                  <a:rPr sz="2400" b="0">
                    <a:solidFill>
                      <a:srgbClr val="111827"/>
                    </a:solidFill>
                    <a:latin typeface="Arial"/>
                  </a:rPr>
                  <a:t>; the other case is symmetric).</a:t>
                </a:r>
                <a:endParaRPr sz="2400">
                  <a:solidFill>
                    <a:srgbClr val="111827"/>
                  </a:solidFill>
                </a:endParaRPr>
              </a:p>
            </p:txBody>
          </p:sp>
        </mc:Fallback>
      </mc:AlternateContent>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Diagonals: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e>
                        </m:rad>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(acute).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den>
                        </m:f>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den>
                        </m:f>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9</m:t>
                            </m:r>
                          </m:den>
                        </m:f>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option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Diagonals: </a:t>
                </a:r>
                <a:r>
                  <a:rPr lang="en-IN" sz="2400">
                    <a:solidFill>
                      <a:srgbClr val="111827"/>
                    </a:solidFill>
                    <a:latin typeface="Cambria Math" panose="02040503050406030204" pitchFamily="18" charset="0"/>
                  </a:rPr>
                  <a:t>$\overrightarrow{OC}=\vec a+\vec b$</a:t>
                </a:r>
                <a:r>
                  <a:rPr sz="2400" b="0">
                    <a:solidFill>
                      <a:srgbClr val="111827"/>
                    </a:solidFill>
                    <a:latin typeface="Arial"/>
                  </a:rPr>
                  <a:t> and </a:t>
                </a:r>
                <a:r>
                  <a:rPr lang="en-IN" sz="2400">
                    <a:solidFill>
                      <a:srgbClr val="111827"/>
                    </a:solidFill>
                    <a:latin typeface="Cambria Math" panose="02040503050406030204" pitchFamily="18" charset="0"/>
                  </a:rPr>
                  <a:t>$\overrightarrow{AB}=\vec b-\vec a$</a:t>
                </a:r>
                <a:r>
                  <a:rPr sz="2400" b="0">
                    <a:solidFill>
                      <a:srgbClr val="111827"/>
                    </a:solidFill>
                    <a:latin typeface="Arial"/>
                  </a:rPr>
                  <a:t>, so </a:t>
                </a:r>
                <a:r>
                  <a:rPr lang="en-IN" sz="2400">
                    <a:solidFill>
                      <a:srgbClr val="111827"/>
                    </a:solidFill>
                    <a:latin typeface="Cambria Math" panose="02040503050406030204" pitchFamily="18" charset="0"/>
                  </a:rPr>
                  <a:t>$\overrightarrow{OC}\cdot\overrightarrow{AB}=b^2-a^2$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$\cos\theta=\frac{b^2-a^2}{|\overrightarrow{OC}||\overrightarrow{AB}|}=\frac{b^2-a^2}{\sqrt{a^2+b^2}\sqrt{a^2+b^2}}=\frac{9a^2-a^2}{9a^2+a^2}=\frac45$</a:t>
                </a:r>
                <a:r>
                  <a:rPr sz="2400" b="0">
                    <a:solidFill>
                      <a:srgbClr val="111827"/>
                    </a:solidFill>
                    <a:latin typeface="Arial"/>
                  </a:rPr>
                  <a:t> (acute).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$\tan\frac\theta2=\sqrt{\frac{1-\cos\theta}{1+\cos\theta}}=\sqrt{\frac{1-4/5}{1+4/5}}=\sqrt{\frac19}=\frac13$</a:t>
                </a:r>
                <a:r>
                  <a:rPr sz="2400" b="0">
                    <a:solidFill>
                      <a:srgbClr val="111827"/>
                    </a:solidFill>
                    <a:latin typeface="Arial"/>
                  </a:rPr>
                  <a:t>, option (D).</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r>
                          <a:rPr lang="en-IN" sz="2800" i="1">
                            <a:solidFill>
                              <a:srgbClr val="15803D"/>
                            </a:solidFill>
                            <a:latin typeface="Cambria Math" panose="02040503050406030204" pitchFamily="18" charset="0"/>
                          </a:rPr>
                          <m:t>3</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r>
                  <a:rPr lang="en-IN" sz="2800">
                    <a:solidFill>
                      <a:srgbClr val="15803D"/>
                    </a:solidFill>
                    <a:latin typeface="Cambria Math" panose="02040503050406030204" pitchFamily="18" charset="0"/>
                  </a:rPr>
                  <a:t>$\frac13$</a:t>
                </a:r>
                <a:endParaRPr sz="2800">
                  <a:solidFill>
                    <a:srgbClr val="15803D"/>
                  </a:solidFill>
                </a:endParaRPr>
              </a:p>
            </p:txBody>
          </p:sp>
        </mc:Fallback>
      </mc:AlternateContent>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geometry of a rectangle: the diagonals are equal and bisect each other, so the half-angle between them is the angle a diagonal makes with the longer side.</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 before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oMath>
                </a14:m>
                <a:r>
                  <a:rPr sz="2400" b="0">
                    <a:solidFill>
                      <a:srgbClr val="111827"/>
                    </a:solidFill>
                    <a:latin typeface="Arial"/>
                  </a:rPr>
                  <a:t> (sides in the ratio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diagonals meet at the centre; each diagonal makes an angle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with the longer side with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nor/>
                          </m:rPr>
                          <a:rPr lang="en-IN" sz="2400" i="1">
                            <a:solidFill>
                              <a:srgbClr val="111827"/>
                            </a:solidFill>
                            <a:latin typeface="Cambria Math" panose="02040503050406030204" pitchFamily="18" charset="0"/>
                          </a:rPr>
                          <m:t>𝑠ℎ𝑜𝑟𝑡𝑒𝑟</m:t>
                        </m:r>
                      </m:num>
                      <m:den>
                        <m:r>
                          <m:rPr>
                            <m:nor/>
                          </m:rPr>
                          <a:rPr lang="en-IN" sz="2400" i="1">
                            <a:solidFill>
                              <a:srgbClr val="111827"/>
                            </a:solidFill>
                            <a:latin typeface="Cambria Math" panose="02040503050406030204" pitchFamily="18" charset="0"/>
                          </a:rPr>
                          <m:t>𝑙𝑜𝑛𝑔𝑒𝑟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 before </a:t>
                </a:r>
                <a:r>
                  <a:rPr lang="en-IN" sz="2400">
                    <a:solidFill>
                      <a:srgbClr val="111827"/>
                    </a:solidFill>
                    <a:latin typeface="Cambria Math" panose="02040503050406030204" pitchFamily="18" charset="0"/>
                  </a:rPr>
                  <a:t>$b=3a$</a:t>
                </a:r>
                <a:r>
                  <a:rPr sz="2400" b="0">
                    <a:solidFill>
                      <a:srgbClr val="111827"/>
                    </a:solidFill>
                    <a:latin typeface="Arial"/>
                  </a:rPr>
                  <a:t> (sides in the ratio </a:t>
                </a:r>
                <a:r>
                  <a:rPr lang="en-IN" sz="2400">
                    <a:solidFill>
                      <a:srgbClr val="111827"/>
                    </a:solidFill>
                    <a:latin typeface="Cambria Math" panose="02040503050406030204" pitchFamily="18" charset="0"/>
                  </a:rPr>
                  <a:t>$3:1$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diagonals meet at the centre; each diagonal makes an angle </a:t>
                </a:r>
                <a:r>
                  <a:rPr lang="en-IN" sz="2400">
                    <a:solidFill>
                      <a:srgbClr val="111827"/>
                    </a:solidFill>
                    <a:latin typeface="Cambria Math" panose="02040503050406030204" pitchFamily="18" charset="0"/>
                  </a:rPr>
                  <a:t>$\varphi$</a:t>
                </a:r>
                <a:r>
                  <a:rPr sz="2400" b="0">
                    <a:solidFill>
                      <a:srgbClr val="111827"/>
                    </a:solidFill>
                    <a:latin typeface="Arial"/>
                  </a:rPr>
                  <a:t> with the longer side with </a:t>
                </a:r>
                <a:r>
                  <a:rPr lang="en-IN" sz="2400">
                    <a:solidFill>
                      <a:srgbClr val="111827"/>
                    </a:solidFill>
                    <a:latin typeface="Cambria Math" panose="02040503050406030204" pitchFamily="18" charset="0"/>
                  </a:rPr>
                  <a:t>$\tan\varphi=\frac{\text{shorter}}{\text{longer}}=\frac{a}{b}=\frac13$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two diagonals are symmetric about the longer side, so the angle between them (containing the longer side) is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φ</m:t>
                    </m:r>
                  </m:oMath>
                </a14:m>
                <a:r>
                  <a:rPr sz="2400" b="0">
                    <a:solidFill>
                      <a:srgbClr val="111827"/>
                    </a:solidFill>
                    <a:latin typeface="Arial"/>
                  </a:rPr>
                  <a:t>, which is the acute one.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φ</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(check: </a:t>
                </a:r>
                <a14:m>
                  <m:oMath xmlns:m="http://schemas.openxmlformats.org/officeDocument/2006/math">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two diagonals are symmetric about the longer side, so the angle between them (containing the longer side) is </a:t>
                </a:r>
                <a:r>
                  <a:rPr lang="en-IN" sz="2400">
                    <a:solidFill>
                      <a:srgbClr val="111827"/>
                    </a:solidFill>
                    <a:latin typeface="Cambria Math" panose="02040503050406030204" pitchFamily="18" charset="0"/>
                  </a:rPr>
                  <a:t>$2\varphi$</a:t>
                </a:r>
                <a:r>
                  <a:rPr sz="2400" b="0">
                    <a:solidFill>
                      <a:srgbClr val="111827"/>
                    </a:solidFill>
                    <a:latin typeface="Arial"/>
                  </a:rPr>
                  <a:t>, which is the acute one.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$\theta=2\varphi$</a:t>
                </a:r>
                <a:r>
                  <a:rPr sz="2400" b="0">
                    <a:solidFill>
                      <a:srgbClr val="111827"/>
                    </a:solidFill>
                    <a:latin typeface="Arial"/>
                  </a:rPr>
                  <a:t> and </a:t>
                </a:r>
                <a:r>
                  <a:rPr lang="en-IN" sz="2400">
                    <a:solidFill>
                      <a:srgbClr val="111827"/>
                    </a:solidFill>
                    <a:latin typeface="Cambria Math" panose="02040503050406030204" pitchFamily="18" charset="0"/>
                  </a:rPr>
                  <a:t>$\tan\frac\theta2=\tan\varphi=\frac13$</a:t>
                </a:r>
                <a:r>
                  <a:rPr sz="2400" b="0">
                    <a:solidFill>
                      <a:srgbClr val="111827"/>
                    </a:solidFill>
                    <a:latin typeface="Arial"/>
                  </a:rPr>
                  <a:t> (check: </a:t>
                </a:r>
                <a:r>
                  <a:rPr lang="en-IN" sz="2400">
                    <a:solidFill>
                      <a:srgbClr val="111827"/>
                    </a:solidFill>
                    <a:latin typeface="Cambria Math" panose="02040503050406030204" pitchFamily="18" charset="0"/>
                  </a:rPr>
                  <a:t>$\tan2\varphi=\frac{2/3}{1-1/9}=\frac34$</a:t>
                </a:r>
                <a:r>
                  <a:rPr sz="2400" b="0">
                    <a:solidFill>
                      <a:srgbClr val="111827"/>
                    </a:solidFill>
                    <a:latin typeface="Arial"/>
                  </a:rPr>
                  <a:t>, </a:t>
                </a:r>
                <a:r>
                  <a:rPr lang="en-IN" sz="2400">
                    <a:solidFill>
                      <a:srgbClr val="111827"/>
                    </a:solidFill>
                    <a:latin typeface="Cambria Math" panose="02040503050406030204" pitchFamily="18" charset="0"/>
                  </a:rPr>
                  <a:t>$\cos\theta=\frac45$</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r>
                          <a:rPr lang="en-IN" sz="2800" i="1">
                            <a:solidFill>
                              <a:srgbClr val="15803D"/>
                            </a:solidFill>
                            <a:latin typeface="Cambria Math" panose="02040503050406030204" pitchFamily="18" charset="0"/>
                          </a:rPr>
                          <m:t>3</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r>
                  <a:rPr lang="en-IN" sz="2800">
                    <a:solidFill>
                      <a:srgbClr val="15803D"/>
                    </a:solidFill>
                    <a:latin typeface="Cambria Math" panose="02040503050406030204" pitchFamily="18" charset="0"/>
                  </a:rPr>
                  <a:t>$\frac13$</a:t>
                </a:r>
                <a:endParaRPr sz="2800">
                  <a:solidFill>
                    <a:srgbClr val="15803D"/>
                  </a:solidFill>
                </a:endParaRPr>
              </a:p>
            </p:txBody>
          </p:sp>
        </mc:Fallback>
      </mc:AlternateContent>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rectangle with sides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acute angle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between the diagonals satisfies </a:t>
                </a:r>
                <a14:m>
                  <m:oMath xmlns:m="http://schemas.openxmlformats.org/officeDocument/2006/math">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𝑏</m:t>
                        </m:r>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iff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 condition like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gives a homogeneous quadratic in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that fixes the ratio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Acute angle between two lines: use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not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rectangle with sides </a:t>
                </a:r>
                <a:r>
                  <a:rPr lang="en-IN" sz="2400">
                    <a:solidFill>
                      <a:srgbClr val="111827"/>
                    </a:solidFill>
                    <a:latin typeface="Cambria Math" panose="02040503050406030204" pitchFamily="18" charset="0"/>
                  </a:rPr>
                  <a:t>$a\ (\le b)$</a:t>
                </a:r>
                <a:r>
                  <a:rPr sz="2400" b="0">
                    <a:solidFill>
                      <a:srgbClr val="111827"/>
                    </a:solidFill>
                    <a:latin typeface="Arial"/>
                  </a:rPr>
                  <a:t>, the acute angle </a:t>
                </a:r>
                <a:r>
                  <a:rPr lang="en-IN" sz="2400">
                    <a:solidFill>
                      <a:srgbClr val="111827"/>
                    </a:solidFill>
                    <a:latin typeface="Cambria Math" panose="02040503050406030204" pitchFamily="18" charset="0"/>
                  </a:rPr>
                  <a:t>$\theta$</a:t>
                </a:r>
                <a:r>
                  <a:rPr sz="2400" b="0">
                    <a:solidFill>
                      <a:srgbClr val="111827"/>
                    </a:solidFill>
                    <a:latin typeface="Arial"/>
                  </a:rPr>
                  <a:t> between the diagonals satisfies </a:t>
                </a:r>
                <a:r>
                  <a:rPr lang="en-IN" sz="2400">
                    <a:solidFill>
                      <a:srgbClr val="111827"/>
                    </a:solidFill>
                    <a:latin typeface="Cambria Math" panose="02040503050406030204" pitchFamily="18" charset="0"/>
                  </a:rPr>
                  <a:t>$\tan\frac\theta2=\frac ab$</a:t>
                </a:r>
                <a:r>
                  <a:rPr sz="2400" b="0">
                    <a:solidFill>
                      <a:srgbClr val="111827"/>
                    </a:solidFill>
                    <a:latin typeface="Arial"/>
                  </a:rPr>
                  <a:t> and </a:t>
                </a:r>
                <a:r>
                  <a:rPr lang="en-IN" sz="2400">
                    <a:solidFill>
                      <a:srgbClr val="111827"/>
                    </a:solidFill>
                    <a:latin typeface="Cambria Math" panose="02040503050406030204" pitchFamily="18" charset="0"/>
                  </a:rPr>
                  <a:t>$\cos\theta=\frac{b^2-a^2}{a^2+b^2}$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b|=|\vec a||\vec b|$</a:t>
                </a:r>
                <a:r>
                  <a:rPr sz="2400" b="0">
                    <a:solidFill>
                      <a:srgbClr val="111827"/>
                    </a:solidFill>
                    <a:latin typeface="Arial"/>
                  </a:rPr>
                  <a:t> iff </a:t>
                </a:r>
                <a:r>
                  <a:rPr lang="en-IN" sz="2400">
                    <a:solidFill>
                      <a:srgbClr val="111827"/>
                    </a:solidFill>
                    <a:latin typeface="Cambria Math" panose="02040503050406030204" pitchFamily="18" charset="0"/>
                  </a:rPr>
                  <a:t>$\vec a\perp\vec b$</a:t>
                </a:r>
                <a:r>
                  <a:rPr sz="2400" b="0">
                    <a:solidFill>
                      <a:srgbClr val="111827"/>
                    </a:solidFill>
                    <a:latin typeface="Arial"/>
                  </a:rPr>
                  <a:t>; a condition like </a:t>
                </a:r>
                <a:r>
                  <a:rPr lang="en-IN" sz="2400">
                    <a:solidFill>
                      <a:srgbClr val="111827"/>
                    </a:solidFill>
                    <a:latin typeface="Cambria Math" panose="02040503050406030204" pitchFamily="18" charset="0"/>
                  </a:rPr>
                  <a:t>$k|\vec a||\vec b|=m(a+b)^2$</a:t>
                </a:r>
                <a:r>
                  <a:rPr sz="2400" b="0">
                    <a:solidFill>
                      <a:srgbClr val="111827"/>
                    </a:solidFill>
                    <a:latin typeface="Arial"/>
                  </a:rPr>
                  <a:t> gives a homogeneous quadratic in </a:t>
                </a:r>
                <a:r>
                  <a:rPr lang="en-IN" sz="2400">
                    <a:solidFill>
                      <a:srgbClr val="111827"/>
                    </a:solidFill>
                    <a:latin typeface="Cambria Math" panose="02040503050406030204" pitchFamily="18" charset="0"/>
                  </a:rPr>
                  <a:t>$a,b$</a:t>
                </a:r>
                <a:r>
                  <a:rPr sz="2400" b="0">
                    <a:solidFill>
                      <a:srgbClr val="111827"/>
                    </a:solidFill>
                    <a:latin typeface="Arial"/>
                  </a:rPr>
                  <a:t> that fixes the ratio </a:t>
                </a:r>
                <a:r>
                  <a:rPr lang="en-IN" sz="2400">
                    <a:solidFill>
                      <a:srgbClr val="111827"/>
                    </a:solidFill>
                    <a:latin typeface="Cambria Math" panose="02040503050406030204" pitchFamily="18" charset="0"/>
                  </a:rPr>
                  <a:t>$a:b$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Acute angle between two lines: use </a:t>
                </a:r>
                <a:r>
                  <a:rPr lang="en-IN" sz="2400">
                    <a:solidFill>
                      <a:srgbClr val="111827"/>
                    </a:solidFill>
                    <a:latin typeface="Cambria Math" panose="02040503050406030204" pitchFamily="18" charset="0"/>
                  </a:rPr>
                  <a:t>$|\cos\theta|$</a:t>
                </a:r>
                <a:r>
                  <a:rPr sz="2400" b="0">
                    <a:solidFill>
                      <a:srgbClr val="111827"/>
                    </a:solidFill>
                    <a:latin typeface="Arial"/>
                  </a:rPr>
                  <a:t>, not </a:t>
                </a:r>
                <a:r>
                  <a:rPr lang="en-IN" sz="2400">
                    <a:solidFill>
                      <a:srgbClr val="111827"/>
                    </a:solidFill>
                    <a:latin typeface="Cambria Math" panose="02040503050406030204" pitchFamily="18" charset="0"/>
                  </a:rPr>
                  <a:t>$\cos\theta$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32</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64</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27</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19</m:t>
                    </m:r>
                  </m:oMath>
                </a14:m>
                <a:endParaRPr sz="2400">
                  <a:solidFill>
                    <a:srgbClr val="111827"/>
                  </a:solidFill>
                </a:endParaRPr>
              </a:p>
            </p:txBody>
          </p:sp>
        </mc:Choice>
        <mc:Fallback>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d=\lambda(\vec a\times\vec b)+\mu(\vec b\times\vec c)+\nu(\vec c\times\vec a)$</a:t>
                </a:r>
                <a:r>
                  <a:rPr sz="2400" b="0">
                    <a:solidFill>
                      <a:srgbClr val="111827"/>
                    </a:solidFill>
                    <a:latin typeface="Arial"/>
                  </a:rPr>
                  <a:t>, </a:t>
                </a:r>
                <a:r>
                  <a:rPr lang="en-IN" sz="2400">
                    <a:solidFill>
                      <a:srgbClr val="111827"/>
                    </a:solidFill>
                    <a:latin typeface="Cambria Math" panose="02040503050406030204" pitchFamily="18" charset="0"/>
                  </a:rPr>
                  <a:t>$[\vec a\ \vec b\ \vec c]=\frac18$</a:t>
                </a:r>
                <a:r>
                  <a:rPr sz="2400" b="0">
                    <a:solidFill>
                      <a:srgbClr val="111827"/>
                    </a:solidFill>
                    <a:latin typeface="Arial"/>
                  </a:rPr>
                  <a:t> and </a:t>
                </a:r>
                <a:r>
                  <a:rPr lang="en-IN" sz="2400">
                    <a:solidFill>
                      <a:srgbClr val="111827"/>
                    </a:solidFill>
                    <a:latin typeface="Cambria Math" panose="02040503050406030204" pitchFamily="18" charset="0"/>
                  </a:rPr>
                  <a:t>$\vec d\cdot(\vec a+\vec b+\vec c)=8$</a:t>
                </a:r>
                <a:r>
                  <a:rPr sz="2400" b="0">
                    <a:solidFill>
                      <a:srgbClr val="111827"/>
                    </a:solidFill>
                    <a:latin typeface="Arial"/>
                  </a:rPr>
                  <a:t>, then </a:t>
                </a:r>
                <a:r>
                  <a:rPr lang="en-IN" sz="2400">
                    <a:solidFill>
                      <a:srgbClr val="111827"/>
                    </a:solidFill>
                    <a:latin typeface="Cambria Math" panose="02040503050406030204" pitchFamily="18" charset="0"/>
                  </a:rPr>
                  <a:t>$\lambda+\mu+\nu$</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$32$</a:t>
                </a:r>
                <a:r>
                  <a:rPr sz="2400" b="0">
                    <a:solidFill>
                      <a:srgbClr val="111827"/>
                    </a:solidFill>
                    <a:latin typeface="Arial"/>
                  </a:rPr>
                  <a:t>   (B) </a:t>
                </a:r>
                <a:r>
                  <a:rPr lang="en-IN" sz="2400">
                    <a:solidFill>
                      <a:srgbClr val="111827"/>
                    </a:solidFill>
                    <a:latin typeface="Cambria Math" panose="02040503050406030204" pitchFamily="18" charset="0"/>
                  </a:rPr>
                  <a:t>$64$</a:t>
                </a:r>
                <a:r>
                  <a:rPr sz="2400" b="0">
                    <a:solidFill>
                      <a:srgbClr val="111827"/>
                    </a:solidFill>
                    <a:latin typeface="Arial"/>
                  </a:rPr>
                  <a:t>   (C) </a:t>
                </a:r>
                <a:r>
                  <a:rPr lang="en-IN" sz="2400">
                    <a:solidFill>
                      <a:srgbClr val="111827"/>
                    </a:solidFill>
                    <a:latin typeface="Cambria Math" panose="02040503050406030204" pitchFamily="18" charset="0"/>
                  </a:rPr>
                  <a:t>$27$</a:t>
                </a:r>
                <a:r>
                  <a:rPr sz="2400" b="0">
                    <a:solidFill>
                      <a:srgbClr val="111827"/>
                    </a:solidFill>
                    <a:latin typeface="Arial"/>
                  </a:rPr>
                  <a:t>   (D) </a:t>
                </a:r>
                <a:r>
                  <a:rPr lang="en-IN" sz="2400">
                    <a:solidFill>
                      <a:srgbClr val="111827"/>
                    </a:solidFill>
                    <a:latin typeface="Cambria Math" panose="02040503050406030204" pitchFamily="18" charset="0"/>
                  </a:rPr>
                  <a:t>$19$</a:t>
                </a:r>
                <a:endParaRPr sz="2400">
                  <a:solidFill>
                    <a:srgbClr val="111827"/>
                  </a:solidFill>
                </a:endParaRPr>
              </a:p>
            </p:txBody>
          </p:sp>
        </mc:Fallback>
      </mc:AlternateContent>
      <p:sp>
        <p:nvSpPr>
          <p:cNvPr id="5" name="Rectangle 4"/>
          <p:cNvSpPr/>
          <p:nvPr/>
        </p:nvSpPr>
        <p:spPr>
          <a:xfrm>
            <a:off x="731520" y="4061968"/>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Reciprocal system of vectors and scalar triple product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cross product is perpendicular to two of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 so dotting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oMath>
                </a14:m>
                <a:r>
                  <a:rPr sz="2400" b="0">
                    <a:solidFill>
                      <a:srgbClr val="78350F"/>
                    </a:solidFill>
                    <a:latin typeface="Arial"/>
                  </a:rPr>
                  <a:t>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 isolates </a:t>
                </a:r>
                <a14:m>
                  <m:oMath xmlns:m="http://schemas.openxmlformats.org/officeDocument/2006/math">
                    <m:r>
                      <a:rPr lang="en-IN" sz="2400" i="1">
                        <a:solidFill>
                          <a:srgbClr val="78350F"/>
                        </a:solidFill>
                        <a:latin typeface="Cambria Math" panose="02040503050406030204" pitchFamily="18" charset="0"/>
                      </a:rPr>
                      <m:t>μ</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ν</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λ</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cross product is perpendicular to two of </a:t>
                </a:r>
                <a:r>
                  <a:rPr lang="en-IN" sz="2400">
                    <a:solidFill>
                      <a:srgbClr val="78350F"/>
                    </a:solidFill>
                    <a:latin typeface="Cambria Math" panose="02040503050406030204" pitchFamily="18" charset="0"/>
                  </a:rPr>
                  <a:t>$\vec a,\vec b,\vec c$</a:t>
                </a:r>
                <a:r>
                  <a:rPr sz="2400" b="0">
                    <a:solidFill>
                      <a:srgbClr val="78350F"/>
                    </a:solidFill>
                    <a:latin typeface="Arial"/>
                  </a:rPr>
                  <a:t>, so dotting </a:t>
                </a:r>
                <a:r>
                  <a:rPr lang="en-IN" sz="2400">
                    <a:solidFill>
                      <a:srgbClr val="78350F"/>
                    </a:solidFill>
                    <a:latin typeface="Cambria Math" panose="02040503050406030204" pitchFamily="18" charset="0"/>
                  </a:rPr>
                  <a:t>$\vec d$</a:t>
                </a:r>
                <a:r>
                  <a:rPr sz="2400" b="0">
                    <a:solidFill>
                      <a:srgbClr val="78350F"/>
                    </a:solidFill>
                    <a:latin typeface="Arial"/>
                  </a:rPr>
                  <a:t> with </a:t>
                </a:r>
                <a:r>
                  <a:rPr lang="en-IN" sz="2400">
                    <a:solidFill>
                      <a:srgbClr val="78350F"/>
                    </a:solidFill>
                    <a:latin typeface="Cambria Math" panose="02040503050406030204" pitchFamily="18" charset="0"/>
                  </a:rPr>
                  <a:t>$\vec a,\vec b,\vec c$</a:t>
                </a:r>
                <a:r>
                  <a:rPr sz="2400" b="0">
                    <a:solidFill>
                      <a:srgbClr val="78350F"/>
                    </a:solidFill>
                    <a:latin typeface="Arial"/>
                  </a:rPr>
                  <a:t> isolates </a:t>
                </a:r>
                <a:r>
                  <a:rPr lang="en-IN" sz="2400">
                    <a:solidFill>
                      <a:srgbClr val="78350F"/>
                    </a:solidFill>
                    <a:latin typeface="Cambria Math" panose="02040503050406030204" pitchFamily="18" charset="0"/>
                  </a:rPr>
                  <a:t>$\mu,\nu,\lambda$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since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d\cdot\vec c=\lambda[\vec a\ \vec b\ \vec c]+\mu\cdot0+\nu\cdot0$</a:t>
                </a:r>
                <a:r>
                  <a:rPr sz="2400" b="0">
                    <a:solidFill>
                      <a:srgbClr val="111827"/>
                    </a:solidFill>
                    <a:latin typeface="Arial"/>
                  </a:rPr>
                  <a:t>, since </a:t>
                </a:r>
                <a:r>
                  <a:rPr lang="en-IN" sz="2400">
                    <a:solidFill>
                      <a:srgbClr val="111827"/>
                    </a:solidFill>
                    <a:latin typeface="Cambria Math" panose="02040503050406030204" pitchFamily="18" charset="0"/>
                  </a:rPr>
                  <a:t>$(\vec b\times\vec c)\cdot\vec c=(\vec c\times\vec a)\cdot\vec c=0$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d\cdot\vec a=\mu[\vec a\ \vec b\ \vec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d\cdot\vec b=\nu[\vec a\ \vec b\ \vec 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Adding: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oMath>
                </a14:m>
                <a:r>
                  <a:rPr sz="2400" b="0">
                    <a:solidFill>
                      <a:srgbClr val="111827"/>
                    </a:solidFill>
                    <a:latin typeface="Arial"/>
                  </a:rPr>
                  <a:t> (the PDF's last line prints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μ</m:t>
                    </m:r>
                  </m:oMath>
                </a14:m>
                <a:r>
                  <a:rPr sz="2400" b="0">
                    <a:solidFill>
                      <a:srgbClr val="111827"/>
                    </a:solidFill>
                    <a:latin typeface="Arial"/>
                  </a:rPr>
                  <a:t>, a typing slip).</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Adding: </a:t>
                </a:r>
                <a:r>
                  <a:rPr lang="en-IN" sz="2400">
                    <a:solidFill>
                      <a:srgbClr val="111827"/>
                    </a:solidFill>
                    <a:latin typeface="Cambria Math" panose="02040503050406030204" pitchFamily="18" charset="0"/>
                  </a:rPr>
                  <a:t>$\vec d\cdot(\vec a+\vec b+\vec c)=[\vec a\ \vec b\ \vec c](\lambda+\mu+\nu)$</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$8=\frac18(\lambda+\mu+\nu)\Rightarrow\lambda+\mu+\nu=64$</a:t>
                </a:r>
                <a:r>
                  <a:rPr sz="2400" b="0">
                    <a:solidFill>
                      <a:srgbClr val="111827"/>
                    </a:solidFill>
                    <a:latin typeface="Arial"/>
                  </a:rPr>
                  <a:t> (the PDF's last line prints </a:t>
                </a:r>
                <a:r>
                  <a:rPr lang="en-IN" sz="2400">
                    <a:solidFill>
                      <a:srgbClr val="111827"/>
                    </a:solidFill>
                    <a:latin typeface="Cambria Math" panose="02040503050406030204" pitchFamily="18" charset="0"/>
                  </a:rPr>
                  <a:t>$\beta$</a:t>
                </a:r>
                <a:r>
                  <a:rPr sz="2400" b="0">
                    <a:solidFill>
                      <a:srgbClr val="111827"/>
                    </a:solidFill>
                    <a:latin typeface="Arial"/>
                  </a:rPr>
                  <a:t> for </a:t>
                </a:r>
                <a:r>
                  <a:rPr lang="en-IN" sz="2400">
                    <a:solidFill>
                      <a:srgbClr val="111827"/>
                    </a:solidFill>
                    <a:latin typeface="Cambria Math" panose="02040503050406030204" pitchFamily="18" charset="0"/>
                  </a:rPr>
                  <a:t>$\mu$</a:t>
                </a:r>
                <a:r>
                  <a:rPr sz="2400" b="0">
                    <a:solidFill>
                      <a:srgbClr val="111827"/>
                    </a:solidFill>
                    <a:latin typeface="Arial"/>
                  </a:rPr>
                  <a:t>, a typing slip).</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64</a:t>
            </a:r>
            <a:endParaRPr sz="2800">
              <a:solidFill>
                <a:srgbClr val="15803D"/>
              </a:solidFill>
            </a:endParaRP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Choose a convenient triad with the same triple product: orthogonal vectors along the axes.</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as required.</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$\vec a=\frac12\hat i$</a:t>
                </a:r>
                <a:r>
                  <a:rPr sz="2400" b="0">
                    <a:solidFill>
                      <a:srgbClr val="111827"/>
                    </a:solidFill>
                    <a:latin typeface="Arial"/>
                  </a:rPr>
                  <a:t>, </a:t>
                </a:r>
                <a:r>
                  <a:rPr lang="en-IN" sz="2400">
                    <a:solidFill>
                      <a:srgbClr val="111827"/>
                    </a:solidFill>
                    <a:latin typeface="Cambria Math" panose="02040503050406030204" pitchFamily="18" charset="0"/>
                  </a:rPr>
                  <a:t>$\vec b=\frac12\hat j$</a:t>
                </a:r>
                <a:r>
                  <a:rPr sz="2400" b="0">
                    <a:solidFill>
                      <a:srgbClr val="111827"/>
                    </a:solidFill>
                    <a:latin typeface="Arial"/>
                  </a:rPr>
                  <a:t>, </a:t>
                </a:r>
                <a:r>
                  <a:rPr lang="en-IN" sz="2400">
                    <a:solidFill>
                      <a:srgbClr val="111827"/>
                    </a:solidFill>
                    <a:latin typeface="Cambria Math" panose="02040503050406030204" pitchFamily="18" charset="0"/>
                  </a:rPr>
                  <a:t>$\vec c=\frac12\hat k$</a:t>
                </a:r>
                <a:r>
                  <a:rPr sz="2400" b="0">
                    <a:solidFill>
                      <a:srgbClr val="111827"/>
                    </a:solidFill>
                    <a:latin typeface="Arial"/>
                  </a:rPr>
                  <a:t>; then </a:t>
                </a:r>
                <a:r>
                  <a:rPr lang="en-IN" sz="2400">
                    <a:solidFill>
                      <a:srgbClr val="111827"/>
                    </a:solidFill>
                    <a:latin typeface="Cambria Math" panose="02040503050406030204" pitchFamily="18" charset="0"/>
                  </a:rPr>
                  <a:t>$[\vec a\ \vec b\ \vec c]=\frac18$</a:t>
                </a:r>
                <a:r>
                  <a:rPr sz="2400" b="0">
                    <a:solidFill>
                      <a:srgbClr val="111827"/>
                    </a:solidFill>
                    <a:latin typeface="Arial"/>
                  </a:rPr>
                  <a:t> as required.</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b=\frac14\hat k$</a:t>
                </a:r>
                <a:r>
                  <a:rPr sz="2400" b="0">
                    <a:solidFill>
                      <a:srgbClr val="111827"/>
                    </a:solidFill>
                    <a:latin typeface="Arial"/>
                  </a:rPr>
                  <a:t>, </a:t>
                </a:r>
                <a:r>
                  <a:rPr lang="en-IN" sz="2400">
                    <a:solidFill>
                      <a:srgbClr val="111827"/>
                    </a:solidFill>
                    <a:latin typeface="Cambria Math" panose="02040503050406030204" pitchFamily="18" charset="0"/>
                  </a:rPr>
                  <a:t>$\vec b\times\vec c=\frac14\hat i$</a:t>
                </a:r>
                <a:r>
                  <a:rPr sz="2400" b="0">
                    <a:solidFill>
                      <a:srgbClr val="111827"/>
                    </a:solidFill>
                    <a:latin typeface="Arial"/>
                  </a:rPr>
                  <a:t>, </a:t>
                </a:r>
                <a:r>
                  <a:rPr lang="en-IN" sz="2400">
                    <a:solidFill>
                      <a:srgbClr val="111827"/>
                    </a:solidFill>
                    <a:latin typeface="Cambria Math" panose="02040503050406030204" pitchFamily="18" charset="0"/>
                  </a:rPr>
                  <a:t>$\vec c\times\vec a=\frac14\hat j$</a:t>
                </a:r>
                <a:r>
                  <a:rPr sz="2400" b="0">
                    <a:solidFill>
                      <a:srgbClr val="111827"/>
                    </a:solidFill>
                    <a:latin typeface="Arial"/>
                  </a:rPr>
                  <a:t>, so </a:t>
                </a:r>
                <a:r>
                  <a:rPr lang="en-IN" sz="2400">
                    <a:solidFill>
                      <a:srgbClr val="111827"/>
                    </a:solidFill>
                    <a:latin typeface="Cambria Math" panose="02040503050406030204" pitchFamily="18" charset="0"/>
                  </a:rPr>
                  <a:t>$\vec d=\frac14(\mu,\nu,\lambda)$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oMath>
                </a14:m>
                <a:r>
                  <a:rPr sz="2400" b="0">
                    <a:solidFill>
                      <a:srgbClr val="111827"/>
                    </a:solidFill>
                    <a:latin typeface="Arial"/>
                  </a:rPr>
                  <a:t> (valid for every triad, since the answer depends only on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d\cdot(\vec a+\vec b+\vec c)=\frac12\cdot\frac14(\lambda+\mu+\nu)=\frac{\lambda+\mu+\nu}{8}=8$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$\lambda+\mu+\nu=64$</a:t>
                </a:r>
                <a:r>
                  <a:rPr sz="2400" b="0">
                    <a:solidFill>
                      <a:srgbClr val="111827"/>
                    </a:solidFill>
                    <a:latin typeface="Arial"/>
                  </a:rPr>
                  <a:t> (valid for every triad, since the answer depends only on </a:t>
                </a:r>
                <a:r>
                  <a:rPr lang="en-IN" sz="2400">
                    <a:solidFill>
                      <a:srgbClr val="111827"/>
                    </a:solidFill>
                    <a:latin typeface="Cambria Math" panose="02040503050406030204" pitchFamily="18" charset="0"/>
                  </a:rPr>
                  <a:t>$[\vec a\ \vec b\ \vec c]$</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64</a:t>
            </a:r>
            <a:endParaRPr sz="2800">
              <a:solidFill>
                <a:srgbClr val="15803D"/>
              </a:solidFill>
            </a:endParaRP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non-coplanar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form a basis (reciprocal system, up to the factor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Answers that depend only on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can be tested with an orthogonal triad of the same triple product.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d=\lambda(\vec a\times\vec b)+\mu(\vec b\times\vec c)+\nu(\vec c\times\vec a)$</a:t>
                </a:r>
                <a:r>
                  <a:rPr sz="2400" b="0">
                    <a:solidFill>
                      <a:srgbClr val="111827"/>
                    </a:solidFill>
                    <a:latin typeface="Arial"/>
                  </a:rPr>
                  <a:t> then </a:t>
                </a:r>
                <a:r>
                  <a:rPr lang="en-IN" sz="2400">
                    <a:solidFill>
                      <a:srgbClr val="111827"/>
                    </a:solidFill>
                    <a:latin typeface="Cambria Math" panose="02040503050406030204" pitchFamily="18" charset="0"/>
                  </a:rPr>
                  <a:t>$\lambda=\dfrac{\vec d\cdot\vec c}{[\vec a\ \vec b\ \vec c]},\ \mu=\dfrac{\vec d\cdot\vec a}{[\vec a\ \vec b\ \vec c]},\ \nu=\dfrac{\vec d\cdot\vec b}{[\vec a\ \vec b\ \vec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non-coplanar </a:t>
                </a:r>
                <a:r>
                  <a:rPr lang="en-IN" sz="2400">
                    <a:solidFill>
                      <a:srgbClr val="111827"/>
                    </a:solidFill>
                    <a:latin typeface="Cambria Math" panose="02040503050406030204" pitchFamily="18" charset="0"/>
                  </a:rPr>
                  <a:t>$\vec a,\vec b,\vec c$</a:t>
                </a:r>
                <a:r>
                  <a:rPr sz="2400" b="0">
                    <a:solidFill>
                      <a:srgbClr val="111827"/>
                    </a:solidFill>
                    <a:latin typeface="Arial"/>
                  </a:rPr>
                  <a:t>, </a:t>
                </a:r>
                <a:r>
                  <a:rPr lang="en-IN" sz="2400">
                    <a:solidFill>
                      <a:srgbClr val="111827"/>
                    </a:solidFill>
                    <a:latin typeface="Cambria Math" panose="02040503050406030204" pitchFamily="18" charset="0"/>
                  </a:rPr>
                  <a:t>$\vec a\times\vec b,\ \vec b\times\vec c,\ \vec c\times\vec a$</a:t>
                </a:r>
                <a:r>
                  <a:rPr sz="2400" b="0">
                    <a:solidFill>
                      <a:srgbClr val="111827"/>
                    </a:solidFill>
                    <a:latin typeface="Arial"/>
                  </a:rPr>
                  <a:t> form a basis (reciprocal system, up to the factor </a:t>
                </a:r>
                <a:r>
                  <a:rPr lang="en-IN" sz="2400">
                    <a:solidFill>
                      <a:srgbClr val="111827"/>
                    </a:solidFill>
                    <a:latin typeface="Cambria Math" panose="02040503050406030204" pitchFamily="18" charset="0"/>
                  </a:rPr>
                  <a:t>$[\vec a\ \vec b\ \vec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Answers that depend only on </a:t>
                </a:r>
                <a:r>
                  <a:rPr lang="en-IN" sz="2400">
                    <a:solidFill>
                      <a:srgbClr val="111827"/>
                    </a:solidFill>
                    <a:latin typeface="Cambria Math" panose="02040503050406030204" pitchFamily="18" charset="0"/>
                  </a:rPr>
                  <a:t>$[\vec a\ \vec b\ \vec c]$</a:t>
                </a:r>
                <a:r>
                  <a:rPr sz="2400" b="0">
                    <a:solidFill>
                      <a:srgbClr val="111827"/>
                    </a:solidFill>
                    <a:latin typeface="Arial"/>
                  </a:rPr>
                  <a:t> can be tested with an orthogonal triad of the same triple product.</a:t>
                </a:r>
                <a:endParaRPr sz="2400">
                  <a:solidFill>
                    <a:srgbClr val="111827"/>
                  </a:solidFill>
                </a:endParaRPr>
              </a:p>
            </p:txBody>
          </p:sp>
        </mc:Fallback>
      </mc:AlternateContent>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then the area of the tetrahedron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with three of its sides along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can be: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oMath>
                </a14:m>
                <a:endParaRPr sz="2400">
                  <a:solidFill>
                    <a:srgbClr val="111827"/>
                  </a:solidFill>
                </a:endParaRPr>
              </a:p>
            </p:txBody>
          </p:sp>
        </mc:Choice>
        <mc:Fallback>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a\times\vec b\ \ \vec b\times\vec c\ \ \vec c\times\vec a]+[\vec a+\vec b\ \ \vec b+\vec c\ \ \vec c+\vec a]=8$</a:t>
                </a:r>
                <a:r>
                  <a:rPr sz="2400" b="0">
                    <a:solidFill>
                      <a:srgbClr val="111827"/>
                    </a:solidFill>
                    <a:latin typeface="Arial"/>
                  </a:rPr>
                  <a:t>, then the area of the tetrahedron </a:t>
                </a:r>
                <a:r>
                  <a:rPr lang="en-IN" sz="2400">
                    <a:solidFill>
                      <a:srgbClr val="111827"/>
                    </a:solidFill>
                    <a:latin typeface="Cambria Math" panose="02040503050406030204" pitchFamily="18" charset="0"/>
                  </a:rPr>
                  <a:t>$OABC$</a:t>
                </a:r>
                <a:r>
                  <a:rPr sz="2400" b="0">
                    <a:solidFill>
                      <a:srgbClr val="111827"/>
                    </a:solidFill>
                    <a:latin typeface="Arial"/>
                  </a:rPr>
                  <a:t> with three of its sides along </a:t>
                </a:r>
                <a:r>
                  <a:rPr lang="en-IN" sz="2400">
                    <a:solidFill>
                      <a:srgbClr val="111827"/>
                    </a:solidFill>
                    <a:latin typeface="Cambria Math" panose="02040503050406030204" pitchFamily="18" charset="0"/>
                  </a:rPr>
                  <a:t>$\vec a,\vec b,\vec c$</a:t>
                </a:r>
                <a:r>
                  <a:rPr sz="2400" b="0">
                    <a:solidFill>
                      <a:srgbClr val="111827"/>
                    </a:solidFill>
                    <a:latin typeface="Arial"/>
                  </a:rPr>
                  <a:t> can be: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$\frac23$</a:t>
                </a:r>
                <a:r>
                  <a:rPr sz="2400" b="0">
                    <a:solidFill>
                      <a:srgbClr val="111827"/>
                    </a:solidFill>
                    <a:latin typeface="Arial"/>
                  </a:rPr>
                  <a:t>   (B) </a:t>
                </a:r>
                <a:r>
                  <a:rPr lang="en-IN" sz="2400">
                    <a:solidFill>
                      <a:srgbClr val="111827"/>
                    </a:solidFill>
                    <a:latin typeface="Cambria Math" panose="02040503050406030204" pitchFamily="18" charset="0"/>
                  </a:rPr>
                  <a:t>$\frac16$</a:t>
                </a:r>
                <a:r>
                  <a:rPr sz="2400" b="0">
                    <a:solidFill>
                      <a:srgbClr val="111827"/>
                    </a:solidFill>
                    <a:latin typeface="Arial"/>
                  </a:rPr>
                  <a:t>   (C) </a:t>
                </a:r>
                <a:r>
                  <a:rPr lang="en-IN" sz="2400">
                    <a:solidFill>
                      <a:srgbClr val="111827"/>
                    </a:solidFill>
                    <a:latin typeface="Cambria Math" panose="02040503050406030204" pitchFamily="18" charset="0"/>
                  </a:rPr>
                  <a:t>$\frac56$</a:t>
                </a:r>
                <a:r>
                  <a:rPr sz="2400" b="0">
                    <a:solidFill>
                      <a:srgbClr val="111827"/>
                    </a:solidFill>
                    <a:latin typeface="Arial"/>
                  </a:rPr>
                  <a:t>   (D) </a:t>
                </a:r>
                <a:r>
                  <a:rPr lang="en-IN" sz="2400">
                    <a:solidFill>
                      <a:srgbClr val="111827"/>
                    </a:solidFill>
                    <a:latin typeface="Cambria Math" panose="02040503050406030204" pitchFamily="18" charset="0"/>
                  </a:rPr>
                  <a:t>$\frac18$</a:t>
                </a:r>
                <a:endParaRPr sz="2400">
                  <a:solidFill>
                    <a:srgbClr val="111827"/>
                  </a:solidFill>
                </a:endParaRPr>
              </a:p>
            </p:txBody>
          </p:sp>
        </mc:Fallback>
      </mc:AlternateContent>
      <p:sp>
        <p:nvSpPr>
          <p:cNvPr id="5" name="Rectangle 4"/>
          <p:cNvSpPr/>
          <p:nvPr/>
        </p:nvSpPr>
        <p:spPr>
          <a:xfrm>
            <a:off x="731520" y="4061968"/>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Scalar triple product identities, Volume of a tetrahedron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give a quadratic in the triple product.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$[\vec a\times\vec b\ \vec b\times\vec c\ \vec c\times\vec a]=[\vec a\ \vec b\ \vec c]^2$</a:t>
                </a:r>
                <a:r>
                  <a:rPr sz="2400" b="0">
                    <a:solidFill>
                      <a:srgbClr val="78350F"/>
                    </a:solidFill>
                    <a:latin typeface="Arial"/>
                  </a:rPr>
                  <a:t> and </a:t>
                </a:r>
                <a:r>
                  <a:rPr lang="en-IN" sz="2400">
                    <a:solidFill>
                      <a:srgbClr val="78350F"/>
                    </a:solidFill>
                    <a:latin typeface="Cambria Math" panose="02040503050406030204" pitchFamily="18" charset="0"/>
                  </a:rPr>
                  <a:t>$[\vec a+\vec b\ \vec b+\vec c\ \vec c+\vec a]=2[\vec a\ \vec b\ \vec c]$</a:t>
                </a:r>
                <a:r>
                  <a:rPr sz="2400" b="0">
                    <a:solidFill>
                      <a:srgbClr val="78350F"/>
                    </a:solidFill>
                    <a:latin typeface="Arial"/>
                  </a:rPr>
                  <a:t> give a quadratic in the triple product.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condition becomes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 a\ \vec b\ \vec c]=t$</a:t>
                </a:r>
                <a:r>
                  <a:rPr sz="2400" b="0">
                    <a:solidFill>
                      <a:srgbClr val="111827"/>
                    </a:solidFill>
                    <a:latin typeface="Arial"/>
                  </a:rPr>
                  <a:t>. Then </a:t>
                </a:r>
                <a:r>
                  <a:rPr lang="en-IN" sz="2400">
                    <a:solidFill>
                      <a:srgbClr val="111827"/>
                    </a:solidFill>
                    <a:latin typeface="Cambria Math" panose="02040503050406030204" pitchFamily="18" charset="0"/>
                  </a:rPr>
                  <a:t>$[\vec a\times\vec b\ \ \vec b\times\vec c\ \ \vec c\times\vec a]=t^2$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 \ \vec b+\vec c\ \ \vec c+\vec a]=2t$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condition becomes </a:t>
                </a:r>
                <a:r>
                  <a:rPr lang="en-IN" sz="2400">
                    <a:solidFill>
                      <a:srgbClr val="111827"/>
                    </a:solidFill>
                    <a:latin typeface="Cambria Math" panose="02040503050406030204" pitchFamily="18" charset="0"/>
                  </a:rPr>
                  <a:t>$t^2+2t=8\Rightarrow t^2+2t-8=0\Rightarrow(t+4)(t-2)=0$</a:t>
                </a:r>
                <a:r>
                  <a:rPr sz="2400" b="0">
                    <a:solidFill>
                      <a:srgbClr val="111827"/>
                    </a:solidFill>
                    <a:latin typeface="Arial"/>
                  </a:rPr>
                  <a:t>, so </a:t>
                </a:r>
                <a:r>
                  <a:rPr lang="en-IN" sz="2400">
                    <a:solidFill>
                      <a:srgbClr val="111827"/>
                    </a:solidFill>
                    <a:latin typeface="Cambria Math" panose="02040503050406030204" pitchFamily="18" charset="0"/>
                  </a:rPr>
                  <a:t>$t=2$</a:t>
                </a:r>
                <a:r>
                  <a:rPr sz="2400" b="0">
                    <a:solidFill>
                      <a:srgbClr val="111827"/>
                    </a:solidFill>
                    <a:latin typeface="Arial"/>
                  </a:rPr>
                  <a:t> or </a:t>
                </a:r>
                <a:r>
                  <a:rPr lang="en-IN" sz="2400">
                    <a:solidFill>
                      <a:srgbClr val="111827"/>
                    </a:solidFill>
                    <a:latin typeface="Cambria Math" panose="02040503050406030204" pitchFamily="18" charset="0"/>
                  </a:rPr>
                  <a:t>$-4$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volume of the tetrahedron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volume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or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(The question says 'area' but means volume.)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Among the options,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is possible: option (A).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volume of the tetrahedron </a:t>
                </a:r>
                <a:r>
                  <a:rPr lang="en-IN" sz="2400">
                    <a:solidFill>
                      <a:srgbClr val="111827"/>
                    </a:solidFill>
                    <a:latin typeface="Cambria Math" panose="02040503050406030204" pitchFamily="18" charset="0"/>
                  </a:rPr>
                  <a:t>$OABC$</a:t>
                </a:r>
                <a:r>
                  <a:rPr sz="2400" b="0">
                    <a:solidFill>
                      <a:srgbClr val="111827"/>
                    </a:solidFill>
                    <a:latin typeface="Arial"/>
                  </a:rPr>
                  <a:t> is </a:t>
                </a:r>
                <a:r>
                  <a:rPr lang="en-IN" sz="2400">
                    <a:solidFill>
                      <a:srgbClr val="111827"/>
                    </a:solidFill>
                    <a:latin typeface="Cambria Math" panose="02040503050406030204" pitchFamily="18" charset="0"/>
                  </a:rPr>
                  <a:t>$\frac16|t|$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volume is </a:t>
                </a:r>
                <a:r>
                  <a:rPr lang="en-IN" sz="2400">
                    <a:solidFill>
                      <a:srgbClr val="111827"/>
                    </a:solidFill>
                    <a:latin typeface="Cambria Math" panose="02040503050406030204" pitchFamily="18" charset="0"/>
                  </a:rPr>
                  <a:t>$\frac13$</a:t>
                </a:r>
                <a:r>
                  <a:rPr sz="2400" b="0">
                    <a:solidFill>
                      <a:srgbClr val="111827"/>
                    </a:solidFill>
                    <a:latin typeface="Arial"/>
                  </a:rPr>
                  <a:t> (for </a:t>
                </a:r>
                <a:r>
                  <a:rPr lang="en-IN" sz="2400">
                    <a:solidFill>
                      <a:srgbClr val="111827"/>
                    </a:solidFill>
                    <a:latin typeface="Cambria Math" panose="02040503050406030204" pitchFamily="18" charset="0"/>
                  </a:rPr>
                  <a:t>$t=2$</a:t>
                </a:r>
                <a:r>
                  <a:rPr sz="2400" b="0">
                    <a:solidFill>
                      <a:srgbClr val="111827"/>
                    </a:solidFill>
                    <a:latin typeface="Arial"/>
                  </a:rPr>
                  <a:t>) or </a:t>
                </a:r>
                <a:r>
                  <a:rPr lang="en-IN" sz="2400">
                    <a:solidFill>
                      <a:srgbClr val="111827"/>
                    </a:solidFill>
                    <a:latin typeface="Cambria Math" panose="02040503050406030204" pitchFamily="18" charset="0"/>
                  </a:rPr>
                  <a:t>$\frac23$</a:t>
                </a:r>
                <a:r>
                  <a:rPr sz="2400" b="0">
                    <a:solidFill>
                      <a:srgbClr val="111827"/>
                    </a:solidFill>
                    <a:latin typeface="Arial"/>
                  </a:rPr>
                  <a:t> (for </a:t>
                </a:r>
                <a:r>
                  <a:rPr lang="en-IN" sz="2400">
                    <a:solidFill>
                      <a:srgbClr val="111827"/>
                    </a:solidFill>
                    <a:latin typeface="Cambria Math" panose="02040503050406030204" pitchFamily="18" charset="0"/>
                  </a:rPr>
                  <a:t>$t=-4$</a:t>
                </a:r>
                <a:r>
                  <a:rPr sz="2400" b="0">
                    <a:solidFill>
                      <a:srgbClr val="111827"/>
                    </a:solidFill>
                    <a:latin typeface="Arial"/>
                  </a:rPr>
                  <a:t>). (The question says 'area' but means volume.)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Among the options, </a:t>
                </a:r>
                <a:r>
                  <a:rPr lang="en-IN" sz="2400">
                    <a:solidFill>
                      <a:srgbClr val="111827"/>
                    </a:solidFill>
                    <a:latin typeface="Cambria Math" panose="02040503050406030204" pitchFamily="18" charset="0"/>
                  </a:rPr>
                  <a:t>$\frac23$</a:t>
                </a:r>
                <a:r>
                  <a:rPr sz="2400" b="0">
                    <a:solidFill>
                      <a:srgbClr val="111827"/>
                    </a:solidFill>
                    <a:latin typeface="Arial"/>
                  </a:rPr>
                  <a:t> is possible: option (A).</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m:t>
                        </m:r>
                      </m:num>
                      <m:den>
                        <m:r>
                          <a:rPr lang="en-IN" sz="2800" i="1">
                            <a:solidFill>
                              <a:srgbClr val="15803D"/>
                            </a:solidFill>
                            <a:latin typeface="Cambria Math" panose="02040503050406030204" pitchFamily="18" charset="0"/>
                          </a:rPr>
                          <m:t>3</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$\frac23$</a:t>
                </a:r>
                <a:endParaRPr sz="2800">
                  <a:solidFill>
                    <a:srgbClr val="15803D"/>
                  </a:solidFill>
                </a:endParaRPr>
              </a:p>
            </p:txBody>
          </p:sp>
        </mc:Fallback>
      </mc:AlternateContent>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Work backwards from the options: each option fixes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m:t>
                    </m:r>
                    <m:r>
                      <a:rPr lang="en-IN" sz="2400" i="1">
                        <a:solidFill>
                          <a:srgbClr val="78350F"/>
                        </a:solidFill>
                        <a:latin typeface="Cambria Math" panose="02040503050406030204" pitchFamily="18" charset="0"/>
                      </a:rPr>
                      <m:t>𝑉</m:t>
                    </m:r>
                  </m:oMath>
                </a14:m>
                <a:r>
                  <a:rPr sz="2400" b="0">
                    <a:solidFill>
                      <a:srgbClr val="78350F"/>
                    </a:solidFill>
                    <a:latin typeface="Arial"/>
                  </a:rPr>
                  <a:t>, and only one is consistent with </a:t>
                </a:r>
                <a14:m>
                  <m:oMath xmlns:m="http://schemas.openxmlformats.org/officeDocument/2006/math">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m:t>
                    </m:r>
                  </m:oMath>
                </a14:m>
                <a:r>
                  <a:rPr sz="2400" b="0">
                    <a:solidFill>
                      <a:srgbClr val="78350F"/>
                    </a:solidFill>
                    <a:latin typeface="Arial"/>
                  </a:rPr>
                  <a:t> for some sign of </a:t>
                </a:r>
                <a14:m>
                  <m:oMath xmlns:m="http://schemas.openxmlformats.org/officeDocument/2006/math">
                    <m:r>
                      <a:rPr lang="en-IN" sz="2400" i="1">
                        <a:solidFill>
                          <a:srgbClr val="78350F"/>
                        </a:solidFill>
                        <a:latin typeface="Cambria Math" panose="02040503050406030204" pitchFamily="18" charset="0"/>
                      </a:rPr>
                      <m:t>𝑡</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Work backwards from the options: each option fixes </a:t>
                </a:r>
                <a:r>
                  <a:rPr lang="en-IN" sz="2400">
                    <a:solidFill>
                      <a:srgbClr val="78350F"/>
                    </a:solidFill>
                    <a:latin typeface="Cambria Math" panose="02040503050406030204" pitchFamily="18" charset="0"/>
                  </a:rPr>
                  <a:t>$|t|=6V$</a:t>
                </a:r>
                <a:r>
                  <a:rPr sz="2400" b="0">
                    <a:solidFill>
                      <a:srgbClr val="78350F"/>
                    </a:solidFill>
                    <a:latin typeface="Arial"/>
                  </a:rPr>
                  <a:t>, and only one is consistent with </a:t>
                </a:r>
                <a:r>
                  <a:rPr lang="en-IN" sz="2400">
                    <a:solidFill>
                      <a:srgbClr val="78350F"/>
                    </a:solidFill>
                    <a:latin typeface="Cambria Math" panose="02040503050406030204" pitchFamily="18" charset="0"/>
                  </a:rPr>
                  <a:t>$t^2+2t=8$</a:t>
                </a:r>
                <a:r>
                  <a:rPr sz="2400" b="0">
                    <a:solidFill>
                      <a:srgbClr val="78350F"/>
                    </a:solidFill>
                    <a:latin typeface="Arial"/>
                  </a:rPr>
                  <a:t> for some sign of </a:t>
                </a:r>
                <a:r>
                  <a:rPr lang="en-IN" sz="2400">
                    <a:solidFill>
                      <a:srgbClr val="78350F"/>
                    </a:solidFill>
                    <a:latin typeface="Cambria Math" panose="02040503050406030204" pitchFamily="18" charset="0"/>
                  </a:rPr>
                  <a:t>$t$</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volume is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so the options give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condition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allows only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volume is </a:t>
                </a:r>
                <a:r>
                  <a:rPr lang="en-IN" sz="2400">
                    <a:solidFill>
                      <a:srgbClr val="111827"/>
                    </a:solidFill>
                    <a:latin typeface="Cambria Math" panose="02040503050406030204" pitchFamily="18" charset="0"/>
                  </a:rPr>
                  <a:t>$V=\frac{|t|}{6}$</a:t>
                </a:r>
                <a:r>
                  <a:rPr sz="2400" b="0">
                    <a:solidFill>
                      <a:srgbClr val="111827"/>
                    </a:solidFill>
                    <a:latin typeface="Arial"/>
                  </a:rPr>
                  <a:t>, so the options give </a:t>
                </a:r>
                <a:r>
                  <a:rPr lang="en-IN" sz="2400">
                    <a:solidFill>
                      <a:srgbClr val="111827"/>
                    </a:solidFill>
                    <a:latin typeface="Cambria Math" panose="02040503050406030204" pitchFamily="18" charset="0"/>
                  </a:rPr>
                  <a:t>$|t|=4,\ 1,\ 5,\ \frac34$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condition </a:t>
                </a:r>
                <a:r>
                  <a:rPr lang="en-IN" sz="2400">
                    <a:solidFill>
                      <a:srgbClr val="111827"/>
                    </a:solidFill>
                    <a:latin typeface="Cambria Math" panose="02040503050406030204" pitchFamily="18" charset="0"/>
                  </a:rPr>
                  <a:t>$t^2+2t=8$</a:t>
                </a:r>
                <a:r>
                  <a:rPr sz="2400" b="0">
                    <a:solidFill>
                      <a:srgbClr val="111827"/>
                    </a:solidFill>
                    <a:latin typeface="Arial"/>
                  </a:rPr>
                  <a:t> allows only </a:t>
                </a:r>
                <a:r>
                  <a:rPr lang="en-IN" sz="2400">
                    <a:solidFill>
                      <a:srgbClr val="111827"/>
                    </a:solidFill>
                    <a:latin typeface="Cambria Math" panose="02040503050406030204" pitchFamily="18" charset="0"/>
                  </a:rPr>
                  <a:t>$t=2$</a:t>
                </a:r>
                <a:r>
                  <a:rPr sz="2400" b="0">
                    <a:solidFill>
                      <a:srgbClr val="111827"/>
                    </a:solidFill>
                    <a:latin typeface="Arial"/>
                  </a:rPr>
                  <a:t> or </a:t>
                </a:r>
                <a:r>
                  <a:rPr lang="en-IN" sz="2400">
                    <a:solidFill>
                      <a:srgbClr val="111827"/>
                    </a:solidFill>
                    <a:latin typeface="Cambria Math" panose="02040503050406030204" pitchFamily="18" charset="0"/>
                  </a:rPr>
                  <a:t>$t=-4$</a:t>
                </a:r>
                <a:r>
                  <a:rPr sz="2400" b="0">
                    <a:solidFill>
                      <a:srgbClr val="111827"/>
                    </a:solidFill>
                    <a:latin typeface="Arial"/>
                  </a:rPr>
                  <a:t>, i.e. </a:t>
                </a:r>
                <a:r>
                  <a:rPr lang="en-IN" sz="2400">
                    <a:solidFill>
                      <a:srgbClr val="111827"/>
                    </a:solidFill>
                    <a:latin typeface="Cambria Math" panose="02040503050406030204" pitchFamily="18" charset="0"/>
                  </a:rPr>
                  <a:t>$|t|=2$</a:t>
                </a:r>
                <a:r>
                  <a:rPr sz="2400" b="0">
                    <a:solidFill>
                      <a:srgbClr val="111827"/>
                    </a:solidFill>
                    <a:latin typeface="Arial"/>
                  </a:rPr>
                  <a:t> or </a:t>
                </a:r>
                <a:r>
                  <a:rPr lang="en-IN" sz="2400">
                    <a:solidFill>
                      <a:srgbClr val="111827"/>
                    </a:solidFill>
                    <a:latin typeface="Cambria Math" panose="02040503050406030204" pitchFamily="18" charset="0"/>
                  </a:rPr>
                  <a:t>$4$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Of the four values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only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occurs.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corresponds to option (A),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the other possible volume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is not offered.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Of the four values </a:t>
                </a:r>
                <a:r>
                  <a:rPr lang="en-IN" sz="2400">
                    <a:solidFill>
                      <a:srgbClr val="111827"/>
                    </a:solidFill>
                    <a:latin typeface="Cambria Math" panose="02040503050406030204" pitchFamily="18" charset="0"/>
                  </a:rPr>
                  <a:t>$|t|=4,1,5,\frac34$</a:t>
                </a:r>
                <a:r>
                  <a:rPr sz="2400" b="0">
                    <a:solidFill>
                      <a:srgbClr val="111827"/>
                    </a:solidFill>
                    <a:latin typeface="Arial"/>
                  </a:rPr>
                  <a:t> only </a:t>
                </a:r>
                <a:r>
                  <a:rPr lang="en-IN" sz="2400">
                    <a:solidFill>
                      <a:srgbClr val="111827"/>
                    </a:solidFill>
                    <a:latin typeface="Cambria Math" panose="02040503050406030204" pitchFamily="18" charset="0"/>
                  </a:rPr>
                  <a:t>$|t|=4$</a:t>
                </a:r>
                <a:r>
                  <a:rPr sz="2400" b="0">
                    <a:solidFill>
                      <a:srgbClr val="111827"/>
                    </a:solidFill>
                    <a:latin typeface="Arial"/>
                  </a:rPr>
                  <a:t> (with </a:t>
                </a:r>
                <a:r>
                  <a:rPr lang="en-IN" sz="2400">
                    <a:solidFill>
                      <a:srgbClr val="111827"/>
                    </a:solidFill>
                    <a:latin typeface="Cambria Math" panose="02040503050406030204" pitchFamily="18" charset="0"/>
                  </a:rPr>
                  <a:t>$t=-4$</a:t>
                </a:r>
                <a:r>
                  <a:rPr sz="2400" b="0">
                    <a:solidFill>
                      <a:srgbClr val="111827"/>
                    </a:solidFill>
                    <a:latin typeface="Arial"/>
                  </a:rPr>
                  <a:t>) occurs.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corresponds to option (A), </a:t>
                </a:r>
                <a:r>
                  <a:rPr lang="en-IN" sz="2400">
                    <a:solidFill>
                      <a:srgbClr val="111827"/>
                    </a:solidFill>
                    <a:latin typeface="Cambria Math" panose="02040503050406030204" pitchFamily="18" charset="0"/>
                  </a:rPr>
                  <a:t>$V=\frac23$</a:t>
                </a:r>
                <a:r>
                  <a:rPr sz="2400" b="0">
                    <a:solidFill>
                      <a:srgbClr val="111827"/>
                    </a:solidFill>
                    <a:latin typeface="Arial"/>
                  </a:rPr>
                  <a:t>; the other possible volume </a:t>
                </a:r>
                <a:r>
                  <a:rPr lang="en-IN" sz="2400">
                    <a:solidFill>
                      <a:srgbClr val="111827"/>
                    </a:solidFill>
                    <a:latin typeface="Cambria Math" panose="02040503050406030204" pitchFamily="18" charset="0"/>
                  </a:rPr>
                  <a:t>$\frac13$</a:t>
                </a:r>
                <a:r>
                  <a:rPr sz="2400" b="0">
                    <a:solidFill>
                      <a:srgbClr val="111827"/>
                    </a:solidFill>
                    <a:latin typeface="Arial"/>
                  </a:rPr>
                  <a:t> is not offered.</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m:t>
                        </m:r>
                      </m:num>
                      <m:den>
                        <m:r>
                          <a:rPr lang="en-IN" sz="2800" i="1">
                            <a:solidFill>
                              <a:srgbClr val="15803D"/>
                            </a:solidFill>
                            <a:latin typeface="Cambria Math" panose="02040503050406030204" pitchFamily="18" charset="0"/>
                          </a:rPr>
                          <m:t>3</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$\frac23$</a:t>
                </a:r>
                <a:endParaRPr sz="2800">
                  <a:solidFill>
                    <a:srgbClr val="15803D"/>
                  </a:solidFill>
                </a:endParaRPr>
              </a:p>
            </p:txBody>
          </p:sp>
        </mc:Fallback>
      </mc:AlternateContent>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More generally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combinations equals the determinant of the coefficient matrix times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Remember that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can be negative: the volume of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parallelepiped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 \ \vec b\times\vec c\ \ \vec c\times\vec a]=[\vec a\ \vec b\ \vec c]^2$</a:t>
                </a:r>
                <a:r>
                  <a:rPr sz="2400" b="0">
                    <a:solidFill>
                      <a:srgbClr val="111827"/>
                    </a:solidFill>
                    <a:latin typeface="Arial"/>
                  </a:rPr>
                  <a:t> and </a:t>
                </a:r>
                <a:r>
                  <a:rPr lang="en-IN" sz="2400">
                    <a:solidFill>
                      <a:srgbClr val="111827"/>
                    </a:solidFill>
                    <a:latin typeface="Cambria Math" panose="02040503050406030204" pitchFamily="18" charset="0"/>
                  </a:rPr>
                  <a:t>$[\vec a+\vec b\ \ \vec b+\vec c\ \ \vec c+\vec a]=2[\vec a\ \vec b\ \vec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More generally </a:t>
                </a:r>
                <a:r>
                  <a:rPr lang="en-IN" sz="2400">
                    <a:solidFill>
                      <a:srgbClr val="111827"/>
                    </a:solidFill>
                    <a:latin typeface="Cambria Math" panose="02040503050406030204" pitchFamily="18" charset="0"/>
                  </a:rPr>
                  <a:t>$[\vec p\ \vec q\ \vec r]$</a:t>
                </a:r>
                <a:r>
                  <a:rPr sz="2400" b="0">
                    <a:solidFill>
                      <a:srgbClr val="111827"/>
                    </a:solidFill>
                    <a:latin typeface="Arial"/>
                  </a:rPr>
                  <a:t> of combinations equals the determinant of the coefficient matrix times </a:t>
                </a:r>
                <a:r>
                  <a:rPr lang="en-IN" sz="2400">
                    <a:solidFill>
                      <a:srgbClr val="111827"/>
                    </a:solidFill>
                    <a:latin typeface="Cambria Math" panose="02040503050406030204" pitchFamily="18" charset="0"/>
                  </a:rPr>
                  <a:t>$[\vec a\ \vec b\ \vec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Remember that </a:t>
                </a:r>
                <a:r>
                  <a:rPr lang="en-IN" sz="2400">
                    <a:solidFill>
                      <a:srgbClr val="111827"/>
                    </a:solidFill>
                    <a:latin typeface="Cambria Math" panose="02040503050406030204" pitchFamily="18" charset="0"/>
                  </a:rPr>
                  <a:t>$[\vec a\ \vec b\ \vec c]$</a:t>
                </a:r>
                <a:r>
                  <a:rPr sz="2400" b="0">
                    <a:solidFill>
                      <a:srgbClr val="111827"/>
                    </a:solidFill>
                    <a:latin typeface="Arial"/>
                  </a:rPr>
                  <a:t> can be negative: the volume of </a:t>
                </a:r>
                <a:r>
                  <a:rPr lang="en-IN" sz="2400">
                    <a:solidFill>
                      <a:srgbClr val="111827"/>
                    </a:solidFill>
                    <a:latin typeface="Cambria Math" panose="02040503050406030204" pitchFamily="18" charset="0"/>
                  </a:rPr>
                  <a:t>$OABC$</a:t>
                </a:r>
                <a:r>
                  <a:rPr sz="2400" b="0">
                    <a:solidFill>
                      <a:srgbClr val="111827"/>
                    </a:solidFill>
                    <a:latin typeface="Arial"/>
                  </a:rPr>
                  <a:t> is </a:t>
                </a:r>
                <a:r>
                  <a:rPr lang="en-IN" sz="2400">
                    <a:solidFill>
                      <a:srgbClr val="111827"/>
                    </a:solidFill>
                    <a:latin typeface="Cambria Math" panose="02040503050406030204" pitchFamily="18" charset="0"/>
                  </a:rPr>
                  <a:t>$\frac16|[\vec a\ \vec b\ \vec c]|$</a:t>
                </a:r>
                <a:r>
                  <a:rPr sz="2400" b="0">
                    <a:solidFill>
                      <a:srgbClr val="111827"/>
                    </a:solidFill>
                    <a:latin typeface="Arial"/>
                  </a:rPr>
                  <a:t>, parallelepiped </a:t>
                </a:r>
                <a:r>
                  <a:rPr lang="en-IN" sz="2400">
                    <a:solidFill>
                      <a:srgbClr val="111827"/>
                    </a:solidFill>
                    <a:latin typeface="Cambria Math" panose="02040503050406030204" pitchFamily="18" charset="0"/>
                  </a:rPr>
                  <a:t>$|[\vec a\ \vec b\ \vec 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be three points in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 plane such that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m:t>
                    </m:r>
                  </m:oMath>
                </a14:m>
                <a:r>
                  <a:rPr sz="2400" b="0">
                    <a:solidFill>
                      <a:srgbClr val="111827"/>
                    </a:solidFill>
                    <a:latin typeface="Arial"/>
                  </a:rPr>
                  <a:t>, then the distance between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𝐷</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𝐷</m:t>
                    </m:r>
                  </m:oMath>
                </a14:m>
                <a:r>
                  <a:rPr sz="2400" b="0">
                    <a:solidFill>
                      <a:srgbClr val="111827"/>
                    </a:solidFill>
                    <a:latin typeface="Arial"/>
                  </a:rPr>
                  <a:t> is the mid-point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the origin)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oMath>
                </a14:m>
                <a:endParaRPr sz="2400">
                  <a:solidFill>
                    <a:srgbClr val="111827"/>
                  </a:solidFill>
                </a:endParaRPr>
              </a:p>
            </p:txBody>
          </p:sp>
        </mc:Choice>
        <mc:Fallback>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$A,B,C$</a:t>
                </a:r>
                <a:r>
                  <a:rPr sz="2400" b="0">
                    <a:solidFill>
                      <a:srgbClr val="111827"/>
                    </a:solidFill>
                    <a:latin typeface="Arial"/>
                  </a:rPr>
                  <a:t> be three points in the </a:t>
                </a:r>
                <a:r>
                  <a:rPr lang="en-IN" sz="2400">
                    <a:solidFill>
                      <a:srgbClr val="111827"/>
                    </a:solidFill>
                    <a:latin typeface="Cambria Math" panose="02040503050406030204" pitchFamily="18" charset="0"/>
                  </a:rPr>
                  <a:t>$x$</a:t>
                </a:r>
                <a:r>
                  <a:rPr sz="2400" b="0">
                    <a:solidFill>
                      <a:srgbClr val="111827"/>
                    </a:solidFill>
                    <a:latin typeface="Arial"/>
                  </a:rPr>
                  <a:t>-</a:t>
                </a:r>
                <a:r>
                  <a:rPr lang="en-IN" sz="2400">
                    <a:solidFill>
                      <a:srgbClr val="111827"/>
                    </a:solidFill>
                    <a:latin typeface="Cambria Math" panose="02040503050406030204" pitchFamily="18" charset="0"/>
                  </a:rPr>
                  <a:t>$y$</a:t>
                </a:r>
                <a:r>
                  <a:rPr sz="2400" b="0">
                    <a:solidFill>
                      <a:srgbClr val="111827"/>
                    </a:solidFill>
                    <a:latin typeface="Arial"/>
                  </a:rPr>
                  <a:t> plane such that </a:t>
                </a:r>
                <a:r>
                  <a:rPr lang="en-IN" sz="2400">
                    <a:solidFill>
                      <a:srgbClr val="111827"/>
                    </a:solidFill>
                    <a:latin typeface="Cambria Math" panose="02040503050406030204" pitchFamily="18" charset="0"/>
                  </a:rPr>
                  <a:t>$OA=2$</a:t>
                </a:r>
                <a:r>
                  <a:rPr sz="2400" b="0">
                    <a:solidFill>
                      <a:srgbClr val="111827"/>
                    </a:solidFill>
                    <a:latin typeface="Arial"/>
                  </a:rPr>
                  <a:t>, </a:t>
                </a:r>
                <a:r>
                  <a:rPr lang="en-IN" sz="2400">
                    <a:solidFill>
                      <a:srgbClr val="111827"/>
                    </a:solidFill>
                    <a:latin typeface="Cambria Math" panose="02040503050406030204" pitchFamily="18" charset="0"/>
                  </a:rPr>
                  <a:t>$OB=2$</a:t>
                </a:r>
                <a:r>
                  <a:rPr sz="2400" b="0">
                    <a:solidFill>
                      <a:srgbClr val="111827"/>
                    </a:solidFill>
                    <a:latin typeface="Arial"/>
                  </a:rPr>
                  <a:t>, </a:t>
                </a:r>
                <a:r>
                  <a:rPr lang="en-IN" sz="2400">
                    <a:solidFill>
                      <a:srgbClr val="111827"/>
                    </a:solidFill>
                    <a:latin typeface="Cambria Math" panose="02040503050406030204" pitchFamily="18" charset="0"/>
                  </a:rPr>
                  <a:t>$OC=3$</a:t>
                </a:r>
                <a:r>
                  <a:rPr sz="2400" b="0">
                    <a:solidFill>
                      <a:srgbClr val="111827"/>
                    </a:solidFill>
                    <a:latin typeface="Arial"/>
                  </a:rPr>
                  <a:t> and </a:t>
                </a:r>
                <a:r>
                  <a:rPr lang="en-IN" sz="2400">
                    <a:solidFill>
                      <a:srgbClr val="111827"/>
                    </a:solidFill>
                    <a:latin typeface="Cambria Math" panose="02040503050406030204" pitchFamily="18" charset="0"/>
                  </a:rPr>
                  <a:t>$AB^2+BC^2+CA^2=51$</a:t>
                </a:r>
                <a:r>
                  <a:rPr sz="2400" b="0">
                    <a:solidFill>
                      <a:srgbClr val="111827"/>
                    </a:solidFill>
                    <a:latin typeface="Arial"/>
                  </a:rPr>
                  <a:t>, then the distance between </a:t>
                </a:r>
                <a:r>
                  <a:rPr lang="en-IN" sz="2400">
                    <a:solidFill>
                      <a:srgbClr val="111827"/>
                    </a:solidFill>
                    <a:latin typeface="Cambria Math" panose="02040503050406030204" pitchFamily="18" charset="0"/>
                  </a:rPr>
                  <a:t>$O$</a:t>
                </a:r>
                <a:r>
                  <a:rPr sz="2400" b="0">
                    <a:solidFill>
                      <a:srgbClr val="111827"/>
                    </a:solidFill>
                    <a:latin typeface="Arial"/>
                  </a:rPr>
                  <a:t> and </a:t>
                </a:r>
                <a:r>
                  <a:rPr lang="en-IN" sz="2400">
                    <a:solidFill>
                      <a:srgbClr val="111827"/>
                    </a:solidFill>
                    <a:latin typeface="Cambria Math" panose="02040503050406030204" pitchFamily="18" charset="0"/>
                  </a:rPr>
                  <a:t>$D$</a:t>
                </a:r>
                <a:r>
                  <a:rPr sz="2400" b="0">
                    <a:solidFill>
                      <a:srgbClr val="111827"/>
                    </a:solidFill>
                    <a:latin typeface="Arial"/>
                  </a:rPr>
                  <a:t> (where </a:t>
                </a:r>
                <a:r>
                  <a:rPr lang="en-IN" sz="2400">
                    <a:solidFill>
                      <a:srgbClr val="111827"/>
                    </a:solidFill>
                    <a:latin typeface="Cambria Math" panose="02040503050406030204" pitchFamily="18" charset="0"/>
                  </a:rPr>
                  <a:t>$D$</a:t>
                </a:r>
                <a:r>
                  <a:rPr sz="2400" b="0">
                    <a:solidFill>
                      <a:srgbClr val="111827"/>
                    </a:solidFill>
                    <a:latin typeface="Arial"/>
                  </a:rPr>
                  <a:t> is the mid-point of </a:t>
                </a:r>
                <a:r>
                  <a:rPr lang="en-IN" sz="2400">
                    <a:solidFill>
                      <a:srgbClr val="111827"/>
                    </a:solidFill>
                    <a:latin typeface="Cambria Math" panose="02040503050406030204" pitchFamily="18" charset="0"/>
                  </a:rPr>
                  <a:t>$AB$</a:t>
                </a:r>
                <a:r>
                  <a:rPr sz="2400" b="0">
                    <a:solidFill>
                      <a:srgbClr val="111827"/>
                    </a:solidFill>
                    <a:latin typeface="Arial"/>
                  </a:rPr>
                  <a:t> and </a:t>
                </a:r>
                <a:r>
                  <a:rPr lang="en-IN" sz="2400">
                    <a:solidFill>
                      <a:srgbClr val="111827"/>
                    </a:solidFill>
                    <a:latin typeface="Cambria Math" panose="02040503050406030204" pitchFamily="18" charset="0"/>
                  </a:rPr>
                  <a:t>$O$</a:t>
                </a:r>
                <a:r>
                  <a:rPr sz="2400" b="0">
                    <a:solidFill>
                      <a:srgbClr val="111827"/>
                    </a:solidFill>
                    <a:latin typeface="Arial"/>
                  </a:rPr>
                  <a:t> is the origin)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$\frac12$</a:t>
                </a:r>
                <a:r>
                  <a:rPr sz="2400" b="0">
                    <a:solidFill>
                      <a:srgbClr val="111827"/>
                    </a:solidFill>
                    <a:latin typeface="Arial"/>
                  </a:rPr>
                  <a:t>   (B) </a:t>
                </a:r>
                <a:r>
                  <a:rPr lang="en-IN" sz="2400">
                    <a:solidFill>
                      <a:srgbClr val="111827"/>
                    </a:solidFill>
                    <a:latin typeface="Cambria Math" panose="02040503050406030204" pitchFamily="18" charset="0"/>
                  </a:rPr>
                  <a:t>$2$</a:t>
                </a:r>
                <a:r>
                  <a:rPr sz="2400" b="0">
                    <a:solidFill>
                      <a:srgbClr val="111827"/>
                    </a:solidFill>
                    <a:latin typeface="Arial"/>
                  </a:rPr>
                  <a:t>   (C) </a:t>
                </a:r>
                <a:r>
                  <a:rPr lang="en-IN" sz="2400">
                    <a:solidFill>
                      <a:srgbClr val="111827"/>
                    </a:solidFill>
                    <a:latin typeface="Cambria Math" panose="02040503050406030204" pitchFamily="18" charset="0"/>
                  </a:rPr>
                  <a:t>$\frac32$</a:t>
                </a:r>
                <a:r>
                  <a:rPr sz="2400" b="0">
                    <a:solidFill>
                      <a:srgbClr val="111827"/>
                    </a:solidFill>
                    <a:latin typeface="Arial"/>
                  </a:rPr>
                  <a:t>   (D) </a:t>
                </a:r>
                <a:r>
                  <a:rPr lang="en-IN" sz="2400">
                    <a:solidFill>
                      <a:srgbClr val="111827"/>
                    </a:solidFill>
                    <a:latin typeface="Cambria Math" panose="02040503050406030204" pitchFamily="18" charset="0"/>
                  </a:rPr>
                  <a:t>$\frac52$</a:t>
                </a:r>
                <a:endParaRPr sz="2400">
                  <a:solidFill>
                    <a:srgbClr val="111827"/>
                  </a:solidFill>
                </a:endParaRPr>
              </a:p>
            </p:txBody>
          </p:sp>
        </mc:Fallback>
      </mc:AlternateContent>
      <p:sp>
        <p:nvSpPr>
          <p:cNvPr id="5" name="Rectangle 4"/>
          <p:cNvSpPr/>
          <p:nvPr/>
        </p:nvSpPr>
        <p:spPr>
          <a:xfrm>
            <a:off x="731520" y="4061968"/>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Position vectors: sum of squared sides and the centroid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squared sides force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0</m:t>
                        </m:r>
                      </m:e>
                    </m:acc>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𝐷</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𝐶</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squared sides force </a:t>
                </a:r>
                <a:r>
                  <a:rPr lang="en-IN" sz="2400">
                    <a:solidFill>
                      <a:srgbClr val="78350F"/>
                    </a:solidFill>
                    <a:latin typeface="Cambria Math" panose="02040503050406030204" pitchFamily="18" charset="0"/>
                  </a:rPr>
                  <a:t>$\vec a+\vec b+\vec c=\vec 0$</a:t>
                </a:r>
                <a:r>
                  <a:rPr sz="2400" b="0">
                    <a:solidFill>
                      <a:srgbClr val="78350F"/>
                    </a:solidFill>
                    <a:latin typeface="Arial"/>
                  </a:rPr>
                  <a:t>, so </a:t>
                </a:r>
                <a:r>
                  <a:rPr lang="en-IN" sz="2400">
                    <a:solidFill>
                      <a:srgbClr val="78350F"/>
                    </a:solidFill>
                    <a:latin typeface="Cambria Math" panose="02040503050406030204" pitchFamily="18" charset="0"/>
                  </a:rPr>
                  <a:t>$OD=\frac12|\vec a+\vec b|=\frac12 OC$</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be the position vectors of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17</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hence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 a,\vec b,\vec c$</a:t>
                </a:r>
                <a:r>
                  <a:rPr sz="2400" b="0">
                    <a:solidFill>
                      <a:srgbClr val="111827"/>
                    </a:solidFill>
                    <a:latin typeface="Arial"/>
                  </a:rPr>
                  <a:t> be the position vectors of </a:t>
                </a:r>
                <a:r>
                  <a:rPr lang="en-IN" sz="2400">
                    <a:solidFill>
                      <a:srgbClr val="111827"/>
                    </a:solidFill>
                    <a:latin typeface="Cambria Math" panose="02040503050406030204" pitchFamily="18" charset="0"/>
                  </a:rPr>
                  <a:t>$A,B,C$</a:t>
                </a:r>
                <a:r>
                  <a:rPr sz="2400" b="0">
                    <a:solidFill>
                      <a:srgbClr val="111827"/>
                    </a:solidFill>
                    <a:latin typeface="Arial"/>
                  </a:rPr>
                  <a:t> with </a:t>
                </a:r>
                <a:r>
                  <a:rPr lang="en-IN" sz="2400">
                    <a:solidFill>
                      <a:srgbClr val="111827"/>
                    </a:solidFill>
                    <a:latin typeface="Cambria Math" panose="02040503050406030204" pitchFamily="18" charset="0"/>
                  </a:rPr>
                  <a:t>$|\vec a|=|\vec b|=2$</a:t>
                </a:r>
                <a:r>
                  <a:rPr sz="2400" b="0">
                    <a:solidFill>
                      <a:srgbClr val="111827"/>
                    </a:solidFill>
                    <a:latin typeface="Arial"/>
                  </a:rPr>
                  <a:t>, </a:t>
                </a:r>
                <a:r>
                  <a:rPr lang="en-IN" sz="2400">
                    <a:solidFill>
                      <a:srgbClr val="111827"/>
                    </a:solidFill>
                    <a:latin typeface="Cambria Math" panose="02040503050406030204" pitchFamily="18" charset="0"/>
                  </a:rPr>
                  <a:t>$|\vec c|=3$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$AB^2+BC^2+CA^2=2(|\vec a|^2+|\vec b|^2+|\vec c|^2)-2(\vec a\cdot\vec b+\vec b\cdot\vec c+\vec c\cdot\vec a)=34-2S=51$</a:t>
                </a:r>
                <a:r>
                  <a:rPr sz="2400" b="0">
                    <a:solidFill>
                      <a:srgbClr val="111827"/>
                    </a:solidFill>
                    <a:latin typeface="Arial"/>
                  </a:rPr>
                  <a:t>, so </a:t>
                </a:r>
                <a:r>
                  <a:rPr lang="en-IN" sz="2400">
                    <a:solidFill>
                      <a:srgbClr val="111827"/>
                    </a:solidFill>
                    <a:latin typeface="Cambria Math" panose="02040503050406030204" pitchFamily="18" charset="0"/>
                  </a:rPr>
                  <a:t>$S=-\frac{17}{2}$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b+\vec c|^2=17+2S=0$</a:t>
                </a:r>
                <a:r>
                  <a:rPr sz="2400" b="0">
                    <a:solidFill>
                      <a:srgbClr val="111827"/>
                    </a:solidFill>
                    <a:latin typeface="Arial"/>
                  </a:rPr>
                  <a:t>, hence </a:t>
                </a:r>
                <a:r>
                  <a:rPr lang="en-IN" sz="2400">
                    <a:solidFill>
                      <a:srgbClr val="111827"/>
                    </a:solidFill>
                    <a:latin typeface="Cambria Math" panose="02040503050406030204" pitchFamily="18" charset="0"/>
                  </a:rPr>
                  <a:t>$\vec a+\vec b+\vec c=\vec 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𝐷</m:t>
                    </m:r>
                  </m:oMath>
                </a14:m>
                <a:r>
                  <a:rPr sz="2400" b="0">
                    <a:solidFill>
                      <a:srgbClr val="111827"/>
                    </a:solidFill>
                    <a:latin typeface="Arial"/>
                  </a:rPr>
                  <a:t> is the mid-point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𝐷</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option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a:t>
                </a:r>
                <a:r>
                  <a:rPr sz="2400" b="0">
                    <a:solidFill>
                      <a:srgbClr val="111827"/>
                    </a:solidFill>
                    <a:latin typeface="Arial"/>
                  </a:rPr>
                  <a:t> is the mid-point of </a:t>
                </a:r>
                <a:r>
                  <a:rPr lang="en-IN" sz="2400">
                    <a:solidFill>
                      <a:srgbClr val="111827"/>
                    </a:solidFill>
                    <a:latin typeface="Cambria Math" panose="02040503050406030204" pitchFamily="18" charset="0"/>
                  </a:rPr>
                  <a:t>$AB$</a:t>
                </a:r>
                <a:r>
                  <a:rPr sz="2400" b="0">
                    <a:solidFill>
                      <a:srgbClr val="111827"/>
                    </a:solidFill>
                    <a:latin typeface="Arial"/>
                  </a:rPr>
                  <a:t>: </a:t>
                </a:r>
                <a:r>
                  <a:rPr lang="en-IN" sz="2400">
                    <a:solidFill>
                      <a:srgbClr val="111827"/>
                    </a:solidFill>
                    <a:latin typeface="Cambria Math" panose="02040503050406030204" pitchFamily="18" charset="0"/>
                  </a:rPr>
                  <a:t>$\overrightarrow{OD}=\frac{\vec a+\vec b}{2}=-\frac{\vec c}{2}$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$OD=\frac{OC}{2}=\frac32$</a:t>
                </a:r>
                <a:r>
                  <a:rPr sz="2400" b="0">
                    <a:solidFill>
                      <a:srgbClr val="111827"/>
                    </a:solidFill>
                    <a:latin typeface="Arial"/>
                  </a:rPr>
                  <a:t>, option (C).</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2</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$\frac32$</a:t>
                </a:r>
                <a:endParaRPr sz="2800">
                  <a:solidFill>
                    <a:srgbClr val="15803D"/>
                  </a:solidFill>
                </a:endParaRPr>
              </a:p>
            </p:txBody>
          </p:sp>
        </mc:Fallback>
      </mc:AlternateContent>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Leibniz formula: the sum of the squared sides equals </a:t>
                </a:r>
                <a14:m>
                  <m:oMath xmlns:m="http://schemas.openxmlformats.org/officeDocument/2006/math">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𝑂</m:t>
                    </m:r>
                    <m:sSup>
                      <m:e>
                        <m:r>
                          <a:rPr lang="en-IN" sz="2400" i="1">
                            <a:solidFill>
                              <a:srgbClr val="78350F"/>
                            </a:solidFill>
                            <a:latin typeface="Cambria Math" panose="02040503050406030204" pitchFamily="18" charset="0"/>
                          </a:rPr>
                          <m:t>𝐴</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9</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𝑂</m:t>
                    </m:r>
                    <m:sSup>
                      <m:e>
                        <m:r>
                          <a:rPr lang="en-IN" sz="2400" i="1">
                            <a:solidFill>
                              <a:srgbClr val="78350F"/>
                            </a:solidFill>
                            <a:latin typeface="Cambria Math" panose="02040503050406030204" pitchFamily="18" charset="0"/>
                          </a:rPr>
                          <m:t>𝐺</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for the centroid </a:t>
                </a:r>
                <a14:m>
                  <m:oMath xmlns:m="http://schemas.openxmlformats.org/officeDocument/2006/math">
                    <m:r>
                      <a:rPr lang="en-IN" sz="2400" i="1">
                        <a:solidFill>
                          <a:srgbClr val="78350F"/>
                        </a:solidFill>
                        <a:latin typeface="Cambria Math" panose="02040503050406030204" pitchFamily="18" charset="0"/>
                      </a:rPr>
                      <m:t>𝐺</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Leibniz formula: the sum of the squared sides equals </a:t>
                </a:r>
                <a:r>
                  <a:rPr lang="en-IN" sz="2400">
                    <a:solidFill>
                      <a:srgbClr val="78350F"/>
                    </a:solidFill>
                    <a:latin typeface="Cambria Math" panose="02040503050406030204" pitchFamily="18" charset="0"/>
                  </a:rPr>
                  <a:t>$3\sum OA^2-9\,OG^2$</a:t>
                </a:r>
                <a:r>
                  <a:rPr sz="2400" b="0">
                    <a:solidFill>
                      <a:srgbClr val="78350F"/>
                    </a:solidFill>
                    <a:latin typeface="Arial"/>
                  </a:rPr>
                  <a:t> for the centroid </a:t>
                </a:r>
                <a:r>
                  <a:rPr lang="en-IN" sz="2400">
                    <a:solidFill>
                      <a:srgbClr val="78350F"/>
                    </a:solidFill>
                    <a:latin typeface="Cambria Math" panose="02040503050406030204" pitchFamily="18" charset="0"/>
                  </a:rPr>
                  <a:t>$G$</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any point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and triangle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with centroid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𝐺</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𝐺</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𝐺</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the centroid.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centroid lies on the median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and divides it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any point </a:t>
                </a:r>
                <a:r>
                  <a:rPr lang="en-IN" sz="2400">
                    <a:solidFill>
                      <a:srgbClr val="111827"/>
                    </a:solidFill>
                    <a:latin typeface="Cambria Math" panose="02040503050406030204" pitchFamily="18" charset="0"/>
                  </a:rPr>
                  <a:t>$O$</a:t>
                </a:r>
                <a:r>
                  <a:rPr sz="2400" b="0">
                    <a:solidFill>
                      <a:srgbClr val="111827"/>
                    </a:solidFill>
                    <a:latin typeface="Arial"/>
                  </a:rPr>
                  <a:t> and triangle </a:t>
                </a:r>
                <a:r>
                  <a:rPr lang="en-IN" sz="2400">
                    <a:solidFill>
                      <a:srgbClr val="111827"/>
                    </a:solidFill>
                    <a:latin typeface="Cambria Math" panose="02040503050406030204" pitchFamily="18" charset="0"/>
                  </a:rPr>
                  <a:t>$ABC$</a:t>
                </a:r>
                <a:r>
                  <a:rPr sz="2400" b="0">
                    <a:solidFill>
                      <a:srgbClr val="111827"/>
                    </a:solidFill>
                    <a:latin typeface="Arial"/>
                  </a:rPr>
                  <a:t> with centroid </a:t>
                </a:r>
                <a:r>
                  <a:rPr lang="en-IN" sz="2400">
                    <a:solidFill>
                      <a:srgbClr val="111827"/>
                    </a:solidFill>
                    <a:latin typeface="Cambria Math" panose="02040503050406030204" pitchFamily="18" charset="0"/>
                  </a:rPr>
                  <a:t>$G$</a:t>
                </a:r>
                <a:r>
                  <a:rPr sz="2400" b="0">
                    <a:solidFill>
                      <a:srgbClr val="111827"/>
                    </a:solidFill>
                    <a:latin typeface="Arial"/>
                  </a:rPr>
                  <a:t>: </a:t>
                </a:r>
                <a:r>
                  <a:rPr lang="en-IN" sz="2400">
                    <a:solidFill>
                      <a:srgbClr val="111827"/>
                    </a:solidFill>
                    <a:latin typeface="Cambria Math" panose="02040503050406030204" pitchFamily="18" charset="0"/>
                  </a:rPr>
                  <a:t>$AB^2+BC^2+CA^2=3(OA^2+OB^2+OC^2)-9\,OG^2$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$3(4+4+9)-9\,OG^2=51\Rightarrow51-9\,OG^2=51\Rightarrow OG=0$</a:t>
                </a:r>
                <a:r>
                  <a:rPr sz="2400" b="0">
                    <a:solidFill>
                      <a:srgbClr val="111827"/>
                    </a:solidFill>
                    <a:latin typeface="Arial"/>
                  </a:rPr>
                  <a:t>, so </a:t>
                </a:r>
                <a:r>
                  <a:rPr lang="en-IN" sz="2400">
                    <a:solidFill>
                      <a:srgbClr val="111827"/>
                    </a:solidFill>
                    <a:latin typeface="Cambria Math" panose="02040503050406030204" pitchFamily="18" charset="0"/>
                  </a:rPr>
                  <a:t>$O$</a:t>
                </a:r>
                <a:r>
                  <a:rPr sz="2400" b="0">
                    <a:solidFill>
                      <a:srgbClr val="111827"/>
                    </a:solidFill>
                    <a:latin typeface="Arial"/>
                  </a:rPr>
                  <a:t> is the centroid.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centroid lies on the median </a:t>
                </a:r>
                <a:r>
                  <a:rPr lang="en-IN" sz="2400">
                    <a:solidFill>
                      <a:srgbClr val="111827"/>
                    </a:solidFill>
                    <a:latin typeface="Cambria Math" panose="02040503050406030204" pitchFamily="18" charset="0"/>
                  </a:rPr>
                  <a:t>$CD$</a:t>
                </a:r>
                <a:r>
                  <a:rPr sz="2400" b="0">
                    <a:solidFill>
                      <a:srgbClr val="111827"/>
                    </a:solidFill>
                    <a:latin typeface="Arial"/>
                  </a:rPr>
                  <a:t> and divides it </a:t>
                </a:r>
                <a:r>
                  <a:rPr lang="en-IN" sz="2400">
                    <a:solidFill>
                      <a:srgbClr val="111827"/>
                    </a:solidFill>
                    <a:latin typeface="Cambria Math" panose="02040503050406030204" pitchFamily="18" charset="0"/>
                  </a:rPr>
                  <a:t>$CO:OD=2:1$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$OD=\frac12\,OC=\frac32$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2</m:t>
                        </m:r>
                      </m:den>
                    </m:f>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$\frac32$</a:t>
                </a:r>
                <a:endParaRPr sz="2800">
                  <a:solidFill>
                    <a:srgbClr val="15803D"/>
                  </a:solidFill>
                </a:endParaRPr>
              </a:p>
            </p:txBody>
          </p:sp>
        </mc:Fallback>
      </mc:AlternateContent>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𝐺</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(Leibniz); it equals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exactly when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the centroid.</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iff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the centroid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𝐷</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lin"/>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for the mid-point </a:t>
                </a:r>
                <a14:m>
                  <m:oMath xmlns:m="http://schemas.openxmlformats.org/officeDocument/2006/math">
                    <m:r>
                      <a:rPr lang="en-IN" sz="2400" i="1">
                        <a:solidFill>
                          <a:srgbClr val="111827"/>
                        </a:solidFill>
                        <a:latin typeface="Cambria Math" panose="02040503050406030204" pitchFamily="18" charset="0"/>
                      </a:rPr>
                      <m:t>𝐷</m:t>
                    </m:r>
                  </m:oMath>
                </a14:m>
                <a:r>
                  <a:rPr sz="2400" b="0">
                    <a:solidFill>
                      <a:srgbClr val="111827"/>
                    </a:solidFill>
                    <a:latin typeface="Arial"/>
                  </a:rPr>
                  <a:t>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𝑆</m:t>
                    </m:r>
                  </m:oMath>
                </a14:m>
                <a:r>
                  <a:rPr sz="2400" b="0">
                    <a:solidFill>
                      <a:srgbClr val="111827"/>
                    </a:solidFill>
                    <a:latin typeface="Arial"/>
                  </a:rPr>
                  <a:t>; a value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lin"/>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$AB^2+BC^2+CA^2=3\left(OA^2+OB^2+OC^2\right)-9\,OG^2$</a:t>
                </a:r>
                <a:r>
                  <a:rPr sz="2400" b="0">
                    <a:solidFill>
                      <a:srgbClr val="111827"/>
                    </a:solidFill>
                    <a:latin typeface="Arial"/>
                  </a:rPr>
                  <a:t> (Leibniz); it equals </a:t>
                </a:r>
                <a:r>
                  <a:rPr lang="en-IN" sz="2400">
                    <a:solidFill>
                      <a:srgbClr val="111827"/>
                    </a:solidFill>
                    <a:latin typeface="Cambria Math" panose="02040503050406030204" pitchFamily="18" charset="0"/>
                  </a:rPr>
                  <a:t>$3\sum OA^2$</a:t>
                </a:r>
                <a:r>
                  <a:rPr sz="2400" b="0">
                    <a:solidFill>
                      <a:srgbClr val="111827"/>
                    </a:solidFill>
                    <a:latin typeface="Arial"/>
                  </a:rPr>
                  <a:t> exactly when </a:t>
                </a:r>
                <a:r>
                  <a:rPr lang="en-IN" sz="2400">
                    <a:solidFill>
                      <a:srgbClr val="111827"/>
                    </a:solidFill>
                    <a:latin typeface="Cambria Math" panose="02040503050406030204" pitchFamily="18" charset="0"/>
                  </a:rPr>
                  <a:t>$O$</a:t>
                </a:r>
                <a:r>
                  <a:rPr sz="2400" b="0">
                    <a:solidFill>
                      <a:srgbClr val="111827"/>
                    </a:solidFill>
                    <a:latin typeface="Arial"/>
                  </a:rPr>
                  <a:t> is the centroid.</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b+\vec c=\vec 0$</a:t>
                </a:r>
                <a:r>
                  <a:rPr sz="2400" b="0">
                    <a:solidFill>
                      <a:srgbClr val="111827"/>
                    </a:solidFill>
                    <a:latin typeface="Arial"/>
                  </a:rPr>
                  <a:t> iff </a:t>
                </a:r>
                <a:r>
                  <a:rPr lang="en-IN" sz="2400">
                    <a:solidFill>
                      <a:srgbClr val="111827"/>
                    </a:solidFill>
                    <a:latin typeface="Cambria Math" panose="02040503050406030204" pitchFamily="18" charset="0"/>
                  </a:rPr>
                  <a:t>$O$</a:t>
                </a:r>
                <a:r>
                  <a:rPr sz="2400" b="0">
                    <a:solidFill>
                      <a:srgbClr val="111827"/>
                    </a:solidFill>
                    <a:latin typeface="Arial"/>
                  </a:rPr>
                  <a:t> is the centroid of </a:t>
                </a:r>
                <a:r>
                  <a:rPr lang="en-IN" sz="2400">
                    <a:solidFill>
                      <a:srgbClr val="111827"/>
                    </a:solidFill>
                    <a:latin typeface="Cambria Math" panose="02040503050406030204" pitchFamily="18" charset="0"/>
                  </a:rPr>
                  <a:t>$ABC$</a:t>
                </a:r>
                <a:r>
                  <a:rPr sz="2400" b="0">
                    <a:solidFill>
                      <a:srgbClr val="111827"/>
                    </a:solidFill>
                    <a:latin typeface="Arial"/>
                  </a:rPr>
                  <a:t>; then </a:t>
                </a:r>
                <a:r>
                  <a:rPr lang="en-IN" sz="2400">
                    <a:solidFill>
                      <a:srgbClr val="111827"/>
                    </a:solidFill>
                    <a:latin typeface="Cambria Math" panose="02040503050406030204" pitchFamily="18" charset="0"/>
                  </a:rPr>
                  <a:t>$\overrightarrow{OD}=-\tfrac12\vec c$</a:t>
                </a:r>
                <a:r>
                  <a:rPr sz="2400" b="0">
                    <a:solidFill>
                      <a:srgbClr val="111827"/>
                    </a:solidFill>
                    <a:latin typeface="Arial"/>
                  </a:rPr>
                  <a:t> for the mid-point </a:t>
                </a:r>
                <a:r>
                  <a:rPr lang="en-IN" sz="2400">
                    <a:solidFill>
                      <a:srgbClr val="111827"/>
                    </a:solidFill>
                    <a:latin typeface="Cambria Math" panose="02040503050406030204" pitchFamily="18" charset="0"/>
                  </a:rPr>
                  <a:t>$D$</a:t>
                </a:r>
                <a:r>
                  <a:rPr sz="2400" b="0">
                    <a:solidFill>
                      <a:srgbClr val="111827"/>
                    </a:solidFill>
                    <a:latin typeface="Arial"/>
                  </a:rPr>
                  <a:t> of </a:t>
                </a:r>
                <a:r>
                  <a:rPr lang="en-IN" sz="2400">
                    <a:solidFill>
                      <a:srgbClr val="111827"/>
                    </a:solidFill>
                    <a:latin typeface="Cambria Math" panose="02040503050406030204" pitchFamily="18" charset="0"/>
                  </a:rPr>
                  <a:t>$AB$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b+\vec c|^2=\sum|\vec a|^2+2S$</a:t>
                </a:r>
                <a:r>
                  <a:rPr sz="2400" b="0">
                    <a:solidFill>
                      <a:srgbClr val="111827"/>
                    </a:solidFill>
                    <a:latin typeface="Arial"/>
                  </a:rPr>
                  <a:t>; a value </a:t>
                </a:r>
                <a:r>
                  <a:rPr lang="en-IN" sz="2400">
                    <a:solidFill>
                      <a:srgbClr val="111827"/>
                    </a:solidFill>
                    <a:latin typeface="Cambria Math" panose="02040503050406030204" pitchFamily="18" charset="0"/>
                  </a:rPr>
                  <a:t>$0$</a:t>
                </a:r>
                <a:r>
                  <a:rPr sz="2400" b="0">
                    <a:solidFill>
                      <a:srgbClr val="111827"/>
                    </a:solidFill>
                    <a:latin typeface="Arial"/>
                  </a:rPr>
                  <a:t> gives </a:t>
                </a:r>
                <a:r>
                  <a:rPr lang="en-IN" sz="2400">
                    <a:solidFill>
                      <a:srgbClr val="111827"/>
                    </a:solidFill>
                    <a:latin typeface="Cambria Math" panose="02040503050406030204" pitchFamily="18" charset="0"/>
                  </a:rPr>
                  <a:t>$S=-\tfrac12\sum|\vec a|^2$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40791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Points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lie on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oMath>
                </a14:m>
                <a:r>
                  <a:rPr sz="2400" b="0">
                    <a:solidFill>
                      <a:srgbClr val="111827"/>
                    </a:solidFill>
                    <a:latin typeface="Arial"/>
                  </a:rPr>
                  <a:t> respectively.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oMath>
                </a14:m>
                <a:r>
                  <a:rPr sz="2400" b="0">
                    <a:solidFill>
                      <a:srgbClr val="111827"/>
                    </a:solidFill>
                    <a:latin typeface="Arial"/>
                  </a:rPr>
                  <a:t> divide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in the ratio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respectively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the origin). The locus of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the locus of </a:t>
                </a:r>
                <a14:m>
                  <m:oMath xmlns:m="http://schemas.openxmlformats.org/officeDocument/2006/math">
                    <m:r>
                      <a:rPr lang="en-IN" sz="2400" i="1">
                        <a:solidFill>
                          <a:srgbClr val="111827"/>
                        </a:solidFill>
                        <a:latin typeface="Cambria Math" panose="02040503050406030204" pitchFamily="18" charset="0"/>
                      </a:rPr>
                      <m:t>𝐷</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The point of intersection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21</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12</m:t>
                            </m:r>
                          </m:den>
                        </m:f>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12</m:t>
                            </m:r>
                          </m:den>
                        </m:f>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27</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17</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12</m:t>
                            </m:r>
                          </m:den>
                        </m:f>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None of these</a:t>
                </a:r>
                <a:endParaRPr sz="2400">
                  <a:solidFill>
                    <a:srgbClr val="111827"/>
                  </a:solidFill>
                </a:endParaRPr>
              </a:p>
            </p:txBody>
          </p:sp>
        </mc:Choice>
        <mc:Fallback>
          <p:sp>
            <p:nvSpPr>
              <p:cNvPr id="4" name="Rounded Rectangle 3"/>
              <p:cNvSpPr/>
              <p:nvPr/>
            </p:nvSpPr>
            <p:spPr>
              <a:xfrm>
                <a:off x="731520" y="1280160"/>
                <a:ext cx="10725912" cy="440791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Points </a:t>
                </a:r>
                <a:r>
                  <a:rPr lang="en-IN" sz="2400">
                    <a:solidFill>
                      <a:srgbClr val="111827"/>
                    </a:solidFill>
                    <a:latin typeface="Cambria Math" panose="02040503050406030204" pitchFamily="18" charset="0"/>
                  </a:rPr>
                  <a:t>$A,B$</a:t>
                </a:r>
                <a:r>
                  <a:rPr sz="2400" b="0">
                    <a:solidFill>
                      <a:srgbClr val="111827"/>
                    </a:solidFill>
                    <a:latin typeface="Arial"/>
                  </a:rPr>
                  <a:t> lie on </a:t>
                </a:r>
                <a:r>
                  <a:rPr lang="en-IN" sz="2400">
                    <a:solidFill>
                      <a:srgbClr val="111827"/>
                    </a:solidFill>
                    <a:latin typeface="Cambria Math" panose="02040503050406030204" pitchFamily="18" charset="0"/>
                  </a:rPr>
                  <a:t>$x+2y+z-10=0$</a:t>
                </a:r>
                <a:r>
                  <a:rPr sz="2400" b="0">
                    <a:solidFill>
                      <a:srgbClr val="111827"/>
                    </a:solidFill>
                    <a:latin typeface="Arial"/>
                  </a:rPr>
                  <a:t> and </a:t>
                </a:r>
                <a:r>
                  <a:rPr lang="en-IN" sz="2400">
                    <a:solidFill>
                      <a:srgbClr val="111827"/>
                    </a:solidFill>
                    <a:latin typeface="Cambria Math" panose="02040503050406030204" pitchFamily="18" charset="0"/>
                  </a:rPr>
                  <a:t>$\frac{x-5}{2}=\frac{y-2}{1}=\frac{z-1}{-2}$</a:t>
                </a:r>
                <a:r>
                  <a:rPr sz="2400" b="0">
                    <a:solidFill>
                      <a:srgbClr val="111827"/>
                    </a:solidFill>
                    <a:latin typeface="Arial"/>
                  </a:rPr>
                  <a:t> respectively. </a:t>
                </a:r>
                <a:r>
                  <a:rPr lang="en-IN" sz="2400">
                    <a:solidFill>
                      <a:srgbClr val="111827"/>
                    </a:solidFill>
                    <a:latin typeface="Cambria Math" panose="02040503050406030204" pitchFamily="18" charset="0"/>
                  </a:rPr>
                  <a:t>$C,D$</a:t>
                </a:r>
                <a:r>
                  <a:rPr sz="2400" b="0">
                    <a:solidFill>
                      <a:srgbClr val="111827"/>
                    </a:solidFill>
                    <a:latin typeface="Arial"/>
                  </a:rPr>
                  <a:t> divide </a:t>
                </a:r>
                <a:r>
                  <a:rPr lang="en-IN" sz="2400">
                    <a:solidFill>
                      <a:srgbClr val="111827"/>
                    </a:solidFill>
                    <a:latin typeface="Cambria Math" panose="02040503050406030204" pitchFamily="18" charset="0"/>
                  </a:rPr>
                  <a:t>$OA,OB$</a:t>
                </a:r>
                <a:r>
                  <a:rPr sz="2400" b="0">
                    <a:solidFill>
                      <a:srgbClr val="111827"/>
                    </a:solidFill>
                    <a:latin typeface="Arial"/>
                  </a:rPr>
                  <a:t> in the ratio </a:t>
                </a:r>
                <a:r>
                  <a:rPr lang="en-IN" sz="2400">
                    <a:solidFill>
                      <a:srgbClr val="111827"/>
                    </a:solidFill>
                    <a:latin typeface="Cambria Math" panose="02040503050406030204" pitchFamily="18" charset="0"/>
                  </a:rPr>
                  <a:t>$1:2$</a:t>
                </a:r>
                <a:r>
                  <a:rPr sz="2400" b="0">
                    <a:solidFill>
                      <a:srgbClr val="111827"/>
                    </a:solidFill>
                    <a:latin typeface="Arial"/>
                  </a:rPr>
                  <a:t>, </a:t>
                </a:r>
                <a:r>
                  <a:rPr lang="en-IN" sz="2400">
                    <a:solidFill>
                      <a:srgbClr val="111827"/>
                    </a:solidFill>
                    <a:latin typeface="Cambria Math" panose="02040503050406030204" pitchFamily="18" charset="0"/>
                  </a:rPr>
                  <a:t>$1:3$</a:t>
                </a:r>
                <a:r>
                  <a:rPr sz="2400" b="0">
                    <a:solidFill>
                      <a:srgbClr val="111827"/>
                    </a:solidFill>
                    <a:latin typeface="Arial"/>
                  </a:rPr>
                  <a:t> respectively (</a:t>
                </a:r>
                <a:r>
                  <a:rPr lang="en-IN" sz="2400">
                    <a:solidFill>
                      <a:srgbClr val="111827"/>
                    </a:solidFill>
                    <a:latin typeface="Cambria Math" panose="02040503050406030204" pitchFamily="18" charset="0"/>
                  </a:rPr>
                  <a:t>$O$</a:t>
                </a:r>
                <a:r>
                  <a:rPr sz="2400" b="0">
                    <a:solidFill>
                      <a:srgbClr val="111827"/>
                    </a:solidFill>
                    <a:latin typeface="Arial"/>
                  </a:rPr>
                  <a:t> is the origin). The locus of </a:t>
                </a:r>
                <a:r>
                  <a:rPr lang="en-IN" sz="2400">
                    <a:solidFill>
                      <a:srgbClr val="111827"/>
                    </a:solidFill>
                    <a:latin typeface="Cambria Math" panose="02040503050406030204" pitchFamily="18" charset="0"/>
                  </a:rPr>
                  <a:t>$C$</a:t>
                </a:r>
                <a:r>
                  <a:rPr sz="2400" b="0">
                    <a:solidFill>
                      <a:srgbClr val="111827"/>
                    </a:solidFill>
                    <a:latin typeface="Arial"/>
                  </a:rPr>
                  <a:t> is </a:t>
                </a:r>
                <a:r>
                  <a:rPr lang="en-IN" sz="2400">
                    <a:solidFill>
                      <a:srgbClr val="111827"/>
                    </a:solidFill>
                    <a:latin typeface="Cambria Math" panose="02040503050406030204" pitchFamily="18" charset="0"/>
                  </a:rPr>
                  <a:t>$P$</a:t>
                </a:r>
                <a:r>
                  <a:rPr sz="2400" b="0">
                    <a:solidFill>
                      <a:srgbClr val="111827"/>
                    </a:solidFill>
                    <a:latin typeface="Arial"/>
                  </a:rPr>
                  <a:t> and the locus of </a:t>
                </a:r>
                <a:r>
                  <a:rPr lang="en-IN" sz="2400">
                    <a:solidFill>
                      <a:srgbClr val="111827"/>
                    </a:solidFill>
                    <a:latin typeface="Cambria Math" panose="02040503050406030204" pitchFamily="18" charset="0"/>
                  </a:rPr>
                  <a:t>$D$</a:t>
                </a:r>
                <a:r>
                  <a:rPr sz="2400" b="0">
                    <a:solidFill>
                      <a:srgbClr val="111827"/>
                    </a:solidFill>
                    <a:latin typeface="Arial"/>
                  </a:rPr>
                  <a:t> is </a:t>
                </a:r>
                <a:r>
                  <a:rPr lang="en-IN" sz="2400">
                    <a:solidFill>
                      <a:srgbClr val="111827"/>
                    </a:solidFill>
                    <a:latin typeface="Cambria Math" panose="02040503050406030204" pitchFamily="18" charset="0"/>
                  </a:rPr>
                  <a:t>$L$</a:t>
                </a:r>
                <a:r>
                  <a:rPr sz="2400" b="0">
                    <a:solidFill>
                      <a:srgbClr val="111827"/>
                    </a:solidFill>
                    <a:latin typeface="Arial"/>
                  </a:rPr>
                  <a:t>. The point of intersection of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$L$</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$\left(\frac{21}{12},\frac{11}{12},\frac{1}{12}\right)$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$\left(\frac{25}{12},\frac{11}{12},\frac{-7}{12}\right)$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$\left(\frac{27}{12},\frac{17}{12},\frac{-5}{12}\right)$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None of these</a:t>
                </a:r>
                <a:endParaRPr sz="2400">
                  <a:solidFill>
                    <a:srgbClr val="111827"/>
                  </a:solidFill>
                </a:endParaRPr>
              </a:p>
            </p:txBody>
          </p:sp>
        </mc:Fallback>
      </mc:AlternateContent>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Locus under scaling of a point about the origin, Intersection of a line and a plane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𝐶</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3</m:t>
                        </m:r>
                      </m:den>
                    </m:f>
                    <m:r>
                      <a:rPr lang="en-IN" sz="2400" i="1">
                        <a:solidFill>
                          <a:srgbClr val="78350F"/>
                        </a:solidFill>
                        <a:latin typeface="Cambria Math" panose="02040503050406030204" pitchFamily="18" charset="0"/>
                      </a:rPr>
                      <m:t>𝐴</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𝐷</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4</m:t>
                        </m:r>
                      </m:den>
                    </m:f>
                    <m:r>
                      <a:rPr lang="en-IN" sz="2400" i="1">
                        <a:solidFill>
                          <a:srgbClr val="78350F"/>
                        </a:solidFill>
                        <a:latin typeface="Cambria Math" panose="02040503050406030204" pitchFamily="18" charset="0"/>
                      </a:rPr>
                      <m:t>𝐵</m:t>
                    </m:r>
                  </m:oMath>
                </a14:m>
                <a:r>
                  <a:rPr sz="2400" b="0">
                    <a:solidFill>
                      <a:srgbClr val="78350F"/>
                    </a:solidFill>
                    <a:latin typeface="Arial"/>
                  </a:rPr>
                  <a:t> are images under scaling about </a:t>
                </a:r>
                <a14:m>
                  <m:oMath xmlns:m="http://schemas.openxmlformats.org/officeDocument/2006/math">
                    <m:r>
                      <a:rPr lang="en-IN" sz="2400" i="1">
                        <a:solidFill>
                          <a:srgbClr val="78350F"/>
                        </a:solidFill>
                        <a:latin typeface="Cambria Math" panose="02040503050406030204" pitchFamily="18" charset="0"/>
                      </a:rPr>
                      <m:t>𝑂</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is the plane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10</m:t>
                        </m:r>
                      </m:num>
                      <m:den>
                        <m:r>
                          <a:rPr lang="en-IN" sz="2400" i="1">
                            <a:solidFill>
                              <a:srgbClr val="78350F"/>
                            </a:solidFill>
                            <a:latin typeface="Cambria Math" panose="02040503050406030204" pitchFamily="18" charset="0"/>
                          </a:rPr>
                          <m:t>3</m:t>
                        </m:r>
                      </m:den>
                    </m:f>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𝐿</m:t>
                    </m:r>
                  </m:oMath>
                </a14:m>
                <a:r>
                  <a:rPr sz="2400" b="0">
                    <a:solidFill>
                      <a:srgbClr val="78350F"/>
                    </a:solidFill>
                    <a:latin typeface="Arial"/>
                  </a:rPr>
                  <a:t> is the line through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5</m:t>
                            </m:r>
                          </m:num>
                          <m:den>
                            <m:r>
                              <a:rPr lang="en-IN" sz="2400" i="1">
                                <a:solidFill>
                                  <a:srgbClr val="78350F"/>
                                </a:solidFill>
                                <a:latin typeface="Cambria Math" panose="02040503050406030204" pitchFamily="18" charset="0"/>
                              </a:rPr>
                              <m:t>4</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4</m:t>
                            </m:r>
                          </m:den>
                        </m:f>
                      </m:e>
                    </m:d>
                  </m:oMath>
                </a14:m>
                <a:r>
                  <a:rPr sz="2400" b="0">
                    <a:solidFill>
                      <a:srgbClr val="78350F"/>
                    </a:solidFill>
                    <a:latin typeface="Arial"/>
                  </a:rPr>
                  <a:t> with the same direction.</a:t>
                </a:r>
                <a:endParaRPr sz="2400">
                  <a:solidFill>
                    <a:srgbClr val="78350F"/>
                  </a:solidFill>
                </a:endParaRPr>
              </a:p>
            </p:txBody>
          </p:sp>
        </mc:Choice>
        <mc:Fallback>
          <p:sp>
            <p:nvSpPr>
              <p:cNvPr id="5" name="Rounded Rectangle 4"/>
              <p:cNvSpPr/>
              <p:nvPr/>
            </p:nvSpPr>
            <p:spPr>
              <a:xfrm>
                <a:off x="731520" y="365760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$C=\frac13A$</a:t>
                </a:r>
                <a:r>
                  <a:rPr sz="2400" b="0">
                    <a:solidFill>
                      <a:srgbClr val="78350F"/>
                    </a:solidFill>
                    <a:latin typeface="Arial"/>
                  </a:rPr>
                  <a:t> and </a:t>
                </a:r>
                <a:r>
                  <a:rPr lang="en-IN" sz="2400">
                    <a:solidFill>
                      <a:srgbClr val="78350F"/>
                    </a:solidFill>
                    <a:latin typeface="Cambria Math" panose="02040503050406030204" pitchFamily="18" charset="0"/>
                  </a:rPr>
                  <a:t>$D=\frac14B$</a:t>
                </a:r>
                <a:r>
                  <a:rPr sz="2400" b="0">
                    <a:solidFill>
                      <a:srgbClr val="78350F"/>
                    </a:solidFill>
                    <a:latin typeface="Arial"/>
                  </a:rPr>
                  <a:t> are images under scaling about </a:t>
                </a:r>
                <a:r>
                  <a:rPr lang="en-IN" sz="2400">
                    <a:solidFill>
                      <a:srgbClr val="78350F"/>
                    </a:solidFill>
                    <a:latin typeface="Cambria Math" panose="02040503050406030204" pitchFamily="18" charset="0"/>
                  </a:rPr>
                  <a:t>$O$</a:t>
                </a:r>
                <a:r>
                  <a:rPr sz="2400" b="0">
                    <a:solidFill>
                      <a:srgbClr val="78350F"/>
                    </a:solidFill>
                    <a:latin typeface="Arial"/>
                  </a:rPr>
                  <a:t>: </a:t>
                </a:r>
                <a:r>
                  <a:rPr lang="en-IN" sz="2400">
                    <a:solidFill>
                      <a:srgbClr val="78350F"/>
                    </a:solidFill>
                    <a:latin typeface="Cambria Math" panose="02040503050406030204" pitchFamily="18" charset="0"/>
                  </a:rPr>
                  <a:t>$P$</a:t>
                </a:r>
                <a:r>
                  <a:rPr sz="2400" b="0">
                    <a:solidFill>
                      <a:srgbClr val="78350F"/>
                    </a:solidFill>
                    <a:latin typeface="Arial"/>
                  </a:rPr>
                  <a:t> is the plane </a:t>
                </a:r>
                <a:r>
                  <a:rPr lang="en-IN" sz="2400">
                    <a:solidFill>
                      <a:srgbClr val="78350F"/>
                    </a:solidFill>
                    <a:latin typeface="Cambria Math" panose="02040503050406030204" pitchFamily="18" charset="0"/>
                  </a:rPr>
                  <a:t>$x+2y+z=\frac{10}{3}$</a:t>
                </a:r>
                <a:r>
                  <a:rPr sz="2400" b="0">
                    <a:solidFill>
                      <a:srgbClr val="78350F"/>
                    </a:solidFill>
                    <a:latin typeface="Arial"/>
                  </a:rPr>
                  <a:t> and </a:t>
                </a:r>
                <a:r>
                  <a:rPr lang="en-IN" sz="2400">
                    <a:solidFill>
                      <a:srgbClr val="78350F"/>
                    </a:solidFill>
                    <a:latin typeface="Cambria Math" panose="02040503050406030204" pitchFamily="18" charset="0"/>
                  </a:rPr>
                  <a:t>$L$</a:t>
                </a:r>
                <a:r>
                  <a:rPr sz="2400" b="0">
                    <a:solidFill>
                      <a:srgbClr val="78350F"/>
                    </a:solidFill>
                    <a:latin typeface="Arial"/>
                  </a:rPr>
                  <a:t> is the line through </a:t>
                </a:r>
                <a:r>
                  <a:rPr lang="en-IN" sz="2400">
                    <a:solidFill>
                      <a:srgbClr val="78350F"/>
                    </a:solidFill>
                    <a:latin typeface="Cambria Math" panose="02040503050406030204" pitchFamily="18" charset="0"/>
                  </a:rPr>
                  <a:t>$\left(\frac54,\frac12,\frac14\right)$</a:t>
                </a:r>
                <a:r>
                  <a:rPr sz="2400" b="0">
                    <a:solidFill>
                      <a:srgbClr val="78350F"/>
                    </a:solidFill>
                    <a:latin typeface="Arial"/>
                  </a:rPr>
                  <a:t> with the same direction.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605272"/>
                <a:ext cx="10725912" cy="106984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divides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e>
                    </m:acc>
                  </m:oMath>
                </a14:m>
                <a:r>
                  <a:rPr sz="2400" b="0">
                    <a:solidFill>
                      <a:srgbClr val="111827"/>
                    </a:solidFill>
                    <a:latin typeface="Arial"/>
                  </a:rPr>
                  <a:t>; the locus of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605272"/>
                <a:ext cx="10725912" cy="106984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a:t>
                </a:r>
                <a:r>
                  <a:rPr sz="2400" b="0">
                    <a:solidFill>
                      <a:srgbClr val="111827"/>
                    </a:solidFill>
                    <a:latin typeface="Arial"/>
                  </a:rPr>
                  <a:t> divides </a:t>
                </a:r>
                <a:r>
                  <a:rPr lang="en-IN" sz="2400">
                    <a:solidFill>
                      <a:srgbClr val="111827"/>
                    </a:solidFill>
                    <a:latin typeface="Cambria Math" panose="02040503050406030204" pitchFamily="18" charset="0"/>
                  </a:rPr>
                  <a:t>$OA$</a:t>
                </a:r>
                <a:r>
                  <a:rPr sz="2400" b="0">
                    <a:solidFill>
                      <a:srgbClr val="111827"/>
                    </a:solidFill>
                    <a:latin typeface="Arial"/>
                  </a:rPr>
                  <a:t> in </a:t>
                </a:r>
                <a:r>
                  <a:rPr lang="en-IN" sz="2400">
                    <a:solidFill>
                      <a:srgbClr val="111827"/>
                    </a:solidFill>
                    <a:latin typeface="Cambria Math" panose="02040503050406030204" pitchFamily="18" charset="0"/>
                  </a:rPr>
                  <a:t>$1:2$</a:t>
                </a:r>
                <a:r>
                  <a:rPr sz="2400" b="0">
                    <a:solidFill>
                      <a:srgbClr val="111827"/>
                    </a:solidFill>
                    <a:latin typeface="Arial"/>
                  </a:rPr>
                  <a:t>, so </a:t>
                </a:r>
                <a:r>
                  <a:rPr lang="en-IN" sz="2400">
                    <a:solidFill>
                      <a:srgbClr val="111827"/>
                    </a:solidFill>
                    <a:latin typeface="Cambria Math" panose="02040503050406030204" pitchFamily="18" charset="0"/>
                  </a:rPr>
                  <a:t>$\overrightarrow{OC}=\frac13\overrightarrow{OA}$</a:t>
                </a:r>
                <a:r>
                  <a:rPr sz="2400" b="0">
                    <a:solidFill>
                      <a:srgbClr val="111827"/>
                    </a:solidFill>
                    <a:latin typeface="Arial"/>
                  </a:rPr>
                  <a:t>; the locus of </a:t>
                </a:r>
                <a:r>
                  <a:rPr lang="en-IN" sz="2400">
                    <a:solidFill>
                      <a:srgbClr val="111827"/>
                    </a:solidFill>
                    <a:latin typeface="Cambria Math" panose="02040503050406030204" pitchFamily="18" charset="0"/>
                  </a:rPr>
                  <a:t>$C$</a:t>
                </a:r>
                <a:r>
                  <a:rPr sz="2400" b="0">
                    <a:solidFill>
                      <a:srgbClr val="111827"/>
                    </a:solidFill>
                    <a:latin typeface="Arial"/>
                  </a:rPr>
                  <a:t> is </a:t>
                </a:r>
                <a:r>
                  <a:rPr lang="en-IN" sz="2400">
                    <a:solidFill>
                      <a:srgbClr val="111827"/>
                    </a:solidFill>
                    <a:latin typeface="Cambria Math" panose="02040503050406030204" pitchFamily="18" charset="0"/>
                  </a:rPr>
                  <a:t>$P:\ x+2y+z=\frac{10}{3}$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𝐷</m:t>
                    </m:r>
                  </m:oMath>
                </a14:m>
                <a:r>
                  <a:rPr sz="2400" b="0">
                    <a:solidFill>
                      <a:srgbClr val="111827"/>
                    </a:solidFill>
                    <a:latin typeface="Arial"/>
                  </a:rPr>
                  <a:t> divides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𝐷</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the locus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general point of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it in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12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 of intersection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12</m:t>
                            </m:r>
                          </m:den>
                        </m:f>
                      </m:e>
                    </m:d>
                  </m:oMath>
                </a14:m>
                <a:r>
                  <a:rPr sz="2400" b="0">
                    <a:solidFill>
                      <a:srgbClr val="111827"/>
                    </a:solidFill>
                    <a:latin typeface="Arial"/>
                  </a:rPr>
                  <a:t>: option (B).</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a:t>
                </a:r>
                <a:r>
                  <a:rPr sz="2400" b="0">
                    <a:solidFill>
                      <a:srgbClr val="111827"/>
                    </a:solidFill>
                    <a:latin typeface="Arial"/>
                  </a:rPr>
                  <a:t> divides </a:t>
                </a:r>
                <a:r>
                  <a:rPr lang="en-IN" sz="2400">
                    <a:solidFill>
                      <a:srgbClr val="111827"/>
                    </a:solidFill>
                    <a:latin typeface="Cambria Math" panose="02040503050406030204" pitchFamily="18" charset="0"/>
                  </a:rPr>
                  <a:t>$OB$</a:t>
                </a:r>
                <a:r>
                  <a:rPr sz="2400" b="0">
                    <a:solidFill>
                      <a:srgbClr val="111827"/>
                    </a:solidFill>
                    <a:latin typeface="Arial"/>
                  </a:rPr>
                  <a:t> in </a:t>
                </a:r>
                <a:r>
                  <a:rPr lang="en-IN" sz="2400">
                    <a:solidFill>
                      <a:srgbClr val="111827"/>
                    </a:solidFill>
                    <a:latin typeface="Cambria Math" panose="02040503050406030204" pitchFamily="18" charset="0"/>
                  </a:rPr>
                  <a:t>$1:3$</a:t>
                </a:r>
                <a:r>
                  <a:rPr sz="2400" b="0">
                    <a:solidFill>
                      <a:srgbClr val="111827"/>
                    </a:solidFill>
                    <a:latin typeface="Arial"/>
                  </a:rPr>
                  <a:t>, so </a:t>
                </a:r>
                <a:r>
                  <a:rPr lang="en-IN" sz="2400">
                    <a:solidFill>
                      <a:srgbClr val="111827"/>
                    </a:solidFill>
                    <a:latin typeface="Cambria Math" panose="02040503050406030204" pitchFamily="18" charset="0"/>
                  </a:rPr>
                  <a:t>$\overrightarrow{OD}=\frac14\overrightarrow{OB}$</a:t>
                </a:r>
                <a:r>
                  <a:rPr sz="2400" b="0">
                    <a:solidFill>
                      <a:srgbClr val="111827"/>
                    </a:solidFill>
                    <a:latin typeface="Arial"/>
                  </a:rPr>
                  <a:t>; </a:t>
                </a:r>
                <a:r>
                  <a:rPr lang="en-IN" sz="2400">
                    <a:solidFill>
                      <a:srgbClr val="111827"/>
                    </a:solidFill>
                    <a:latin typeface="Cambria Math" panose="02040503050406030204" pitchFamily="18" charset="0"/>
                  </a:rPr>
                  <a:t>$B=(5+2t,\,2+t,\,1-2t)$</a:t>
                </a:r>
                <a:r>
                  <a:rPr sz="2400" b="0">
                    <a:solidFill>
                      <a:srgbClr val="111827"/>
                    </a:solidFill>
                    <a:latin typeface="Arial"/>
                  </a:rPr>
                  <a:t> gives the locus </a:t>
                </a:r>
                <a:r>
                  <a:rPr lang="en-IN" sz="2400">
                    <a:solidFill>
                      <a:srgbClr val="111827"/>
                    </a:solidFill>
                    <a:latin typeface="Cambria Math" panose="02040503050406030204" pitchFamily="18" charset="0"/>
                  </a:rPr>
                  <a:t>$L:\ \frac{x-\frac54}{2}=\frac{y-\frac12}{1}=\frac{z-\frac14}{-2}$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general point of </a:t>
                </a:r>
                <a:r>
                  <a:rPr lang="en-IN" sz="2400">
                    <a:solidFill>
                      <a:srgbClr val="111827"/>
                    </a:solidFill>
                    <a:latin typeface="Cambria Math" panose="02040503050406030204" pitchFamily="18" charset="0"/>
                  </a:rPr>
                  <a:t>$L$</a:t>
                </a:r>
                <a:r>
                  <a:rPr sz="2400" b="0">
                    <a:solidFill>
                      <a:srgbClr val="111827"/>
                    </a:solidFill>
                    <a:latin typeface="Arial"/>
                  </a:rPr>
                  <a:t> is </a:t>
                </a:r>
                <a:r>
                  <a:rPr lang="en-IN" sz="2400">
                    <a:solidFill>
                      <a:srgbClr val="111827"/>
                    </a:solidFill>
                    <a:latin typeface="Cambria Math" panose="02040503050406030204" pitchFamily="18" charset="0"/>
                  </a:rPr>
                  <a:t>$\left(2t+\frac54,\ t+\frac12,\ -2t+\frac14\right)$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it in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$\left(2t+\frac54\right)+2\left(t+\frac12\right)+\left(-2t+\frac14\right)=\frac{10}{3}$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$2t+\frac{10}{4}=\frac{10}{3}\Rightarrow2t=\frac56\Rightarrow t=\frac{5}{12}$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 of intersection is </a:t>
                </a:r>
                <a:r>
                  <a:rPr lang="en-IN" sz="2400">
                    <a:solidFill>
                      <a:srgbClr val="111827"/>
                    </a:solidFill>
                    <a:latin typeface="Cambria Math" panose="02040503050406030204" pitchFamily="18" charset="0"/>
                  </a:rPr>
                  <a:t>$\left(\frac{25}{12},\frac{11}{12},-\frac{7}{12}\right)$</a:t>
                </a:r>
                <a:r>
                  <a:rPr sz="2400" b="0">
                    <a:solidFill>
                      <a:srgbClr val="111827"/>
                    </a:solidFill>
                    <a:latin typeface="Arial"/>
                  </a:rPr>
                  <a:t>: option (B).</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14:m>
                  <m:oMath xmlns:m="http://schemas.openxmlformats.org/officeDocument/2006/math">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25</m:t>
                            </m:r>
                          </m:num>
                          <m:den>
                            <m:r>
                              <a:rPr lang="en-IN" sz="2800" i="1">
                                <a:solidFill>
                                  <a:srgbClr val="15803D"/>
                                </a:solidFill>
                                <a:latin typeface="Cambria Math" panose="02040503050406030204" pitchFamily="18" charset="0"/>
                              </a:rPr>
                              <m:t>12</m:t>
                            </m:r>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11</m:t>
                            </m:r>
                          </m:num>
                          <m:den>
                            <m:r>
                              <a:rPr lang="en-IN" sz="2800" i="1">
                                <a:solidFill>
                                  <a:srgbClr val="15803D"/>
                                </a:solidFill>
                                <a:latin typeface="Cambria Math" panose="02040503050406030204" pitchFamily="18" charset="0"/>
                              </a:rPr>
                              <m:t>12</m:t>
                            </m:r>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7</m:t>
                            </m:r>
                          </m:num>
                          <m:den>
                            <m:r>
                              <a:rPr lang="en-IN" sz="2800" i="1">
                                <a:solidFill>
                                  <a:srgbClr val="15803D"/>
                                </a:solidFill>
                                <a:latin typeface="Cambria Math" panose="02040503050406030204" pitchFamily="18" charset="0"/>
                              </a:rPr>
                              <m:t>12</m:t>
                            </m:r>
                          </m:den>
                        </m:f>
                      </m:e>
                    </m:d>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r>
                  <a:rPr lang="en-IN" sz="2800">
                    <a:solidFill>
                      <a:srgbClr val="15803D"/>
                    </a:solidFill>
                    <a:latin typeface="Cambria Math" panose="02040503050406030204" pitchFamily="18" charset="0"/>
                  </a:rPr>
                  <a:t>$\left(\frac{25}{12},\frac{11}{12},\frac{-7}{12}\right)$</a:t>
                </a:r>
                <a:endParaRPr sz="2800">
                  <a:solidFill>
                    <a:srgbClr val="15803D"/>
                  </a:solidFill>
                </a:endParaRPr>
              </a:p>
            </p:txBody>
          </p:sp>
        </mc:Fallback>
      </mc:AlternateContent>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Scale the picture back: a common point </a:t>
                </a:r>
                <a14:m>
                  <m:oMath xmlns:m="http://schemas.openxmlformats.org/officeDocument/2006/math">
                    <m:r>
                      <a:rPr lang="en-IN" sz="2400" i="1">
                        <a:solidFill>
                          <a:srgbClr val="78350F"/>
                        </a:solidFill>
                        <a:latin typeface="Cambria Math" panose="02040503050406030204" pitchFamily="18" charset="0"/>
                      </a:rPr>
                      <m:t>𝑋</m:t>
                    </m:r>
                  </m:oMath>
                </a14:m>
                <a:r>
                  <a:rPr sz="2400" b="0">
                    <a:solidFill>
                      <a:srgbClr val="78350F"/>
                    </a:solidFill>
                    <a:latin typeface="Arial"/>
                  </a:rPr>
                  <a:t> of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𝐿</m:t>
                    </m:r>
                  </m:oMath>
                </a14:m>
                <a:r>
                  <a:rPr sz="2400" b="0">
                    <a:solidFill>
                      <a:srgbClr val="78350F"/>
                    </a:solidFill>
                    <a:latin typeface="Arial"/>
                  </a:rPr>
                  <a:t> has </a:t>
                </a:r>
                <a14:m>
                  <m:oMath xmlns:m="http://schemas.openxmlformats.org/officeDocument/2006/math">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𝑋</m:t>
                    </m:r>
                  </m:oMath>
                </a14:m>
                <a:r>
                  <a:rPr sz="2400" b="0">
                    <a:solidFill>
                      <a:srgbClr val="78350F"/>
                    </a:solidFill>
                    <a:latin typeface="Arial"/>
                  </a:rPr>
                  <a:t> on the given line and </a:t>
                </a:r>
                <a14:m>
                  <m:oMath xmlns:m="http://schemas.openxmlformats.org/officeDocument/2006/math">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𝑋</m:t>
                    </m:r>
                  </m:oMath>
                </a14:m>
                <a:r>
                  <a:rPr sz="2400" b="0">
                    <a:solidFill>
                      <a:srgbClr val="78350F"/>
                    </a:solidFill>
                    <a:latin typeface="Arial"/>
                  </a:rPr>
                  <a:t> on the given plane.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Scale the picture back: a common point </a:t>
                </a:r>
                <a:r>
                  <a:rPr lang="en-IN" sz="2400">
                    <a:solidFill>
                      <a:srgbClr val="78350F"/>
                    </a:solidFill>
                    <a:latin typeface="Cambria Math" panose="02040503050406030204" pitchFamily="18" charset="0"/>
                  </a:rPr>
                  <a:t>$X$</a:t>
                </a:r>
                <a:r>
                  <a:rPr sz="2400" b="0">
                    <a:solidFill>
                      <a:srgbClr val="78350F"/>
                    </a:solidFill>
                    <a:latin typeface="Arial"/>
                  </a:rPr>
                  <a:t> of </a:t>
                </a:r>
                <a:r>
                  <a:rPr lang="en-IN" sz="2400">
                    <a:solidFill>
                      <a:srgbClr val="78350F"/>
                    </a:solidFill>
                    <a:latin typeface="Cambria Math" panose="02040503050406030204" pitchFamily="18" charset="0"/>
                  </a:rPr>
                  <a:t>$P$</a:t>
                </a:r>
                <a:r>
                  <a:rPr sz="2400" b="0">
                    <a:solidFill>
                      <a:srgbClr val="78350F"/>
                    </a:solidFill>
                    <a:latin typeface="Arial"/>
                  </a:rPr>
                  <a:t> and </a:t>
                </a:r>
                <a:r>
                  <a:rPr lang="en-IN" sz="2400">
                    <a:solidFill>
                      <a:srgbClr val="78350F"/>
                    </a:solidFill>
                    <a:latin typeface="Cambria Math" panose="02040503050406030204" pitchFamily="18" charset="0"/>
                  </a:rPr>
                  <a:t>$L$</a:t>
                </a:r>
                <a:r>
                  <a:rPr sz="2400" b="0">
                    <a:solidFill>
                      <a:srgbClr val="78350F"/>
                    </a:solidFill>
                    <a:latin typeface="Arial"/>
                  </a:rPr>
                  <a:t> has </a:t>
                </a:r>
                <a:r>
                  <a:rPr lang="en-IN" sz="2400">
                    <a:solidFill>
                      <a:srgbClr val="78350F"/>
                    </a:solidFill>
                    <a:latin typeface="Cambria Math" panose="02040503050406030204" pitchFamily="18" charset="0"/>
                  </a:rPr>
                  <a:t>$4X$</a:t>
                </a:r>
                <a:r>
                  <a:rPr sz="2400" b="0">
                    <a:solidFill>
                      <a:srgbClr val="78350F"/>
                    </a:solidFill>
                    <a:latin typeface="Arial"/>
                  </a:rPr>
                  <a:t> on the given line and </a:t>
                </a:r>
                <a:r>
                  <a:rPr lang="en-IN" sz="2400">
                    <a:solidFill>
                      <a:srgbClr val="78350F"/>
                    </a:solidFill>
                    <a:latin typeface="Cambria Math" panose="02040503050406030204" pitchFamily="18" charset="0"/>
                  </a:rPr>
                  <a:t>$3X$</a:t>
                </a:r>
                <a:r>
                  <a:rPr sz="2400" b="0">
                    <a:solidFill>
                      <a:srgbClr val="78350F"/>
                    </a:solidFill>
                    <a:latin typeface="Arial"/>
                  </a:rPr>
                  <a:t> on the given plane.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𝑋</m:t>
                    </m:r>
                  </m:oMath>
                </a14:m>
                <a:r>
                  <a:rPr sz="2400" b="0">
                    <a:solidFill>
                      <a:srgbClr val="111827"/>
                    </a:solidFill>
                    <a:latin typeface="Arial"/>
                  </a:rPr>
                  <a:t> lies on both loci then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a:rPr lang="en-IN" sz="2400" i="1">
                        <a:solidFill>
                          <a:srgbClr val="111827"/>
                        </a:solidFill>
                        <a:latin typeface="Cambria Math" panose="02040503050406030204" pitchFamily="18" charset="0"/>
                      </a:rPr>
                      <m:t>𝐵</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on the line and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on the plane, so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𝑋</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𝑋</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𝑋</m:t>
                    </m:r>
                  </m:oMath>
                </a14:m>
                <a:r>
                  <a:rPr sz="2400" b="0">
                    <a:solidFill>
                      <a:srgbClr val="111827"/>
                    </a:solidFill>
                    <a:latin typeface="Arial"/>
                  </a:rPr>
                  <a:t> lies on the given line and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𝑋</m:t>
                    </m:r>
                  </m:oMath>
                </a14:m>
                <a:r>
                  <a:rPr sz="2400" b="0">
                    <a:solidFill>
                      <a:srgbClr val="111827"/>
                    </a:solidFill>
                    <a:latin typeface="Arial"/>
                  </a:rPr>
                  <a:t> on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$X$</a:t>
                </a:r>
                <a:r>
                  <a:rPr sz="2400" b="0">
                    <a:solidFill>
                      <a:srgbClr val="111827"/>
                    </a:solidFill>
                    <a:latin typeface="Arial"/>
                  </a:rPr>
                  <a:t> lies on both loci then </a:t>
                </a:r>
                <a:r>
                  <a:rPr lang="en-IN" sz="2400">
                    <a:solidFill>
                      <a:srgbClr val="111827"/>
                    </a:solidFill>
                    <a:latin typeface="Cambria Math" panose="02040503050406030204" pitchFamily="18" charset="0"/>
                  </a:rPr>
                  <a:t>$X=\frac14B$</a:t>
                </a:r>
                <a:r>
                  <a:rPr sz="2400" b="0">
                    <a:solidFill>
                      <a:srgbClr val="111827"/>
                    </a:solidFill>
                    <a:latin typeface="Arial"/>
                  </a:rPr>
                  <a:t> with </a:t>
                </a:r>
                <a:r>
                  <a:rPr lang="en-IN" sz="2400">
                    <a:solidFill>
                      <a:srgbClr val="111827"/>
                    </a:solidFill>
                    <a:latin typeface="Cambria Math" panose="02040503050406030204" pitchFamily="18" charset="0"/>
                  </a:rPr>
                  <a:t>$B$</a:t>
                </a:r>
                <a:r>
                  <a:rPr sz="2400" b="0">
                    <a:solidFill>
                      <a:srgbClr val="111827"/>
                    </a:solidFill>
                    <a:latin typeface="Arial"/>
                  </a:rPr>
                  <a:t> on the line and </a:t>
                </a:r>
                <a:r>
                  <a:rPr lang="en-IN" sz="2400">
                    <a:solidFill>
                      <a:srgbClr val="111827"/>
                    </a:solidFill>
                    <a:latin typeface="Cambria Math" panose="02040503050406030204" pitchFamily="18" charset="0"/>
                  </a:rPr>
                  <a:t>$3X=A$</a:t>
                </a:r>
                <a:r>
                  <a:rPr sz="2400" b="0">
                    <a:solidFill>
                      <a:srgbClr val="111827"/>
                    </a:solidFill>
                    <a:latin typeface="Arial"/>
                  </a:rPr>
                  <a:t> on the plane, so </a:t>
                </a:r>
                <a:r>
                  <a:rPr lang="en-IN" sz="2400">
                    <a:solidFill>
                      <a:srgbClr val="111827"/>
                    </a:solidFill>
                    <a:latin typeface="Cambria Math" panose="02040503050406030204" pitchFamily="18" charset="0"/>
                  </a:rPr>
                  <a:t>$B=4X$</a:t>
                </a:r>
                <a:r>
                  <a:rPr sz="2400" b="0">
                    <a:solidFill>
                      <a:srgbClr val="111827"/>
                    </a:solidFill>
                    <a:latin typeface="Arial"/>
                  </a:rPr>
                  <a:t> and </a:t>
                </a:r>
                <a:r>
                  <a:rPr lang="en-IN" sz="2400">
                    <a:solidFill>
                      <a:srgbClr val="111827"/>
                    </a:solidFill>
                    <a:latin typeface="Cambria Math" panose="02040503050406030204" pitchFamily="18" charset="0"/>
                  </a:rPr>
                  <a:t>$A=3X$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r>
                  <a:rPr lang="en-IN" sz="2400">
                    <a:solidFill>
                      <a:srgbClr val="111827"/>
                    </a:solidFill>
                    <a:latin typeface="Cambria Math" panose="02040503050406030204" pitchFamily="18" charset="0"/>
                  </a:rPr>
                  <a:t>$4X$</a:t>
                </a:r>
                <a:r>
                  <a:rPr sz="2400" b="0">
                    <a:solidFill>
                      <a:srgbClr val="111827"/>
                    </a:solidFill>
                    <a:latin typeface="Arial"/>
                  </a:rPr>
                  <a:t> lies on the given line and </a:t>
                </a:r>
                <a:r>
                  <a:rPr lang="en-IN" sz="2400">
                    <a:solidFill>
                      <a:srgbClr val="111827"/>
                    </a:solidFill>
                    <a:latin typeface="Cambria Math" panose="02040503050406030204" pitchFamily="18" charset="0"/>
                  </a:rPr>
                  <a:t>$3X$</a:t>
                </a:r>
                <a:r>
                  <a:rPr sz="2400" b="0">
                    <a:solidFill>
                      <a:srgbClr val="111827"/>
                    </a:solidFill>
                    <a:latin typeface="Arial"/>
                  </a:rPr>
                  <a:t> on </a:t>
                </a:r>
                <a:r>
                  <a:rPr lang="en-IN" sz="2400">
                    <a:solidFill>
                      <a:srgbClr val="111827"/>
                    </a:solidFill>
                    <a:latin typeface="Cambria Math" panose="02040503050406030204" pitchFamily="18" charset="0"/>
                  </a:rPr>
                  <a:t>$x+2y+z=10$</a:t>
                </a:r>
                <a:r>
                  <a:rPr sz="2400" b="0">
                    <a:solidFill>
                      <a:srgbClr val="111827"/>
                    </a:solidFill>
                    <a:latin typeface="Arial"/>
                  </a:rPr>
                  <a:t>, i.e. </a:t>
                </a:r>
                <a:r>
                  <a:rPr lang="en-IN" sz="2400">
                    <a:solidFill>
                      <a:srgbClr val="111827"/>
                    </a:solidFill>
                    <a:latin typeface="Cambria Math" panose="02040503050406030204" pitchFamily="18" charset="0"/>
                  </a:rPr>
                  <a:t>$X\cdot(1,2,1)=\frac{10}{3}$</a:t>
                </a:r>
                <a:r>
                  <a:rPr sz="2400" b="0">
                    <a:solidFill>
                      <a:srgbClr val="111827"/>
                    </a:solidFill>
                    <a:latin typeface="Arial"/>
                  </a:rPr>
                  <a:t>, so </a:t>
                </a:r>
                <a:r>
                  <a:rPr lang="en-IN" sz="2400">
                    <a:solidFill>
                      <a:srgbClr val="111827"/>
                    </a:solidFill>
                    <a:latin typeface="Cambria Math" panose="02040503050406030204" pitchFamily="18" charset="0"/>
                  </a:rPr>
                  <a:t>$4X\cdot(1,2,1)=\frac{40}{3}$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Find the point of the given line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-sum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point is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12</m:t>
                            </m:r>
                          </m:den>
                        </m:f>
                      </m:e>
                    </m:d>
                  </m:oMath>
                </a14:m>
                <a:r>
                  <a:rPr sz="2400" b="0">
                    <a:solidFill>
                      <a:srgbClr val="111827"/>
                    </a:solidFill>
                    <a:latin typeface="Arial"/>
                  </a:rPr>
                  <a:t>: option (B).</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Find the point of the given line </a:t>
                </a:r>
                <a:r>
                  <a:rPr lang="en-IN" sz="2400">
                    <a:solidFill>
                      <a:srgbClr val="111827"/>
                    </a:solidFill>
                    <a:latin typeface="Cambria Math" panose="02040503050406030204" pitchFamily="18" charset="0"/>
                  </a:rPr>
                  <a:t>$(5+2t,2+t,1-2t)$</a:t>
                </a:r>
                <a:r>
                  <a:rPr sz="2400" b="0">
                    <a:solidFill>
                      <a:srgbClr val="111827"/>
                    </a:solidFill>
                    <a:latin typeface="Arial"/>
                  </a:rPr>
                  <a:t> with </a:t>
                </a:r>
                <a:r>
                  <a:rPr lang="en-IN" sz="2400">
                    <a:solidFill>
                      <a:srgbClr val="111827"/>
                    </a:solidFill>
                    <a:latin typeface="Cambria Math" panose="02040503050406030204" pitchFamily="18" charset="0"/>
                  </a:rPr>
                  <a:t>$(1,2,1)$</a:t>
                </a:r>
                <a:r>
                  <a:rPr sz="2400" b="0">
                    <a:solidFill>
                      <a:srgbClr val="111827"/>
                    </a:solidFill>
                    <a:latin typeface="Arial"/>
                  </a:rPr>
                  <a:t>-sum </a:t>
                </a:r>
                <a:r>
                  <a:rPr lang="en-IN" sz="2400">
                    <a:solidFill>
                      <a:srgbClr val="111827"/>
                    </a:solidFill>
                    <a:latin typeface="Cambria Math" panose="02040503050406030204" pitchFamily="18" charset="0"/>
                  </a:rPr>
                  <a:t>$\frac{40}{3}$</a:t>
                </a:r>
                <a:r>
                  <a:rPr sz="2400" b="0">
                    <a:solidFill>
                      <a:srgbClr val="111827"/>
                    </a:solidFill>
                    <a:latin typeface="Arial"/>
                  </a:rPr>
                  <a:t>: </a:t>
                </a:r>
                <a:r>
                  <a:rPr lang="en-IN" sz="2400">
                    <a:solidFill>
                      <a:srgbClr val="111827"/>
                    </a:solidFill>
                    <a:latin typeface="Cambria Math" panose="02040503050406030204" pitchFamily="18" charset="0"/>
                  </a:rPr>
                  <a:t>$10+2t=\frac{40}{3}\Rightarrow t=\frac53$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point is </a:t>
                </a:r>
                <a:r>
                  <a:rPr lang="en-IN" sz="2400">
                    <a:solidFill>
                      <a:srgbClr val="111827"/>
                    </a:solidFill>
                    <a:latin typeface="Cambria Math" panose="02040503050406030204" pitchFamily="18" charset="0"/>
                  </a:rPr>
                  <a:t>$4X=\left(\frac{25}{3},\frac{11}{3},-\frac73\right)$</a:t>
                </a:r>
                <a:r>
                  <a:rPr sz="2400" b="0">
                    <a:solidFill>
                      <a:srgbClr val="111827"/>
                    </a:solidFill>
                    <a:latin typeface="Arial"/>
                  </a:rPr>
                  <a:t>, so </a:t>
                </a:r>
                <a:r>
                  <a:rPr lang="en-IN" sz="2400">
                    <a:solidFill>
                      <a:srgbClr val="111827"/>
                    </a:solidFill>
                    <a:latin typeface="Cambria Math" panose="02040503050406030204" pitchFamily="18" charset="0"/>
                  </a:rPr>
                  <a:t>$X=\left(\frac{25}{12},\frac{11}{12},-\frac{7}{12}\right)$</a:t>
                </a:r>
                <a:r>
                  <a:rPr sz="2400" b="0">
                    <a:solidFill>
                      <a:srgbClr val="111827"/>
                    </a:solidFill>
                    <a:latin typeface="Arial"/>
                  </a:rPr>
                  <a:t>: option (B).</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14:m>
                  <m:oMath xmlns:m="http://schemas.openxmlformats.org/officeDocument/2006/math">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25</m:t>
                            </m:r>
                          </m:num>
                          <m:den>
                            <m:r>
                              <a:rPr lang="en-IN" sz="2800" i="1">
                                <a:solidFill>
                                  <a:srgbClr val="15803D"/>
                                </a:solidFill>
                                <a:latin typeface="Cambria Math" panose="02040503050406030204" pitchFamily="18" charset="0"/>
                              </a:rPr>
                              <m:t>12</m:t>
                            </m:r>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11</m:t>
                            </m:r>
                          </m:num>
                          <m:den>
                            <m:r>
                              <a:rPr lang="en-IN" sz="2800" i="1">
                                <a:solidFill>
                                  <a:srgbClr val="15803D"/>
                                </a:solidFill>
                                <a:latin typeface="Cambria Math" panose="02040503050406030204" pitchFamily="18" charset="0"/>
                              </a:rPr>
                              <m:t>12</m:t>
                            </m:r>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7</m:t>
                            </m:r>
                          </m:num>
                          <m:den>
                            <m:r>
                              <a:rPr lang="en-IN" sz="2800" i="1">
                                <a:solidFill>
                                  <a:srgbClr val="15803D"/>
                                </a:solidFill>
                                <a:latin typeface="Cambria Math" panose="02040503050406030204" pitchFamily="18" charset="0"/>
                              </a:rPr>
                              <m:t>12</m:t>
                            </m:r>
                          </m:den>
                        </m:f>
                      </m:e>
                    </m:d>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r>
                  <a:rPr lang="en-IN" sz="2800">
                    <a:solidFill>
                      <a:srgbClr val="15803D"/>
                    </a:solidFill>
                    <a:latin typeface="Cambria Math" panose="02040503050406030204" pitchFamily="18" charset="0"/>
                  </a:rPr>
                  <a:t>$\left(\frac{25}{12},\frac{11}{12},\frac{-7}{12}\right)$</a:t>
                </a:r>
                <a:endParaRPr sz="2800">
                  <a:solidFill>
                    <a:srgbClr val="15803D"/>
                  </a:solidFill>
                </a:endParaRPr>
              </a:p>
            </p:txBody>
          </p:sp>
        </mc:Fallback>
      </mc:AlternateContent>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runs over a set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the point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𝐴</m:t>
                    </m:r>
                  </m:oMath>
                </a14:m>
                <a:r>
                  <a:rPr sz="2400" b="0">
                    <a:solidFill>
                      <a:srgbClr val="111827"/>
                    </a:solidFill>
                    <a:latin typeface="Arial"/>
                  </a:rPr>
                  <a:t> (dividing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runs over the image of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under the central scaling (homothety) with centre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and ratio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a plane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oMath>
                </a14:m>
                <a:r>
                  <a:rPr sz="2400" b="0">
                    <a:solidFill>
                      <a:srgbClr val="111827"/>
                    </a:solidFill>
                    <a:latin typeface="Arial"/>
                  </a:rPr>
                  <a:t> goes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𝑑</m:t>
                    </m:r>
                  </m:oMath>
                </a14:m>
                <a:r>
                  <a:rPr sz="2400" b="0">
                    <a:solidFill>
                      <a:srgbClr val="111827"/>
                    </a:solidFill>
                    <a:latin typeface="Arial"/>
                  </a:rPr>
                  <a:t> and a line keeps its direction.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Point dividing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oMath>
                </a14:m>
                <a:r>
                  <a:rPr sz="2400" b="0">
                    <a:solidFill>
                      <a:srgbClr val="111827"/>
                    </a:solidFill>
                    <a:latin typeface="Arial"/>
                  </a:rPr>
                  <a:t> in the ratio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den>
                    </m:f>
                    <m:r>
                      <a:rPr lang="en-IN" sz="2400" i="1">
                        <a:solidFill>
                          <a:srgbClr val="111827"/>
                        </a:solidFill>
                        <a:latin typeface="Cambria Math" panose="02040503050406030204" pitchFamily="18" charset="0"/>
                      </a:rPr>
                      <m:t>𝐴</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intersect a line and a plane, substitute the parametric point into the plane equation.</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a:t>
                </a:r>
                <a:r>
                  <a:rPr sz="2400" b="0">
                    <a:solidFill>
                      <a:srgbClr val="111827"/>
                    </a:solidFill>
                    <a:latin typeface="Arial"/>
                  </a:rPr>
                  <a:t> runs over a set </a:t>
                </a:r>
                <a:r>
                  <a:rPr lang="en-IN" sz="2400">
                    <a:solidFill>
                      <a:srgbClr val="111827"/>
                    </a:solidFill>
                    <a:latin typeface="Cambria Math" panose="02040503050406030204" pitchFamily="18" charset="0"/>
                  </a:rPr>
                  <a:t>$S$</a:t>
                </a:r>
                <a:r>
                  <a:rPr sz="2400" b="0">
                    <a:solidFill>
                      <a:srgbClr val="111827"/>
                    </a:solidFill>
                    <a:latin typeface="Arial"/>
                  </a:rPr>
                  <a:t>, the point </a:t>
                </a:r>
                <a:r>
                  <a:rPr lang="en-IN" sz="2400">
                    <a:solidFill>
                      <a:srgbClr val="111827"/>
                    </a:solidFill>
                    <a:latin typeface="Cambria Math" panose="02040503050406030204" pitchFamily="18" charset="0"/>
                  </a:rPr>
                  <a:t>$C=kA$</a:t>
                </a:r>
                <a:r>
                  <a:rPr sz="2400" b="0">
                    <a:solidFill>
                      <a:srgbClr val="111827"/>
                    </a:solidFill>
                    <a:latin typeface="Arial"/>
                  </a:rPr>
                  <a:t> (dividing </a:t>
                </a:r>
                <a:r>
                  <a:rPr lang="en-IN" sz="2400">
                    <a:solidFill>
                      <a:srgbClr val="111827"/>
                    </a:solidFill>
                    <a:latin typeface="Cambria Math" panose="02040503050406030204" pitchFamily="18" charset="0"/>
                  </a:rPr>
                  <a:t>$OA$</a:t>
                </a:r>
                <a:r>
                  <a:rPr sz="2400" b="0">
                    <a:solidFill>
                      <a:srgbClr val="111827"/>
                    </a:solidFill>
                    <a:latin typeface="Arial"/>
                  </a:rPr>
                  <a:t> in </a:t>
                </a:r>
                <a:r>
                  <a:rPr lang="en-IN" sz="2400">
                    <a:solidFill>
                      <a:srgbClr val="111827"/>
                    </a:solidFill>
                    <a:latin typeface="Cambria Math" panose="02040503050406030204" pitchFamily="18" charset="0"/>
                  </a:rPr>
                  <a:t>$k:(1-k)$</a:t>
                </a:r>
                <a:r>
                  <a:rPr sz="2400" b="0">
                    <a:solidFill>
                      <a:srgbClr val="111827"/>
                    </a:solidFill>
                    <a:latin typeface="Arial"/>
                  </a:rPr>
                  <a:t>) runs over the image of </a:t>
                </a:r>
                <a:r>
                  <a:rPr lang="en-IN" sz="2400">
                    <a:solidFill>
                      <a:srgbClr val="111827"/>
                    </a:solidFill>
                    <a:latin typeface="Cambria Math" panose="02040503050406030204" pitchFamily="18" charset="0"/>
                  </a:rPr>
                  <a:t>$S$</a:t>
                </a:r>
                <a:r>
                  <a:rPr sz="2400" b="0">
                    <a:solidFill>
                      <a:srgbClr val="111827"/>
                    </a:solidFill>
                    <a:latin typeface="Arial"/>
                  </a:rPr>
                  <a:t> under the central scaling (homothety) with centre </a:t>
                </a:r>
                <a:r>
                  <a:rPr lang="en-IN" sz="2400">
                    <a:solidFill>
                      <a:srgbClr val="111827"/>
                    </a:solidFill>
                    <a:latin typeface="Cambria Math" panose="02040503050406030204" pitchFamily="18" charset="0"/>
                  </a:rPr>
                  <a:t>$O$</a:t>
                </a:r>
                <a:r>
                  <a:rPr sz="2400" b="0">
                    <a:solidFill>
                      <a:srgbClr val="111827"/>
                    </a:solidFill>
                    <a:latin typeface="Arial"/>
                  </a:rPr>
                  <a:t> and ratio </a:t>
                </a:r>
                <a:r>
                  <a:rPr lang="en-IN" sz="2400">
                    <a:solidFill>
                      <a:srgbClr val="111827"/>
                    </a:solidFill>
                    <a:latin typeface="Cambria Math" panose="02040503050406030204" pitchFamily="18" charset="0"/>
                  </a:rPr>
                  <a:t>$k$</a:t>
                </a:r>
                <a:r>
                  <a:rPr sz="2400" b="0">
                    <a:solidFill>
                      <a:srgbClr val="111827"/>
                    </a:solidFill>
                    <a:latin typeface="Arial"/>
                  </a:rPr>
                  <a:t>: a plane </a:t>
                </a:r>
                <a:r>
                  <a:rPr lang="en-IN" sz="2400">
                    <a:solidFill>
                      <a:srgbClr val="111827"/>
                    </a:solidFill>
                    <a:latin typeface="Cambria Math" panose="02040503050406030204" pitchFamily="18" charset="0"/>
                  </a:rPr>
                  <a:t>$\vec n\cdot\vec r=d$</a:t>
                </a:r>
                <a:r>
                  <a:rPr sz="2400" b="0">
                    <a:solidFill>
                      <a:srgbClr val="111827"/>
                    </a:solidFill>
                    <a:latin typeface="Arial"/>
                  </a:rPr>
                  <a:t> goes to </a:t>
                </a:r>
                <a:r>
                  <a:rPr lang="en-IN" sz="2400">
                    <a:solidFill>
                      <a:srgbClr val="111827"/>
                    </a:solidFill>
                    <a:latin typeface="Cambria Math" panose="02040503050406030204" pitchFamily="18" charset="0"/>
                  </a:rPr>
                  <a:t>$\vec n\cdot\vec r=kd$</a:t>
                </a:r>
                <a:r>
                  <a:rPr sz="2400" b="0">
                    <a:solidFill>
                      <a:srgbClr val="111827"/>
                    </a:solidFill>
                    <a:latin typeface="Arial"/>
                  </a:rPr>
                  <a:t> and a line keeps its direction.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Point dividing </a:t>
                </a:r>
                <a:r>
                  <a:rPr lang="en-IN" sz="2400">
                    <a:solidFill>
                      <a:srgbClr val="111827"/>
                    </a:solidFill>
                    <a:latin typeface="Cambria Math" panose="02040503050406030204" pitchFamily="18" charset="0"/>
                  </a:rPr>
                  <a:t>$OA$</a:t>
                </a:r>
                <a:r>
                  <a:rPr sz="2400" b="0">
                    <a:solidFill>
                      <a:srgbClr val="111827"/>
                    </a:solidFill>
                    <a:latin typeface="Arial"/>
                  </a:rPr>
                  <a:t> in the ratio </a:t>
                </a:r>
                <a:r>
                  <a:rPr lang="en-IN" sz="2400">
                    <a:solidFill>
                      <a:srgbClr val="111827"/>
                    </a:solidFill>
                    <a:latin typeface="Cambria Math" panose="02040503050406030204" pitchFamily="18" charset="0"/>
                  </a:rPr>
                  <a:t>$m:n$</a:t>
                </a:r>
                <a:r>
                  <a:rPr sz="2400" b="0">
                    <a:solidFill>
                      <a:srgbClr val="111827"/>
                    </a:solidFill>
                    <a:latin typeface="Arial"/>
                  </a:rPr>
                  <a:t> is </a:t>
                </a:r>
                <a:r>
                  <a:rPr lang="en-IN" sz="2400">
                    <a:solidFill>
                      <a:srgbClr val="111827"/>
                    </a:solidFill>
                    <a:latin typeface="Cambria Math" panose="02040503050406030204" pitchFamily="18" charset="0"/>
                  </a:rPr>
                  <a:t>$\frac{m}{m+n}A$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intersect a line and a plane, substitute the parametric point into the plane equation.</a:t>
                </a:r>
                <a:endParaRPr sz="2400">
                  <a:solidFill>
                    <a:srgbClr val="111827"/>
                  </a:solidFill>
                </a:endParaRPr>
              </a:p>
            </p:txBody>
          </p:sp>
        </mc:Fallback>
      </mc:AlternateContent>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6629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are three vectors with magnitude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respectively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If the following relation holds true for some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then the value of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(B)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(D)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oMath>
                </a14:m>
                <a:endParaRPr sz="2400">
                  <a:solidFill>
                    <a:srgbClr val="111827"/>
                  </a:solidFill>
                </a:endParaRPr>
              </a:p>
            </p:txBody>
          </p:sp>
        </mc:Choice>
        <mc:Fallback>
          <p:sp>
            <p:nvSpPr>
              <p:cNvPr id="4" name="Rounded Rectangle 3"/>
              <p:cNvSpPr/>
              <p:nvPr/>
            </p:nvSpPr>
            <p:spPr>
              <a:xfrm>
                <a:off x="731520" y="1280160"/>
                <a:ext cx="10725912" cy="26629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a,\vec b,\vec c$</a:t>
                </a:r>
                <a:r>
                  <a:rPr sz="2400" b="0">
                    <a:solidFill>
                      <a:srgbClr val="111827"/>
                    </a:solidFill>
                    <a:latin typeface="Arial"/>
                  </a:rPr>
                  <a:t> are three vectors with magnitude </a:t>
                </a:r>
                <a:r>
                  <a:rPr lang="en-IN" sz="2400">
                    <a:solidFill>
                      <a:srgbClr val="111827"/>
                    </a:solidFill>
                    <a:latin typeface="Cambria Math" panose="02040503050406030204" pitchFamily="18" charset="0"/>
                  </a:rPr>
                  <a:t>$2,3$</a:t>
                </a:r>
                <a:r>
                  <a:rPr sz="2400" b="0">
                    <a:solidFill>
                      <a:srgbClr val="111827"/>
                    </a:solidFill>
                    <a:latin typeface="Arial"/>
                  </a:rPr>
                  <a:t> and </a:t>
                </a:r>
                <a:r>
                  <a:rPr lang="en-IN" sz="2400">
                    <a:solidFill>
                      <a:srgbClr val="111827"/>
                    </a:solidFill>
                    <a:latin typeface="Cambria Math" panose="02040503050406030204" pitchFamily="18" charset="0"/>
                  </a:rPr>
                  <a:t>$1$</a:t>
                </a:r>
                <a:r>
                  <a:rPr sz="2400" b="0">
                    <a:solidFill>
                      <a:srgbClr val="111827"/>
                    </a:solidFill>
                    <a:latin typeface="Arial"/>
                  </a:rPr>
                  <a:t> respectively and </a:t>
                </a:r>
                <a:r>
                  <a:rPr lang="en-IN" sz="2400">
                    <a:solidFill>
                      <a:srgbClr val="111827"/>
                    </a:solidFill>
                    <a:latin typeface="Cambria Math" panose="02040503050406030204" pitchFamily="18" charset="0"/>
                  </a:rPr>
                  <a:t>$\vec a\cdot\vec c=\frac14$</a:t>
                </a:r>
                <a:r>
                  <a:rPr sz="2400" b="0">
                    <a:solidFill>
                      <a:srgbClr val="111827"/>
                    </a:solidFill>
                    <a:latin typeface="Arial"/>
                  </a:rPr>
                  <a:t>. If the following relation holds true for some </a:t>
                </a:r>
                <a:r>
                  <a:rPr lang="en-IN" sz="2400">
                    <a:solidFill>
                      <a:srgbClr val="111827"/>
                    </a:solidFill>
                    <a:latin typeface="Cambria Math" panose="02040503050406030204" pitchFamily="18" charset="0"/>
                  </a:rPr>
                  <a:t>$\lambda(\neq0)$</a:t>
                </a:r>
                <a:r>
                  <a:rPr sz="2400" b="0">
                    <a:solidFill>
                      <a:srgbClr val="111827"/>
                    </a:solidFill>
                    <a:latin typeface="Arial"/>
                  </a:rPr>
                  <a:t>, </a:t>
                </a:r>
                <a:r>
                  <a:rPr lang="en-IN" sz="2400">
                    <a:solidFill>
                      <a:srgbClr val="111827"/>
                    </a:solidFill>
                    <a:latin typeface="Cambria Math" panose="02040503050406030204" pitchFamily="18" charset="0"/>
                  </a:rPr>
                  <a:t>$\vec b-\lambda\vec a=3\vec c$</a:t>
                </a:r>
                <a:r>
                  <a:rPr sz="2400" b="0">
                    <a:solidFill>
                      <a:srgbClr val="111827"/>
                    </a:solidFill>
                    <a:latin typeface="Arial"/>
                  </a:rPr>
                  <a:t>, then the value of </a:t>
                </a:r>
                <a:r>
                  <a:rPr lang="en-IN" sz="2400">
                    <a:solidFill>
                      <a:srgbClr val="111827"/>
                    </a:solidFill>
                    <a:latin typeface="Cambria Math" panose="02040503050406030204" pitchFamily="18" charset="0"/>
                  </a:rPr>
                  <a:t>$\lambda$</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$\frac83$</a:t>
                </a:r>
                <a:r>
                  <a:rPr sz="2400" b="0">
                    <a:solidFill>
                      <a:srgbClr val="111827"/>
                    </a:solidFill>
                    <a:latin typeface="Arial"/>
                  </a:rPr>
                  <a:t>   (B) </a:t>
                </a:r>
                <a:r>
                  <a:rPr lang="en-IN" sz="2400">
                    <a:solidFill>
                      <a:srgbClr val="111827"/>
                    </a:solidFill>
                    <a:latin typeface="Cambria Math" panose="02040503050406030204" pitchFamily="18" charset="0"/>
                  </a:rPr>
                  <a:t>$-\frac83$</a:t>
                </a:r>
                <a:r>
                  <a:rPr sz="2400" b="0">
                    <a:solidFill>
                      <a:srgbClr val="111827"/>
                    </a:solidFill>
                    <a:latin typeface="Arial"/>
                  </a:rPr>
                  <a:t>   (C) </a:t>
                </a:r>
                <a:r>
                  <a:rPr lang="en-IN" sz="2400">
                    <a:solidFill>
                      <a:srgbClr val="111827"/>
                    </a:solidFill>
                    <a:latin typeface="Cambria Math" panose="02040503050406030204" pitchFamily="18" charset="0"/>
                  </a:rPr>
                  <a:t>$\frac38$</a:t>
                </a:r>
                <a:r>
                  <a:rPr sz="2400" b="0">
                    <a:solidFill>
                      <a:srgbClr val="111827"/>
                    </a:solidFill>
                    <a:latin typeface="Arial"/>
                  </a:rPr>
                  <a:t>   (D) </a:t>
                </a:r>
                <a:r>
                  <a:rPr lang="en-IN" sz="2400">
                    <a:solidFill>
                      <a:srgbClr val="111827"/>
                    </a:solidFill>
                    <a:latin typeface="Cambria Math" panose="02040503050406030204" pitchFamily="18" charset="0"/>
                  </a:rPr>
                  <a:t>$-\frac38$</a:t>
                </a:r>
                <a:endParaRPr sz="2400">
                  <a:solidFill>
                    <a:srgbClr val="111827"/>
                  </a:solidFill>
                </a:endParaRPr>
              </a:p>
            </p:txBody>
          </p:sp>
        </mc:Fallback>
      </mc:AlternateContent>
      <p:sp>
        <p:nvSpPr>
          <p:cNvPr id="5" name="Rectangle 4"/>
          <p:cNvSpPr/>
          <p:nvPr/>
        </p:nvSpPr>
        <p:spPr>
          <a:xfrm>
            <a:off x="731520" y="4171695"/>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equation with given magnitudes and dot products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Dot the relation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λ</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oMath>
                </a14:m>
                <a:r>
                  <a:rPr sz="2400" b="0">
                    <a:solidFill>
                      <a:srgbClr val="78350F"/>
                    </a:solidFill>
                    <a:latin typeface="Arial"/>
                  </a:rPr>
                  <a:t> successively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and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 and eliminate the unknown dot products.</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Dot the relation </a:t>
                </a:r>
                <a:r>
                  <a:rPr lang="en-IN" sz="2400">
                    <a:solidFill>
                      <a:srgbClr val="78350F"/>
                    </a:solidFill>
                    <a:latin typeface="Cambria Math" panose="02040503050406030204" pitchFamily="18" charset="0"/>
                  </a:rPr>
                  <a:t>$\vec b-3\vec c=\lambda\vec a$</a:t>
                </a:r>
                <a:r>
                  <a:rPr sz="2400" b="0">
                    <a:solidFill>
                      <a:srgbClr val="78350F"/>
                    </a:solidFill>
                    <a:latin typeface="Arial"/>
                  </a:rPr>
                  <a:t> successively with </a:t>
                </a:r>
                <a:r>
                  <a:rPr lang="en-IN" sz="2400">
                    <a:solidFill>
                      <a:srgbClr val="78350F"/>
                    </a:solidFill>
                    <a:latin typeface="Cambria Math" panose="02040503050406030204" pitchFamily="18" charset="0"/>
                  </a:rPr>
                  <a:t>$\vec a$</a:t>
                </a:r>
                <a:r>
                  <a:rPr sz="2400" b="0">
                    <a:solidFill>
                      <a:srgbClr val="78350F"/>
                    </a:solidFill>
                    <a:latin typeface="Arial"/>
                  </a:rPr>
                  <a:t>, </a:t>
                </a:r>
                <a:r>
                  <a:rPr lang="en-IN" sz="2400">
                    <a:solidFill>
                      <a:srgbClr val="78350F"/>
                    </a:solidFill>
                    <a:latin typeface="Cambria Math" panose="02040503050406030204" pitchFamily="18" charset="0"/>
                  </a:rPr>
                  <a:t>$\vec b$</a:t>
                </a:r>
                <a:r>
                  <a:rPr sz="2400" b="0">
                    <a:solidFill>
                      <a:srgbClr val="78350F"/>
                    </a:solidFill>
                    <a:latin typeface="Arial"/>
                  </a:rPr>
                  <a:t> and </a:t>
                </a:r>
                <a:r>
                  <a:rPr lang="en-IN" sz="2400">
                    <a:solidFill>
                      <a:srgbClr val="78350F"/>
                    </a:solidFill>
                    <a:latin typeface="Cambria Math" panose="02040503050406030204" pitchFamily="18" charset="0"/>
                  </a:rPr>
                  <a:t>$\vec c$</a:t>
                </a:r>
                <a:r>
                  <a:rPr sz="2400" b="0">
                    <a:solidFill>
                      <a:srgbClr val="78350F"/>
                    </a:solidFill>
                    <a:latin typeface="Arial"/>
                  </a:rPr>
                  <a:t> and eliminate the unknown dot products.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the relation as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Dot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 using (1).</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 ......(2).</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the relation as </a:t>
                </a:r>
                <a:r>
                  <a:rPr lang="en-IN" sz="2400">
                    <a:solidFill>
                      <a:srgbClr val="111827"/>
                    </a:solidFill>
                    <a:latin typeface="Cambria Math" panose="02040503050406030204" pitchFamily="18" charset="0"/>
                  </a:rPr>
                  <a:t>$\vec b-3\vec c=\lambda\vec a$</a:t>
                </a:r>
                <a:r>
                  <a:rPr sz="2400" b="0">
                    <a:solidFill>
                      <a:srgbClr val="111827"/>
                    </a:solidFill>
                    <a:latin typeface="Arial"/>
                  </a:rPr>
                  <a:t>. Dot with </a:t>
                </a:r>
                <a:r>
                  <a:rPr lang="en-IN" sz="2400">
                    <a:solidFill>
                      <a:srgbClr val="111827"/>
                    </a:solidFill>
                    <a:latin typeface="Cambria Math" panose="02040503050406030204" pitchFamily="18" charset="0"/>
                  </a:rPr>
                  <a:t>$\vec a$</a:t>
                </a:r>
                <a:r>
                  <a:rPr sz="2400" b="0">
                    <a:solidFill>
                      <a:srgbClr val="111827"/>
                    </a:solidFill>
                    <a:latin typeface="Arial"/>
                  </a:rPr>
                  <a:t>: </a:t>
                </a:r>
                <a:r>
                  <a:rPr lang="en-IN" sz="2400">
                    <a:solidFill>
                      <a:srgbClr val="111827"/>
                    </a:solidFill>
                    <a:latin typeface="Cambria Math" panose="02040503050406030204" pitchFamily="18" charset="0"/>
                  </a:rPr>
                  <a:t>$\vec a\cdot\vec b-3\vec a\cdot\vec c=\lambda|\vec 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a\cdot\vec b-\frac34=4\lambda\Rightarrow\vec a\cdot\vec b=4\lambda+\frac34$</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Dot with </a:t>
                </a:r>
                <a:r>
                  <a:rPr lang="en-IN" sz="2400">
                    <a:solidFill>
                      <a:srgbClr val="111827"/>
                    </a:solidFill>
                    <a:latin typeface="Cambria Math" panose="02040503050406030204" pitchFamily="18" charset="0"/>
                  </a:rPr>
                  <a:t>$\vec b$</a:t>
                </a:r>
                <a:r>
                  <a:rPr sz="2400" b="0">
                    <a:solidFill>
                      <a:srgbClr val="111827"/>
                    </a:solidFill>
                    <a:latin typeface="Arial"/>
                  </a:rPr>
                  <a:t>: </a:t>
                </a:r>
                <a:r>
                  <a:rPr lang="en-IN" sz="2400">
                    <a:solidFill>
                      <a:srgbClr val="111827"/>
                    </a:solidFill>
                    <a:latin typeface="Cambria Math" panose="02040503050406030204" pitchFamily="18" charset="0"/>
                  </a:rPr>
                  <a:t>$|\vec b|^2-3\vec b\cdot\vec c=\lambda\,\vec a\cdot\vec b$</a:t>
                </a:r>
                <a:r>
                  <a:rPr sz="2400" b="0">
                    <a:solidFill>
                      <a:srgbClr val="111827"/>
                    </a:solidFill>
                    <a:latin typeface="Arial"/>
                  </a:rPr>
                  <a:t>, i.e. </a:t>
                </a:r>
                <a:r>
                  <a:rPr lang="en-IN" sz="2400">
                    <a:solidFill>
                      <a:srgbClr val="111827"/>
                    </a:solidFill>
                    <a:latin typeface="Cambria Math" panose="02040503050406030204" pitchFamily="18" charset="0"/>
                  </a:rPr>
                  <a:t>$9-3\vec b\cdot\vec c=\lambda\left(4\lambda+\frac34\right)$</a:t>
                </a:r>
                <a:r>
                  <a:rPr sz="2400" b="0">
                    <a:solidFill>
                      <a:srgbClr val="111827"/>
                    </a:solidFill>
                    <a:latin typeface="Arial"/>
                  </a:rPr>
                  <a:t> using (1).</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$\Rightarrow3\vec b\cdot\vec c=9-\lambda\left(4\lambda+\frac34\right)$</a:t>
                </a:r>
                <a:r>
                  <a:rPr sz="2400" b="0">
                    <a:solidFill>
                      <a:srgbClr val="111827"/>
                    </a:solidFill>
                    <a:latin typeface="Arial"/>
                  </a:rPr>
                  <a:t> ......(2).</a:t>
                </a:r>
                <a:endParaRPr sz="2400">
                  <a:solidFill>
                    <a:srgbClr val="111827"/>
                  </a:solidFill>
                </a:endParaRPr>
              </a:p>
            </p:txBody>
          </p:sp>
        </mc:Fallback>
      </mc:AlternateContent>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Dot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i.e.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λ</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by 3 and use (2):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option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Dot with </a:t>
                </a:r>
                <a:r>
                  <a:rPr lang="en-IN" sz="2400">
                    <a:solidFill>
                      <a:srgbClr val="111827"/>
                    </a:solidFill>
                    <a:latin typeface="Cambria Math" panose="02040503050406030204" pitchFamily="18" charset="0"/>
                  </a:rPr>
                  <a:t>$\vec c$</a:t>
                </a:r>
                <a:r>
                  <a:rPr sz="2400" b="0">
                    <a:solidFill>
                      <a:srgbClr val="111827"/>
                    </a:solidFill>
                    <a:latin typeface="Arial"/>
                  </a:rPr>
                  <a:t>: </a:t>
                </a:r>
                <a:r>
                  <a:rPr lang="en-IN" sz="2400">
                    <a:solidFill>
                      <a:srgbClr val="111827"/>
                    </a:solidFill>
                    <a:latin typeface="Cambria Math" panose="02040503050406030204" pitchFamily="18" charset="0"/>
                  </a:rPr>
                  <a:t>$\vec b\cdot\vec c-3|\vec c|^2=\lambda\,\vec a\cdot\vec c$</a:t>
                </a:r>
                <a:r>
                  <a:rPr sz="2400" b="0">
                    <a:solidFill>
                      <a:srgbClr val="111827"/>
                    </a:solidFill>
                    <a:latin typeface="Arial"/>
                  </a:rPr>
                  <a:t>, i.e. </a:t>
                </a:r>
                <a:r>
                  <a:rPr lang="en-IN" sz="2400">
                    <a:solidFill>
                      <a:srgbClr val="111827"/>
                    </a:solidFill>
                    <a:latin typeface="Cambria Math" panose="02040503050406030204" pitchFamily="18" charset="0"/>
                  </a:rPr>
                  <a:t>$\vec b\cdot\vec c-3=\frac{\lambda}{4}$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by 3 and use (2): </a:t>
                </a:r>
                <a:r>
                  <a:rPr lang="en-IN" sz="2400">
                    <a:solidFill>
                      <a:srgbClr val="111827"/>
                    </a:solidFill>
                    <a:latin typeface="Cambria Math" panose="02040503050406030204" pitchFamily="18" charset="0"/>
                  </a:rPr>
                  <a:t>$9-\lambda\left(4\lambda+\frac34\right)-9=\frac{3\lambda}{4}$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$\Rightarrow-\lambda\left(4\lambda+\frac34\right)=\frac{3\lambda}{4}\Rightarrow4\lambda+\frac34=-\frac34$</a:t>
                </a:r>
                <a:r>
                  <a:rPr sz="2400" b="0">
                    <a:solidFill>
                      <a:srgbClr val="111827"/>
                    </a:solidFill>
                    <a:latin typeface="Arial"/>
                  </a:rPr>
                  <a:t> (as </a:t>
                </a:r>
                <a:r>
                  <a:rPr lang="en-IN" sz="2400">
                    <a:solidFill>
                      <a:srgbClr val="111827"/>
                    </a:solidFill>
                    <a:latin typeface="Cambria Math" panose="02040503050406030204" pitchFamily="18" charset="0"/>
                  </a:rPr>
                  <a:t>$\lambda\neq0$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$\Rightarrow4\lambda=-\frac32\Rightarrow\lambda=-\frac38$</a:t>
                </a:r>
                <a:r>
                  <a:rPr sz="2400" b="0">
                    <a:solidFill>
                      <a:srgbClr val="111827"/>
                    </a:solidFill>
                    <a:latin typeface="Arial"/>
                  </a:rPr>
                  <a:t>, option (D).</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14:m>
                  <m:oMath xmlns:m="http://schemas.openxmlformats.org/officeDocument/2006/math">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8</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r>
                  <a:rPr lang="en-IN" sz="2800">
                    <a:solidFill>
                      <a:srgbClr val="15803D"/>
                    </a:solidFill>
                    <a:latin typeface="Cambria Math" panose="02040503050406030204" pitchFamily="18" charset="0"/>
                  </a:rPr>
                  <a:t>$-\frac38$</a:t>
                </a:r>
                <a:endParaRPr sz="2800">
                  <a:solidFill>
                    <a:srgbClr val="15803D"/>
                  </a:solidFill>
                </a:endParaRPr>
              </a:p>
            </p:txBody>
          </p:sp>
        </mc:Fallback>
      </mc:AlternateContent>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Square the relation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λ</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is known, so only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 is needed.</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Square the relation </a:t>
                </a:r>
                <a:r>
                  <a:rPr lang="en-IN" sz="2400">
                    <a:solidFill>
                      <a:srgbClr val="78350F"/>
                    </a:solidFill>
                    <a:latin typeface="Cambria Math" panose="02040503050406030204" pitchFamily="18" charset="0"/>
                  </a:rPr>
                  <a:t>$\vec b=\lambda\vec a+3\vec c$</a:t>
                </a:r>
                <a:r>
                  <a:rPr sz="2400" b="0">
                    <a:solidFill>
                      <a:srgbClr val="78350F"/>
                    </a:solidFill>
                    <a:latin typeface="Arial"/>
                  </a:rPr>
                  <a:t>: </a:t>
                </a:r>
                <a:r>
                  <a:rPr lang="en-IN" sz="2400">
                    <a:solidFill>
                      <a:srgbClr val="78350F"/>
                    </a:solidFill>
                    <a:latin typeface="Cambria Math" panose="02040503050406030204" pitchFamily="18" charset="0"/>
                  </a:rPr>
                  <a:t>$|\vec b|^2$</a:t>
                </a:r>
                <a:r>
                  <a:rPr sz="2400" b="0">
                    <a:solidFill>
                      <a:srgbClr val="78350F"/>
                    </a:solidFill>
                    <a:latin typeface="Arial"/>
                  </a:rPr>
                  <a:t> is known, so only </a:t>
                </a:r>
                <a:r>
                  <a:rPr lang="en-IN" sz="2400">
                    <a:solidFill>
                      <a:srgbClr val="78350F"/>
                    </a:solidFill>
                    <a:latin typeface="Cambria Math" panose="02040503050406030204" pitchFamily="18" charset="0"/>
                  </a:rPr>
                  <a:t>$\vec a\cdot\vec c$</a:t>
                </a:r>
                <a:r>
                  <a:rPr sz="2400" b="0">
                    <a:solidFill>
                      <a:srgbClr val="78350F"/>
                    </a:solidFill>
                    <a:latin typeface="Arial"/>
                  </a:rPr>
                  <a:t> is needed.</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b=\lambda\vec a+3\vec c\Rightarrow|\vec b|^2=\lambda^2|\vec a|^2+9|\vec c|^2+6\lambda\,\vec a\cdot\vec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Substitute </a:t>
                </a:r>
                <a:r>
                  <a:rPr lang="en-IN" sz="2400">
                    <a:solidFill>
                      <a:srgbClr val="111827"/>
                    </a:solidFill>
                    <a:latin typeface="Cambria Math" panose="02040503050406030204" pitchFamily="18" charset="0"/>
                  </a:rPr>
                  <a:t>$|\vec b|^2=9$</a:t>
                </a:r>
                <a:r>
                  <a:rPr sz="2400" b="0">
                    <a:solidFill>
                      <a:srgbClr val="111827"/>
                    </a:solidFill>
                    <a:latin typeface="Arial"/>
                  </a:rPr>
                  <a:t>, </a:t>
                </a:r>
                <a:r>
                  <a:rPr lang="en-IN" sz="2400">
                    <a:solidFill>
                      <a:srgbClr val="111827"/>
                    </a:solidFill>
                    <a:latin typeface="Cambria Math" panose="02040503050406030204" pitchFamily="18" charset="0"/>
                  </a:rPr>
                  <a:t>$|\vec a|^2=4$</a:t>
                </a:r>
                <a:r>
                  <a:rPr sz="2400" b="0">
                    <a:solidFill>
                      <a:srgbClr val="111827"/>
                    </a:solidFill>
                    <a:latin typeface="Arial"/>
                  </a:rPr>
                  <a:t>, </a:t>
                </a:r>
                <a:r>
                  <a:rPr lang="en-IN" sz="2400">
                    <a:solidFill>
                      <a:srgbClr val="111827"/>
                    </a:solidFill>
                    <a:latin typeface="Cambria Math" panose="02040503050406030204" pitchFamily="18" charset="0"/>
                  </a:rPr>
                  <a:t>$|\vec c|^2=1$</a:t>
                </a:r>
                <a:r>
                  <a:rPr sz="2400" b="0">
                    <a:solidFill>
                      <a:srgbClr val="111827"/>
                    </a:solidFill>
                    <a:latin typeface="Arial"/>
                  </a:rPr>
                  <a:t>, </a:t>
                </a:r>
                <a:r>
                  <a:rPr lang="en-IN" sz="2400">
                    <a:solidFill>
                      <a:srgbClr val="111827"/>
                    </a:solidFill>
                    <a:latin typeface="Cambria Math" panose="02040503050406030204" pitchFamily="18" charset="0"/>
                  </a:rPr>
                  <a:t>$\vec a\cdot\vec c=\frac14$</a:t>
                </a:r>
                <a:r>
                  <a:rPr sz="2400" b="0">
                    <a:solidFill>
                      <a:srgbClr val="111827"/>
                    </a:solidFill>
                    <a:latin typeface="Arial"/>
                  </a:rPr>
                  <a:t>: </a:t>
                </a:r>
                <a:r>
                  <a:rPr lang="en-IN" sz="2400">
                    <a:solidFill>
                      <a:srgbClr val="111827"/>
                    </a:solidFill>
                    <a:latin typeface="Cambria Math" panose="02040503050406030204" pitchFamily="18" charset="0"/>
                  </a:rPr>
                  <a:t>$9=4\lambda^2+9+\frac{3\lambda}{2}$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(option 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$4\lambda^2+\frac32\lambda=0\Rightarrow\lambda\left(4\lambda+\frac32\right)=0$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$\lambda\neq0$</a:t>
                </a:r>
                <a:r>
                  <a:rPr sz="2400" b="0">
                    <a:solidFill>
                      <a:srgbClr val="111827"/>
                    </a:solidFill>
                    <a:latin typeface="Arial"/>
                  </a:rPr>
                  <a:t>, </a:t>
                </a:r>
                <a:r>
                  <a:rPr lang="en-IN" sz="2400">
                    <a:solidFill>
                      <a:srgbClr val="111827"/>
                    </a:solidFill>
                    <a:latin typeface="Cambria Math" panose="02040503050406030204" pitchFamily="18" charset="0"/>
                  </a:rPr>
                  <a:t>$\lambda=-\frac38$</a:t>
                </a:r>
                <a:r>
                  <a:rPr sz="2400" b="0">
                    <a:solidFill>
                      <a:srgbClr val="111827"/>
                    </a:solidFill>
                    <a:latin typeface="Arial"/>
                  </a:rPr>
                  <a:t> (option D).</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14:m>
                  <m:oMath xmlns:m="http://schemas.openxmlformats.org/officeDocument/2006/math">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8</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r>
                  <a:rPr lang="en-IN" sz="2800">
                    <a:solidFill>
                      <a:srgbClr val="15803D"/>
                    </a:solidFill>
                    <a:latin typeface="Cambria Math" panose="02040503050406030204" pitchFamily="18" charset="0"/>
                  </a:rPr>
                  <a:t>$-\frac38$</a:t>
                </a:r>
                <a:endParaRPr sz="2800">
                  <a:solidFill>
                    <a:srgbClr val="15803D"/>
                  </a:solidFill>
                </a:endParaRPr>
              </a:p>
            </p:txBody>
          </p:sp>
        </mc:Fallback>
      </mc:AlternateContent>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known, square it: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μ</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μ</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 one equation for one unknown, no need for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When a vector relation involves three vectors and given pairwise data, squaring (not dotting with all three) is usually the shortest path.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Remember to discard the trivial root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that a condition like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excludes.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b=\lambda\vec a+\mu\vec c$</a:t>
                </a:r>
                <a:r>
                  <a:rPr sz="2400" b="0">
                    <a:solidFill>
                      <a:srgbClr val="111827"/>
                    </a:solidFill>
                    <a:latin typeface="Arial"/>
                  </a:rPr>
                  <a:t> and </a:t>
                </a:r>
                <a:r>
                  <a:rPr lang="en-IN" sz="2400">
                    <a:solidFill>
                      <a:srgbClr val="111827"/>
                    </a:solidFill>
                    <a:latin typeface="Cambria Math" panose="02040503050406030204" pitchFamily="18" charset="0"/>
                  </a:rPr>
                  <a:t>$|\vec b|$</a:t>
                </a:r>
                <a:r>
                  <a:rPr sz="2400" b="0">
                    <a:solidFill>
                      <a:srgbClr val="111827"/>
                    </a:solidFill>
                    <a:latin typeface="Arial"/>
                  </a:rPr>
                  <a:t> is known, square it: </a:t>
                </a:r>
                <a:r>
                  <a:rPr lang="en-IN" sz="2400">
                    <a:solidFill>
                      <a:srgbClr val="111827"/>
                    </a:solidFill>
                    <a:latin typeface="Cambria Math" panose="02040503050406030204" pitchFamily="18" charset="0"/>
                  </a:rPr>
                  <a:t>$|\vec b|^2=\lambda^2|\vec a|^2+\mu^2|\vec c|^2+2\lambda\mu\,\vec a\cdot\vec c$</a:t>
                </a:r>
                <a:r>
                  <a:rPr sz="2400" b="0">
                    <a:solidFill>
                      <a:srgbClr val="111827"/>
                    </a:solidFill>
                    <a:latin typeface="Arial"/>
                  </a:rPr>
                  <a:t> - one equation for one unknown, no need for </a:t>
                </a:r>
                <a:r>
                  <a:rPr lang="en-IN" sz="2400">
                    <a:solidFill>
                      <a:srgbClr val="111827"/>
                    </a:solidFill>
                    <a:latin typeface="Cambria Math" panose="02040503050406030204" pitchFamily="18" charset="0"/>
                  </a:rPr>
                  <a:t>$\vec a\cdot\vec b$</a:t>
                </a:r>
                <a:r>
                  <a:rPr sz="2400" b="0">
                    <a:solidFill>
                      <a:srgbClr val="111827"/>
                    </a:solidFill>
                    <a:latin typeface="Arial"/>
                  </a:rPr>
                  <a:t> or </a:t>
                </a:r>
                <a:r>
                  <a:rPr lang="en-IN" sz="2400">
                    <a:solidFill>
                      <a:srgbClr val="111827"/>
                    </a:solidFill>
                    <a:latin typeface="Cambria Math" panose="02040503050406030204" pitchFamily="18" charset="0"/>
                  </a:rPr>
                  <a:t>$\vec b\cdot\vec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When a vector relation involves three vectors and given pairwise data, squaring (not dotting with all three) is usually the shortest path.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Remember to discard the trivial root (</a:t>
                </a:r>
                <a:r>
                  <a:rPr lang="en-IN" sz="2400">
                    <a:solidFill>
                      <a:srgbClr val="111827"/>
                    </a:solidFill>
                    <a:latin typeface="Cambria Math" panose="02040503050406030204" pitchFamily="18" charset="0"/>
                  </a:rPr>
                  <a:t>$\lambda=0$</a:t>
                </a:r>
                <a:r>
                  <a:rPr sz="2400" b="0">
                    <a:solidFill>
                      <a:srgbClr val="111827"/>
                    </a:solidFill>
                    <a:latin typeface="Arial"/>
                  </a:rPr>
                  <a:t>) that a condition like </a:t>
                </a:r>
                <a:r>
                  <a:rPr lang="en-IN" sz="2400">
                    <a:solidFill>
                      <a:srgbClr val="111827"/>
                    </a:solidFill>
                    <a:latin typeface="Cambria Math" panose="02040503050406030204" pitchFamily="18" charset="0"/>
                  </a:rPr>
                  <a:t>$\lambda\neq0$</a:t>
                </a:r>
                <a:r>
                  <a:rPr sz="2400" b="0">
                    <a:solidFill>
                      <a:srgbClr val="111827"/>
                    </a:solidFill>
                    <a:latin typeface="Arial"/>
                  </a:rPr>
                  <a:t> excludes.</a:t>
                </a:r>
                <a:endParaRPr sz="2400">
                  <a:solidFill>
                    <a:srgbClr val="111827"/>
                  </a:solidFill>
                </a:endParaRPr>
              </a:p>
            </p:txBody>
          </p:sp>
        </mc:Fallback>
      </mc:AlternateContent>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726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satisfy the equation </a:t>
                </a:r>
                <a14:m>
                  <m:oMath xmlns:m="http://schemas.openxmlformats.org/officeDocument/2006/math">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oMath>
                </a14:m>
                <a:r>
                  <a:rPr sz="2400" b="0">
                    <a:solidFill>
                      <a:srgbClr val="111827"/>
                    </a:solidFill>
                    <a:latin typeface="Arial"/>
                  </a:rPr>
                  <a:t> are scalar constants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is a known vector). It is given that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den>
                    </m:f>
                  </m:oMath>
                </a14:m>
                <a:r>
                  <a:rPr sz="2400" b="0">
                    <a:solidFill>
                      <a:srgbClr val="111827"/>
                    </a:solidFill>
                    <a:latin typeface="Arial"/>
                  </a:rPr>
                  <a:t>, then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is equal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𝑝</m:t>
                        </m:r>
                      </m:den>
                    </m:f>
                  </m:oMath>
                </a14:m>
                <a:endParaRPr sz="2400">
                  <a:solidFill>
                    <a:srgbClr val="111827"/>
                  </a:solidFill>
                </a:endParaRPr>
              </a:p>
            </p:txBody>
          </p:sp>
        </mc:Choice>
        <mc:Fallback>
          <p:sp>
            <p:nvSpPr>
              <p:cNvPr id="4" name="Rounded Rectangle 3"/>
              <p:cNvSpPr/>
              <p:nvPr/>
            </p:nvSpPr>
            <p:spPr>
              <a:xfrm>
                <a:off x="731520" y="1280160"/>
                <a:ext cx="10725912" cy="27726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vectors </a:t>
                </a:r>
                <a:r>
                  <a:rPr lang="en-IN" sz="2400">
                    <a:solidFill>
                      <a:srgbClr val="111827"/>
                    </a:solidFill>
                    <a:latin typeface="Cambria Math" panose="02040503050406030204" pitchFamily="18" charset="0"/>
                  </a:rPr>
                  <a:t>$\vec x$</a:t>
                </a:r>
                <a:r>
                  <a:rPr sz="2400" b="0">
                    <a:solidFill>
                      <a:srgbClr val="111827"/>
                    </a:solidFill>
                    <a:latin typeface="Arial"/>
                  </a:rPr>
                  <a:t> and </a:t>
                </a:r>
                <a:r>
                  <a:rPr lang="en-IN" sz="2400">
                    <a:solidFill>
                      <a:srgbClr val="111827"/>
                    </a:solidFill>
                    <a:latin typeface="Cambria Math" panose="02040503050406030204" pitchFamily="18" charset="0"/>
                  </a:rPr>
                  <a:t>$\vec y$</a:t>
                </a:r>
                <a:r>
                  <a:rPr sz="2400" b="0">
                    <a:solidFill>
                      <a:srgbClr val="111827"/>
                    </a:solidFill>
                    <a:latin typeface="Arial"/>
                  </a:rPr>
                  <a:t> satisfy the equation </a:t>
                </a:r>
                <a:r>
                  <a:rPr lang="en-IN" sz="2400">
                    <a:solidFill>
                      <a:srgbClr val="111827"/>
                    </a:solidFill>
                    <a:latin typeface="Cambria Math" panose="02040503050406030204" pitchFamily="18" charset="0"/>
                  </a:rPr>
                  <a:t>$p\vec x+q\vec y=\vec a$</a:t>
                </a:r>
                <a:r>
                  <a:rPr sz="2400" b="0">
                    <a:solidFill>
                      <a:srgbClr val="111827"/>
                    </a:solidFill>
                    <a:latin typeface="Arial"/>
                  </a:rPr>
                  <a:t> (where </a:t>
                </a:r>
                <a:r>
                  <a:rPr lang="en-IN" sz="2400">
                    <a:solidFill>
                      <a:srgbClr val="111827"/>
                    </a:solidFill>
                    <a:latin typeface="Cambria Math" panose="02040503050406030204" pitchFamily="18" charset="0"/>
                  </a:rPr>
                  <a:t>$p,q$</a:t>
                </a:r>
                <a:r>
                  <a:rPr sz="2400" b="0">
                    <a:solidFill>
                      <a:srgbClr val="111827"/>
                    </a:solidFill>
                    <a:latin typeface="Arial"/>
                  </a:rPr>
                  <a:t> are scalar constants and </a:t>
                </a:r>
                <a:r>
                  <a:rPr lang="en-IN" sz="2400">
                    <a:solidFill>
                      <a:srgbClr val="111827"/>
                    </a:solidFill>
                    <a:latin typeface="Cambria Math" panose="02040503050406030204" pitchFamily="18" charset="0"/>
                  </a:rPr>
                  <a:t>$\vec a$</a:t>
                </a:r>
                <a:r>
                  <a:rPr sz="2400" b="0">
                    <a:solidFill>
                      <a:srgbClr val="111827"/>
                    </a:solidFill>
                    <a:latin typeface="Arial"/>
                  </a:rPr>
                  <a:t> is a known vector). It is given that </a:t>
                </a:r>
                <a:r>
                  <a:rPr lang="en-IN" sz="2400">
                    <a:solidFill>
                      <a:srgbClr val="111827"/>
                    </a:solidFill>
                    <a:latin typeface="Cambria Math" panose="02040503050406030204" pitchFamily="18" charset="0"/>
                  </a:rPr>
                  <a:t>$\vec x\cdot\vec y\ge\frac{|\vec a|^2}{4pq}$</a:t>
                </a:r>
                <a:r>
                  <a:rPr sz="2400" b="0">
                    <a:solidFill>
                      <a:srgbClr val="111827"/>
                    </a:solidFill>
                    <a:latin typeface="Arial"/>
                  </a:rPr>
                  <a:t>, then </a:t>
                </a:r>
                <a:r>
                  <a:rPr lang="en-IN" sz="2400">
                    <a:solidFill>
                      <a:srgbClr val="111827"/>
                    </a:solidFill>
                    <a:latin typeface="Cambria Math" panose="02040503050406030204" pitchFamily="18" charset="0"/>
                  </a:rPr>
                  <a:t>$\frac{|\vec x|}{|\vec y|}$</a:t>
                </a:r>
                <a:r>
                  <a:rPr sz="2400" b="0">
                    <a:solidFill>
                      <a:srgbClr val="111827"/>
                    </a:solidFill>
                    <a:latin typeface="Arial"/>
                  </a:rPr>
                  <a:t> is equal to </a:t>
                </a:r>
                <a:r>
                  <a:rPr lang="en-IN" sz="2400">
                    <a:solidFill>
                      <a:srgbClr val="111827"/>
                    </a:solidFill>
                    <a:latin typeface="Cambria Math" panose="02040503050406030204" pitchFamily="18" charset="0"/>
                  </a:rPr>
                  <a:t>$(pq&gt;0)$</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$\frac{p^2}{q^2}$</a:t>
                </a:r>
                <a:r>
                  <a:rPr sz="2400" b="0">
                    <a:solidFill>
                      <a:srgbClr val="111827"/>
                    </a:solidFill>
                    <a:latin typeface="Arial"/>
                  </a:rPr>
                  <a:t>   (C) </a:t>
                </a:r>
                <a:r>
                  <a:rPr lang="en-IN" sz="2400">
                    <a:solidFill>
                      <a:srgbClr val="111827"/>
                    </a:solidFill>
                    <a:latin typeface="Cambria Math" panose="02040503050406030204" pitchFamily="18" charset="0"/>
                  </a:rPr>
                  <a:t>$\frac pq$</a:t>
                </a:r>
                <a:r>
                  <a:rPr sz="2400" b="0">
                    <a:solidFill>
                      <a:srgbClr val="111827"/>
                    </a:solidFill>
                    <a:latin typeface="Arial"/>
                  </a:rPr>
                  <a:t>   (D) </a:t>
                </a:r>
                <a:r>
                  <a:rPr lang="en-IN" sz="2400">
                    <a:solidFill>
                      <a:srgbClr val="111827"/>
                    </a:solidFill>
                    <a:latin typeface="Cambria Math" panose="02040503050406030204" pitchFamily="18" charset="0"/>
                  </a:rPr>
                  <a:t>$\frac qp$</a:t>
                </a:r>
                <a:endParaRPr sz="2400">
                  <a:solidFill>
                    <a:srgbClr val="111827"/>
                  </a:solidFill>
                </a:endParaRPr>
              </a:p>
            </p:txBody>
          </p:sp>
        </mc:Fallback>
      </mc:AlternateContent>
      <p:sp>
        <p:nvSpPr>
          <p:cNvPr id="5" name="Rectangle 4"/>
          <p:cNvSpPr/>
          <p:nvPr/>
        </p:nvSpPr>
        <p:spPr>
          <a:xfrm>
            <a:off x="731520" y="4281423"/>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equation with an inequality on a dot product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𝑝</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𝑞</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𝑝</m:t>
                    </m:r>
                    <m:r>
                      <a:rPr lang="en-IN" sz="2400" i="1">
                        <a:solidFill>
                          <a:srgbClr val="78350F"/>
                        </a:solidFill>
                        <a:latin typeface="Cambria Math" panose="02040503050406030204" pitchFamily="18" charset="0"/>
                      </a:rPr>
                      <m:t>𝑞</m:t>
                    </m:r>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which forces </a:t>
                </a:r>
                <a14:m>
                  <m:oMath xmlns:m="http://schemas.openxmlformats.org/officeDocument/2006/math">
                    <m:r>
                      <a:rPr lang="en-IN" sz="2400" i="1">
                        <a:solidFill>
                          <a:srgbClr val="78350F"/>
                        </a:solidFill>
                        <a:latin typeface="Cambria Math" panose="02040503050406030204" pitchFamily="18" charset="0"/>
                      </a:rPr>
                      <m:t>𝑝</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𝑞</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$|p\vec x-q\vec y|^2=|\vec a|^2-4pq\,\vec x\cdot\vec y\le0$</a:t>
                </a:r>
                <a:r>
                  <a:rPr sz="2400" b="0">
                    <a:solidFill>
                      <a:srgbClr val="78350F"/>
                    </a:solidFill>
                    <a:latin typeface="Arial"/>
                  </a:rPr>
                  <a:t>, which forces </a:t>
                </a:r>
                <a:r>
                  <a:rPr lang="en-IN" sz="2400">
                    <a:solidFill>
                      <a:srgbClr val="78350F"/>
                    </a:solidFill>
                    <a:latin typeface="Cambria Math" panose="02040503050406030204" pitchFamily="18" charset="0"/>
                  </a:rPr>
                  <a:t>$p\vec x=q\vec y$</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Let </a:t>
                </a:r>
                <a14:m>
                  <m:oMath xmlns:m="http://schemas.openxmlformats.org/officeDocument/2006/math">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give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$p\vec x+q\vec y=\vec a$</a:t>
                </a:r>
                <a:r>
                  <a:rPr sz="2400" b="0">
                    <a:solidFill>
                      <a:srgbClr val="111827"/>
                    </a:solidFill>
                    <a:latin typeface="Arial"/>
                  </a:rPr>
                  <a:t>. Let </a:t>
                </a:r>
                <a:r>
                  <a:rPr lang="en-IN" sz="2400">
                    <a:solidFill>
                      <a:srgbClr val="111827"/>
                    </a:solidFill>
                    <a:latin typeface="Cambria Math" panose="02040503050406030204" pitchFamily="18" charset="0"/>
                  </a:rPr>
                  <a:t>$p\vec x-q\vec y=R\hat n$</a:t>
                </a:r>
                <a:r>
                  <a:rPr sz="2400" b="0">
                    <a:solidFill>
                      <a:srgbClr val="111827"/>
                    </a:solidFill>
                    <a:latin typeface="Arial"/>
                  </a:rPr>
                  <a:t> with </a:t>
                </a:r>
                <a:r>
                  <a:rPr lang="en-IN" sz="2400">
                    <a:solidFill>
                      <a:srgbClr val="111827"/>
                    </a:solidFill>
                    <a:latin typeface="Cambria Math" panose="02040503050406030204" pitchFamily="18" charset="0"/>
                  </a:rPr>
                  <a:t>$R=|p\vec x-q\vec y|\ge0$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$|p\vec x-q\vec y|^2=|p\vec x+q\vec y|^2-4pq\,\vec x\cdot\vec y=|\vec a|^2-4pq\,\vec x\cdot\vec y\ge0$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a:t>
                </a:r>
                <a:r>
                  <a:rPr lang="en-IN" sz="2400">
                    <a:solidFill>
                      <a:srgbClr val="111827"/>
                    </a:solidFill>
                    <a:latin typeface="Cambria Math" panose="02040503050406030204" pitchFamily="18" charset="0"/>
                  </a:rPr>
                  <a:t>$\vec x\cdot\vec y\ge\frac{|\vec a|^2}{4pq}$</a:t>
                </a:r>
                <a:r>
                  <a:rPr sz="2400" b="0">
                    <a:solidFill>
                      <a:srgbClr val="111827"/>
                    </a:solidFill>
                    <a:latin typeface="Arial"/>
                  </a:rPr>
                  <a:t> and </a:t>
                </a:r>
                <a:r>
                  <a:rPr lang="en-IN" sz="2400">
                    <a:solidFill>
                      <a:srgbClr val="111827"/>
                    </a:solidFill>
                    <a:latin typeface="Cambria Math" panose="02040503050406030204" pitchFamily="18" charset="0"/>
                  </a:rPr>
                  <a:t>$pq&gt;0$</a:t>
                </a:r>
                <a:r>
                  <a:rPr sz="2400" b="0">
                    <a:solidFill>
                      <a:srgbClr val="111827"/>
                    </a:solidFill>
                    <a:latin typeface="Arial"/>
                  </a:rPr>
                  <a:t> give </a:t>
                </a:r>
                <a:r>
                  <a:rPr lang="en-IN" sz="2400">
                    <a:solidFill>
                      <a:srgbClr val="111827"/>
                    </a:solidFill>
                    <a:latin typeface="Cambria Math" panose="02040503050406030204" pitchFamily="18" charset="0"/>
                  </a:rPr>
                  <a:t>$4pq\,\vec x\cdot\vec y\ge|\vec a|^2$</a:t>
                </a:r>
                <a:r>
                  <a:rPr sz="2400" b="0">
                    <a:solidFill>
                      <a:srgbClr val="111827"/>
                    </a:solidFill>
                    <a:latin typeface="Arial"/>
                  </a:rPr>
                  <a:t>, so </a:t>
                </a:r>
                <a:r>
                  <a:rPr lang="en-IN" sz="2400">
                    <a:solidFill>
                      <a:srgbClr val="111827"/>
                    </a:solidFill>
                    <a:latin typeface="Cambria Math" panose="02040503050406030204" pitchFamily="18" charset="0"/>
                  </a:rPr>
                  <a:t>$|p\vec x-q\vec y|^2\le0$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𝑝</m:t>
                        </m:r>
                      </m:den>
                    </m:f>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𝑞</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𝑝</m:t>
                        </m:r>
                      </m:den>
                    </m:f>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means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oMath>
                </a14:m>
                <a:r>
                  <a:rPr sz="2400" b="0">
                    <a:solidFill>
                      <a:srgbClr val="111827"/>
                    </a:solidFill>
                    <a:latin typeface="Arial"/>
                  </a:rPr>
                  <a:t> have the same sign), option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$|p\vec x-q\vec y|=0\Rightarrow p\vec x=q\vec 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$\vec a=p\vec x+q\vec y=2p\vec x\Rightarrow\vec x=\frac{\vec a}{2p}$</a:t>
                </a:r>
                <a:r>
                  <a:rPr sz="2400" b="0">
                    <a:solidFill>
                      <a:srgbClr val="111827"/>
                    </a:solidFill>
                    <a:latin typeface="Arial"/>
                  </a:rPr>
                  <a:t> and </a:t>
                </a:r>
                <a:r>
                  <a:rPr lang="en-IN" sz="2400">
                    <a:solidFill>
                      <a:srgbClr val="111827"/>
                    </a:solidFill>
                    <a:latin typeface="Cambria Math" panose="02040503050406030204" pitchFamily="18" charset="0"/>
                  </a:rPr>
                  <a:t>$\vec y=\frac{\vec a}{2q}$</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$\frac{|\vec x|}{|\vec y|}=\frac{|\vec a|/2|p|}{|\vec a|/2|q|}=\frac{|q|}{|p|}=\frac qp$</a:t>
                </a:r>
                <a:r>
                  <a:rPr sz="2400" b="0">
                    <a:solidFill>
                      <a:srgbClr val="111827"/>
                    </a:solidFill>
                    <a:latin typeface="Arial"/>
                  </a:rPr>
                  <a:t> (since </a:t>
                </a:r>
                <a:r>
                  <a:rPr lang="en-IN" sz="2400">
                    <a:solidFill>
                      <a:srgbClr val="111827"/>
                    </a:solidFill>
                    <a:latin typeface="Cambria Math" panose="02040503050406030204" pitchFamily="18" charset="0"/>
                  </a:rPr>
                  <a:t>$pq&gt;0$</a:t>
                </a:r>
                <a:r>
                  <a:rPr sz="2400" b="0">
                    <a:solidFill>
                      <a:srgbClr val="111827"/>
                    </a:solidFill>
                    <a:latin typeface="Arial"/>
                  </a:rPr>
                  <a:t> means </a:t>
                </a:r>
                <a:r>
                  <a:rPr lang="en-IN" sz="2400">
                    <a:solidFill>
                      <a:srgbClr val="111827"/>
                    </a:solidFill>
                    <a:latin typeface="Cambria Math" panose="02040503050406030204" pitchFamily="18" charset="0"/>
                  </a:rPr>
                  <a:t>$p,q$</a:t>
                </a:r>
                <a:r>
                  <a:rPr sz="2400" b="0">
                    <a:solidFill>
                      <a:srgbClr val="111827"/>
                    </a:solidFill>
                    <a:latin typeface="Arial"/>
                  </a:rPr>
                  <a:t> have the same sign), option (D).</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𝑞</m:t>
                        </m:r>
                      </m:num>
                      <m:den>
                        <m:r>
                          <a:rPr lang="en-IN" sz="2800" i="1">
                            <a:solidFill>
                              <a:srgbClr val="15803D"/>
                            </a:solidFill>
                            <a:latin typeface="Cambria Math" panose="02040503050406030204" pitchFamily="18" charset="0"/>
                          </a:rPr>
                          <m:t>𝑝</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r>
                  <a:rPr lang="en-IN" sz="2800">
                    <a:solidFill>
                      <a:srgbClr val="15803D"/>
                    </a:solidFill>
                    <a:latin typeface="Cambria Math" panose="02040503050406030204" pitchFamily="18" charset="0"/>
                  </a:rPr>
                  <a:t>$\frac qp$</a:t>
                </a:r>
                <a:endParaRPr sz="2800">
                  <a:solidFill>
                    <a:srgbClr val="15803D"/>
                  </a:solidFill>
                </a:endParaRPr>
              </a:p>
            </p:txBody>
          </p:sp>
        </mc:Fallback>
      </mc:AlternateContent>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(parallelogram identity): an inequality 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in the opposite direction to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forces equality,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𝑝</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means both parts equal </a:t>
                </a:r>
                <a14:m>
                  <m:oMath xmlns:m="http://schemas.openxmlformats.org/officeDocument/2006/math">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(they are the two halves of the diagonal).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'given inequality + a square that is always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pattern usually means the extreme (equality) case is the only possibility.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u+\vec v|^2-|\vec u-\vec v|^2=4\,\vec u\cdot\vec v$</a:t>
                </a:r>
                <a:r>
                  <a:rPr sz="2400" b="0">
                    <a:solidFill>
                      <a:srgbClr val="111827"/>
                    </a:solidFill>
                    <a:latin typeface="Arial"/>
                  </a:rPr>
                  <a:t> (parallelogram identity): an inequality on </a:t>
                </a:r>
                <a:r>
                  <a:rPr lang="en-IN" sz="2400">
                    <a:solidFill>
                      <a:srgbClr val="111827"/>
                    </a:solidFill>
                    <a:latin typeface="Cambria Math" panose="02040503050406030204" pitchFamily="18" charset="0"/>
                  </a:rPr>
                  <a:t>$\vec u\cdot\vec v$</a:t>
                </a:r>
                <a:r>
                  <a:rPr sz="2400" b="0">
                    <a:solidFill>
                      <a:srgbClr val="111827"/>
                    </a:solidFill>
                    <a:latin typeface="Arial"/>
                  </a:rPr>
                  <a:t> in the opposite direction to </a:t>
                </a:r>
                <a:r>
                  <a:rPr lang="en-IN" sz="2400">
                    <a:solidFill>
                      <a:srgbClr val="111827"/>
                    </a:solidFill>
                    <a:latin typeface="Cambria Math" panose="02040503050406030204" pitchFamily="18" charset="0"/>
                  </a:rPr>
                  <a:t>$|\vec u-\vec v|^2\ge0$</a:t>
                </a:r>
                <a:r>
                  <a:rPr sz="2400" b="0">
                    <a:solidFill>
                      <a:srgbClr val="111827"/>
                    </a:solidFill>
                    <a:latin typeface="Arial"/>
                  </a:rPr>
                  <a:t> forces equality, </a:t>
                </a:r>
                <a:r>
                  <a:rPr lang="en-IN" sz="2400">
                    <a:solidFill>
                      <a:srgbClr val="111827"/>
                    </a:solidFill>
                    <a:latin typeface="Cambria Math" panose="02040503050406030204" pitchFamily="18" charset="0"/>
                  </a:rPr>
                  <a:t>$\vec u=\vec v$</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$p\vec x=q\vec y$</a:t>
                </a:r>
                <a:r>
                  <a:rPr sz="2400" b="0">
                    <a:solidFill>
                      <a:srgbClr val="111827"/>
                    </a:solidFill>
                    <a:latin typeface="Arial"/>
                  </a:rPr>
                  <a:t> with </a:t>
                </a:r>
                <a:r>
                  <a:rPr lang="en-IN" sz="2400">
                    <a:solidFill>
                      <a:srgbClr val="111827"/>
                    </a:solidFill>
                    <a:latin typeface="Cambria Math" panose="02040503050406030204" pitchFamily="18" charset="0"/>
                  </a:rPr>
                  <a:t>$p\vec x+q\vec y=\vec a$</a:t>
                </a:r>
                <a:r>
                  <a:rPr sz="2400" b="0">
                    <a:solidFill>
                      <a:srgbClr val="111827"/>
                    </a:solidFill>
                    <a:latin typeface="Arial"/>
                  </a:rPr>
                  <a:t> means both parts equal </a:t>
                </a:r>
                <a:r>
                  <a:rPr lang="en-IN" sz="2400">
                    <a:solidFill>
                      <a:srgbClr val="111827"/>
                    </a:solidFill>
                    <a:latin typeface="Cambria Math" panose="02040503050406030204" pitchFamily="18" charset="0"/>
                  </a:rPr>
                  <a:t>$\frac{\vec a}{2}$</a:t>
                </a:r>
                <a:r>
                  <a:rPr sz="2400" b="0">
                    <a:solidFill>
                      <a:srgbClr val="111827"/>
                    </a:solidFill>
                    <a:latin typeface="Arial"/>
                  </a:rPr>
                  <a:t> (they are the two halves of the diagonal).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'given inequality + a square that is always </a:t>
                </a:r>
                <a:r>
                  <a:rPr lang="en-IN" sz="2400">
                    <a:solidFill>
                      <a:srgbClr val="111827"/>
                    </a:solidFill>
                    <a:latin typeface="Cambria Math" panose="02040503050406030204" pitchFamily="18" charset="0"/>
                  </a:rPr>
                  <a:t>$\ge0$</a:t>
                </a:r>
                <a:r>
                  <a:rPr sz="2400" b="0">
                    <a:solidFill>
                      <a:srgbClr val="111827"/>
                    </a:solidFill>
                    <a:latin typeface="Arial"/>
                  </a:rPr>
                  <a:t>' pattern usually means the extreme (equality) case is the only possibility.</a:t>
                </a:r>
                <a:endParaRPr sz="2400">
                  <a:solidFill>
                    <a:srgbClr val="111827"/>
                  </a:solidFill>
                </a:endParaRPr>
              </a:p>
            </p:txBody>
          </p:sp>
        </mc:Fallback>
      </mc:AlternateContent>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8153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are three mutually perpendicular unit vectors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is a unit vector which makes equal angle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(D) none of these</a:t>
                </a:r>
                <a:endParaRPr sz="2400">
                  <a:solidFill>
                    <a:srgbClr val="111827"/>
                  </a:solidFill>
                </a:endParaRPr>
              </a:p>
            </p:txBody>
          </p:sp>
        </mc:Choice>
        <mc:Fallback>
          <p:sp>
            <p:nvSpPr>
              <p:cNvPr id="4" name="Rounded Rectangle 3"/>
              <p:cNvSpPr/>
              <p:nvPr/>
            </p:nvSpPr>
            <p:spPr>
              <a:xfrm>
                <a:off x="731520" y="1280160"/>
                <a:ext cx="10725912" cy="28153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a,\vec b$</a:t>
                </a:r>
                <a:r>
                  <a:rPr sz="2400" b="0">
                    <a:solidFill>
                      <a:srgbClr val="111827"/>
                    </a:solidFill>
                    <a:latin typeface="Arial"/>
                  </a:rPr>
                  <a:t> and </a:t>
                </a:r>
                <a:r>
                  <a:rPr lang="en-IN" sz="2400">
                    <a:solidFill>
                      <a:srgbClr val="111827"/>
                    </a:solidFill>
                    <a:latin typeface="Cambria Math" panose="02040503050406030204" pitchFamily="18" charset="0"/>
                  </a:rPr>
                  <a:t>$\vec c$</a:t>
                </a:r>
                <a:r>
                  <a:rPr sz="2400" b="0">
                    <a:solidFill>
                      <a:srgbClr val="111827"/>
                    </a:solidFill>
                    <a:latin typeface="Arial"/>
                  </a:rPr>
                  <a:t> are three mutually perpendicular unit vectors and </a:t>
                </a:r>
                <a:r>
                  <a:rPr lang="en-IN" sz="2400">
                    <a:solidFill>
                      <a:srgbClr val="111827"/>
                    </a:solidFill>
                    <a:latin typeface="Cambria Math" panose="02040503050406030204" pitchFamily="18" charset="0"/>
                  </a:rPr>
                  <a:t>$\vec d$</a:t>
                </a:r>
                <a:r>
                  <a:rPr sz="2400" b="0">
                    <a:solidFill>
                      <a:srgbClr val="111827"/>
                    </a:solidFill>
                    <a:latin typeface="Arial"/>
                  </a:rPr>
                  <a:t> is a unit vector which makes equal angle with </a:t>
                </a:r>
                <a:r>
                  <a:rPr lang="en-IN" sz="2400">
                    <a:solidFill>
                      <a:srgbClr val="111827"/>
                    </a:solidFill>
                    <a:latin typeface="Cambria Math" panose="02040503050406030204" pitchFamily="18" charset="0"/>
                  </a:rPr>
                  <a:t>$\vec a,\vec b$</a:t>
                </a:r>
                <a:r>
                  <a:rPr sz="2400" b="0">
                    <a:solidFill>
                      <a:srgbClr val="111827"/>
                    </a:solidFill>
                    <a:latin typeface="Arial"/>
                  </a:rPr>
                  <a:t> and </a:t>
                </a:r>
                <a:r>
                  <a:rPr lang="en-IN" sz="2400">
                    <a:solidFill>
                      <a:srgbClr val="111827"/>
                    </a:solidFill>
                    <a:latin typeface="Cambria Math" panose="02040503050406030204" pitchFamily="18" charset="0"/>
                  </a:rPr>
                  <a:t>$\vec c$</a:t>
                </a:r>
                <a:r>
                  <a:rPr sz="2400" b="0">
                    <a:solidFill>
                      <a:srgbClr val="111827"/>
                    </a:solidFill>
                    <a:latin typeface="Arial"/>
                  </a:rPr>
                  <a:t>, then </a:t>
                </a:r>
                <a:r>
                  <a:rPr lang="en-IN" sz="2400">
                    <a:solidFill>
                      <a:srgbClr val="111827"/>
                    </a:solidFill>
                    <a:latin typeface="Cambria Math" panose="02040503050406030204" pitchFamily="18" charset="0"/>
                  </a:rPr>
                  <a:t>$|\vec a+\vec b+\vec c+\vec d|^2$</a:t>
                </a:r>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$4$</a:t>
                </a:r>
                <a:r>
                  <a:rPr sz="2400" b="0">
                    <a:solidFill>
                      <a:srgbClr val="111827"/>
                    </a:solidFill>
                    <a:latin typeface="Arial"/>
                  </a:rPr>
                  <a:t>   (B) </a:t>
                </a:r>
                <a:r>
                  <a:rPr lang="en-IN" sz="2400">
                    <a:solidFill>
                      <a:srgbClr val="111827"/>
                    </a:solidFill>
                    <a:latin typeface="Cambria Math" panose="02040503050406030204" pitchFamily="18" charset="0"/>
                  </a:rPr>
                  <a:t>$4\pm\sqrt3$</a:t>
                </a:r>
                <a:r>
                  <a:rPr sz="2400" b="0">
                    <a:solidFill>
                      <a:srgbClr val="111827"/>
                    </a:solidFill>
                    <a:latin typeface="Arial"/>
                  </a:rPr>
                  <a:t>   (C) </a:t>
                </a:r>
                <a:r>
                  <a:rPr lang="en-IN" sz="2400">
                    <a:solidFill>
                      <a:srgbClr val="111827"/>
                    </a:solidFill>
                    <a:latin typeface="Cambria Math" panose="02040503050406030204" pitchFamily="18" charset="0"/>
                  </a:rPr>
                  <a:t>$4\pm2\sqrt3$</a:t>
                </a:r>
                <a:r>
                  <a:rPr sz="2400" b="0">
                    <a:solidFill>
                      <a:srgbClr val="111827"/>
                    </a:solidFill>
                    <a:latin typeface="Arial"/>
                  </a:rPr>
                  <a:t>   (D) none of these</a:t>
                </a:r>
                <a:endParaRPr sz="2400">
                  <a:solidFill>
                    <a:srgbClr val="111827"/>
                  </a:solidFill>
                </a:endParaRPr>
              </a:p>
            </p:txBody>
          </p:sp>
        </mc:Fallback>
      </mc:AlternateContent>
      <p:sp>
        <p:nvSpPr>
          <p:cNvPr id="5" name="Rectangle 4"/>
          <p:cNvSpPr/>
          <p:nvPr/>
        </p:nvSpPr>
        <p:spPr>
          <a:xfrm>
            <a:off x="731520" y="4324095"/>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Vectors equally inclined to three mutually perpendicular unit vectors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Expand the square: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equal angles with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give </a:t>
                </a:r>
                <a14:m>
                  <m:oMath xmlns:m="http://schemas.openxmlformats.org/officeDocument/2006/math">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Expand the square: </a:t>
                </a:r>
                <a:r>
                  <a:rPr lang="en-IN" sz="2400">
                    <a:solidFill>
                      <a:srgbClr val="78350F"/>
                    </a:solidFill>
                    <a:latin typeface="Cambria Math" panose="02040503050406030204" pitchFamily="18" charset="0"/>
                  </a:rPr>
                  <a:t>$|\vec a+\vec b+\vec c+\vec d|^2=4+2\vec d\cdot(\vec a+\vec b+\vec c)$</a:t>
                </a:r>
                <a:r>
                  <a:rPr sz="2400" b="0">
                    <a:solidFill>
                      <a:srgbClr val="78350F"/>
                    </a:solidFill>
                    <a:latin typeface="Arial"/>
                  </a:rPr>
                  <a:t>, and equal angles with </a:t>
                </a:r>
                <a:r>
                  <a:rPr lang="en-IN" sz="2400">
                    <a:solidFill>
                      <a:srgbClr val="78350F"/>
                    </a:solidFill>
                    <a:latin typeface="Cambria Math" panose="02040503050406030204" pitchFamily="18" charset="0"/>
                  </a:rPr>
                  <a:t>$|\vec d|=1$</a:t>
                </a:r>
                <a:r>
                  <a:rPr sz="2400" b="0">
                    <a:solidFill>
                      <a:srgbClr val="78350F"/>
                    </a:solidFill>
                    <a:latin typeface="Arial"/>
                  </a:rPr>
                  <a:t> give </a:t>
                </a:r>
                <a:r>
                  <a:rPr lang="en-IN" sz="2400">
                    <a:solidFill>
                      <a:srgbClr val="78350F"/>
                    </a:solidFill>
                    <a:latin typeface="Cambria Math" panose="02040503050406030204" pitchFamily="18" charset="0"/>
                  </a:rPr>
                  <a:t>$\cos\theta=\pm\frac1{\sqrt3}$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mutual dot products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vanish).</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makes the same angle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with each: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ν</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b+\vec c+\vec d|^2=\sum|\vec a|^2+|\vec d|^2+2\vec d\cdot(\vec a+\vec b+\vec c)=4+2\vec d\cdot(\vec a+\vec b+\vec c)$</a:t>
                </a:r>
                <a:r>
                  <a:rPr sz="2400" b="0">
                    <a:solidFill>
                      <a:srgbClr val="111827"/>
                    </a:solidFill>
                    <a:latin typeface="Arial"/>
                  </a:rPr>
                  <a:t> (the mutual dot products of </a:t>
                </a:r>
                <a:r>
                  <a:rPr lang="en-IN" sz="2400">
                    <a:solidFill>
                      <a:srgbClr val="111827"/>
                    </a:solidFill>
                    <a:latin typeface="Cambria Math" panose="02040503050406030204" pitchFamily="18" charset="0"/>
                  </a:rPr>
                  <a:t>$\vec a,\vec b,\vec c$</a:t>
                </a:r>
                <a:r>
                  <a:rPr sz="2400" b="0">
                    <a:solidFill>
                      <a:srgbClr val="111827"/>
                    </a:solidFill>
                    <a:latin typeface="Arial"/>
                  </a:rPr>
                  <a:t> vanish).</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d$</a:t>
                </a:r>
                <a:r>
                  <a:rPr sz="2400" b="0">
                    <a:solidFill>
                      <a:srgbClr val="111827"/>
                    </a:solidFill>
                    <a:latin typeface="Arial"/>
                  </a:rPr>
                  <a:t> makes the same angle </a:t>
                </a:r>
                <a:r>
                  <a:rPr lang="en-IN" sz="2400">
                    <a:solidFill>
                      <a:srgbClr val="111827"/>
                    </a:solidFill>
                    <a:latin typeface="Cambria Math" panose="02040503050406030204" pitchFamily="18" charset="0"/>
                  </a:rPr>
                  <a:t>$\theta$</a:t>
                </a:r>
                <a:r>
                  <a:rPr sz="2400" b="0">
                    <a:solidFill>
                      <a:srgbClr val="111827"/>
                    </a:solidFill>
                    <a:latin typeface="Arial"/>
                  </a:rPr>
                  <a:t> with each: </a:t>
                </a:r>
                <a:r>
                  <a:rPr lang="en-IN" sz="2400">
                    <a:solidFill>
                      <a:srgbClr val="111827"/>
                    </a:solidFill>
                    <a:latin typeface="Cambria Math" panose="02040503050406030204" pitchFamily="18" charset="0"/>
                  </a:rPr>
                  <a:t>$\vec d\cdot\vec a=\vec d\cdot\vec b=\vec d\cdot\vec c=\cos\theta$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$\vec d=\lambda\vec a+\mu\vec b+\nu\vec c$</a:t>
                </a:r>
                <a:r>
                  <a:rPr sz="2400" b="0">
                    <a:solidFill>
                      <a:srgbClr val="111827"/>
                    </a:solidFill>
                    <a:latin typeface="Arial"/>
                  </a:rPr>
                  <a:t>; then </a:t>
                </a:r>
                <a:r>
                  <a:rPr lang="en-IN" sz="2400">
                    <a:solidFill>
                      <a:srgbClr val="111827"/>
                    </a:solidFill>
                    <a:latin typeface="Cambria Math" panose="02040503050406030204" pitchFamily="18" charset="0"/>
                  </a:rPr>
                  <a:t>$\lambda=\mu=\nu=\cos\theta$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μ</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ν</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option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$\lambda^2+\mu^2+\nu^2=|\vec d|^2=1\Rightarrow3\cos^2\theta=1\Rightarrow\cos\theta=\pm\frac{1}{\sqrt3}$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d\cdot(\vec a+\vec b+\vec c)=3\cos\theta=\pm\sqrt3$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b+\vec c+\vec d|^2=4\pm2\sqrt3$</a:t>
                </a:r>
                <a:r>
                  <a:rPr sz="2400" b="0">
                    <a:solidFill>
                      <a:srgbClr val="111827"/>
                    </a:solidFill>
                    <a:latin typeface="Arial"/>
                  </a:rPr>
                  <a:t>, option (C).</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r>
                      <a:rPr lang="en-IN" sz="2800" i="1">
                        <a:solidFill>
                          <a:srgbClr val="15803D"/>
                        </a:solidFill>
                        <a:latin typeface="Cambria Math" panose="02040503050406030204" pitchFamily="18" charset="0"/>
                      </a:rPr>
                      <m:t>4</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$4\pm2\sqrt3$</a:t>
                </a:r>
                <a:endParaRPr sz="2800">
                  <a:solidFill>
                    <a:srgbClr val="15803D"/>
                  </a:solidFill>
                </a:endParaRPr>
              </a:p>
            </p:txBody>
          </p:sp>
        </mc:Fallback>
      </mc:AlternateContent>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Choose the axes along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 then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is visible at once.</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Choose the axes along </a:t>
                </a:r>
                <a:r>
                  <a:rPr lang="en-IN" sz="2400">
                    <a:solidFill>
                      <a:srgbClr val="78350F"/>
                    </a:solidFill>
                    <a:latin typeface="Cambria Math" panose="02040503050406030204" pitchFamily="18" charset="0"/>
                  </a:rPr>
                  <a:t>$\vec a,\vec b,\vec c$</a:t>
                </a:r>
                <a:r>
                  <a:rPr sz="2400" b="0">
                    <a:solidFill>
                      <a:srgbClr val="78350F"/>
                    </a:solidFill>
                    <a:latin typeface="Arial"/>
                  </a:rPr>
                  <a:t>: then </a:t>
                </a:r>
                <a:r>
                  <a:rPr lang="en-IN" sz="2400">
                    <a:solidFill>
                      <a:srgbClr val="78350F"/>
                    </a:solidFill>
                    <a:latin typeface="Cambria Math" panose="02040503050406030204" pitchFamily="18" charset="0"/>
                  </a:rPr>
                  <a:t>$\vec d=\pm\frac{1}{\sqrt3}(1,1,1)$</a:t>
                </a:r>
                <a:r>
                  <a:rPr sz="2400" b="0">
                    <a:solidFill>
                      <a:srgbClr val="78350F"/>
                    </a:solidFill>
                    <a:latin typeface="Arial"/>
                  </a:rPr>
                  <a:t> is visible at once.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(mutually perpendicular unit vectors can be taken as the coordinate axes).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 angles with the axes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 direction cosines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each: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$\vec a=\hat i$</a:t>
                </a:r>
                <a:r>
                  <a:rPr sz="2400" b="0">
                    <a:solidFill>
                      <a:srgbClr val="111827"/>
                    </a:solidFill>
                    <a:latin typeface="Arial"/>
                  </a:rPr>
                  <a:t>, </a:t>
                </a:r>
                <a:r>
                  <a:rPr lang="en-IN" sz="2400">
                    <a:solidFill>
                      <a:srgbClr val="111827"/>
                    </a:solidFill>
                    <a:latin typeface="Cambria Math" panose="02040503050406030204" pitchFamily="18" charset="0"/>
                  </a:rPr>
                  <a:t>$\vec b=\hat j$</a:t>
                </a:r>
                <a:r>
                  <a:rPr sz="2400" b="0">
                    <a:solidFill>
                      <a:srgbClr val="111827"/>
                    </a:solidFill>
                    <a:latin typeface="Arial"/>
                  </a:rPr>
                  <a:t>, </a:t>
                </a:r>
                <a:r>
                  <a:rPr lang="en-IN" sz="2400">
                    <a:solidFill>
                      <a:srgbClr val="111827"/>
                    </a:solidFill>
                    <a:latin typeface="Cambria Math" panose="02040503050406030204" pitchFamily="18" charset="0"/>
                  </a:rPr>
                  <a:t>$\vec c=\hat k$</a:t>
                </a:r>
                <a:r>
                  <a:rPr sz="2400" b="0">
                    <a:solidFill>
                      <a:srgbClr val="111827"/>
                    </a:solidFill>
                    <a:latin typeface="Arial"/>
                  </a:rPr>
                  <a:t> (mutually perpendicular unit vectors can be taken as the coordinate axes).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 angles with the axes and </a:t>
                </a:r>
                <a:r>
                  <a:rPr lang="en-IN" sz="2400">
                    <a:solidFill>
                      <a:srgbClr val="111827"/>
                    </a:solidFill>
                    <a:latin typeface="Cambria Math" panose="02040503050406030204" pitchFamily="18" charset="0"/>
                  </a:rPr>
                  <a:t>$|\vec d|=1$</a:t>
                </a:r>
                <a:r>
                  <a:rPr sz="2400" b="0">
                    <a:solidFill>
                      <a:srgbClr val="111827"/>
                    </a:solidFill>
                    <a:latin typeface="Arial"/>
                  </a:rPr>
                  <a:t> give direction cosines </a:t>
                </a:r>
                <a:r>
                  <a:rPr lang="en-IN" sz="2400">
                    <a:solidFill>
                      <a:srgbClr val="111827"/>
                    </a:solidFill>
                    <a:latin typeface="Cambria Math" panose="02040503050406030204" pitchFamily="18" charset="0"/>
                  </a:rPr>
                  <a:t>$\pm\frac{1}{\sqrt3}$</a:t>
                </a:r>
                <a:r>
                  <a:rPr sz="2400" b="0">
                    <a:solidFill>
                      <a:srgbClr val="111827"/>
                    </a:solidFill>
                    <a:latin typeface="Arial"/>
                  </a:rPr>
                  <a:t> each: </a:t>
                </a:r>
                <a:r>
                  <a:rPr lang="en-IN" sz="2400">
                    <a:solidFill>
                      <a:srgbClr val="111827"/>
                    </a:solidFill>
                    <a:latin typeface="Cambria Math" panose="02040503050406030204" pitchFamily="18" charset="0"/>
                  </a:rPr>
                  <a:t>$\vec d=\pm\frac{1}{\sqrt3}(1,1,1)$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squared length is </a:t>
                </a:r>
                <a14:m>
                  <m:oMath xmlns:m="http://schemas.openxmlformats.org/officeDocument/2006/math">
                    <m:r>
                      <a:rPr lang="en-IN" sz="2400" i="1">
                        <a:solidFill>
                          <a:srgbClr val="111827"/>
                        </a:solidFill>
                        <a:latin typeface="Cambria Math" panose="02040503050406030204" pitchFamily="18" charset="0"/>
                      </a:rPr>
                      <m:t>3</m:t>
                    </m:r>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b+\vec c+\vec d=(1,1,1)\left(1\pm\frac{1}{\sqrt3}\right)$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squared length is </a:t>
                </a:r>
                <a:r>
                  <a:rPr lang="en-IN" sz="2400">
                    <a:solidFill>
                      <a:srgbClr val="111827"/>
                    </a:solidFill>
                    <a:latin typeface="Cambria Math" panose="02040503050406030204" pitchFamily="18" charset="0"/>
                  </a:rPr>
                  <a:t>$3\left(1\pm\frac{1}{\sqrt3}\right)^2=3\pm2\sqrt3+1=4\pm2\sqrt3$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r>
                      <a:rPr lang="en-IN" sz="2800" i="1">
                        <a:solidFill>
                          <a:srgbClr val="15803D"/>
                        </a:solidFill>
                        <a:latin typeface="Cambria Math" panose="02040503050406030204" pitchFamily="18" charset="0"/>
                      </a:rPr>
                      <m:t>4</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$4\pm2\sqrt3$</a:t>
                </a:r>
                <a:endParaRPr sz="2800">
                  <a:solidFill>
                    <a:srgbClr val="15803D"/>
                  </a:solidFill>
                </a:endParaRPr>
              </a:p>
            </p:txBody>
          </p:sp>
        </mc:Fallback>
      </mc:AlternateContent>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unit vector equally inclined to the three axes has direction cosines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(the cube diagonals).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for three mutually perpendicular unit vectors; adding a unit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along or against it gives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orthonormal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unit vector equally inclined to the three axes has direction cosines </a:t>
                </a:r>
                <a:r>
                  <a:rPr lang="en-IN" sz="2400">
                    <a:solidFill>
                      <a:srgbClr val="111827"/>
                    </a:solidFill>
                    <a:latin typeface="Cambria Math" panose="02040503050406030204" pitchFamily="18" charset="0"/>
                  </a:rPr>
                  <a:t>$\pm\frac{1}{\sqrt3}$</a:t>
                </a:r>
                <a:r>
                  <a:rPr sz="2400" b="0">
                    <a:solidFill>
                      <a:srgbClr val="111827"/>
                    </a:solidFill>
                    <a:latin typeface="Arial"/>
                  </a:rPr>
                  <a:t> (the cube diagonals).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b+\vec c|=\sqrt3$</a:t>
                </a:r>
                <a:r>
                  <a:rPr sz="2400" b="0">
                    <a:solidFill>
                      <a:srgbClr val="111827"/>
                    </a:solidFill>
                    <a:latin typeface="Arial"/>
                  </a:rPr>
                  <a:t> for three mutually perpendicular unit vectors; adding a unit vector </a:t>
                </a:r>
                <a:r>
                  <a:rPr lang="en-IN" sz="2400">
                    <a:solidFill>
                      <a:srgbClr val="111827"/>
                    </a:solidFill>
                    <a:latin typeface="Cambria Math" panose="02040503050406030204" pitchFamily="18" charset="0"/>
                  </a:rPr>
                  <a:t>$\vec d$</a:t>
                </a:r>
                <a:r>
                  <a:rPr sz="2400" b="0">
                    <a:solidFill>
                      <a:srgbClr val="111827"/>
                    </a:solidFill>
                    <a:latin typeface="Arial"/>
                  </a:rPr>
                  <a:t> along or against it gives </a:t>
                </a:r>
                <a:r>
                  <a:rPr lang="en-IN" sz="2400">
                    <a:solidFill>
                      <a:srgbClr val="111827"/>
                    </a:solidFill>
                    <a:latin typeface="Cambria Math" panose="02040503050406030204" pitchFamily="18" charset="0"/>
                  </a:rPr>
                  <a:t>$\sqrt3\pm1$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orthonormal </a:t>
                </a:r>
                <a:r>
                  <a:rPr lang="en-IN" sz="2400">
                    <a:solidFill>
                      <a:srgbClr val="111827"/>
                    </a:solidFill>
                    <a:latin typeface="Cambria Math" panose="02040503050406030204" pitchFamily="18" charset="0"/>
                  </a:rPr>
                  <a:t>$\vec a,\vec b,\vec c$</a:t>
                </a:r>
                <a:r>
                  <a:rPr sz="2400" b="0">
                    <a:solidFill>
                      <a:srgbClr val="111827"/>
                    </a:solidFill>
                    <a:latin typeface="Arial"/>
                  </a:rPr>
                  <a:t>: </a:t>
                </a:r>
                <a:r>
                  <a:rPr lang="en-IN" sz="2400">
                    <a:solidFill>
                      <a:srgbClr val="111827"/>
                    </a:solidFill>
                    <a:latin typeface="Cambria Math" panose="02040503050406030204" pitchFamily="18" charset="0"/>
                  </a:rPr>
                  <a:t>$\vec d=(\vec d\cdot\vec a)\vec a+(\vec d\cdot\vec b)\vec b+(\vec d\cdot\vec c)\vec c$</a:t>
                </a:r>
                <a:r>
                  <a:rPr sz="2400" b="0">
                    <a:solidFill>
                      <a:srgbClr val="111827"/>
                    </a:solidFill>
                    <a:latin typeface="Arial"/>
                  </a:rPr>
                  <a:t> and </a:t>
                </a:r>
                <a:r>
                  <a:rPr lang="en-IN" sz="2400">
                    <a:solidFill>
                      <a:srgbClr val="111827"/>
                    </a:solidFill>
                    <a:latin typeface="Cambria Math" panose="02040503050406030204" pitchFamily="18" charset="0"/>
                  </a:rPr>
                  <a:t>$\sum(\vec d\cdot\vec a)^2=|\vec d|^2$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37108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Given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The volume of the parallelepiped with three conterminous edges as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equals: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sup>
                        <m:r>
                          <a:rPr lang="en-IN" sz="2400" i="1">
                            <a:solidFill>
                              <a:srgbClr val="111827"/>
                            </a:solidFill>
                            <a:latin typeface="Cambria Math" panose="02040503050406030204" pitchFamily="18" charset="0"/>
                          </a:rPr>
                          <m:t>3</m:t>
                        </m:r>
                      </m:sup>
                    </m:sSup>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sup>
                        <m:r>
                          <a:rPr lang="en-IN" sz="2400" i="1">
                            <a:solidFill>
                              <a:srgbClr val="111827"/>
                            </a:solidFill>
                            <a:latin typeface="Cambria Math" panose="02040503050406030204" pitchFamily="18" charset="0"/>
                          </a:rPr>
                          <m:t>3</m:t>
                        </m:r>
                      </m:sup>
                    </m:sSup>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e>
                        </m:d>
                      </m:e>
                      <m:sup>
                        <m:r>
                          <a:rPr lang="en-IN" sz="2400" i="1">
                            <a:solidFill>
                              <a:srgbClr val="111827"/>
                            </a:solidFill>
                            <a:latin typeface="Cambria Math" panose="02040503050406030204" pitchFamily="18" charset="0"/>
                          </a:rPr>
                          <m:t>3</m:t>
                        </m:r>
                      </m:sup>
                    </m:sSup>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sup>
                        <m:r>
                          <a:rPr lang="en-IN" sz="2400" i="1">
                            <a:solidFill>
                              <a:srgbClr val="111827"/>
                            </a:solidFill>
                            <a:latin typeface="Cambria Math" panose="02040503050406030204" pitchFamily="18" charset="0"/>
                          </a:rPr>
                          <m:t>3</m:t>
                        </m:r>
                      </m:sup>
                    </m:sSup>
                  </m:oMath>
                </a14:m>
                <a:endParaRPr sz="2400">
                  <a:solidFill>
                    <a:srgbClr val="111827"/>
                  </a:solidFill>
                </a:endParaRPr>
              </a:p>
            </p:txBody>
          </p:sp>
        </mc:Choice>
        <mc:Fallback>
          <p:sp>
            <p:nvSpPr>
              <p:cNvPr id="4" name="Rounded Rectangle 3"/>
              <p:cNvSpPr/>
              <p:nvPr/>
            </p:nvSpPr>
            <p:spPr>
              <a:xfrm>
                <a:off x="731520" y="1280160"/>
                <a:ext cx="10725912" cy="537108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Given vectors </a:t>
                </a:r>
                <a:r>
                  <a:rPr lang="en-IN" sz="2400">
                    <a:solidFill>
                      <a:srgbClr val="111827"/>
                    </a:solidFill>
                    <a:latin typeface="Cambria Math" panose="02040503050406030204" pitchFamily="18" charset="0"/>
                  </a:rPr>
                  <a:t>$\vec a=\sin\frac\pi6\hat i+\sin\frac\pi3\hat j$</a:t>
                </a:r>
                <a:r>
                  <a:rPr sz="2400" b="0">
                    <a:solidFill>
                      <a:srgbClr val="111827"/>
                    </a:solidFill>
                    <a:latin typeface="Arial"/>
                  </a:rPr>
                  <a:t>, </a:t>
                </a:r>
                <a:r>
                  <a:rPr lang="en-IN" sz="2400">
                    <a:solidFill>
                      <a:srgbClr val="111827"/>
                    </a:solidFill>
                    <a:latin typeface="Cambria Math" panose="02040503050406030204" pitchFamily="18" charset="0"/>
                  </a:rPr>
                  <a:t>$\vec b=\sin\frac\pi3\hat j+\sin\frac\pi6\hat k$</a:t>
                </a:r>
                <a:r>
                  <a:rPr sz="2400" b="0">
                    <a:solidFill>
                      <a:srgbClr val="111827"/>
                    </a:solidFill>
                    <a:latin typeface="Arial"/>
                  </a:rPr>
                  <a:t> and </a:t>
                </a:r>
                <a:r>
                  <a:rPr lang="en-IN" sz="2400">
                    <a:solidFill>
                      <a:srgbClr val="111827"/>
                    </a:solidFill>
                    <a:latin typeface="Cambria Math" panose="02040503050406030204" pitchFamily="18" charset="0"/>
                  </a:rPr>
                  <a:t>$\vec c=\hat i+2\hat j+3\hat k$</a:t>
                </a:r>
                <a:r>
                  <a:rPr sz="2400" b="0">
                    <a:solidFill>
                      <a:srgbClr val="111827"/>
                    </a:solidFill>
                    <a:latin typeface="Arial"/>
                  </a:rPr>
                  <a:t>. The volume of the parallelepiped with three conterminous edges as </a:t>
                </a:r>
                <a:r>
                  <a:rPr lang="en-IN" sz="2400">
                    <a:solidFill>
                      <a:srgbClr val="111827"/>
                    </a:solidFill>
                    <a:latin typeface="Cambria Math" panose="02040503050406030204" pitchFamily="18" charset="0"/>
                  </a:rPr>
                  <a:t>$\vec u=(\vec a\cdot\vec a)\vec a+(\vec a\cdot\vec b)\vec b+(\vec a\cdot\vec c)\vec c$</a:t>
                </a:r>
                <a:r>
                  <a:rPr sz="2400" b="0">
                    <a:solidFill>
                      <a:srgbClr val="111827"/>
                    </a:solidFill>
                    <a:latin typeface="Arial"/>
                  </a:rPr>
                  <a:t>, </a:t>
                </a:r>
                <a:r>
                  <a:rPr lang="en-IN" sz="2400">
                    <a:solidFill>
                      <a:srgbClr val="111827"/>
                    </a:solidFill>
                    <a:latin typeface="Cambria Math" panose="02040503050406030204" pitchFamily="18" charset="0"/>
                  </a:rPr>
                  <a:t>$\vec v=(\vec a\cdot\vec b)\vec a+(\vec b\cdot\vec b)\vec b+(\vec b\cdot\vec c)\vec c$</a:t>
                </a:r>
                <a:r>
                  <a:rPr sz="2400" b="0">
                    <a:solidFill>
                      <a:srgbClr val="111827"/>
                    </a:solidFill>
                    <a:latin typeface="Arial"/>
                  </a:rPr>
                  <a:t>, </a:t>
                </a:r>
                <a:r>
                  <a:rPr lang="en-IN" sz="2400">
                    <a:solidFill>
                      <a:srgbClr val="111827"/>
                    </a:solidFill>
                    <a:latin typeface="Cambria Math" panose="02040503050406030204" pitchFamily="18" charset="0"/>
                  </a:rPr>
                  <a:t>$\vec w=(\vec a\cdot\vec c)\vec a+(\vec b\cdot\vec c)\vec b+(\vec c\cdot\vec c)\vec c$</a:t>
                </a:r>
                <a:r>
                  <a:rPr sz="2400" b="0">
                    <a:solidFill>
                      <a:srgbClr val="111827"/>
                    </a:solidFill>
                    <a:latin typeface="Arial"/>
                  </a:rPr>
                  <a:t> equals: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$\left(2\cos\frac\pi4-\sin\frac\pi3\right)^3$</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$\left(2\cos\frac\pi3-\sin\frac\pi3\right)^3$</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$\left(2\cos\frac\pi6-\sin\frac\pi6\right)^3$</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$\left(2\sin\frac\pi4-\cos\frac\pi3\right)^3$</a:t>
                </a:r>
                <a:endParaRPr sz="2400">
                  <a:solidFill>
                    <a:srgbClr val="111827"/>
                  </a:solidFill>
                </a:endParaRPr>
              </a:p>
            </p:txBody>
          </p:sp>
        </mc:Fallback>
      </mc:AlternateContent>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Scalar triple product of vectors built from a Gram matrix</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𝑢</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𝑣</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𝑤</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is the Gram determinant times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the Gram determinant is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so the volume is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3</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$[\vec u\ \vec v\ \vec w]$</a:t>
                </a:r>
                <a:r>
                  <a:rPr sz="2400" b="0">
                    <a:solidFill>
                      <a:srgbClr val="78350F"/>
                    </a:solidFill>
                    <a:latin typeface="Arial"/>
                  </a:rPr>
                  <a:t> is the Gram determinant times </a:t>
                </a:r>
                <a:r>
                  <a:rPr lang="en-IN" sz="2400">
                    <a:solidFill>
                      <a:srgbClr val="78350F"/>
                    </a:solidFill>
                    <a:latin typeface="Cambria Math" panose="02040503050406030204" pitchFamily="18" charset="0"/>
                  </a:rPr>
                  <a:t>$[\vec a\ \vec b\ \vec c]$</a:t>
                </a:r>
                <a:r>
                  <a:rPr sz="2400" b="0">
                    <a:solidFill>
                      <a:srgbClr val="78350F"/>
                    </a:solidFill>
                    <a:latin typeface="Arial"/>
                  </a:rPr>
                  <a:t>, and the Gram determinant is </a:t>
                </a:r>
                <a:r>
                  <a:rPr lang="en-IN" sz="2400">
                    <a:solidFill>
                      <a:srgbClr val="78350F"/>
                    </a:solidFill>
                    <a:latin typeface="Cambria Math" panose="02040503050406030204" pitchFamily="18" charset="0"/>
                  </a:rPr>
                  <a:t>$[\vec a\ \vec b\ \vec c]^2$</a:t>
                </a:r>
                <a:r>
                  <a:rPr sz="2400" b="0">
                    <a:solidFill>
                      <a:srgbClr val="78350F"/>
                    </a:solidFill>
                    <a:latin typeface="Arial"/>
                  </a:rPr>
                  <a:t>, so the volume is </a:t>
                </a:r>
                <a:r>
                  <a:rPr lang="en-IN" sz="2400">
                    <a:solidFill>
                      <a:srgbClr val="78350F"/>
                    </a:solidFill>
                    <a:latin typeface="Cambria Math" panose="02040503050406030204" pitchFamily="18" charset="0"/>
                  </a:rPr>
                  <a:t>$[\vec a\ \vec b\ \vec c]^3$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coefficients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in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oMath>
                </a14:m>
                <a:r>
                  <a:rPr sz="2400" b="0">
                    <a:solidFill>
                      <a:srgbClr val="111827"/>
                    </a:solidFill>
                    <a:latin typeface="Arial"/>
                  </a:rPr>
                  <a:t> form the Gram matrix,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mr>
                          <m:m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mr>
                          <m:m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mr>
                        </m:m>
                      </m:e>
                    </m:d>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coefficients of </a:t>
                </a:r>
                <a:r>
                  <a:rPr lang="en-IN" sz="2400">
                    <a:solidFill>
                      <a:srgbClr val="111827"/>
                    </a:solidFill>
                    <a:latin typeface="Cambria Math" panose="02040503050406030204" pitchFamily="18" charset="0"/>
                  </a:rPr>
                  <a:t>$\vec a,\vec b,\vec c$</a:t>
                </a:r>
                <a:r>
                  <a:rPr sz="2400" b="0">
                    <a:solidFill>
                      <a:srgbClr val="111827"/>
                    </a:solidFill>
                    <a:latin typeface="Arial"/>
                  </a:rPr>
                  <a:t> in </a:t>
                </a:r>
                <a:r>
                  <a:rPr lang="en-IN" sz="2400">
                    <a:solidFill>
                      <a:srgbClr val="111827"/>
                    </a:solidFill>
                    <a:latin typeface="Cambria Math" panose="02040503050406030204" pitchFamily="18" charset="0"/>
                  </a:rPr>
                  <a:t>$\vec u,\vec v,\vec w$</a:t>
                </a:r>
                <a:r>
                  <a:rPr sz="2400" b="0">
                    <a:solidFill>
                      <a:srgbClr val="111827"/>
                    </a:solidFill>
                    <a:latin typeface="Arial"/>
                  </a:rPr>
                  <a:t> form the Gram matrix, so </a:t>
                </a:r>
                <a:r>
                  <a:rPr lang="en-IN" sz="2400">
                    <a:solidFill>
                      <a:srgbClr val="111827"/>
                    </a:solidFill>
                    <a:latin typeface="Cambria Math" panose="02040503050406030204" pitchFamily="18" charset="0"/>
                  </a:rPr>
                  <a:t>$[\vec u\ \vec v\ \vec w]=\left|\begin{matrix}\vec a\cdot\vec a&amp;\vec a\cdot\vec b&amp;\vec a\cdot\vec c\\\vec b\cdot\vec a&amp;\vec b\cdot\vec b&amp;\vec b\cdot\vec c\\\vec c\cdot\vec a&amp;\vec c\cdot\vec b&amp;\vec c\cdot\vec c\end{matrix}\right|[\vec a\ \vec b\ \vec 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Gram determinant equals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hence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e>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e>
                            <m:e>
                              <m:r>
                                <a:rPr lang="en-IN" sz="2400" i="1">
                                  <a:solidFill>
                                    <a:srgbClr val="111827"/>
                                  </a:solidFill>
                                  <a:latin typeface="Cambria Math" panose="02040503050406030204" pitchFamily="18" charset="0"/>
                                </a:rPr>
                                <m:t>0</m:t>
                              </m:r>
                            </m:e>
                          </m:mr>
                          <m:mr>
                            <m:e>
                              <m:r>
                                <a:rPr lang="en-IN" sz="2400" i="1">
                                  <a:solidFill>
                                    <a:srgbClr val="111827"/>
                                  </a:solidFill>
                                  <a:latin typeface="Cambria Math" panose="02040503050406030204" pitchFamily="18" charset="0"/>
                                </a:rPr>
                                <m:t>0</m:t>
                              </m:r>
                            </m:e>
                            <m:e>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3</m:t>
                              </m:r>
                            </m:e>
                          </m:mr>
                        </m:m>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e>
                        </m:d>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option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Gram determinant equals </a:t>
                </a:r>
                <a:r>
                  <a:rPr lang="en-IN" sz="2400">
                    <a:solidFill>
                      <a:srgbClr val="111827"/>
                    </a:solidFill>
                    <a:latin typeface="Cambria Math" panose="02040503050406030204" pitchFamily="18" charset="0"/>
                  </a:rPr>
                  <a:t>$[\vec a\ \vec b\ \vec c]^2$</a:t>
                </a:r>
                <a:r>
                  <a:rPr sz="2400" b="0">
                    <a:solidFill>
                      <a:srgbClr val="111827"/>
                    </a:solidFill>
                    <a:latin typeface="Arial"/>
                  </a:rPr>
                  <a:t>, hence </a:t>
                </a:r>
                <a:r>
                  <a:rPr lang="en-IN" sz="2400">
                    <a:solidFill>
                      <a:srgbClr val="111827"/>
                    </a:solidFill>
                    <a:latin typeface="Cambria Math" panose="02040503050406030204" pitchFamily="18" charset="0"/>
                  </a:rPr>
                  <a:t>$[\vec u\ \vec v\ \vec w]=[\vec a\ \vec b\ \vec c]^3$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a=\left(\frac12,\frac{\sqrt3}{2},0\right)$</a:t>
                </a:r>
                <a:r>
                  <a:rPr sz="2400" b="0">
                    <a:solidFill>
                      <a:srgbClr val="111827"/>
                    </a:solidFill>
                    <a:latin typeface="Arial"/>
                  </a:rPr>
                  <a:t>, </a:t>
                </a:r>
                <a:r>
                  <a:rPr lang="en-IN" sz="2400">
                    <a:solidFill>
                      <a:srgbClr val="111827"/>
                    </a:solidFill>
                    <a:latin typeface="Cambria Math" panose="02040503050406030204" pitchFamily="18" charset="0"/>
                  </a:rPr>
                  <a:t>$\vec b=\left(0,\frac{\sqrt3}{2},\frac12\right)$</a:t>
                </a:r>
                <a:r>
                  <a:rPr sz="2400" b="0">
                    <a:solidFill>
                      <a:srgbClr val="111827"/>
                    </a:solidFill>
                    <a:latin typeface="Arial"/>
                  </a:rPr>
                  <a:t>, </a:t>
                </a:r>
                <a:r>
                  <a:rPr lang="en-IN" sz="2400">
                    <a:solidFill>
                      <a:srgbClr val="111827"/>
                    </a:solidFill>
                    <a:latin typeface="Cambria Math" panose="02040503050406030204" pitchFamily="18" charset="0"/>
                  </a:rPr>
                  <a:t>$\vec c=(1,2,3)$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 \vec b\ \vec c]=\left|\begin{matrix}\frac12&amp;\frac{\sqrt3}{2}&amp;0\\0&amp;\frac{\sqrt3}{2}&amp;\frac12\\1&amp;2&amp;3\end{matrix}\right|=\frac12\left(\frac{3\sqrt3}{2}-1\right)-\frac{\sqrt3}{2}\left(0-\frac12\right)$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$=\frac{3\sqrt3}{4}-\frac12+\frac{\sqrt3}{4}=\sqrt3-\frac12=2\cos\frac\pi6-\sin\frac\pi6$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a:t>
                </a:r>
                <a:r>
                  <a:rPr lang="en-IN" sz="2400">
                    <a:solidFill>
                      <a:srgbClr val="111827"/>
                    </a:solidFill>
                    <a:latin typeface="Cambria Math" panose="02040503050406030204" pitchFamily="18" charset="0"/>
                  </a:rPr>
                  <a:t>$=[\vec a\ \vec b\ \vec c]^3=\left(2\cos\frac\pi6-\sin\frac\pi6\right)^3$</a:t>
                </a:r>
                <a:r>
                  <a:rPr sz="2400" b="0">
                    <a:solidFill>
                      <a:srgbClr val="111827"/>
                    </a:solidFill>
                    <a:latin typeface="Arial"/>
                  </a:rPr>
                  <a:t>, option (C).</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sSup>
                      <m:e>
                        <m:d>
                          <m:dPr>
                            <m:begChr m:val="("/>
                            <m:sepChr m:val=""/>
                            <m:endChr m:val=")"/>
                            <m:grow/>
                            <m:ctrlPr>
                              <a:rPr lang="en-IN" sz="2800" i="1">
                                <a:solidFill>
                                  <a:srgbClr val="15803D"/>
                                </a:solidFill>
                                <a:latin typeface="Cambria Math" panose="02040503050406030204" pitchFamily="18" charset="0"/>
                              </a:rPr>
                            </m:ctrlPr>
                          </m:dPr>
                          <m:e>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cos</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π</m:t>
                                </m:r>
                              </m:num>
                              <m:den>
                                <m:r>
                                  <a:rPr lang="en-IN" sz="2800" i="1">
                                    <a:solidFill>
                                      <a:srgbClr val="15803D"/>
                                    </a:solidFill>
                                    <a:latin typeface="Cambria Math" panose="02040503050406030204" pitchFamily="18" charset="0"/>
                                  </a:rPr>
                                  <m:t>6</m:t>
                                </m:r>
                              </m:den>
                            </m:f>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sin</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π</m:t>
                                </m:r>
                              </m:num>
                              <m:den>
                                <m:r>
                                  <a:rPr lang="en-IN" sz="2800" i="1">
                                    <a:solidFill>
                                      <a:srgbClr val="15803D"/>
                                    </a:solidFill>
                                    <a:latin typeface="Cambria Math" panose="02040503050406030204" pitchFamily="18" charset="0"/>
                                  </a:rPr>
                                  <m:t>6</m:t>
                                </m:r>
                              </m:den>
                            </m:f>
                          </m:e>
                        </m:d>
                      </m:e>
                      <m:sup>
                        <m:r>
                          <a:rPr lang="en-IN" sz="2800" i="1">
                            <a:solidFill>
                              <a:srgbClr val="15803D"/>
                            </a:solidFill>
                            <a:latin typeface="Cambria Math" panose="02040503050406030204" pitchFamily="18" charset="0"/>
                          </a:rPr>
                          <m:t>3</m:t>
                        </m:r>
                      </m:sup>
                    </m:sSup>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$\left(2\cos\frac\pi6-\sin\frac\pi6\right)^3$</a:t>
                </a:r>
                <a:endParaRPr sz="2800">
                  <a:solidFill>
                    <a:srgbClr val="15803D"/>
                  </a:solidFill>
                </a:endParaRPr>
              </a:p>
            </p:txBody>
          </p:sp>
        </mc:Fallback>
      </mc:AlternateContent>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Evaluate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as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instead of expanding the determinant.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Evaluate </a:t>
                </a:r>
                <a:r>
                  <a:rPr lang="en-IN" sz="2400">
                    <a:solidFill>
                      <a:srgbClr val="78350F"/>
                    </a:solidFill>
                    <a:latin typeface="Cambria Math" panose="02040503050406030204" pitchFamily="18" charset="0"/>
                  </a:rPr>
                  <a:t>$[\vec a\ \vec b\ \vec c]$</a:t>
                </a:r>
                <a:r>
                  <a:rPr sz="2400" b="0">
                    <a:solidFill>
                      <a:srgbClr val="78350F"/>
                    </a:solidFill>
                    <a:latin typeface="Arial"/>
                  </a:rPr>
                  <a:t> as </a:t>
                </a:r>
                <a:r>
                  <a:rPr lang="en-IN" sz="2400">
                    <a:solidFill>
                      <a:srgbClr val="78350F"/>
                    </a:solidFill>
                    <a:latin typeface="Cambria Math" panose="02040503050406030204" pitchFamily="18" charset="0"/>
                  </a:rPr>
                  <a:t>$\vec c\cdot(\vec a\times\vec b)$</a:t>
                </a:r>
                <a:r>
                  <a:rPr sz="2400" b="0">
                    <a:solidFill>
                      <a:srgbClr val="78350F"/>
                    </a:solidFill>
                    <a:latin typeface="Arial"/>
                  </a:rPr>
                  <a:t> instead of expanding the determinant.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so the required volume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e>
                        </m:d>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(option C).</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b=\left(\frac{\sqrt3}{2}\cdot\frac12-0,\ 0\cdot0-\frac12\cdot\frac12,\ \frac12\cdot\frac{\sqrt3}{2}-0\right)=\left(\frac{\sqrt3}{4},-\frac14,\frac{\sqrt3}{4}\right)$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c\cdot(\vec a\times\vec b)=\frac{\sqrt3}{4}-\frac24+\frac{3\sqrt3}{4}=\sqrt3-\frac12$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$\sqrt3-\frac12=2\cos\frac\pi6-\sin\frac\pi6$</a:t>
                </a:r>
                <a:r>
                  <a:rPr sz="2400" b="0">
                    <a:solidFill>
                      <a:srgbClr val="111827"/>
                    </a:solidFill>
                    <a:latin typeface="Arial"/>
                  </a:rPr>
                  <a:t>, so the required volume </a:t>
                </a:r>
                <a:r>
                  <a:rPr lang="en-IN" sz="2400">
                    <a:solidFill>
                      <a:srgbClr val="111827"/>
                    </a:solidFill>
                    <a:latin typeface="Cambria Math" panose="02040503050406030204" pitchFamily="18" charset="0"/>
                  </a:rPr>
                  <a:t>$[\vec a\ \vec b\ \vec c]^3=\left(2\cos\frac\pi6-\sin\frac\pi6\right)^3$</a:t>
                </a:r>
                <a:r>
                  <a:rPr sz="2400" b="0">
                    <a:solidFill>
                      <a:srgbClr val="111827"/>
                    </a:solidFill>
                    <a:latin typeface="Arial"/>
                  </a:rPr>
                  <a:t> (option C).</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sSup>
                      <m:e>
                        <m:d>
                          <m:dPr>
                            <m:begChr m:val="("/>
                            <m:sepChr m:val=""/>
                            <m:endChr m:val=")"/>
                            <m:grow/>
                            <m:ctrlPr>
                              <a:rPr lang="en-IN" sz="2800" i="1">
                                <a:solidFill>
                                  <a:srgbClr val="15803D"/>
                                </a:solidFill>
                                <a:latin typeface="Cambria Math" panose="02040503050406030204" pitchFamily="18" charset="0"/>
                              </a:rPr>
                            </m:ctrlPr>
                          </m:dPr>
                          <m:e>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cos</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π</m:t>
                                </m:r>
                              </m:num>
                              <m:den>
                                <m:r>
                                  <a:rPr lang="en-IN" sz="2800" i="1">
                                    <a:solidFill>
                                      <a:srgbClr val="15803D"/>
                                    </a:solidFill>
                                    <a:latin typeface="Cambria Math" panose="02040503050406030204" pitchFamily="18" charset="0"/>
                                  </a:rPr>
                                  <m:t>6</m:t>
                                </m:r>
                              </m:den>
                            </m:f>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sin</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π</m:t>
                                </m:r>
                              </m:num>
                              <m:den>
                                <m:r>
                                  <a:rPr lang="en-IN" sz="2800" i="1">
                                    <a:solidFill>
                                      <a:srgbClr val="15803D"/>
                                    </a:solidFill>
                                    <a:latin typeface="Cambria Math" panose="02040503050406030204" pitchFamily="18" charset="0"/>
                                  </a:rPr>
                                  <m:t>6</m:t>
                                </m:r>
                              </m:den>
                            </m:f>
                          </m:e>
                        </m:d>
                      </m:e>
                      <m:sup>
                        <m:r>
                          <a:rPr lang="en-IN" sz="2800" i="1">
                            <a:solidFill>
                              <a:srgbClr val="15803D"/>
                            </a:solidFill>
                            <a:latin typeface="Cambria Math" panose="02040503050406030204" pitchFamily="18" charset="0"/>
                          </a:rPr>
                          <m:t>3</m:t>
                        </m:r>
                      </m:sup>
                    </m:sSup>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$\left(2\cos\frac\pi6-\sin\frac\pi6\right)^3$</a:t>
                </a:r>
                <a:endParaRPr sz="2800">
                  <a:solidFill>
                    <a:srgbClr val="15803D"/>
                  </a:solidFill>
                </a:endParaRPr>
              </a:p>
            </p:txBody>
          </p:sp>
        </mc:Fallback>
      </mc:AlternateContent>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𝐺</m:t>
                        </m:r>
                      </m:e>
                      <m:sub>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𝑗</m:t>
                        </m:r>
                      </m:sub>
                    </m:sSub>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𝑗</m:t>
                        </m:r>
                      </m:sub>
                    </m:sSub>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𝐺</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𝑗</m:t>
                        </m:r>
                      </m:sub>
                    </m:sSub>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𝑗</m:t>
                        </m:r>
                      </m:sub>
                    </m:sSub>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𝐺</m:t>
                        </m:r>
                      </m:e>
                      <m:sub>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𝑗</m:t>
                        </m:r>
                      </m:sub>
                    </m:sSub>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𝑗</m:t>
                        </m:r>
                      </m:sub>
                    </m:sSub>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the Gram matrix of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3</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Gram determinant: </a:t>
                </a:r>
                <a14:m>
                  <m:oMath xmlns:m="http://schemas.openxmlformats.org/officeDocument/2006/math">
                    <m:r>
                      <m:rPr>
                        <m:sty m:val="p"/>
                      </m:rPr>
                      <a:rPr lang="en-IN" sz="2400">
                        <a:solidFill>
                          <a:srgbClr val="111827"/>
                        </a:solidFill>
                        <a:latin typeface="Cambria Math" panose="02040503050406030204" pitchFamily="18" charset="0"/>
                      </a:rPr>
                      <m:t>det</m:t>
                    </m:r>
                    <m:d>
                      <m:dPr>
                        <m:begChr m:val="("/>
                        <m:sepChr m:val=""/>
                        <m:endChr m:val=")"/>
                        <m:grow/>
                        <m:ctrlPr>
                          <a:rPr lang="en-IN" sz="2400" i="1">
                            <a:solidFill>
                              <a:srgbClr val="111827"/>
                            </a:solidFill>
                            <a:latin typeface="Cambria Math" panose="02040503050406030204" pitchFamily="18" charset="0"/>
                          </a:rPr>
                        </m:ctrlPr>
                      </m:dPr>
                      <m:e>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𝑗</m:t>
                            </m:r>
                          </m:sub>
                        </m:sSub>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3</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Combinations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oMath>
                </a14:m>
                <a:r>
                  <a:rPr sz="2400" b="0">
                    <a:solidFill>
                      <a:srgbClr val="111827"/>
                    </a:solidFill>
                    <a:latin typeface="Arial"/>
                  </a:rPr>
                  <a:t>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𝑐𝑜𝑒𝑓𝑓𝑖𝑐𝑖𝑒𝑛𝑡 𝑚𝑎𝑡𝑟𝑖𝑥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here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1.232</m:t>
                    </m:r>
                  </m:oMath>
                </a14:m>
                <a:r>
                  <a:rPr sz="2400" b="0">
                    <a:solidFill>
                      <a:srgbClr val="111827"/>
                    </a:solidFill>
                    <a:latin typeface="Arial"/>
                  </a:rPr>
                  <a:t>, cube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1.870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u=\sum G_{1j}\vec e_j$</a:t>
                </a:r>
                <a:r>
                  <a:rPr sz="2400" b="0">
                    <a:solidFill>
                      <a:srgbClr val="111827"/>
                    </a:solidFill>
                    <a:latin typeface="Arial"/>
                  </a:rPr>
                  <a:t>, </a:t>
                </a:r>
                <a:r>
                  <a:rPr lang="en-IN" sz="2400">
                    <a:solidFill>
                      <a:srgbClr val="111827"/>
                    </a:solidFill>
                    <a:latin typeface="Cambria Math" panose="02040503050406030204" pitchFamily="18" charset="0"/>
                  </a:rPr>
                  <a:t>$\vec v=\sum G_{2j}\vec e_j$</a:t>
                </a:r>
                <a:r>
                  <a:rPr sz="2400" b="0">
                    <a:solidFill>
                      <a:srgbClr val="111827"/>
                    </a:solidFill>
                    <a:latin typeface="Arial"/>
                  </a:rPr>
                  <a:t>, </a:t>
                </a:r>
                <a:r>
                  <a:rPr lang="en-IN" sz="2400">
                    <a:solidFill>
                      <a:srgbClr val="111827"/>
                    </a:solidFill>
                    <a:latin typeface="Cambria Math" panose="02040503050406030204" pitchFamily="18" charset="0"/>
                  </a:rPr>
                  <a:t>$\vec w=\sum G_{3j}\vec e_j$</a:t>
                </a:r>
                <a:r>
                  <a:rPr sz="2400" b="0">
                    <a:solidFill>
                      <a:srgbClr val="111827"/>
                    </a:solidFill>
                    <a:latin typeface="Arial"/>
                  </a:rPr>
                  <a:t> with </a:t>
                </a:r>
                <a:r>
                  <a:rPr lang="en-IN" sz="2400">
                    <a:solidFill>
                      <a:srgbClr val="111827"/>
                    </a:solidFill>
                    <a:latin typeface="Cambria Math" panose="02040503050406030204" pitchFamily="18" charset="0"/>
                  </a:rPr>
                  <a:t>$G$</a:t>
                </a:r>
                <a:r>
                  <a:rPr sz="2400" b="0">
                    <a:solidFill>
                      <a:srgbClr val="111827"/>
                    </a:solidFill>
                    <a:latin typeface="Arial"/>
                  </a:rPr>
                  <a:t> the Gram matrix of </a:t>
                </a:r>
                <a:r>
                  <a:rPr lang="en-IN" sz="2400">
                    <a:solidFill>
                      <a:srgbClr val="111827"/>
                    </a:solidFill>
                    <a:latin typeface="Cambria Math" panose="02040503050406030204" pitchFamily="18" charset="0"/>
                  </a:rPr>
                  <a:t>$\vec e_1,\vec e_2,\vec e_3$</a:t>
                </a:r>
                <a:r>
                  <a:rPr sz="2400" b="0">
                    <a:solidFill>
                      <a:srgbClr val="111827"/>
                    </a:solidFill>
                    <a:latin typeface="Arial"/>
                  </a:rPr>
                  <a:t>, then </a:t>
                </a:r>
                <a:r>
                  <a:rPr lang="en-IN" sz="2400">
                    <a:solidFill>
                      <a:srgbClr val="111827"/>
                    </a:solidFill>
                    <a:latin typeface="Cambria Math" panose="02040503050406030204" pitchFamily="18" charset="0"/>
                  </a:rPr>
                  <a:t>$[\vec u\ \vec v\ \vec w]=\det G\cdot[\vec e_1\ \vec e_2\ \vec e_3]=[\vec e_1\ \vec e_2\ \vec e_3]^3$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Gram determinant: </a:t>
                </a:r>
                <a:r>
                  <a:rPr lang="en-IN" sz="2400">
                    <a:solidFill>
                      <a:srgbClr val="111827"/>
                    </a:solidFill>
                    <a:latin typeface="Cambria Math" panose="02040503050406030204" pitchFamily="18" charset="0"/>
                  </a:rPr>
                  <a:t>$\det\left(\vec e_i\cdot\vec e_j\right)=[\vec e_1\ \vec e_2\ \vec e_3]^2$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Combinations </a:t>
                </a:r>
                <a:r>
                  <a:rPr lang="en-IN" sz="2400">
                    <a:solidFill>
                      <a:srgbClr val="111827"/>
                    </a:solidFill>
                    <a:latin typeface="Cambria Math" panose="02040503050406030204" pitchFamily="18" charset="0"/>
                  </a:rPr>
                  <a:t>$\vec u,\vec v,\vec w$</a:t>
                </a:r>
                <a:r>
                  <a:rPr sz="2400" b="0">
                    <a:solidFill>
                      <a:srgbClr val="111827"/>
                    </a:solidFill>
                    <a:latin typeface="Arial"/>
                  </a:rPr>
                  <a:t> of </a:t>
                </a:r>
                <a:r>
                  <a:rPr lang="en-IN" sz="2400">
                    <a:solidFill>
                      <a:srgbClr val="111827"/>
                    </a:solidFill>
                    <a:latin typeface="Cambria Math" panose="02040503050406030204" pitchFamily="18" charset="0"/>
                  </a:rPr>
                  <a:t>$\vec a,\vec b,\vec c$</a:t>
                </a:r>
                <a:r>
                  <a:rPr sz="2400" b="0">
                    <a:solidFill>
                      <a:srgbClr val="111827"/>
                    </a:solidFill>
                    <a:latin typeface="Arial"/>
                  </a:rPr>
                  <a:t>: </a:t>
                </a:r>
                <a:r>
                  <a:rPr lang="en-IN" sz="2400">
                    <a:solidFill>
                      <a:srgbClr val="111827"/>
                    </a:solidFill>
                    <a:latin typeface="Cambria Math" panose="02040503050406030204" pitchFamily="18" charset="0"/>
                  </a:rPr>
                  <a:t>$[\vec u\ \vec v\ \vec w]=\det(\text{coefficient matrix})\,[\vec a\ \vec b\ \vec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here </a:t>
                </a:r>
                <a:r>
                  <a:rPr lang="en-IN" sz="2400">
                    <a:solidFill>
                      <a:srgbClr val="111827"/>
                    </a:solidFill>
                    <a:latin typeface="Cambria Math" panose="02040503050406030204" pitchFamily="18" charset="0"/>
                  </a:rPr>
                  <a:t>$\sqrt3-\frac12\approx1.232$</a:t>
                </a:r>
                <a:r>
                  <a:rPr sz="2400" b="0">
                    <a:solidFill>
                      <a:srgbClr val="111827"/>
                    </a:solidFill>
                    <a:latin typeface="Arial"/>
                  </a:rPr>
                  <a:t>, cube </a:t>
                </a:r>
                <a:r>
                  <a:rPr lang="en-IN" sz="2400">
                    <a:solidFill>
                      <a:srgbClr val="111827"/>
                    </a:solidFill>
                    <a:latin typeface="Cambria Math" panose="02040503050406030204" pitchFamily="18" charset="0"/>
                  </a:rPr>
                  <a:t>$\approx1.870$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1813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be two unit vectors. The maximum value of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4</m:t>
                    </m:r>
                  </m:oMath>
                </a14:m>
                <a:endParaRPr sz="2400">
                  <a:solidFill>
                    <a:srgbClr val="111827"/>
                  </a:solidFill>
                </a:endParaRPr>
              </a:p>
            </p:txBody>
          </p:sp>
        </mc:Choice>
        <mc:Fallback>
          <p:sp>
            <p:nvSpPr>
              <p:cNvPr id="4" name="Rounded Rectangle 3"/>
              <p:cNvSpPr/>
              <p:nvPr/>
            </p:nvSpPr>
            <p:spPr>
              <a:xfrm>
                <a:off x="731520" y="1280160"/>
                <a:ext cx="10725912" cy="21813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 a$</a:t>
                </a:r>
                <a:r>
                  <a:rPr sz="2400" b="0">
                    <a:solidFill>
                      <a:srgbClr val="111827"/>
                    </a:solidFill>
                    <a:latin typeface="Arial"/>
                  </a:rPr>
                  <a:t> and </a:t>
                </a:r>
                <a:r>
                  <a:rPr lang="en-IN" sz="2400">
                    <a:solidFill>
                      <a:srgbClr val="111827"/>
                    </a:solidFill>
                    <a:latin typeface="Cambria Math" panose="02040503050406030204" pitchFamily="18" charset="0"/>
                  </a:rPr>
                  <a:t>$\vec b$</a:t>
                </a:r>
                <a:r>
                  <a:rPr sz="2400" b="0">
                    <a:solidFill>
                      <a:srgbClr val="111827"/>
                    </a:solidFill>
                    <a:latin typeface="Arial"/>
                  </a:rPr>
                  <a:t> be two unit vectors. The maximum value of </a:t>
                </a:r>
                <a:r>
                  <a:rPr lang="en-IN" sz="2400">
                    <a:solidFill>
                      <a:srgbClr val="111827"/>
                    </a:solidFill>
                    <a:latin typeface="Cambria Math" panose="02040503050406030204" pitchFamily="18" charset="0"/>
                  </a:rPr>
                  <a:t>$\frac{|\vec a+\vec b|^2-|\vec a-\vec b|^2}{|\vec a+\vec b|^2+|\vec a-\vec b|^2}$</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$1/2$</a:t>
                </a:r>
                <a:r>
                  <a:rPr sz="2400" b="0">
                    <a:solidFill>
                      <a:srgbClr val="111827"/>
                    </a:solidFill>
                    <a:latin typeface="Arial"/>
                  </a:rPr>
                  <a:t>   (B) </a:t>
                </a:r>
                <a:r>
                  <a:rPr lang="en-IN" sz="2400">
                    <a:solidFill>
                      <a:srgbClr val="111827"/>
                    </a:solidFill>
                    <a:latin typeface="Cambria Math" panose="02040503050406030204" pitchFamily="18" charset="0"/>
                  </a:rPr>
                  <a:t>$1$</a:t>
                </a:r>
                <a:r>
                  <a:rPr sz="2400" b="0">
                    <a:solidFill>
                      <a:srgbClr val="111827"/>
                    </a:solidFill>
                    <a:latin typeface="Arial"/>
                  </a:rPr>
                  <a:t>   (C) </a:t>
                </a:r>
                <a:r>
                  <a:rPr lang="en-IN" sz="2400">
                    <a:solidFill>
                      <a:srgbClr val="111827"/>
                    </a:solidFill>
                    <a:latin typeface="Cambria Math" panose="02040503050406030204" pitchFamily="18" charset="0"/>
                  </a:rPr>
                  <a:t>$2$</a:t>
                </a:r>
                <a:r>
                  <a:rPr sz="2400" b="0">
                    <a:solidFill>
                      <a:srgbClr val="111827"/>
                    </a:solidFill>
                    <a:latin typeface="Arial"/>
                  </a:rPr>
                  <a:t>   (D) </a:t>
                </a:r>
                <a:r>
                  <a:rPr lang="en-IN" sz="2400">
                    <a:solidFill>
                      <a:srgbClr val="111827"/>
                    </a:solidFill>
                    <a:latin typeface="Cambria Math" panose="02040503050406030204" pitchFamily="18" charset="0"/>
                  </a:rPr>
                  <a:t>$4$</a:t>
                </a:r>
                <a:endParaRPr sz="2400">
                  <a:solidFill>
                    <a:srgbClr val="111827"/>
                  </a:solidFill>
                </a:endParaRPr>
              </a:p>
            </p:txBody>
          </p:sp>
        </mc:Fallback>
      </mc:AlternateContent>
      <p:sp>
        <p:nvSpPr>
          <p:cNvPr id="5" name="Rectangle 4"/>
          <p:cNvSpPr/>
          <p:nvPr/>
        </p:nvSpPr>
        <p:spPr>
          <a:xfrm>
            <a:off x="731520" y="3690111"/>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Parallelogram law for unit vectors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73761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unit vectors the ratio simplifies to </a:t>
                </a:r>
                <a14:m>
                  <m:oMath xmlns:m="http://schemas.openxmlformats.org/officeDocument/2006/math">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73761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unit vectors the ratio simplifies to </a:t>
                </a:r>
                <a:r>
                  <a:rPr lang="en-IN" sz="2400">
                    <a:solidFill>
                      <a:srgbClr val="78350F"/>
                    </a:solidFill>
                    <a:latin typeface="Cambria Math" panose="02040503050406030204" pitchFamily="18" charset="0"/>
                  </a:rPr>
                  <a:t>$\cos\theta$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154936"/>
                <a:ext cx="10725912" cy="452018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be the angle between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154936"/>
                <a:ext cx="10725912" cy="452018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$\theta$</a:t>
                </a:r>
                <a:r>
                  <a:rPr sz="2400" b="0">
                    <a:solidFill>
                      <a:srgbClr val="111827"/>
                    </a:solidFill>
                    <a:latin typeface="Arial"/>
                  </a:rPr>
                  <a:t> be the angle between </a:t>
                </a:r>
                <a:r>
                  <a:rPr lang="en-IN" sz="2400">
                    <a:solidFill>
                      <a:srgbClr val="111827"/>
                    </a:solidFill>
                    <a:latin typeface="Cambria Math" panose="02040503050406030204" pitchFamily="18" charset="0"/>
                  </a:rPr>
                  <a:t>$\vec a$</a:t>
                </a:r>
                <a:r>
                  <a:rPr sz="2400" b="0">
                    <a:solidFill>
                      <a:srgbClr val="111827"/>
                    </a:solidFill>
                    <a:latin typeface="Arial"/>
                  </a:rPr>
                  <a:t> and </a:t>
                </a:r>
                <a:r>
                  <a:rPr lang="en-IN" sz="2400">
                    <a:solidFill>
                      <a:srgbClr val="111827"/>
                    </a:solidFill>
                    <a:latin typeface="Cambria Math" panose="02040503050406030204" pitchFamily="18" charset="0"/>
                  </a:rPr>
                  <a:t>$\vec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b|^2=2+2\cos\theta=4\cos^2\frac\theta2$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b|^2=2-2\cos\theta=4\sin^2\frac\theta2$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Clearly the maximum value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attained when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option (B).</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$\therefore\frac{|\vec a+\vec b|^2-|\vec a-\vec b|^2}{|\vec a+\vec b|^2+|\vec a-\vec b|^2}=\frac{4\cos\theta}{4}=\cos\theta$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Clearly the maximum value is </a:t>
                </a:r>
                <a:r>
                  <a:rPr lang="en-IN" sz="2400">
                    <a:solidFill>
                      <a:srgbClr val="111827"/>
                    </a:solidFill>
                    <a:latin typeface="Cambria Math" panose="02040503050406030204" pitchFamily="18" charset="0"/>
                  </a:rPr>
                  <a:t>$1$</a:t>
                </a:r>
                <a:r>
                  <a:rPr sz="2400" b="0">
                    <a:solidFill>
                      <a:srgbClr val="111827"/>
                    </a:solidFill>
                    <a:latin typeface="Arial"/>
                  </a:rPr>
                  <a:t>, attained when </a:t>
                </a:r>
                <a:r>
                  <a:rPr lang="en-IN" sz="2400">
                    <a:solidFill>
                      <a:srgbClr val="111827"/>
                    </a:solidFill>
                    <a:latin typeface="Cambria Math" panose="02040503050406030204" pitchFamily="18" charset="0"/>
                  </a:rPr>
                  <a:t>$\theta=0$</a:t>
                </a:r>
                <a:r>
                  <a:rPr sz="2400" b="0">
                    <a:solidFill>
                      <a:srgbClr val="111827"/>
                    </a:solidFill>
                    <a:latin typeface="Arial"/>
                  </a:rPr>
                  <a:t> (i.e. </a:t>
                </a:r>
                <a:r>
                  <a:rPr lang="en-IN" sz="2400">
                    <a:solidFill>
                      <a:srgbClr val="111827"/>
                    </a:solidFill>
                    <a:latin typeface="Cambria Math" panose="02040503050406030204" pitchFamily="18" charset="0"/>
                  </a:rPr>
                  <a:t>$\vec a=\vec b$</a:t>
                </a:r>
                <a:r>
                  <a:rPr sz="2400" b="0">
                    <a:solidFill>
                      <a:srgbClr val="111827"/>
                    </a:solidFill>
                    <a:latin typeface="Arial"/>
                  </a:rPr>
                  <a:t>), option (B).</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1</a:t>
            </a:r>
            <a:endParaRPr sz="2800">
              <a:solidFill>
                <a:srgbClr val="15803D"/>
              </a:solidFill>
            </a:endParaRP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parallelogram law: the sum of the two squares is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 and the difference is </a:t>
                </a:r>
                <a14:m>
                  <m:oMath xmlns:m="http://schemas.openxmlformats.org/officeDocument/2006/math">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parallelogram law: the sum of the two squares is </a:t>
                </a:r>
                <a:r>
                  <a:rPr lang="en-IN" sz="2400">
                    <a:solidFill>
                      <a:srgbClr val="78350F"/>
                    </a:solidFill>
                    <a:latin typeface="Cambria Math" panose="02040503050406030204" pitchFamily="18" charset="0"/>
                  </a:rPr>
                  <a:t>$2(|\vec a|^2+|\vec b|^2)=4$</a:t>
                </a:r>
                <a:r>
                  <a:rPr sz="2400" b="0">
                    <a:solidFill>
                      <a:srgbClr val="78350F"/>
                    </a:solidFill>
                    <a:latin typeface="Arial"/>
                  </a:rPr>
                  <a:t> and the difference is </a:t>
                </a:r>
                <a:r>
                  <a:rPr lang="en-IN" sz="2400">
                    <a:solidFill>
                      <a:srgbClr val="78350F"/>
                    </a:solidFill>
                    <a:latin typeface="Cambria Math" panose="02040503050406030204" pitchFamily="18" charset="0"/>
                  </a:rPr>
                  <a:t>$4\,\vec a\cdot\vec 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(parallelogram law).</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ratio is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(Cauchy-Schwarz), with equality for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Maximum value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option (B).</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b|^2+|\vec a-\vec b|^2=2(|\vec a|^2+|\vec b|^2)=4$</a:t>
                </a:r>
                <a:r>
                  <a:rPr sz="2400" b="0">
                    <a:solidFill>
                      <a:srgbClr val="111827"/>
                    </a:solidFill>
                    <a:latin typeface="Arial"/>
                  </a:rPr>
                  <a:t> (parallelogram law).</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b|^2-|\vec a-\vec b|^2=4\,\vec a\cdot\vec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ratio is </a:t>
                </a:r>
                <a:r>
                  <a:rPr lang="en-IN" sz="2400">
                    <a:solidFill>
                      <a:srgbClr val="111827"/>
                    </a:solidFill>
                    <a:latin typeface="Cambria Math" panose="02040503050406030204" pitchFamily="18" charset="0"/>
                  </a:rPr>
                  <a:t>$\vec a\cdot\vec b\le|\vec a||\vec b|=1$</a:t>
                </a:r>
                <a:r>
                  <a:rPr sz="2400" b="0">
                    <a:solidFill>
                      <a:srgbClr val="111827"/>
                    </a:solidFill>
                    <a:latin typeface="Arial"/>
                  </a:rPr>
                  <a:t> (Cauchy-Schwarz), with equality for </a:t>
                </a:r>
                <a:r>
                  <a:rPr lang="en-IN" sz="2400">
                    <a:solidFill>
                      <a:srgbClr val="111827"/>
                    </a:solidFill>
                    <a:latin typeface="Cambria Math" panose="02040503050406030204" pitchFamily="18" charset="0"/>
                  </a:rPr>
                  <a:t>$\vec a=\vec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Maximum value </a:t>
                </a:r>
                <a:r>
                  <a:rPr lang="en-IN" sz="2400">
                    <a:solidFill>
                      <a:srgbClr val="111827"/>
                    </a:solidFill>
                    <a:latin typeface="Cambria Math" panose="02040503050406030204" pitchFamily="18" charset="0"/>
                  </a:rPr>
                  <a:t>$=1$</a:t>
                </a:r>
                <a:r>
                  <a:rPr sz="2400" b="0">
                    <a:solidFill>
                      <a:srgbClr val="111827"/>
                    </a:solidFill>
                    <a:latin typeface="Arial"/>
                  </a:rPr>
                  <a:t>: option (B).</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1</a:t>
            </a:r>
            <a:endParaRPr sz="2800">
              <a:solidFill>
                <a:srgbClr val="15803D"/>
              </a:solidFill>
            </a:endParaRP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which equals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for equal-length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Maximum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for fixed lengths is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(when parallel).</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b|^2+|\vec a-\vec b|^2=2(|\vec a|^2+|\vec b|^2)$</a:t>
                </a:r>
                <a:r>
                  <a:rPr sz="2400" b="0">
                    <a:solidFill>
                      <a:srgbClr val="111827"/>
                    </a:solidFill>
                    <a:latin typeface="Arial"/>
                  </a:rPr>
                  <a:t> and </a:t>
                </a:r>
                <a:r>
                  <a:rPr lang="en-IN" sz="2400">
                    <a:solidFill>
                      <a:srgbClr val="111827"/>
                    </a:solidFill>
                    <a:latin typeface="Cambria Math" panose="02040503050406030204" pitchFamily="18" charset="0"/>
                  </a:rPr>
                  <a:t>$|\vec a+\vec b|^2-|\vec a-\vec b|^2=4\,\vec a\cdot\vec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$\frac{|\vec a+\vec b|^2-|\vec a-\vec b|^2}{|\vec a+\vec b|^2+|\vec a-\vec b|^2}=\frac{2\,\vec a\cdot\vec b}{|\vec a|^2+|\vec b|^2}$</a:t>
                </a:r>
                <a:r>
                  <a:rPr sz="2400" b="0">
                    <a:solidFill>
                      <a:srgbClr val="111827"/>
                    </a:solidFill>
                    <a:latin typeface="Arial"/>
                  </a:rPr>
                  <a:t>, which equals </a:t>
                </a:r>
                <a:r>
                  <a:rPr lang="en-IN" sz="2400">
                    <a:solidFill>
                      <a:srgbClr val="111827"/>
                    </a:solidFill>
                    <a:latin typeface="Cambria Math" panose="02040503050406030204" pitchFamily="18" charset="0"/>
                  </a:rPr>
                  <a:t>$\cos\theta$</a:t>
                </a:r>
                <a:r>
                  <a:rPr sz="2400" b="0">
                    <a:solidFill>
                      <a:srgbClr val="111827"/>
                    </a:solidFill>
                    <a:latin typeface="Arial"/>
                  </a:rPr>
                  <a:t> for equal-length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Maximum of </a:t>
                </a:r>
                <a:r>
                  <a:rPr lang="en-IN" sz="2400">
                    <a:solidFill>
                      <a:srgbClr val="111827"/>
                    </a:solidFill>
                    <a:latin typeface="Cambria Math" panose="02040503050406030204" pitchFamily="18" charset="0"/>
                  </a:rPr>
                  <a:t>$\vec a\cdot\vec b$</a:t>
                </a:r>
                <a:r>
                  <a:rPr sz="2400" b="0">
                    <a:solidFill>
                      <a:srgbClr val="111827"/>
                    </a:solidFill>
                    <a:latin typeface="Arial"/>
                  </a:rPr>
                  <a:t> for fixed lengths is </a:t>
                </a:r>
                <a:r>
                  <a:rPr lang="en-IN" sz="2400">
                    <a:solidFill>
                      <a:srgbClr val="111827"/>
                    </a:solidFill>
                    <a:latin typeface="Cambria Math" panose="02040503050406030204" pitchFamily="18" charset="0"/>
                  </a:rPr>
                  <a:t>$|\vec a||\vec b|$</a:t>
                </a:r>
                <a:r>
                  <a:rPr sz="2400" b="0">
                    <a:solidFill>
                      <a:srgbClr val="111827"/>
                    </a:solidFill>
                    <a:latin typeface="Arial"/>
                  </a:rPr>
                  <a:t> (when parallel).</a:t>
                </a:r>
                <a:endParaRPr sz="2400">
                  <a:solidFill>
                    <a:srgbClr val="111827"/>
                  </a:solidFill>
                </a:endParaRPr>
              </a:p>
            </p:txBody>
          </p:sp>
        </mc:Fallback>
      </mc:AlternateContent>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2</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One or More than One Correct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Q18 – Q35</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Marks not printed in the paper: JEE Advanced default of 4 marks assumed</a:t>
            </a:r>
            <a:endParaRPr sz="2800">
              <a:solidFill>
                <a:srgbClr val="FFFFFF"/>
              </a:solidFill>
            </a:endParaRP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1155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are unit vectors such that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maximum value of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minimum value of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minimum value of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endParaRPr sz="2400">
                  <a:solidFill>
                    <a:srgbClr val="111827"/>
                  </a:solidFill>
                </a:endParaRPr>
              </a:p>
            </p:txBody>
          </p:sp>
        </mc:Choice>
        <mc:Fallback>
          <p:sp>
            <p:nvSpPr>
              <p:cNvPr id="4" name="Rounded Rectangle 3"/>
              <p:cNvSpPr/>
              <p:nvPr/>
            </p:nvSpPr>
            <p:spPr>
              <a:xfrm>
                <a:off x="731520" y="1280160"/>
                <a:ext cx="10725912" cy="31155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q,\vec r$</a:t>
                </a:r>
                <a:r>
                  <a:rPr sz="2400" b="0">
                    <a:solidFill>
                      <a:srgbClr val="111827"/>
                    </a:solidFill>
                    <a:latin typeface="Arial"/>
                  </a:rPr>
                  <a:t> are unit vectors such that </a:t>
                </a:r>
                <a:r>
                  <a:rPr lang="en-IN" sz="2400">
                    <a:solidFill>
                      <a:srgbClr val="111827"/>
                    </a:solidFill>
                    <a:latin typeface="Cambria Math" panose="02040503050406030204" pitchFamily="18" charset="0"/>
                  </a:rPr>
                  <a:t>$\vec p=\vec q\times\vec p+\vec r$</a:t>
                </a:r>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$\vec p\cdot\vec q=\vec r\cdot\vec q$</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maximum value of </a:t>
                </a:r>
                <a:r>
                  <a:rPr lang="en-IN" sz="2400">
                    <a:solidFill>
                      <a:srgbClr val="111827"/>
                    </a:solidFill>
                    <a:latin typeface="Cambria Math" panose="02040503050406030204" pitchFamily="18" charset="0"/>
                  </a:rPr>
                  <a:t>$[\vec p\ \vec q\ \vec r]=\frac12$</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minimum value of </a:t>
                </a:r>
                <a:r>
                  <a:rPr lang="en-IN" sz="2400">
                    <a:solidFill>
                      <a:srgbClr val="111827"/>
                    </a:solidFill>
                    <a:latin typeface="Cambria Math" panose="02040503050406030204" pitchFamily="18" charset="0"/>
                  </a:rPr>
                  <a:t>$[\vec p\ \vec q\ \vec r]=0$</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minimum value of </a:t>
                </a:r>
                <a:r>
                  <a:rPr lang="en-IN" sz="2400">
                    <a:solidFill>
                      <a:srgbClr val="111827"/>
                    </a:solidFill>
                    <a:latin typeface="Cambria Math" panose="02040503050406030204" pitchFamily="18" charset="0"/>
                  </a:rPr>
                  <a:t>$[\vec p\ \vec q\ \vec r]=-1$</a:t>
                </a:r>
                <a:endParaRPr sz="2400">
                  <a:solidFill>
                    <a:srgbClr val="111827"/>
                  </a:solidFill>
                </a:endParaRPr>
              </a:p>
            </p:txBody>
          </p:sp>
        </mc:Fallback>
      </mc:AlternateContent>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equation involving a cross product and scalar triple product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Dot the relation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oMath>
                </a14:m>
                <a:r>
                  <a:rPr sz="2400" b="0">
                    <a:solidFill>
                      <a:srgbClr val="78350F"/>
                    </a:solidFill>
                    <a:latin typeface="Arial"/>
                  </a:rPr>
                  <a:t> for (A); then square it twice (once as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once as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to express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through </a:t>
                </a:r>
                <a14:m>
                  <m:oMath xmlns:m="http://schemas.openxmlformats.org/officeDocument/2006/math">
                    <m:sSup>
                      <m:e>
                        <m:r>
                          <m:rPr>
                            <m:sty m:val="p"/>
                          </m:rPr>
                          <a:rPr lang="en-IN" sz="2400">
                            <a:solidFill>
                              <a:srgbClr val="78350F"/>
                            </a:solidFill>
                            <a:latin typeface="Cambria Math" panose="02040503050406030204" pitchFamily="18" charset="0"/>
                          </a:rPr>
                          <m:t>sin</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θ</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Dot the relation with </a:t>
                </a:r>
                <a:r>
                  <a:rPr lang="en-IN" sz="2400">
                    <a:solidFill>
                      <a:srgbClr val="78350F"/>
                    </a:solidFill>
                    <a:latin typeface="Cambria Math" panose="02040503050406030204" pitchFamily="18" charset="0"/>
                  </a:rPr>
                  <a:t>$\vec q$</a:t>
                </a:r>
                <a:r>
                  <a:rPr sz="2400" b="0">
                    <a:solidFill>
                      <a:srgbClr val="78350F"/>
                    </a:solidFill>
                    <a:latin typeface="Arial"/>
                  </a:rPr>
                  <a:t> for (A); then square it twice (once as </a:t>
                </a:r>
                <a:r>
                  <a:rPr lang="en-IN" sz="2400">
                    <a:solidFill>
                      <a:srgbClr val="78350F"/>
                    </a:solidFill>
                    <a:latin typeface="Cambria Math" panose="02040503050406030204" pitchFamily="18" charset="0"/>
                  </a:rPr>
                  <a:t>$|\vec p-\vec q\times\vec p|^2=1$</a:t>
                </a:r>
                <a:r>
                  <a:rPr sz="2400" b="0">
                    <a:solidFill>
                      <a:srgbClr val="78350F"/>
                    </a:solidFill>
                    <a:latin typeface="Arial"/>
                  </a:rPr>
                  <a:t>, once as </a:t>
                </a:r>
                <a:r>
                  <a:rPr lang="en-IN" sz="2400">
                    <a:solidFill>
                      <a:srgbClr val="78350F"/>
                    </a:solidFill>
                    <a:latin typeface="Cambria Math" panose="02040503050406030204" pitchFamily="18" charset="0"/>
                  </a:rPr>
                  <a:t>$|\vec p|^2$</a:t>
                </a:r>
                <a:r>
                  <a:rPr sz="2400" b="0">
                    <a:solidFill>
                      <a:srgbClr val="78350F"/>
                    </a:solidFill>
                    <a:latin typeface="Arial"/>
                  </a:rPr>
                  <a:t>) to express </a:t>
                </a:r>
                <a:r>
                  <a:rPr lang="en-IN" sz="2400">
                    <a:solidFill>
                      <a:srgbClr val="78350F"/>
                    </a:solidFill>
                    <a:latin typeface="Cambria Math" panose="02040503050406030204" pitchFamily="18" charset="0"/>
                  </a:rPr>
                  <a:t>$|\vec p|^2$</a:t>
                </a:r>
                <a:r>
                  <a:rPr sz="2400" b="0">
                    <a:solidFill>
                      <a:srgbClr val="78350F"/>
                    </a:solidFill>
                    <a:latin typeface="Arial"/>
                  </a:rPr>
                  <a:t> and </a:t>
                </a:r>
                <a:r>
                  <a:rPr lang="en-IN" sz="2400">
                    <a:solidFill>
                      <a:srgbClr val="78350F"/>
                    </a:solidFill>
                    <a:latin typeface="Cambria Math" panose="02040503050406030204" pitchFamily="18" charset="0"/>
                  </a:rPr>
                  <a:t>$[\vec p\ \vec q\ \vec r]$</a:t>
                </a:r>
                <a:r>
                  <a:rPr sz="2400" b="0">
                    <a:solidFill>
                      <a:srgbClr val="78350F"/>
                    </a:solidFill>
                    <a:latin typeface="Arial"/>
                  </a:rPr>
                  <a:t> through </a:t>
                </a:r>
                <a:r>
                  <a:rPr lang="en-IN" sz="2400">
                    <a:solidFill>
                      <a:srgbClr val="78350F"/>
                    </a:solidFill>
                    <a:latin typeface="Cambria Math" panose="02040503050406030204" pitchFamily="18" charset="0"/>
                  </a:rPr>
                  <a:t>$\sin^2\theta$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276088"/>
                <a:ext cx="10725912" cy="13990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Dot the relation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so (A) is true.</a:t>
                </a:r>
                <a:endParaRPr sz="2400">
                  <a:solidFill>
                    <a:srgbClr val="111827"/>
                  </a:solidFill>
                </a:endParaRPr>
              </a:p>
            </p:txBody>
          </p:sp>
        </mc:Choice>
        <mc:Fallback>
          <p:sp>
            <p:nvSpPr>
              <p:cNvPr id="6" name="Rectangle 5"/>
              <p:cNvSpPr/>
              <p:nvPr/>
            </p:nvSpPr>
            <p:spPr>
              <a:xfrm>
                <a:off x="731520" y="5276088"/>
                <a:ext cx="10725912" cy="13990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Dot the relation </a:t>
                </a:r>
                <a:r>
                  <a:rPr lang="en-IN" sz="2400">
                    <a:solidFill>
                      <a:srgbClr val="111827"/>
                    </a:solidFill>
                    <a:latin typeface="Cambria Math" panose="02040503050406030204" pitchFamily="18" charset="0"/>
                  </a:rPr>
                  <a:t>$\vec p=\vec q\times\vec p+\vec r$</a:t>
                </a:r>
                <a:r>
                  <a:rPr sz="2400" b="0">
                    <a:solidFill>
                      <a:srgbClr val="111827"/>
                    </a:solidFill>
                    <a:latin typeface="Arial"/>
                  </a:rPr>
                  <a:t> with </a:t>
                </a:r>
                <a:r>
                  <a:rPr lang="en-IN" sz="2400">
                    <a:solidFill>
                      <a:srgbClr val="111827"/>
                    </a:solidFill>
                    <a:latin typeface="Cambria Math" panose="02040503050406030204" pitchFamily="18" charset="0"/>
                  </a:rPr>
                  <a:t>$\vec q$</a:t>
                </a:r>
                <a:r>
                  <a:rPr sz="2400" b="0">
                    <a:solidFill>
                      <a:srgbClr val="111827"/>
                    </a:solidFill>
                    <a:latin typeface="Arial"/>
                  </a:rPr>
                  <a:t>: </a:t>
                </a:r>
                <a:r>
                  <a:rPr lang="en-IN" sz="2400">
                    <a:solidFill>
                      <a:srgbClr val="111827"/>
                    </a:solidFill>
                    <a:latin typeface="Cambria Math" panose="02040503050406030204" pitchFamily="18" charset="0"/>
                  </a:rPr>
                  <a:t>$\vec p\cdot\vec q=(\vec q\times\vec p)\cdot\vec q+\vec r\cdot\vec q=\vec r\cdot\vec q$</a:t>
                </a:r>
                <a:r>
                  <a:rPr sz="2400" b="0">
                    <a:solidFill>
                      <a:srgbClr val="111827"/>
                    </a:solidFill>
                    <a:latin typeface="Arial"/>
                  </a:rPr>
                  <a:t>, so (A) is true.</a:t>
                </a:r>
                <a:endParaRPr sz="2400">
                  <a:solidFill>
                    <a:srgbClr val="111827"/>
                  </a:solidFill>
                </a:endParaRPr>
              </a:p>
            </p:txBody>
          </p:sp>
        </mc:Fallback>
      </mc:AlternateContent>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oMath>
                </a14:m>
                <a:r>
                  <a:rPr sz="2400" b="0">
                    <a:solidFill>
                      <a:srgbClr val="111827"/>
                    </a:solidFill>
                    <a:latin typeface="Arial"/>
                  </a:rPr>
                  <a:t> and let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be the angle between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Squaring: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directly: </a:t>
                </a:r>
                <a14:m>
                  <m:oMath xmlns:m="http://schemas.openxmlformats.org/officeDocument/2006/math">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$\vec r=\vec p-\vec q\times\vec p$</a:t>
                </a:r>
                <a:r>
                  <a:rPr sz="2400" b="0">
                    <a:solidFill>
                      <a:srgbClr val="111827"/>
                    </a:solidFill>
                    <a:latin typeface="Arial"/>
                  </a:rPr>
                  <a:t> and let </a:t>
                </a:r>
                <a:r>
                  <a:rPr lang="en-IN" sz="2400">
                    <a:solidFill>
                      <a:srgbClr val="111827"/>
                    </a:solidFill>
                    <a:latin typeface="Cambria Math" panose="02040503050406030204" pitchFamily="18" charset="0"/>
                  </a:rPr>
                  <a:t>$\theta$</a:t>
                </a:r>
                <a:r>
                  <a:rPr sz="2400" b="0">
                    <a:solidFill>
                      <a:srgbClr val="111827"/>
                    </a:solidFill>
                    <a:latin typeface="Arial"/>
                  </a:rPr>
                  <a:t> be the angle between </a:t>
                </a:r>
                <a:r>
                  <a:rPr lang="en-IN" sz="2400">
                    <a:solidFill>
                      <a:srgbClr val="111827"/>
                    </a:solidFill>
                    <a:latin typeface="Cambria Math" panose="02040503050406030204" pitchFamily="18" charset="0"/>
                  </a:rPr>
                  <a:t>$\vec p$</a:t>
                </a:r>
                <a:r>
                  <a:rPr sz="2400" b="0">
                    <a:solidFill>
                      <a:srgbClr val="111827"/>
                    </a:solidFill>
                    <a:latin typeface="Arial"/>
                  </a:rPr>
                  <a:t> and </a:t>
                </a:r>
                <a:r>
                  <a:rPr lang="en-IN" sz="2400">
                    <a:solidFill>
                      <a:srgbClr val="111827"/>
                    </a:solidFill>
                    <a:latin typeface="Cambria Math" panose="02040503050406030204" pitchFamily="18" charset="0"/>
                  </a:rPr>
                  <a:t>$\vec q$</a:t>
                </a:r>
                <a:r>
                  <a:rPr sz="2400" b="0">
                    <a:solidFill>
                      <a:srgbClr val="111827"/>
                    </a:solidFill>
                    <a:latin typeface="Arial"/>
                  </a:rPr>
                  <a:t> (</a:t>
                </a:r>
                <a:r>
                  <a:rPr lang="en-IN" sz="2400">
                    <a:solidFill>
                      <a:srgbClr val="111827"/>
                    </a:solidFill>
                    <a:latin typeface="Cambria Math" panose="02040503050406030204" pitchFamily="18" charset="0"/>
                  </a:rPr>
                  <a:t>$\vec p\perp\vec q\times\vec 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Squaring: </a:t>
                </a:r>
                <a:r>
                  <a:rPr lang="en-IN" sz="2400">
                    <a:solidFill>
                      <a:srgbClr val="111827"/>
                    </a:solidFill>
                    <a:latin typeface="Cambria Math" panose="02040503050406030204" pitchFamily="18" charset="0"/>
                  </a:rPr>
                  <a:t>$|\vec r|^2=1=p^2+p^2\sin^2\theta$</a:t>
                </a:r>
                <a:r>
                  <a:rPr sz="2400" b="0">
                    <a:solidFill>
                      <a:srgbClr val="111827"/>
                    </a:solidFill>
                    <a:latin typeface="Arial"/>
                  </a:rPr>
                  <a:t> (here </a:t>
                </a:r>
                <a:r>
                  <a:rPr lang="en-IN" sz="2400">
                    <a:solidFill>
                      <a:srgbClr val="111827"/>
                    </a:solidFill>
                    <a:latin typeface="Cambria Math" panose="02040503050406030204" pitchFamily="18" charset="0"/>
                  </a:rPr>
                  <a:t>$p=|\vec p|$</a:t>
                </a:r>
                <a:r>
                  <a:rPr sz="2400" b="0">
                    <a:solidFill>
                      <a:srgbClr val="111827"/>
                    </a:solidFill>
                    <a:latin typeface="Arial"/>
                  </a:rPr>
                  <a:t>), so </a:t>
                </a:r>
                <a:r>
                  <a:rPr lang="en-IN" sz="2400">
                    <a:solidFill>
                      <a:srgbClr val="111827"/>
                    </a:solidFill>
                    <a:latin typeface="Cambria Math" panose="02040503050406030204" pitchFamily="18" charset="0"/>
                  </a:rPr>
                  <a:t>$p^2=\frac{1}{1+\sin^2\theta}$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Squaring </a:t>
                </a:r>
                <a:r>
                  <a:rPr lang="en-IN" sz="2400">
                    <a:solidFill>
                      <a:srgbClr val="111827"/>
                    </a:solidFill>
                    <a:latin typeface="Cambria Math" panose="02040503050406030204" pitchFamily="18" charset="0"/>
                  </a:rPr>
                  <a:t>$\vec p=\vec q\times\vec p+\vec r$</a:t>
                </a:r>
                <a:r>
                  <a:rPr sz="2400" b="0">
                    <a:solidFill>
                      <a:srgbClr val="111827"/>
                    </a:solidFill>
                    <a:latin typeface="Arial"/>
                  </a:rPr>
                  <a:t> directly: </a:t>
                </a:r>
                <a:r>
                  <a:rPr lang="en-IN" sz="2400">
                    <a:solidFill>
                      <a:srgbClr val="111827"/>
                    </a:solidFill>
                    <a:latin typeface="Cambria Math" panose="02040503050406030204" pitchFamily="18" charset="0"/>
                  </a:rPr>
                  <a:t>$p^2=p^2\sin^2\theta+2[\vec q\ \vec p\ \vec r]+1$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$2[\vec q\ \vec p\ \vec r]=p^2\cos^2\theta-1$</a:t>
                </a:r>
                <a:r>
                  <a:rPr sz="2400" b="0">
                    <a:solidFill>
                      <a:srgbClr val="111827"/>
                    </a:solidFill>
                    <a:latin typeface="Arial"/>
                  </a:rPr>
                  <a:t>, so </a:t>
                </a:r>
                <a:r>
                  <a:rPr lang="en-IN" sz="2400">
                    <a:solidFill>
                      <a:srgbClr val="111827"/>
                    </a:solidFill>
                    <a:latin typeface="Cambria Math" panose="02040503050406030204" pitchFamily="18" charset="0"/>
                  </a:rPr>
                  <a:t>$2[\vec p\ \vec q\ \vec r]=1-p^2\cos^2\theta=1-\frac{1-\sin^2\theta}{1+\sin^2\theta}=\frac{2\sin^2\theta}{1+\sin^2\theta}$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 \vec q\ \vec r]=1-\frac{1}{1+\sin^2\theta}=\frac{\sin^2\theta}{1+\sin^2\theta}$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 </a:t>
                </a:r>
                <a14:m>
                  <m:oMath xmlns:m="http://schemas.openxmlformats.org/officeDocument/2006/math">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 runs over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this runs from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(when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(when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minimum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maximum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(B) maximum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(C) minimum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are true, while (D) minimum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false. Answer: A,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 </a:t>
                </a:r>
                <a:r>
                  <a:rPr lang="en-IN" sz="2400">
                    <a:solidFill>
                      <a:srgbClr val="111827"/>
                    </a:solidFill>
                    <a:latin typeface="Cambria Math" panose="02040503050406030204" pitchFamily="18" charset="0"/>
                  </a:rPr>
                  <a:t>$\sin^2\theta$</a:t>
                </a:r>
                <a:r>
                  <a:rPr sz="2400" b="0">
                    <a:solidFill>
                      <a:srgbClr val="111827"/>
                    </a:solidFill>
                    <a:latin typeface="Arial"/>
                  </a:rPr>
                  <a:t> runs over </a:t>
                </a:r>
                <a:r>
                  <a:rPr lang="en-IN" sz="2400">
                    <a:solidFill>
                      <a:srgbClr val="111827"/>
                    </a:solidFill>
                    <a:latin typeface="Cambria Math" panose="02040503050406030204" pitchFamily="18" charset="0"/>
                  </a:rPr>
                  <a:t>$[0,1]$</a:t>
                </a:r>
                <a:r>
                  <a:rPr sz="2400" b="0">
                    <a:solidFill>
                      <a:srgbClr val="111827"/>
                    </a:solidFill>
                    <a:latin typeface="Arial"/>
                  </a:rPr>
                  <a:t>, this runs from </a:t>
                </a:r>
                <a:r>
                  <a:rPr lang="en-IN" sz="2400">
                    <a:solidFill>
                      <a:srgbClr val="111827"/>
                    </a:solidFill>
                    <a:latin typeface="Cambria Math" panose="02040503050406030204" pitchFamily="18" charset="0"/>
                  </a:rPr>
                  <a:t>$0$</a:t>
                </a:r>
                <a:r>
                  <a:rPr sz="2400" b="0">
                    <a:solidFill>
                      <a:srgbClr val="111827"/>
                    </a:solidFill>
                    <a:latin typeface="Arial"/>
                  </a:rPr>
                  <a:t> (when </a:t>
                </a:r>
                <a:r>
                  <a:rPr lang="en-IN" sz="2400">
                    <a:solidFill>
                      <a:srgbClr val="111827"/>
                    </a:solidFill>
                    <a:latin typeface="Cambria Math" panose="02040503050406030204" pitchFamily="18" charset="0"/>
                  </a:rPr>
                  <a:t>$\sin\theta=0$</a:t>
                </a:r>
                <a:r>
                  <a:rPr sz="2400" b="0">
                    <a:solidFill>
                      <a:srgbClr val="111827"/>
                    </a:solidFill>
                    <a:latin typeface="Arial"/>
                  </a:rPr>
                  <a:t>) to </a:t>
                </a:r>
                <a:r>
                  <a:rPr lang="en-IN" sz="2400">
                    <a:solidFill>
                      <a:srgbClr val="111827"/>
                    </a:solidFill>
                    <a:latin typeface="Cambria Math" panose="02040503050406030204" pitchFamily="18" charset="0"/>
                  </a:rPr>
                  <a:t>$\frac12$</a:t>
                </a:r>
                <a:r>
                  <a:rPr sz="2400" b="0">
                    <a:solidFill>
                      <a:srgbClr val="111827"/>
                    </a:solidFill>
                    <a:latin typeface="Arial"/>
                  </a:rPr>
                  <a:t> (when </a:t>
                </a:r>
                <a:r>
                  <a:rPr lang="en-IN" sz="2400">
                    <a:solidFill>
                      <a:srgbClr val="111827"/>
                    </a:solidFill>
                    <a:latin typeface="Cambria Math" panose="02040503050406030204" pitchFamily="18" charset="0"/>
                  </a:rPr>
                  <a:t>$\sin\theta=1$</a:t>
                </a:r>
                <a:r>
                  <a:rPr sz="2400" b="0">
                    <a:solidFill>
                      <a:srgbClr val="111827"/>
                    </a:solidFill>
                    <a:latin typeface="Arial"/>
                  </a:rPr>
                  <a:t>): minimum </a:t>
                </a:r>
                <a:r>
                  <a:rPr lang="en-IN" sz="2400">
                    <a:solidFill>
                      <a:srgbClr val="111827"/>
                    </a:solidFill>
                    <a:latin typeface="Cambria Math" panose="02040503050406030204" pitchFamily="18" charset="0"/>
                  </a:rPr>
                  <a:t>$0$</a:t>
                </a:r>
                <a:r>
                  <a:rPr sz="2400" b="0">
                    <a:solidFill>
                      <a:srgbClr val="111827"/>
                    </a:solidFill>
                    <a:latin typeface="Arial"/>
                  </a:rPr>
                  <a:t>, maximum </a:t>
                </a:r>
                <a:r>
                  <a:rPr lang="en-IN" sz="2400">
                    <a:solidFill>
                      <a:srgbClr val="111827"/>
                    </a:solidFill>
                    <a:latin typeface="Cambria Math" panose="02040503050406030204" pitchFamily="18" charset="0"/>
                  </a:rPr>
                  <a:t>$\frac12$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(B) maximum </a:t>
                </a:r>
                <a:r>
                  <a:rPr lang="en-IN" sz="2400">
                    <a:solidFill>
                      <a:srgbClr val="111827"/>
                    </a:solidFill>
                    <a:latin typeface="Cambria Math" panose="02040503050406030204" pitchFamily="18" charset="0"/>
                  </a:rPr>
                  <a:t>$=\frac12$</a:t>
                </a:r>
                <a:r>
                  <a:rPr sz="2400" b="0">
                    <a:solidFill>
                      <a:srgbClr val="111827"/>
                    </a:solidFill>
                    <a:latin typeface="Arial"/>
                  </a:rPr>
                  <a:t> and (C) minimum </a:t>
                </a:r>
                <a:r>
                  <a:rPr lang="en-IN" sz="2400">
                    <a:solidFill>
                      <a:srgbClr val="111827"/>
                    </a:solidFill>
                    <a:latin typeface="Cambria Math" panose="02040503050406030204" pitchFamily="18" charset="0"/>
                  </a:rPr>
                  <a:t>$=0$</a:t>
                </a:r>
                <a:r>
                  <a:rPr sz="2400" b="0">
                    <a:solidFill>
                      <a:srgbClr val="111827"/>
                    </a:solidFill>
                    <a:latin typeface="Arial"/>
                  </a:rPr>
                  <a:t> are true, while (D) minimum </a:t>
                </a:r>
                <a:r>
                  <a:rPr lang="en-IN" sz="2400">
                    <a:solidFill>
                      <a:srgbClr val="111827"/>
                    </a:solidFill>
                    <a:latin typeface="Cambria Math" panose="02040503050406030204" pitchFamily="18" charset="0"/>
                  </a:rPr>
                  <a:t>$=-1$</a:t>
                </a:r>
                <a:r>
                  <a:rPr sz="2400" b="0">
                    <a:solidFill>
                      <a:srgbClr val="111827"/>
                    </a:solidFill>
                    <a:latin typeface="Arial"/>
                  </a:rPr>
                  <a:t> is false. Answer: A, B,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 C)</a:t>
            </a:r>
            <a:endParaRPr sz="2800">
              <a:solidFill>
                <a:srgbClr val="15803D"/>
              </a:solidFill>
            </a:endParaRP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Compute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directly by substituting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oMath>
                </a14:m>
                <a:r>
                  <a:rPr sz="2400" b="0">
                    <a:solidFill>
                      <a:srgbClr val="78350F"/>
                    </a:solidFill>
                    <a:latin typeface="Arial"/>
                  </a:rPr>
                  <a:t> and expanding the double cross product.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Compute </a:t>
                </a:r>
                <a:r>
                  <a:rPr lang="en-IN" sz="2400">
                    <a:solidFill>
                      <a:srgbClr val="78350F"/>
                    </a:solidFill>
                    <a:latin typeface="Cambria Math" panose="02040503050406030204" pitchFamily="18" charset="0"/>
                  </a:rPr>
                  <a:t>$[\vec p\ \vec q\ \vec r]=\vec p\cdot(\vec q\times\vec r)$</a:t>
                </a:r>
                <a:r>
                  <a:rPr sz="2400" b="0">
                    <a:solidFill>
                      <a:srgbClr val="78350F"/>
                    </a:solidFill>
                    <a:latin typeface="Arial"/>
                  </a:rPr>
                  <a:t> directly by substituting </a:t>
                </a:r>
                <a:r>
                  <a:rPr lang="en-IN" sz="2400">
                    <a:solidFill>
                      <a:srgbClr val="78350F"/>
                    </a:solidFill>
                    <a:latin typeface="Cambria Math" panose="02040503050406030204" pitchFamily="18" charset="0"/>
                  </a:rPr>
                  <a:t>$\vec r=\vec p-\vec q\times\vec p$</a:t>
                </a:r>
                <a:r>
                  <a:rPr sz="2400" b="0">
                    <a:solidFill>
                      <a:srgbClr val="78350F"/>
                    </a:solidFill>
                    <a:latin typeface="Arial"/>
                  </a:rPr>
                  <a:t> and expanding the double cross product.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e>
                    </m:d>
                  </m:oMath>
                </a14:m>
                <a:r>
                  <a:rPr sz="2400" b="0">
                    <a:solidFill>
                      <a:srgbClr val="111827"/>
                    </a:solidFill>
                    <a:latin typeface="Arial"/>
                  </a:rPr>
                  <a:t> (as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q\times\vec r=\vec q\times\vec p-\vec q\times(\vec q\times\vec p)=\vec q\times\vec p-\left[\vec q(\vec q\cdot\vec p)-\vec p\right]$</a:t>
                </a:r>
                <a:r>
                  <a:rPr sz="2400" b="0">
                    <a:solidFill>
                      <a:srgbClr val="111827"/>
                    </a:solidFill>
                    <a:latin typeface="Arial"/>
                  </a:rPr>
                  <a:t> (as </a:t>
                </a:r>
                <a:r>
                  <a:rPr lang="en-IN" sz="2400">
                    <a:solidFill>
                      <a:srgbClr val="111827"/>
                    </a:solidFill>
                    <a:latin typeface="Cambria Math" panose="02040503050406030204" pitchFamily="18" charset="0"/>
                  </a:rPr>
                  <a:t>$|\vec q|=1$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 \vec q\ \vec r]=\vec p\cdot(\vec q\times\vec r)=0-(\vec p\cdot\vec q)^2+|\vec p|^2=|\vec p|^2\sin^2\theta$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oMath>
                </a14:m>
                <a:r>
                  <a:rPr sz="2400" b="0">
                    <a:solidFill>
                      <a:srgbClr val="111827"/>
                    </a:solidFill>
                    <a:latin typeface="Arial"/>
                  </a:rPr>
                  <a:t> this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oMath>
                </a14:m>
                <a:r>
                  <a:rPr sz="2400" b="0">
                    <a:solidFill>
                      <a:srgbClr val="111827"/>
                    </a:solidFill>
                    <a:latin typeface="Arial"/>
                  </a:rPr>
                  <a:t>, an increasing function of </a:t>
                </a:r>
                <a14:m>
                  <m:oMath xmlns:m="http://schemas.openxmlformats.org/officeDocument/2006/math">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it lies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minimum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the maximum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(C) and (B)),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impossible.</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$|\vec p|^2=\frac{1}{1+\sin^2\theta}$</a:t>
                </a:r>
                <a:r>
                  <a:rPr sz="2400" b="0">
                    <a:solidFill>
                      <a:srgbClr val="111827"/>
                    </a:solidFill>
                    <a:latin typeface="Arial"/>
                  </a:rPr>
                  <a:t> this is </a:t>
                </a:r>
                <a:r>
                  <a:rPr lang="en-IN" sz="2400">
                    <a:solidFill>
                      <a:srgbClr val="111827"/>
                    </a:solidFill>
                    <a:latin typeface="Cambria Math" panose="02040503050406030204" pitchFamily="18" charset="0"/>
                  </a:rPr>
                  <a:t>$\frac{\sin^2\theta}{1+\sin^2\theta}$</a:t>
                </a:r>
                <a:r>
                  <a:rPr sz="2400" b="0">
                    <a:solidFill>
                      <a:srgbClr val="111827"/>
                    </a:solidFill>
                    <a:latin typeface="Arial"/>
                  </a:rPr>
                  <a:t>, an increasing function of </a:t>
                </a:r>
                <a:r>
                  <a:rPr lang="en-IN" sz="2400">
                    <a:solidFill>
                      <a:srgbClr val="111827"/>
                    </a:solidFill>
                    <a:latin typeface="Cambria Math" panose="02040503050406030204" pitchFamily="18" charset="0"/>
                  </a:rPr>
                  <a:t>$\sin^2\theta\in[0,1]$</a:t>
                </a:r>
                <a:r>
                  <a:rPr sz="2400" b="0">
                    <a:solidFill>
                      <a:srgbClr val="111827"/>
                    </a:solidFill>
                    <a:latin typeface="Arial"/>
                  </a:rPr>
                  <a:t>, so it lies in </a:t>
                </a:r>
                <a:r>
                  <a:rPr lang="en-IN" sz="2400">
                    <a:solidFill>
                      <a:srgbClr val="111827"/>
                    </a:solidFill>
                    <a:latin typeface="Cambria Math" panose="02040503050406030204" pitchFamily="18" charset="0"/>
                  </a:rPr>
                  <a:t>$\left[0,\frac12\right]$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minimum is </a:t>
                </a:r>
                <a:r>
                  <a:rPr lang="en-IN" sz="2400">
                    <a:solidFill>
                      <a:srgbClr val="111827"/>
                    </a:solidFill>
                    <a:latin typeface="Cambria Math" panose="02040503050406030204" pitchFamily="18" charset="0"/>
                  </a:rPr>
                  <a:t>$0$</a:t>
                </a:r>
                <a:r>
                  <a:rPr sz="2400" b="0">
                    <a:solidFill>
                      <a:srgbClr val="111827"/>
                    </a:solidFill>
                    <a:latin typeface="Arial"/>
                  </a:rPr>
                  <a:t> and the maximum is </a:t>
                </a:r>
                <a:r>
                  <a:rPr lang="en-IN" sz="2400">
                    <a:solidFill>
                      <a:srgbClr val="111827"/>
                    </a:solidFill>
                    <a:latin typeface="Cambria Math" panose="02040503050406030204" pitchFamily="18" charset="0"/>
                  </a:rPr>
                  <a:t>$\frac12$</a:t>
                </a:r>
                <a:r>
                  <a:rPr sz="2400" b="0">
                    <a:solidFill>
                      <a:srgbClr val="111827"/>
                    </a:solidFill>
                    <a:latin typeface="Arial"/>
                  </a:rPr>
                  <a:t> (so (C) and (B)), and </a:t>
                </a:r>
                <a:r>
                  <a:rPr lang="en-IN" sz="2400">
                    <a:solidFill>
                      <a:srgbClr val="111827"/>
                    </a:solidFill>
                    <a:latin typeface="Cambria Math" panose="02040503050406030204" pitchFamily="18" charset="0"/>
                  </a:rPr>
                  <a:t>$-1$</a:t>
                </a:r>
                <a:r>
                  <a:rPr sz="2400" b="0">
                    <a:solidFill>
                      <a:srgbClr val="111827"/>
                    </a:solidFill>
                    <a:latin typeface="Arial"/>
                  </a:rPr>
                  <a:t> is impossible.</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B, C)</a:t>
            </a:r>
            <a:endParaRPr sz="2800">
              <a:solidFill>
                <a:srgbClr val="15803D"/>
              </a:solidFill>
            </a:endParaRP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two are perpendicular).</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oMath>
                </a14:m>
                <a:r>
                  <a:rPr sz="2400" b="0">
                    <a:solidFill>
                      <a:srgbClr val="111827"/>
                    </a:solidFill>
                    <a:latin typeface="Arial"/>
                  </a:rPr>
                  <a:t> for a unit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repeated cross products with a unit vector act as projection minus identity.</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𝑠</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den>
                    </m:f>
                  </m:oMath>
                </a14:m>
                <a:r>
                  <a:rPr sz="2400" b="0">
                    <a:solidFill>
                      <a:srgbClr val="111827"/>
                    </a:solidFill>
                    <a:latin typeface="Arial"/>
                  </a:rPr>
                  <a:t> is increasing on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range questions for expressions like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den>
                    </m:f>
                  </m:oMath>
                </a14:m>
                <a:r>
                  <a:rPr sz="2400" b="0">
                    <a:solidFill>
                      <a:srgbClr val="111827"/>
                    </a:solidFill>
                    <a:latin typeface="Arial"/>
                  </a:rPr>
                  <a:t> reduce to the endpoint values of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p\cdot(\vec q\times\vec p)=0$</a:t>
                </a:r>
                <a:r>
                  <a:rPr sz="2400" b="0">
                    <a:solidFill>
                      <a:srgbClr val="111827"/>
                    </a:solidFill>
                    <a:latin typeface="Arial"/>
                  </a:rPr>
                  <a:t> and </a:t>
                </a:r>
                <a:r>
                  <a:rPr lang="en-IN" sz="2400">
                    <a:solidFill>
                      <a:srgbClr val="111827"/>
                    </a:solidFill>
                    <a:latin typeface="Cambria Math" panose="02040503050406030204" pitchFamily="18" charset="0"/>
                  </a:rPr>
                  <a:t>$|\vec p-\vec q\times\vec p|^2=|\vec p|^2+|\vec q\times\vec p|^2$</a:t>
                </a:r>
                <a:r>
                  <a:rPr sz="2400" b="0">
                    <a:solidFill>
                      <a:srgbClr val="111827"/>
                    </a:solidFill>
                    <a:latin typeface="Arial"/>
                  </a:rPr>
                  <a:t> (the two are perpendicular).</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q\times(\vec q\times\vec p)=\vec q(\vec q\cdot\vec p)-\vec p$</a:t>
                </a:r>
                <a:r>
                  <a:rPr sz="2400" b="0">
                    <a:solidFill>
                      <a:srgbClr val="111827"/>
                    </a:solidFill>
                    <a:latin typeface="Arial"/>
                  </a:rPr>
                  <a:t> for a unit </a:t>
                </a:r>
                <a:r>
                  <a:rPr lang="en-IN" sz="2400">
                    <a:solidFill>
                      <a:srgbClr val="111827"/>
                    </a:solidFill>
                    <a:latin typeface="Cambria Math" panose="02040503050406030204" pitchFamily="18" charset="0"/>
                  </a:rPr>
                  <a:t>$\vec q$</a:t>
                </a:r>
                <a:r>
                  <a:rPr sz="2400" b="0">
                    <a:solidFill>
                      <a:srgbClr val="111827"/>
                    </a:solidFill>
                    <a:latin typeface="Arial"/>
                  </a:rPr>
                  <a:t>: repeated cross products with a unit vector act as projection minus identity.</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$f(s)=\frac{s}{1+s}$</a:t>
                </a:r>
                <a:r>
                  <a:rPr sz="2400" b="0">
                    <a:solidFill>
                      <a:srgbClr val="111827"/>
                    </a:solidFill>
                    <a:latin typeface="Arial"/>
                  </a:rPr>
                  <a:t> is increasing on </a:t>
                </a:r>
                <a:r>
                  <a:rPr lang="en-IN" sz="2400">
                    <a:solidFill>
                      <a:srgbClr val="111827"/>
                    </a:solidFill>
                    <a:latin typeface="Cambria Math" panose="02040503050406030204" pitchFamily="18" charset="0"/>
                  </a:rPr>
                  <a:t>$s\ge0$</a:t>
                </a:r>
                <a:r>
                  <a:rPr sz="2400" b="0">
                    <a:solidFill>
                      <a:srgbClr val="111827"/>
                    </a:solidFill>
                    <a:latin typeface="Arial"/>
                  </a:rPr>
                  <a:t>, so range questions for expressions like </a:t>
                </a:r>
                <a:r>
                  <a:rPr lang="en-IN" sz="2400">
                    <a:solidFill>
                      <a:srgbClr val="111827"/>
                    </a:solidFill>
                    <a:latin typeface="Cambria Math" panose="02040503050406030204" pitchFamily="18" charset="0"/>
                  </a:rPr>
                  <a:t>$\frac{\sin^2\theta}{1+\sin^2\theta}$</a:t>
                </a:r>
                <a:r>
                  <a:rPr sz="2400" b="0">
                    <a:solidFill>
                      <a:srgbClr val="111827"/>
                    </a:solidFill>
                    <a:latin typeface="Arial"/>
                  </a:rPr>
                  <a:t> reduce to the endpoint values of </a:t>
                </a:r>
                <a:r>
                  <a:rPr lang="en-IN" sz="2400">
                    <a:solidFill>
                      <a:srgbClr val="111827"/>
                    </a:solidFill>
                    <a:latin typeface="Cambria Math" panose="02040503050406030204" pitchFamily="18" charset="0"/>
                  </a:rPr>
                  <a:t>$s=\sin^2\theta\in[0,1]$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19430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Let </a:t>
                </a:r>
                <a14:m>
                  <m:oMath xmlns:m="http://schemas.openxmlformats.org/officeDocument/2006/math">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𝑎</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𝑏</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𝑐</m:t>
                        </m:r>
                      </m:e>
                    </m:acc>
                  </m:oMath>
                </a14:m>
                <a:r>
                  <a:rPr sz="2200" b="0">
                    <a:solidFill>
                      <a:srgbClr val="111827"/>
                    </a:solidFill>
                    <a:latin typeface="Arial"/>
                  </a:rPr>
                  <a:t> be three vectors such that </a:t>
                </a:r>
                <a14:m>
                  <m:oMath xmlns:m="http://schemas.openxmlformats.org/officeDocument/2006/math">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𝑎</m:t>
                        </m:r>
                      </m:e>
                    </m:acc>
                    <m:r>
                      <m:rPr>
                        <m:sty m:val="p"/>
                      </m:rPr>
                      <a:rPr lang="en-IN" sz="2200">
                        <a:solidFill>
                          <a:srgbClr val="111827"/>
                        </a:solidFill>
                        <a:latin typeface="Cambria Math" panose="02040503050406030204" pitchFamily="18" charset="0"/>
                      </a:rPr>
                      <m:t>|</m:t>
                    </m:r>
                    <m:r>
                      <m:rPr>
                        <m:sty m:val="p"/>
                      </m:rPr>
                      <a:rPr lang="en-IN" sz="2200">
                        <a:solidFill>
                          <a:srgbClr val="111827"/>
                        </a:solidFill>
                        <a:latin typeface="Cambria Math" panose="02040503050406030204" pitchFamily="18" charset="0"/>
                      </a:rPr>
                      <m:t>=</m:t>
                    </m:r>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𝑏</m:t>
                        </m:r>
                      </m:e>
                    </m:acc>
                    <m:r>
                      <m:rPr>
                        <m:sty m:val="p"/>
                      </m:rPr>
                      <a:rPr lang="en-IN" sz="2200">
                        <a:solidFill>
                          <a:srgbClr val="111827"/>
                        </a:solidFill>
                        <a:latin typeface="Cambria Math" panose="02040503050406030204" pitchFamily="18" charset="0"/>
                      </a:rPr>
                      <m:t>|</m:t>
                    </m:r>
                    <m:r>
                      <m:rPr>
                        <m:sty m:val="p"/>
                      </m:rPr>
                      <a:rPr lang="en-IN" sz="2200">
                        <a:solidFill>
                          <a:srgbClr val="111827"/>
                        </a:solidFill>
                        <a:latin typeface="Cambria Math" panose="02040503050406030204" pitchFamily="18" charset="0"/>
                      </a:rPr>
                      <m:t>=</m:t>
                    </m:r>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𝑐</m:t>
                        </m:r>
                      </m:e>
                    </m:acc>
                    <m:r>
                      <m:rPr>
                        <m:sty m:val="p"/>
                      </m:rPr>
                      <a:rPr lang="en-IN" sz="2200">
                        <a:solidFill>
                          <a:srgbClr val="111827"/>
                        </a:solidFill>
                        <a:latin typeface="Cambria Math" panose="02040503050406030204" pitchFamily="18" charset="0"/>
                      </a:rPr>
                      <m:t>|</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2</m:t>
                    </m:r>
                  </m:oMath>
                </a14:m>
                <a:r>
                  <a:rPr sz="2200" b="0">
                    <a:solidFill>
                      <a:srgbClr val="111827"/>
                    </a:solidFill>
                    <a:latin typeface="Arial"/>
                  </a:rPr>
                  <a:t> and </a:t>
                </a:r>
                <a14:m>
                  <m:oMath xmlns:m="http://schemas.openxmlformats.org/officeDocument/2006/math">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𝑎</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𝑏</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𝑏</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𝑐</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𝑐</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𝑎</m:t>
                        </m:r>
                      </m:e>
                    </m:acc>
                    <m:r>
                      <m:rPr>
                        <m:sty m:val="p"/>
                      </m:rPr>
                      <a:rPr lang="en-IN" sz="2200">
                        <a:solidFill>
                          <a:srgbClr val="111827"/>
                        </a:solidFill>
                        <a:latin typeface="Cambria Math" panose="02040503050406030204" pitchFamily="18" charset="0"/>
                      </a:rPr>
                      <m:t>=</m:t>
                    </m:r>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π</m:t>
                        </m:r>
                      </m:num>
                      <m:den>
                        <m:r>
                          <a:rPr lang="en-IN" sz="2200" i="1">
                            <a:solidFill>
                              <a:srgbClr val="111827"/>
                            </a:solidFill>
                            <a:latin typeface="Cambria Math" panose="02040503050406030204" pitchFamily="18" charset="0"/>
                          </a:rPr>
                          <m:t>3</m:t>
                        </m:r>
                      </m:den>
                    </m:f>
                  </m:oMath>
                </a14:m>
                <a:r>
                  <a:rPr sz="2200" b="0">
                    <a:solidFill>
                      <a:srgbClr val="111827"/>
                    </a:solidFill>
                    <a:latin typeface="Arial"/>
                  </a:rPr>
                  <a:t>, then:</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volume of parallelepiped formed by </a:t>
                </a:r>
                <a14:m>
                  <m:oMath xmlns:m="http://schemas.openxmlformats.org/officeDocument/2006/math">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𝑎</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𝑏</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𝑐</m:t>
                        </m:r>
                      </m:e>
                    </m:acc>
                  </m:oMath>
                </a14:m>
                <a:r>
                  <a:rPr sz="2200" b="0">
                    <a:solidFill>
                      <a:srgbClr val="111827"/>
                    </a:solidFill>
                    <a:latin typeface="Arial"/>
                  </a:rPr>
                  <a:t> as three coterminous edges is </a:t>
                </a:r>
                <a14:m>
                  <m:oMath xmlns:m="http://schemas.openxmlformats.org/officeDocument/2006/math">
                    <m:r>
                      <a:rPr lang="en-IN" sz="2200" i="1">
                        <a:solidFill>
                          <a:srgbClr val="111827"/>
                        </a:solidFill>
                        <a:latin typeface="Cambria Math" panose="02040503050406030204" pitchFamily="18" charset="0"/>
                      </a:rPr>
                      <m:t>8</m:t>
                    </m:r>
                    <m:rad>
                      <m:radPr>
                        <m:degHide m:val="on"/>
                        <m:ctrlPr>
                          <a:rPr lang="en-IN" sz="2200" i="1">
                            <a:solidFill>
                              <a:srgbClr val="111827"/>
                            </a:solidFill>
                            <a:latin typeface="Cambria Math" panose="02040503050406030204" pitchFamily="18" charset="0"/>
                          </a:rPr>
                        </m:ctrlPr>
                      </m:radPr>
                      <m:deg/>
                      <m:e>
                        <m:r>
                          <a:rPr lang="en-IN" sz="2200" i="1">
                            <a:solidFill>
                              <a:srgbClr val="111827"/>
                            </a:solidFill>
                            <a:latin typeface="Cambria Math" panose="02040503050406030204" pitchFamily="18" charset="0"/>
                          </a:rPr>
                          <m:t>2</m:t>
                        </m:r>
                      </m:e>
                    </m:rad>
                  </m:oMath>
                </a14:m>
                <a:endParaRPr sz="2200">
                  <a:solidFill>
                    <a:srgbClr val="111827"/>
                  </a:solidFill>
                </a:endParaRPr>
              </a:p>
              <a:p>
                <a:pPr algn="l">
                  <a:spcAft>
                    <a:spcPts val="500"/>
                  </a:spcAft>
                  <a:defRPr sz="2200">
                    <a:solidFill>
                      <a:srgbClr val="111827"/>
                    </a:solidFill>
                  </a:defRPr>
                </a:pPr>
                <a:r>
                  <a:rPr sz="2200" b="0">
                    <a:solidFill>
                      <a:srgbClr val="111827"/>
                    </a:solidFill>
                    <a:latin typeface="Arial"/>
                  </a:rPr>
                  <a:t>(B) volume of parallelepiped formed by </a:t>
                </a:r>
                <a14:m>
                  <m:oMath xmlns:m="http://schemas.openxmlformats.org/officeDocument/2006/math">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𝑎</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𝑏</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𝑐</m:t>
                        </m:r>
                      </m:e>
                    </m:acc>
                  </m:oMath>
                </a14:m>
                <a:r>
                  <a:rPr sz="2200" b="0">
                    <a:solidFill>
                      <a:srgbClr val="111827"/>
                    </a:solidFill>
                    <a:latin typeface="Arial"/>
                  </a:rPr>
                  <a:t> as three coterminous edges is </a:t>
                </a:r>
                <a14:m>
                  <m:oMath xmlns:m="http://schemas.openxmlformats.org/officeDocument/2006/math">
                    <m:r>
                      <a:rPr lang="en-IN" sz="2200" i="1">
                        <a:solidFill>
                          <a:srgbClr val="111827"/>
                        </a:solidFill>
                        <a:latin typeface="Cambria Math" panose="02040503050406030204" pitchFamily="18" charset="0"/>
                      </a:rPr>
                      <m:t>4</m:t>
                    </m:r>
                    <m:rad>
                      <m:radPr>
                        <m:degHide m:val="on"/>
                        <m:ctrlPr>
                          <a:rPr lang="en-IN" sz="2200" i="1">
                            <a:solidFill>
                              <a:srgbClr val="111827"/>
                            </a:solidFill>
                            <a:latin typeface="Cambria Math" panose="02040503050406030204" pitchFamily="18" charset="0"/>
                          </a:rPr>
                        </m:ctrlPr>
                      </m:radPr>
                      <m:deg/>
                      <m:e>
                        <m:r>
                          <a:rPr lang="en-IN" sz="2200" i="1">
                            <a:solidFill>
                              <a:srgbClr val="111827"/>
                            </a:solidFill>
                            <a:latin typeface="Cambria Math" panose="02040503050406030204" pitchFamily="18" charset="0"/>
                          </a:rPr>
                          <m:t>2</m:t>
                        </m:r>
                      </m:e>
                    </m:rad>
                  </m:oMath>
                </a14:m>
                <a:endParaRPr sz="2200">
                  <a:solidFill>
                    <a:srgbClr val="111827"/>
                  </a:solidFill>
                </a:endParaRPr>
              </a:p>
              <a:p>
                <a:pPr algn="l">
                  <a:spcAft>
                    <a:spcPts val="500"/>
                  </a:spcAft>
                  <a:defRPr sz="2200">
                    <a:solidFill>
                      <a:srgbClr val="111827"/>
                    </a:solidFill>
                  </a:defRPr>
                </a:pPr>
                <a:r>
                  <a:rPr sz="2200" b="0">
                    <a:solidFill>
                      <a:srgbClr val="111827"/>
                    </a:solidFill>
                    <a:latin typeface="Arial"/>
                  </a:rPr>
                  <a:t>(C) height of parallelepiped formed by </a:t>
                </a:r>
                <a14:m>
                  <m:oMath xmlns:m="http://schemas.openxmlformats.org/officeDocument/2006/math">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𝑎</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𝑏</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𝑐</m:t>
                        </m:r>
                      </m:e>
                    </m:acc>
                  </m:oMath>
                </a14:m>
                <a:r>
                  <a:rPr sz="2200" b="0">
                    <a:solidFill>
                      <a:srgbClr val="111827"/>
                    </a:solidFill>
                    <a:latin typeface="Arial"/>
                  </a:rPr>
                  <a:t> as three coterminous edges is </a:t>
                </a:r>
                <a14:m>
                  <m:oMath xmlns:m="http://schemas.openxmlformats.org/officeDocument/2006/math">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2</m:t>
                        </m:r>
                        <m:rad>
                          <m:radPr>
                            <m:degHide m:val="on"/>
                            <m:ctrlPr>
                              <a:rPr lang="en-IN" sz="2200" i="1">
                                <a:solidFill>
                                  <a:srgbClr val="111827"/>
                                </a:solidFill>
                                <a:latin typeface="Cambria Math" panose="02040503050406030204" pitchFamily="18" charset="0"/>
                              </a:rPr>
                            </m:ctrlPr>
                          </m:radPr>
                          <m:deg/>
                          <m:e>
                            <m:r>
                              <a:rPr lang="en-IN" sz="2200" i="1">
                                <a:solidFill>
                                  <a:srgbClr val="111827"/>
                                </a:solidFill>
                                <a:latin typeface="Cambria Math" panose="02040503050406030204" pitchFamily="18" charset="0"/>
                              </a:rPr>
                              <m:t>2</m:t>
                            </m:r>
                          </m:e>
                        </m:rad>
                      </m:num>
                      <m:den>
                        <m:rad>
                          <m:radPr>
                            <m:degHide m:val="on"/>
                            <m:ctrlPr>
                              <a:rPr lang="en-IN" sz="2200" i="1">
                                <a:solidFill>
                                  <a:srgbClr val="111827"/>
                                </a:solidFill>
                                <a:latin typeface="Cambria Math" panose="02040503050406030204" pitchFamily="18" charset="0"/>
                              </a:rPr>
                            </m:ctrlPr>
                          </m:radPr>
                          <m:deg/>
                          <m:e>
                            <m:r>
                              <a:rPr lang="en-IN" sz="2200" i="1">
                                <a:solidFill>
                                  <a:srgbClr val="111827"/>
                                </a:solidFill>
                                <a:latin typeface="Cambria Math" panose="02040503050406030204" pitchFamily="18" charset="0"/>
                              </a:rPr>
                              <m:t>3</m:t>
                            </m:r>
                          </m:e>
                        </m:rad>
                      </m:den>
                    </m:f>
                  </m:oMath>
                </a14:m>
                <a:r>
                  <a:rPr sz="2200" b="0">
                    <a:solidFill>
                      <a:srgbClr val="111827"/>
                    </a:solidFill>
                    <a:latin typeface="Arial"/>
                  </a:rPr>
                  <a:t> whose base is a parallelogram with adjacent sides </a:t>
                </a:r>
                <a14:m>
                  <m:oMath xmlns:m="http://schemas.openxmlformats.org/officeDocument/2006/math">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𝑎</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𝑏</m:t>
                        </m:r>
                      </m:e>
                    </m:acc>
                  </m:oMath>
                </a14:m>
                <a:endParaRPr sz="2200">
                  <a:solidFill>
                    <a:srgbClr val="111827"/>
                  </a:solidFill>
                </a:endParaRPr>
              </a:p>
              <a:p>
                <a:pPr algn="l">
                  <a:spcAft>
                    <a:spcPts val="500"/>
                  </a:spcAft>
                  <a:defRPr sz="2200">
                    <a:solidFill>
                      <a:srgbClr val="111827"/>
                    </a:solidFill>
                  </a:defRPr>
                </a:pPr>
                <a:r>
                  <a:rPr sz="2200" b="0">
                    <a:solidFill>
                      <a:srgbClr val="111827"/>
                    </a:solidFill>
                    <a:latin typeface="Arial"/>
                  </a:rPr>
                  <a:t>(D) height of parallelepiped formed by </a:t>
                </a:r>
                <a14:m>
                  <m:oMath xmlns:m="http://schemas.openxmlformats.org/officeDocument/2006/math">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𝑎</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𝑏</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𝑐</m:t>
                        </m:r>
                      </m:e>
                    </m:acc>
                  </m:oMath>
                </a14:m>
                <a:r>
                  <a:rPr sz="2200" b="0">
                    <a:solidFill>
                      <a:srgbClr val="111827"/>
                    </a:solidFill>
                    <a:latin typeface="Arial"/>
                  </a:rPr>
                  <a:t> as three coterminous edges is </a:t>
                </a:r>
                <a14:m>
                  <m:oMath xmlns:m="http://schemas.openxmlformats.org/officeDocument/2006/math">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4</m:t>
                        </m:r>
                        <m:rad>
                          <m:radPr>
                            <m:degHide m:val="on"/>
                            <m:ctrlPr>
                              <a:rPr lang="en-IN" sz="2200" i="1">
                                <a:solidFill>
                                  <a:srgbClr val="111827"/>
                                </a:solidFill>
                                <a:latin typeface="Cambria Math" panose="02040503050406030204" pitchFamily="18" charset="0"/>
                              </a:rPr>
                            </m:ctrlPr>
                          </m:radPr>
                          <m:deg/>
                          <m:e>
                            <m:r>
                              <a:rPr lang="en-IN" sz="2200" i="1">
                                <a:solidFill>
                                  <a:srgbClr val="111827"/>
                                </a:solidFill>
                                <a:latin typeface="Cambria Math" panose="02040503050406030204" pitchFamily="18" charset="0"/>
                              </a:rPr>
                              <m:t>2</m:t>
                            </m:r>
                          </m:e>
                        </m:rad>
                      </m:num>
                      <m:den>
                        <m:rad>
                          <m:radPr>
                            <m:degHide m:val="on"/>
                            <m:ctrlPr>
                              <a:rPr lang="en-IN" sz="2200" i="1">
                                <a:solidFill>
                                  <a:srgbClr val="111827"/>
                                </a:solidFill>
                                <a:latin typeface="Cambria Math" panose="02040503050406030204" pitchFamily="18" charset="0"/>
                              </a:rPr>
                            </m:ctrlPr>
                          </m:radPr>
                          <m:deg/>
                          <m:e>
                            <m:r>
                              <a:rPr lang="en-IN" sz="2200" i="1">
                                <a:solidFill>
                                  <a:srgbClr val="111827"/>
                                </a:solidFill>
                                <a:latin typeface="Cambria Math" panose="02040503050406030204" pitchFamily="18" charset="0"/>
                              </a:rPr>
                              <m:t>3</m:t>
                            </m:r>
                          </m:e>
                        </m:rad>
                      </m:den>
                    </m:f>
                  </m:oMath>
                </a14:m>
                <a:r>
                  <a:rPr sz="2200" b="0">
                    <a:solidFill>
                      <a:srgbClr val="111827"/>
                    </a:solidFill>
                    <a:latin typeface="Arial"/>
                  </a:rPr>
                  <a:t> whose base is a parallelogram with adjacent sides </a:t>
                </a:r>
                <a14:m>
                  <m:oMath xmlns:m="http://schemas.openxmlformats.org/officeDocument/2006/math">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𝑎</m:t>
                        </m:r>
                      </m:e>
                    </m:acc>
                    <m:r>
                      <m:rPr>
                        <m:sty m:val="p"/>
                      </m:rPr>
                      <a:rPr lang="en-IN" sz="2200">
                        <a:solidFill>
                          <a:srgbClr val="111827"/>
                        </a:solidFill>
                        <a:latin typeface="Cambria Math" panose="02040503050406030204" pitchFamily="18" charset="0"/>
                      </a:rPr>
                      <m:t>,</m:t>
                    </m:r>
                    <m:acc>
                      <m:accPr>
                        <m:chr m:val="⃗"/>
                        <m:ctrlPr>
                          <a:rPr lang="en-IN" sz="2200" i="1">
                            <a:solidFill>
                              <a:srgbClr val="111827"/>
                            </a:solidFill>
                            <a:latin typeface="Cambria Math" panose="02040503050406030204" pitchFamily="18" charset="0"/>
                          </a:rPr>
                        </m:ctrlPr>
                      </m:accPr>
                      <m:e>
                        <m:r>
                          <a:rPr lang="en-IN" sz="2200" i="1">
                            <a:solidFill>
                              <a:srgbClr val="111827"/>
                            </a:solidFill>
                            <a:latin typeface="Cambria Math" panose="02040503050406030204" pitchFamily="18" charset="0"/>
                          </a:rPr>
                          <m:t>𝑏</m:t>
                        </m:r>
                      </m:e>
                    </m:acc>
                  </m:oMath>
                </a14:m>
                <a:endParaRPr sz="2200">
                  <a:solidFill>
                    <a:srgbClr val="111827"/>
                  </a:solidFill>
                </a:endParaRPr>
              </a:p>
            </p:txBody>
          </p:sp>
        </mc:Choice>
        <mc:Fallback>
          <p:sp>
            <p:nvSpPr>
              <p:cNvPr id="4" name="Rounded Rectangle 3"/>
              <p:cNvSpPr/>
              <p:nvPr/>
            </p:nvSpPr>
            <p:spPr>
              <a:xfrm>
                <a:off x="731520" y="1280160"/>
                <a:ext cx="10725912" cy="519430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Let </a:t>
                </a:r>
                <a:r>
                  <a:rPr lang="en-IN" sz="2200">
                    <a:solidFill>
                      <a:srgbClr val="111827"/>
                    </a:solidFill>
                    <a:latin typeface="Cambria Math" panose="02040503050406030204" pitchFamily="18" charset="0"/>
                  </a:rPr>
                  <a:t>$\vec a,\vec b,\vec c$</a:t>
                </a:r>
                <a:r>
                  <a:rPr sz="2200" b="0">
                    <a:solidFill>
                      <a:srgbClr val="111827"/>
                    </a:solidFill>
                    <a:latin typeface="Arial"/>
                  </a:rPr>
                  <a:t> be three vectors such that </a:t>
                </a:r>
                <a:r>
                  <a:rPr lang="en-IN" sz="2200">
                    <a:solidFill>
                      <a:srgbClr val="111827"/>
                    </a:solidFill>
                    <a:latin typeface="Cambria Math" panose="02040503050406030204" pitchFamily="18" charset="0"/>
                  </a:rPr>
                  <a:t>$|\vec a|=|\vec b|=|\vec c|=2$</a:t>
                </a:r>
                <a:r>
                  <a:rPr sz="2200" b="0">
                    <a:solidFill>
                      <a:srgbClr val="111827"/>
                    </a:solidFill>
                    <a:latin typeface="Arial"/>
                  </a:rPr>
                  <a:t> and </a:t>
                </a:r>
                <a:r>
                  <a:rPr lang="en-IN" sz="2200">
                    <a:solidFill>
                      <a:srgbClr val="111827"/>
                    </a:solidFill>
                    <a:latin typeface="Cambria Math" panose="02040503050406030204" pitchFamily="18" charset="0"/>
                  </a:rPr>
                  <a:t>$\vec a\wedge\vec b=\vec b\wedge\vec c=\vec c\wedge\vec a=\frac\pi3$</a:t>
                </a:r>
                <a:r>
                  <a:rPr sz="2200" b="0">
                    <a:solidFill>
                      <a:srgbClr val="111827"/>
                    </a:solidFill>
                    <a:latin typeface="Arial"/>
                  </a:rPr>
                  <a:t>, then:</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volume of parallelepiped formed by </a:t>
                </a:r>
                <a:r>
                  <a:rPr lang="en-IN" sz="2200">
                    <a:solidFill>
                      <a:srgbClr val="111827"/>
                    </a:solidFill>
                    <a:latin typeface="Cambria Math" panose="02040503050406030204" pitchFamily="18" charset="0"/>
                  </a:rPr>
                  <a:t>$\vec a,\vec b,\vec c$</a:t>
                </a:r>
                <a:r>
                  <a:rPr sz="2200" b="0">
                    <a:solidFill>
                      <a:srgbClr val="111827"/>
                    </a:solidFill>
                    <a:latin typeface="Arial"/>
                  </a:rPr>
                  <a:t> as three coterminous edges is </a:t>
                </a:r>
                <a:r>
                  <a:rPr lang="en-IN" sz="2200">
                    <a:solidFill>
                      <a:srgbClr val="111827"/>
                    </a:solidFill>
                    <a:latin typeface="Cambria Math" panose="02040503050406030204" pitchFamily="18" charset="0"/>
                  </a:rPr>
                  <a:t>$8\sqrt2$</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(B) volume of parallelepiped formed by </a:t>
                </a:r>
                <a:r>
                  <a:rPr lang="en-IN" sz="2200">
                    <a:solidFill>
                      <a:srgbClr val="111827"/>
                    </a:solidFill>
                    <a:latin typeface="Cambria Math" panose="02040503050406030204" pitchFamily="18" charset="0"/>
                  </a:rPr>
                  <a:t>$\vec a,\vec b,\vec c$</a:t>
                </a:r>
                <a:r>
                  <a:rPr sz="2200" b="0">
                    <a:solidFill>
                      <a:srgbClr val="111827"/>
                    </a:solidFill>
                    <a:latin typeface="Arial"/>
                  </a:rPr>
                  <a:t> as three coterminous edges is </a:t>
                </a:r>
                <a:r>
                  <a:rPr lang="en-IN" sz="2200">
                    <a:solidFill>
                      <a:srgbClr val="111827"/>
                    </a:solidFill>
                    <a:latin typeface="Cambria Math" panose="02040503050406030204" pitchFamily="18" charset="0"/>
                  </a:rPr>
                  <a:t>$4\sqrt2$</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(C) height of parallelepiped formed by </a:t>
                </a:r>
                <a:r>
                  <a:rPr lang="en-IN" sz="2200">
                    <a:solidFill>
                      <a:srgbClr val="111827"/>
                    </a:solidFill>
                    <a:latin typeface="Cambria Math" panose="02040503050406030204" pitchFamily="18" charset="0"/>
                  </a:rPr>
                  <a:t>$\vec a,\vec b,\vec c$</a:t>
                </a:r>
                <a:r>
                  <a:rPr sz="2200" b="0">
                    <a:solidFill>
                      <a:srgbClr val="111827"/>
                    </a:solidFill>
                    <a:latin typeface="Arial"/>
                  </a:rPr>
                  <a:t> as three coterminous edges is </a:t>
                </a:r>
                <a:r>
                  <a:rPr lang="en-IN" sz="2200">
                    <a:solidFill>
                      <a:srgbClr val="111827"/>
                    </a:solidFill>
                    <a:latin typeface="Cambria Math" panose="02040503050406030204" pitchFamily="18" charset="0"/>
                  </a:rPr>
                  <a:t>$\frac{2\sqrt2}{\sqrt3}$</a:t>
                </a:r>
                <a:r>
                  <a:rPr sz="2200" b="0">
                    <a:solidFill>
                      <a:srgbClr val="111827"/>
                    </a:solidFill>
                    <a:latin typeface="Arial"/>
                  </a:rPr>
                  <a:t> whose base is a parallelogram with adjacent sides </a:t>
                </a:r>
                <a:r>
                  <a:rPr lang="en-IN" sz="2200">
                    <a:solidFill>
                      <a:srgbClr val="111827"/>
                    </a:solidFill>
                    <a:latin typeface="Cambria Math" panose="02040503050406030204" pitchFamily="18" charset="0"/>
                  </a:rPr>
                  <a:t>$\vec a,\vec b$</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(D) height of parallelepiped formed by </a:t>
                </a:r>
                <a:r>
                  <a:rPr lang="en-IN" sz="2200">
                    <a:solidFill>
                      <a:srgbClr val="111827"/>
                    </a:solidFill>
                    <a:latin typeface="Cambria Math" panose="02040503050406030204" pitchFamily="18" charset="0"/>
                  </a:rPr>
                  <a:t>$\vec a,\vec b,\vec c$</a:t>
                </a:r>
                <a:r>
                  <a:rPr sz="2200" b="0">
                    <a:solidFill>
                      <a:srgbClr val="111827"/>
                    </a:solidFill>
                    <a:latin typeface="Arial"/>
                  </a:rPr>
                  <a:t> as three coterminous edges is </a:t>
                </a:r>
                <a:r>
                  <a:rPr lang="en-IN" sz="2200">
                    <a:solidFill>
                      <a:srgbClr val="111827"/>
                    </a:solidFill>
                    <a:latin typeface="Cambria Math" panose="02040503050406030204" pitchFamily="18" charset="0"/>
                  </a:rPr>
                  <a:t>$\frac{4\sqrt2}{\sqrt3}$</a:t>
                </a:r>
                <a:r>
                  <a:rPr sz="2200" b="0">
                    <a:solidFill>
                      <a:srgbClr val="111827"/>
                    </a:solidFill>
                    <a:latin typeface="Arial"/>
                  </a:rPr>
                  <a:t> whose base is a parallelogram with adjacent sides </a:t>
                </a:r>
                <a:r>
                  <a:rPr lang="en-IN" sz="2200">
                    <a:solidFill>
                      <a:srgbClr val="111827"/>
                    </a:solidFill>
                    <a:latin typeface="Cambria Math" panose="02040503050406030204" pitchFamily="18" charset="0"/>
                  </a:rPr>
                  <a:t>$\vec a,\vec b$</a:t>
                </a:r>
                <a:endParaRPr sz="2200">
                  <a:solidFill>
                    <a:srgbClr val="111827"/>
                  </a:solidFill>
                </a:endParaRPr>
              </a:p>
            </p:txBody>
          </p:sp>
        </mc:Fallback>
      </mc:AlternateContent>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Gram determinant: volume and height of a parallelepiped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Gram determinant gives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32</m:t>
                    </m:r>
                  </m:oMath>
                </a14:m>
                <a:r>
                  <a:rPr sz="2400" b="0">
                    <a:solidFill>
                      <a:srgbClr val="78350F"/>
                    </a:solidFill>
                    <a:latin typeface="Arial"/>
                  </a:rPr>
                  <a:t>; volume </a:t>
                </a:r>
                <a14:m>
                  <m:oMath xmlns:m="http://schemas.openxmlformats.org/officeDocument/2006/math">
                    <m:r>
                      <m:rPr>
                        <m:sty m:val="p"/>
                      </m:rPr>
                      <a:rPr lang="en-IN" sz="2400">
                        <a:solidFill>
                          <a:srgbClr val="78350F"/>
                        </a:solidFill>
                        <a:latin typeface="Cambria Math" panose="02040503050406030204" pitchFamily="18" charset="0"/>
                      </a:rPr>
                      <m:t>=</m:t>
                    </m:r>
                  </m:oMath>
                </a14:m>
                <a:r>
                  <a:rPr sz="2400" b="0">
                    <a:solidFill>
                      <a:srgbClr val="78350F"/>
                    </a:solidFill>
                    <a:latin typeface="Arial"/>
                  </a:rPr>
                  <a:t> base area </a:t>
                </a:r>
                <a14:m>
                  <m:oMath xmlns:m="http://schemas.openxmlformats.org/officeDocument/2006/math">
                    <m:r>
                      <m:rPr>
                        <m:sty m:val="p"/>
                      </m:rPr>
                      <a:rPr lang="en-IN" sz="2400">
                        <a:solidFill>
                          <a:srgbClr val="78350F"/>
                        </a:solidFill>
                        <a:latin typeface="Cambria Math" panose="02040503050406030204" pitchFamily="18" charset="0"/>
                      </a:rPr>
                      <m:t>×</m:t>
                    </m:r>
                  </m:oMath>
                </a14:m>
                <a:r>
                  <a:rPr sz="2400" b="0">
                    <a:solidFill>
                      <a:srgbClr val="78350F"/>
                    </a:solidFill>
                    <a:latin typeface="Arial"/>
                  </a:rPr>
                  <a:t> height with the base on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Gram determinant gives </a:t>
                </a:r>
                <a:r>
                  <a:rPr lang="en-IN" sz="2400">
                    <a:solidFill>
                      <a:srgbClr val="78350F"/>
                    </a:solidFill>
                    <a:latin typeface="Cambria Math" panose="02040503050406030204" pitchFamily="18" charset="0"/>
                  </a:rPr>
                  <a:t>$[\vec a\ \vec b\ \vec c]^2=32$</a:t>
                </a:r>
                <a:r>
                  <a:rPr sz="2400" b="0">
                    <a:solidFill>
                      <a:srgbClr val="78350F"/>
                    </a:solidFill>
                    <a:latin typeface="Arial"/>
                  </a:rPr>
                  <a:t>; volume </a:t>
                </a:r>
                <a:r>
                  <a:rPr lang="en-IN" sz="2400">
                    <a:solidFill>
                      <a:srgbClr val="78350F"/>
                    </a:solidFill>
                    <a:latin typeface="Cambria Math" panose="02040503050406030204" pitchFamily="18" charset="0"/>
                  </a:rPr>
                  <a:t>$=$</a:t>
                </a:r>
                <a:r>
                  <a:rPr sz="2400" b="0">
                    <a:solidFill>
                      <a:srgbClr val="78350F"/>
                    </a:solidFill>
                    <a:latin typeface="Arial"/>
                  </a:rPr>
                  <a:t> base area </a:t>
                </a:r>
                <a:r>
                  <a:rPr lang="en-IN" sz="2400">
                    <a:solidFill>
                      <a:srgbClr val="78350F"/>
                    </a:solidFill>
                    <a:latin typeface="Cambria Math" panose="02040503050406030204" pitchFamily="18" charset="0"/>
                  </a:rPr>
                  <a:t>$\times$</a:t>
                </a:r>
                <a:r>
                  <a:rPr sz="2400" b="0">
                    <a:solidFill>
                      <a:srgbClr val="78350F"/>
                    </a:solidFill>
                    <a:latin typeface="Arial"/>
                  </a:rPr>
                  <a:t> height with the base on </a:t>
                </a:r>
                <a:r>
                  <a:rPr lang="en-IN" sz="2400">
                    <a:solidFill>
                      <a:srgbClr val="78350F"/>
                    </a:solidFill>
                    <a:latin typeface="Cambria Math" panose="02040503050406030204" pitchFamily="18" charset="0"/>
                  </a:rPr>
                  <a:t>$\vec a,\vec 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mr>
                          <m:m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mr>
                          <m:m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mr>
                        </m:m>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4</m:t>
                              </m:r>
                            </m:e>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2</m:t>
                              </m:r>
                            </m:e>
                          </m:mr>
                          <m:mr>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4</m:t>
                              </m:r>
                            </m:e>
                            <m:e>
                              <m:r>
                                <a:rPr lang="en-IN" sz="2400" i="1">
                                  <a:solidFill>
                                    <a:srgbClr val="111827"/>
                                  </a:solidFill>
                                  <a:latin typeface="Cambria Math" panose="02040503050406030204" pitchFamily="18" charset="0"/>
                                </a:rPr>
                                <m:t>2</m:t>
                              </m:r>
                            </m:e>
                          </m:mr>
                          <m:mr>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4</m:t>
                              </m:r>
                            </m:e>
                          </m:mr>
                        </m:m>
                      </m:e>
                    </m:d>
                  </m:oMath>
                </a14:m>
                <a:r>
                  <a:rPr sz="2400" b="0">
                    <a:solidFill>
                      <a:srgbClr val="111827"/>
                    </a:solidFill>
                    <a:latin typeface="Arial"/>
                  </a:rPr>
                  <a:t> (since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 \vec b\ \vec c]^2=\left|\begin{matrix}\vec a\cdot\vec a&amp;\vec a\cdot\vec b&amp;\vec a\cdot\vec c\\\vec b\cdot\vec a&amp;\vec b\cdot\vec b&amp;\vec b\cdot\vec c\\\vec c\cdot\vec a&amp;\vec c\cdot\vec b&amp;\vec c\cdot\vec c\end{matrix}\right|=\left|\begin{matrix}4&amp;2&amp;2\\2&amp;4&amp;2\\2&amp;2&amp;4\end{matrix}\right|$</a:t>
                </a:r>
                <a:r>
                  <a:rPr sz="2400" b="0">
                    <a:solidFill>
                      <a:srgbClr val="111827"/>
                    </a:solidFill>
                    <a:latin typeface="Arial"/>
                  </a:rPr>
                  <a:t> (since </a:t>
                </a:r>
                <a:r>
                  <a:rPr lang="en-IN" sz="2400">
                    <a:solidFill>
                      <a:srgbClr val="111827"/>
                    </a:solidFill>
                    <a:latin typeface="Cambria Math" panose="02040503050406030204" pitchFamily="18" charset="0"/>
                  </a:rPr>
                  <a:t>$\vec a\cdot\vec b=4\cos60^\circ=2$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volume is </a:t>
                </a:r>
                <a14:m>
                  <m:oMath xmlns:m="http://schemas.openxmlformats.org/officeDocument/2006/math">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(B) is true and (A) </a:t>
                </a:r>
                <a14:m>
                  <m:oMath xmlns:m="http://schemas.openxmlformats.org/officeDocument/2006/math">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is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Base area (parallelogram 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𝑏𝑎𝑠𝑒 𝑎𝑟𝑒𝑎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ℎ𝑒𝑖𝑔ℎ𝑡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(C) is true and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is false. Answer: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$=4(12)-2(4)+2(-4)=48-8-8=32$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volume is </a:t>
                </a:r>
                <a:r>
                  <a:rPr lang="en-IN" sz="2400">
                    <a:solidFill>
                      <a:srgbClr val="111827"/>
                    </a:solidFill>
                    <a:latin typeface="Cambria Math" panose="02040503050406030204" pitchFamily="18" charset="0"/>
                  </a:rPr>
                  <a:t>$v=|[\vec a\ \vec b\ \vec c]|=4\sqrt2$</a:t>
                </a:r>
                <a:r>
                  <a:rPr sz="2400" b="0">
                    <a:solidFill>
                      <a:srgbClr val="111827"/>
                    </a:solidFill>
                    <a:latin typeface="Arial"/>
                  </a:rPr>
                  <a:t>: (B) is true and (A) </a:t>
                </a:r>
                <a:r>
                  <a:rPr lang="en-IN" sz="2400">
                    <a:solidFill>
                      <a:srgbClr val="111827"/>
                    </a:solidFill>
                    <a:latin typeface="Cambria Math" panose="02040503050406030204" pitchFamily="18" charset="0"/>
                  </a:rPr>
                  <a:t>$8\sqrt2$</a:t>
                </a:r>
                <a:r>
                  <a:rPr sz="2400" b="0">
                    <a:solidFill>
                      <a:srgbClr val="111827"/>
                    </a:solidFill>
                    <a:latin typeface="Arial"/>
                  </a:rPr>
                  <a:t> is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Base area (parallelogram on </a:t>
                </a:r>
                <a:r>
                  <a:rPr lang="en-IN" sz="2400">
                    <a:solidFill>
                      <a:srgbClr val="111827"/>
                    </a:solidFill>
                    <a:latin typeface="Cambria Math" panose="02040503050406030204" pitchFamily="18" charset="0"/>
                  </a:rPr>
                  <a:t>$\vec a,\vec b$</a:t>
                </a:r>
                <a:r>
                  <a:rPr sz="2400" b="0">
                    <a:solidFill>
                      <a:srgbClr val="111827"/>
                    </a:solidFill>
                    <a:latin typeface="Arial"/>
                  </a:rPr>
                  <a:t>) </a:t>
                </a:r>
                <a:r>
                  <a:rPr lang="en-IN" sz="2400">
                    <a:solidFill>
                      <a:srgbClr val="111827"/>
                    </a:solidFill>
                    <a:latin typeface="Cambria Math" panose="02040503050406030204" pitchFamily="18" charset="0"/>
                  </a:rPr>
                  <a:t>$=|\vec a\times\vec b|=2\cdot2\cdot\frac{\sqrt3}{2}=2\sqrt3$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$v=(\text{base area})(\text{height})\Rightarrow4\sqrt2=2\sqrt3\cdot h$</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$h=\frac{2\sqrt2}{\sqrt3}$</a:t>
                </a:r>
                <a:r>
                  <a:rPr sz="2400" b="0">
                    <a:solidFill>
                      <a:srgbClr val="111827"/>
                    </a:solidFill>
                    <a:latin typeface="Arial"/>
                  </a:rPr>
                  <a:t>: (C) is true and (D) </a:t>
                </a:r>
                <a:r>
                  <a:rPr lang="en-IN" sz="2400">
                    <a:solidFill>
                      <a:srgbClr val="111827"/>
                    </a:solidFill>
                    <a:latin typeface="Cambria Math" panose="02040503050406030204" pitchFamily="18" charset="0"/>
                  </a:rPr>
                  <a:t>$\frac{4\sqrt2}{\sqrt3}$</a:t>
                </a:r>
                <a:r>
                  <a:rPr sz="2400" b="0">
                    <a:solidFill>
                      <a:srgbClr val="111827"/>
                    </a:solidFill>
                    <a:latin typeface="Arial"/>
                  </a:rPr>
                  <a:t> is false. Answer: B,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a:t>
            </a:r>
            <a:endParaRPr sz="2800">
              <a:solidFill>
                <a:srgbClr val="15803D"/>
              </a:solidFill>
            </a:endParaRP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tips </a:t>
                </a:r>
                <a14:m>
                  <m:oMath xmlns:m="http://schemas.openxmlformats.org/officeDocument/2006/math">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oMath>
                </a14:m>
                <a:r>
                  <a:rPr sz="2400" b="0">
                    <a:solidFill>
                      <a:srgbClr val="78350F"/>
                    </a:solidFill>
                    <a:latin typeface="Arial"/>
                  </a:rPr>
                  <a:t> and the origin are pairwise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 apart, so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𝐶</m:t>
                    </m:r>
                  </m:oMath>
                </a14:m>
                <a:r>
                  <a:rPr sz="2400" b="0">
                    <a:solidFill>
                      <a:srgbClr val="78350F"/>
                    </a:solidFill>
                    <a:latin typeface="Arial"/>
                  </a:rPr>
                  <a:t> is a regular tetrahedron of edge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 a parallelepiped has </a:t>
                </a:r>
                <a14:m>
                  <m:oMath xmlns:m="http://schemas.openxmlformats.org/officeDocument/2006/math">
                    <m:r>
                      <a:rPr lang="en-IN" sz="2400" i="1">
                        <a:solidFill>
                          <a:srgbClr val="78350F"/>
                        </a:solidFill>
                        <a:latin typeface="Cambria Math" panose="02040503050406030204" pitchFamily="18" charset="0"/>
                      </a:rPr>
                      <m:t>6</m:t>
                    </m:r>
                  </m:oMath>
                </a14:m>
                <a:r>
                  <a:rPr sz="2400" b="0">
                    <a:solidFill>
                      <a:srgbClr val="78350F"/>
                    </a:solidFill>
                    <a:latin typeface="Arial"/>
                  </a:rPr>
                  <a:t> times its volume.</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tips </a:t>
                </a:r>
                <a:r>
                  <a:rPr lang="en-IN" sz="2400">
                    <a:solidFill>
                      <a:srgbClr val="78350F"/>
                    </a:solidFill>
                    <a:latin typeface="Cambria Math" panose="02040503050406030204" pitchFamily="18" charset="0"/>
                  </a:rPr>
                  <a:t>$A,B,C$</a:t>
                </a:r>
                <a:r>
                  <a:rPr sz="2400" b="0">
                    <a:solidFill>
                      <a:srgbClr val="78350F"/>
                    </a:solidFill>
                    <a:latin typeface="Arial"/>
                  </a:rPr>
                  <a:t> and the origin are pairwise </a:t>
                </a:r>
                <a:r>
                  <a:rPr lang="en-IN" sz="2400">
                    <a:solidFill>
                      <a:srgbClr val="78350F"/>
                    </a:solidFill>
                    <a:latin typeface="Cambria Math" panose="02040503050406030204" pitchFamily="18" charset="0"/>
                  </a:rPr>
                  <a:t>$2$</a:t>
                </a:r>
                <a:r>
                  <a:rPr sz="2400" b="0">
                    <a:solidFill>
                      <a:srgbClr val="78350F"/>
                    </a:solidFill>
                    <a:latin typeface="Arial"/>
                  </a:rPr>
                  <a:t> apart, so </a:t>
                </a:r>
                <a:r>
                  <a:rPr lang="en-IN" sz="2400">
                    <a:solidFill>
                      <a:srgbClr val="78350F"/>
                    </a:solidFill>
                    <a:latin typeface="Cambria Math" panose="02040503050406030204" pitchFamily="18" charset="0"/>
                  </a:rPr>
                  <a:t>$OABC$</a:t>
                </a:r>
                <a:r>
                  <a:rPr sz="2400" b="0">
                    <a:solidFill>
                      <a:srgbClr val="78350F"/>
                    </a:solidFill>
                    <a:latin typeface="Arial"/>
                  </a:rPr>
                  <a:t> is a regular tetrahedron of edge </a:t>
                </a:r>
                <a:r>
                  <a:rPr lang="en-IN" sz="2400">
                    <a:solidFill>
                      <a:srgbClr val="78350F"/>
                    </a:solidFill>
                    <a:latin typeface="Cambria Math" panose="02040503050406030204" pitchFamily="18" charset="0"/>
                  </a:rPr>
                  <a:t>$2$</a:t>
                </a:r>
                <a:r>
                  <a:rPr sz="2400" b="0">
                    <a:solidFill>
                      <a:srgbClr val="78350F"/>
                    </a:solidFill>
                    <a:latin typeface="Arial"/>
                  </a:rPr>
                  <a:t>; a parallelepiped has </a:t>
                </a:r>
                <a:r>
                  <a:rPr lang="en-IN" sz="2400">
                    <a:solidFill>
                      <a:srgbClr val="78350F"/>
                    </a:solidFill>
                    <a:latin typeface="Cambria Math" panose="02040503050406030204" pitchFamily="18" charset="0"/>
                  </a:rPr>
                  <a:t>$6$</a:t>
                </a:r>
                <a:r>
                  <a:rPr sz="2400" b="0">
                    <a:solidFill>
                      <a:srgbClr val="78350F"/>
                    </a:solidFill>
                    <a:latin typeface="Arial"/>
                  </a:rPr>
                  <a:t> times its volume.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similarly for the other pairs, so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 regular tetrahedron of edge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of a regular tetrahedron of edge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𝑠</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𝑉</m:t>
                        </m:r>
                      </m:e>
                      <m:sub>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b|^2=4+4-2\cdot2\cdot2\cos60^\circ=4$</a:t>
                </a:r>
                <a:r>
                  <a:rPr sz="2400" b="0">
                    <a:solidFill>
                      <a:srgbClr val="111827"/>
                    </a:solidFill>
                    <a:latin typeface="Arial"/>
                  </a:rPr>
                  <a:t>, and similarly for the other pairs, so </a:t>
                </a:r>
                <a:r>
                  <a:rPr lang="en-IN" sz="2400">
                    <a:solidFill>
                      <a:srgbClr val="111827"/>
                    </a:solidFill>
                    <a:latin typeface="Cambria Math" panose="02040503050406030204" pitchFamily="18" charset="0"/>
                  </a:rPr>
                  <a:t>$OA=OB=OC=AB=BC=CA=2$</a:t>
                </a:r>
                <a:r>
                  <a:rPr sz="2400" b="0">
                    <a:solidFill>
                      <a:srgbClr val="111827"/>
                    </a:solidFill>
                    <a:latin typeface="Arial"/>
                  </a:rPr>
                  <a:t>: a regular tetrahedron of edge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of a regular tetrahedron of edge </a:t>
                </a:r>
                <a:r>
                  <a:rPr lang="en-IN" sz="2400">
                    <a:solidFill>
                      <a:srgbClr val="111827"/>
                    </a:solidFill>
                    <a:latin typeface="Cambria Math" panose="02040503050406030204" pitchFamily="18" charset="0"/>
                  </a:rPr>
                  <a:t>$s$</a:t>
                </a:r>
                <a:r>
                  <a:rPr sz="2400" b="0">
                    <a:solidFill>
                      <a:srgbClr val="111827"/>
                    </a:solidFill>
                    <a:latin typeface="Arial"/>
                  </a:rPr>
                  <a:t> is </a:t>
                </a:r>
                <a:r>
                  <a:rPr lang="en-IN" sz="2400">
                    <a:solidFill>
                      <a:srgbClr val="111827"/>
                    </a:solidFill>
                    <a:latin typeface="Cambria Math" panose="02040503050406030204" pitchFamily="18" charset="0"/>
                  </a:rPr>
                  <a:t>$\frac{s^3}{6\sqrt2}$</a:t>
                </a:r>
                <a:r>
                  <a:rPr sz="2400" b="0">
                    <a:solidFill>
                      <a:srgbClr val="111827"/>
                    </a:solidFill>
                    <a:latin typeface="Arial"/>
                  </a:rPr>
                  <a:t>, so </a:t>
                </a:r>
                <a:r>
                  <a:rPr lang="en-IN" sz="2400">
                    <a:solidFill>
                      <a:srgbClr val="111827"/>
                    </a:solidFill>
                    <a:latin typeface="Cambria Math" panose="02040503050406030204" pitchFamily="18" charset="0"/>
                  </a:rPr>
                  <a:t>$V_{OABC}=\frac{8}{6\sqrt2}$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parallelepiped 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has volume </a:t>
                </a:r>
                <a14:m>
                  <m:oMath xmlns:m="http://schemas.openxmlformats.org/officeDocument/2006/math">
                    <m:r>
                      <a:rPr lang="en-IN" sz="2400" i="1">
                        <a:solidFill>
                          <a:srgbClr val="111827"/>
                        </a:solidFill>
                        <a:latin typeface="Cambria Math" panose="02040503050406030204" pitchFamily="18" charset="0"/>
                      </a:rPr>
                      <m:t>6</m:t>
                    </m:r>
                    <m:sSub>
                      <m:e>
                        <m:r>
                          <a:rPr lang="en-IN" sz="2400" i="1">
                            <a:solidFill>
                              <a:srgbClr val="111827"/>
                            </a:solidFill>
                            <a:latin typeface="Cambria Math" panose="02040503050406030204" pitchFamily="18" charset="0"/>
                          </a:rPr>
                          <m:t>𝑉</m:t>
                        </m:r>
                      </m:e>
                      <m:sub>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Height over the face 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(area </a:t>
                </a:r>
                <a14:m>
                  <m:oMath xmlns:m="http://schemas.openxmlformats.org/officeDocument/2006/math">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so (B) and (C) hold.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parallelepiped on </a:t>
                </a:r>
                <a:r>
                  <a:rPr lang="en-IN" sz="2400">
                    <a:solidFill>
                      <a:srgbClr val="111827"/>
                    </a:solidFill>
                    <a:latin typeface="Cambria Math" panose="02040503050406030204" pitchFamily="18" charset="0"/>
                  </a:rPr>
                  <a:t>$\vec a,\vec b,\vec c$</a:t>
                </a:r>
                <a:r>
                  <a:rPr sz="2400" b="0">
                    <a:solidFill>
                      <a:srgbClr val="111827"/>
                    </a:solidFill>
                    <a:latin typeface="Arial"/>
                  </a:rPr>
                  <a:t> has volume </a:t>
                </a:r>
                <a:r>
                  <a:rPr lang="en-IN" sz="2400">
                    <a:solidFill>
                      <a:srgbClr val="111827"/>
                    </a:solidFill>
                    <a:latin typeface="Cambria Math" panose="02040503050406030204" pitchFamily="18" charset="0"/>
                  </a:rPr>
                  <a:t>$6V_{OABC}=\frac{8}{\sqrt2}=4\sqrt2$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Height over the face on </a:t>
                </a:r>
                <a:r>
                  <a:rPr lang="en-IN" sz="2400">
                    <a:solidFill>
                      <a:srgbClr val="111827"/>
                    </a:solidFill>
                    <a:latin typeface="Cambria Math" panose="02040503050406030204" pitchFamily="18" charset="0"/>
                  </a:rPr>
                  <a:t>$\vec a,\vec b$</a:t>
                </a:r>
                <a:r>
                  <a:rPr sz="2400" b="0">
                    <a:solidFill>
                      <a:srgbClr val="111827"/>
                    </a:solidFill>
                    <a:latin typeface="Arial"/>
                  </a:rPr>
                  <a:t> (area </a:t>
                </a:r>
                <a:r>
                  <a:rPr lang="en-IN" sz="2400">
                    <a:solidFill>
                      <a:srgbClr val="111827"/>
                    </a:solidFill>
                    <a:latin typeface="Cambria Math" panose="02040503050406030204" pitchFamily="18" charset="0"/>
                  </a:rPr>
                  <a:t>$2\sqrt3$</a:t>
                </a:r>
                <a:r>
                  <a:rPr sz="2400" b="0">
                    <a:solidFill>
                      <a:srgbClr val="111827"/>
                    </a:solidFill>
                    <a:latin typeface="Arial"/>
                  </a:rPr>
                  <a:t>): </a:t>
                </a:r>
                <a:r>
                  <a:rPr lang="en-IN" sz="2400">
                    <a:solidFill>
                      <a:srgbClr val="111827"/>
                    </a:solidFill>
                    <a:latin typeface="Cambria Math" panose="02040503050406030204" pitchFamily="18" charset="0"/>
                  </a:rPr>
                  <a:t>$h=\frac{4\sqrt2}{2\sqrt3}=\frac{2\sqrt2}{\sqrt3}$</a:t>
                </a:r>
                <a:r>
                  <a:rPr sz="2400" b="0">
                    <a:solidFill>
                      <a:srgbClr val="111827"/>
                    </a:solidFill>
                    <a:latin typeface="Arial"/>
                  </a:rPr>
                  <a:t>, so (B) and (C) hold.</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a:t>
            </a:r>
            <a:endParaRPr sz="2800">
              <a:solidFill>
                <a:srgbClr val="15803D"/>
              </a:solidFill>
            </a:endParaRP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Equal edges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with equal pairwise angles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give a regular tetrahedron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of edge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the parallelepiped on the three edges has volume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Gram determinant for equal lengths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and angle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3</m:t>
                        </m:r>
                      </m:sup>
                    </m:sSup>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this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6</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Height of a parallelepiped over the face 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Equal edges </a:t>
                </a:r>
                <a:r>
                  <a:rPr lang="en-IN" sz="2400">
                    <a:solidFill>
                      <a:srgbClr val="111827"/>
                    </a:solidFill>
                    <a:latin typeface="Cambria Math" panose="02040503050406030204" pitchFamily="18" charset="0"/>
                  </a:rPr>
                  <a:t>$a$</a:t>
                </a:r>
                <a:r>
                  <a:rPr sz="2400" b="0">
                    <a:solidFill>
                      <a:srgbClr val="111827"/>
                    </a:solidFill>
                    <a:latin typeface="Arial"/>
                  </a:rPr>
                  <a:t> with equal pairwise angles </a:t>
                </a:r>
                <a:r>
                  <a:rPr lang="en-IN" sz="2400">
                    <a:solidFill>
                      <a:srgbClr val="111827"/>
                    </a:solidFill>
                    <a:latin typeface="Cambria Math" panose="02040503050406030204" pitchFamily="18" charset="0"/>
                  </a:rPr>
                  <a:t>$60^\circ$</a:t>
                </a:r>
                <a:r>
                  <a:rPr sz="2400" b="0">
                    <a:solidFill>
                      <a:srgbClr val="111827"/>
                    </a:solidFill>
                    <a:latin typeface="Arial"/>
                  </a:rPr>
                  <a:t> give a regular tetrahedron </a:t>
                </a:r>
                <a:r>
                  <a:rPr lang="en-IN" sz="2400">
                    <a:solidFill>
                      <a:srgbClr val="111827"/>
                    </a:solidFill>
                    <a:latin typeface="Cambria Math" panose="02040503050406030204" pitchFamily="18" charset="0"/>
                  </a:rPr>
                  <a:t>$OABC$</a:t>
                </a:r>
                <a:r>
                  <a:rPr sz="2400" b="0">
                    <a:solidFill>
                      <a:srgbClr val="111827"/>
                    </a:solidFill>
                    <a:latin typeface="Arial"/>
                  </a:rPr>
                  <a:t> of edge </a:t>
                </a:r>
                <a:r>
                  <a:rPr lang="en-IN" sz="2400">
                    <a:solidFill>
                      <a:srgbClr val="111827"/>
                    </a:solidFill>
                    <a:latin typeface="Cambria Math" panose="02040503050406030204" pitchFamily="18" charset="0"/>
                  </a:rPr>
                  <a:t>$a$</a:t>
                </a:r>
                <a:r>
                  <a:rPr sz="2400" b="0">
                    <a:solidFill>
                      <a:srgbClr val="111827"/>
                    </a:solidFill>
                    <a:latin typeface="Arial"/>
                  </a:rPr>
                  <a:t>; the parallelepiped on the three edges has volume </a:t>
                </a:r>
                <a:r>
                  <a:rPr lang="en-IN" sz="2400">
                    <a:solidFill>
                      <a:srgbClr val="111827"/>
                    </a:solidFill>
                    <a:latin typeface="Cambria Math" panose="02040503050406030204" pitchFamily="18" charset="0"/>
                  </a:rPr>
                  <a:t>$6\cdot\frac{a^3}{6\sqrt2}=\frac{a^3}{\sqrt2}$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Gram determinant for equal lengths </a:t>
                </a:r>
                <a:r>
                  <a:rPr lang="en-IN" sz="2400">
                    <a:solidFill>
                      <a:srgbClr val="111827"/>
                    </a:solidFill>
                    <a:latin typeface="Cambria Math" panose="02040503050406030204" pitchFamily="18" charset="0"/>
                  </a:rPr>
                  <a:t>$a$</a:t>
                </a:r>
                <a:r>
                  <a:rPr sz="2400" b="0">
                    <a:solidFill>
                      <a:srgbClr val="111827"/>
                    </a:solidFill>
                    <a:latin typeface="Arial"/>
                  </a:rPr>
                  <a:t> and angle </a:t>
                </a:r>
                <a:r>
                  <a:rPr lang="en-IN" sz="2400">
                    <a:solidFill>
                      <a:srgbClr val="111827"/>
                    </a:solidFill>
                    <a:latin typeface="Cambria Math" panose="02040503050406030204" pitchFamily="18" charset="0"/>
                  </a:rPr>
                  <a:t>$\varphi$</a:t>
                </a:r>
                <a:r>
                  <a:rPr sz="2400" b="0">
                    <a:solidFill>
                      <a:srgbClr val="111827"/>
                    </a:solidFill>
                    <a:latin typeface="Arial"/>
                  </a:rPr>
                  <a:t>: </a:t>
                </a:r>
                <a:r>
                  <a:rPr lang="en-IN" sz="2400">
                    <a:solidFill>
                      <a:srgbClr val="111827"/>
                    </a:solidFill>
                    <a:latin typeface="Cambria Math" panose="02040503050406030204" pitchFamily="18" charset="0"/>
                  </a:rPr>
                  <a:t>$[\vec a\ \vec b\ \vec c]^2=a^6(1-3\cos^2\varphi+2\cos^3\varphi)$</a:t>
                </a:r>
                <a:r>
                  <a:rPr sz="2400" b="0">
                    <a:solidFill>
                      <a:srgbClr val="111827"/>
                    </a:solidFill>
                    <a:latin typeface="Arial"/>
                  </a:rPr>
                  <a:t>; for </a:t>
                </a:r>
                <a:r>
                  <a:rPr lang="en-IN" sz="2400">
                    <a:solidFill>
                      <a:srgbClr val="111827"/>
                    </a:solidFill>
                    <a:latin typeface="Cambria Math" panose="02040503050406030204" pitchFamily="18" charset="0"/>
                  </a:rPr>
                  <a:t>$\varphi=60^\circ$</a:t>
                </a:r>
                <a:r>
                  <a:rPr sz="2400" b="0">
                    <a:solidFill>
                      <a:srgbClr val="111827"/>
                    </a:solidFill>
                    <a:latin typeface="Arial"/>
                  </a:rPr>
                  <a:t> this is </a:t>
                </a:r>
                <a:r>
                  <a:rPr lang="en-IN" sz="2400">
                    <a:solidFill>
                      <a:srgbClr val="111827"/>
                    </a:solidFill>
                    <a:latin typeface="Cambria Math" panose="02040503050406030204" pitchFamily="18" charset="0"/>
                  </a:rPr>
                  <a:t>$\frac{a^6}{2}$</a:t>
                </a:r>
                <a:r>
                  <a:rPr sz="2400" b="0">
                    <a:solidFill>
                      <a:srgbClr val="111827"/>
                    </a:solidFill>
                    <a:latin typeface="Arial"/>
                  </a:rPr>
                  <a:t> (</a:t>
                </a:r>
                <a:r>
                  <a:rPr lang="en-IN" sz="2400">
                    <a:solidFill>
                      <a:srgbClr val="111827"/>
                    </a:solidFill>
                    <a:latin typeface="Cambria Math" panose="02040503050406030204" pitchFamily="18" charset="0"/>
                  </a:rPr>
                  <a:t>$=32$</a:t>
                </a:r>
                <a:r>
                  <a:rPr sz="2400" b="0">
                    <a:solidFill>
                      <a:srgbClr val="111827"/>
                    </a:solidFill>
                    <a:latin typeface="Arial"/>
                  </a:rPr>
                  <a:t> for </a:t>
                </a:r>
                <a:r>
                  <a:rPr lang="en-IN" sz="2400">
                    <a:solidFill>
                      <a:srgbClr val="111827"/>
                    </a:solidFill>
                    <a:latin typeface="Cambria Math" panose="02040503050406030204" pitchFamily="18" charset="0"/>
                  </a:rPr>
                  <a:t>$a=2$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Height of a parallelepiped over the face on </a:t>
                </a:r>
                <a:r>
                  <a:rPr lang="en-IN" sz="2400">
                    <a:solidFill>
                      <a:srgbClr val="111827"/>
                    </a:solidFill>
                    <a:latin typeface="Cambria Math" panose="02040503050406030204" pitchFamily="18" charset="0"/>
                  </a:rPr>
                  <a:t>$\vec a,\vec b$</a:t>
                </a:r>
                <a:r>
                  <a:rPr sz="2400" b="0">
                    <a:solidFill>
                      <a:srgbClr val="111827"/>
                    </a:solidFill>
                    <a:latin typeface="Arial"/>
                  </a:rPr>
                  <a:t> is </a:t>
                </a:r>
                <a:r>
                  <a:rPr lang="en-IN" sz="2400">
                    <a:solidFill>
                      <a:srgbClr val="111827"/>
                    </a:solidFill>
                    <a:latin typeface="Cambria Math" panose="02040503050406030204" pitchFamily="18" charset="0"/>
                  </a:rPr>
                  <a:t>$\frac{|[\vec a\ \vec b\ \vec c]|}{|\vec a\times\vec 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43687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volume of the parallelepiped whose coterminous edges are represented by the vectors </a:t>
                </a:r>
                <a14:m>
                  <m:oMath xmlns:m="http://schemas.openxmlformats.org/officeDocument/2006/math">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where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18</m:t>
                    </m:r>
                  </m:oMath>
                </a14:m>
                <a:r>
                  <a:rPr sz="2400" b="0">
                    <a:solidFill>
                      <a:srgbClr val="111827"/>
                    </a:solidFill>
                    <a:latin typeface="Arial"/>
                  </a:rPr>
                  <a:t> cubic units, then the values of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in the interval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is/are: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oMath>
                </a14:m>
                <a:endParaRPr sz="2400">
                  <a:solidFill>
                    <a:srgbClr val="111827"/>
                  </a:solidFill>
                </a:endParaRPr>
              </a:p>
            </p:txBody>
          </p:sp>
        </mc:Choice>
        <mc:Fallback>
          <p:sp>
            <p:nvSpPr>
              <p:cNvPr id="4" name="Rounded Rectangle 3"/>
              <p:cNvSpPr/>
              <p:nvPr/>
            </p:nvSpPr>
            <p:spPr>
              <a:xfrm>
                <a:off x="731520" y="1280160"/>
                <a:ext cx="10725912" cy="443687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volume of the parallelepiped whose coterminous edges are represented by the vectors </a:t>
                </a:r>
                <a:r>
                  <a:rPr lang="en-IN" sz="2400">
                    <a:solidFill>
                      <a:srgbClr val="111827"/>
                    </a:solidFill>
                    <a:latin typeface="Cambria Math" panose="02040503050406030204" pitchFamily="18" charset="0"/>
                  </a:rPr>
                  <a:t>$2\vec b\times\vec c$</a:t>
                </a:r>
                <a:r>
                  <a:rPr sz="2400" b="0">
                    <a:solidFill>
                      <a:srgbClr val="111827"/>
                    </a:solidFill>
                    <a:latin typeface="Arial"/>
                  </a:rPr>
                  <a:t>, </a:t>
                </a:r>
                <a:r>
                  <a:rPr lang="en-IN" sz="2400">
                    <a:solidFill>
                      <a:srgbClr val="111827"/>
                    </a:solidFill>
                    <a:latin typeface="Cambria Math" panose="02040503050406030204" pitchFamily="18" charset="0"/>
                  </a:rPr>
                  <a:t>$3\vec c\times\vec a$</a:t>
                </a:r>
                <a:r>
                  <a:rPr sz="2400" b="0">
                    <a:solidFill>
                      <a:srgbClr val="111827"/>
                    </a:solidFill>
                    <a:latin typeface="Arial"/>
                  </a:rPr>
                  <a:t> and </a:t>
                </a:r>
                <a:r>
                  <a:rPr lang="en-IN" sz="2400">
                    <a:solidFill>
                      <a:srgbClr val="111827"/>
                    </a:solidFill>
                    <a:latin typeface="Cambria Math" panose="02040503050406030204" pitchFamily="18" charset="0"/>
                  </a:rPr>
                  <a:t>$4\vec a\times\vec b$</a:t>
                </a:r>
                <a:r>
                  <a:rPr sz="2400" b="0">
                    <a:solidFill>
                      <a:srgbClr val="111827"/>
                    </a:solidFill>
                    <a:latin typeface="Arial"/>
                  </a:rPr>
                  <a:t> where </a:t>
                </a:r>
                <a:r>
                  <a:rPr lang="en-IN" sz="2400">
                    <a:solidFill>
                      <a:srgbClr val="111827"/>
                    </a:solidFill>
                    <a:latin typeface="Cambria Math" panose="02040503050406030204" pitchFamily="18" charset="0"/>
                  </a:rPr>
                  <a:t>$\vec a=(1+\sin\theta)\hat j+\sin2\theta\,\hat k$</a:t>
                </a:r>
                <a:r>
                  <a:rPr sz="2400" b="0">
                    <a:solidFill>
                      <a:srgbClr val="111827"/>
                    </a:solidFill>
                    <a:latin typeface="Arial"/>
                  </a:rPr>
                  <a:t>, </a:t>
                </a:r>
                <a:r>
                  <a:rPr lang="en-IN" sz="2400">
                    <a:solidFill>
                      <a:srgbClr val="111827"/>
                    </a:solidFill>
                    <a:latin typeface="Cambria Math" panose="02040503050406030204" pitchFamily="18" charset="0"/>
                  </a:rPr>
                  <a:t>$\vec b=\sin\left(\theta+\frac{2\pi}{3}\right)\hat i+\cos\left(\theta+\frac{2\pi}{3}\right)\hat j+\sin\left(2\theta+\frac{4\pi}{3}\right)\hat k$</a:t>
                </a:r>
                <a:r>
                  <a:rPr sz="2400" b="0">
                    <a:solidFill>
                      <a:srgbClr val="111827"/>
                    </a:solidFill>
                    <a:latin typeface="Arial"/>
                  </a:rPr>
                  <a:t>, </a:t>
                </a:r>
                <a:r>
                  <a:rPr lang="en-IN" sz="2400">
                    <a:solidFill>
                      <a:srgbClr val="111827"/>
                    </a:solidFill>
                    <a:latin typeface="Cambria Math" panose="02040503050406030204" pitchFamily="18" charset="0"/>
                  </a:rPr>
                  <a:t>$\vec c=\sin\left(\theta-\frac{2\pi}{3}\right)\hat i+\cos\left(\theta-\frac{2\pi}{3}\right)\hat j+\sin\left(2\theta-\frac{4\pi}{3}\right)\hat k$</a:t>
                </a:r>
                <a:r>
                  <a:rPr sz="2400" b="0">
                    <a:solidFill>
                      <a:srgbClr val="111827"/>
                    </a:solidFill>
                    <a:latin typeface="Arial"/>
                  </a:rPr>
                  <a:t> is </a:t>
                </a:r>
                <a:r>
                  <a:rPr lang="en-IN" sz="2400">
                    <a:solidFill>
                      <a:srgbClr val="111827"/>
                    </a:solidFill>
                    <a:latin typeface="Cambria Math" panose="02040503050406030204" pitchFamily="18" charset="0"/>
                  </a:rPr>
                  <a:t>$18$</a:t>
                </a:r>
                <a:r>
                  <a:rPr sz="2400" b="0">
                    <a:solidFill>
                      <a:srgbClr val="111827"/>
                    </a:solidFill>
                    <a:latin typeface="Arial"/>
                  </a:rPr>
                  <a:t> cubic units, then the values of </a:t>
                </a:r>
                <a:r>
                  <a:rPr lang="en-IN" sz="2400">
                    <a:solidFill>
                      <a:srgbClr val="111827"/>
                    </a:solidFill>
                    <a:latin typeface="Cambria Math" panose="02040503050406030204" pitchFamily="18" charset="0"/>
                  </a:rPr>
                  <a:t>$\theta$</a:t>
                </a:r>
                <a:r>
                  <a:rPr sz="2400" b="0">
                    <a:solidFill>
                      <a:srgbClr val="111827"/>
                    </a:solidFill>
                    <a:latin typeface="Arial"/>
                  </a:rPr>
                  <a:t>, in the interval </a:t>
                </a:r>
                <a:r>
                  <a:rPr lang="en-IN" sz="2400">
                    <a:solidFill>
                      <a:srgbClr val="111827"/>
                    </a:solidFill>
                    <a:latin typeface="Cambria Math" panose="02040503050406030204" pitchFamily="18" charset="0"/>
                  </a:rPr>
                  <a:t>$\left(0,\frac\pi2\right)$</a:t>
                </a:r>
                <a:r>
                  <a:rPr sz="2400" b="0">
                    <a:solidFill>
                      <a:srgbClr val="111827"/>
                    </a:solidFill>
                    <a:latin typeface="Arial"/>
                  </a:rPr>
                  <a:t>, is/are: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$\frac\pi9$</a:t>
                </a:r>
                <a:r>
                  <a:rPr sz="2400" b="0">
                    <a:solidFill>
                      <a:srgbClr val="111827"/>
                    </a:solidFill>
                    <a:latin typeface="Arial"/>
                  </a:rPr>
                  <a:t>   (B) </a:t>
                </a:r>
                <a:r>
                  <a:rPr lang="en-IN" sz="2400">
                    <a:solidFill>
                      <a:srgbClr val="111827"/>
                    </a:solidFill>
                    <a:latin typeface="Cambria Math" panose="02040503050406030204" pitchFamily="18" charset="0"/>
                  </a:rPr>
                  <a:t>$\frac{2\pi}{9}$</a:t>
                </a:r>
                <a:r>
                  <a:rPr sz="2400" b="0">
                    <a:solidFill>
                      <a:srgbClr val="111827"/>
                    </a:solidFill>
                    <a:latin typeface="Arial"/>
                  </a:rPr>
                  <a:t>   (C) </a:t>
                </a:r>
                <a:r>
                  <a:rPr lang="en-IN" sz="2400">
                    <a:solidFill>
                      <a:srgbClr val="111827"/>
                    </a:solidFill>
                    <a:latin typeface="Cambria Math" panose="02040503050406030204" pitchFamily="18" charset="0"/>
                  </a:rPr>
                  <a:t>$\frac\pi3$</a:t>
                </a:r>
                <a:r>
                  <a:rPr sz="2400" b="0">
                    <a:solidFill>
                      <a:srgbClr val="111827"/>
                    </a:solidFill>
                    <a:latin typeface="Arial"/>
                  </a:rPr>
                  <a:t>   (D) </a:t>
                </a:r>
                <a:r>
                  <a:rPr lang="en-IN" sz="2400">
                    <a:solidFill>
                      <a:srgbClr val="111827"/>
                    </a:solidFill>
                    <a:latin typeface="Cambria Math" panose="02040503050406030204" pitchFamily="18" charset="0"/>
                  </a:rPr>
                  <a:t>$\frac{4\pi}{9}$</a:t>
                </a:r>
                <a:endParaRPr sz="2400">
                  <a:solidFill>
                    <a:srgbClr val="111827"/>
                  </a:solidFill>
                </a:endParaRPr>
              </a:p>
            </p:txBody>
          </p:sp>
        </mc:Fallback>
      </mc:AlternateContent>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Scalar triple product of reciprocal-type edges, Trigonometric equations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Volume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24</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(not </a:t>
                </a:r>
                <a14:m>
                  <m:oMath xmlns:m="http://schemas.openxmlformats.org/officeDocument/2006/math">
                    <m:r>
                      <a:rPr lang="en-IN" sz="2400" i="1">
                        <a:solidFill>
                          <a:srgbClr val="78350F"/>
                        </a:solidFill>
                        <a:latin typeface="Cambria Math" panose="02040503050406030204" pitchFamily="18" charset="0"/>
                      </a:rPr>
                      <m:t>24</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num>
                      <m:den>
                        <m:r>
                          <a:rPr lang="en-IN" sz="2400" i="1">
                            <a:solidFill>
                              <a:srgbClr val="78350F"/>
                            </a:solidFill>
                            <a:latin typeface="Cambria Math" panose="02040503050406030204" pitchFamily="18" charset="0"/>
                          </a:rPr>
                          <m:t>4</m:t>
                        </m:r>
                      </m:den>
                    </m:f>
                  </m:oMath>
                </a14:m>
                <a:r>
                  <a:rPr sz="2400" b="0">
                    <a:solidFill>
                      <a:srgbClr val="78350F"/>
                    </a:solidFill>
                    <a:latin typeface="Arial"/>
                  </a:rPr>
                  <a:t> and the determinant reduces to a trigonometric equation.</a:t>
                </a:r>
                <a:endParaRPr sz="2400">
                  <a:solidFill>
                    <a:srgbClr val="78350F"/>
                  </a:solidFill>
                </a:endParaRPr>
              </a:p>
            </p:txBody>
          </p:sp>
        </mc:Choice>
        <mc:Fallback>
          <p:sp>
            <p:nvSpPr>
              <p:cNvPr id="5" name="Rounded Rectangle 4"/>
              <p:cNvSpPr/>
              <p:nvPr/>
            </p:nvSpPr>
            <p:spPr>
              <a:xfrm>
                <a:off x="731520" y="365760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Volume </a:t>
                </a:r>
                <a:r>
                  <a:rPr lang="en-IN" sz="2400">
                    <a:solidFill>
                      <a:srgbClr val="78350F"/>
                    </a:solidFill>
                    <a:latin typeface="Cambria Math" panose="02040503050406030204" pitchFamily="18" charset="0"/>
                  </a:rPr>
                  <a:t>$=24[\vec a\ \vec b\ \vec c]^2$</a:t>
                </a:r>
                <a:r>
                  <a:rPr sz="2400" b="0">
                    <a:solidFill>
                      <a:srgbClr val="78350F"/>
                    </a:solidFill>
                    <a:latin typeface="Arial"/>
                  </a:rPr>
                  <a:t> (not </a:t>
                </a:r>
                <a:r>
                  <a:rPr lang="en-IN" sz="2400">
                    <a:solidFill>
                      <a:srgbClr val="78350F"/>
                    </a:solidFill>
                    <a:latin typeface="Cambria Math" panose="02040503050406030204" pitchFamily="18" charset="0"/>
                  </a:rPr>
                  <a:t>$24[\vec a\ \vec b\ \vec c]$</a:t>
                </a:r>
                <a:r>
                  <a:rPr sz="2400" b="0">
                    <a:solidFill>
                      <a:srgbClr val="78350F"/>
                    </a:solidFill>
                    <a:latin typeface="Arial"/>
                  </a:rPr>
                  <a:t>), so </a:t>
                </a:r>
                <a:r>
                  <a:rPr lang="en-IN" sz="2400">
                    <a:solidFill>
                      <a:srgbClr val="78350F"/>
                    </a:solidFill>
                    <a:latin typeface="Cambria Math" panose="02040503050406030204" pitchFamily="18" charset="0"/>
                  </a:rPr>
                  <a:t>$[\vec a\ \vec b\ \vec c]^2=\frac34$</a:t>
                </a:r>
                <a:r>
                  <a:rPr sz="2400" b="0">
                    <a:solidFill>
                      <a:srgbClr val="78350F"/>
                    </a:solidFill>
                    <a:latin typeface="Arial"/>
                  </a:rPr>
                  <a:t> and the determinant reduces to a trigonometric equation.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385816"/>
                <a:ext cx="10725912" cy="12893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Volume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385816"/>
                <a:ext cx="10725912" cy="12893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Volume </a:t>
                </a:r>
                <a:r>
                  <a:rPr lang="en-IN" sz="2400">
                    <a:solidFill>
                      <a:srgbClr val="111827"/>
                    </a:solidFill>
                    <a:latin typeface="Cambria Math" panose="02040503050406030204" pitchFamily="18" charset="0"/>
                  </a:rPr>
                  <a:t>$=[\,4\vec a\times\vec b,\ 2\vec b\times\vec c,\ 3\vec c\times\vec a\,]=24[\vec a\times\vec b\ \ \vec b\times\vec c\ \ \vec c\times\vec a]=24[\vec a\ \vec b\ \vec c]^2=18$</a:t>
                </a:r>
                <a:r>
                  <a:rPr sz="2400" b="0">
                    <a:solidFill>
                      <a:srgbClr val="111827"/>
                    </a:solidFill>
                    <a:latin typeface="Arial"/>
                  </a:rPr>
                  <a:t>, so </a:t>
                </a:r>
                <a:r>
                  <a:rPr lang="en-IN" sz="2400">
                    <a:solidFill>
                      <a:srgbClr val="111827"/>
                    </a:solidFill>
                    <a:latin typeface="Cambria Math" panose="02040503050406030204" pitchFamily="18" charset="0"/>
                  </a:rPr>
                  <a:t>$[\vec a\ \vec b\ \vec c]^2=\frac34$</a:t>
                </a:r>
                <a:r>
                  <a:rPr sz="2400" b="0">
                    <a:solidFill>
                      <a:srgbClr val="111827"/>
                    </a:solidFill>
                    <a:latin typeface="Arial"/>
                  </a:rPr>
                  <a:t> and </a:t>
                </a:r>
                <a:r>
                  <a:rPr lang="en-IN" sz="2400">
                    <a:solidFill>
                      <a:srgbClr val="111827"/>
                    </a:solidFill>
                    <a:latin typeface="Cambria Math" panose="02040503050406030204" pitchFamily="18" charset="0"/>
                  </a:rPr>
                  <a:t>$[\vec a\ \vec b\ \vec c]=\pm\frac{\sqrt3}{2}$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0</m:t>
                              </m:r>
                            </m:e>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e>
                            <m:e>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e>
                          </m:mr>
                          <m:mr>
                            <m:e>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e>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e>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mr>
                          <m:mr>
                            <m:e>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e>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e>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mr>
                        </m:m>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along the first row: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Second bracket: </a:t>
                </a:r>
                <a14:m>
                  <m:oMath xmlns:m="http://schemas.openxmlformats.org/officeDocument/2006/math">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 \vec b\ \vec c]=\left|\begin{matrix}0&amp;1+\sin\theta&amp;\sin2\theta\\\sin\left(\theta+\frac{2\pi}{3}\right)&amp;\cos\left(\theta+\frac{2\pi}{3}\right)&amp;\sin\left(2\theta+\frac{4\pi}{3}\right)\\\sin\left(\theta-\frac{2\pi}{3}\right)&amp;\cos\left(\theta-\frac{2\pi}{3}\right)&amp;\sin\left(2\theta-\frac{4\pi}{3}\right)\end{matrix}\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along the first row: </a:t>
                </a:r>
                <a:r>
                  <a:rPr lang="en-IN" sz="2400">
                    <a:solidFill>
                      <a:srgbClr val="111827"/>
                    </a:solidFill>
                    <a:latin typeface="Cambria Math" panose="02040503050406030204" pitchFamily="18" charset="0"/>
                  </a:rPr>
                  <a:t>$-(1+\sin\theta)\left[\sin\left(\theta+\frac{2\pi}{3}\right)\sin\left(2\theta-\frac{4\pi}{3}\right)-\sin\left(2\theta+\frac{4\pi}{3}\right)\sin\left(\theta-\frac{2\pi}{3}\right)\right]+\sin2\theta\left[\sin\left(\theta+\frac{2\pi}{3}\right)\cos\left(\theta-\frac{2\pi}{3}\right)-\cos\left(\theta+\frac{2\pi}{3}\right)\sin\left(\theta-\frac{2\pi}{3}\right)\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Second bracket: </a:t>
                </a:r>
                <a:r>
                  <a:rPr lang="en-IN" sz="2400">
                    <a:solidFill>
                      <a:srgbClr val="111827"/>
                    </a:solidFill>
                    <a:latin typeface="Cambria Math" panose="02040503050406030204" pitchFamily="18" charset="0"/>
                  </a:rPr>
                  <a:t>$\sin\left(\theta+\frac{2\pi}3\right)\cos\left(\theta-\frac{2\pi}3\right)-\cos\left(\theta+\frac{2\pi}3\right)\sin\left(\theta-\frac{2\pi}3\right)=\sin\frac{4\pi}{3}=-\frac{\sqrt3}{2}$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First bracket (product to sum):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Test the options in (*):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0.519</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0.438</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0.866</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2.061</m:t>
                    </m:r>
                  </m:oMath>
                </a14:m>
                <a:r>
                  <a:rPr sz="2400" b="0">
                    <a:solidFill>
                      <a:srgbClr val="111827"/>
                    </a:solidFill>
                    <a:latin typeface="Arial"/>
                  </a:rPr>
                  <a:t>. None equals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First bracket (product to sum): </a:t>
                </a:r>
                <a:r>
                  <a:rPr lang="en-IN" sz="2400">
                    <a:solidFill>
                      <a:srgbClr val="111827"/>
                    </a:solidFill>
                    <a:latin typeface="Cambria Math" panose="02040503050406030204" pitchFamily="18" charset="0"/>
                  </a:rPr>
                  <a:t>$\frac12\left[\cos\left(3\theta+\frac{2\pi}{3}\right)-\cos\left(3\theta-\frac{2\pi}{3}\right)\right]=-\sin3\theta\sin\frac{2\pi}{3}=-\frac{\sqrt3}{2}\sin3\theta$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$[\vec a\ \vec b\ \vec c]=\frac{\sqrt3}{2}(1+\sin\theta)\sin3\theta-\frac{\sqrt3}{2}\sin2\theta=\frac{\sqrt3}{2}\left[\sin3\theta(1+\sin\theta)-\sin2\theta\right]$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$[\vec a\ \vec b\ \vec c]=\pm\frac{\sqrt3}{2}$</a:t>
                </a:r>
                <a:r>
                  <a:rPr sz="2400" b="0">
                    <a:solidFill>
                      <a:srgbClr val="111827"/>
                    </a:solidFill>
                    <a:latin typeface="Arial"/>
                  </a:rPr>
                  <a:t> gives </a:t>
                </a:r>
                <a:r>
                  <a:rPr lang="en-IN" sz="2400">
                    <a:solidFill>
                      <a:srgbClr val="111827"/>
                    </a:solidFill>
                    <a:latin typeface="Cambria Math" panose="02040503050406030204" pitchFamily="18" charset="0"/>
                  </a:rPr>
                  <a:t>$\sin3\theta(1+\sin\theta)-\sin2\theta=\pm1$</a:t>
                </a:r>
                <a:r>
                  <a:rPr sz="2400" b="0">
                    <a:solidFill>
                      <a:srgbClr val="111827"/>
                    </a:solidFill>
                    <a:latin typeface="Arial"/>
                  </a:rPr>
                  <a:t> ......(*).</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Test the options in (*): </a:t>
                </a:r>
                <a:r>
                  <a:rPr lang="en-IN" sz="2400">
                    <a:solidFill>
                      <a:srgbClr val="111827"/>
                    </a:solidFill>
                    <a:latin typeface="Cambria Math" panose="02040503050406030204" pitchFamily="18" charset="0"/>
                  </a:rPr>
                  <a:t>$\theta=\frac\pi9$</a:t>
                </a:r>
                <a:r>
                  <a:rPr sz="2400" b="0">
                    <a:solidFill>
                      <a:srgbClr val="111827"/>
                    </a:solidFill>
                    <a:latin typeface="Arial"/>
                  </a:rPr>
                  <a:t> gives </a:t>
                </a:r>
                <a:r>
                  <a:rPr lang="en-IN" sz="2400">
                    <a:solidFill>
                      <a:srgbClr val="111827"/>
                    </a:solidFill>
                    <a:latin typeface="Cambria Math" panose="02040503050406030204" pitchFamily="18" charset="0"/>
                  </a:rPr>
                  <a:t>$0.519$</a:t>
                </a:r>
                <a:r>
                  <a:rPr sz="2400" b="0">
                    <a:solidFill>
                      <a:srgbClr val="111827"/>
                    </a:solidFill>
                    <a:latin typeface="Arial"/>
                  </a:rPr>
                  <a:t>; </a:t>
                </a:r>
                <a:r>
                  <a:rPr lang="en-IN" sz="2400">
                    <a:solidFill>
                      <a:srgbClr val="111827"/>
                    </a:solidFill>
                    <a:latin typeface="Cambria Math" panose="02040503050406030204" pitchFamily="18" charset="0"/>
                  </a:rPr>
                  <a:t>$\frac{2\pi}{9}$</a:t>
                </a:r>
                <a:r>
                  <a:rPr sz="2400" b="0">
                    <a:solidFill>
                      <a:srgbClr val="111827"/>
                    </a:solidFill>
                    <a:latin typeface="Arial"/>
                  </a:rPr>
                  <a:t> gives </a:t>
                </a:r>
                <a:r>
                  <a:rPr lang="en-IN" sz="2400">
                    <a:solidFill>
                      <a:srgbClr val="111827"/>
                    </a:solidFill>
                    <a:latin typeface="Cambria Math" panose="02040503050406030204" pitchFamily="18" charset="0"/>
                  </a:rPr>
                  <a:t>$0.438$</a:t>
                </a:r>
                <a:r>
                  <a:rPr sz="2400" b="0">
                    <a:solidFill>
                      <a:srgbClr val="111827"/>
                    </a:solidFill>
                    <a:latin typeface="Arial"/>
                  </a:rPr>
                  <a:t>; </a:t>
                </a:r>
                <a:r>
                  <a:rPr lang="en-IN" sz="2400">
                    <a:solidFill>
                      <a:srgbClr val="111827"/>
                    </a:solidFill>
                    <a:latin typeface="Cambria Math" panose="02040503050406030204" pitchFamily="18" charset="0"/>
                  </a:rPr>
                  <a:t>$\frac\pi3$</a:t>
                </a:r>
                <a:r>
                  <a:rPr sz="2400" b="0">
                    <a:solidFill>
                      <a:srgbClr val="111827"/>
                    </a:solidFill>
                    <a:latin typeface="Arial"/>
                  </a:rPr>
                  <a:t> gives </a:t>
                </a:r>
                <a:r>
                  <a:rPr lang="en-IN" sz="2400">
                    <a:solidFill>
                      <a:srgbClr val="111827"/>
                    </a:solidFill>
                    <a:latin typeface="Cambria Math" panose="02040503050406030204" pitchFamily="18" charset="0"/>
                  </a:rPr>
                  <a:t>$-0.866$</a:t>
                </a:r>
                <a:r>
                  <a:rPr sz="2400" b="0">
                    <a:solidFill>
                      <a:srgbClr val="111827"/>
                    </a:solidFill>
                    <a:latin typeface="Arial"/>
                  </a:rPr>
                  <a:t>; </a:t>
                </a:r>
                <a:r>
                  <a:rPr lang="en-IN" sz="2400">
                    <a:solidFill>
                      <a:srgbClr val="111827"/>
                    </a:solidFill>
                    <a:latin typeface="Cambria Math" panose="02040503050406030204" pitchFamily="18" charset="0"/>
                  </a:rPr>
                  <a:t>$\frac{4\pi}{9}$</a:t>
                </a:r>
                <a:r>
                  <a:rPr sz="2400" b="0">
                    <a:solidFill>
                      <a:srgbClr val="111827"/>
                    </a:solidFill>
                    <a:latin typeface="Arial"/>
                  </a:rPr>
                  <a:t> gives </a:t>
                </a:r>
                <a:r>
                  <a:rPr lang="en-IN" sz="2400">
                    <a:solidFill>
                      <a:srgbClr val="111827"/>
                    </a:solidFill>
                    <a:latin typeface="Cambria Math" panose="02040503050406030204" pitchFamily="18" charset="0"/>
                  </a:rPr>
                  <a:t>$-2.061$</a:t>
                </a:r>
                <a:r>
                  <a:rPr sz="2400" b="0">
                    <a:solidFill>
                      <a:srgbClr val="111827"/>
                    </a:solidFill>
                    <a:latin typeface="Arial"/>
                  </a:rPr>
                  <a:t>. None equals </a:t>
                </a:r>
                <a:r>
                  <a:rPr lang="en-IN" sz="2400">
                    <a:solidFill>
                      <a:srgbClr val="111827"/>
                    </a:solidFill>
                    <a:latin typeface="Cambria Math" panose="02040503050406030204" pitchFamily="18" charset="0"/>
                  </a:rPr>
                  <a:t>$\pm1$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Solving (*) numerically on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gives only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1.076</m:t>
                    </m:r>
                  </m:oMath>
                </a14:m>
                <a:r>
                  <a:rPr sz="2400" b="0">
                    <a:solidFill>
                      <a:srgbClr val="111827"/>
                    </a:solidFill>
                    <a:latin typeface="Arial"/>
                  </a:rPr>
                  <a:t> rad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61.7</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which is not an option. The key (A, B, D) cannot be derived from the data as printed.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Solving (*) numerically on </a:t>
                </a:r>
                <a:r>
                  <a:rPr lang="en-IN" sz="2400">
                    <a:solidFill>
                      <a:srgbClr val="111827"/>
                    </a:solidFill>
                    <a:latin typeface="Cambria Math" panose="02040503050406030204" pitchFamily="18" charset="0"/>
                  </a:rPr>
                  <a:t>$\left(0,\frac\pi2\right)$</a:t>
                </a:r>
                <a:r>
                  <a:rPr sz="2400" b="0">
                    <a:solidFill>
                      <a:srgbClr val="111827"/>
                    </a:solidFill>
                    <a:latin typeface="Arial"/>
                  </a:rPr>
                  <a:t> gives only </a:t>
                </a:r>
                <a:r>
                  <a:rPr lang="en-IN" sz="2400">
                    <a:solidFill>
                      <a:srgbClr val="111827"/>
                    </a:solidFill>
                    <a:latin typeface="Cambria Math" panose="02040503050406030204" pitchFamily="18" charset="0"/>
                  </a:rPr>
                  <a:t>$\theta\approx1.076$</a:t>
                </a:r>
                <a:r>
                  <a:rPr sz="2400" b="0">
                    <a:solidFill>
                      <a:srgbClr val="111827"/>
                    </a:solidFill>
                    <a:latin typeface="Arial"/>
                  </a:rPr>
                  <a:t> rad (</a:t>
                </a:r>
                <a:r>
                  <a:rPr lang="en-IN" sz="2400">
                    <a:solidFill>
                      <a:srgbClr val="111827"/>
                    </a:solidFill>
                    <a:latin typeface="Cambria Math" panose="02040503050406030204" pitchFamily="18" charset="0"/>
                  </a:rPr>
                  <a:t>$\approx61.7^\circ$</a:t>
                </a:r>
                <a:r>
                  <a:rPr sz="2400" b="0">
                    <a:solidFill>
                      <a:srgbClr val="111827"/>
                    </a:solidFill>
                    <a:latin typeface="Arial"/>
                  </a:rPr>
                  <a:t>), which is not an option. The key (A, B, D) cannot be derived from the data as printed.</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No option satisfies the data as printed (the root is </a:t>
                </a:r>
                <a14:m>
                  <m:oMath xmlns:m="http://schemas.openxmlformats.org/officeDocument/2006/math">
                    <m:r>
                      <a:rPr lang="en-IN" sz="2800" i="1">
                        <a:solidFill>
                          <a:srgbClr val="15803D"/>
                        </a:solidFill>
                        <a:latin typeface="Cambria Math" panose="02040503050406030204" pitchFamily="18" charset="0"/>
                      </a:rPr>
                      <m:t>θ</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1.076</m:t>
                    </m:r>
                  </m:oMath>
                </a14:m>
                <a:r>
                  <a:rPr sz="2800" b="1">
                    <a:solidFill>
                      <a:srgbClr val="15803D"/>
                    </a:solidFill>
                    <a:latin typeface="Arial"/>
                  </a:rPr>
                  <a:t> rad). Paper's key: (A, B, D).</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No option satisfies the data as printed (the root is </a:t>
                </a:r>
                <a:r>
                  <a:rPr lang="en-IN" sz="2800">
                    <a:solidFill>
                      <a:srgbClr val="15803D"/>
                    </a:solidFill>
                    <a:latin typeface="Cambria Math" panose="02040503050406030204" pitchFamily="18" charset="0"/>
                  </a:rPr>
                  <a:t>$\theta\approx1.076$</a:t>
                </a:r>
                <a:r>
                  <a:rPr sz="2800" b="1">
                    <a:solidFill>
                      <a:srgbClr val="15803D"/>
                    </a:solidFill>
                    <a:latin typeface="Arial"/>
                  </a:rPr>
                  <a:t> rad). Paper's key: (A, B, D).</a:t>
                </a:r>
                <a:endParaRPr sz="2800">
                  <a:solidFill>
                    <a:srgbClr val="15803D"/>
                  </a:solidFill>
                </a:endParaRPr>
              </a:p>
            </p:txBody>
          </p:sp>
        </mc:Fallback>
      </mc:AlternateContent>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the volume of a parallelepiped on </a:t>
                </a:r>
                <a14:m>
                  <m:oMath xmlns:m="http://schemas.openxmlformats.org/officeDocument/2006/math">
                    <m:sSub>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3</m:t>
                        </m:r>
                      </m:sub>
                    </m:sSub>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is </a:t>
                </a:r>
                <a14:m>
                  <m:oMath xmlns:m="http://schemas.openxmlformats.org/officeDocument/2006/math">
                    <m:sSub>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Rows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equally spaced by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appear in determinants that collapse through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product-to-sum rules.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substitute the proposed options back into the reduced equation: it is the fastest way to detect an inconsistent key.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b\times\vec c\ \ \vec c\times\vec a\ \ \vec a\times\vec b]=[\vec a\ \vec b\ \vec c]^2$</a:t>
                </a:r>
                <a:r>
                  <a:rPr sz="2400" b="0">
                    <a:solidFill>
                      <a:srgbClr val="111827"/>
                    </a:solidFill>
                    <a:latin typeface="Arial"/>
                  </a:rPr>
                  <a:t>, so the volume of a parallelepiped on </a:t>
                </a:r>
                <a:r>
                  <a:rPr lang="en-IN" sz="2400">
                    <a:solidFill>
                      <a:srgbClr val="111827"/>
                    </a:solidFill>
                    <a:latin typeface="Cambria Math" panose="02040503050406030204" pitchFamily="18" charset="0"/>
                  </a:rPr>
                  <a:t>$k_1\,\vec b\times\vec c,\ k_2\,\vec c\times\vec a,\ k_3\,\vec a\times\vec b$</a:t>
                </a:r>
                <a:r>
                  <a:rPr sz="2400" b="0">
                    <a:solidFill>
                      <a:srgbClr val="111827"/>
                    </a:solidFill>
                    <a:latin typeface="Arial"/>
                  </a:rPr>
                  <a:t> is </a:t>
                </a:r>
                <a:r>
                  <a:rPr lang="en-IN" sz="2400">
                    <a:solidFill>
                      <a:srgbClr val="111827"/>
                    </a:solidFill>
                    <a:latin typeface="Cambria Math" panose="02040503050406030204" pitchFamily="18" charset="0"/>
                  </a:rPr>
                  <a:t>$k_1k_2k_3[\vec a\ \vec b\ \vec c]^2$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Rows </a:t>
                </a:r>
                <a:r>
                  <a:rPr lang="en-IN" sz="2400">
                    <a:solidFill>
                      <a:srgbClr val="111827"/>
                    </a:solidFill>
                    <a:latin typeface="Cambria Math" panose="02040503050406030204" pitchFamily="18" charset="0"/>
                  </a:rPr>
                  <a:t>$(\sin\varphi,\cos\varphi,\sin2\varphi)$</a:t>
                </a:r>
                <a:r>
                  <a:rPr sz="2400" b="0">
                    <a:solidFill>
                      <a:srgbClr val="111827"/>
                    </a:solidFill>
                    <a:latin typeface="Arial"/>
                  </a:rPr>
                  <a:t> with </a:t>
                </a:r>
                <a:r>
                  <a:rPr lang="en-IN" sz="2400">
                    <a:solidFill>
                      <a:srgbClr val="111827"/>
                    </a:solidFill>
                    <a:latin typeface="Cambria Math" panose="02040503050406030204" pitchFamily="18" charset="0"/>
                  </a:rPr>
                  <a:t>$\varphi$</a:t>
                </a:r>
                <a:r>
                  <a:rPr sz="2400" b="0">
                    <a:solidFill>
                      <a:srgbClr val="111827"/>
                    </a:solidFill>
                    <a:latin typeface="Arial"/>
                  </a:rPr>
                  <a:t> equally spaced by </a:t>
                </a:r>
                <a:r>
                  <a:rPr lang="en-IN" sz="2400">
                    <a:solidFill>
                      <a:srgbClr val="111827"/>
                    </a:solidFill>
                    <a:latin typeface="Cambria Math" panose="02040503050406030204" pitchFamily="18" charset="0"/>
                  </a:rPr>
                  <a:t>$\frac{2\pi}{3}$</a:t>
                </a:r>
                <a:r>
                  <a:rPr sz="2400" b="0">
                    <a:solidFill>
                      <a:srgbClr val="111827"/>
                    </a:solidFill>
                    <a:latin typeface="Arial"/>
                  </a:rPr>
                  <a:t> appear in determinants that collapse through </a:t>
                </a:r>
                <a:r>
                  <a:rPr lang="en-IN" sz="2400">
                    <a:solidFill>
                      <a:srgbClr val="111827"/>
                    </a:solidFill>
                    <a:latin typeface="Cambria Math" panose="02040503050406030204" pitchFamily="18" charset="0"/>
                  </a:rPr>
                  <a:t>$\sin A\cos B-\cos A\sin B=\sin(A-B)$</a:t>
                </a:r>
                <a:r>
                  <a:rPr sz="2400" b="0">
                    <a:solidFill>
                      <a:srgbClr val="111827"/>
                    </a:solidFill>
                    <a:latin typeface="Arial"/>
                  </a:rPr>
                  <a:t> and product-to-sum rules.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substitute the proposed options back into the reduced equation: it is the fastest way to detect an inconsistent key.</a:t>
                </a:r>
                <a:endParaRPr sz="2400">
                  <a:solidFill>
                    <a:srgbClr val="111827"/>
                  </a:solidFill>
                </a:endParaRPr>
              </a:p>
            </p:txBody>
          </p:sp>
        </mc:Fallback>
      </mc:AlternateContent>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are non-zero, non-collinear vectors such that a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and a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parallel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perpendicular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coplanar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coplanar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endParaRPr sz="2400">
                  <a:solidFill>
                    <a:srgbClr val="111827"/>
                  </a:solidFill>
                </a:endParaRPr>
              </a:p>
            </p:txBody>
          </p:sp>
        </mc:Choice>
        <mc:Fallback>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a,\vec b,\vec c$</a:t>
                </a:r>
                <a:r>
                  <a:rPr sz="2400" b="0">
                    <a:solidFill>
                      <a:srgbClr val="111827"/>
                    </a:solidFill>
                    <a:latin typeface="Arial"/>
                  </a:rPr>
                  <a:t> are non-zero, non-collinear vectors such that a vector </a:t>
                </a:r>
                <a:r>
                  <a:rPr lang="en-IN" sz="2400">
                    <a:solidFill>
                      <a:srgbClr val="111827"/>
                    </a:solidFill>
                    <a:latin typeface="Cambria Math" panose="02040503050406030204" pitchFamily="18" charset="0"/>
                  </a:rPr>
                  <a:t>$\vec p=ab\cos(2\pi-(\vec a\wedge\vec b))\vec c$</a:t>
                </a:r>
                <a:r>
                  <a:rPr sz="2400" b="0">
                    <a:solidFill>
                      <a:srgbClr val="111827"/>
                    </a:solidFill>
                    <a:latin typeface="Arial"/>
                  </a:rPr>
                  <a:t> and a vector </a:t>
                </a:r>
                <a:r>
                  <a:rPr lang="en-IN" sz="2400">
                    <a:solidFill>
                      <a:srgbClr val="111827"/>
                    </a:solidFill>
                    <a:latin typeface="Cambria Math" panose="02040503050406030204" pitchFamily="18" charset="0"/>
                  </a:rPr>
                  <a:t>$\vec q=ac\cos(\pi-(\vec a\wedge\vec c))\vec b$</a:t>
                </a:r>
                <a:r>
                  <a:rPr sz="2400" b="0">
                    <a:solidFill>
                      <a:srgbClr val="111827"/>
                    </a:solidFill>
                    <a:latin typeface="Arial"/>
                  </a:rPr>
                  <a:t> then </a:t>
                </a:r>
                <a:r>
                  <a:rPr lang="en-IN" sz="2400">
                    <a:solidFill>
                      <a:srgbClr val="111827"/>
                    </a:solidFill>
                    <a:latin typeface="Cambria Math" panose="02040503050406030204" pitchFamily="18" charset="0"/>
                  </a:rPr>
                  <a:t>$\vec p+\vec q$</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parallel to </a:t>
                </a:r>
                <a:r>
                  <a:rPr lang="en-IN" sz="2400">
                    <a:solidFill>
                      <a:srgbClr val="111827"/>
                    </a:solidFill>
                    <a:latin typeface="Cambria Math" panose="02040503050406030204" pitchFamily="18" charset="0"/>
                  </a:rPr>
                  <a:t>$\vec a$</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perpendicular to </a:t>
                </a:r>
                <a:r>
                  <a:rPr lang="en-IN" sz="2400">
                    <a:solidFill>
                      <a:srgbClr val="111827"/>
                    </a:solidFill>
                    <a:latin typeface="Cambria Math" panose="02040503050406030204" pitchFamily="18" charset="0"/>
                  </a:rPr>
                  <a:t>$\vec a$</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coplanar with </a:t>
                </a:r>
                <a:r>
                  <a:rPr lang="en-IN" sz="2400">
                    <a:solidFill>
                      <a:srgbClr val="111827"/>
                    </a:solidFill>
                    <a:latin typeface="Cambria Math" panose="02040503050406030204" pitchFamily="18" charset="0"/>
                  </a:rPr>
                  <a:t>$\vec b$</a:t>
                </a:r>
                <a:r>
                  <a:rPr sz="2400" b="0">
                    <a:solidFill>
                      <a:srgbClr val="111827"/>
                    </a:solidFill>
                    <a:latin typeface="Arial"/>
                  </a:rPr>
                  <a:t> and </a:t>
                </a:r>
                <a:r>
                  <a:rPr lang="en-IN" sz="2400">
                    <a:solidFill>
                      <a:srgbClr val="111827"/>
                    </a:solidFill>
                    <a:latin typeface="Cambria Math" panose="02040503050406030204" pitchFamily="18" charset="0"/>
                  </a:rPr>
                  <a:t>$\vec c$</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coplanar with </a:t>
                </a:r>
                <a:r>
                  <a:rPr lang="en-IN" sz="2400">
                    <a:solidFill>
                      <a:srgbClr val="111827"/>
                    </a:solidFill>
                    <a:latin typeface="Cambria Math" panose="02040503050406030204" pitchFamily="18" charset="0"/>
                  </a:rPr>
                  <a:t>$\vec a$</a:t>
                </a:r>
                <a:r>
                  <a:rPr sz="2400" b="0">
                    <a:solidFill>
                      <a:srgbClr val="111827"/>
                    </a:solidFill>
                    <a:latin typeface="Arial"/>
                  </a:rPr>
                  <a:t> and </a:t>
                </a:r>
                <a:r>
                  <a:rPr lang="en-IN" sz="2400">
                    <a:solidFill>
                      <a:srgbClr val="111827"/>
                    </a:solidFill>
                    <a:latin typeface="Cambria Math" panose="02040503050406030204" pitchFamily="18" charset="0"/>
                  </a:rPr>
                  <a:t>$\vec c$</a:t>
                </a:r>
                <a:endParaRPr sz="2400">
                  <a:solidFill>
                    <a:srgbClr val="111827"/>
                  </a:solidFill>
                </a:endParaRPr>
              </a:p>
            </p:txBody>
          </p:sp>
        </mc:Fallback>
      </mc:AlternateContent>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Dot product as scalar multiples of vectors, Coplanarity and perpendicularity of vectors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cos</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turns each coefficient into a dot product: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 and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$ab\cos(\ldots)$</a:t>
                </a:r>
                <a:r>
                  <a:rPr sz="2400" b="0">
                    <a:solidFill>
                      <a:srgbClr val="78350F"/>
                    </a:solidFill>
                    <a:latin typeface="Arial"/>
                  </a:rPr>
                  <a:t> turns each coefficient into a dot product: </a:t>
                </a:r>
                <a:r>
                  <a:rPr lang="en-IN" sz="2400">
                    <a:solidFill>
                      <a:srgbClr val="78350F"/>
                    </a:solidFill>
                    <a:latin typeface="Cambria Math" panose="02040503050406030204" pitchFamily="18" charset="0"/>
                  </a:rPr>
                  <a:t>$\vec p=(\vec a\cdot\vec b)\vec c$</a:t>
                </a:r>
                <a:r>
                  <a:rPr sz="2400" b="0">
                    <a:solidFill>
                      <a:srgbClr val="78350F"/>
                    </a:solidFill>
                    <a:latin typeface="Arial"/>
                  </a:rPr>
                  <a:t> and </a:t>
                </a:r>
                <a:r>
                  <a:rPr lang="en-IN" sz="2400">
                    <a:solidFill>
                      <a:srgbClr val="78350F"/>
                    </a:solidFill>
                    <a:latin typeface="Cambria Math" panose="02040503050406030204" pitchFamily="18" charset="0"/>
                  </a:rPr>
                  <a:t>$\vec q=-(\vec a\cdot\vec c)\vec 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p=|\vec a||\vec b|\cos(2\pi-\vec a\wedge\vec b)\,\vec c=|\vec a||\vec b|\cos(\vec a\wedge\vec b)\,\vec c=(\vec a\cdot\vec b)\vec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q=|\vec a||\vec c|\cos(\pi-\vec a\wedge\vec c)\,\vec b=-|\vec a||\vec c|\cos(\vec a\wedge\vec c)\,\vec b=-(\vec a\cdot\vec c)\vec 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(this equals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(B) is true.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is a linear combination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so it is coplanar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(C)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Being perpendicular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in general non-zero) it is not parallel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so (A) is false; in general it is not in the plane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so (D) is false. Answer: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p+\vec q=(\vec a\cdot\vec b)\vec c-(\vec a\cdot\vec c)\vec b$</a:t>
                </a:r>
                <a:r>
                  <a:rPr sz="2400" b="0">
                    <a:solidFill>
                      <a:srgbClr val="111827"/>
                    </a:solidFill>
                    <a:latin typeface="Arial"/>
                  </a:rPr>
                  <a:t> (this equals </a:t>
                </a:r>
                <a:r>
                  <a:rPr lang="en-IN" sz="2400">
                    <a:solidFill>
                      <a:srgbClr val="111827"/>
                    </a:solidFill>
                    <a:latin typeface="Cambria Math" panose="02040503050406030204" pitchFamily="18" charset="0"/>
                  </a:rPr>
                  <a:t>$-\vec a\times(\vec b\times\vec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a\cdot(\vec p+\vec q)=(\vec a\cdot\vec b)(\vec a\cdot\vec c)-(\vec a\cdot\vec c)(\vec a\cdot\vec b)=0$</a:t>
                </a:r>
                <a:r>
                  <a:rPr sz="2400" b="0">
                    <a:solidFill>
                      <a:srgbClr val="111827"/>
                    </a:solidFill>
                    <a:latin typeface="Arial"/>
                  </a:rPr>
                  <a:t>, so </a:t>
                </a:r>
                <a:r>
                  <a:rPr lang="en-IN" sz="2400">
                    <a:solidFill>
                      <a:srgbClr val="111827"/>
                    </a:solidFill>
                    <a:latin typeface="Cambria Math" panose="02040503050406030204" pitchFamily="18" charset="0"/>
                  </a:rPr>
                  <a:t>$\vec p+\vec q\perp\vec a$</a:t>
                </a:r>
                <a:r>
                  <a:rPr sz="2400" b="0">
                    <a:solidFill>
                      <a:srgbClr val="111827"/>
                    </a:solidFill>
                    <a:latin typeface="Arial"/>
                  </a:rPr>
                  <a:t>: (B) is true.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p+\vec q$</a:t>
                </a:r>
                <a:r>
                  <a:rPr sz="2400" b="0">
                    <a:solidFill>
                      <a:srgbClr val="111827"/>
                    </a:solidFill>
                    <a:latin typeface="Arial"/>
                  </a:rPr>
                  <a:t> is a linear combination of </a:t>
                </a:r>
                <a:r>
                  <a:rPr lang="en-IN" sz="2400">
                    <a:solidFill>
                      <a:srgbClr val="111827"/>
                    </a:solidFill>
                    <a:latin typeface="Cambria Math" panose="02040503050406030204" pitchFamily="18" charset="0"/>
                  </a:rPr>
                  <a:t>$\vec b$</a:t>
                </a:r>
                <a:r>
                  <a:rPr sz="2400" b="0">
                    <a:solidFill>
                      <a:srgbClr val="111827"/>
                    </a:solidFill>
                    <a:latin typeface="Arial"/>
                  </a:rPr>
                  <a:t> and </a:t>
                </a:r>
                <a:r>
                  <a:rPr lang="en-IN" sz="2400">
                    <a:solidFill>
                      <a:srgbClr val="111827"/>
                    </a:solidFill>
                    <a:latin typeface="Cambria Math" panose="02040503050406030204" pitchFamily="18" charset="0"/>
                  </a:rPr>
                  <a:t>$\vec c$</a:t>
                </a:r>
                <a:r>
                  <a:rPr sz="2400" b="0">
                    <a:solidFill>
                      <a:srgbClr val="111827"/>
                    </a:solidFill>
                    <a:latin typeface="Arial"/>
                  </a:rPr>
                  <a:t>, so it is coplanar with </a:t>
                </a:r>
                <a:r>
                  <a:rPr lang="en-IN" sz="2400">
                    <a:solidFill>
                      <a:srgbClr val="111827"/>
                    </a:solidFill>
                    <a:latin typeface="Cambria Math" panose="02040503050406030204" pitchFamily="18" charset="0"/>
                  </a:rPr>
                  <a:t>$\vec b$</a:t>
                </a:r>
                <a:r>
                  <a:rPr sz="2400" b="0">
                    <a:solidFill>
                      <a:srgbClr val="111827"/>
                    </a:solidFill>
                    <a:latin typeface="Arial"/>
                  </a:rPr>
                  <a:t> and </a:t>
                </a:r>
                <a:r>
                  <a:rPr lang="en-IN" sz="2400">
                    <a:solidFill>
                      <a:srgbClr val="111827"/>
                    </a:solidFill>
                    <a:latin typeface="Cambria Math" panose="02040503050406030204" pitchFamily="18" charset="0"/>
                  </a:rPr>
                  <a:t>$\vec c$</a:t>
                </a:r>
                <a:r>
                  <a:rPr sz="2400" b="0">
                    <a:solidFill>
                      <a:srgbClr val="111827"/>
                    </a:solidFill>
                    <a:latin typeface="Arial"/>
                  </a:rPr>
                  <a:t>: (C)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Being perpendicular to </a:t>
                </a:r>
                <a:r>
                  <a:rPr lang="en-IN" sz="2400">
                    <a:solidFill>
                      <a:srgbClr val="111827"/>
                    </a:solidFill>
                    <a:latin typeface="Cambria Math" panose="02040503050406030204" pitchFamily="18" charset="0"/>
                  </a:rPr>
                  <a:t>$\vec a$</a:t>
                </a:r>
                <a:r>
                  <a:rPr sz="2400" b="0">
                    <a:solidFill>
                      <a:srgbClr val="111827"/>
                    </a:solidFill>
                    <a:latin typeface="Arial"/>
                  </a:rPr>
                  <a:t> (and in general non-zero) it is not parallel to </a:t>
                </a:r>
                <a:r>
                  <a:rPr lang="en-IN" sz="2400">
                    <a:solidFill>
                      <a:srgbClr val="111827"/>
                    </a:solidFill>
                    <a:latin typeface="Cambria Math" panose="02040503050406030204" pitchFamily="18" charset="0"/>
                  </a:rPr>
                  <a:t>$\vec a$</a:t>
                </a:r>
                <a:r>
                  <a:rPr sz="2400" b="0">
                    <a:solidFill>
                      <a:srgbClr val="111827"/>
                    </a:solidFill>
                    <a:latin typeface="Arial"/>
                  </a:rPr>
                  <a:t>, so (A) is false; in general it is not in the plane of </a:t>
                </a:r>
                <a:r>
                  <a:rPr lang="en-IN" sz="2400">
                    <a:solidFill>
                      <a:srgbClr val="111827"/>
                    </a:solidFill>
                    <a:latin typeface="Cambria Math" panose="02040503050406030204" pitchFamily="18" charset="0"/>
                  </a:rPr>
                  <a:t>$\vec a,\vec c$</a:t>
                </a:r>
                <a:r>
                  <a:rPr sz="2400" b="0">
                    <a:solidFill>
                      <a:srgbClr val="111827"/>
                    </a:solidFill>
                    <a:latin typeface="Arial"/>
                  </a:rPr>
                  <a:t>, so (D) is false. Answer: B,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a:t>
            </a:r>
            <a:endParaRPr sz="2800">
              <a:solidFill>
                <a:srgbClr val="15803D"/>
              </a:solidFill>
            </a:endParaRP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Test with explicit vectors that are non-collinear: this confirms (B), (C) and kills (A), (D).</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$\vec a=\hat i$</a:t>
                </a:r>
                <a:r>
                  <a:rPr sz="2400" b="0">
                    <a:solidFill>
                      <a:srgbClr val="111827"/>
                    </a:solidFill>
                    <a:latin typeface="Arial"/>
                  </a:rPr>
                  <a:t>, </a:t>
                </a:r>
                <a:r>
                  <a:rPr lang="en-IN" sz="2400">
                    <a:solidFill>
                      <a:srgbClr val="111827"/>
                    </a:solidFill>
                    <a:latin typeface="Cambria Math" panose="02040503050406030204" pitchFamily="18" charset="0"/>
                  </a:rPr>
                  <a:t>$\vec b=\hat i+\hat j$</a:t>
                </a:r>
                <a:r>
                  <a:rPr sz="2400" b="0">
                    <a:solidFill>
                      <a:srgbClr val="111827"/>
                    </a:solidFill>
                    <a:latin typeface="Arial"/>
                  </a:rPr>
                  <a:t>, </a:t>
                </a:r>
                <a:r>
                  <a:rPr lang="en-IN" sz="2400">
                    <a:solidFill>
                      <a:srgbClr val="111827"/>
                    </a:solidFill>
                    <a:latin typeface="Cambria Math" panose="02040503050406030204" pitchFamily="18" charset="0"/>
                  </a:rPr>
                  <a:t>$\vec c=\hat i+\hat k$</a:t>
                </a:r>
                <a:r>
                  <a:rPr sz="2400" b="0">
                    <a:solidFill>
                      <a:srgbClr val="111827"/>
                    </a:solidFill>
                    <a:latin typeface="Arial"/>
                  </a:rPr>
                  <a:t>: </a:t>
                </a:r>
                <a:r>
                  <a:rPr lang="en-IN" sz="2400">
                    <a:solidFill>
                      <a:srgbClr val="111827"/>
                    </a:solidFill>
                    <a:latin typeface="Cambria Math" panose="02040503050406030204" pitchFamily="18" charset="0"/>
                  </a:rPr>
                  <a:t>$\vec a\cdot\vec b=1$</a:t>
                </a:r>
                <a:r>
                  <a:rPr sz="2400" b="0">
                    <a:solidFill>
                      <a:srgbClr val="111827"/>
                    </a:solidFill>
                    <a:latin typeface="Arial"/>
                  </a:rPr>
                  <a:t>, </a:t>
                </a:r>
                <a:r>
                  <a:rPr lang="en-IN" sz="2400">
                    <a:solidFill>
                      <a:srgbClr val="111827"/>
                    </a:solidFill>
                    <a:latin typeface="Cambria Math" panose="02040503050406030204" pitchFamily="18" charset="0"/>
                  </a:rPr>
                  <a:t>$\vec a\cdot\vec c=1$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p+\vec q=(1)\vec c-(1)\vec b=(\hat i+\hat k)-(\hat i+\hat j)=\hat k-\hat j$</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it is perpendicular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(B); it is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hence coplanar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is not a multiple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 false); the plane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is spanned by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but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has a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component (D false).</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$(\hat k-\hat j)\cdot\hat i=0$</a:t>
                </a:r>
                <a:r>
                  <a:rPr sz="2400" b="0">
                    <a:solidFill>
                      <a:srgbClr val="111827"/>
                    </a:solidFill>
                    <a:latin typeface="Arial"/>
                  </a:rPr>
                  <a:t> so it is perpendicular to </a:t>
                </a:r>
                <a:r>
                  <a:rPr lang="en-IN" sz="2400">
                    <a:solidFill>
                      <a:srgbClr val="111827"/>
                    </a:solidFill>
                    <a:latin typeface="Cambria Math" panose="02040503050406030204" pitchFamily="18" charset="0"/>
                  </a:rPr>
                  <a:t>$\vec a$</a:t>
                </a:r>
                <a:r>
                  <a:rPr sz="2400" b="0">
                    <a:solidFill>
                      <a:srgbClr val="111827"/>
                    </a:solidFill>
                    <a:latin typeface="Arial"/>
                  </a:rPr>
                  <a:t> (B); it is </a:t>
                </a:r>
                <a:r>
                  <a:rPr lang="en-IN" sz="2400">
                    <a:solidFill>
                      <a:srgbClr val="111827"/>
                    </a:solidFill>
                    <a:latin typeface="Cambria Math" panose="02040503050406030204" pitchFamily="18" charset="0"/>
                  </a:rPr>
                  <a:t>$\vec c-\vec b$</a:t>
                </a:r>
                <a:r>
                  <a:rPr sz="2400" b="0">
                    <a:solidFill>
                      <a:srgbClr val="111827"/>
                    </a:solidFill>
                    <a:latin typeface="Arial"/>
                  </a:rPr>
                  <a:t>, hence coplanar with </a:t>
                </a:r>
                <a:r>
                  <a:rPr lang="en-IN" sz="2400">
                    <a:solidFill>
                      <a:srgbClr val="111827"/>
                    </a:solidFill>
                    <a:latin typeface="Cambria Math" panose="02040503050406030204" pitchFamily="18" charset="0"/>
                  </a:rPr>
                  <a:t>$\vec b,\vec c$</a:t>
                </a:r>
                <a:r>
                  <a:rPr sz="2400" b="0">
                    <a:solidFill>
                      <a:srgbClr val="111827"/>
                    </a:solidFill>
                    <a:latin typeface="Arial"/>
                  </a:rPr>
                  <a:t> (C).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is not a multiple of </a:t>
                </a:r>
                <a:r>
                  <a:rPr lang="en-IN" sz="2400">
                    <a:solidFill>
                      <a:srgbClr val="111827"/>
                    </a:solidFill>
                    <a:latin typeface="Cambria Math" panose="02040503050406030204" pitchFamily="18" charset="0"/>
                  </a:rPr>
                  <a:t>$\hat i$</a:t>
                </a:r>
                <a:r>
                  <a:rPr sz="2400" b="0">
                    <a:solidFill>
                      <a:srgbClr val="111827"/>
                    </a:solidFill>
                    <a:latin typeface="Arial"/>
                  </a:rPr>
                  <a:t> (A false); the plane of </a:t>
                </a:r>
                <a:r>
                  <a:rPr lang="en-IN" sz="2400">
                    <a:solidFill>
                      <a:srgbClr val="111827"/>
                    </a:solidFill>
                    <a:latin typeface="Cambria Math" panose="02040503050406030204" pitchFamily="18" charset="0"/>
                  </a:rPr>
                  <a:t>$\vec a,\vec c$</a:t>
                </a:r>
                <a:r>
                  <a:rPr sz="2400" b="0">
                    <a:solidFill>
                      <a:srgbClr val="111827"/>
                    </a:solidFill>
                    <a:latin typeface="Arial"/>
                  </a:rPr>
                  <a:t> is spanned by </a:t>
                </a:r>
                <a:r>
                  <a:rPr lang="en-IN" sz="2400">
                    <a:solidFill>
                      <a:srgbClr val="111827"/>
                    </a:solidFill>
                    <a:latin typeface="Cambria Math" panose="02040503050406030204" pitchFamily="18" charset="0"/>
                  </a:rPr>
                  <a:t>$\hat i,\hat k$</a:t>
                </a:r>
                <a:r>
                  <a:rPr sz="2400" b="0">
                    <a:solidFill>
                      <a:srgbClr val="111827"/>
                    </a:solidFill>
                    <a:latin typeface="Arial"/>
                  </a:rPr>
                  <a:t>, but </a:t>
                </a:r>
                <a:r>
                  <a:rPr lang="en-IN" sz="2400">
                    <a:solidFill>
                      <a:srgbClr val="111827"/>
                    </a:solidFill>
                    <a:latin typeface="Cambria Math" panose="02040503050406030204" pitchFamily="18" charset="0"/>
                  </a:rPr>
                  <a:t>$\hat k-\hat j$</a:t>
                </a:r>
                <a:r>
                  <a:rPr sz="2400" b="0">
                    <a:solidFill>
                      <a:srgbClr val="111827"/>
                    </a:solidFill>
                    <a:latin typeface="Arial"/>
                  </a:rPr>
                  <a:t> has a </a:t>
                </a:r>
                <a:r>
                  <a:rPr lang="en-IN" sz="2400">
                    <a:solidFill>
                      <a:srgbClr val="111827"/>
                    </a:solidFill>
                    <a:latin typeface="Cambria Math" panose="02040503050406030204" pitchFamily="18" charset="0"/>
                  </a:rPr>
                  <a:t>$\hat j$</a:t>
                </a:r>
                <a:r>
                  <a:rPr sz="2400" b="0">
                    <a:solidFill>
                      <a:srgbClr val="111827"/>
                    </a:solidFill>
                    <a:latin typeface="Arial"/>
                  </a:rPr>
                  <a:t> component (D false).</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a:t>
            </a:r>
            <a:endParaRPr sz="2800">
              <a:solidFill>
                <a:srgbClr val="15803D"/>
              </a:solidFill>
            </a:endParaRP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convert such coefficients to dot products first.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(BAC-CAB): it is always perpendicular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lies in the plane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Any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oMath>
                </a14:m>
                <a:r>
                  <a:rPr sz="2400" b="0">
                    <a:solidFill>
                      <a:srgbClr val="111827"/>
                    </a:solidFill>
                    <a:latin typeface="Arial"/>
                  </a:rPr>
                  <a:t> is perpendicular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b|\cos\theta=\vec a\cdot\vec b$</a:t>
                </a:r>
                <a:r>
                  <a:rPr sz="2400" b="0">
                    <a:solidFill>
                      <a:srgbClr val="111827"/>
                    </a:solidFill>
                    <a:latin typeface="Arial"/>
                  </a:rPr>
                  <a:t> and </a:t>
                </a:r>
                <a:r>
                  <a:rPr lang="en-IN" sz="2400">
                    <a:solidFill>
                      <a:srgbClr val="111827"/>
                    </a:solidFill>
                    <a:latin typeface="Cambria Math" panose="02040503050406030204" pitchFamily="18" charset="0"/>
                  </a:rPr>
                  <a:t>$\cos(\pi-\theta)=-\cos\theta$</a:t>
                </a:r>
                <a:r>
                  <a:rPr sz="2400" b="0">
                    <a:solidFill>
                      <a:srgbClr val="111827"/>
                    </a:solidFill>
                    <a:latin typeface="Arial"/>
                  </a:rPr>
                  <a:t>, </a:t>
                </a:r>
                <a:r>
                  <a:rPr lang="en-IN" sz="2400">
                    <a:solidFill>
                      <a:srgbClr val="111827"/>
                    </a:solidFill>
                    <a:latin typeface="Cambria Math" panose="02040503050406030204" pitchFamily="18" charset="0"/>
                  </a:rPr>
                  <a:t>$\cos(2\pi-\theta)=\cos\theta$</a:t>
                </a:r>
                <a:r>
                  <a:rPr sz="2400" b="0">
                    <a:solidFill>
                      <a:srgbClr val="111827"/>
                    </a:solidFill>
                    <a:latin typeface="Arial"/>
                  </a:rPr>
                  <a:t>: convert such coefficients to dot products first.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a\cdot\vec b)\vec c-(\vec a\cdot\vec c)\vec b=\vec a\times(\vec c\times\vec b)$</a:t>
                </a:r>
                <a:r>
                  <a:rPr sz="2400" b="0">
                    <a:solidFill>
                      <a:srgbClr val="111827"/>
                    </a:solidFill>
                    <a:latin typeface="Arial"/>
                  </a:rPr>
                  <a:t> (BAC-CAB): it is always perpendicular to </a:t>
                </a:r>
                <a:r>
                  <a:rPr lang="en-IN" sz="2400">
                    <a:solidFill>
                      <a:srgbClr val="111827"/>
                    </a:solidFill>
                    <a:latin typeface="Cambria Math" panose="02040503050406030204" pitchFamily="18" charset="0"/>
                  </a:rPr>
                  <a:t>$\vec a$</a:t>
                </a:r>
                <a:r>
                  <a:rPr sz="2400" b="0">
                    <a:solidFill>
                      <a:srgbClr val="111827"/>
                    </a:solidFill>
                    <a:latin typeface="Arial"/>
                  </a:rPr>
                  <a:t> and lies in the plane of </a:t>
                </a:r>
                <a:r>
                  <a:rPr lang="en-IN" sz="2400">
                    <a:solidFill>
                      <a:srgbClr val="111827"/>
                    </a:solidFill>
                    <a:latin typeface="Cambria Math" panose="02040503050406030204" pitchFamily="18" charset="0"/>
                  </a:rPr>
                  <a:t>$\vec b,\vec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Any vector </a:t>
                </a:r>
                <a:r>
                  <a:rPr lang="en-IN" sz="2400">
                    <a:solidFill>
                      <a:srgbClr val="111827"/>
                    </a:solidFill>
                    <a:latin typeface="Cambria Math" panose="02040503050406030204" pitchFamily="18" charset="0"/>
                  </a:rPr>
                  <a:t>$\vec a\times\vec w$</a:t>
                </a:r>
                <a:r>
                  <a:rPr sz="2400" b="0">
                    <a:solidFill>
                      <a:srgbClr val="111827"/>
                    </a:solidFill>
                    <a:latin typeface="Arial"/>
                  </a:rPr>
                  <a:t> is perpendicular to </a:t>
                </a:r>
                <a:r>
                  <a:rPr lang="en-IN" sz="2400">
                    <a:solidFill>
                      <a:srgbClr val="111827"/>
                    </a:solidFill>
                    <a:latin typeface="Cambria Math" panose="02040503050406030204" pitchFamily="18" charset="0"/>
                  </a:rPr>
                  <a:t>$\vec 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7495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Three points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with position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are collinear if:</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unique value of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for which the point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satisfies the vector equation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the area of the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vanishes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scalars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not all zero simultaneously such that </a:t>
                </a:r>
                <a14:m>
                  <m:oMath xmlns:m="http://schemas.openxmlformats.org/officeDocument/2006/math">
                    <m:r>
                      <a:rPr lang="en-IN" sz="2400" i="1">
                        <a:solidFill>
                          <a:srgbClr val="111827"/>
                        </a:solidFill>
                        <a:latin typeface="Cambria Math" panose="02040503050406030204" pitchFamily="18" charset="0"/>
                      </a:rPr>
                      <m:t>α</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endParaRPr sz="2400">
                  <a:solidFill>
                    <a:srgbClr val="111827"/>
                  </a:solidFill>
                </a:endParaRPr>
              </a:p>
            </p:txBody>
          </p:sp>
        </mc:Choice>
        <mc:Fallback>
          <p:sp>
            <p:nvSpPr>
              <p:cNvPr id="4" name="Rounded Rectangle 3"/>
              <p:cNvSpPr/>
              <p:nvPr/>
            </p:nvSpPr>
            <p:spPr>
              <a:xfrm>
                <a:off x="731520" y="1280160"/>
                <a:ext cx="10725912" cy="37495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Three points </a:t>
                </a:r>
                <a:r>
                  <a:rPr lang="en-IN" sz="2400">
                    <a:solidFill>
                      <a:srgbClr val="111827"/>
                    </a:solidFill>
                    <a:latin typeface="Cambria Math" panose="02040503050406030204" pitchFamily="18" charset="0"/>
                  </a:rPr>
                  <a:t>$A,B$</a:t>
                </a:r>
                <a:r>
                  <a:rPr sz="2400" b="0">
                    <a:solidFill>
                      <a:srgbClr val="111827"/>
                    </a:solidFill>
                    <a:latin typeface="Arial"/>
                  </a:rPr>
                  <a:t> and </a:t>
                </a:r>
                <a:r>
                  <a:rPr lang="en-IN" sz="2400">
                    <a:solidFill>
                      <a:srgbClr val="111827"/>
                    </a:solidFill>
                    <a:latin typeface="Cambria Math" panose="02040503050406030204" pitchFamily="18" charset="0"/>
                  </a:rPr>
                  <a:t>$C$</a:t>
                </a:r>
                <a:r>
                  <a:rPr sz="2400" b="0">
                    <a:solidFill>
                      <a:srgbClr val="111827"/>
                    </a:solidFill>
                    <a:latin typeface="Arial"/>
                  </a:rPr>
                  <a:t> with position vectors </a:t>
                </a:r>
                <a:r>
                  <a:rPr lang="en-IN" sz="2400">
                    <a:solidFill>
                      <a:srgbClr val="111827"/>
                    </a:solidFill>
                    <a:latin typeface="Cambria Math" panose="02040503050406030204" pitchFamily="18" charset="0"/>
                  </a:rPr>
                  <a:t>$\vec a,\vec b$</a:t>
                </a:r>
                <a:r>
                  <a:rPr sz="2400" b="0">
                    <a:solidFill>
                      <a:srgbClr val="111827"/>
                    </a:solidFill>
                    <a:latin typeface="Arial"/>
                  </a:rPr>
                  <a:t> and </a:t>
                </a:r>
                <a:r>
                  <a:rPr lang="en-IN" sz="2400">
                    <a:solidFill>
                      <a:srgbClr val="111827"/>
                    </a:solidFill>
                    <a:latin typeface="Cambria Math" panose="02040503050406030204" pitchFamily="18" charset="0"/>
                  </a:rPr>
                  <a:t>$\vec c$</a:t>
                </a:r>
                <a:r>
                  <a:rPr sz="2400" b="0">
                    <a:solidFill>
                      <a:srgbClr val="111827"/>
                    </a:solidFill>
                    <a:latin typeface="Arial"/>
                  </a:rPr>
                  <a:t> are collinear if:</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$\vec a\times\vec b+\vec b\times\vec c+\vec c\times\vec a=\vec 0$</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$\exists$</a:t>
                </a:r>
                <a:r>
                  <a:rPr sz="2400" b="0">
                    <a:solidFill>
                      <a:srgbClr val="111827"/>
                    </a:solidFill>
                    <a:latin typeface="Arial"/>
                  </a:rPr>
                  <a:t> a unique value of </a:t>
                </a:r>
                <a:r>
                  <a:rPr lang="en-IN" sz="2400">
                    <a:solidFill>
                      <a:srgbClr val="111827"/>
                    </a:solidFill>
                    <a:latin typeface="Cambria Math" panose="02040503050406030204" pitchFamily="18" charset="0"/>
                  </a:rPr>
                  <a:t>$\lambda$</a:t>
                </a:r>
                <a:r>
                  <a:rPr sz="2400" b="0">
                    <a:solidFill>
                      <a:srgbClr val="111827"/>
                    </a:solidFill>
                    <a:latin typeface="Arial"/>
                  </a:rPr>
                  <a:t> for which the point </a:t>
                </a:r>
                <a:r>
                  <a:rPr lang="en-IN" sz="2400">
                    <a:solidFill>
                      <a:srgbClr val="111827"/>
                    </a:solidFill>
                    <a:latin typeface="Cambria Math" panose="02040503050406030204" pitchFamily="18" charset="0"/>
                  </a:rPr>
                  <a:t>$C(\vec c)$</a:t>
                </a:r>
                <a:r>
                  <a:rPr sz="2400" b="0">
                    <a:solidFill>
                      <a:srgbClr val="111827"/>
                    </a:solidFill>
                    <a:latin typeface="Arial"/>
                  </a:rPr>
                  <a:t> satisfies the vector equation </a:t>
                </a:r>
                <a:r>
                  <a:rPr lang="en-IN" sz="2400">
                    <a:solidFill>
                      <a:srgbClr val="111827"/>
                    </a:solidFill>
                    <a:latin typeface="Cambria Math" panose="02040503050406030204" pitchFamily="18" charset="0"/>
                  </a:rPr>
                  <a:t>$\vec r=\vec a+\lambda(\vec b-\vec a)$</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the area of the </a:t>
                </a:r>
                <a:r>
                  <a:rPr lang="en-IN" sz="2400">
                    <a:solidFill>
                      <a:srgbClr val="111827"/>
                    </a:solidFill>
                    <a:latin typeface="Cambria Math" panose="02040503050406030204" pitchFamily="18" charset="0"/>
                  </a:rPr>
                  <a:t>$\triangle ABC$</a:t>
                </a:r>
                <a:r>
                  <a:rPr sz="2400" b="0">
                    <a:solidFill>
                      <a:srgbClr val="111827"/>
                    </a:solidFill>
                    <a:latin typeface="Arial"/>
                  </a:rPr>
                  <a:t> vanishes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$\exists$</a:t>
                </a:r>
                <a:r>
                  <a:rPr sz="2400" b="0">
                    <a:solidFill>
                      <a:srgbClr val="111827"/>
                    </a:solidFill>
                    <a:latin typeface="Arial"/>
                  </a:rPr>
                  <a:t> scalars </a:t>
                </a:r>
                <a:r>
                  <a:rPr lang="en-IN" sz="2400">
                    <a:solidFill>
                      <a:srgbClr val="111827"/>
                    </a:solidFill>
                    <a:latin typeface="Cambria Math" panose="02040503050406030204" pitchFamily="18" charset="0"/>
                  </a:rPr>
                  <a:t>$\alpha,\beta,\gamma$</a:t>
                </a:r>
                <a:r>
                  <a:rPr sz="2400" b="0">
                    <a:solidFill>
                      <a:srgbClr val="111827"/>
                    </a:solidFill>
                    <a:latin typeface="Arial"/>
                  </a:rPr>
                  <a:t> not all zero simultaneously such that </a:t>
                </a:r>
                <a:r>
                  <a:rPr lang="en-IN" sz="2400">
                    <a:solidFill>
                      <a:srgbClr val="111827"/>
                    </a:solidFill>
                    <a:latin typeface="Cambria Math" panose="02040503050406030204" pitchFamily="18" charset="0"/>
                  </a:rPr>
                  <a:t>$\alpha\vec a+\beta\vec b+\gamma\vec c=\vec 0$</a:t>
                </a:r>
                <a:r>
                  <a:rPr sz="2400" b="0">
                    <a:solidFill>
                      <a:srgbClr val="111827"/>
                    </a:solidFill>
                    <a:latin typeface="Arial"/>
                  </a:rPr>
                  <a:t>, where </a:t>
                </a:r>
                <a:r>
                  <a:rPr lang="en-IN" sz="2400">
                    <a:solidFill>
                      <a:srgbClr val="111827"/>
                    </a:solidFill>
                    <a:latin typeface="Cambria Math" panose="02040503050406030204" pitchFamily="18" charset="0"/>
                  </a:rPr>
                  <a:t>$\alpha+\beta+\gamma=0$</a:t>
                </a:r>
                <a:endParaRPr sz="2400">
                  <a:solidFill>
                    <a:srgbClr val="111827"/>
                  </a:solidFill>
                </a:endParaRPr>
              </a:p>
            </p:txBody>
          </p:sp>
        </mc:Fallback>
      </mc:AlternateContent>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Collinearity of three points in vector form</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Collinearity can be stated as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0</m:t>
                        </m:r>
                      </m:e>
                    </m:acc>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λ</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zero area, or an affine dependence </a:t>
                </a:r>
                <a14:m>
                  <m:oMath xmlns:m="http://schemas.openxmlformats.org/officeDocument/2006/math">
                    <m:r>
                      <a:rPr lang="en-IN" sz="2400" i="1">
                        <a:solidFill>
                          <a:srgbClr val="78350F"/>
                        </a:solidFill>
                        <a:latin typeface="Cambria Math" panose="02040503050406030204" pitchFamily="18" charset="0"/>
                      </a:rPr>
                      <m:t>α</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γ</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0</m:t>
                        </m:r>
                      </m:e>
                    </m:acc>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γ</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Collinearity can be stated as </a:t>
                </a:r>
                <a:r>
                  <a:rPr lang="en-IN" sz="2400">
                    <a:solidFill>
                      <a:srgbClr val="78350F"/>
                    </a:solidFill>
                    <a:latin typeface="Cambria Math" panose="02040503050406030204" pitchFamily="18" charset="0"/>
                  </a:rPr>
                  <a:t>$(\vec b-\vec a)\times(\vec c-\vec a)=\vec 0$</a:t>
                </a:r>
                <a:r>
                  <a:rPr sz="2400" b="0">
                    <a:solidFill>
                      <a:srgbClr val="78350F"/>
                    </a:solidFill>
                    <a:latin typeface="Arial"/>
                  </a:rPr>
                  <a:t>, </a:t>
                </a:r>
                <a:r>
                  <a:rPr lang="en-IN" sz="2400">
                    <a:solidFill>
                      <a:srgbClr val="78350F"/>
                    </a:solidFill>
                    <a:latin typeface="Cambria Math" panose="02040503050406030204" pitchFamily="18" charset="0"/>
                  </a:rPr>
                  <a:t>$\vec c=\vec a+\lambda(\vec b-\vec a)$</a:t>
                </a:r>
                <a:r>
                  <a:rPr sz="2400" b="0">
                    <a:solidFill>
                      <a:srgbClr val="78350F"/>
                    </a:solidFill>
                    <a:latin typeface="Arial"/>
                  </a:rPr>
                  <a:t>, zero area, or an affine dependence </a:t>
                </a:r>
                <a:r>
                  <a:rPr lang="en-IN" sz="2400">
                    <a:solidFill>
                      <a:srgbClr val="78350F"/>
                    </a:solidFill>
                    <a:latin typeface="Cambria Math" panose="02040503050406030204" pitchFamily="18" charset="0"/>
                  </a:rPr>
                  <a:t>$\alpha\vec a+\beta\vec b+\gamma\vec c=\vec 0$</a:t>
                </a:r>
                <a:r>
                  <a:rPr sz="2400" b="0">
                    <a:solidFill>
                      <a:srgbClr val="78350F"/>
                    </a:solidFill>
                    <a:latin typeface="Arial"/>
                  </a:rPr>
                  <a:t> with </a:t>
                </a:r>
                <a:r>
                  <a:rPr lang="en-IN" sz="2400">
                    <a:solidFill>
                      <a:srgbClr val="78350F"/>
                    </a:solidFill>
                    <a:latin typeface="Cambria Math" panose="02040503050406030204" pitchFamily="18" charset="0"/>
                  </a:rPr>
                  <a:t>$\alpha+\beta+\gamma=0$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are position vectors of collinear points, 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some scalar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(this is (B), the line through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passes through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for a unique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a,\vec b,\vec c$</a:t>
                </a:r>
                <a:r>
                  <a:rPr sz="2400" b="0">
                    <a:solidFill>
                      <a:srgbClr val="111827"/>
                    </a:solidFill>
                    <a:latin typeface="Arial"/>
                  </a:rPr>
                  <a:t> are position vectors of collinear points, then </a:t>
                </a:r>
                <a:r>
                  <a:rPr lang="en-IN" sz="2400">
                    <a:solidFill>
                      <a:srgbClr val="111827"/>
                    </a:solidFill>
                    <a:latin typeface="Cambria Math" panose="02040503050406030204" pitchFamily="18" charset="0"/>
                  </a:rPr>
                  <a:t>$\vec c-\vec a=\lambda(\vec b-\vec a)$</a:t>
                </a:r>
                <a:r>
                  <a:rPr sz="2400" b="0">
                    <a:solidFill>
                      <a:srgbClr val="111827"/>
                    </a:solidFill>
                    <a:latin typeface="Arial"/>
                  </a:rPr>
                  <a:t> for some scalar </a:t>
                </a:r>
                <a:r>
                  <a:rPr lang="en-IN" sz="2400">
                    <a:solidFill>
                      <a:srgbClr val="111827"/>
                    </a:solidFill>
                    <a:latin typeface="Cambria Math" panose="02040503050406030204" pitchFamily="18" charset="0"/>
                  </a:rPr>
                  <a:t>$\lambda$</a:t>
                </a:r>
                <a:r>
                  <a:rPr sz="2400" b="0">
                    <a:solidFill>
                      <a:srgbClr val="111827"/>
                    </a:solidFill>
                    <a:latin typeface="Arial"/>
                  </a:rPr>
                  <a:t> (this is (B), the line through </a:t>
                </a:r>
                <a:r>
                  <a:rPr lang="en-IN" sz="2400">
                    <a:solidFill>
                      <a:srgbClr val="111827"/>
                    </a:solidFill>
                    <a:latin typeface="Cambria Math" panose="02040503050406030204" pitchFamily="18" charset="0"/>
                  </a:rPr>
                  <a:t>$A,B$</a:t>
                </a:r>
                <a:r>
                  <a:rPr sz="2400" b="0">
                    <a:solidFill>
                      <a:srgbClr val="111827"/>
                    </a:solidFill>
                    <a:latin typeface="Arial"/>
                  </a:rPr>
                  <a:t> passes through </a:t>
                </a:r>
                <a:r>
                  <a:rPr lang="en-IN" sz="2400">
                    <a:solidFill>
                      <a:srgbClr val="111827"/>
                    </a:solidFill>
                    <a:latin typeface="Cambria Math" panose="02040503050406030204" pitchFamily="18" charset="0"/>
                  </a:rPr>
                  <a:t>$C$</a:t>
                </a:r>
                <a:r>
                  <a:rPr sz="2400" b="0">
                    <a:solidFill>
                      <a:srgbClr val="111827"/>
                    </a:solidFill>
                    <a:latin typeface="Arial"/>
                  </a:rPr>
                  <a:t> for a unique </a:t>
                </a:r>
                <a:r>
                  <a:rPr lang="en-IN" sz="2400">
                    <a:solidFill>
                      <a:srgbClr val="111827"/>
                    </a:solidFill>
                    <a:latin typeface="Cambria Math" panose="02040503050406030204" pitchFamily="18" charset="0"/>
                  </a:rPr>
                  <a:t>$\lambda$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Expanding,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so (A) holds.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(C) holds.</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$(\vec b-\vec a)\times(\vec c-\vec a)=\lambda(\vec b-\vec a)\times(\vec b-\vec a)=\vec 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Expanding, </a:t>
                </a:r>
                <a:r>
                  <a:rPr lang="en-IN" sz="2400">
                    <a:solidFill>
                      <a:srgbClr val="111827"/>
                    </a:solidFill>
                    <a:latin typeface="Cambria Math" panose="02040503050406030204" pitchFamily="18" charset="0"/>
                  </a:rPr>
                  <a:t>$(\vec b-\vec a)\times(\vec c-\vec a)=\vec b\times\vec c-\vec b\times\vec a-\vec a\times\vec c=\vec a\times\vec b+\vec b\times\vec c+\vec c\times\vec a$</a:t>
                </a:r>
                <a:r>
                  <a:rPr sz="2400" b="0">
                    <a:solidFill>
                      <a:srgbClr val="111827"/>
                    </a:solidFill>
                    <a:latin typeface="Arial"/>
                  </a:rPr>
                  <a:t>, so (A) holds.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t>
                </a:r>
                <a:r>
                  <a:rPr lang="en-IN" sz="2400">
                    <a:solidFill>
                      <a:srgbClr val="111827"/>
                    </a:solidFill>
                    <a:latin typeface="Cambria Math" panose="02040503050406030204" pitchFamily="18" charset="0"/>
                  </a:rPr>
                  <a:t>$\triangle ABC=\frac12|\vec a\times\vec b+\vec b\times\vec c+\vec c\times\vec a|=0$</a:t>
                </a:r>
                <a:r>
                  <a:rPr sz="2400" b="0">
                    <a:solidFill>
                      <a:srgbClr val="111827"/>
                    </a:solidFill>
                    <a:latin typeface="Arial"/>
                  </a:rPr>
                  <a:t>: (C) holds.</a:t>
                </a:r>
                <a:endParaRPr sz="2400">
                  <a:solidFill>
                    <a:srgbClr val="111827"/>
                  </a:solidFill>
                </a:endParaRPr>
              </a:p>
            </p:txBody>
          </p:sp>
        </mc:Fallback>
      </mc:AlternateContent>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not all zero: (D) holds.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four statements are consequences of (and equivalent to) collinearity: the answer is A, B, C,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a:t>
                </a:r>
                <a:r>
                  <a:rPr lang="en-IN" sz="2400">
                    <a:solidFill>
                      <a:srgbClr val="111827"/>
                    </a:solidFill>
                    <a:latin typeface="Cambria Math" panose="02040503050406030204" pitchFamily="18" charset="0"/>
                  </a:rPr>
                  <a:t>$\vec c=\vec a+\lambda(\vec b-\vec a)$</a:t>
                </a:r>
                <a:r>
                  <a:rPr sz="2400" b="0">
                    <a:solidFill>
                      <a:srgbClr val="111827"/>
                    </a:solidFill>
                    <a:latin typeface="Arial"/>
                  </a:rPr>
                  <a:t>: </a:t>
                </a:r>
                <a:r>
                  <a:rPr lang="en-IN" sz="2400">
                    <a:solidFill>
                      <a:srgbClr val="111827"/>
                    </a:solidFill>
                    <a:latin typeface="Cambria Math" panose="02040503050406030204" pitchFamily="18" charset="0"/>
                  </a:rPr>
                  <a:t>$(\lambda-1)\vec a-\lambda\vec b+\vec c=\vec 0$</a:t>
                </a:r>
                <a:r>
                  <a:rPr sz="2400" b="0">
                    <a:solidFill>
                      <a:srgbClr val="111827"/>
                    </a:solidFill>
                    <a:latin typeface="Arial"/>
                  </a:rPr>
                  <a:t> with </a:t>
                </a:r>
                <a:r>
                  <a:rPr lang="en-IN" sz="2400">
                    <a:solidFill>
                      <a:srgbClr val="111827"/>
                    </a:solidFill>
                    <a:latin typeface="Cambria Math" panose="02040503050406030204" pitchFamily="18" charset="0"/>
                  </a:rPr>
                  <a:t>$\alpha=\lambda-1,\ \beta=-\lambda,\ \gamma=1$</a:t>
                </a:r>
                <a:r>
                  <a:rPr sz="2400" b="0">
                    <a:solidFill>
                      <a:srgbClr val="111827"/>
                    </a:solidFill>
                    <a:latin typeface="Arial"/>
                  </a:rPr>
                  <a:t>, and </a:t>
                </a:r>
                <a:r>
                  <a:rPr lang="en-IN" sz="2400">
                    <a:solidFill>
                      <a:srgbClr val="111827"/>
                    </a:solidFill>
                    <a:latin typeface="Cambria Math" panose="02040503050406030204" pitchFamily="18" charset="0"/>
                  </a:rPr>
                  <a:t>$\alpha+\beta+\gamma=0$</a:t>
                </a:r>
                <a:r>
                  <a:rPr sz="2400" b="0">
                    <a:solidFill>
                      <a:srgbClr val="111827"/>
                    </a:solidFill>
                    <a:latin typeface="Arial"/>
                  </a:rPr>
                  <a:t> and not all zero: (D) holds.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four statements are consequences of (and equivalent to) collinearity: the answer is A, B, C,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 C, D)</a:t>
            </a:r>
            <a:endParaRPr sz="2800">
              <a:solidFill>
                <a:srgbClr val="15803D"/>
              </a:solidFill>
            </a:endParaRP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Check all four statements on one collinear and one non-collinear example.</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Collinear: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cross terms are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area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α</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Non-collinear: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no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area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β</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forces </a:t>
                </a:r>
                <a14:m>
                  <m:oMath xmlns:m="http://schemas.openxmlformats.org/officeDocument/2006/math">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Collinear: </a:t>
                </a:r>
                <a:r>
                  <a:rPr lang="en-IN" sz="2400">
                    <a:solidFill>
                      <a:srgbClr val="111827"/>
                    </a:solidFill>
                    <a:latin typeface="Cambria Math" panose="02040503050406030204" pitchFamily="18" charset="0"/>
                  </a:rPr>
                  <a:t>$\vec a=\vec 0$</a:t>
                </a:r>
                <a:r>
                  <a:rPr sz="2400" b="0">
                    <a:solidFill>
                      <a:srgbClr val="111827"/>
                    </a:solidFill>
                    <a:latin typeface="Arial"/>
                  </a:rPr>
                  <a:t>, </a:t>
                </a:r>
                <a:r>
                  <a:rPr lang="en-IN" sz="2400">
                    <a:solidFill>
                      <a:srgbClr val="111827"/>
                    </a:solidFill>
                    <a:latin typeface="Cambria Math" panose="02040503050406030204" pitchFamily="18" charset="0"/>
                  </a:rPr>
                  <a:t>$\vec b=\hat i$</a:t>
                </a:r>
                <a:r>
                  <a:rPr sz="2400" b="0">
                    <a:solidFill>
                      <a:srgbClr val="111827"/>
                    </a:solidFill>
                    <a:latin typeface="Arial"/>
                  </a:rPr>
                  <a:t>, </a:t>
                </a:r>
                <a:r>
                  <a:rPr lang="en-IN" sz="2400">
                    <a:solidFill>
                      <a:srgbClr val="111827"/>
                    </a:solidFill>
                    <a:latin typeface="Cambria Math" panose="02040503050406030204" pitchFamily="18" charset="0"/>
                  </a:rPr>
                  <a:t>$\vec c=2\hat i$</a:t>
                </a:r>
                <a:r>
                  <a:rPr sz="2400" b="0">
                    <a:solidFill>
                      <a:srgbClr val="111827"/>
                    </a:solidFill>
                    <a:latin typeface="Arial"/>
                  </a:rPr>
                  <a:t>: cross terms are </a:t>
                </a:r>
                <a:r>
                  <a:rPr lang="en-IN" sz="2400">
                    <a:solidFill>
                      <a:srgbClr val="111827"/>
                    </a:solidFill>
                    <a:latin typeface="Cambria Math" panose="02040503050406030204" pitchFamily="18" charset="0"/>
                  </a:rPr>
                  <a:t>$0$</a:t>
                </a:r>
                <a:r>
                  <a:rPr sz="2400" b="0">
                    <a:solidFill>
                      <a:srgbClr val="111827"/>
                    </a:solidFill>
                    <a:latin typeface="Arial"/>
                  </a:rPr>
                  <a:t>, </a:t>
                </a:r>
                <a:r>
                  <a:rPr lang="en-IN" sz="2400">
                    <a:solidFill>
                      <a:srgbClr val="111827"/>
                    </a:solidFill>
                    <a:latin typeface="Cambria Math" panose="02040503050406030204" pitchFamily="18" charset="0"/>
                  </a:rPr>
                  <a:t>$\lambda=2$</a:t>
                </a:r>
                <a:r>
                  <a:rPr sz="2400" b="0">
                    <a:solidFill>
                      <a:srgbClr val="111827"/>
                    </a:solidFill>
                    <a:latin typeface="Arial"/>
                  </a:rPr>
                  <a:t>, area </a:t>
                </a:r>
                <a:r>
                  <a:rPr lang="en-IN" sz="2400">
                    <a:solidFill>
                      <a:srgbClr val="111827"/>
                    </a:solidFill>
                    <a:latin typeface="Cambria Math" panose="02040503050406030204" pitchFamily="18" charset="0"/>
                  </a:rPr>
                  <a:t>$0$</a:t>
                </a:r>
                <a:r>
                  <a:rPr sz="2400" b="0">
                    <a:solidFill>
                      <a:srgbClr val="111827"/>
                    </a:solidFill>
                    <a:latin typeface="Arial"/>
                  </a:rPr>
                  <a:t>, and </a:t>
                </a:r>
                <a:r>
                  <a:rPr lang="en-IN" sz="2400">
                    <a:solidFill>
                      <a:srgbClr val="111827"/>
                    </a:solidFill>
                    <a:latin typeface="Cambria Math" panose="02040503050406030204" pitchFamily="18" charset="0"/>
                  </a:rPr>
                  <a:t>$\alpha=1,\beta=-2,\gamma=1$</a:t>
                </a:r>
                <a:r>
                  <a:rPr sz="2400" b="0">
                    <a:solidFill>
                      <a:srgbClr val="111827"/>
                    </a:solidFill>
                    <a:latin typeface="Arial"/>
                  </a:rPr>
                  <a:t> gives </a:t>
                </a:r>
                <a:r>
                  <a:rPr lang="en-IN" sz="2400">
                    <a:solidFill>
                      <a:srgbClr val="111827"/>
                    </a:solidFill>
                    <a:latin typeface="Cambria Math" panose="02040503050406030204" pitchFamily="18" charset="0"/>
                  </a:rPr>
                  <a:t>$\alpha+\beta+\gamma=0$</a:t>
                </a:r>
                <a:r>
                  <a:rPr sz="2400" b="0">
                    <a:solidFill>
                      <a:srgbClr val="111827"/>
                    </a:solidFill>
                    <a:latin typeface="Arial"/>
                  </a:rPr>
                  <a:t> and </a:t>
                </a:r>
                <a:r>
                  <a:rPr lang="en-IN" sz="2400">
                    <a:solidFill>
                      <a:srgbClr val="111827"/>
                    </a:solidFill>
                    <a:latin typeface="Cambria Math" panose="02040503050406030204" pitchFamily="18" charset="0"/>
                  </a:rPr>
                  <a:t>$\alpha\vec a+\beta\vec b+\gamma\vec c=0$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Non-collinear: </a:t>
                </a:r>
                <a:r>
                  <a:rPr lang="en-IN" sz="2400">
                    <a:solidFill>
                      <a:srgbClr val="111827"/>
                    </a:solidFill>
                    <a:latin typeface="Cambria Math" panose="02040503050406030204" pitchFamily="18" charset="0"/>
                  </a:rPr>
                  <a:t>$\vec a=\vec 0$</a:t>
                </a:r>
                <a:r>
                  <a:rPr sz="2400" b="0">
                    <a:solidFill>
                      <a:srgbClr val="111827"/>
                    </a:solidFill>
                    <a:latin typeface="Arial"/>
                  </a:rPr>
                  <a:t>, </a:t>
                </a:r>
                <a:r>
                  <a:rPr lang="en-IN" sz="2400">
                    <a:solidFill>
                      <a:srgbClr val="111827"/>
                    </a:solidFill>
                    <a:latin typeface="Cambria Math" panose="02040503050406030204" pitchFamily="18" charset="0"/>
                  </a:rPr>
                  <a:t>$\vec b=\hat i$</a:t>
                </a:r>
                <a:r>
                  <a:rPr sz="2400" b="0">
                    <a:solidFill>
                      <a:srgbClr val="111827"/>
                    </a:solidFill>
                    <a:latin typeface="Arial"/>
                  </a:rPr>
                  <a:t>, </a:t>
                </a:r>
                <a:r>
                  <a:rPr lang="en-IN" sz="2400">
                    <a:solidFill>
                      <a:srgbClr val="111827"/>
                    </a:solidFill>
                    <a:latin typeface="Cambria Math" panose="02040503050406030204" pitchFamily="18" charset="0"/>
                  </a:rPr>
                  <a:t>$\vec c=\hat j$</a:t>
                </a:r>
                <a:r>
                  <a:rPr sz="2400" b="0">
                    <a:solidFill>
                      <a:srgbClr val="111827"/>
                    </a:solidFill>
                    <a:latin typeface="Arial"/>
                  </a:rPr>
                  <a:t>: </a:t>
                </a:r>
                <a:r>
                  <a:rPr lang="en-IN" sz="2400">
                    <a:solidFill>
                      <a:srgbClr val="111827"/>
                    </a:solidFill>
                    <a:latin typeface="Cambria Math" panose="02040503050406030204" pitchFamily="18" charset="0"/>
                  </a:rPr>
                  <a:t>$\vec b\times\vec c=\hat k\neq\vec 0$</a:t>
                </a:r>
                <a:r>
                  <a:rPr sz="2400" b="0">
                    <a:solidFill>
                      <a:srgbClr val="111827"/>
                    </a:solidFill>
                    <a:latin typeface="Arial"/>
                  </a:rPr>
                  <a:t>, no </a:t>
                </a:r>
                <a:r>
                  <a:rPr lang="en-IN" sz="2400">
                    <a:solidFill>
                      <a:srgbClr val="111827"/>
                    </a:solidFill>
                    <a:latin typeface="Cambria Math" panose="02040503050406030204" pitchFamily="18" charset="0"/>
                  </a:rPr>
                  <a:t>$\lambda$</a:t>
                </a:r>
                <a:r>
                  <a:rPr sz="2400" b="0">
                    <a:solidFill>
                      <a:srgbClr val="111827"/>
                    </a:solidFill>
                    <a:latin typeface="Arial"/>
                  </a:rPr>
                  <a:t> gives </a:t>
                </a:r>
                <a:r>
                  <a:rPr lang="en-IN" sz="2400">
                    <a:solidFill>
                      <a:srgbClr val="111827"/>
                    </a:solidFill>
                    <a:latin typeface="Cambria Math" panose="02040503050406030204" pitchFamily="18" charset="0"/>
                  </a:rPr>
                  <a:t>$\hat j=\lambda\hat i$</a:t>
                </a:r>
                <a:r>
                  <a:rPr sz="2400" b="0">
                    <a:solidFill>
                      <a:srgbClr val="111827"/>
                    </a:solidFill>
                    <a:latin typeface="Arial"/>
                  </a:rPr>
                  <a:t>, area </a:t>
                </a:r>
                <a:r>
                  <a:rPr lang="en-IN" sz="2400">
                    <a:solidFill>
                      <a:srgbClr val="111827"/>
                    </a:solidFill>
                    <a:latin typeface="Cambria Math" panose="02040503050406030204" pitchFamily="18" charset="0"/>
                  </a:rPr>
                  <a:t>$\frac12$</a:t>
                </a:r>
                <a:r>
                  <a:rPr sz="2400" b="0">
                    <a:solidFill>
                      <a:srgbClr val="111827"/>
                    </a:solidFill>
                    <a:latin typeface="Arial"/>
                  </a:rPr>
                  <a:t>, and </a:t>
                </a:r>
                <a:r>
                  <a:rPr lang="en-IN" sz="2400">
                    <a:solidFill>
                      <a:srgbClr val="111827"/>
                    </a:solidFill>
                    <a:latin typeface="Cambria Math" panose="02040503050406030204" pitchFamily="18" charset="0"/>
                  </a:rPr>
                  <a:t>$\beta\hat i+\gamma\hat j=\vec 0$</a:t>
                </a:r>
                <a:r>
                  <a:rPr sz="2400" b="0">
                    <a:solidFill>
                      <a:srgbClr val="111827"/>
                    </a:solidFill>
                    <a:latin typeface="Arial"/>
                  </a:rPr>
                  <a:t> forces </a:t>
                </a:r>
                <a:r>
                  <a:rPr lang="en-IN" sz="2400">
                    <a:solidFill>
                      <a:srgbClr val="111827"/>
                    </a:solidFill>
                    <a:latin typeface="Cambria Math" panose="02040503050406030204" pitchFamily="18" charset="0"/>
                  </a:rPr>
                  <a:t>$\beta=\gamma=0$</a:t>
                </a:r>
                <a:r>
                  <a:rPr sz="2400" b="0">
                    <a:solidFill>
                      <a:srgbClr val="111827"/>
                    </a:solidFill>
                    <a:latin typeface="Arial"/>
                  </a:rPr>
                  <a:t>, then </a:t>
                </a:r>
                <a:r>
                  <a:rPr lang="en-IN" sz="2400">
                    <a:solidFill>
                      <a:srgbClr val="111827"/>
                    </a:solidFill>
                    <a:latin typeface="Cambria Math" panose="02040503050406030204" pitchFamily="18" charset="0"/>
                  </a:rPr>
                  <a:t>$\alpha=0$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each statement holds exactly in the collinear case: all four are correct conditions.</a:t>
            </a:r>
            <a:endParaRPr sz="2400">
              <a:solidFill>
                <a:srgbClr val="111827"/>
              </a:solidFill>
            </a:endParaRPr>
          </a:p>
        </p:txBody>
      </p:sp>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B, C, D)</a:t>
            </a:r>
            <a:endParaRPr sz="2800">
              <a:solidFill>
                <a:srgbClr val="15803D"/>
              </a:solidFill>
            </a:endParaRP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collinear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Affine dependence: </a:t>
                </a:r>
                <a14:m>
                  <m:oMath xmlns:m="http://schemas.openxmlformats.org/officeDocument/2006/math">
                    <m:r>
                      <a:rPr lang="en-IN" sz="2400" i="1">
                        <a:solidFill>
                          <a:srgbClr val="111827"/>
                        </a:solidFill>
                        <a:latin typeface="Cambria Math" panose="02040503050406030204" pitchFamily="18" charset="0"/>
                      </a:rPr>
                      <m:t>α</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(not all zero) holds iff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are collinear; without the condition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it only says the three position vectors are linearly dependent.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Four points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oMath>
                </a14:m>
                <a:r>
                  <a:rPr sz="2400" b="0">
                    <a:solidFill>
                      <a:srgbClr val="111827"/>
                    </a:solidFill>
                    <a:latin typeface="Arial"/>
                  </a:rPr>
                  <a:t> are coplanar iff </a:t>
                </a:r>
                <a14:m>
                  <m:oMath xmlns:m="http://schemas.openxmlformats.org/officeDocument/2006/math">
                    <m:r>
                      <a:rPr lang="en-IN" sz="2400" i="1">
                        <a:solidFill>
                          <a:srgbClr val="111827"/>
                        </a:solidFill>
                        <a:latin typeface="Cambria Math" panose="02040503050406030204" pitchFamily="18" charset="0"/>
                      </a:rPr>
                      <m:t>α</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δ</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(not all zero).</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$A,B,C$</a:t>
                </a:r>
                <a:r>
                  <a:rPr sz="2400" b="0">
                    <a:solidFill>
                      <a:srgbClr val="111827"/>
                    </a:solidFill>
                    <a:latin typeface="Arial"/>
                  </a:rPr>
                  <a:t> collinear </a:t>
                </a:r>
                <a:r>
                  <a:rPr lang="en-IN" sz="2400">
                    <a:solidFill>
                      <a:srgbClr val="111827"/>
                    </a:solidFill>
                    <a:latin typeface="Cambria Math" panose="02040503050406030204" pitchFamily="18" charset="0"/>
                  </a:rPr>
                  <a:t>$\iff(\vec b-\vec a)\times(\vec c-\vec a)=\vec 0\iff\vec a\times\vec b+\vec b\times\vec c+\vec c\times\vec a=\vec 0\iff$</a:t>
                </a:r>
                <a:r>
                  <a:rPr sz="2400" b="0">
                    <a:solidFill>
                      <a:srgbClr val="111827"/>
                    </a:solidFill>
                    <a:latin typeface="Arial"/>
                  </a:rPr>
                  <a:t> area of </a:t>
                </a:r>
                <a:r>
                  <a:rPr lang="en-IN" sz="2400">
                    <a:solidFill>
                      <a:srgbClr val="111827"/>
                    </a:solidFill>
                    <a:latin typeface="Cambria Math" panose="02040503050406030204" pitchFamily="18" charset="0"/>
                  </a:rPr>
                  <a:t>$\triangle ABC=0$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Affine dependence: </a:t>
                </a:r>
                <a:r>
                  <a:rPr lang="en-IN" sz="2400">
                    <a:solidFill>
                      <a:srgbClr val="111827"/>
                    </a:solidFill>
                    <a:latin typeface="Cambria Math" panose="02040503050406030204" pitchFamily="18" charset="0"/>
                  </a:rPr>
                  <a:t>$\alpha\vec a+\beta\vec b+\gamma\vec c=\vec 0$</a:t>
                </a:r>
                <a:r>
                  <a:rPr sz="2400" b="0">
                    <a:solidFill>
                      <a:srgbClr val="111827"/>
                    </a:solidFill>
                    <a:latin typeface="Arial"/>
                  </a:rPr>
                  <a:t> with </a:t>
                </a:r>
                <a:r>
                  <a:rPr lang="en-IN" sz="2400">
                    <a:solidFill>
                      <a:srgbClr val="111827"/>
                    </a:solidFill>
                    <a:latin typeface="Cambria Math" panose="02040503050406030204" pitchFamily="18" charset="0"/>
                  </a:rPr>
                  <a:t>$\alpha+\beta+\gamma=0$</a:t>
                </a:r>
                <a:r>
                  <a:rPr sz="2400" b="0">
                    <a:solidFill>
                      <a:srgbClr val="111827"/>
                    </a:solidFill>
                    <a:latin typeface="Arial"/>
                  </a:rPr>
                  <a:t> (not all zero) holds iff </a:t>
                </a:r>
                <a:r>
                  <a:rPr lang="en-IN" sz="2400">
                    <a:solidFill>
                      <a:srgbClr val="111827"/>
                    </a:solidFill>
                    <a:latin typeface="Cambria Math" panose="02040503050406030204" pitchFamily="18" charset="0"/>
                  </a:rPr>
                  <a:t>$A,B,C$</a:t>
                </a:r>
                <a:r>
                  <a:rPr sz="2400" b="0">
                    <a:solidFill>
                      <a:srgbClr val="111827"/>
                    </a:solidFill>
                    <a:latin typeface="Arial"/>
                  </a:rPr>
                  <a:t> are collinear; without the condition </a:t>
                </a:r>
                <a:r>
                  <a:rPr lang="en-IN" sz="2400">
                    <a:solidFill>
                      <a:srgbClr val="111827"/>
                    </a:solidFill>
                    <a:latin typeface="Cambria Math" panose="02040503050406030204" pitchFamily="18" charset="0"/>
                  </a:rPr>
                  <a:t>$\alpha+\beta+\gamma=0$</a:t>
                </a:r>
                <a:r>
                  <a:rPr sz="2400" b="0">
                    <a:solidFill>
                      <a:srgbClr val="111827"/>
                    </a:solidFill>
                    <a:latin typeface="Arial"/>
                  </a:rPr>
                  <a:t> it only says the three position vectors are linearly dependent.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Four points </a:t>
                </a:r>
                <a:r>
                  <a:rPr lang="en-IN" sz="2400">
                    <a:solidFill>
                      <a:srgbClr val="111827"/>
                    </a:solidFill>
                    <a:latin typeface="Cambria Math" panose="02040503050406030204" pitchFamily="18" charset="0"/>
                  </a:rPr>
                  <a:t>$A,B,C,D$</a:t>
                </a:r>
                <a:r>
                  <a:rPr sz="2400" b="0">
                    <a:solidFill>
                      <a:srgbClr val="111827"/>
                    </a:solidFill>
                    <a:latin typeface="Arial"/>
                  </a:rPr>
                  <a:t> are coplanar iff </a:t>
                </a:r>
                <a:r>
                  <a:rPr lang="en-IN" sz="2400">
                    <a:solidFill>
                      <a:srgbClr val="111827"/>
                    </a:solidFill>
                    <a:latin typeface="Cambria Math" panose="02040503050406030204" pitchFamily="18" charset="0"/>
                  </a:rPr>
                  <a:t>$\alpha\vec a+\beta\vec b+\gamma\vec c+\delta\vec d=\vec 0$</a:t>
                </a:r>
                <a:r>
                  <a:rPr sz="2400" b="0">
                    <a:solidFill>
                      <a:srgbClr val="111827"/>
                    </a:solidFill>
                    <a:latin typeface="Arial"/>
                  </a:rPr>
                  <a:t> with </a:t>
                </a:r>
                <a:r>
                  <a:rPr lang="en-IN" sz="2400">
                    <a:solidFill>
                      <a:srgbClr val="111827"/>
                    </a:solidFill>
                    <a:latin typeface="Cambria Math" panose="02040503050406030204" pitchFamily="18" charset="0"/>
                  </a:rPr>
                  <a:t>$\alpha+\beta+\gamma+\delta=0$</a:t>
                </a:r>
                <a:r>
                  <a:rPr sz="2400" b="0">
                    <a:solidFill>
                      <a:srgbClr val="111827"/>
                    </a:solidFill>
                    <a:latin typeface="Arial"/>
                  </a:rPr>
                  <a:t> (not all zero).</a:t>
                </a:r>
                <a:endParaRPr sz="2400">
                  <a:solidFill>
                    <a:srgbClr val="111827"/>
                  </a:solidFill>
                </a:endParaRPr>
              </a:p>
            </p:txBody>
          </p:sp>
        </mc:Fallback>
      </mc:AlternateContent>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be two unit vectors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be a vector such that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endParaRPr sz="2400">
                  <a:solidFill>
                    <a:srgbClr val="111827"/>
                  </a:solidFill>
                </a:endParaRPr>
              </a:p>
            </p:txBody>
          </p:sp>
        </mc:Choice>
        <mc:Fallback>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 a,\vec b$</a:t>
                </a:r>
                <a:r>
                  <a:rPr sz="2400" b="0">
                    <a:solidFill>
                      <a:srgbClr val="111827"/>
                    </a:solidFill>
                    <a:latin typeface="Arial"/>
                  </a:rPr>
                  <a:t> be two unit vectors and </a:t>
                </a:r>
                <a:r>
                  <a:rPr lang="en-IN" sz="2400">
                    <a:solidFill>
                      <a:srgbClr val="111827"/>
                    </a:solidFill>
                    <a:latin typeface="Cambria Math" panose="02040503050406030204" pitchFamily="18" charset="0"/>
                  </a:rPr>
                  <a:t>$\vec r$</a:t>
                </a:r>
                <a:r>
                  <a:rPr sz="2400" b="0">
                    <a:solidFill>
                      <a:srgbClr val="111827"/>
                    </a:solidFill>
                    <a:latin typeface="Arial"/>
                  </a:rPr>
                  <a:t> be a vector such that </a:t>
                </a:r>
                <a:r>
                  <a:rPr lang="en-IN" sz="2400">
                    <a:solidFill>
                      <a:srgbClr val="111827"/>
                    </a:solidFill>
                    <a:latin typeface="Cambria Math" panose="02040503050406030204" pitchFamily="18" charset="0"/>
                  </a:rPr>
                  <a:t>$\vec r=x\vec a+y\vec b+z(\vec a+\vec b)$</a:t>
                </a:r>
                <a:r>
                  <a:rPr sz="2400" b="0">
                    <a:solidFill>
                      <a:srgbClr val="111827"/>
                    </a:solidFill>
                    <a:latin typeface="Arial"/>
                  </a:rPr>
                  <a:t>. If </a:t>
                </a:r>
                <a:r>
                  <a:rPr lang="en-IN" sz="2400">
                    <a:solidFill>
                      <a:srgbClr val="111827"/>
                    </a:solidFill>
                    <a:latin typeface="Cambria Math" panose="02040503050406030204" pitchFamily="18" charset="0"/>
                  </a:rPr>
                  <a:t>$\vec a\cdot\vec b=\frac12$</a:t>
                </a:r>
                <a:r>
                  <a:rPr sz="2400" b="0">
                    <a:solidFill>
                      <a:srgbClr val="111827"/>
                    </a:solidFill>
                    <a:latin typeface="Arial"/>
                  </a:rPr>
                  <a:t>, </a:t>
                </a:r>
                <a:r>
                  <a:rPr lang="en-IN" sz="2400">
                    <a:solidFill>
                      <a:srgbClr val="111827"/>
                    </a:solidFill>
                    <a:latin typeface="Cambria Math" panose="02040503050406030204" pitchFamily="18" charset="0"/>
                  </a:rPr>
                  <a:t>$\vec r\cdot\vec a=2$</a:t>
                </a:r>
                <a:r>
                  <a:rPr sz="2400" b="0">
                    <a:solidFill>
                      <a:srgbClr val="111827"/>
                    </a:solidFill>
                    <a:latin typeface="Arial"/>
                  </a:rPr>
                  <a:t>, </a:t>
                </a:r>
                <a:r>
                  <a:rPr lang="en-IN" sz="2400">
                    <a:solidFill>
                      <a:srgbClr val="111827"/>
                    </a:solidFill>
                    <a:latin typeface="Cambria Math" panose="02040503050406030204" pitchFamily="18" charset="0"/>
                  </a:rPr>
                  <a:t>$\vec r\cdot\vec b=1$</a:t>
                </a:r>
                <a:r>
                  <a:rPr sz="2400" b="0">
                    <a:solidFill>
                      <a:srgbClr val="111827"/>
                    </a:solidFill>
                    <a:latin typeface="Arial"/>
                  </a:rPr>
                  <a:t> and </a:t>
                </a:r>
                <a:r>
                  <a:rPr lang="en-IN" sz="2400">
                    <a:solidFill>
                      <a:srgbClr val="111827"/>
                    </a:solidFill>
                    <a:latin typeface="Cambria Math" panose="02040503050406030204" pitchFamily="18" charset="0"/>
                  </a:rPr>
                  <a:t>$|\vec r|=\vec r\cdot(\vec a\times\vec b)=2$</a:t>
                </a:r>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$x=1$</a:t>
                </a:r>
                <a:r>
                  <a:rPr sz="2400" b="0">
                    <a:solidFill>
                      <a:srgbClr val="111827"/>
                    </a:solidFill>
                    <a:latin typeface="Arial"/>
                  </a:rPr>
                  <a:t>   (B) </a:t>
                </a:r>
                <a:r>
                  <a:rPr lang="en-IN" sz="2400">
                    <a:solidFill>
                      <a:srgbClr val="111827"/>
                    </a:solidFill>
                    <a:latin typeface="Cambria Math" panose="02040503050406030204" pitchFamily="18" charset="0"/>
                  </a:rPr>
                  <a:t>$y=1$</a:t>
                </a:r>
                <a:r>
                  <a:rPr sz="2400" b="0">
                    <a:solidFill>
                      <a:srgbClr val="111827"/>
                    </a:solidFill>
                    <a:latin typeface="Arial"/>
                  </a:rPr>
                  <a:t>   (C) </a:t>
                </a:r>
                <a:r>
                  <a:rPr lang="en-IN" sz="2400">
                    <a:solidFill>
                      <a:srgbClr val="111827"/>
                    </a:solidFill>
                    <a:latin typeface="Cambria Math" panose="02040503050406030204" pitchFamily="18" charset="0"/>
                  </a:rPr>
                  <a:t>$z=1$</a:t>
                </a:r>
                <a:r>
                  <a:rPr sz="2400" b="0">
                    <a:solidFill>
                      <a:srgbClr val="111827"/>
                    </a:solidFill>
                    <a:latin typeface="Arial"/>
                  </a:rPr>
                  <a:t>   (D) </a:t>
                </a:r>
                <a:r>
                  <a:rPr lang="en-IN" sz="2400">
                    <a:solidFill>
                      <a:srgbClr val="111827"/>
                    </a:solidFill>
                    <a:latin typeface="Cambria Math" panose="02040503050406030204" pitchFamily="18" charset="0"/>
                  </a:rPr>
                  <a:t>$x^2+y^2+z^2=2$</a:t>
                </a:r>
                <a:endParaRPr sz="2400">
                  <a:solidFill>
                    <a:srgbClr val="111827"/>
                  </a:solidFill>
                </a:endParaRPr>
              </a:p>
            </p:txBody>
          </p:sp>
        </mc:Fallback>
      </mc:AlternateContent>
      <p:sp>
        <p:nvSpPr>
          <p:cNvPr id="5" name="Rectangle 4"/>
          <p:cNvSpPr/>
          <p:nvPr/>
        </p:nvSpPr>
        <p:spPr>
          <a:xfrm>
            <a:off x="731520" y="4061968"/>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Resolution of a vector along given vectors, Scalar triple product and magnitude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oMath>
                </a14:m>
                <a:r>
                  <a:rPr sz="2400" b="0">
                    <a:solidFill>
                      <a:srgbClr val="78350F"/>
                    </a:solidFill>
                    <a:latin typeface="Arial"/>
                  </a:rPr>
                  <a:t> lies in the plane of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so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and cannot equal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$\vec r$</a:t>
                </a:r>
                <a:r>
                  <a:rPr sz="2400" b="0">
                    <a:solidFill>
                      <a:srgbClr val="78350F"/>
                    </a:solidFill>
                    <a:latin typeface="Arial"/>
                  </a:rPr>
                  <a:t> lies in the plane of </a:t>
                </a:r>
                <a:r>
                  <a:rPr lang="en-IN" sz="2400">
                    <a:solidFill>
                      <a:srgbClr val="78350F"/>
                    </a:solidFill>
                    <a:latin typeface="Cambria Math" panose="02040503050406030204" pitchFamily="18" charset="0"/>
                  </a:rPr>
                  <a:t>$\vec a,\vec b$</a:t>
                </a:r>
                <a:r>
                  <a:rPr sz="2400" b="0">
                    <a:solidFill>
                      <a:srgbClr val="78350F"/>
                    </a:solidFill>
                    <a:latin typeface="Arial"/>
                  </a:rPr>
                  <a:t>, so </a:t>
                </a:r>
                <a:r>
                  <a:rPr lang="en-IN" sz="2400">
                    <a:solidFill>
                      <a:srgbClr val="78350F"/>
                    </a:solidFill>
                    <a:latin typeface="Cambria Math" panose="02040503050406030204" pitchFamily="18" charset="0"/>
                  </a:rPr>
                  <a:t>$\vec r\cdot(\vec a\times\vec b)=0$</a:t>
                </a:r>
                <a:r>
                  <a:rPr sz="2400" b="0">
                    <a:solidFill>
                      <a:srgbClr val="78350F"/>
                    </a:solidFill>
                    <a:latin typeface="Arial"/>
                  </a:rPr>
                  <a:t> and cannot equal </a:t>
                </a:r>
                <a:r>
                  <a:rPr lang="en-IN" sz="2400">
                    <a:solidFill>
                      <a:srgbClr val="78350F"/>
                    </a:solidFill>
                    <a:latin typeface="Cambria Math" panose="02040503050406030204" pitchFamily="18" charset="0"/>
                  </a:rPr>
                  <a:t>$2$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lies in the plane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......(1). </a:t>
                </a:r>
                <a14:m>
                  <m:oMath xmlns:m="http://schemas.openxmlformats.org/officeDocument/2006/math">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(1) and (2) read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𝑤</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𝑢</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r=x\vec a+y\vec b+z(\vec a+\vec b)=(x+z)\vec a+(y+z)\vec b$</a:t>
                </a:r>
                <a:r>
                  <a:rPr sz="2400" b="0">
                    <a:solidFill>
                      <a:srgbClr val="111827"/>
                    </a:solidFill>
                    <a:latin typeface="Arial"/>
                  </a:rPr>
                  <a:t> lies in the plane of </a:t>
                </a:r>
                <a:r>
                  <a:rPr lang="en-IN" sz="2400">
                    <a:solidFill>
                      <a:srgbClr val="111827"/>
                    </a:solidFill>
                    <a:latin typeface="Cambria Math" panose="02040503050406030204" pitchFamily="18" charset="0"/>
                  </a:rPr>
                  <a:t>$\vec a,\vec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r\cdot\vec a=2$</a:t>
                </a:r>
                <a:r>
                  <a:rPr sz="2400" b="0">
                    <a:solidFill>
                      <a:srgbClr val="111827"/>
                    </a:solidFill>
                    <a:latin typeface="Arial"/>
                  </a:rPr>
                  <a:t>: </a:t>
                </a:r>
                <a:r>
                  <a:rPr lang="en-IN" sz="2400">
                    <a:solidFill>
                      <a:srgbClr val="111827"/>
                    </a:solidFill>
                    <a:latin typeface="Cambria Math" panose="02040503050406030204" pitchFamily="18" charset="0"/>
                  </a:rPr>
                  <a:t>$x+\frac y2+\frac{3z}{2}=2$</a:t>
                </a:r>
                <a:r>
                  <a:rPr sz="2400" b="0">
                    <a:solidFill>
                      <a:srgbClr val="111827"/>
                    </a:solidFill>
                    <a:latin typeface="Arial"/>
                  </a:rPr>
                  <a:t> ......(1). </a:t>
                </a:r>
                <a:r>
                  <a:rPr lang="en-IN" sz="2400">
                    <a:solidFill>
                      <a:srgbClr val="111827"/>
                    </a:solidFill>
                    <a:latin typeface="Cambria Math" panose="02040503050406030204" pitchFamily="18" charset="0"/>
                  </a:rPr>
                  <a:t>$\ \vec r\cdot\vec b=1$</a:t>
                </a:r>
                <a:r>
                  <a:rPr sz="2400" b="0">
                    <a:solidFill>
                      <a:srgbClr val="111827"/>
                    </a:solidFill>
                    <a:latin typeface="Arial"/>
                  </a:rPr>
                  <a:t>: </a:t>
                </a:r>
                <a:r>
                  <a:rPr lang="en-IN" sz="2400">
                    <a:solidFill>
                      <a:srgbClr val="111827"/>
                    </a:solidFill>
                    <a:latin typeface="Cambria Math" panose="02040503050406030204" pitchFamily="18" charset="0"/>
                  </a:rPr>
                  <a:t>$\frac x2+y+\frac{3z}{2}=1$</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$u=x+z$</a:t>
                </a:r>
                <a:r>
                  <a:rPr sz="2400" b="0">
                    <a:solidFill>
                      <a:srgbClr val="111827"/>
                    </a:solidFill>
                    <a:latin typeface="Arial"/>
                  </a:rPr>
                  <a:t> and </a:t>
                </a:r>
                <a:r>
                  <a:rPr lang="en-IN" sz="2400">
                    <a:solidFill>
                      <a:srgbClr val="111827"/>
                    </a:solidFill>
                    <a:latin typeface="Cambria Math" panose="02040503050406030204" pitchFamily="18" charset="0"/>
                  </a:rPr>
                  <a:t>$w=y+z$</a:t>
                </a:r>
                <a:r>
                  <a:rPr sz="2400" b="0">
                    <a:solidFill>
                      <a:srgbClr val="111827"/>
                    </a:solidFill>
                    <a:latin typeface="Arial"/>
                  </a:rPr>
                  <a:t>: (1) and (2) read </a:t>
                </a:r>
                <a:r>
                  <a:rPr lang="en-IN" sz="2400">
                    <a:solidFill>
                      <a:srgbClr val="111827"/>
                    </a:solidFill>
                    <a:latin typeface="Cambria Math" panose="02040503050406030204" pitchFamily="18" charset="0"/>
                  </a:rPr>
                  <a:t>$u+\frac w2=2$</a:t>
                </a:r>
                <a:r>
                  <a:rPr sz="2400" b="0">
                    <a:solidFill>
                      <a:srgbClr val="111827"/>
                    </a:solidFill>
                    <a:latin typeface="Arial"/>
                  </a:rPr>
                  <a:t> and </a:t>
                </a:r>
                <a:r>
                  <a:rPr lang="en-IN" sz="2400">
                    <a:solidFill>
                      <a:srgbClr val="111827"/>
                    </a:solidFill>
                    <a:latin typeface="Cambria Math" panose="02040503050406030204" pitchFamily="18" charset="0"/>
                  </a:rPr>
                  <a:t>$\frac u2+w=1$</a:t>
                </a:r>
                <a:r>
                  <a:rPr sz="2400" b="0">
                    <a:solidFill>
                      <a:srgbClr val="111827"/>
                    </a:solidFill>
                    <a:latin typeface="Arial"/>
                  </a:rPr>
                  <a:t>, so </a:t>
                </a:r>
                <a:r>
                  <a:rPr lang="en-IN" sz="2400">
                    <a:solidFill>
                      <a:srgbClr val="111827"/>
                    </a:solidFill>
                    <a:latin typeface="Cambria Math" panose="02040503050406030204" pitchFamily="18" charset="0"/>
                  </a:rPr>
                  <a:t>$u=2,\ w=0$</a:t>
                </a:r>
                <a:r>
                  <a:rPr sz="2400" b="0">
                    <a:solidFill>
                      <a:srgbClr val="111827"/>
                    </a:solidFill>
                    <a:latin typeface="Arial"/>
                  </a:rPr>
                  <a:t> and </a:t>
                </a:r>
                <a:r>
                  <a:rPr lang="en-IN" sz="2400">
                    <a:solidFill>
                      <a:srgbClr val="111827"/>
                    </a:solidFill>
                    <a:latin typeface="Cambria Math" panose="02040503050406030204" pitchFamily="18" charset="0"/>
                  </a:rPr>
                  <a:t>$\vec r=2\vec 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holds automatically (the PDF reaches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from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are not unique because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are dependent).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condition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cannot hold for a vector in the plane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$|\vec r|=2$</a:t>
                </a:r>
                <a:r>
                  <a:rPr sz="2400" b="0">
                    <a:solidFill>
                      <a:srgbClr val="111827"/>
                    </a:solidFill>
                    <a:latin typeface="Arial"/>
                  </a:rPr>
                  <a:t> holds automatically (the PDF reaches </a:t>
                </a:r>
                <a:r>
                  <a:rPr lang="en-IN" sz="2400">
                    <a:solidFill>
                      <a:srgbClr val="111827"/>
                    </a:solidFill>
                    <a:latin typeface="Cambria Math" panose="02040503050406030204" pitchFamily="18" charset="0"/>
                  </a:rPr>
                  <a:t>$x=2-z,\ y=-z,\ z(z-4)=0$</a:t>
                </a:r>
                <a:r>
                  <a:rPr sz="2400" b="0">
                    <a:solidFill>
                      <a:srgbClr val="111827"/>
                    </a:solidFill>
                    <a:latin typeface="Arial"/>
                  </a:rPr>
                  <a:t> from </a:t>
                </a:r>
                <a:r>
                  <a:rPr lang="en-IN" sz="2400">
                    <a:solidFill>
                      <a:srgbClr val="111827"/>
                    </a:solidFill>
                    <a:latin typeface="Cambria Math" panose="02040503050406030204" pitchFamily="18" charset="0"/>
                  </a:rPr>
                  <a:t>$|\vec r|^2=4$</a:t>
                </a:r>
                <a:r>
                  <a:rPr sz="2400" b="0">
                    <a:solidFill>
                      <a:srgbClr val="111827"/>
                    </a:solidFill>
                    <a:latin typeface="Arial"/>
                  </a:rPr>
                  <a:t>; </a:t>
                </a:r>
                <a:r>
                  <a:rPr lang="en-IN" sz="2400">
                    <a:solidFill>
                      <a:srgbClr val="111827"/>
                    </a:solidFill>
                    <a:latin typeface="Cambria Math" panose="02040503050406030204" pitchFamily="18" charset="0"/>
                  </a:rPr>
                  <a:t>$x,y,z$</a:t>
                </a:r>
                <a:r>
                  <a:rPr sz="2400" b="0">
                    <a:solidFill>
                      <a:srgbClr val="111827"/>
                    </a:solidFill>
                    <a:latin typeface="Arial"/>
                  </a:rPr>
                  <a:t> are not unique because </a:t>
                </a:r>
                <a:r>
                  <a:rPr lang="en-IN" sz="2400">
                    <a:solidFill>
                      <a:srgbClr val="111827"/>
                    </a:solidFill>
                    <a:latin typeface="Cambria Math" panose="02040503050406030204" pitchFamily="18" charset="0"/>
                  </a:rPr>
                  <a:t>$\vec a,\vec b,\vec a+\vec b$</a:t>
                </a:r>
                <a:r>
                  <a:rPr sz="2400" b="0">
                    <a:solidFill>
                      <a:srgbClr val="111827"/>
                    </a:solidFill>
                    <a:latin typeface="Arial"/>
                  </a:rPr>
                  <a:t> are dependent).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a:t>
                </a:r>
                <a:r>
                  <a:rPr lang="en-IN" sz="2400">
                    <a:solidFill>
                      <a:srgbClr val="111827"/>
                    </a:solidFill>
                    <a:latin typeface="Cambria Math" panose="02040503050406030204" pitchFamily="18" charset="0"/>
                  </a:rPr>
                  <a:t>$\vec r\cdot(\vec a\times\vec b)=2\vec a\cdot(\vec a\times\vec b)=0\neq2$</a:t>
                </a:r>
                <a:r>
                  <a:rPr sz="2400" b="0">
                    <a:solidFill>
                      <a:srgbClr val="111827"/>
                    </a:solidFill>
                    <a:latin typeface="Arial"/>
                  </a:rPr>
                  <a:t>: the condition </a:t>
                </a:r>
                <a:r>
                  <a:rPr lang="en-IN" sz="2400">
                    <a:solidFill>
                      <a:srgbClr val="111827"/>
                    </a:solidFill>
                    <a:latin typeface="Cambria Math" panose="02040503050406030204" pitchFamily="18" charset="0"/>
                  </a:rPr>
                  <a:t>$|\vec r|=\vec r\cdot(\vec a\times\vec b)=2$</a:t>
                </a:r>
                <a:r>
                  <a:rPr sz="2400" b="0">
                    <a:solidFill>
                      <a:srgbClr val="111827"/>
                    </a:solidFill>
                    <a:latin typeface="Arial"/>
                  </a:rPr>
                  <a:t> cannot hold for a vector in the plane of </a:t>
                </a:r>
                <a:r>
                  <a:rPr lang="en-IN" sz="2400">
                    <a:solidFill>
                      <a:srgbClr val="111827"/>
                    </a:solidFill>
                    <a:latin typeface="Cambria Math" panose="02040503050406030204" pitchFamily="18" charset="0"/>
                  </a:rPr>
                  <a:t>$\vec a$</a:t>
                </a:r>
                <a:r>
                  <a:rPr sz="2400" b="0">
                    <a:solidFill>
                      <a:srgbClr val="111827"/>
                    </a:solidFill>
                    <a:latin typeface="Arial"/>
                  </a:rPr>
                  <a:t> and </a:t>
                </a:r>
                <a:r>
                  <a:rPr lang="en-IN" sz="2400">
                    <a:solidFill>
                      <a:srgbClr val="111827"/>
                    </a:solidFill>
                    <a:latin typeface="Cambria Math" panose="02040503050406030204" pitchFamily="18" charset="0"/>
                  </a:rPr>
                  <a:t>$\vec 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the third vector were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instead, 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again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data are inconsistent in either reading and none of (A)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can be derived; the PDF's key (A, C, D) is reported here as given.</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the third vector were </a:t>
                </a:r>
                <a:r>
                  <a:rPr lang="en-IN" sz="2400">
                    <a:solidFill>
                      <a:srgbClr val="111827"/>
                    </a:solidFill>
                    <a:latin typeface="Cambria Math" panose="02040503050406030204" pitchFamily="18" charset="0"/>
                  </a:rPr>
                  <a:t>$\vec a\times\vec b$</a:t>
                </a:r>
                <a:r>
                  <a:rPr sz="2400" b="0">
                    <a:solidFill>
                      <a:srgbClr val="111827"/>
                    </a:solidFill>
                    <a:latin typeface="Arial"/>
                  </a:rPr>
                  <a:t> instead, then </a:t>
                </a:r>
                <a:r>
                  <a:rPr lang="en-IN" sz="2400">
                    <a:solidFill>
                      <a:srgbClr val="111827"/>
                    </a:solidFill>
                    <a:latin typeface="Cambria Math" panose="02040503050406030204" pitchFamily="18" charset="0"/>
                  </a:rPr>
                  <a:t>$\vec r\cdot\vec a=2,\ \vec r\cdot\vec b=1$</a:t>
                </a:r>
                <a:r>
                  <a:rPr sz="2400" b="0">
                    <a:solidFill>
                      <a:srgbClr val="111827"/>
                    </a:solidFill>
                    <a:latin typeface="Arial"/>
                  </a:rPr>
                  <a:t> give </a:t>
                </a:r>
                <a:r>
                  <a:rPr lang="en-IN" sz="2400">
                    <a:solidFill>
                      <a:srgbClr val="111827"/>
                    </a:solidFill>
                    <a:latin typeface="Cambria Math" panose="02040503050406030204" pitchFamily="18" charset="0"/>
                  </a:rPr>
                  <a:t>$x=2,\ y=0$</a:t>
                </a:r>
                <a:r>
                  <a:rPr sz="2400" b="0">
                    <a:solidFill>
                      <a:srgbClr val="111827"/>
                    </a:solidFill>
                    <a:latin typeface="Arial"/>
                  </a:rPr>
                  <a:t> and </a:t>
                </a:r>
                <a:r>
                  <a:rPr lang="en-IN" sz="2400">
                    <a:solidFill>
                      <a:srgbClr val="111827"/>
                    </a:solidFill>
                    <a:latin typeface="Cambria Math" panose="02040503050406030204" pitchFamily="18" charset="0"/>
                  </a:rPr>
                  <a:t>$|\vec r|=2$</a:t>
                </a:r>
                <a:r>
                  <a:rPr sz="2400" b="0">
                    <a:solidFill>
                      <a:srgbClr val="111827"/>
                    </a:solidFill>
                    <a:latin typeface="Arial"/>
                  </a:rPr>
                  <a:t> gives </a:t>
                </a:r>
                <a:r>
                  <a:rPr lang="en-IN" sz="2400">
                    <a:solidFill>
                      <a:srgbClr val="111827"/>
                    </a:solidFill>
                    <a:latin typeface="Cambria Math" panose="02040503050406030204" pitchFamily="18" charset="0"/>
                  </a:rPr>
                  <a:t>$z=0$</a:t>
                </a:r>
                <a:r>
                  <a:rPr sz="2400" b="0">
                    <a:solidFill>
                      <a:srgbClr val="111827"/>
                    </a:solidFill>
                    <a:latin typeface="Arial"/>
                  </a:rPr>
                  <a:t>, so again </a:t>
                </a:r>
                <a:r>
                  <a:rPr lang="en-IN" sz="2400">
                    <a:solidFill>
                      <a:srgbClr val="111827"/>
                    </a:solidFill>
                    <a:latin typeface="Cambria Math" panose="02040503050406030204" pitchFamily="18" charset="0"/>
                  </a:rPr>
                  <a:t>$\vec r\cdot(\vec a\times\vec b)=0\neq2$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data are inconsistent in either reading and none of (A) </a:t>
                </a:r>
                <a:r>
                  <a:rPr lang="en-IN" sz="2400">
                    <a:solidFill>
                      <a:srgbClr val="111827"/>
                    </a:solidFill>
                    <a:latin typeface="Cambria Math" panose="02040503050406030204" pitchFamily="18" charset="0"/>
                  </a:rPr>
                  <a:t>$x=1$</a:t>
                </a:r>
                <a:r>
                  <a:rPr sz="2400" b="0">
                    <a:solidFill>
                      <a:srgbClr val="111827"/>
                    </a:solidFill>
                    <a:latin typeface="Arial"/>
                  </a:rPr>
                  <a:t>, (B) </a:t>
                </a:r>
                <a:r>
                  <a:rPr lang="en-IN" sz="2400">
                    <a:solidFill>
                      <a:srgbClr val="111827"/>
                    </a:solidFill>
                    <a:latin typeface="Cambria Math" panose="02040503050406030204" pitchFamily="18" charset="0"/>
                  </a:rPr>
                  <a:t>$y=1$</a:t>
                </a:r>
                <a:r>
                  <a:rPr sz="2400" b="0">
                    <a:solidFill>
                      <a:srgbClr val="111827"/>
                    </a:solidFill>
                    <a:latin typeface="Arial"/>
                  </a:rPr>
                  <a:t>, (C) </a:t>
                </a:r>
                <a:r>
                  <a:rPr lang="en-IN" sz="2400">
                    <a:solidFill>
                      <a:srgbClr val="111827"/>
                    </a:solidFill>
                    <a:latin typeface="Cambria Math" panose="02040503050406030204" pitchFamily="18" charset="0"/>
                  </a:rPr>
                  <a:t>$z=1$</a:t>
                </a:r>
                <a:r>
                  <a:rPr sz="2400" b="0">
                    <a:solidFill>
                      <a:srgbClr val="111827"/>
                    </a:solidFill>
                    <a:latin typeface="Arial"/>
                  </a:rPr>
                  <a:t>, (D) </a:t>
                </a:r>
                <a:r>
                  <a:rPr lang="en-IN" sz="2400">
                    <a:solidFill>
                      <a:srgbClr val="111827"/>
                    </a:solidFill>
                    <a:latin typeface="Cambria Math" panose="02040503050406030204" pitchFamily="18" charset="0"/>
                  </a:rPr>
                  <a:t>$x^2+y^2+z^2=2$</a:t>
                </a:r>
                <a:r>
                  <a:rPr sz="2400" b="0">
                    <a:solidFill>
                      <a:srgbClr val="111827"/>
                    </a:solidFill>
                    <a:latin typeface="Arial"/>
                  </a:rPr>
                  <a:t> can be derived; the PDF's key (A, C, D) is reported here as given.</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As printed, the data are inconsistent. Paper's key: (A, C, D).</a:t>
            </a:r>
            <a:endParaRPr sz="2800">
              <a:solidFill>
                <a:srgbClr val="15803D"/>
              </a:solidFill>
            </a:endParaRP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is a combination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(including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Coefficients in </a:t>
                </a:r>
                <a14:m>
                  <m:oMath xmlns:m="http://schemas.openxmlformats.org/officeDocument/2006/math">
                    <m:r>
                      <a:rPr lang="en-IN" sz="2400" i="1">
                        <a:solidFill>
                          <a:srgbClr val="111827"/>
                        </a:solidFill>
                        <a:latin typeface="Cambria Math" panose="02040503050406030204" pitchFamily="18" charset="0"/>
                      </a:rPr>
                      <m:t>𝑥</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not unique: only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are determined.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split a vector in the basis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use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r$</a:t>
                </a:r>
                <a:r>
                  <a:rPr sz="2400" b="0">
                    <a:solidFill>
                      <a:srgbClr val="111827"/>
                    </a:solidFill>
                    <a:latin typeface="Arial"/>
                  </a:rPr>
                  <a:t> is a combination of </a:t>
                </a:r>
                <a:r>
                  <a:rPr lang="en-IN" sz="2400">
                    <a:solidFill>
                      <a:srgbClr val="111827"/>
                    </a:solidFill>
                    <a:latin typeface="Cambria Math" panose="02040503050406030204" pitchFamily="18" charset="0"/>
                  </a:rPr>
                  <a:t>$\vec a$</a:t>
                </a:r>
                <a:r>
                  <a:rPr sz="2400" b="0">
                    <a:solidFill>
                      <a:srgbClr val="111827"/>
                    </a:solidFill>
                    <a:latin typeface="Arial"/>
                  </a:rPr>
                  <a:t> and </a:t>
                </a:r>
                <a:r>
                  <a:rPr lang="en-IN" sz="2400">
                    <a:solidFill>
                      <a:srgbClr val="111827"/>
                    </a:solidFill>
                    <a:latin typeface="Cambria Math" panose="02040503050406030204" pitchFamily="18" charset="0"/>
                  </a:rPr>
                  <a:t>$\vec b$</a:t>
                </a:r>
                <a:r>
                  <a:rPr sz="2400" b="0">
                    <a:solidFill>
                      <a:srgbClr val="111827"/>
                    </a:solidFill>
                    <a:latin typeface="Arial"/>
                  </a:rPr>
                  <a:t> (including </a:t>
                </a:r>
                <a:r>
                  <a:rPr lang="en-IN" sz="2400">
                    <a:solidFill>
                      <a:srgbClr val="111827"/>
                    </a:solidFill>
                    <a:latin typeface="Cambria Math" panose="02040503050406030204" pitchFamily="18" charset="0"/>
                  </a:rPr>
                  <a:t>$\vec a+\vec b$</a:t>
                </a:r>
                <a:r>
                  <a:rPr sz="2400" b="0">
                    <a:solidFill>
                      <a:srgbClr val="111827"/>
                    </a:solidFill>
                    <a:latin typeface="Arial"/>
                  </a:rPr>
                  <a:t>), then </a:t>
                </a:r>
                <a:r>
                  <a:rPr lang="en-IN" sz="2400">
                    <a:solidFill>
                      <a:srgbClr val="111827"/>
                    </a:solidFill>
                    <a:latin typeface="Cambria Math" panose="02040503050406030204" pitchFamily="18" charset="0"/>
                  </a:rPr>
                  <a:t>$\vec r\cdot(\vec a\times\vec b)=0$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Coefficients in </a:t>
                </a:r>
                <a:r>
                  <a:rPr lang="en-IN" sz="2400">
                    <a:solidFill>
                      <a:srgbClr val="111827"/>
                    </a:solidFill>
                    <a:latin typeface="Cambria Math" panose="02040503050406030204" pitchFamily="18" charset="0"/>
                  </a:rPr>
                  <a:t>$x\vec a+y\vec b+z(\vec a+\vec b)$</a:t>
                </a:r>
                <a:r>
                  <a:rPr sz="2400" b="0">
                    <a:solidFill>
                      <a:srgbClr val="111827"/>
                    </a:solidFill>
                    <a:latin typeface="Arial"/>
                  </a:rPr>
                  <a:t> are not unique: only </a:t>
                </a:r>
                <a:r>
                  <a:rPr lang="en-IN" sz="2400">
                    <a:solidFill>
                      <a:srgbClr val="111827"/>
                    </a:solidFill>
                    <a:latin typeface="Cambria Math" panose="02040503050406030204" pitchFamily="18" charset="0"/>
                  </a:rPr>
                  <a:t>$x+z$</a:t>
                </a:r>
                <a:r>
                  <a:rPr sz="2400" b="0">
                    <a:solidFill>
                      <a:srgbClr val="111827"/>
                    </a:solidFill>
                    <a:latin typeface="Arial"/>
                  </a:rPr>
                  <a:t> and </a:t>
                </a:r>
                <a:r>
                  <a:rPr lang="en-IN" sz="2400">
                    <a:solidFill>
                      <a:srgbClr val="111827"/>
                    </a:solidFill>
                    <a:latin typeface="Cambria Math" panose="02040503050406030204" pitchFamily="18" charset="0"/>
                  </a:rPr>
                  <a:t>$y+z$</a:t>
                </a:r>
                <a:r>
                  <a:rPr sz="2400" b="0">
                    <a:solidFill>
                      <a:srgbClr val="111827"/>
                    </a:solidFill>
                    <a:latin typeface="Arial"/>
                  </a:rPr>
                  <a:t> are determined.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split a vector in the basis </a:t>
                </a:r>
                <a:r>
                  <a:rPr lang="en-IN" sz="2400">
                    <a:solidFill>
                      <a:srgbClr val="111827"/>
                    </a:solidFill>
                    <a:latin typeface="Cambria Math" panose="02040503050406030204" pitchFamily="18" charset="0"/>
                  </a:rPr>
                  <a:t>$\vec a,\vec b,\vec a\times\vec b$</a:t>
                </a:r>
                <a:r>
                  <a:rPr sz="2400" b="0">
                    <a:solidFill>
                      <a:srgbClr val="111827"/>
                    </a:solidFill>
                    <a:latin typeface="Arial"/>
                  </a:rPr>
                  <a:t> use </a:t>
                </a:r>
                <a:r>
                  <a:rPr lang="en-IN" sz="2400">
                    <a:solidFill>
                      <a:srgbClr val="111827"/>
                    </a:solidFill>
                    <a:latin typeface="Cambria Math" panose="02040503050406030204" pitchFamily="18" charset="0"/>
                  </a:rPr>
                  <a:t>$\vec r\cdot\vec a,\ \vec r\cdot\vec b$</a:t>
                </a:r>
                <a:r>
                  <a:rPr sz="2400" b="0">
                    <a:solidFill>
                      <a:srgbClr val="111827"/>
                    </a:solidFill>
                    <a:latin typeface="Arial"/>
                  </a:rPr>
                  <a:t> and </a:t>
                </a:r>
                <a:r>
                  <a:rPr lang="en-IN" sz="2400">
                    <a:solidFill>
                      <a:srgbClr val="111827"/>
                    </a:solidFill>
                    <a:latin typeface="Cambria Math" panose="02040503050406030204" pitchFamily="18" charset="0"/>
                  </a:rPr>
                  <a:t>$\vec r\cdot(\vec a\times\vec b)=z|\vec a\times\vec b|^2$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86511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pyramid with vertex at the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whose position vector is </a:t>
                </a:r>
                <a14:m>
                  <m:oMath xmlns:m="http://schemas.openxmlformats.org/officeDocument/2006/math">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has a regular hexagonal base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r>
                      <a:rPr lang="en-IN" sz="2400" i="1">
                        <a:solidFill>
                          <a:srgbClr val="111827"/>
                        </a:solidFill>
                        <a:latin typeface="Cambria Math" panose="02040503050406030204" pitchFamily="18" charset="0"/>
                      </a:rPr>
                      <m:t>𝐸</m:t>
                    </m:r>
                    <m:r>
                      <a:rPr lang="en-IN" sz="2400" i="1">
                        <a:solidFill>
                          <a:srgbClr val="111827"/>
                        </a:solidFill>
                        <a:latin typeface="Cambria Math" panose="02040503050406030204" pitchFamily="18" charset="0"/>
                      </a:rPr>
                      <m:t>𝐹</m:t>
                    </m:r>
                  </m:oMath>
                </a14:m>
                <a:r>
                  <a:rPr sz="2400" b="0">
                    <a:solidFill>
                      <a:srgbClr val="111827"/>
                    </a:solidFill>
                    <a:latin typeface="Arial"/>
                  </a:rPr>
                  <a:t>. Position vectors of points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are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respectively. Centre of the base has the position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Altitude drawn from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on the base meets the diagonal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oMath>
                </a14:m>
                <a:r>
                  <a:rPr sz="2400" b="0">
                    <a:solidFill>
                      <a:srgbClr val="111827"/>
                    </a:solidFill>
                    <a:latin typeface="Arial"/>
                  </a:rPr>
                  <a:t> at point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and volume of the pyramid is </a:t>
                </a:r>
                <a14:m>
                  <m:oMath xmlns:m="http://schemas.openxmlformats.org/officeDocument/2006/math">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cubic units then all possible position vectors of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are: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endParaRPr sz="2400">
                  <a:solidFill>
                    <a:srgbClr val="111827"/>
                  </a:solidFill>
                </a:endParaRPr>
              </a:p>
            </p:txBody>
          </p:sp>
        </mc:Choice>
        <mc:Fallback>
          <p:sp>
            <p:nvSpPr>
              <p:cNvPr id="4" name="Rounded Rectangle 3"/>
              <p:cNvSpPr/>
              <p:nvPr/>
            </p:nvSpPr>
            <p:spPr>
              <a:xfrm>
                <a:off x="731520" y="1280160"/>
                <a:ext cx="10725912" cy="486511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pyramid with vertex at the point </a:t>
                </a:r>
                <a:r>
                  <a:rPr lang="en-IN" sz="2400">
                    <a:solidFill>
                      <a:srgbClr val="111827"/>
                    </a:solidFill>
                    <a:latin typeface="Cambria Math" panose="02040503050406030204" pitchFamily="18" charset="0"/>
                  </a:rPr>
                  <a:t>$P$</a:t>
                </a:r>
                <a:r>
                  <a:rPr sz="2400" b="0">
                    <a:solidFill>
                      <a:srgbClr val="111827"/>
                    </a:solidFill>
                    <a:latin typeface="Arial"/>
                  </a:rPr>
                  <a:t>, whose position vector is </a:t>
                </a:r>
                <a:r>
                  <a:rPr lang="en-IN" sz="2400">
                    <a:solidFill>
                      <a:srgbClr val="111827"/>
                    </a:solidFill>
                    <a:latin typeface="Cambria Math" panose="02040503050406030204" pitchFamily="18" charset="0"/>
                  </a:rPr>
                  <a:t>$4\hat i+2\hat j+2\sqrt3\hat k$</a:t>
                </a:r>
                <a:r>
                  <a:rPr sz="2400" b="0">
                    <a:solidFill>
                      <a:srgbClr val="111827"/>
                    </a:solidFill>
                    <a:latin typeface="Arial"/>
                  </a:rPr>
                  <a:t> has a regular hexagonal base </a:t>
                </a:r>
                <a:r>
                  <a:rPr lang="en-IN" sz="2400">
                    <a:solidFill>
                      <a:srgbClr val="111827"/>
                    </a:solidFill>
                    <a:latin typeface="Cambria Math" panose="02040503050406030204" pitchFamily="18" charset="0"/>
                  </a:rPr>
                  <a:t>$ABCDEF$</a:t>
                </a:r>
                <a:r>
                  <a:rPr sz="2400" b="0">
                    <a:solidFill>
                      <a:srgbClr val="111827"/>
                    </a:solidFill>
                    <a:latin typeface="Arial"/>
                  </a:rPr>
                  <a:t>. Position vectors of points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are </a:t>
                </a:r>
                <a:r>
                  <a:rPr lang="en-IN" sz="2400">
                    <a:solidFill>
                      <a:srgbClr val="111827"/>
                    </a:solidFill>
                    <a:latin typeface="Cambria Math" panose="02040503050406030204" pitchFamily="18" charset="0"/>
                  </a:rPr>
                  <a:t>$\hat i$</a:t>
                </a:r>
                <a:r>
                  <a:rPr sz="2400" b="0">
                    <a:solidFill>
                      <a:srgbClr val="111827"/>
                    </a:solidFill>
                    <a:latin typeface="Arial"/>
                  </a:rPr>
                  <a:t> and </a:t>
                </a:r>
                <a:r>
                  <a:rPr lang="en-IN" sz="2400">
                    <a:solidFill>
                      <a:srgbClr val="111827"/>
                    </a:solidFill>
                    <a:latin typeface="Cambria Math" panose="02040503050406030204" pitchFamily="18" charset="0"/>
                  </a:rPr>
                  <a:t>$\hat i+2\hat j$</a:t>
                </a:r>
                <a:r>
                  <a:rPr sz="2400" b="0">
                    <a:solidFill>
                      <a:srgbClr val="111827"/>
                    </a:solidFill>
                    <a:latin typeface="Arial"/>
                  </a:rPr>
                  <a:t> respectively. Centre of the base has the position vector </a:t>
                </a:r>
                <a:r>
                  <a:rPr lang="en-IN" sz="2400">
                    <a:solidFill>
                      <a:srgbClr val="111827"/>
                    </a:solidFill>
                    <a:latin typeface="Cambria Math" panose="02040503050406030204" pitchFamily="18" charset="0"/>
                  </a:rPr>
                  <a:t>$\hat i+\hat j+\sqrt3\hat k$</a:t>
                </a:r>
                <a:r>
                  <a:rPr sz="2400" b="0">
                    <a:solidFill>
                      <a:srgbClr val="111827"/>
                    </a:solidFill>
                    <a:latin typeface="Arial"/>
                  </a:rPr>
                  <a:t>. Altitude drawn from </a:t>
                </a:r>
                <a:r>
                  <a:rPr lang="en-IN" sz="2400">
                    <a:solidFill>
                      <a:srgbClr val="111827"/>
                    </a:solidFill>
                    <a:latin typeface="Cambria Math" panose="02040503050406030204" pitchFamily="18" charset="0"/>
                  </a:rPr>
                  <a:t>$P$</a:t>
                </a:r>
                <a:r>
                  <a:rPr sz="2400" b="0">
                    <a:solidFill>
                      <a:srgbClr val="111827"/>
                    </a:solidFill>
                    <a:latin typeface="Arial"/>
                  </a:rPr>
                  <a:t> on the base meets the diagonal </a:t>
                </a:r>
                <a:r>
                  <a:rPr lang="en-IN" sz="2400">
                    <a:solidFill>
                      <a:srgbClr val="111827"/>
                    </a:solidFill>
                    <a:latin typeface="Cambria Math" panose="02040503050406030204" pitchFamily="18" charset="0"/>
                  </a:rPr>
                  <a:t>$AD$</a:t>
                </a:r>
                <a:r>
                  <a:rPr sz="2400" b="0">
                    <a:solidFill>
                      <a:srgbClr val="111827"/>
                    </a:solidFill>
                    <a:latin typeface="Arial"/>
                  </a:rPr>
                  <a:t> at point </a:t>
                </a:r>
                <a:r>
                  <a:rPr lang="en-IN" sz="2400">
                    <a:solidFill>
                      <a:srgbClr val="111827"/>
                    </a:solidFill>
                    <a:latin typeface="Cambria Math" panose="02040503050406030204" pitchFamily="18" charset="0"/>
                  </a:rPr>
                  <a:t>$G$</a:t>
                </a:r>
                <a:r>
                  <a:rPr sz="2400" b="0">
                    <a:solidFill>
                      <a:srgbClr val="111827"/>
                    </a:solidFill>
                    <a:latin typeface="Arial"/>
                  </a:rPr>
                  <a:t> and volume of the pyramid is </a:t>
                </a:r>
                <a:r>
                  <a:rPr lang="en-IN" sz="2400">
                    <a:solidFill>
                      <a:srgbClr val="111827"/>
                    </a:solidFill>
                    <a:latin typeface="Cambria Math" panose="02040503050406030204" pitchFamily="18" charset="0"/>
                  </a:rPr>
                  <a:t>$6\sqrt3$</a:t>
                </a:r>
                <a:r>
                  <a:rPr sz="2400" b="0">
                    <a:solidFill>
                      <a:srgbClr val="111827"/>
                    </a:solidFill>
                    <a:latin typeface="Arial"/>
                  </a:rPr>
                  <a:t> cubic units then all possible position vectors of </a:t>
                </a:r>
                <a:r>
                  <a:rPr lang="en-IN" sz="2400">
                    <a:solidFill>
                      <a:srgbClr val="111827"/>
                    </a:solidFill>
                    <a:latin typeface="Cambria Math" panose="02040503050406030204" pitchFamily="18" charset="0"/>
                  </a:rPr>
                  <a:t>$G$</a:t>
                </a:r>
                <a:r>
                  <a:rPr sz="2400" b="0">
                    <a:solidFill>
                      <a:srgbClr val="111827"/>
                    </a:solidFill>
                    <a:latin typeface="Arial"/>
                  </a:rPr>
                  <a:t> are: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$\hat i+2\hat j+2\sqrt3\hat k$</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$-(\hat i+2\hat j+2\sqrt3\hat k)$</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$3\hat i+2\hat j+2\sqrt3\hat k$</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$-3\hat i+2\hat j+2\sqrt3\hat k$</a:t>
                </a:r>
                <a:endParaRPr sz="2400">
                  <a:solidFill>
                    <a:srgbClr val="111827"/>
                  </a:solidFill>
                </a:endParaRPr>
              </a:p>
            </p:txBody>
          </p:sp>
        </mc:Fallback>
      </mc:AlternateContent>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Pyramid on a regular hexagonal base: altitude and foot of perpendicular</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𝐵</m:t>
                    </m:r>
                  </m:oMath>
                </a14:m>
                <a:r>
                  <a:rPr sz="2400" b="0">
                    <a:solidFill>
                      <a:srgbClr val="78350F"/>
                    </a:solidFill>
                    <a:latin typeface="Arial"/>
                  </a:rPr>
                  <a:t> and the centre all have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so the base lies in the plane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the foot of the altitude from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is simply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$A$</a:t>
                </a:r>
                <a:r>
                  <a:rPr sz="2400" b="0">
                    <a:solidFill>
                      <a:srgbClr val="78350F"/>
                    </a:solidFill>
                    <a:latin typeface="Arial"/>
                  </a:rPr>
                  <a:t>, </a:t>
                </a:r>
                <a:r>
                  <a:rPr lang="en-IN" sz="2400">
                    <a:solidFill>
                      <a:srgbClr val="78350F"/>
                    </a:solidFill>
                    <a:latin typeface="Cambria Math" panose="02040503050406030204" pitchFamily="18" charset="0"/>
                  </a:rPr>
                  <a:t>$B$</a:t>
                </a:r>
                <a:r>
                  <a:rPr sz="2400" b="0">
                    <a:solidFill>
                      <a:srgbClr val="78350F"/>
                    </a:solidFill>
                    <a:latin typeface="Arial"/>
                  </a:rPr>
                  <a:t> and the centre all have </a:t>
                </a:r>
                <a:r>
                  <a:rPr lang="en-IN" sz="2400">
                    <a:solidFill>
                      <a:srgbClr val="78350F"/>
                    </a:solidFill>
                    <a:latin typeface="Cambria Math" panose="02040503050406030204" pitchFamily="18" charset="0"/>
                  </a:rPr>
                  <a:t>$x=1$</a:t>
                </a:r>
                <a:r>
                  <a:rPr sz="2400" b="0">
                    <a:solidFill>
                      <a:srgbClr val="78350F"/>
                    </a:solidFill>
                    <a:latin typeface="Arial"/>
                  </a:rPr>
                  <a:t>, so the base lies in the plane </a:t>
                </a:r>
                <a:r>
                  <a:rPr lang="en-IN" sz="2400">
                    <a:solidFill>
                      <a:srgbClr val="78350F"/>
                    </a:solidFill>
                    <a:latin typeface="Cambria Math" panose="02040503050406030204" pitchFamily="18" charset="0"/>
                  </a:rPr>
                  <a:t>$x=1$</a:t>
                </a:r>
                <a:r>
                  <a:rPr sz="2400" b="0">
                    <a:solidFill>
                      <a:srgbClr val="78350F"/>
                    </a:solidFill>
                    <a:latin typeface="Arial"/>
                  </a:rPr>
                  <a:t> and the foot of the altitude from </a:t>
                </a:r>
                <a:r>
                  <a:rPr lang="en-IN" sz="2400">
                    <a:solidFill>
                      <a:srgbClr val="78350F"/>
                    </a:solidFill>
                    <a:latin typeface="Cambria Math" panose="02040503050406030204" pitchFamily="18" charset="0"/>
                  </a:rPr>
                  <a:t>$P$</a:t>
                </a:r>
                <a:r>
                  <a:rPr sz="2400" b="0">
                    <a:solidFill>
                      <a:srgbClr val="78350F"/>
                    </a:solidFill>
                    <a:latin typeface="Arial"/>
                  </a:rPr>
                  <a:t> is simply </a:t>
                </a:r>
                <a:r>
                  <a:rPr lang="en-IN" sz="2400">
                    <a:solidFill>
                      <a:srgbClr val="78350F"/>
                    </a:solidFill>
                    <a:latin typeface="Cambria Math" panose="02040503050406030204" pitchFamily="18" charset="0"/>
                  </a:rPr>
                  <a:t>$(1,2,2\sqrt3)$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centre be </a:t>
                </a:r>
                <a14:m>
                  <m:oMath xmlns:m="http://schemas.openxmlformats.org/officeDocument/2006/math">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so the side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and the hexagon has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equilateral triangles of side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centre be </a:t>
                </a:r>
                <a:r>
                  <a:rPr lang="en-IN" sz="2400">
                    <a:solidFill>
                      <a:srgbClr val="111827"/>
                    </a:solidFill>
                    <a:latin typeface="Cambria Math" panose="02040503050406030204" pitchFamily="18" charset="0"/>
                  </a:rPr>
                  <a:t>$O=(1,1,\sqrt3)$</a:t>
                </a:r>
                <a:r>
                  <a:rPr sz="2400" b="0">
                    <a:solidFill>
                      <a:srgbClr val="111827"/>
                    </a:solidFill>
                    <a:latin typeface="Arial"/>
                  </a:rPr>
                  <a:t>, </a:t>
                </a:r>
                <a:r>
                  <a:rPr lang="en-IN" sz="2400">
                    <a:solidFill>
                      <a:srgbClr val="111827"/>
                    </a:solidFill>
                    <a:latin typeface="Cambria Math" panose="02040503050406030204" pitchFamily="18" charset="0"/>
                  </a:rPr>
                  <a:t>$A=(1,0,0)$</a:t>
                </a:r>
                <a:r>
                  <a:rPr sz="2400" b="0">
                    <a:solidFill>
                      <a:srgbClr val="111827"/>
                    </a:solidFill>
                    <a:latin typeface="Arial"/>
                  </a:rPr>
                  <a:t>, </a:t>
                </a:r>
                <a:r>
                  <a:rPr lang="en-IN" sz="2400">
                    <a:solidFill>
                      <a:srgbClr val="111827"/>
                    </a:solidFill>
                    <a:latin typeface="Cambria Math" panose="02040503050406030204" pitchFamily="18" charset="0"/>
                  </a:rPr>
                  <a:t>$B=(1,2,0)$</a:t>
                </a:r>
                <a:r>
                  <a:rPr sz="2400" b="0">
                    <a:solidFill>
                      <a:srgbClr val="111827"/>
                    </a:solidFill>
                    <a:latin typeface="Arial"/>
                  </a:rPr>
                  <a:t>: </a:t>
                </a:r>
                <a:r>
                  <a:rPr lang="en-IN" sz="2400">
                    <a:solidFill>
                      <a:srgbClr val="111827"/>
                    </a:solidFill>
                    <a:latin typeface="Cambria Math" panose="02040503050406030204" pitchFamily="18" charset="0"/>
                  </a:rPr>
                  <a:t>$\overrightarrow{AB}=2\hat j$</a:t>
                </a:r>
                <a:r>
                  <a:rPr sz="2400" b="0">
                    <a:solidFill>
                      <a:srgbClr val="111827"/>
                    </a:solidFill>
                    <a:latin typeface="Arial"/>
                  </a:rPr>
                  <a:t> so the side is </a:t>
                </a:r>
                <a:r>
                  <a:rPr lang="en-IN" sz="2400">
                    <a:solidFill>
                      <a:srgbClr val="111827"/>
                    </a:solidFill>
                    <a:latin typeface="Cambria Math" panose="02040503050406030204" pitchFamily="18" charset="0"/>
                  </a:rPr>
                  <a:t>$2$</a:t>
                </a:r>
                <a:r>
                  <a:rPr sz="2400" b="0">
                    <a:solidFill>
                      <a:srgbClr val="111827"/>
                    </a:solidFill>
                    <a:latin typeface="Arial"/>
                  </a:rPr>
                  <a:t> and the hexagon has </a:t>
                </a:r>
                <a:r>
                  <a:rPr lang="en-IN" sz="2400">
                    <a:solidFill>
                      <a:srgbClr val="111827"/>
                    </a:solidFill>
                    <a:latin typeface="Cambria Math" panose="02040503050406030204" pitchFamily="18" charset="0"/>
                  </a:rPr>
                  <a:t>$6$</a:t>
                </a:r>
                <a:r>
                  <a:rPr sz="2400" b="0">
                    <a:solidFill>
                      <a:srgbClr val="111827"/>
                    </a:solidFill>
                    <a:latin typeface="Arial"/>
                  </a:rPr>
                  <a:t> equilateral triangles of side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of one triangle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so the base area is </a:t>
                </a:r>
                <a14:m>
                  <m:oMath xmlns:m="http://schemas.openxmlformats.org/officeDocument/2006/math">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oMath>
                </a14:m>
                <a:r>
                  <a:rPr sz="2400" b="0">
                    <a:solidFill>
                      <a:srgbClr val="111827"/>
                    </a:solidFill>
                    <a:latin typeface="Arial"/>
                  </a:rPr>
                  <a:t> all have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-coordinate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the base lies in the plane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distance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from it, which agrees with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foot of the perpendicular from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that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is on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(also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of one triangle </a:t>
                </a:r>
                <a:r>
                  <a:rPr lang="en-IN" sz="2400">
                    <a:solidFill>
                      <a:srgbClr val="111827"/>
                    </a:solidFill>
                    <a:latin typeface="Cambria Math" panose="02040503050406030204" pitchFamily="18" charset="0"/>
                  </a:rPr>
                  <a:t>$OAB=\frac{\sqrt3}{4}\cdot4=\sqrt3$</a:t>
                </a:r>
                <a:r>
                  <a:rPr sz="2400" b="0">
                    <a:solidFill>
                      <a:srgbClr val="111827"/>
                    </a:solidFill>
                    <a:latin typeface="Arial"/>
                  </a:rPr>
                  <a:t>, so the base area is </a:t>
                </a:r>
                <a:r>
                  <a:rPr lang="en-IN" sz="2400">
                    <a:solidFill>
                      <a:srgbClr val="111827"/>
                    </a:solidFill>
                    <a:latin typeface="Cambria Math" panose="02040503050406030204" pitchFamily="18" charset="0"/>
                  </a:rPr>
                  <a:t>$6\sqrt3$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a:t>
                </a:r>
                <a:r>
                  <a:rPr lang="en-IN" sz="2400">
                    <a:solidFill>
                      <a:srgbClr val="111827"/>
                    </a:solidFill>
                    <a:latin typeface="Cambria Math" panose="02040503050406030204" pitchFamily="18" charset="0"/>
                  </a:rPr>
                  <a:t>$=\frac13\cdot6\sqrt3\cdot h=6\sqrt3\Rightarrow h=3$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$A,B,O$</a:t>
                </a:r>
                <a:r>
                  <a:rPr sz="2400" b="0">
                    <a:solidFill>
                      <a:srgbClr val="111827"/>
                    </a:solidFill>
                    <a:latin typeface="Arial"/>
                  </a:rPr>
                  <a:t> all have </a:t>
                </a:r>
                <a:r>
                  <a:rPr lang="en-IN" sz="2400">
                    <a:solidFill>
                      <a:srgbClr val="111827"/>
                    </a:solidFill>
                    <a:latin typeface="Cambria Math" panose="02040503050406030204" pitchFamily="18" charset="0"/>
                  </a:rPr>
                  <a:t>$x$</a:t>
                </a:r>
                <a:r>
                  <a:rPr sz="2400" b="0">
                    <a:solidFill>
                      <a:srgbClr val="111827"/>
                    </a:solidFill>
                    <a:latin typeface="Arial"/>
                  </a:rPr>
                  <a:t>-coordinate </a:t>
                </a:r>
                <a:r>
                  <a:rPr lang="en-IN" sz="2400">
                    <a:solidFill>
                      <a:srgbClr val="111827"/>
                    </a:solidFill>
                    <a:latin typeface="Cambria Math" panose="02040503050406030204" pitchFamily="18" charset="0"/>
                  </a:rPr>
                  <a:t>$1$</a:t>
                </a:r>
                <a:r>
                  <a:rPr sz="2400" b="0">
                    <a:solidFill>
                      <a:srgbClr val="111827"/>
                    </a:solidFill>
                    <a:latin typeface="Arial"/>
                  </a:rPr>
                  <a:t>: the base lies in the plane </a:t>
                </a:r>
                <a:r>
                  <a:rPr lang="en-IN" sz="2400">
                    <a:solidFill>
                      <a:srgbClr val="111827"/>
                    </a:solidFill>
                    <a:latin typeface="Cambria Math" panose="02040503050406030204" pitchFamily="18" charset="0"/>
                  </a:rPr>
                  <a:t>$x=1$</a:t>
                </a:r>
                <a:r>
                  <a:rPr sz="2400" b="0">
                    <a:solidFill>
                      <a:srgbClr val="111827"/>
                    </a:solidFill>
                    <a:latin typeface="Arial"/>
                  </a:rPr>
                  <a:t> and </a:t>
                </a:r>
                <a:r>
                  <a:rPr lang="en-IN" sz="2400">
                    <a:solidFill>
                      <a:srgbClr val="111827"/>
                    </a:solidFill>
                    <a:latin typeface="Cambria Math" panose="02040503050406030204" pitchFamily="18" charset="0"/>
                  </a:rPr>
                  <a:t>$P=(4,2,2\sqrt3)$</a:t>
                </a:r>
                <a:r>
                  <a:rPr sz="2400" b="0">
                    <a:solidFill>
                      <a:srgbClr val="111827"/>
                    </a:solidFill>
                    <a:latin typeface="Arial"/>
                  </a:rPr>
                  <a:t> is at distance </a:t>
                </a:r>
                <a:r>
                  <a:rPr lang="en-IN" sz="2400">
                    <a:solidFill>
                      <a:srgbClr val="111827"/>
                    </a:solidFill>
                    <a:latin typeface="Cambria Math" panose="02040503050406030204" pitchFamily="18" charset="0"/>
                  </a:rPr>
                  <a:t>$3$</a:t>
                </a:r>
                <a:r>
                  <a:rPr sz="2400" b="0">
                    <a:solidFill>
                      <a:srgbClr val="111827"/>
                    </a:solidFill>
                    <a:latin typeface="Arial"/>
                  </a:rPr>
                  <a:t> from it, which agrees with </a:t>
                </a:r>
                <a:r>
                  <a:rPr lang="en-IN" sz="2400">
                    <a:solidFill>
                      <a:srgbClr val="111827"/>
                    </a:solidFill>
                    <a:latin typeface="Cambria Math" panose="02040503050406030204" pitchFamily="18" charset="0"/>
                  </a:rPr>
                  <a:t>$h=3$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foot of the perpendicular from </a:t>
                </a:r>
                <a:r>
                  <a:rPr lang="en-IN" sz="2400">
                    <a:solidFill>
                      <a:srgbClr val="111827"/>
                    </a:solidFill>
                    <a:latin typeface="Cambria Math" panose="02040503050406030204" pitchFamily="18" charset="0"/>
                  </a:rPr>
                  <a:t>$P$</a:t>
                </a:r>
                <a:r>
                  <a:rPr sz="2400" b="0">
                    <a:solidFill>
                      <a:srgbClr val="111827"/>
                    </a:solidFill>
                    <a:latin typeface="Arial"/>
                  </a:rPr>
                  <a:t> to </a:t>
                </a:r>
                <a:r>
                  <a:rPr lang="en-IN" sz="2400">
                    <a:solidFill>
                      <a:srgbClr val="111827"/>
                    </a:solidFill>
                    <a:latin typeface="Cambria Math" panose="02040503050406030204" pitchFamily="18" charset="0"/>
                  </a:rPr>
                  <a:t>$x=1$</a:t>
                </a:r>
                <a:r>
                  <a:rPr sz="2400" b="0">
                    <a:solidFill>
                      <a:srgbClr val="111827"/>
                    </a:solidFill>
                    <a:latin typeface="Arial"/>
                  </a:rPr>
                  <a:t> is </a:t>
                </a:r>
                <a:r>
                  <a:rPr lang="en-IN" sz="2400">
                    <a:solidFill>
                      <a:srgbClr val="111827"/>
                    </a:solidFill>
                    <a:latin typeface="Cambria Math" panose="02040503050406030204" pitchFamily="18" charset="0"/>
                  </a:rPr>
                  <a:t>$G=(1,2,2\sqrt3)$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that </a:t>
                </a:r>
                <a:r>
                  <a:rPr lang="en-IN" sz="2400">
                    <a:solidFill>
                      <a:srgbClr val="111827"/>
                    </a:solidFill>
                    <a:latin typeface="Cambria Math" panose="02040503050406030204" pitchFamily="18" charset="0"/>
                  </a:rPr>
                  <a:t>$G$</a:t>
                </a:r>
                <a:r>
                  <a:rPr sz="2400" b="0">
                    <a:solidFill>
                      <a:srgbClr val="111827"/>
                    </a:solidFill>
                    <a:latin typeface="Arial"/>
                  </a:rPr>
                  <a:t> is on </a:t>
                </a:r>
                <a:r>
                  <a:rPr lang="en-IN" sz="2400">
                    <a:solidFill>
                      <a:srgbClr val="111827"/>
                    </a:solidFill>
                    <a:latin typeface="Cambria Math" panose="02040503050406030204" pitchFamily="18" charset="0"/>
                  </a:rPr>
                  <a:t>$AD$</a:t>
                </a:r>
                <a:r>
                  <a:rPr sz="2400" b="0">
                    <a:solidFill>
                      <a:srgbClr val="111827"/>
                    </a:solidFill>
                    <a:latin typeface="Arial"/>
                  </a:rPr>
                  <a:t>: </a:t>
                </a:r>
                <a:r>
                  <a:rPr lang="en-IN" sz="2400">
                    <a:solidFill>
                      <a:srgbClr val="111827"/>
                    </a:solidFill>
                    <a:latin typeface="Cambria Math" panose="02040503050406030204" pitchFamily="18" charset="0"/>
                  </a:rPr>
                  <a:t>$D=2O-A=(1,2,2\sqrt3)$</a:t>
                </a:r>
                <a:r>
                  <a:rPr sz="2400" b="0">
                    <a:solidFill>
                      <a:srgbClr val="111827"/>
                    </a:solidFill>
                    <a:latin typeface="Arial"/>
                  </a:rPr>
                  <a:t>, so </a:t>
                </a:r>
                <a:r>
                  <a:rPr lang="en-IN" sz="2400">
                    <a:solidFill>
                      <a:srgbClr val="111827"/>
                    </a:solidFill>
                    <a:latin typeface="Cambria Math" panose="02040503050406030204" pitchFamily="18" charset="0"/>
                  </a:rPr>
                  <a:t>$G=D$</a:t>
                </a:r>
                <a:r>
                  <a:rPr sz="2400" b="0">
                    <a:solidFill>
                      <a:srgbClr val="111827"/>
                    </a:solidFill>
                    <a:latin typeface="Arial"/>
                  </a:rPr>
                  <a:t> and </a:t>
                </a:r>
                <a:r>
                  <a:rPr lang="en-IN" sz="2400">
                    <a:solidFill>
                      <a:srgbClr val="111827"/>
                    </a:solidFill>
                    <a:latin typeface="Cambria Math" panose="02040503050406030204" pitchFamily="18" charset="0"/>
                  </a:rPr>
                  <a:t>$AG=AD=4$</a:t>
                </a:r>
                <a:r>
                  <a:rPr sz="2400" b="0">
                    <a:solidFill>
                      <a:srgbClr val="111827"/>
                    </a:solidFill>
                    <a:latin typeface="Arial"/>
                  </a:rPr>
                  <a:t> (also </a:t>
                </a:r>
                <a:r>
                  <a:rPr lang="en-IN" sz="2400">
                    <a:solidFill>
                      <a:srgbClr val="111827"/>
                    </a:solidFill>
                    <a:latin typeface="Cambria Math" panose="02040503050406030204" pitchFamily="18" charset="0"/>
                  </a:rPr>
                  <a:t>$AP=5$</a:t>
                </a:r>
                <a:r>
                  <a:rPr sz="2400" b="0">
                    <a:solidFill>
                      <a:srgbClr val="111827"/>
                    </a:solidFill>
                    <a:latin typeface="Arial"/>
                  </a:rPr>
                  <a:t>, </a:t>
                </a:r>
                <a:r>
                  <a:rPr lang="en-IN" sz="2400">
                    <a:solidFill>
                      <a:srgbClr val="111827"/>
                    </a:solidFill>
                    <a:latin typeface="Cambria Math" panose="02040503050406030204" pitchFamily="18" charset="0"/>
                  </a:rPr>
                  <a:t>$AG=\sqrt{25-9}=4$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there is only one position vector of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option (A). The PDF used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𝑂</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(the position vector of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instead of </a:t>
                </a:r>
                <a14:m>
                  <m:oMath xmlns:m="http://schemas.openxmlformats.org/officeDocument/2006/math">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which produced the incorrect set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key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there is only one position vector of </a:t>
                </a:r>
                <a:r>
                  <a:rPr lang="en-IN" sz="2400">
                    <a:solidFill>
                      <a:srgbClr val="111827"/>
                    </a:solidFill>
                    <a:latin typeface="Cambria Math" panose="02040503050406030204" pitchFamily="18" charset="0"/>
                  </a:rPr>
                  <a:t>$G$</a:t>
                </a:r>
                <a:r>
                  <a:rPr sz="2400" b="0">
                    <a:solidFill>
                      <a:srgbClr val="111827"/>
                    </a:solidFill>
                    <a:latin typeface="Arial"/>
                  </a:rPr>
                  <a:t>: </a:t>
                </a:r>
                <a:r>
                  <a:rPr lang="en-IN" sz="2400">
                    <a:solidFill>
                      <a:srgbClr val="111827"/>
                    </a:solidFill>
                    <a:latin typeface="Cambria Math" panose="02040503050406030204" pitchFamily="18" charset="0"/>
                  </a:rPr>
                  <a:t>$\hat i+2\hat j+2\sqrt3\hat k$</a:t>
                </a:r>
                <a:r>
                  <a:rPr sz="2400" b="0">
                    <a:solidFill>
                      <a:srgbClr val="111827"/>
                    </a:solidFill>
                    <a:latin typeface="Arial"/>
                  </a:rPr>
                  <a:t>, option (A). The PDF used </a:t>
                </a:r>
                <a:r>
                  <a:rPr lang="en-IN" sz="2400">
                    <a:solidFill>
                      <a:srgbClr val="111827"/>
                    </a:solidFill>
                    <a:latin typeface="Cambria Math" panose="02040503050406030204" pitchFamily="18" charset="0"/>
                  </a:rPr>
                  <a:t>$\overrightarrow{AO}=\hat i+\hat j+\sqrt3\hat k$</a:t>
                </a:r>
                <a:r>
                  <a:rPr sz="2400" b="0">
                    <a:solidFill>
                      <a:srgbClr val="111827"/>
                    </a:solidFill>
                    <a:latin typeface="Arial"/>
                  </a:rPr>
                  <a:t> (the position vector of </a:t>
                </a:r>
                <a:r>
                  <a:rPr lang="en-IN" sz="2400">
                    <a:solidFill>
                      <a:srgbClr val="111827"/>
                    </a:solidFill>
                    <a:latin typeface="Cambria Math" panose="02040503050406030204" pitchFamily="18" charset="0"/>
                  </a:rPr>
                  <a:t>$O$</a:t>
                </a:r>
                <a:r>
                  <a:rPr sz="2400" b="0">
                    <a:solidFill>
                      <a:srgbClr val="111827"/>
                    </a:solidFill>
                    <a:latin typeface="Arial"/>
                  </a:rPr>
                  <a:t>) instead of </a:t>
                </a:r>
                <a:r>
                  <a:rPr lang="en-IN" sz="2400">
                    <a:solidFill>
                      <a:srgbClr val="111827"/>
                    </a:solidFill>
                    <a:latin typeface="Cambria Math" panose="02040503050406030204" pitchFamily="18" charset="0"/>
                  </a:rPr>
                  <a:t>$O-A=\hat j+\sqrt3\hat k$</a:t>
                </a:r>
                <a:r>
                  <a:rPr sz="2400" b="0">
                    <a:solidFill>
                      <a:srgbClr val="111827"/>
                    </a:solidFill>
                    <a:latin typeface="Arial"/>
                  </a:rPr>
                  <a:t>, which produced the incorrect set </a:t>
                </a:r>
                <a:r>
                  <a:rPr lang="en-IN" sz="2400">
                    <a:solidFill>
                      <a:srgbClr val="111827"/>
                    </a:solidFill>
                    <a:latin typeface="Cambria Math" panose="02040503050406030204" pitchFamily="18" charset="0"/>
                  </a:rPr>
                  <a:t>$\{3\hat i+2\hat j+2\sqrt3\hat k,\ -\hat i-2\hat j-2\sqrt3\hat k\}$</a:t>
                </a:r>
                <a:r>
                  <a:rPr sz="2400" b="0">
                    <a:solidFill>
                      <a:srgbClr val="111827"/>
                    </a:solidFill>
                    <a:latin typeface="Arial"/>
                  </a:rPr>
                  <a:t> and the key (B, C).</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𝑖</m:t>
                        </m:r>
                      </m:e>
                    </m:acc>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𝑗</m:t>
                        </m:r>
                      </m:e>
                    </m:acc>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𝑘</m:t>
                        </m:r>
                      </m:e>
                    </m:acc>
                  </m:oMath>
                </a14:m>
                <a:r>
                  <a:rPr sz="2800" b="1">
                    <a:solidFill>
                      <a:srgbClr val="15803D"/>
                    </a:solidFill>
                    <a:latin typeface="Arial"/>
                  </a:rPr>
                  <a:t> only. (The paper's key (B, C) is wrong.)</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$\hat i+2\hat j+2\sqrt3\hat k$</a:t>
                </a:r>
                <a:r>
                  <a:rPr sz="2800" b="1">
                    <a:solidFill>
                      <a:srgbClr val="15803D"/>
                    </a:solidFill>
                    <a:latin typeface="Arial"/>
                  </a:rPr>
                  <a:t> only. (The paper's key (B, C) is wrong.)</a:t>
                </a:r>
                <a:endParaRPr sz="2800">
                  <a:solidFill>
                    <a:srgbClr val="15803D"/>
                  </a:solidFill>
                </a:endParaRPr>
              </a:p>
            </p:txBody>
          </p:sp>
        </mc:Fallback>
      </mc:AlternateContent>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base lies in the plane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so the altitude from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is parallel to the </a:t>
                </a:r>
                <a14:m>
                  <m:oMath xmlns:m="http://schemas.openxmlformats.org/officeDocument/2006/math">
                    <m:r>
                      <a:rPr lang="en-IN" sz="2400" i="1">
                        <a:solidFill>
                          <a:srgbClr val="78350F"/>
                        </a:solidFill>
                        <a:latin typeface="Cambria Math" panose="02040503050406030204" pitchFamily="18" charset="0"/>
                      </a:rPr>
                      <m:t>𝑥</m:t>
                    </m:r>
                  </m:oMath>
                </a14:m>
                <a:r>
                  <a:rPr sz="2400" b="0">
                    <a:solidFill>
                      <a:srgbClr val="78350F"/>
                    </a:solidFill>
                    <a:latin typeface="Arial"/>
                  </a:rPr>
                  <a:t>-axis: just drop the </a:t>
                </a:r>
                <a14:m>
                  <m:oMath xmlns:m="http://schemas.openxmlformats.org/officeDocument/2006/math">
                    <m:r>
                      <a:rPr lang="en-IN" sz="2400" i="1">
                        <a:solidFill>
                          <a:srgbClr val="78350F"/>
                        </a:solidFill>
                        <a:latin typeface="Cambria Math" panose="02040503050406030204" pitchFamily="18" charset="0"/>
                      </a:rPr>
                      <m:t>𝑥</m:t>
                    </m:r>
                  </m:oMath>
                </a14:m>
                <a:r>
                  <a:rPr sz="2400" b="0">
                    <a:solidFill>
                      <a:srgbClr val="78350F"/>
                    </a:solidFill>
                    <a:latin typeface="Arial"/>
                  </a:rPr>
                  <a:t>-coordinate of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to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base lies in the plane </a:t>
                </a:r>
                <a:r>
                  <a:rPr lang="en-IN" sz="2400">
                    <a:solidFill>
                      <a:srgbClr val="78350F"/>
                    </a:solidFill>
                    <a:latin typeface="Cambria Math" panose="02040503050406030204" pitchFamily="18" charset="0"/>
                  </a:rPr>
                  <a:t>$x=1$</a:t>
                </a:r>
                <a:r>
                  <a:rPr sz="2400" b="0">
                    <a:solidFill>
                      <a:srgbClr val="78350F"/>
                    </a:solidFill>
                    <a:latin typeface="Arial"/>
                  </a:rPr>
                  <a:t>, so the altitude from </a:t>
                </a:r>
                <a:r>
                  <a:rPr lang="en-IN" sz="2400">
                    <a:solidFill>
                      <a:srgbClr val="78350F"/>
                    </a:solidFill>
                    <a:latin typeface="Cambria Math" panose="02040503050406030204" pitchFamily="18" charset="0"/>
                  </a:rPr>
                  <a:t>$P$</a:t>
                </a:r>
                <a:r>
                  <a:rPr sz="2400" b="0">
                    <a:solidFill>
                      <a:srgbClr val="78350F"/>
                    </a:solidFill>
                    <a:latin typeface="Arial"/>
                  </a:rPr>
                  <a:t> is parallel to the </a:t>
                </a:r>
                <a:r>
                  <a:rPr lang="en-IN" sz="2400">
                    <a:solidFill>
                      <a:srgbClr val="78350F"/>
                    </a:solidFill>
                    <a:latin typeface="Cambria Math" panose="02040503050406030204" pitchFamily="18" charset="0"/>
                  </a:rPr>
                  <a:t>$x$</a:t>
                </a:r>
                <a:r>
                  <a:rPr sz="2400" b="0">
                    <a:solidFill>
                      <a:srgbClr val="78350F"/>
                    </a:solidFill>
                    <a:latin typeface="Arial"/>
                  </a:rPr>
                  <a:t>-axis: just drop the </a:t>
                </a:r>
                <a:r>
                  <a:rPr lang="en-IN" sz="2400">
                    <a:solidFill>
                      <a:srgbClr val="78350F"/>
                    </a:solidFill>
                    <a:latin typeface="Cambria Math" panose="02040503050406030204" pitchFamily="18" charset="0"/>
                  </a:rPr>
                  <a:t>$x$</a:t>
                </a:r>
                <a:r>
                  <a:rPr sz="2400" b="0">
                    <a:solidFill>
                      <a:srgbClr val="78350F"/>
                    </a:solidFill>
                    <a:latin typeface="Arial"/>
                  </a:rPr>
                  <a:t>-coordinate of </a:t>
                </a:r>
                <a:r>
                  <a:rPr lang="en-IN" sz="2400">
                    <a:solidFill>
                      <a:srgbClr val="78350F"/>
                    </a:solidFill>
                    <a:latin typeface="Cambria Math" panose="02040503050406030204" pitchFamily="18" charset="0"/>
                  </a:rPr>
                  <a:t>$P$</a:t>
                </a:r>
                <a:r>
                  <a:rPr sz="2400" b="0">
                    <a:solidFill>
                      <a:srgbClr val="78350F"/>
                    </a:solidFill>
                    <a:latin typeface="Arial"/>
                  </a:rPr>
                  <a:t> to </a:t>
                </a:r>
                <a:r>
                  <a:rPr lang="en-IN" sz="2400">
                    <a:solidFill>
                      <a:srgbClr val="78350F"/>
                    </a:solidFill>
                    <a:latin typeface="Cambria Math" panose="02040503050406030204" pitchFamily="18" charset="0"/>
                  </a:rPr>
                  <a:t>$1$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all satisfy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the base plane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altitude from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parallel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so it meets the plane at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$A=(1,0,0)$</a:t>
                </a:r>
                <a:r>
                  <a:rPr sz="2400" b="0">
                    <a:solidFill>
                      <a:srgbClr val="111827"/>
                    </a:solidFill>
                    <a:latin typeface="Arial"/>
                  </a:rPr>
                  <a:t>, </a:t>
                </a:r>
                <a:r>
                  <a:rPr lang="en-IN" sz="2400">
                    <a:solidFill>
                      <a:srgbClr val="111827"/>
                    </a:solidFill>
                    <a:latin typeface="Cambria Math" panose="02040503050406030204" pitchFamily="18" charset="0"/>
                  </a:rPr>
                  <a:t>$B=(1,2,0)$</a:t>
                </a:r>
                <a:r>
                  <a:rPr sz="2400" b="0">
                    <a:solidFill>
                      <a:srgbClr val="111827"/>
                    </a:solidFill>
                    <a:latin typeface="Arial"/>
                  </a:rPr>
                  <a:t> and the centre </a:t>
                </a:r>
                <a:r>
                  <a:rPr lang="en-IN" sz="2400">
                    <a:solidFill>
                      <a:srgbClr val="111827"/>
                    </a:solidFill>
                    <a:latin typeface="Cambria Math" panose="02040503050406030204" pitchFamily="18" charset="0"/>
                  </a:rPr>
                  <a:t>$(1,1,\sqrt3)$</a:t>
                </a:r>
                <a:r>
                  <a:rPr sz="2400" b="0">
                    <a:solidFill>
                      <a:srgbClr val="111827"/>
                    </a:solidFill>
                    <a:latin typeface="Arial"/>
                  </a:rPr>
                  <a:t> all satisfy </a:t>
                </a:r>
                <a:r>
                  <a:rPr lang="en-IN" sz="2400">
                    <a:solidFill>
                      <a:srgbClr val="111827"/>
                    </a:solidFill>
                    <a:latin typeface="Cambria Math" panose="02040503050406030204" pitchFamily="18" charset="0"/>
                  </a:rPr>
                  <a:t>$x=1$</a:t>
                </a:r>
                <a:r>
                  <a:rPr sz="2400" b="0">
                    <a:solidFill>
                      <a:srgbClr val="111827"/>
                    </a:solidFill>
                    <a:latin typeface="Arial"/>
                  </a:rPr>
                  <a:t>, so the base plane is </a:t>
                </a:r>
                <a:r>
                  <a:rPr lang="en-IN" sz="2400">
                    <a:solidFill>
                      <a:srgbClr val="111827"/>
                    </a:solidFill>
                    <a:latin typeface="Cambria Math" panose="02040503050406030204" pitchFamily="18" charset="0"/>
                  </a:rPr>
                  <a:t>$x=1$</a:t>
                </a:r>
                <a:r>
                  <a:rPr sz="2400" b="0">
                    <a:solidFill>
                      <a:srgbClr val="111827"/>
                    </a:solidFill>
                    <a:latin typeface="Arial"/>
                  </a:rPr>
                  <a:t> with normal </a:t>
                </a:r>
                <a:r>
                  <a:rPr lang="en-IN" sz="2400">
                    <a:solidFill>
                      <a:srgbClr val="111827"/>
                    </a:solidFill>
                    <a:latin typeface="Cambria Math" panose="02040503050406030204" pitchFamily="18" charset="0"/>
                  </a:rPr>
                  <a:t>$\hat 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altitude from </a:t>
                </a:r>
                <a:r>
                  <a:rPr lang="en-IN" sz="2400">
                    <a:solidFill>
                      <a:srgbClr val="111827"/>
                    </a:solidFill>
                    <a:latin typeface="Cambria Math" panose="02040503050406030204" pitchFamily="18" charset="0"/>
                  </a:rPr>
                  <a:t>$P=(4,2,2\sqrt3)$</a:t>
                </a:r>
                <a:r>
                  <a:rPr sz="2400" b="0">
                    <a:solidFill>
                      <a:srgbClr val="111827"/>
                    </a:solidFill>
                    <a:latin typeface="Arial"/>
                  </a:rPr>
                  <a:t> is parallel to </a:t>
                </a:r>
                <a:r>
                  <a:rPr lang="en-IN" sz="2400">
                    <a:solidFill>
                      <a:srgbClr val="111827"/>
                    </a:solidFill>
                    <a:latin typeface="Cambria Math" panose="02040503050406030204" pitchFamily="18" charset="0"/>
                  </a:rPr>
                  <a:t>$\hat i$</a:t>
                </a:r>
                <a:r>
                  <a:rPr sz="2400" b="0">
                    <a:solidFill>
                      <a:srgbClr val="111827"/>
                    </a:solidFill>
                    <a:latin typeface="Arial"/>
                  </a:rPr>
                  <a:t>, so it meets the plane at </a:t>
                </a:r>
                <a:r>
                  <a:rPr lang="en-IN" sz="2400">
                    <a:solidFill>
                      <a:srgbClr val="111827"/>
                    </a:solidFill>
                    <a:latin typeface="Cambria Math" panose="02040503050406030204" pitchFamily="18" charset="0"/>
                  </a:rPr>
                  <a:t>$G=(1,2,2\sqrt3)$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distance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matches the height from the volume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only option (A).</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distance </a:t>
                </a:r>
                <a:r>
                  <a:rPr lang="en-IN" sz="2400">
                    <a:solidFill>
                      <a:srgbClr val="111827"/>
                    </a:solidFill>
                    <a:latin typeface="Cambria Math" panose="02040503050406030204" pitchFamily="18" charset="0"/>
                  </a:rPr>
                  <a:t>$PG=3$</a:t>
                </a:r>
                <a:r>
                  <a:rPr sz="2400" b="0">
                    <a:solidFill>
                      <a:srgbClr val="111827"/>
                    </a:solidFill>
                    <a:latin typeface="Arial"/>
                  </a:rPr>
                  <a:t> matches the height from the volume (</a:t>
                </a:r>
                <a:r>
                  <a:rPr lang="en-IN" sz="2400">
                    <a:solidFill>
                      <a:srgbClr val="111827"/>
                    </a:solidFill>
                    <a:latin typeface="Cambria Math" panose="02040503050406030204" pitchFamily="18" charset="0"/>
                  </a:rPr>
                  <a:t>$\frac13\cdot6\sqrt3\cdot h=6\sqrt3$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$G=\hat i+2\hat j+2\sqrt3\hat k$</a:t>
                </a:r>
                <a:r>
                  <a:rPr sz="2400" b="0">
                    <a:solidFill>
                      <a:srgbClr val="111827"/>
                    </a:solidFill>
                    <a:latin typeface="Arial"/>
                  </a:rPr>
                  <a:t>: only option (A).</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𝑖</m:t>
                        </m:r>
                      </m:e>
                    </m:acc>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𝑗</m:t>
                        </m:r>
                      </m:e>
                    </m:acc>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𝑘</m:t>
                        </m:r>
                      </m:e>
                    </m:acc>
                  </m:oMath>
                </a14:m>
                <a:r>
                  <a:rPr sz="2800" b="1">
                    <a:solidFill>
                      <a:srgbClr val="15803D"/>
                    </a:solidFill>
                    <a:latin typeface="Arial"/>
                  </a:rPr>
                  <a:t> only. (The paper's key (B, C) is wrong.)</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$\hat i+2\hat j+2\sqrt3\hat k$</a:t>
                </a:r>
                <a:r>
                  <a:rPr sz="2800" b="1">
                    <a:solidFill>
                      <a:srgbClr val="15803D"/>
                    </a:solidFill>
                    <a:latin typeface="Arial"/>
                  </a:rPr>
                  <a:t> only. (The paper's key (B, C) is wrong.)</a:t>
                </a:r>
                <a:endParaRPr sz="2800">
                  <a:solidFill>
                    <a:srgbClr val="15803D"/>
                  </a:solidFill>
                </a:endParaRPr>
              </a:p>
            </p:txBody>
          </p:sp>
        </mc:Fallback>
      </mc:AlternateContent>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all share one coordinate (here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base plane is that coordinate plane and the foot of an altitude is obtained by replacing that coordinate in the apex.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Regular hexagon of side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𝑠</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long diagonal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oMath>
                </a14:m>
                <a:r>
                  <a:rPr sz="2400" b="0">
                    <a:solidFill>
                      <a:srgbClr val="111827"/>
                    </a:solidFill>
                    <a:latin typeface="Arial"/>
                  </a:rPr>
                  <a:t> passes through the centre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of a pyramid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𝑏𝑎𝑠𝑒 𝑎𝑟𝑒𝑎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ℎ𝑒𝑖𝑔ℎ𝑡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check the data by recomputing the distance from the apex to the base plane.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$A,B,\ldots$</a:t>
                </a:r>
                <a:r>
                  <a:rPr sz="2400" b="0">
                    <a:solidFill>
                      <a:srgbClr val="111827"/>
                    </a:solidFill>
                    <a:latin typeface="Arial"/>
                  </a:rPr>
                  <a:t> all share one coordinate (here </a:t>
                </a:r>
                <a:r>
                  <a:rPr lang="en-IN" sz="2400">
                    <a:solidFill>
                      <a:srgbClr val="111827"/>
                    </a:solidFill>
                    <a:latin typeface="Cambria Math" panose="02040503050406030204" pitchFamily="18" charset="0"/>
                  </a:rPr>
                  <a:t>$x=1$</a:t>
                </a:r>
                <a:r>
                  <a:rPr sz="2400" b="0">
                    <a:solidFill>
                      <a:srgbClr val="111827"/>
                    </a:solidFill>
                    <a:latin typeface="Arial"/>
                  </a:rPr>
                  <a:t>), the base plane is that coordinate plane and the foot of an altitude is obtained by replacing that coordinate in the apex.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Regular hexagon of side </a:t>
                </a:r>
                <a:r>
                  <a:rPr lang="en-IN" sz="2400">
                    <a:solidFill>
                      <a:srgbClr val="111827"/>
                    </a:solidFill>
                    <a:latin typeface="Cambria Math" panose="02040503050406030204" pitchFamily="18" charset="0"/>
                  </a:rPr>
                  <a:t>$s$</a:t>
                </a:r>
                <a:r>
                  <a:rPr sz="2400" b="0">
                    <a:solidFill>
                      <a:srgbClr val="111827"/>
                    </a:solidFill>
                    <a:latin typeface="Arial"/>
                  </a:rPr>
                  <a:t>: area </a:t>
                </a:r>
                <a:r>
                  <a:rPr lang="en-IN" sz="2400">
                    <a:solidFill>
                      <a:srgbClr val="111827"/>
                    </a:solidFill>
                    <a:latin typeface="Cambria Math" panose="02040503050406030204" pitchFamily="18" charset="0"/>
                  </a:rPr>
                  <a:t>$=\frac{3\sqrt3}{2}s^2$</a:t>
                </a:r>
                <a:r>
                  <a:rPr sz="2400" b="0">
                    <a:solidFill>
                      <a:srgbClr val="111827"/>
                    </a:solidFill>
                    <a:latin typeface="Arial"/>
                  </a:rPr>
                  <a:t>; the long diagonal </a:t>
                </a:r>
                <a:r>
                  <a:rPr lang="en-IN" sz="2400">
                    <a:solidFill>
                      <a:srgbClr val="111827"/>
                    </a:solidFill>
                    <a:latin typeface="Cambria Math" panose="02040503050406030204" pitchFamily="18" charset="0"/>
                  </a:rPr>
                  <a:t>$AD$</a:t>
                </a:r>
                <a:r>
                  <a:rPr sz="2400" b="0">
                    <a:solidFill>
                      <a:srgbClr val="111827"/>
                    </a:solidFill>
                    <a:latin typeface="Arial"/>
                  </a:rPr>
                  <a:t> passes through the centre </a:t>
                </a:r>
                <a:r>
                  <a:rPr lang="en-IN" sz="2400">
                    <a:solidFill>
                      <a:srgbClr val="111827"/>
                    </a:solidFill>
                    <a:latin typeface="Cambria Math" panose="02040503050406030204" pitchFamily="18" charset="0"/>
                  </a:rPr>
                  <a:t>$O$</a:t>
                </a:r>
                <a:r>
                  <a:rPr sz="2400" b="0">
                    <a:solidFill>
                      <a:srgbClr val="111827"/>
                    </a:solidFill>
                    <a:latin typeface="Arial"/>
                  </a:rPr>
                  <a:t> with </a:t>
                </a:r>
                <a:r>
                  <a:rPr lang="en-IN" sz="2400">
                    <a:solidFill>
                      <a:srgbClr val="111827"/>
                    </a:solidFill>
                    <a:latin typeface="Cambria Math" panose="02040503050406030204" pitchFamily="18" charset="0"/>
                  </a:rPr>
                  <a:t>$D=2O-A$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of a pyramid </a:t>
                </a:r>
                <a:r>
                  <a:rPr lang="en-IN" sz="2400">
                    <a:solidFill>
                      <a:srgbClr val="111827"/>
                    </a:solidFill>
                    <a:latin typeface="Cambria Math" panose="02040503050406030204" pitchFamily="18" charset="0"/>
                  </a:rPr>
                  <a:t>$=\frac13(\text{base area})(\text{height})$</a:t>
                </a:r>
                <a:r>
                  <a:rPr sz="2400" b="0">
                    <a:solidFill>
                      <a:srgbClr val="111827"/>
                    </a:solidFill>
                    <a:latin typeface="Arial"/>
                  </a:rPr>
                  <a:t>; check the data by recomputing the distance from the apex to the base plane.</a:t>
                </a:r>
                <a:endParaRPr sz="2400">
                  <a:solidFill>
                    <a:srgbClr val="111827"/>
                  </a:solidFill>
                </a:endParaRPr>
              </a:p>
            </p:txBody>
          </p:sp>
        </mc:Fallback>
      </mc:AlternateContent>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then which of the following is/are correct: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endParaRPr sz="2400">
                  <a:solidFill>
                    <a:srgbClr val="111827"/>
                  </a:solidFill>
                </a:endParaRPr>
              </a:p>
            </p:txBody>
          </p:sp>
        </mc:Choice>
        <mc:Fallback>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a=\hat i+\hat j+\hat k$</a:t>
                </a:r>
                <a:r>
                  <a:rPr sz="2400" b="0">
                    <a:solidFill>
                      <a:srgbClr val="111827"/>
                    </a:solidFill>
                    <a:latin typeface="Arial"/>
                  </a:rPr>
                  <a:t>, </a:t>
                </a:r>
                <a:r>
                  <a:rPr lang="en-IN" sz="2400">
                    <a:solidFill>
                      <a:srgbClr val="111827"/>
                    </a:solidFill>
                    <a:latin typeface="Cambria Math" panose="02040503050406030204" pitchFamily="18" charset="0"/>
                  </a:rPr>
                  <a:t>$\vec b=\hat i-\hat j+\hat k$</a:t>
                </a:r>
                <a:r>
                  <a:rPr sz="2400" b="0">
                    <a:solidFill>
                      <a:srgbClr val="111827"/>
                    </a:solidFill>
                    <a:latin typeface="Arial"/>
                  </a:rPr>
                  <a:t>, </a:t>
                </a:r>
                <a:r>
                  <a:rPr lang="en-IN" sz="2400">
                    <a:solidFill>
                      <a:srgbClr val="111827"/>
                    </a:solidFill>
                    <a:latin typeface="Cambria Math" panose="02040503050406030204" pitchFamily="18" charset="0"/>
                  </a:rPr>
                  <a:t>$\vec c=2\hat i+3\hat j+\hat k$</a:t>
                </a:r>
                <a:r>
                  <a:rPr sz="2400" b="0">
                    <a:solidFill>
                      <a:srgbClr val="111827"/>
                    </a:solidFill>
                    <a:latin typeface="Arial"/>
                  </a:rPr>
                  <a:t>, </a:t>
                </a:r>
                <a:r>
                  <a:rPr lang="en-IN" sz="2400">
                    <a:solidFill>
                      <a:srgbClr val="111827"/>
                    </a:solidFill>
                    <a:latin typeface="Cambria Math" panose="02040503050406030204" pitchFamily="18" charset="0"/>
                  </a:rPr>
                  <a:t>$\vec c\times\vec b=\vec d\times\vec b$</a:t>
                </a:r>
                <a:r>
                  <a:rPr sz="2400" b="0">
                    <a:solidFill>
                      <a:srgbClr val="111827"/>
                    </a:solidFill>
                    <a:latin typeface="Arial"/>
                  </a:rPr>
                  <a:t> and </a:t>
                </a:r>
                <a:r>
                  <a:rPr lang="en-IN" sz="2400">
                    <a:solidFill>
                      <a:srgbClr val="111827"/>
                    </a:solidFill>
                    <a:latin typeface="Cambria Math" panose="02040503050406030204" pitchFamily="18" charset="0"/>
                  </a:rPr>
                  <a:t>$\vec d\cdot\vec a=8$</a:t>
                </a:r>
                <a:r>
                  <a:rPr sz="2400" b="0">
                    <a:solidFill>
                      <a:srgbClr val="111827"/>
                    </a:solidFill>
                    <a:latin typeface="Arial"/>
                  </a:rPr>
                  <a:t> then which of the following is/are correct: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$\vec d\cdot\vec b=4$</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$\vec d\cdot\vec c=14$</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$[\vec b\ \vec c\ \vec d]=0$</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$[\vec a\ \vec b\ \vec c]=2$</a:t>
                </a:r>
                <a:endParaRPr sz="2400">
                  <a:solidFill>
                    <a:srgbClr val="111827"/>
                  </a:solidFill>
                </a:endParaRPr>
              </a:p>
            </p:txBody>
          </p:sp>
        </mc:Fallback>
      </mc:AlternateContent>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Cross product equality and coplanarity, Scalar triple product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means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so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oMath>
                </a14:m>
                <a:r>
                  <a:rPr sz="2400" b="0">
                    <a:solidFill>
                      <a:srgbClr val="78350F"/>
                    </a:solidFill>
                    <a:latin typeface="Arial"/>
                  </a:rPr>
                  <a:t> are coplanar and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μ</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$\vec c\times\vec b=\vec d\times\vec b$</a:t>
                </a:r>
                <a:r>
                  <a:rPr sz="2400" b="0">
                    <a:solidFill>
                      <a:srgbClr val="78350F"/>
                    </a:solidFill>
                    <a:latin typeface="Arial"/>
                  </a:rPr>
                  <a:t> means </a:t>
                </a:r>
                <a:r>
                  <a:rPr lang="en-IN" sz="2400">
                    <a:solidFill>
                      <a:srgbClr val="78350F"/>
                    </a:solidFill>
                    <a:latin typeface="Cambria Math" panose="02040503050406030204" pitchFamily="18" charset="0"/>
                  </a:rPr>
                  <a:t>$\vec c-\vec d\parallel\vec b$</a:t>
                </a:r>
                <a:r>
                  <a:rPr sz="2400" b="0">
                    <a:solidFill>
                      <a:srgbClr val="78350F"/>
                    </a:solidFill>
                    <a:latin typeface="Arial"/>
                  </a:rPr>
                  <a:t>, so </a:t>
                </a:r>
                <a:r>
                  <a:rPr lang="en-IN" sz="2400">
                    <a:solidFill>
                      <a:srgbClr val="78350F"/>
                    </a:solidFill>
                    <a:latin typeface="Cambria Math" panose="02040503050406030204" pitchFamily="18" charset="0"/>
                  </a:rPr>
                  <a:t>$\vec b,\vec c,\vec d$</a:t>
                </a:r>
                <a:r>
                  <a:rPr sz="2400" b="0">
                    <a:solidFill>
                      <a:srgbClr val="78350F"/>
                    </a:solidFill>
                    <a:latin typeface="Arial"/>
                  </a:rPr>
                  <a:t> are coplanar and </a:t>
                </a:r>
                <a:r>
                  <a:rPr lang="en-IN" sz="2400">
                    <a:solidFill>
                      <a:srgbClr val="78350F"/>
                    </a:solidFill>
                    <a:latin typeface="Cambria Math" panose="02040503050406030204" pitchFamily="18" charset="0"/>
                  </a:rPr>
                  <a:t>$\vec d=\vec c+\mu\vec 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1</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3</m:t>
                              </m:r>
                            </m:e>
                            <m:e>
                              <m:r>
                                <a:rPr lang="en-IN" sz="2400" i="1">
                                  <a:solidFill>
                                    <a:srgbClr val="111827"/>
                                  </a:solidFill>
                                  <a:latin typeface="Cambria Math" panose="02040503050406030204" pitchFamily="18" charset="0"/>
                                </a:rPr>
                                <m:t>1</m:t>
                              </m:r>
                            </m:e>
                          </m:mr>
                        </m:m>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(D) is true.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 \vec b\ \vec c]=\left|\begin{matrix}1&amp;1&amp;1\\1&amp;-1&amp;1\\2&amp;3&amp;1\end{matrix}\right|=1(-1-3)-1(1-2)+1(3+2)=-4+1+5=2$</a:t>
                </a:r>
                <a:r>
                  <a:rPr sz="2400" b="0">
                    <a:solidFill>
                      <a:srgbClr val="111827"/>
                    </a:solidFill>
                    <a:latin typeface="Arial"/>
                  </a:rPr>
                  <a:t>: (D) is true.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c\times\vec b=\vec d\times\vec b\Rightarrow(\vec c-\vec d)\times\vec b=\vec 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are coplanar: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(C) is true; also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hence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 (B)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write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so (A) is false. Answer: B, C,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$\vec c-\vec d\parallel\vec b$</a:t>
                </a:r>
                <a:r>
                  <a:rPr sz="2400" b="0">
                    <a:solidFill>
                      <a:srgbClr val="111827"/>
                    </a:solidFill>
                    <a:latin typeface="Arial"/>
                  </a:rPr>
                  <a:t>, i.e. </a:t>
                </a:r>
                <a:r>
                  <a:rPr lang="en-IN" sz="2400">
                    <a:solidFill>
                      <a:srgbClr val="111827"/>
                    </a:solidFill>
                    <a:latin typeface="Cambria Math" panose="02040503050406030204" pitchFamily="18" charset="0"/>
                  </a:rPr>
                  <a:t>$\vec b,\vec c,\vec d$</a:t>
                </a:r>
                <a:r>
                  <a:rPr sz="2400" b="0">
                    <a:solidFill>
                      <a:srgbClr val="111827"/>
                    </a:solidFill>
                    <a:latin typeface="Arial"/>
                  </a:rPr>
                  <a:t> are coplanar: </a:t>
                </a:r>
                <a:r>
                  <a:rPr lang="en-IN" sz="2400">
                    <a:solidFill>
                      <a:srgbClr val="111827"/>
                    </a:solidFill>
                    <a:latin typeface="Cambria Math" panose="02040503050406030204" pitchFamily="18" charset="0"/>
                  </a:rPr>
                  <a:t>$[\vec b\ \vec c\ \vec d]=0$</a:t>
                </a:r>
                <a:r>
                  <a:rPr sz="2400" b="0">
                    <a:solidFill>
                      <a:srgbClr val="111827"/>
                    </a:solidFill>
                    <a:latin typeface="Arial"/>
                  </a:rPr>
                  <a:t> and (C) is true; also </a:t>
                </a:r>
                <a:r>
                  <a:rPr lang="en-IN" sz="2400">
                    <a:solidFill>
                      <a:srgbClr val="111827"/>
                    </a:solidFill>
                    <a:latin typeface="Cambria Math" panose="02040503050406030204" pitchFamily="18" charset="0"/>
                  </a:rPr>
                  <a:t>$\vec c=\vec d+\lambda\vec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b\cdot\vec c=2-3+1=0$</a:t>
                </a:r>
                <a:r>
                  <a:rPr sz="2400" b="0">
                    <a:solidFill>
                      <a:srgbClr val="111827"/>
                    </a:solidFill>
                    <a:latin typeface="Arial"/>
                  </a:rPr>
                  <a:t>, so </a:t>
                </a:r>
                <a:r>
                  <a:rPr lang="en-IN" sz="2400">
                    <a:solidFill>
                      <a:srgbClr val="111827"/>
                    </a:solidFill>
                    <a:latin typeface="Cambria Math" panose="02040503050406030204" pitchFamily="18" charset="0"/>
                  </a:rPr>
                  <a:t>$\vec c\cdot\vec c=\vec d\cdot\vec c+\lambda\,\vec b\cdot\vec c=\vec d\cdot\vec c$</a:t>
                </a:r>
                <a:r>
                  <a:rPr sz="2400" b="0">
                    <a:solidFill>
                      <a:srgbClr val="111827"/>
                    </a:solidFill>
                    <a:latin typeface="Arial"/>
                  </a:rPr>
                  <a:t>; hence </a:t>
                </a:r>
                <a:r>
                  <a:rPr lang="en-IN" sz="2400">
                    <a:solidFill>
                      <a:srgbClr val="111827"/>
                    </a:solidFill>
                    <a:latin typeface="Cambria Math" panose="02040503050406030204" pitchFamily="18" charset="0"/>
                  </a:rPr>
                  <a:t>$\vec d\cdot\vec c=|\vec c|^2=14$</a:t>
                </a:r>
                <a:r>
                  <a:rPr sz="2400" b="0">
                    <a:solidFill>
                      <a:srgbClr val="111827"/>
                    </a:solidFill>
                    <a:latin typeface="Arial"/>
                  </a:rPr>
                  <a:t>: (B)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write </a:t>
                </a:r>
                <a:r>
                  <a:rPr lang="en-IN" sz="2400">
                    <a:solidFill>
                      <a:srgbClr val="111827"/>
                    </a:solidFill>
                    <a:latin typeface="Cambria Math" panose="02040503050406030204" pitchFamily="18" charset="0"/>
                  </a:rPr>
                  <a:t>$\vec d=\vec c+\mu\vec b$</a:t>
                </a:r>
                <a:r>
                  <a:rPr sz="2400" b="0">
                    <a:solidFill>
                      <a:srgbClr val="111827"/>
                    </a:solidFill>
                    <a:latin typeface="Arial"/>
                  </a:rPr>
                  <a:t>; </a:t>
                </a:r>
                <a:r>
                  <a:rPr lang="en-IN" sz="2400">
                    <a:solidFill>
                      <a:srgbClr val="111827"/>
                    </a:solidFill>
                    <a:latin typeface="Cambria Math" panose="02040503050406030204" pitchFamily="18" charset="0"/>
                  </a:rPr>
                  <a:t>$\vec d\cdot\vec a=\vec c\cdot\vec a+\mu\,\vec b\cdot\vec a=6+\mu=8\Rightarrow\mu=2$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$\vec d\cdot\vec b=\vec c\cdot\vec b+2|\vec b|^2=0+6=6\neq4$</a:t>
                </a:r>
                <a:r>
                  <a:rPr sz="2400" b="0">
                    <a:solidFill>
                      <a:srgbClr val="111827"/>
                    </a:solidFill>
                    <a:latin typeface="Arial"/>
                  </a:rPr>
                  <a:t>, so (A) is false. Answer: B, C,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 D)</a:t>
            </a:r>
            <a:endParaRPr sz="2800">
              <a:solidFill>
                <a:srgbClr val="15803D"/>
              </a:solidFill>
            </a:endParaRP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Solve for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oMath>
                </a14:m>
                <a:r>
                  <a:rPr sz="2400" b="0">
                    <a:solidFill>
                      <a:srgbClr val="78350F"/>
                    </a:solidFill>
                    <a:latin typeface="Arial"/>
                  </a:rPr>
                  <a:t> explicitly, then test each option numerically.</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Solve for </a:t>
                </a:r>
                <a:r>
                  <a:rPr lang="en-IN" sz="2400">
                    <a:solidFill>
                      <a:srgbClr val="78350F"/>
                    </a:solidFill>
                    <a:latin typeface="Cambria Math" panose="02040503050406030204" pitchFamily="18" charset="0"/>
                  </a:rPr>
                  <a:t>$\vec d$</a:t>
                </a:r>
                <a:r>
                  <a:rPr sz="2400" b="0">
                    <a:solidFill>
                      <a:srgbClr val="78350F"/>
                    </a:solidFill>
                    <a:latin typeface="Arial"/>
                  </a:rPr>
                  <a:t> explicitly, then test each option numerically.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 false);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 (B true).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since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(C true);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(D true).</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c-\vec d)\parallel\vec b$</a:t>
                </a:r>
                <a:r>
                  <a:rPr sz="2400" b="0">
                    <a:solidFill>
                      <a:srgbClr val="111827"/>
                    </a:solidFill>
                    <a:latin typeface="Arial"/>
                  </a:rPr>
                  <a:t> gives </a:t>
                </a:r>
                <a:r>
                  <a:rPr lang="en-IN" sz="2400">
                    <a:solidFill>
                      <a:srgbClr val="111827"/>
                    </a:solidFill>
                    <a:latin typeface="Cambria Math" panose="02040503050406030204" pitchFamily="18" charset="0"/>
                  </a:rPr>
                  <a:t>$\vec d=\vec c+\mu\vec b=(2+\mu,\ 3-\mu,\ 1+\mu)$</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d\cdot\vec a=(2+\mu)+(3-\mu)+(1+\mu)=6+\mu=8\Rightarrow\mu=2$</a:t>
                </a:r>
                <a:r>
                  <a:rPr sz="2400" b="0">
                    <a:solidFill>
                      <a:srgbClr val="111827"/>
                    </a:solidFill>
                    <a:latin typeface="Arial"/>
                  </a:rPr>
                  <a:t>, so </a:t>
                </a:r>
                <a:r>
                  <a:rPr lang="en-IN" sz="2400">
                    <a:solidFill>
                      <a:srgbClr val="111827"/>
                    </a:solidFill>
                    <a:latin typeface="Cambria Math" panose="02040503050406030204" pitchFamily="18" charset="0"/>
                  </a:rPr>
                  <a:t>$\vec d=(4,1,3)$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d\cdot\vec b=4-1+3=6$</a:t>
                </a:r>
                <a:r>
                  <a:rPr sz="2400" b="0">
                    <a:solidFill>
                      <a:srgbClr val="111827"/>
                    </a:solidFill>
                    <a:latin typeface="Arial"/>
                  </a:rPr>
                  <a:t> (A false); </a:t>
                </a:r>
                <a:r>
                  <a:rPr lang="en-IN" sz="2400">
                    <a:solidFill>
                      <a:srgbClr val="111827"/>
                    </a:solidFill>
                    <a:latin typeface="Cambria Math" panose="02040503050406030204" pitchFamily="18" charset="0"/>
                  </a:rPr>
                  <a:t>$\vec d\cdot\vec c=8+3+3=14$</a:t>
                </a:r>
                <a:r>
                  <a:rPr sz="2400" b="0">
                    <a:solidFill>
                      <a:srgbClr val="111827"/>
                    </a:solidFill>
                    <a:latin typeface="Arial"/>
                  </a:rPr>
                  <a:t> (B true).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 \vec c\ \vec d]=0$</a:t>
                </a:r>
                <a:r>
                  <a:rPr sz="2400" b="0">
                    <a:solidFill>
                      <a:srgbClr val="111827"/>
                    </a:solidFill>
                    <a:latin typeface="Arial"/>
                  </a:rPr>
                  <a:t> since </a:t>
                </a:r>
                <a:r>
                  <a:rPr lang="en-IN" sz="2400">
                    <a:solidFill>
                      <a:srgbClr val="111827"/>
                    </a:solidFill>
                    <a:latin typeface="Cambria Math" panose="02040503050406030204" pitchFamily="18" charset="0"/>
                  </a:rPr>
                  <a:t>$\vec d=\vec c+2\vec b$</a:t>
                </a:r>
                <a:r>
                  <a:rPr sz="2400" b="0">
                    <a:solidFill>
                      <a:srgbClr val="111827"/>
                    </a:solidFill>
                    <a:latin typeface="Arial"/>
                  </a:rPr>
                  <a:t> (C true); </a:t>
                </a:r>
                <a:r>
                  <a:rPr lang="en-IN" sz="2400">
                    <a:solidFill>
                      <a:srgbClr val="111827"/>
                    </a:solidFill>
                    <a:latin typeface="Cambria Math" panose="02040503050406030204" pitchFamily="18" charset="0"/>
                  </a:rPr>
                  <a:t>$[\vec a\ \vec b\ \vec c]=2$</a:t>
                </a:r>
                <a:r>
                  <a:rPr sz="2400" b="0">
                    <a:solidFill>
                      <a:srgbClr val="111827"/>
                    </a:solidFill>
                    <a:latin typeface="Arial"/>
                  </a:rPr>
                  <a:t> (D true).</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 D)</a:t>
            </a:r>
            <a:endParaRPr sz="2800">
              <a:solidFill>
                <a:srgbClr val="15803D"/>
              </a:solidFill>
            </a:endParaRP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equal cross products with a common vector determine a vector only up to a multiple of that vector.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in general, but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oMath>
                </a14:m>
                <a:r>
                  <a:rPr sz="2400" b="0">
                    <a:solidFill>
                      <a:srgbClr val="111827"/>
                    </a:solidFill>
                    <a:latin typeface="Arial"/>
                  </a:rPr>
                  <a:t> for every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(here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because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Four vectors where one is a combination of the others have a zero triple product: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u\times\vec b=\vec v\times\vec b\iff\vec u-\vec v\parallel\vec b$</a:t>
                </a:r>
                <a:r>
                  <a:rPr sz="2400" b="0">
                    <a:solidFill>
                      <a:srgbClr val="111827"/>
                    </a:solidFill>
                    <a:latin typeface="Arial"/>
                  </a:rPr>
                  <a:t>: equal cross products with a common vector determine a vector only up to a multiple of that vector.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$\vec u\cdot\vec b\ne\vec v\cdot\vec b$</a:t>
                </a:r>
                <a:r>
                  <a:rPr sz="2400" b="0">
                    <a:solidFill>
                      <a:srgbClr val="111827"/>
                    </a:solidFill>
                    <a:latin typeface="Arial"/>
                  </a:rPr>
                  <a:t> in general, but </a:t>
                </a:r>
                <a:r>
                  <a:rPr lang="en-IN" sz="2400">
                    <a:solidFill>
                      <a:srgbClr val="111827"/>
                    </a:solidFill>
                    <a:latin typeface="Cambria Math" panose="02040503050406030204" pitchFamily="18" charset="0"/>
                  </a:rPr>
                  <a:t>$\vec u\cdot\vec w=\vec v\cdot\vec w$</a:t>
                </a:r>
                <a:r>
                  <a:rPr sz="2400" b="0">
                    <a:solidFill>
                      <a:srgbClr val="111827"/>
                    </a:solidFill>
                    <a:latin typeface="Arial"/>
                  </a:rPr>
                  <a:t> for every </a:t>
                </a:r>
                <a:r>
                  <a:rPr lang="en-IN" sz="2400">
                    <a:solidFill>
                      <a:srgbClr val="111827"/>
                    </a:solidFill>
                    <a:latin typeface="Cambria Math" panose="02040503050406030204" pitchFamily="18" charset="0"/>
                  </a:rPr>
                  <a:t>$\vec w\perp\vec b$</a:t>
                </a:r>
                <a:r>
                  <a:rPr sz="2400" b="0">
                    <a:solidFill>
                      <a:srgbClr val="111827"/>
                    </a:solidFill>
                    <a:latin typeface="Arial"/>
                  </a:rPr>
                  <a:t> (here </a:t>
                </a:r>
                <a:r>
                  <a:rPr lang="en-IN" sz="2400">
                    <a:solidFill>
                      <a:srgbClr val="111827"/>
                    </a:solidFill>
                    <a:latin typeface="Cambria Math" panose="02040503050406030204" pitchFamily="18" charset="0"/>
                  </a:rPr>
                  <a:t>$\vec w=\vec c$</a:t>
                </a:r>
                <a:r>
                  <a:rPr sz="2400" b="0">
                    <a:solidFill>
                      <a:srgbClr val="111827"/>
                    </a:solidFill>
                    <a:latin typeface="Arial"/>
                  </a:rPr>
                  <a:t> because </a:t>
                </a:r>
                <a:r>
                  <a:rPr lang="en-IN" sz="2400">
                    <a:solidFill>
                      <a:srgbClr val="111827"/>
                    </a:solidFill>
                    <a:latin typeface="Cambria Math" panose="02040503050406030204" pitchFamily="18" charset="0"/>
                  </a:rPr>
                  <a:t>$\vec b\perp\vec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Four vectors where one is a combination of the others have a zero triple product: </a:t>
                </a:r>
                <a:r>
                  <a:rPr lang="en-IN" sz="2400">
                    <a:solidFill>
                      <a:srgbClr val="111827"/>
                    </a:solidFill>
                    <a:latin typeface="Cambria Math" panose="02040503050406030204" pitchFamily="18" charset="0"/>
                  </a:rPr>
                  <a:t>$[\vec b\ \vec c\ \vec d]=0$</a:t>
                </a:r>
                <a:r>
                  <a:rPr sz="2400" b="0">
                    <a:solidFill>
                      <a:srgbClr val="111827"/>
                    </a:solidFill>
                    <a:latin typeface="Arial"/>
                  </a:rPr>
                  <a:t> when </a:t>
                </a:r>
                <a:r>
                  <a:rPr lang="en-IN" sz="2400">
                    <a:solidFill>
                      <a:srgbClr val="111827"/>
                    </a:solidFill>
                    <a:latin typeface="Cambria Math" panose="02040503050406030204" pitchFamily="18" charset="0"/>
                  </a:rPr>
                  <a:t>$\vec d=\vec c+\mu\vec 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3408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be three vectors each of magnitude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and the angle between each pair of them is </a:t>
                </a:r>
                <a14:m>
                  <m:oMath xmlns:m="http://schemas.openxmlformats.org/officeDocument/2006/math">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are scalars,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Volume of parallelepiped formed by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The value of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21</m:t>
                        </m:r>
                      </m:e>
                    </m:ra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Number of integral co-ordinates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satisfying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125</m:t>
                    </m:r>
                  </m:oMath>
                </a14:m>
                <a:endParaRPr sz="2400">
                  <a:solidFill>
                    <a:srgbClr val="111827"/>
                  </a:solidFill>
                </a:endParaRPr>
              </a:p>
            </p:txBody>
          </p:sp>
        </mc:Choice>
        <mc:Fallback>
          <p:sp>
            <p:nvSpPr>
              <p:cNvPr id="4" name="Rounded Rectangle 3"/>
              <p:cNvSpPr/>
              <p:nvPr/>
            </p:nvSpPr>
            <p:spPr>
              <a:xfrm>
                <a:off x="731520" y="1280160"/>
                <a:ext cx="10725912" cy="43408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 a,\vec b,\vec c$</a:t>
                </a:r>
                <a:r>
                  <a:rPr sz="2400" b="0">
                    <a:solidFill>
                      <a:srgbClr val="111827"/>
                    </a:solidFill>
                    <a:latin typeface="Arial"/>
                  </a:rPr>
                  <a:t> be three vectors each of magnitude </a:t>
                </a:r>
                <a:r>
                  <a:rPr lang="en-IN" sz="2400">
                    <a:solidFill>
                      <a:srgbClr val="111827"/>
                    </a:solidFill>
                    <a:latin typeface="Cambria Math" panose="02040503050406030204" pitchFamily="18" charset="0"/>
                  </a:rPr>
                  <a:t>$\sqrt3$</a:t>
                </a:r>
                <a:r>
                  <a:rPr sz="2400" b="0">
                    <a:solidFill>
                      <a:srgbClr val="111827"/>
                    </a:solidFill>
                    <a:latin typeface="Arial"/>
                  </a:rPr>
                  <a:t> and the angle between each pair of them is </a:t>
                </a:r>
                <a:r>
                  <a:rPr lang="en-IN" sz="2400">
                    <a:solidFill>
                      <a:srgbClr val="111827"/>
                    </a:solidFill>
                    <a:latin typeface="Cambria Math" panose="02040503050406030204" pitchFamily="18" charset="0"/>
                  </a:rPr>
                  <a:t>$\pi/3$</a:t>
                </a:r>
                <a:r>
                  <a:rPr sz="2400" b="0">
                    <a:solidFill>
                      <a:srgbClr val="111827"/>
                    </a:solidFill>
                    <a:latin typeface="Arial"/>
                  </a:rPr>
                  <a:t>. If </a:t>
                </a:r>
                <a:r>
                  <a:rPr lang="en-IN" sz="2400">
                    <a:solidFill>
                      <a:srgbClr val="111827"/>
                    </a:solidFill>
                    <a:latin typeface="Cambria Math" panose="02040503050406030204" pitchFamily="18" charset="0"/>
                  </a:rPr>
                  <a:t>$\vec b\times\vec c+\vec c\times\vec a=x\vec a+y\vec b+z\vec c$</a:t>
                </a:r>
                <a:r>
                  <a:rPr sz="2400" b="0">
                    <a:solidFill>
                      <a:srgbClr val="111827"/>
                    </a:solidFill>
                    <a:latin typeface="Arial"/>
                  </a:rPr>
                  <a:t> where </a:t>
                </a:r>
                <a:r>
                  <a:rPr lang="en-IN" sz="2400">
                    <a:solidFill>
                      <a:srgbClr val="111827"/>
                    </a:solidFill>
                    <a:latin typeface="Cambria Math" panose="02040503050406030204" pitchFamily="18" charset="0"/>
                  </a:rPr>
                  <a:t>$x,y,z$</a:t>
                </a:r>
                <a:r>
                  <a:rPr sz="2400" b="0">
                    <a:solidFill>
                      <a:srgbClr val="111827"/>
                    </a:solidFill>
                    <a:latin typeface="Arial"/>
                  </a:rPr>
                  <a:t> are scalars,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Volume of parallelepiped formed by </a:t>
                </a:r>
                <a:r>
                  <a:rPr lang="en-IN" sz="2400">
                    <a:solidFill>
                      <a:srgbClr val="111827"/>
                    </a:solidFill>
                    <a:latin typeface="Cambria Math" panose="02040503050406030204" pitchFamily="18" charset="0"/>
                  </a:rPr>
                  <a:t>$\vec a,\vec b,\vec c$</a:t>
                </a:r>
                <a:r>
                  <a:rPr sz="2400" b="0">
                    <a:solidFill>
                      <a:srgbClr val="111827"/>
                    </a:solidFill>
                    <a:latin typeface="Arial"/>
                  </a:rPr>
                  <a:t> is </a:t>
                </a:r>
                <a:r>
                  <a:rPr lang="en-IN" sz="2400">
                    <a:solidFill>
                      <a:srgbClr val="111827"/>
                    </a:solidFill>
                    <a:latin typeface="Cambria Math" panose="02040503050406030204" pitchFamily="18" charset="0"/>
                  </a:rPr>
                  <a:t>$\frac{3\sqrt3}{\sqrt2}$</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The value of </a:t>
                </a:r>
                <a:r>
                  <a:rPr lang="en-IN" sz="2400">
                    <a:solidFill>
                      <a:srgbClr val="111827"/>
                    </a:solidFill>
                    <a:latin typeface="Cambria Math" panose="02040503050406030204" pitchFamily="18" charset="0"/>
                  </a:rPr>
                  <a:t>$x$</a:t>
                </a:r>
                <a:r>
                  <a:rPr sz="2400" b="0">
                    <a:solidFill>
                      <a:srgbClr val="111827"/>
                    </a:solidFill>
                    <a:latin typeface="Arial"/>
                  </a:rPr>
                  <a:t> is </a:t>
                </a:r>
                <a:r>
                  <a:rPr lang="en-IN" sz="2400">
                    <a:solidFill>
                      <a:srgbClr val="111827"/>
                    </a:solidFill>
                    <a:latin typeface="Cambria Math" panose="02040503050406030204" pitchFamily="18" charset="0"/>
                  </a:rPr>
                  <a:t>$\frac{\sqrt3}{\sqrt2}$</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$x^2+y^2+z^2\le\sqrt{21}$</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Number of integral co-ordinates </a:t>
                </a:r>
                <a:r>
                  <a:rPr lang="en-IN" sz="2400">
                    <a:solidFill>
                      <a:srgbClr val="111827"/>
                    </a:solidFill>
                    <a:latin typeface="Cambria Math" panose="02040503050406030204" pitchFamily="18" charset="0"/>
                  </a:rPr>
                  <a:t>$(x,y,z)$</a:t>
                </a:r>
                <a:r>
                  <a:rPr sz="2400" b="0">
                    <a:solidFill>
                      <a:srgbClr val="111827"/>
                    </a:solidFill>
                    <a:latin typeface="Arial"/>
                  </a:rPr>
                  <a:t> satisfying </a:t>
                </a:r>
                <a:r>
                  <a:rPr lang="en-IN" sz="2400">
                    <a:solidFill>
                      <a:srgbClr val="111827"/>
                    </a:solidFill>
                    <a:latin typeface="Cambria Math" panose="02040503050406030204" pitchFamily="18" charset="0"/>
                  </a:rPr>
                  <a:t>$x^2+y^2+z^2\le12$</a:t>
                </a:r>
                <a:r>
                  <a:rPr sz="2400" b="0">
                    <a:solidFill>
                      <a:srgbClr val="111827"/>
                    </a:solidFill>
                    <a:latin typeface="Arial"/>
                  </a:rPr>
                  <a:t> is </a:t>
                </a:r>
                <a:r>
                  <a:rPr lang="en-IN" sz="2400">
                    <a:solidFill>
                      <a:srgbClr val="111827"/>
                    </a:solidFill>
                    <a:latin typeface="Cambria Math" panose="02040503050406030204" pitchFamily="18" charset="0"/>
                  </a:rPr>
                  <a:t>$125$</a:t>
                </a:r>
                <a:endParaRPr sz="2400">
                  <a:solidFill>
                    <a:srgbClr val="111827"/>
                  </a:solidFill>
                </a:endParaRPr>
              </a:p>
            </p:txBody>
          </p:sp>
        </mc:Fallback>
      </mc:AlternateContent>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product with equal angles and Gram determinant, Counting integral points inside a sphere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Dot the given relation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 to get three linear equations in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oMath>
                </a14:m>
                <a:r>
                  <a:rPr sz="2400" b="0">
                    <a:solidFill>
                      <a:srgbClr val="78350F"/>
                    </a:solidFill>
                    <a:latin typeface="Arial"/>
                  </a:rPr>
                  <a:t> using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from the Gram determinant.</a:t>
                </a:r>
                <a:endParaRPr sz="2400">
                  <a:solidFill>
                    <a:srgbClr val="78350F"/>
                  </a:solidFill>
                </a:endParaRPr>
              </a:p>
            </p:txBody>
          </p:sp>
        </mc:Choice>
        <mc:Fallback>
          <p:sp>
            <p:nvSpPr>
              <p:cNvPr id="5" name="Rounded Rectangle 4"/>
              <p:cNvSpPr/>
              <p:nvPr/>
            </p:nvSpPr>
            <p:spPr>
              <a:xfrm>
                <a:off x="731520" y="3438144"/>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Dot the given relation with </a:t>
                </a:r>
                <a:r>
                  <a:rPr lang="en-IN" sz="2400">
                    <a:solidFill>
                      <a:srgbClr val="78350F"/>
                    </a:solidFill>
                    <a:latin typeface="Cambria Math" panose="02040503050406030204" pitchFamily="18" charset="0"/>
                  </a:rPr>
                  <a:t>$\vec a,\vec b,\vec c$</a:t>
                </a:r>
                <a:r>
                  <a:rPr sz="2400" b="0">
                    <a:solidFill>
                      <a:srgbClr val="78350F"/>
                    </a:solidFill>
                    <a:latin typeface="Arial"/>
                  </a:rPr>
                  <a:t> to get three linear equations in </a:t>
                </a:r>
                <a:r>
                  <a:rPr lang="en-IN" sz="2400">
                    <a:solidFill>
                      <a:srgbClr val="78350F"/>
                    </a:solidFill>
                    <a:latin typeface="Cambria Math" panose="02040503050406030204" pitchFamily="18" charset="0"/>
                  </a:rPr>
                  <a:t>$x,y,z$</a:t>
                </a:r>
                <a:r>
                  <a:rPr sz="2400" b="0">
                    <a:solidFill>
                      <a:srgbClr val="78350F"/>
                    </a:solidFill>
                    <a:latin typeface="Arial"/>
                  </a:rPr>
                  <a:t> using </a:t>
                </a:r>
                <a:r>
                  <a:rPr lang="en-IN" sz="2400">
                    <a:solidFill>
                      <a:srgbClr val="78350F"/>
                    </a:solidFill>
                    <a:latin typeface="Cambria Math" panose="02040503050406030204" pitchFamily="18" charset="0"/>
                  </a:rPr>
                  <a:t>$\vec a\cdot\vec b=\frac32$</a:t>
                </a:r>
                <a:r>
                  <a:rPr sz="2400" b="0">
                    <a:solidFill>
                      <a:srgbClr val="78350F"/>
                    </a:solidFill>
                    <a:latin typeface="Arial"/>
                  </a:rPr>
                  <a:t> and </a:t>
                </a:r>
                <a:r>
                  <a:rPr lang="en-IN" sz="2400">
                    <a:solidFill>
                      <a:srgbClr val="78350F"/>
                    </a:solidFill>
                    <a:latin typeface="Cambria Math" panose="02040503050406030204" pitchFamily="18" charset="0"/>
                  </a:rPr>
                  <a:t>$[\vec a\ \vec b\ \vec c]^2$</a:t>
                </a:r>
                <a:r>
                  <a:rPr sz="2400" b="0">
                    <a:solidFill>
                      <a:srgbClr val="78350F"/>
                    </a:solidFill>
                    <a:latin typeface="Arial"/>
                  </a:rPr>
                  <a:t> from the Gram determinant.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166360"/>
                <a:ext cx="10725912" cy="15087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and each angle is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166360"/>
                <a:ext cx="10725912" cy="15087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b|=|\vec c|=\sqrt3$</a:t>
                </a:r>
                <a:r>
                  <a:rPr sz="2400" b="0">
                    <a:solidFill>
                      <a:srgbClr val="111827"/>
                    </a:solidFill>
                    <a:latin typeface="Arial"/>
                  </a:rPr>
                  <a:t> and each angle is </a:t>
                </a:r>
                <a:r>
                  <a:rPr lang="en-IN" sz="2400">
                    <a:solidFill>
                      <a:srgbClr val="111827"/>
                    </a:solidFill>
                    <a:latin typeface="Cambria Math" panose="02040503050406030204" pitchFamily="18" charset="0"/>
                  </a:rPr>
                  <a:t>$60^\circ$</a:t>
                </a:r>
                <a:r>
                  <a:rPr sz="2400" b="0">
                    <a:solidFill>
                      <a:srgbClr val="111827"/>
                    </a:solidFill>
                    <a:latin typeface="Arial"/>
                  </a:rPr>
                  <a:t>, so </a:t>
                </a:r>
                <a:r>
                  <a:rPr lang="en-IN" sz="2400">
                    <a:solidFill>
                      <a:srgbClr val="111827"/>
                    </a:solidFill>
                    <a:latin typeface="Cambria Math" panose="02040503050406030204" pitchFamily="18" charset="0"/>
                  </a:rPr>
                  <a:t>$\vec a\cdot\vec b=\vec b\cdot\vec c=\vec c\cdot\vec a=\frac32$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Dot the relation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PDF prints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 typo that does not change the later result).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𝑧</m:t>
                    </m:r>
                  </m:oMath>
                </a14:m>
                <a:r>
                  <a:rPr sz="2400" b="0">
                    <a:solidFill>
                      <a:srgbClr val="111827"/>
                    </a:solidFill>
                    <a:latin typeface="Arial"/>
                  </a:rPr>
                  <a:t>. Dot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first two give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the third gives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3</m:t>
                              </m:r>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mr>
                          <m:m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e>
                              <m:r>
                                <a:rPr lang="en-IN" sz="2400" i="1">
                                  <a:solidFill>
                                    <a:srgbClr val="111827"/>
                                  </a:solidFill>
                                  <a:latin typeface="Cambria Math" panose="02040503050406030204" pitchFamily="18" charset="0"/>
                                </a:rPr>
                                <m:t>3</m:t>
                              </m:r>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mr>
                          <m:m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e>
                              <m:r>
                                <a:rPr lang="en-IN" sz="2400" i="1">
                                  <a:solidFill>
                                    <a:srgbClr val="111827"/>
                                  </a:solidFill>
                                  <a:latin typeface="Cambria Math" panose="02040503050406030204" pitchFamily="18" charset="0"/>
                                </a:rPr>
                                <m:t>3</m:t>
                              </m:r>
                            </m:e>
                          </m:mr>
                        </m:m>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27</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the volume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(A) is true.</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Dot the relation with </a:t>
                </a:r>
                <a:r>
                  <a:rPr lang="en-IN" sz="2400">
                    <a:solidFill>
                      <a:srgbClr val="111827"/>
                    </a:solidFill>
                    <a:latin typeface="Cambria Math" panose="02040503050406030204" pitchFamily="18" charset="0"/>
                  </a:rPr>
                  <a:t>$\vec a$</a:t>
                </a:r>
                <a:r>
                  <a:rPr sz="2400" b="0">
                    <a:solidFill>
                      <a:srgbClr val="111827"/>
                    </a:solidFill>
                    <a:latin typeface="Arial"/>
                  </a:rPr>
                  <a:t>: </a:t>
                </a:r>
                <a:r>
                  <a:rPr lang="en-IN" sz="2400">
                    <a:solidFill>
                      <a:srgbClr val="111827"/>
                    </a:solidFill>
                    <a:latin typeface="Cambria Math" panose="02040503050406030204" pitchFamily="18" charset="0"/>
                  </a:rPr>
                  <a:t>$[\vec a\ \vec b\ \vec c]=3x+\frac{3y}{2}+\frac{3z}{2}$</a:t>
                </a:r>
                <a:r>
                  <a:rPr sz="2400" b="0">
                    <a:solidFill>
                      <a:srgbClr val="111827"/>
                    </a:solidFill>
                    <a:latin typeface="Arial"/>
                  </a:rPr>
                  <a:t> (the PDF prints </a:t>
                </a:r>
                <a:r>
                  <a:rPr lang="en-IN" sz="2400">
                    <a:solidFill>
                      <a:srgbClr val="111827"/>
                    </a:solidFill>
                    <a:latin typeface="Cambria Math" panose="02040503050406030204" pitchFamily="18" charset="0"/>
                  </a:rPr>
                  <a:t>$3x+\frac y2+\frac z2$</a:t>
                </a:r>
                <a:r>
                  <a:rPr sz="2400" b="0">
                    <a:solidFill>
                      <a:srgbClr val="111827"/>
                    </a:solidFill>
                    <a:latin typeface="Arial"/>
                  </a:rPr>
                  <a:t>, a typo that does not change the later result).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Dot with </a:t>
                </a:r>
                <a:r>
                  <a:rPr lang="en-IN" sz="2400">
                    <a:solidFill>
                      <a:srgbClr val="111827"/>
                    </a:solidFill>
                    <a:latin typeface="Cambria Math" panose="02040503050406030204" pitchFamily="18" charset="0"/>
                  </a:rPr>
                  <a:t>$\vec b$</a:t>
                </a:r>
                <a:r>
                  <a:rPr sz="2400" b="0">
                    <a:solidFill>
                      <a:srgbClr val="111827"/>
                    </a:solidFill>
                    <a:latin typeface="Arial"/>
                  </a:rPr>
                  <a:t>: </a:t>
                </a:r>
                <a:r>
                  <a:rPr lang="en-IN" sz="2400">
                    <a:solidFill>
                      <a:srgbClr val="111827"/>
                    </a:solidFill>
                    <a:latin typeface="Cambria Math" panose="02040503050406030204" pitchFamily="18" charset="0"/>
                  </a:rPr>
                  <a:t>$[\vec a\ \vec b\ \vec c]=\frac32x+3y+\frac32z$</a:t>
                </a:r>
                <a:r>
                  <a:rPr sz="2400" b="0">
                    <a:solidFill>
                      <a:srgbClr val="111827"/>
                    </a:solidFill>
                    <a:latin typeface="Arial"/>
                  </a:rPr>
                  <a:t>. Dot with </a:t>
                </a:r>
                <a:r>
                  <a:rPr lang="en-IN" sz="2400">
                    <a:solidFill>
                      <a:srgbClr val="111827"/>
                    </a:solidFill>
                    <a:latin typeface="Cambria Math" panose="02040503050406030204" pitchFamily="18" charset="0"/>
                  </a:rPr>
                  <a:t>$\vec c$</a:t>
                </a:r>
                <a:r>
                  <a:rPr sz="2400" b="0">
                    <a:solidFill>
                      <a:srgbClr val="111827"/>
                    </a:solidFill>
                    <a:latin typeface="Arial"/>
                  </a:rPr>
                  <a:t>: </a:t>
                </a:r>
                <a:r>
                  <a:rPr lang="en-IN" sz="2400">
                    <a:solidFill>
                      <a:srgbClr val="111827"/>
                    </a:solidFill>
                    <a:latin typeface="Cambria Math" panose="02040503050406030204" pitchFamily="18" charset="0"/>
                  </a:rPr>
                  <a:t>$0=\frac32x+\frac32y+3z$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first two give </a:t>
                </a:r>
                <a:r>
                  <a:rPr lang="en-IN" sz="2400">
                    <a:solidFill>
                      <a:srgbClr val="111827"/>
                    </a:solidFill>
                    <a:latin typeface="Cambria Math" panose="02040503050406030204" pitchFamily="18" charset="0"/>
                  </a:rPr>
                  <a:t>$x=y$</a:t>
                </a:r>
                <a:r>
                  <a:rPr sz="2400" b="0">
                    <a:solidFill>
                      <a:srgbClr val="111827"/>
                    </a:solidFill>
                    <a:latin typeface="Arial"/>
                  </a:rPr>
                  <a:t>; the third gives </a:t>
                </a:r>
                <a:r>
                  <a:rPr lang="en-IN" sz="2400">
                    <a:solidFill>
                      <a:srgbClr val="111827"/>
                    </a:solidFill>
                    <a:latin typeface="Cambria Math" panose="02040503050406030204" pitchFamily="18" charset="0"/>
                  </a:rPr>
                  <a:t>$z=-x$</a:t>
                </a:r>
                <a:r>
                  <a:rPr sz="2400" b="0">
                    <a:solidFill>
                      <a:srgbClr val="111827"/>
                    </a:solidFill>
                    <a:latin typeface="Arial"/>
                  </a:rPr>
                  <a:t>. So </a:t>
                </a:r>
                <a:r>
                  <a:rPr lang="en-IN" sz="2400">
                    <a:solidFill>
                      <a:srgbClr val="111827"/>
                    </a:solidFill>
                    <a:latin typeface="Cambria Math" panose="02040503050406030204" pitchFamily="18" charset="0"/>
                  </a:rPr>
                  <a:t>$x=y=-z$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 \vec b\ \vec c]^2=\left|\begin{matrix}3&amp;\frac32&amp;\frac32\\\frac32&amp;3&amp;\frac32\\\frac32&amp;\frac32&amp;3\end{matrix}\right|=\frac{27}{2}$</a:t>
                </a:r>
                <a:r>
                  <a:rPr sz="2400" b="0">
                    <a:solidFill>
                      <a:srgbClr val="111827"/>
                    </a:solidFill>
                    <a:latin typeface="Arial"/>
                  </a:rPr>
                  <a:t>, so the volume is </a:t>
                </a:r>
                <a:r>
                  <a:rPr lang="en-IN" sz="2400">
                    <a:solidFill>
                      <a:srgbClr val="111827"/>
                    </a:solidFill>
                    <a:latin typeface="Cambria Math" panose="02040503050406030204" pitchFamily="18" charset="0"/>
                  </a:rPr>
                  <a:t>$\frac{3\sqrt3}{\sqrt2}$</a:t>
                </a:r>
                <a:r>
                  <a:rPr sz="2400" b="0">
                    <a:solidFill>
                      <a:srgbClr val="111827"/>
                    </a:solidFill>
                    <a:latin typeface="Arial"/>
                  </a:rPr>
                  <a:t>: (A) is true.</a:t>
                </a:r>
                <a:endParaRPr sz="2400">
                  <a:solidFill>
                    <a:srgbClr val="111827"/>
                  </a:solidFill>
                </a:endParaRPr>
              </a:p>
            </p:txBody>
          </p:sp>
        </mc:Fallback>
      </mc:AlternateContent>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the first equation is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(B) is true.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&lt;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21</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4.58</m:t>
                    </m:r>
                  </m:oMath>
                </a14:m>
                <a:r>
                  <a:rPr sz="2400" b="0">
                    <a:solidFill>
                      <a:srgbClr val="111827"/>
                    </a:solidFill>
                    <a:latin typeface="Arial"/>
                  </a:rPr>
                  <a:t>: (C)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the number of integral points with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179</m:t>
                    </m:r>
                  </m:oMath>
                </a14:m>
                <a:r>
                  <a:rPr sz="2400" b="0">
                    <a:solidFill>
                      <a:srgbClr val="111827"/>
                    </a:solidFill>
                    <a:latin typeface="Arial"/>
                  </a:rPr>
                  <a:t> (not </a:t>
                </a:r>
                <a14:m>
                  <m:oMath xmlns:m="http://schemas.openxmlformats.org/officeDocument/2006/math">
                    <m:r>
                      <a:rPr lang="en-IN" sz="2400" i="1">
                        <a:solidFill>
                          <a:srgbClr val="111827"/>
                        </a:solidFill>
                        <a:latin typeface="Cambria Math" panose="02040503050406030204" pitchFamily="18" charset="0"/>
                      </a:rPr>
                      <m:t>125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125</m:t>
                    </m:r>
                  </m:oMath>
                </a14:m>
                <a:r>
                  <a:rPr sz="2400" b="0">
                    <a:solidFill>
                      <a:srgbClr val="111827"/>
                    </a:solidFill>
                    <a:latin typeface="Arial"/>
                  </a:rPr>
                  <a:t> would be the cube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(D) is false. Answer: A,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$x=y=-z$</a:t>
                </a:r>
                <a:r>
                  <a:rPr sz="2400" b="0">
                    <a:solidFill>
                      <a:srgbClr val="111827"/>
                    </a:solidFill>
                    <a:latin typeface="Arial"/>
                  </a:rPr>
                  <a:t> the first equation is </a:t>
                </a:r>
                <a:r>
                  <a:rPr lang="en-IN" sz="2400">
                    <a:solidFill>
                      <a:srgbClr val="111827"/>
                    </a:solidFill>
                    <a:latin typeface="Cambria Math" panose="02040503050406030204" pitchFamily="18" charset="0"/>
                  </a:rPr>
                  <a:t>$[\vec a\ \vec b\ \vec c]=3x$</a:t>
                </a:r>
                <a:r>
                  <a:rPr sz="2400" b="0">
                    <a:solidFill>
                      <a:srgbClr val="111827"/>
                    </a:solidFill>
                    <a:latin typeface="Arial"/>
                  </a:rPr>
                  <a:t>, so </a:t>
                </a:r>
                <a:r>
                  <a:rPr lang="en-IN" sz="2400">
                    <a:solidFill>
                      <a:srgbClr val="111827"/>
                    </a:solidFill>
                    <a:latin typeface="Cambria Math" panose="02040503050406030204" pitchFamily="18" charset="0"/>
                  </a:rPr>
                  <a:t>$x=\frac{3\sqrt3}{3\sqrt2}=\frac{\sqrt3}{\sqrt2}$</a:t>
                </a:r>
                <a:r>
                  <a:rPr sz="2400" b="0">
                    <a:solidFill>
                      <a:srgbClr val="111827"/>
                    </a:solidFill>
                    <a:latin typeface="Arial"/>
                  </a:rPr>
                  <a:t>: (B) is true.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$x^2+y^2+z^2=3x^2=\frac92&lt;\sqrt{21}\approx4.58$</a:t>
                </a:r>
                <a:r>
                  <a:rPr sz="2400" b="0">
                    <a:solidFill>
                      <a:srgbClr val="111827"/>
                    </a:solidFill>
                    <a:latin typeface="Arial"/>
                  </a:rPr>
                  <a:t>: (C)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the number of integral points with </a:t>
                </a:r>
                <a:r>
                  <a:rPr lang="en-IN" sz="2400">
                    <a:solidFill>
                      <a:srgbClr val="111827"/>
                    </a:solidFill>
                    <a:latin typeface="Cambria Math" panose="02040503050406030204" pitchFamily="18" charset="0"/>
                  </a:rPr>
                  <a:t>$x^2+y^2+z^2\le12$</a:t>
                </a:r>
                <a:r>
                  <a:rPr sz="2400" b="0">
                    <a:solidFill>
                      <a:srgbClr val="111827"/>
                    </a:solidFill>
                    <a:latin typeface="Arial"/>
                  </a:rPr>
                  <a:t> is </a:t>
                </a:r>
                <a:r>
                  <a:rPr lang="en-IN" sz="2400">
                    <a:solidFill>
                      <a:srgbClr val="111827"/>
                    </a:solidFill>
                    <a:latin typeface="Cambria Math" panose="02040503050406030204" pitchFamily="18" charset="0"/>
                  </a:rPr>
                  <a:t>$179$</a:t>
                </a:r>
                <a:r>
                  <a:rPr sz="2400" b="0">
                    <a:solidFill>
                      <a:srgbClr val="111827"/>
                    </a:solidFill>
                    <a:latin typeface="Arial"/>
                  </a:rPr>
                  <a:t> (not </a:t>
                </a:r>
                <a:r>
                  <a:rPr lang="en-IN" sz="2400">
                    <a:solidFill>
                      <a:srgbClr val="111827"/>
                    </a:solidFill>
                    <a:latin typeface="Cambria Math" panose="02040503050406030204" pitchFamily="18" charset="0"/>
                  </a:rPr>
                  <a:t>$125$</a:t>
                </a:r>
                <a:r>
                  <a:rPr sz="2400" b="0">
                    <a:solidFill>
                      <a:srgbClr val="111827"/>
                    </a:solidFill>
                    <a:latin typeface="Arial"/>
                  </a:rPr>
                  <a:t>; </a:t>
                </a:r>
                <a:r>
                  <a:rPr lang="en-IN" sz="2400">
                    <a:solidFill>
                      <a:srgbClr val="111827"/>
                    </a:solidFill>
                    <a:latin typeface="Cambria Math" panose="02040503050406030204" pitchFamily="18" charset="0"/>
                  </a:rPr>
                  <a:t>$125$</a:t>
                </a:r>
                <a:r>
                  <a:rPr sz="2400" b="0">
                    <a:solidFill>
                      <a:srgbClr val="111827"/>
                    </a:solidFill>
                    <a:latin typeface="Arial"/>
                  </a:rPr>
                  <a:t> would be the cube </a:t>
                </a:r>
                <a:r>
                  <a:rPr lang="en-IN" sz="2400">
                    <a:solidFill>
                      <a:srgbClr val="111827"/>
                    </a:solidFill>
                    <a:latin typeface="Cambria Math" panose="02040503050406030204" pitchFamily="18" charset="0"/>
                  </a:rPr>
                  <a:t>$-2\le x,y,z\le2$</a:t>
                </a:r>
                <a:r>
                  <a:rPr sz="2400" b="0">
                    <a:solidFill>
                      <a:srgbClr val="111827"/>
                    </a:solidFill>
                    <a:latin typeface="Arial"/>
                  </a:rPr>
                  <a:t>), so (D) is false. Answer: A, B,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 C) - (the paper's key omits (B))</a:t>
            </a:r>
            <a:endParaRPr sz="2800">
              <a:solidFill>
                <a:srgbClr val="15803D"/>
              </a:solidFill>
            </a:endParaRP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reciprocal basis: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𝑉</m:t>
                    </m:r>
                    <m:sSup>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and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𝑉</m:t>
                    </m:r>
                    <m:sSup>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the inverse of the Gram matrix.</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reciprocal basis: </a:t>
                </a:r>
                <a:r>
                  <a:rPr lang="en-IN" sz="2400">
                    <a:solidFill>
                      <a:srgbClr val="78350F"/>
                    </a:solidFill>
                    <a:latin typeface="Cambria Math" panose="02040503050406030204" pitchFamily="18" charset="0"/>
                  </a:rPr>
                  <a:t>$\vec b\times\vec c=V\vec a^*$</a:t>
                </a:r>
                <a:r>
                  <a:rPr sz="2400" b="0">
                    <a:solidFill>
                      <a:srgbClr val="78350F"/>
                    </a:solidFill>
                    <a:latin typeface="Arial"/>
                  </a:rPr>
                  <a:t> and </a:t>
                </a:r>
                <a:r>
                  <a:rPr lang="en-IN" sz="2400">
                    <a:solidFill>
                      <a:srgbClr val="78350F"/>
                    </a:solidFill>
                    <a:latin typeface="Cambria Math" panose="02040503050406030204" pitchFamily="18" charset="0"/>
                  </a:rPr>
                  <a:t>$\vec c\times\vec a=V\vec b^*$</a:t>
                </a:r>
                <a:r>
                  <a:rPr sz="2400" b="0">
                    <a:solidFill>
                      <a:srgbClr val="78350F"/>
                    </a:solidFill>
                    <a:latin typeface="Arial"/>
                  </a:rPr>
                  <a:t> with </a:t>
                </a:r>
                <a:r>
                  <a:rPr lang="en-IN" sz="2400">
                    <a:solidFill>
                      <a:srgbClr val="78350F"/>
                    </a:solidFill>
                    <a:latin typeface="Cambria Math" panose="02040503050406030204" pitchFamily="18" charset="0"/>
                  </a:rPr>
                  <a:t>$V=[\vec a\ \vec b\ \vec c]$</a:t>
                </a:r>
                <a:r>
                  <a:rPr sz="2400" b="0">
                    <a:solidFill>
                      <a:srgbClr val="78350F"/>
                    </a:solidFill>
                    <a:latin typeface="Arial"/>
                  </a:rPr>
                  <a:t>, and the inverse of the Gram matrix.</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Gram matrix is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𝐽</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𝐽</m:t>
                    </m:r>
                  </m:oMath>
                </a14:m>
                <a:r>
                  <a:rPr sz="2400" b="0">
                    <a:solidFill>
                      <a:srgbClr val="111827"/>
                    </a:solidFill>
                    <a:latin typeface="Arial"/>
                  </a:rPr>
                  <a:t> = all-ones matrix), with inverse </a:t>
                </a:r>
                <a14:m>
                  <m:oMath xmlns:m="http://schemas.openxmlformats.org/officeDocument/2006/math">
                    <m:sSup>
                      <m:e>
                        <m:r>
                          <a:rPr lang="en-IN" sz="2400" i="1">
                            <a:solidFill>
                              <a:srgbClr val="111827"/>
                            </a:solidFill>
                            <a:latin typeface="Cambria Math" panose="02040503050406030204" pitchFamily="18" charset="0"/>
                          </a:rPr>
                          <m:t>𝐺</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𝐼</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𝐽</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 diagonal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off-diagonal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Reciprocal vectors: </a:t>
                </a:r>
                <a14:m>
                  <m:oMath xmlns:m="http://schemas.openxmlformats.org/officeDocument/2006/math">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and </a:t>
                </a:r>
                <a14:m>
                  <m:oMath xmlns:m="http://schemas.openxmlformats.org/officeDocument/2006/math">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Gram matrix is </a:t>
                </a:r>
                <a:r>
                  <a:rPr lang="en-IN" sz="2400">
                    <a:solidFill>
                      <a:srgbClr val="111827"/>
                    </a:solidFill>
                    <a:latin typeface="Cambria Math" panose="02040503050406030204" pitchFamily="18" charset="0"/>
                  </a:rPr>
                  <a:t>$G=\frac32(I+J)$</a:t>
                </a:r>
                <a:r>
                  <a:rPr sz="2400" b="0">
                    <a:solidFill>
                      <a:srgbClr val="111827"/>
                    </a:solidFill>
                    <a:latin typeface="Arial"/>
                  </a:rPr>
                  <a:t> (</a:t>
                </a:r>
                <a:r>
                  <a:rPr lang="en-IN" sz="2400">
                    <a:solidFill>
                      <a:srgbClr val="111827"/>
                    </a:solidFill>
                    <a:latin typeface="Cambria Math" panose="02040503050406030204" pitchFamily="18" charset="0"/>
                  </a:rPr>
                  <a:t>$J$</a:t>
                </a:r>
                <a:r>
                  <a:rPr sz="2400" b="0">
                    <a:solidFill>
                      <a:srgbClr val="111827"/>
                    </a:solidFill>
                    <a:latin typeface="Arial"/>
                  </a:rPr>
                  <a:t> = all-ones matrix), with inverse </a:t>
                </a:r>
                <a:r>
                  <a:rPr lang="en-IN" sz="2400">
                    <a:solidFill>
                      <a:srgbClr val="111827"/>
                    </a:solidFill>
                    <a:latin typeface="Cambria Math" panose="02040503050406030204" pitchFamily="18" charset="0"/>
                  </a:rPr>
                  <a:t>$G^{-1}=\frac23\left(I-\frac J4\right)$</a:t>
                </a:r>
                <a:r>
                  <a:rPr sz="2400" b="0">
                    <a:solidFill>
                      <a:srgbClr val="111827"/>
                    </a:solidFill>
                    <a:latin typeface="Arial"/>
                  </a:rPr>
                  <a:t>: diagonal </a:t>
                </a:r>
                <a:r>
                  <a:rPr lang="en-IN" sz="2400">
                    <a:solidFill>
                      <a:srgbClr val="111827"/>
                    </a:solidFill>
                    <a:latin typeface="Cambria Math" panose="02040503050406030204" pitchFamily="18" charset="0"/>
                  </a:rPr>
                  <a:t>$\frac12$</a:t>
                </a:r>
                <a:r>
                  <a:rPr sz="2400" b="0">
                    <a:solidFill>
                      <a:srgbClr val="111827"/>
                    </a:solidFill>
                    <a:latin typeface="Arial"/>
                  </a:rPr>
                  <a:t>, off-diagonal </a:t>
                </a:r>
                <a:r>
                  <a:rPr lang="en-IN" sz="2400">
                    <a:solidFill>
                      <a:srgbClr val="111827"/>
                    </a:solidFill>
                    <a:latin typeface="Cambria Math" panose="02040503050406030204" pitchFamily="18" charset="0"/>
                  </a:rPr>
                  <a:t>$-\frac16$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Reciprocal vectors: </a:t>
                </a:r>
                <a:r>
                  <a:rPr lang="en-IN" sz="2400">
                    <a:solidFill>
                      <a:srgbClr val="111827"/>
                    </a:solidFill>
                    <a:latin typeface="Cambria Math" panose="02040503050406030204" pitchFamily="18" charset="0"/>
                  </a:rPr>
                  <a:t>$\vec a^*=\frac12\vec a-\frac16\vec b-\frac16\vec c$</a:t>
                </a:r>
                <a:r>
                  <a:rPr sz="2400" b="0">
                    <a:solidFill>
                      <a:srgbClr val="111827"/>
                    </a:solidFill>
                    <a:latin typeface="Arial"/>
                  </a:rPr>
                  <a:t> and </a:t>
                </a:r>
                <a:r>
                  <a:rPr lang="en-IN" sz="2400">
                    <a:solidFill>
                      <a:srgbClr val="111827"/>
                    </a:solidFill>
                    <a:latin typeface="Cambria Math" panose="02040503050406030204" pitchFamily="18" charset="0"/>
                  </a:rPr>
                  <a:t>$\vec b^*=-\frac16\vec a+\frac12\vec b-\frac16\vec c$</a:t>
                </a:r>
                <a:r>
                  <a:rPr sz="2400" b="0">
                    <a:solidFill>
                      <a:srgbClr val="111827"/>
                    </a:solidFill>
                    <a:latin typeface="Arial"/>
                  </a:rPr>
                  <a:t>, with </a:t>
                </a:r>
                <a:r>
                  <a:rPr lang="en-IN" sz="2400">
                    <a:solidFill>
                      <a:srgbClr val="111827"/>
                    </a:solidFill>
                    <a:latin typeface="Cambria Math" panose="02040503050406030204" pitchFamily="18" charset="0"/>
                  </a:rPr>
                  <a:t>$\vec b\times\vec c=V\vec a^*$</a:t>
                </a:r>
                <a:r>
                  <a:rPr sz="2400" b="0">
                    <a:solidFill>
                      <a:srgbClr val="111827"/>
                    </a:solidFill>
                    <a:latin typeface="Arial"/>
                  </a:rPr>
                  <a:t> and </a:t>
                </a:r>
                <a:r>
                  <a:rPr lang="en-IN" sz="2400">
                    <a:solidFill>
                      <a:srgbClr val="111827"/>
                    </a:solidFill>
                    <a:latin typeface="Cambria Math" panose="02040503050406030204" pitchFamily="18" charset="0"/>
                  </a:rPr>
                  <a:t>$\vec c\times\vec a=V\vec 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𝑉</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𝑉</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same as before.</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b\times\vec c+\vec c\times\vec a=V\left(\frac13\vec a+\frac13\vec b-\frac13\vec c\right)$</a:t>
                </a:r>
                <a:r>
                  <a:rPr sz="2400" b="0">
                    <a:solidFill>
                      <a:srgbClr val="111827"/>
                    </a:solidFill>
                    <a:latin typeface="Arial"/>
                  </a:rPr>
                  <a:t>, so </a:t>
                </a:r>
                <a:r>
                  <a:rPr lang="en-IN" sz="2400">
                    <a:solidFill>
                      <a:srgbClr val="111827"/>
                    </a:solidFill>
                    <a:latin typeface="Cambria Math" panose="02040503050406030204" pitchFamily="18" charset="0"/>
                  </a:rPr>
                  <a:t>$x=y=\frac V3$</a:t>
                </a:r>
                <a:r>
                  <a:rPr sz="2400" b="0">
                    <a:solidFill>
                      <a:srgbClr val="111827"/>
                    </a:solidFill>
                    <a:latin typeface="Arial"/>
                  </a:rPr>
                  <a:t> and </a:t>
                </a:r>
                <a:r>
                  <a:rPr lang="en-IN" sz="2400">
                    <a:solidFill>
                      <a:srgbClr val="111827"/>
                    </a:solidFill>
                    <a:latin typeface="Cambria Math" panose="02040503050406030204" pitchFamily="18" charset="0"/>
                  </a:rPr>
                  <a:t>$z=-\frac V3$</a:t>
                </a:r>
                <a:r>
                  <a:rPr sz="2400" b="0">
                    <a:solidFill>
                      <a:srgbClr val="111827"/>
                    </a:solidFill>
                    <a:latin typeface="Arial"/>
                  </a:rPr>
                  <a:t> with </a:t>
                </a:r>
                <a:r>
                  <a:rPr lang="en-IN" sz="2400">
                    <a:solidFill>
                      <a:srgbClr val="111827"/>
                    </a:solidFill>
                    <a:latin typeface="Cambria Math" panose="02040503050406030204" pitchFamily="18" charset="0"/>
                  </a:rPr>
                  <a:t>$V=\frac{3\sqrt3}{\sqrt2}$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$x=\frac{\sqrt3}{\sqrt2}$</a:t>
                </a:r>
                <a:r>
                  <a:rPr sz="2400" b="0">
                    <a:solidFill>
                      <a:srgbClr val="111827"/>
                    </a:solidFill>
                    <a:latin typeface="Arial"/>
                  </a:rPr>
                  <a:t>, and </a:t>
                </a:r>
                <a:r>
                  <a:rPr lang="en-IN" sz="2400">
                    <a:solidFill>
                      <a:srgbClr val="111827"/>
                    </a:solidFill>
                    <a:latin typeface="Cambria Math" panose="02040503050406030204" pitchFamily="18" charset="0"/>
                  </a:rPr>
                  <a:t>$x^2+y^2+z^2=3\cdot\frac32=\frac92$</a:t>
                </a:r>
                <a:r>
                  <a:rPr sz="2400" b="0">
                    <a:solidFill>
                      <a:srgbClr val="111827"/>
                    </a:solidFill>
                    <a:latin typeface="Arial"/>
                  </a:rPr>
                  <a:t>, the same as before.</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B, C) - (the paper's key omits (B))</a:t>
            </a:r>
            <a:endParaRPr sz="2800">
              <a:solidFill>
                <a:srgbClr val="15803D"/>
              </a:solidFill>
            </a:endParaRP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vectors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with Gram matrix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sSub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up>
                        <m:r>
                          <m:rPr>
                            <m:sty m:val="p"/>
                          </m:rPr>
                          <a:rPr lang="en-IN" sz="2400">
                            <a:solidFill>
                              <a:srgbClr val="111827"/>
                            </a:solidFill>
                            <a:latin typeface="Cambria Math" panose="02040503050406030204" pitchFamily="18" charset="0"/>
                          </a:rPr>
                          <m:t>*</m:t>
                        </m:r>
                      </m:sup>
                    </m:sSubSup>
                  </m:oMath>
                </a14:m>
                <a:r>
                  <a:rPr sz="2400" b="0">
                    <a:solidFill>
                      <a:srgbClr val="111827"/>
                    </a:solidFill>
                    <a:latin typeface="Arial"/>
                  </a:rPr>
                  <a:t> (reciprocal basis), </a:t>
                </a:r>
                <a14:m>
                  <m:oMath xmlns:m="http://schemas.openxmlformats.org/officeDocument/2006/math">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a:rPr lang="en-IN" sz="2400" i="1">
                        <a:solidFill>
                          <a:srgbClr val="111827"/>
                        </a:solidFill>
                        <a:latin typeface="Cambria Math" panose="02040503050406030204" pitchFamily="18" charset="0"/>
                      </a:rPr>
                      <m:t>𝐺</m:t>
                    </m:r>
                  </m:oMath>
                </a14:m>
                <a:r>
                  <a:rPr sz="2400" b="0">
                    <a:solidFill>
                      <a:srgbClr val="111827"/>
                    </a:solidFill>
                    <a:latin typeface="Arial"/>
                  </a:rPr>
                  <a:t>, and </a:t>
                </a:r>
                <a14:m>
                  <m:oMath xmlns:m="http://schemas.openxmlformats.org/officeDocument/2006/math">
                    <m:sSub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𝑖</m:t>
                        </m:r>
                      </m:sub>
                      <m:sup>
                        <m:r>
                          <m:rPr>
                            <m:sty m:val="p"/>
                          </m:rPr>
                          <a:rPr lang="en-IN" sz="2400">
                            <a:solidFill>
                              <a:srgbClr val="111827"/>
                            </a:solidFill>
                            <a:latin typeface="Cambria Math" panose="02040503050406030204" pitchFamily="18" charset="0"/>
                          </a:rPr>
                          <m:t>*</m:t>
                        </m:r>
                      </m:sup>
                    </m:sSubSup>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sSup>
                      <m:e>
                        <m:r>
                          <a:rPr lang="en-IN" sz="2400" i="1">
                            <a:solidFill>
                              <a:srgbClr val="111827"/>
                            </a:solidFill>
                            <a:latin typeface="Cambria Math" panose="02040503050406030204" pitchFamily="18" charset="0"/>
                          </a:rPr>
                          <m:t>𝐺</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m:rPr>
                            <m:sty m:val="p"/>
                          </m:rPr>
                          <a:rPr lang="en-IN" sz="2400">
                            <a:solidFill>
                              <a:srgbClr val="111827"/>
                            </a:solidFill>
                            <a:latin typeface="Cambria Math" panose="02040503050406030204" pitchFamily="18" charset="0"/>
                          </a:rPr>
                          <m:t>)</m:t>
                        </m:r>
                      </m:e>
                      <m:sub>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𝑗</m:t>
                        </m:r>
                      </m:sub>
                    </m:sSub>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𝑗</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Three equal vectors of length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with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between each pair: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integer points with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179</m:t>
                    </m:r>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27</m:t>
                    </m:r>
                  </m:oMath>
                </a14:m>
                <a:r>
                  <a:rPr sz="2400" b="0">
                    <a:solidFill>
                      <a:srgbClr val="111827"/>
                    </a:solidFill>
                    <a:latin typeface="Arial"/>
                  </a:rPr>
                  <a:t>; (a good check of a counted answer is to enumerate by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vectors </a:t>
                </a:r>
                <a:r>
                  <a:rPr lang="en-IN" sz="2400">
                    <a:solidFill>
                      <a:srgbClr val="111827"/>
                    </a:solidFill>
                    <a:latin typeface="Cambria Math" panose="02040503050406030204" pitchFamily="18" charset="0"/>
                  </a:rPr>
                  <a:t>$\vec e_1,\vec e_2,\vec e_3$</a:t>
                </a:r>
                <a:r>
                  <a:rPr sz="2400" b="0">
                    <a:solidFill>
                      <a:srgbClr val="111827"/>
                    </a:solidFill>
                    <a:latin typeface="Arial"/>
                  </a:rPr>
                  <a:t> with Gram matrix </a:t>
                </a:r>
                <a:r>
                  <a:rPr lang="en-IN" sz="2400">
                    <a:solidFill>
                      <a:srgbClr val="111827"/>
                    </a:solidFill>
                    <a:latin typeface="Cambria Math" panose="02040503050406030204" pitchFamily="18" charset="0"/>
                  </a:rPr>
                  <a:t>$G$</a:t>
                </a:r>
                <a:r>
                  <a:rPr sz="2400" b="0">
                    <a:solidFill>
                      <a:srgbClr val="111827"/>
                    </a:solidFill>
                    <a:latin typeface="Arial"/>
                  </a:rPr>
                  <a:t>: </a:t>
                </a:r>
                <a:r>
                  <a:rPr lang="en-IN" sz="2400">
                    <a:solidFill>
                      <a:srgbClr val="111827"/>
                    </a:solidFill>
                    <a:latin typeface="Cambria Math" panose="02040503050406030204" pitchFamily="18" charset="0"/>
                  </a:rPr>
                  <a:t>$\vec e_2\times\vec e_3=V\vec e_1^*$</a:t>
                </a:r>
                <a:r>
                  <a:rPr sz="2400" b="0">
                    <a:solidFill>
                      <a:srgbClr val="111827"/>
                    </a:solidFill>
                    <a:latin typeface="Arial"/>
                  </a:rPr>
                  <a:t> (reciprocal basis), </a:t>
                </a:r>
                <a:r>
                  <a:rPr lang="en-IN" sz="2400">
                    <a:solidFill>
                      <a:srgbClr val="111827"/>
                    </a:solidFill>
                    <a:latin typeface="Cambria Math" panose="02040503050406030204" pitchFamily="18" charset="0"/>
                  </a:rPr>
                  <a:t>$V^2=\det G$</a:t>
                </a:r>
                <a:r>
                  <a:rPr sz="2400" b="0">
                    <a:solidFill>
                      <a:srgbClr val="111827"/>
                    </a:solidFill>
                    <a:latin typeface="Arial"/>
                  </a:rPr>
                  <a:t>, and </a:t>
                </a:r>
                <a:r>
                  <a:rPr lang="en-IN" sz="2400">
                    <a:solidFill>
                      <a:srgbClr val="111827"/>
                    </a:solidFill>
                    <a:latin typeface="Cambria Math" panose="02040503050406030204" pitchFamily="18" charset="0"/>
                  </a:rPr>
                  <a:t>$\vec e_i^*=\sum_j(G^{-1})_{ij}\vec e_j$</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Three equal vectors of length </a:t>
                </a:r>
                <a:r>
                  <a:rPr lang="en-IN" sz="2400">
                    <a:solidFill>
                      <a:srgbClr val="111827"/>
                    </a:solidFill>
                    <a:latin typeface="Cambria Math" panose="02040503050406030204" pitchFamily="18" charset="0"/>
                  </a:rPr>
                  <a:t>$a$</a:t>
                </a:r>
                <a:r>
                  <a:rPr sz="2400" b="0">
                    <a:solidFill>
                      <a:srgbClr val="111827"/>
                    </a:solidFill>
                    <a:latin typeface="Arial"/>
                  </a:rPr>
                  <a:t> with </a:t>
                </a:r>
                <a:r>
                  <a:rPr lang="en-IN" sz="2400">
                    <a:solidFill>
                      <a:srgbClr val="111827"/>
                    </a:solidFill>
                    <a:latin typeface="Cambria Math" panose="02040503050406030204" pitchFamily="18" charset="0"/>
                  </a:rPr>
                  <a:t>$60^\circ$</a:t>
                </a:r>
                <a:r>
                  <a:rPr sz="2400" b="0">
                    <a:solidFill>
                      <a:srgbClr val="111827"/>
                    </a:solidFill>
                    <a:latin typeface="Arial"/>
                  </a:rPr>
                  <a:t> between each pair: </a:t>
                </a:r>
                <a:r>
                  <a:rPr lang="en-IN" sz="2400">
                    <a:solidFill>
                      <a:srgbClr val="111827"/>
                    </a:solidFill>
                    <a:latin typeface="Cambria Math" panose="02040503050406030204" pitchFamily="18" charset="0"/>
                  </a:rPr>
                  <a:t>$V=\frac{a^3}{\sqrt2}$</a:t>
                </a:r>
                <a:r>
                  <a:rPr sz="2400" b="0">
                    <a:solidFill>
                      <a:srgbClr val="111827"/>
                    </a:solidFill>
                    <a:latin typeface="Arial"/>
                  </a:rPr>
                  <a:t> (here </a:t>
                </a:r>
                <a:r>
                  <a:rPr lang="en-IN" sz="2400">
                    <a:solidFill>
                      <a:srgbClr val="111827"/>
                    </a:solidFill>
                    <a:latin typeface="Cambria Math" panose="02040503050406030204" pitchFamily="18" charset="0"/>
                  </a:rPr>
                  <a:t>$a=\sqrt3$</a:t>
                </a:r>
                <a:r>
                  <a:rPr sz="2400" b="0">
                    <a:solidFill>
                      <a:srgbClr val="111827"/>
                    </a:solidFill>
                    <a:latin typeface="Arial"/>
                  </a:rPr>
                  <a:t> gives </a:t>
                </a:r>
                <a:r>
                  <a:rPr lang="en-IN" sz="2400">
                    <a:solidFill>
                      <a:srgbClr val="111827"/>
                    </a:solidFill>
                    <a:latin typeface="Cambria Math" panose="02040503050406030204" pitchFamily="18" charset="0"/>
                  </a:rPr>
                  <a:t>$\frac{3\sqrt3}{\sqrt2}$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integer points with </a:t>
                </a:r>
                <a:r>
                  <a:rPr lang="en-IN" sz="2400">
                    <a:solidFill>
                      <a:srgbClr val="111827"/>
                    </a:solidFill>
                    <a:latin typeface="Cambria Math" panose="02040503050406030204" pitchFamily="18" charset="0"/>
                  </a:rPr>
                  <a:t>$x^2+y^2+z^2\le12$</a:t>
                </a:r>
                <a:r>
                  <a:rPr sz="2400" b="0">
                    <a:solidFill>
                      <a:srgbClr val="111827"/>
                    </a:solidFill>
                    <a:latin typeface="Arial"/>
                  </a:rPr>
                  <a:t>: </a:t>
                </a:r>
                <a:r>
                  <a:rPr lang="en-IN" sz="2400">
                    <a:solidFill>
                      <a:srgbClr val="111827"/>
                    </a:solidFill>
                    <a:latin typeface="Cambria Math" panose="02040503050406030204" pitchFamily="18" charset="0"/>
                  </a:rPr>
                  <a:t>$179$</a:t>
                </a:r>
                <a:r>
                  <a:rPr sz="2400" b="0">
                    <a:solidFill>
                      <a:srgbClr val="111827"/>
                    </a:solidFill>
                    <a:latin typeface="Arial"/>
                  </a:rPr>
                  <a:t>; with </a:t>
                </a:r>
                <a:r>
                  <a:rPr lang="en-IN" sz="2400">
                    <a:solidFill>
                      <a:srgbClr val="111827"/>
                    </a:solidFill>
                    <a:latin typeface="Cambria Math" panose="02040503050406030204" pitchFamily="18" charset="0"/>
                  </a:rPr>
                  <a:t>$\le3$</a:t>
                </a:r>
                <a:r>
                  <a:rPr sz="2400" b="0">
                    <a:solidFill>
                      <a:srgbClr val="111827"/>
                    </a:solidFill>
                    <a:latin typeface="Arial"/>
                  </a:rPr>
                  <a:t>: </a:t>
                </a:r>
                <a:r>
                  <a:rPr lang="en-IN" sz="2400">
                    <a:solidFill>
                      <a:srgbClr val="111827"/>
                    </a:solidFill>
                    <a:latin typeface="Cambria Math" panose="02040503050406030204" pitchFamily="18" charset="0"/>
                  </a:rPr>
                  <a:t>$27$</a:t>
                </a:r>
                <a:r>
                  <a:rPr sz="2400" b="0">
                    <a:solidFill>
                      <a:srgbClr val="111827"/>
                    </a:solidFill>
                    <a:latin typeface="Arial"/>
                  </a:rPr>
                  <a:t>; (a good check of a counted answer is to enumerate by </a:t>
                </a:r>
                <a:r>
                  <a:rPr lang="en-IN" sz="2400">
                    <a:solidFill>
                      <a:srgbClr val="111827"/>
                    </a:solidFill>
                    <a:latin typeface="Cambria Math" panose="02040503050406030204" pitchFamily="18" charset="0"/>
                  </a:rPr>
                  <a:t>$x$</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be three distinct non-zero vectors such that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then which of the following is/are correct: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oMath>
                </a14:m>
                <a:endParaRPr sz="2400">
                  <a:solidFill>
                    <a:srgbClr val="111827"/>
                  </a:solidFill>
                </a:endParaRPr>
              </a:p>
            </p:txBody>
          </p:sp>
        </mc:Choice>
        <mc:Fallback>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 a,\vec b$</a:t>
                </a:r>
                <a:r>
                  <a:rPr sz="2400" b="0">
                    <a:solidFill>
                      <a:srgbClr val="111827"/>
                    </a:solidFill>
                    <a:latin typeface="Arial"/>
                  </a:rPr>
                  <a:t> and </a:t>
                </a:r>
                <a:r>
                  <a:rPr lang="en-IN" sz="2400">
                    <a:solidFill>
                      <a:srgbClr val="111827"/>
                    </a:solidFill>
                    <a:latin typeface="Cambria Math" panose="02040503050406030204" pitchFamily="18" charset="0"/>
                  </a:rPr>
                  <a:t>$\vec c$</a:t>
                </a:r>
                <a:r>
                  <a:rPr sz="2400" b="0">
                    <a:solidFill>
                      <a:srgbClr val="111827"/>
                    </a:solidFill>
                    <a:latin typeface="Arial"/>
                  </a:rPr>
                  <a:t> be three distinct non-zero vectors such that </a:t>
                </a:r>
                <a:r>
                  <a:rPr lang="en-IN" sz="2400">
                    <a:solidFill>
                      <a:srgbClr val="111827"/>
                    </a:solidFill>
                    <a:latin typeface="Cambria Math" panose="02040503050406030204" pitchFamily="18" charset="0"/>
                  </a:rPr>
                  <a:t>$\vec a\times\vec b=-\vec b\times\vec c$</a:t>
                </a:r>
                <a:r>
                  <a:rPr sz="2400" b="0">
                    <a:solidFill>
                      <a:srgbClr val="111827"/>
                    </a:solidFill>
                    <a:latin typeface="Arial"/>
                  </a:rPr>
                  <a:t> then which of the following is/are correct: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$|(\vec a+\vec c)\cdot\vec b|=|\vec a+\vec c||\vec b|$</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$\vec a\cdot(\vec b\times\vec c)=0$</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$(\vec a+\vec b)\cdot[(\vec b+\vec c)\times(\vec c+\vec a)]=2[\vec a\ \vec b\ \vec c]$</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$\vec a=\lambda\vec b+\mu\vec c\ (\lambda,\mu\in R)$</a:t>
                </a:r>
                <a:endParaRPr sz="2400">
                  <a:solidFill>
                    <a:srgbClr val="111827"/>
                  </a:solidFill>
                </a:endParaRPr>
              </a:p>
            </p:txBody>
          </p:sp>
        </mc:Fallback>
      </mc:AlternateContent>
      <p:sp>
        <p:nvSpPr>
          <p:cNvPr id="5" name="Rectangle 4"/>
          <p:cNvSpPr/>
          <p:nvPr/>
        </p:nvSpPr>
        <p:spPr>
          <a:xfrm>
            <a:off x="731520" y="4886452"/>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Cross product relation implying coplanarity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0</m:t>
                        </m:r>
                      </m:e>
                    </m:acc>
                  </m:oMath>
                </a14:m>
                <a:r>
                  <a:rPr sz="2400" b="0">
                    <a:solidFill>
                      <a:srgbClr val="78350F"/>
                    </a:solidFill>
                    <a:latin typeface="Arial"/>
                  </a:rPr>
                  <a:t> means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0</m:t>
                        </m:r>
                      </m:e>
                    </m:acc>
                  </m:oMath>
                </a14:m>
                <a:r>
                  <a:rPr sz="2400" b="0">
                    <a:solidFill>
                      <a:srgbClr val="78350F"/>
                    </a:solidFill>
                    <a:latin typeface="Arial"/>
                  </a:rPr>
                  <a:t>, so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λ</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$\vec a\times\vec b+\vec b\times\vec c=\vec 0$</a:t>
                </a:r>
                <a:r>
                  <a:rPr sz="2400" b="0">
                    <a:solidFill>
                      <a:srgbClr val="78350F"/>
                    </a:solidFill>
                    <a:latin typeface="Arial"/>
                  </a:rPr>
                  <a:t> means </a:t>
                </a:r>
                <a:r>
                  <a:rPr lang="en-IN" sz="2400">
                    <a:solidFill>
                      <a:srgbClr val="78350F"/>
                    </a:solidFill>
                    <a:latin typeface="Cambria Math" panose="02040503050406030204" pitchFamily="18" charset="0"/>
                  </a:rPr>
                  <a:t>$(\vec a-\vec c)\times\vec b=\vec 0$</a:t>
                </a:r>
                <a:r>
                  <a:rPr sz="2400" b="0">
                    <a:solidFill>
                      <a:srgbClr val="78350F"/>
                    </a:solidFill>
                    <a:latin typeface="Arial"/>
                  </a:rPr>
                  <a:t>, so </a:t>
                </a:r>
                <a:r>
                  <a:rPr lang="en-IN" sz="2400">
                    <a:solidFill>
                      <a:srgbClr val="78350F"/>
                    </a:solidFill>
                    <a:latin typeface="Cambria Math" panose="02040503050406030204" pitchFamily="18" charset="0"/>
                  </a:rPr>
                  <a:t>$\vec a=\vec c+\lambda\vec 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are coplanar. (D) is true (with </a:t>
                </a:r>
                <a14:m>
                  <m:oMath xmlns:m="http://schemas.openxmlformats.org/officeDocument/2006/math">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b=-\vec b\times\vec c\Rightarrow\vec a\times\vec b+\vec b\times\vec c=\vec 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$\Rightarrow(\vec a-\vec c)\times\vec b=\vec 0\Rightarrow\vec a-\vec c=\lambda\vec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$\Rightarrow\vec a=\lambda\vec b+\vec c$</a:t>
                </a:r>
                <a:r>
                  <a:rPr sz="2400" b="0">
                    <a:solidFill>
                      <a:srgbClr val="111827"/>
                    </a:solidFill>
                    <a:latin typeface="Arial"/>
                  </a:rPr>
                  <a:t>, so </a:t>
                </a:r>
                <a:r>
                  <a:rPr lang="en-IN" sz="2400">
                    <a:solidFill>
                      <a:srgbClr val="111827"/>
                    </a:solidFill>
                    <a:latin typeface="Cambria Math" panose="02040503050406030204" pitchFamily="18" charset="0"/>
                  </a:rPr>
                  <a:t>$\vec a,\vec b,\vec c$</a:t>
                </a:r>
                <a:r>
                  <a:rPr sz="2400" b="0">
                    <a:solidFill>
                      <a:srgbClr val="111827"/>
                    </a:solidFill>
                    <a:latin typeface="Arial"/>
                  </a:rPr>
                  <a:t> are coplanar. (D) is true (with </a:t>
                </a:r>
                <a:r>
                  <a:rPr lang="en-IN" sz="2400">
                    <a:solidFill>
                      <a:srgbClr val="111827"/>
                    </a:solidFill>
                    <a:latin typeface="Cambria Math" panose="02040503050406030204" pitchFamily="18" charset="0"/>
                  </a:rPr>
                  <a:t>$\mu=1$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Coplanar vectors have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(B) is true.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holds: (C)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would need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to be parallel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which fails unless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(e.g.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LHS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RHS </a:t>
                </a:r>
                <a14:m>
                  <m:oMath xmlns:m="http://schemas.openxmlformats.org/officeDocument/2006/math">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8</m:t>
                        </m:r>
                      </m:e>
                    </m:rad>
                  </m:oMath>
                </a14:m>
                <a:r>
                  <a:rPr sz="2400" b="0">
                    <a:solidFill>
                      <a:srgbClr val="111827"/>
                    </a:solidFill>
                    <a:latin typeface="Arial"/>
                  </a:rPr>
                  <a:t>). So (A) is false. Answer: B, C,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Coplanar vectors have </a:t>
                </a:r>
                <a:r>
                  <a:rPr lang="en-IN" sz="2400">
                    <a:solidFill>
                      <a:srgbClr val="111827"/>
                    </a:solidFill>
                    <a:latin typeface="Cambria Math" panose="02040503050406030204" pitchFamily="18" charset="0"/>
                  </a:rPr>
                  <a:t>$\vec a\cdot(\vec b\times\vec c)=0$</a:t>
                </a:r>
                <a:r>
                  <a:rPr sz="2400" b="0">
                    <a:solidFill>
                      <a:srgbClr val="111827"/>
                    </a:solidFill>
                    <a:latin typeface="Arial"/>
                  </a:rPr>
                  <a:t>: (B) is true.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 \ \vec b+\vec c\ \ \vec c+\vec a]=2[\vec a\ \vec b\ \vec c]=0$</a:t>
                </a:r>
                <a:r>
                  <a:rPr sz="2400" b="0">
                    <a:solidFill>
                      <a:srgbClr val="111827"/>
                    </a:solidFill>
                    <a:latin typeface="Arial"/>
                  </a:rPr>
                  <a:t>, i.e. </a:t>
                </a:r>
                <a:r>
                  <a:rPr lang="en-IN" sz="2400">
                    <a:solidFill>
                      <a:srgbClr val="111827"/>
                    </a:solidFill>
                    <a:latin typeface="Cambria Math" panose="02040503050406030204" pitchFamily="18" charset="0"/>
                  </a:rPr>
                  <a:t>$(\vec a+\vec b)\cdot[(\vec b+\vec c)\times(\vec c+\vec a)]=2[\vec a\ \vec b\ \vec c]$</a:t>
                </a:r>
                <a:r>
                  <a:rPr sz="2400" b="0">
                    <a:solidFill>
                      <a:srgbClr val="111827"/>
                    </a:solidFill>
                    <a:latin typeface="Arial"/>
                  </a:rPr>
                  <a:t> holds: (C)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$|(\vec a+\vec c)\cdot\vec b|=|\vec a+\vec c||\vec b|$</a:t>
                </a:r>
                <a:r>
                  <a:rPr sz="2400" b="0">
                    <a:solidFill>
                      <a:srgbClr val="111827"/>
                    </a:solidFill>
                    <a:latin typeface="Arial"/>
                  </a:rPr>
                  <a:t> would need </a:t>
                </a:r>
                <a:r>
                  <a:rPr lang="en-IN" sz="2400">
                    <a:solidFill>
                      <a:srgbClr val="111827"/>
                    </a:solidFill>
                    <a:latin typeface="Cambria Math" panose="02040503050406030204" pitchFamily="18" charset="0"/>
                  </a:rPr>
                  <a:t>$\vec a+\vec c=\lambda\vec b+2\vec c$</a:t>
                </a:r>
                <a:r>
                  <a:rPr sz="2400" b="0">
                    <a:solidFill>
                      <a:srgbClr val="111827"/>
                    </a:solidFill>
                    <a:latin typeface="Arial"/>
                  </a:rPr>
                  <a:t> to be parallel to </a:t>
                </a:r>
                <a:r>
                  <a:rPr lang="en-IN" sz="2400">
                    <a:solidFill>
                      <a:srgbClr val="111827"/>
                    </a:solidFill>
                    <a:latin typeface="Cambria Math" panose="02040503050406030204" pitchFamily="18" charset="0"/>
                  </a:rPr>
                  <a:t>$\vec b$</a:t>
                </a:r>
                <a:r>
                  <a:rPr sz="2400" b="0">
                    <a:solidFill>
                      <a:srgbClr val="111827"/>
                    </a:solidFill>
                    <a:latin typeface="Arial"/>
                  </a:rPr>
                  <a:t>, which fails unless </a:t>
                </a:r>
                <a:r>
                  <a:rPr lang="en-IN" sz="2400">
                    <a:solidFill>
                      <a:srgbClr val="111827"/>
                    </a:solidFill>
                    <a:latin typeface="Cambria Math" panose="02040503050406030204" pitchFamily="18" charset="0"/>
                  </a:rPr>
                  <a:t>$\vec c\parallel\vec b$</a:t>
                </a:r>
                <a:r>
                  <a:rPr sz="2400" b="0">
                    <a:solidFill>
                      <a:srgbClr val="111827"/>
                    </a:solidFill>
                    <a:latin typeface="Arial"/>
                  </a:rPr>
                  <a:t> (e.g. </a:t>
                </a:r>
                <a:r>
                  <a:rPr lang="en-IN" sz="2400">
                    <a:solidFill>
                      <a:srgbClr val="111827"/>
                    </a:solidFill>
                    <a:latin typeface="Cambria Math" panose="02040503050406030204" pitchFamily="18" charset="0"/>
                  </a:rPr>
                  <a:t>$\vec b=\hat i,\ \vec c=\hat j,\ \vec a=2\hat i+\hat j$</a:t>
                </a:r>
                <a:r>
                  <a:rPr sz="2400" b="0">
                    <a:solidFill>
                      <a:srgbClr val="111827"/>
                    </a:solidFill>
                    <a:latin typeface="Arial"/>
                  </a:rPr>
                  <a:t>: LHS </a:t>
                </a:r>
                <a:r>
                  <a:rPr lang="en-IN" sz="2400">
                    <a:solidFill>
                      <a:srgbClr val="111827"/>
                    </a:solidFill>
                    <a:latin typeface="Cambria Math" panose="02040503050406030204" pitchFamily="18" charset="0"/>
                  </a:rPr>
                  <a:t>$=2$</a:t>
                </a:r>
                <a:r>
                  <a:rPr sz="2400" b="0">
                    <a:solidFill>
                      <a:srgbClr val="111827"/>
                    </a:solidFill>
                    <a:latin typeface="Arial"/>
                  </a:rPr>
                  <a:t>, RHS </a:t>
                </a:r>
                <a:r>
                  <a:rPr lang="en-IN" sz="2400">
                    <a:solidFill>
                      <a:srgbClr val="111827"/>
                    </a:solidFill>
                    <a:latin typeface="Cambria Math" panose="02040503050406030204" pitchFamily="18" charset="0"/>
                  </a:rPr>
                  <a:t>$=\sqrt8$</a:t>
                </a:r>
                <a:r>
                  <a:rPr sz="2400" b="0">
                    <a:solidFill>
                      <a:srgbClr val="111827"/>
                    </a:solidFill>
                    <a:latin typeface="Arial"/>
                  </a:rPr>
                  <a:t>). So (A) is false. Answer: B, C,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 D)</a:t>
            </a:r>
            <a:endParaRPr sz="2800">
              <a:solidFill>
                <a:srgbClr val="15803D"/>
              </a:solidFill>
            </a:endParaRP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Confirm with one explicit triple and read off the truth of each statement.</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the given condition holds.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$\vec b=\hat i$</a:t>
                </a:r>
                <a:r>
                  <a:rPr sz="2400" b="0">
                    <a:solidFill>
                      <a:srgbClr val="111827"/>
                    </a:solidFill>
                    <a:latin typeface="Arial"/>
                  </a:rPr>
                  <a:t>, </a:t>
                </a:r>
                <a:r>
                  <a:rPr lang="en-IN" sz="2400">
                    <a:solidFill>
                      <a:srgbClr val="111827"/>
                    </a:solidFill>
                    <a:latin typeface="Cambria Math" panose="02040503050406030204" pitchFamily="18" charset="0"/>
                  </a:rPr>
                  <a:t>$\vec c=\hat j$</a:t>
                </a:r>
                <a:r>
                  <a:rPr sz="2400" b="0">
                    <a:solidFill>
                      <a:srgbClr val="111827"/>
                    </a:solidFill>
                    <a:latin typeface="Arial"/>
                  </a:rPr>
                  <a:t> and </a:t>
                </a:r>
                <a:r>
                  <a:rPr lang="en-IN" sz="2400">
                    <a:solidFill>
                      <a:srgbClr val="111827"/>
                    </a:solidFill>
                    <a:latin typeface="Cambria Math" panose="02040503050406030204" pitchFamily="18" charset="0"/>
                  </a:rPr>
                  <a:t>$\vec a=2\hat i+\hat j=2\vec b+\vec c$</a:t>
                </a:r>
                <a:r>
                  <a:rPr sz="2400" b="0">
                    <a:solidFill>
                      <a:srgbClr val="111827"/>
                    </a:solidFill>
                    <a:latin typeface="Arial"/>
                  </a:rPr>
                  <a:t> (so </a:t>
                </a:r>
                <a:r>
                  <a:rPr lang="en-IN" sz="2400">
                    <a:solidFill>
                      <a:srgbClr val="111827"/>
                    </a:solidFill>
                    <a:latin typeface="Cambria Math" panose="02040503050406030204" pitchFamily="18" charset="0"/>
                  </a:rPr>
                  <a:t>$\lambda=2$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b=(2\hat i+\hat j)\times\hat i=-\hat k$</a:t>
                </a:r>
                <a:r>
                  <a:rPr sz="2400" b="0">
                    <a:solidFill>
                      <a:srgbClr val="111827"/>
                    </a:solidFill>
                    <a:latin typeface="Arial"/>
                  </a:rPr>
                  <a:t> and </a:t>
                </a:r>
                <a:r>
                  <a:rPr lang="en-IN" sz="2400">
                    <a:solidFill>
                      <a:srgbClr val="111827"/>
                    </a:solidFill>
                    <a:latin typeface="Cambria Math" panose="02040503050406030204" pitchFamily="18" charset="0"/>
                  </a:rPr>
                  <a:t>$-\vec b\times\vec c=-\hat i\times\hat j=-\hat k$</a:t>
                </a:r>
                <a:r>
                  <a:rPr sz="2400" b="0">
                    <a:solidFill>
                      <a:srgbClr val="111827"/>
                    </a:solidFill>
                    <a:latin typeface="Arial"/>
                  </a:rPr>
                  <a:t>: the given condition holds.</a:t>
                </a:r>
                <a:endParaRPr sz="2400">
                  <a:solidFill>
                    <a:srgbClr val="111827"/>
                  </a:solidFill>
                </a:endParaRPr>
              </a:p>
            </p:txBody>
          </p:sp>
        </mc:Fallback>
      </mc:AlternateContent>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all lie in the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-plane: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(B) and the triple product in (C) is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(C);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(D).</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but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(A) fails.</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b,\vec c$</a:t>
                </a:r>
                <a:r>
                  <a:rPr sz="2400" b="0">
                    <a:solidFill>
                      <a:srgbClr val="111827"/>
                    </a:solidFill>
                    <a:latin typeface="Arial"/>
                  </a:rPr>
                  <a:t> all lie in the </a:t>
                </a:r>
                <a:r>
                  <a:rPr lang="en-IN" sz="2400">
                    <a:solidFill>
                      <a:srgbClr val="111827"/>
                    </a:solidFill>
                    <a:latin typeface="Cambria Math" panose="02040503050406030204" pitchFamily="18" charset="0"/>
                  </a:rPr>
                  <a:t>$xy$</a:t>
                </a:r>
                <a:r>
                  <a:rPr sz="2400" b="0">
                    <a:solidFill>
                      <a:srgbClr val="111827"/>
                    </a:solidFill>
                    <a:latin typeface="Arial"/>
                  </a:rPr>
                  <a:t>-plane: </a:t>
                </a:r>
                <a:r>
                  <a:rPr lang="en-IN" sz="2400">
                    <a:solidFill>
                      <a:srgbClr val="111827"/>
                    </a:solidFill>
                    <a:latin typeface="Cambria Math" panose="02040503050406030204" pitchFamily="18" charset="0"/>
                  </a:rPr>
                  <a:t>$[\vec a\ \vec b\ \vec c]=0$</a:t>
                </a:r>
                <a:r>
                  <a:rPr sz="2400" b="0">
                    <a:solidFill>
                      <a:srgbClr val="111827"/>
                    </a:solidFill>
                    <a:latin typeface="Arial"/>
                  </a:rPr>
                  <a:t> (B) and the triple product in (C) is </a:t>
                </a:r>
                <a:r>
                  <a:rPr lang="en-IN" sz="2400">
                    <a:solidFill>
                      <a:srgbClr val="111827"/>
                    </a:solidFill>
                    <a:latin typeface="Cambria Math" panose="02040503050406030204" pitchFamily="18" charset="0"/>
                  </a:rPr>
                  <a:t>$0=2\cdot0$</a:t>
                </a:r>
                <a:r>
                  <a:rPr sz="2400" b="0">
                    <a:solidFill>
                      <a:srgbClr val="111827"/>
                    </a:solidFill>
                    <a:latin typeface="Arial"/>
                  </a:rPr>
                  <a:t> (C); </a:t>
                </a:r>
                <a:r>
                  <a:rPr lang="en-IN" sz="2400">
                    <a:solidFill>
                      <a:srgbClr val="111827"/>
                    </a:solidFill>
                    <a:latin typeface="Cambria Math" panose="02040503050406030204" pitchFamily="18" charset="0"/>
                  </a:rPr>
                  <a:t>$\vec a=2\vec b+1\vec c$</a:t>
                </a:r>
                <a:r>
                  <a:rPr sz="2400" b="0">
                    <a:solidFill>
                      <a:srgbClr val="111827"/>
                    </a:solidFill>
                    <a:latin typeface="Arial"/>
                  </a:rPr>
                  <a:t> (D).</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c)\cdot\vec b=(2\hat i+2\hat j)\cdot\hat i=2$</a:t>
                </a:r>
                <a:r>
                  <a:rPr sz="2400" b="0">
                    <a:solidFill>
                      <a:srgbClr val="111827"/>
                    </a:solidFill>
                    <a:latin typeface="Arial"/>
                  </a:rPr>
                  <a:t> but </a:t>
                </a:r>
                <a:r>
                  <a:rPr lang="en-IN" sz="2400">
                    <a:solidFill>
                      <a:srgbClr val="111827"/>
                    </a:solidFill>
                    <a:latin typeface="Cambria Math" panose="02040503050406030204" pitchFamily="18" charset="0"/>
                  </a:rPr>
                  <a:t>$|\vec a+\vec c||\vec b|=2\sqrt2$</a:t>
                </a:r>
                <a:r>
                  <a:rPr sz="2400" b="0">
                    <a:solidFill>
                      <a:srgbClr val="111827"/>
                    </a:solidFill>
                    <a:latin typeface="Arial"/>
                  </a:rPr>
                  <a:t>: (A) fails.</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 D)</a:t>
            </a:r>
            <a:endParaRPr sz="2800">
              <a:solidFill>
                <a:srgbClr val="15803D"/>
              </a:solidFill>
            </a:endParaRP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here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is the shorter relation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meaning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always, so (C) is an identity.</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holds iff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b+\vec b\times\vec c+\vec c\times\vec a=(\vec a-\vec c)\times(\vec b-\vec c)$</a:t>
                </a:r>
                <a:r>
                  <a:rPr sz="2400" b="0">
                    <a:solidFill>
                      <a:srgbClr val="111827"/>
                    </a:solidFill>
                    <a:latin typeface="Arial"/>
                  </a:rPr>
                  <a:t>; here </a:t>
                </a:r>
                <a:r>
                  <a:rPr lang="en-IN" sz="2400">
                    <a:solidFill>
                      <a:srgbClr val="111827"/>
                    </a:solidFill>
                    <a:latin typeface="Cambria Math" panose="02040503050406030204" pitchFamily="18" charset="0"/>
                  </a:rPr>
                  <a:t>$\vec a\times\vec b+\vec b\times\vec c=\vec 0$</a:t>
                </a:r>
                <a:r>
                  <a:rPr sz="2400" b="0">
                    <a:solidFill>
                      <a:srgbClr val="111827"/>
                    </a:solidFill>
                    <a:latin typeface="Arial"/>
                  </a:rPr>
                  <a:t> is the shorter relation </a:t>
                </a:r>
                <a:r>
                  <a:rPr lang="en-IN" sz="2400">
                    <a:solidFill>
                      <a:srgbClr val="111827"/>
                    </a:solidFill>
                    <a:latin typeface="Cambria Math" panose="02040503050406030204" pitchFamily="18" charset="0"/>
                  </a:rPr>
                  <a:t>$(\vec a-\vec c)\times\vec b=\vec 0$</a:t>
                </a:r>
                <a:r>
                  <a:rPr sz="2400" b="0">
                    <a:solidFill>
                      <a:srgbClr val="111827"/>
                    </a:solidFill>
                    <a:latin typeface="Arial"/>
                  </a:rPr>
                  <a:t>, meaning </a:t>
                </a:r>
                <a:r>
                  <a:rPr lang="en-IN" sz="2400">
                    <a:solidFill>
                      <a:srgbClr val="111827"/>
                    </a:solidFill>
                    <a:latin typeface="Cambria Math" panose="02040503050406030204" pitchFamily="18" charset="0"/>
                  </a:rPr>
                  <a:t>$\vec a-\vec c\parallel\vec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a+\vec b\ \ \vec b+\vec c\ \ \vec c+\vec a]=2[\vec a\ \vec b\ \vec c]$</a:t>
                </a:r>
                <a:r>
                  <a:rPr sz="2400" b="0">
                    <a:solidFill>
                      <a:srgbClr val="111827"/>
                    </a:solidFill>
                    <a:latin typeface="Arial"/>
                  </a:rPr>
                  <a:t> always, so (C) is an identity.</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u\cdot\vec v|=|\vec u||\vec v|$</a:t>
                </a:r>
                <a:r>
                  <a:rPr sz="2400" b="0">
                    <a:solidFill>
                      <a:srgbClr val="111827"/>
                    </a:solidFill>
                    <a:latin typeface="Arial"/>
                  </a:rPr>
                  <a:t> holds iff </a:t>
                </a:r>
                <a:r>
                  <a:rPr lang="en-IN" sz="2400">
                    <a:solidFill>
                      <a:srgbClr val="111827"/>
                    </a:solidFill>
                    <a:latin typeface="Cambria Math" panose="02040503050406030204" pitchFamily="18" charset="0"/>
                  </a:rPr>
                  <a:t>$\vec u\parallel\vec v$</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20268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From point </a:t>
                </a:r>
                <a14:m>
                  <m:oMath xmlns:m="http://schemas.openxmlformats.org/officeDocument/2006/math">
                    <m:r>
                      <a:rPr lang="en-IN" sz="2000" i="1">
                        <a:solidFill>
                          <a:srgbClr val="111827"/>
                        </a:solidFill>
                        <a:latin typeface="Cambria Math" panose="02040503050406030204" pitchFamily="18" charset="0"/>
                      </a:rPr>
                      <m:t>𝐴</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the perpendicular is drawn to a plane </a:t>
                </a:r>
                <a14:m>
                  <m:oMath xmlns:m="http://schemas.openxmlformats.org/officeDocument/2006/math">
                    <m:sSub>
                      <m:e>
                        <m:r>
                          <a:rPr lang="en-IN" sz="2000" i="1">
                            <a:solidFill>
                              <a:srgbClr val="111827"/>
                            </a:solidFill>
                            <a:latin typeface="Cambria Math" panose="02040503050406030204" pitchFamily="18" charset="0"/>
                          </a:rPr>
                          <m:t>𝑃</m:t>
                        </m:r>
                      </m:e>
                      <m:sub>
                        <m:r>
                          <a:rPr lang="en-IN" sz="2000" i="1">
                            <a:solidFill>
                              <a:srgbClr val="111827"/>
                            </a:solidFill>
                            <a:latin typeface="Cambria Math" panose="02040503050406030204" pitchFamily="18" charset="0"/>
                          </a:rPr>
                          <m:t>1</m:t>
                        </m:r>
                      </m:sub>
                    </m:sSub>
                  </m:oMath>
                </a14:m>
                <a:r>
                  <a:rPr sz="2000" b="0">
                    <a:solidFill>
                      <a:srgbClr val="111827"/>
                    </a:solidFill>
                    <a:latin typeface="Arial"/>
                  </a:rPr>
                  <a:t> whose foot is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From point </a:t>
                </a:r>
                <a14:m>
                  <m:oMath xmlns:m="http://schemas.openxmlformats.org/officeDocument/2006/math">
                    <m:r>
                      <a:rPr lang="en-IN" sz="2000" i="1">
                        <a:solidFill>
                          <a:srgbClr val="111827"/>
                        </a:solidFill>
                        <a:latin typeface="Cambria Math" panose="02040503050406030204" pitchFamily="18" charset="0"/>
                      </a:rPr>
                      <m:t>𝐵</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3</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the perpendicular is drawn to a plane </a:t>
                </a:r>
                <a14:m>
                  <m:oMath xmlns:m="http://schemas.openxmlformats.org/officeDocument/2006/math">
                    <m:sSub>
                      <m:e>
                        <m:r>
                          <a:rPr lang="en-IN" sz="2000" i="1">
                            <a:solidFill>
                              <a:srgbClr val="111827"/>
                            </a:solidFill>
                            <a:latin typeface="Cambria Math" panose="02040503050406030204" pitchFamily="18" charset="0"/>
                          </a:rPr>
                          <m:t>𝑃</m:t>
                        </m:r>
                      </m:e>
                      <m:sub>
                        <m:r>
                          <a:rPr lang="en-IN" sz="2000" i="1">
                            <a:solidFill>
                              <a:srgbClr val="111827"/>
                            </a:solidFill>
                            <a:latin typeface="Cambria Math" panose="02040503050406030204" pitchFamily="18" charset="0"/>
                          </a:rPr>
                          <m:t>2</m:t>
                        </m:r>
                      </m:sub>
                    </m:sSub>
                  </m:oMath>
                </a14:m>
                <a:r>
                  <a:rPr sz="2000" b="0">
                    <a:solidFill>
                      <a:srgbClr val="111827"/>
                    </a:solidFill>
                    <a:latin typeface="Arial"/>
                  </a:rPr>
                  <a:t> whose foot is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a:t>
                </a:r>
                <a14:m>
                  <m:oMath xmlns:m="http://schemas.openxmlformats.org/officeDocument/2006/math">
                    <m:sSub>
                      <m:e>
                        <m:r>
                          <a:rPr lang="en-IN" sz="2000" i="1">
                            <a:solidFill>
                              <a:srgbClr val="111827"/>
                            </a:solidFill>
                            <a:latin typeface="Cambria Math" panose="02040503050406030204" pitchFamily="18" charset="0"/>
                          </a:rPr>
                          <m:t>𝑃</m:t>
                        </m:r>
                      </m:e>
                      <m:sub>
                        <m:r>
                          <a:rPr lang="en-IN" sz="2000" i="1">
                            <a:solidFill>
                              <a:srgbClr val="111827"/>
                            </a:solidFill>
                            <a:latin typeface="Cambria Math" panose="02040503050406030204" pitchFamily="18" charset="0"/>
                          </a:rPr>
                          <m:t>3</m:t>
                        </m:r>
                      </m:sub>
                    </m:sSub>
                  </m:oMath>
                </a14:m>
                <a:r>
                  <a:rPr sz="2000" b="0">
                    <a:solidFill>
                      <a:srgbClr val="111827"/>
                    </a:solidFill>
                    <a:latin typeface="Arial"/>
                  </a:rPr>
                  <a:t> is a plane containing the line of intersection of </a:t>
                </a:r>
                <a14:m>
                  <m:oMath xmlns:m="http://schemas.openxmlformats.org/officeDocument/2006/math">
                    <m:sSub>
                      <m:e>
                        <m:r>
                          <a:rPr lang="en-IN" sz="2000" i="1">
                            <a:solidFill>
                              <a:srgbClr val="111827"/>
                            </a:solidFill>
                            <a:latin typeface="Cambria Math" panose="02040503050406030204" pitchFamily="18" charset="0"/>
                          </a:rPr>
                          <m:t>𝑃</m:t>
                        </m:r>
                      </m:e>
                      <m:sub>
                        <m:r>
                          <a:rPr lang="en-IN" sz="2000" i="1">
                            <a:solidFill>
                              <a:srgbClr val="111827"/>
                            </a:solidFill>
                            <a:latin typeface="Cambria Math" panose="02040503050406030204" pitchFamily="18" charset="0"/>
                          </a:rPr>
                          <m:t>1</m:t>
                        </m:r>
                      </m:sub>
                    </m:sSub>
                  </m:oMath>
                </a14:m>
                <a:r>
                  <a:rPr sz="2000" b="0">
                    <a:solidFill>
                      <a:srgbClr val="111827"/>
                    </a:solidFill>
                    <a:latin typeface="Arial"/>
                  </a:rPr>
                  <a:t> and </a:t>
                </a:r>
                <a14:m>
                  <m:oMath xmlns:m="http://schemas.openxmlformats.org/officeDocument/2006/math">
                    <m:sSub>
                      <m:e>
                        <m:r>
                          <a:rPr lang="en-IN" sz="2000" i="1">
                            <a:solidFill>
                              <a:srgbClr val="111827"/>
                            </a:solidFill>
                            <a:latin typeface="Cambria Math" panose="02040503050406030204" pitchFamily="18" charset="0"/>
                          </a:rPr>
                          <m:t>𝑃</m:t>
                        </m:r>
                      </m:e>
                      <m:sub>
                        <m:r>
                          <a:rPr lang="en-IN" sz="2000" i="1">
                            <a:solidFill>
                              <a:srgbClr val="111827"/>
                            </a:solidFill>
                            <a:latin typeface="Cambria Math" panose="02040503050406030204" pitchFamily="18" charset="0"/>
                          </a:rPr>
                          <m:t>2</m:t>
                        </m:r>
                      </m:sub>
                    </m:sSub>
                  </m:oMath>
                </a14:m>
                <a:r>
                  <a:rPr sz="2000" b="0">
                    <a:solidFill>
                      <a:srgbClr val="111827"/>
                    </a:solidFill>
                    <a:latin typeface="Arial"/>
                  </a:rPr>
                  <a:t> and passing through the mid point of the line joining </a:t>
                </a:r>
                <a14:m>
                  <m:oMath xmlns:m="http://schemas.openxmlformats.org/officeDocument/2006/math">
                    <m:r>
                      <a:rPr lang="en-IN" sz="2000" i="1">
                        <a:solidFill>
                          <a:srgbClr val="111827"/>
                        </a:solidFill>
                        <a:latin typeface="Cambria Math" panose="02040503050406030204" pitchFamily="18" charset="0"/>
                      </a:rPr>
                      <m:t>𝐴</m:t>
                    </m:r>
                  </m:oMath>
                </a14:m>
                <a:r>
                  <a:rPr sz="2000" b="0">
                    <a:solidFill>
                      <a:srgbClr val="111827"/>
                    </a:solidFill>
                    <a:latin typeface="Arial"/>
                  </a:rPr>
                  <a:t> and </a:t>
                </a:r>
                <a14:m>
                  <m:oMath xmlns:m="http://schemas.openxmlformats.org/officeDocument/2006/math">
                    <m:r>
                      <a:rPr lang="en-IN" sz="2000" i="1">
                        <a:solidFill>
                          <a:srgbClr val="111827"/>
                        </a:solidFill>
                        <a:latin typeface="Cambria Math" panose="02040503050406030204" pitchFamily="18" charset="0"/>
                      </a:rPr>
                      <m:t>𝐵</m:t>
                    </m:r>
                  </m:oMath>
                </a14:m>
                <a:r>
                  <a:rPr sz="2000" b="0">
                    <a:solidFill>
                      <a:srgbClr val="111827"/>
                    </a:solidFill>
                    <a:latin typeface="Arial"/>
                  </a:rPr>
                  <a:t>. Then which of the following statement (s) is/are correct: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Direction ratios of line of intersection of </a:t>
                </a:r>
                <a14:m>
                  <m:oMath xmlns:m="http://schemas.openxmlformats.org/officeDocument/2006/math">
                    <m:sSub>
                      <m:e>
                        <m:r>
                          <a:rPr lang="en-IN" sz="2000" i="1">
                            <a:solidFill>
                              <a:srgbClr val="111827"/>
                            </a:solidFill>
                            <a:latin typeface="Cambria Math" panose="02040503050406030204" pitchFamily="18" charset="0"/>
                          </a:rPr>
                          <m:t>𝑃</m:t>
                        </m:r>
                      </m:e>
                      <m:sub>
                        <m:r>
                          <a:rPr lang="en-IN" sz="2000" i="1">
                            <a:solidFill>
                              <a:srgbClr val="111827"/>
                            </a:solidFill>
                            <a:latin typeface="Cambria Math" panose="02040503050406030204" pitchFamily="18" charset="0"/>
                          </a:rPr>
                          <m:t>1</m:t>
                        </m:r>
                      </m:sub>
                    </m:sSub>
                  </m:oMath>
                </a14:m>
                <a:r>
                  <a:rPr sz="2000" b="0">
                    <a:solidFill>
                      <a:srgbClr val="111827"/>
                    </a:solidFill>
                    <a:latin typeface="Arial"/>
                  </a:rPr>
                  <a:t> and </a:t>
                </a:r>
                <a14:m>
                  <m:oMath xmlns:m="http://schemas.openxmlformats.org/officeDocument/2006/math">
                    <m:sSub>
                      <m:e>
                        <m:r>
                          <a:rPr lang="en-IN" sz="2000" i="1">
                            <a:solidFill>
                              <a:srgbClr val="111827"/>
                            </a:solidFill>
                            <a:latin typeface="Cambria Math" panose="02040503050406030204" pitchFamily="18" charset="0"/>
                          </a:rPr>
                          <m:t>𝑃</m:t>
                        </m:r>
                      </m:e>
                      <m:sub>
                        <m:r>
                          <a:rPr lang="en-IN" sz="2000" i="1">
                            <a:solidFill>
                              <a:srgbClr val="111827"/>
                            </a:solidFill>
                            <a:latin typeface="Cambria Math" panose="02040503050406030204" pitchFamily="18" charset="0"/>
                          </a:rPr>
                          <m:t>2</m:t>
                        </m:r>
                      </m:sub>
                    </m:sSub>
                  </m:oMath>
                </a14:m>
                <a:r>
                  <a:rPr sz="2000" b="0">
                    <a:solidFill>
                      <a:srgbClr val="111827"/>
                    </a:solidFill>
                    <a:latin typeface="Arial"/>
                  </a:rPr>
                  <a:t> are </a:t>
                </a:r>
                <a14:m>
                  <m:oMath xmlns:m="http://schemas.openxmlformats.org/officeDocument/2006/math">
                    <m:r>
                      <a:rPr lang="en-IN" sz="2000" i="1">
                        <a:solidFill>
                          <a:srgbClr val="111827"/>
                        </a:solidFill>
                        <a:latin typeface="Cambria Math" panose="02040503050406030204" pitchFamily="18" charset="0"/>
                      </a:rPr>
                      <m:t>5</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4</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oMath>
                </a14:m>
                <a:r>
                  <a:rPr sz="2000" b="0">
                    <a:solidFill>
                      <a:srgbClr val="111827"/>
                    </a:solidFill>
                    <a:latin typeface="Arial"/>
                  </a:rPr>
                  <a: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Equation of plane </a:t>
                </a:r>
                <a14:m>
                  <m:oMath xmlns:m="http://schemas.openxmlformats.org/officeDocument/2006/math">
                    <m:sSub>
                      <m:e>
                        <m:r>
                          <a:rPr lang="en-IN" sz="2000" i="1">
                            <a:solidFill>
                              <a:srgbClr val="111827"/>
                            </a:solidFill>
                            <a:latin typeface="Cambria Math" panose="02040503050406030204" pitchFamily="18" charset="0"/>
                          </a:rPr>
                          <m:t>𝑃</m:t>
                        </m:r>
                      </m:e>
                      <m:sub>
                        <m:r>
                          <a:rPr lang="en-IN" sz="2000" i="1">
                            <a:solidFill>
                              <a:srgbClr val="111827"/>
                            </a:solidFill>
                            <a:latin typeface="Cambria Math" panose="02040503050406030204" pitchFamily="18" charset="0"/>
                          </a:rPr>
                          <m:t>3</m:t>
                        </m:r>
                      </m:sub>
                    </m:sSub>
                  </m:oMath>
                </a14:m>
                <a:r>
                  <a:rPr sz="2000" b="0">
                    <a:solidFill>
                      <a:srgbClr val="111827"/>
                    </a:solidFill>
                    <a:latin typeface="Arial"/>
                  </a:rPr>
                  <a:t> is </a:t>
                </a:r>
                <a14:m>
                  <m:oMath xmlns:m="http://schemas.openxmlformats.org/officeDocument/2006/math">
                    <m:r>
                      <a:rPr lang="en-IN" sz="2000" i="1">
                        <a:solidFill>
                          <a:srgbClr val="111827"/>
                        </a:solidFill>
                        <a:latin typeface="Cambria Math" panose="02040503050406030204" pitchFamily="18" charset="0"/>
                      </a:rPr>
                      <m:t>16</m:t>
                    </m:r>
                    <m:r>
                      <a:rPr lang="en-IN" sz="2000" i="1">
                        <a:solidFill>
                          <a:srgbClr val="111827"/>
                        </a:solidFill>
                        <a:latin typeface="Cambria Math" panose="02040503050406030204" pitchFamily="18" charset="0"/>
                      </a:rPr>
                      <m:t>𝑥</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19</m:t>
                    </m:r>
                    <m:r>
                      <a:rPr lang="en-IN" sz="2000" i="1">
                        <a:solidFill>
                          <a:srgbClr val="111827"/>
                        </a:solidFill>
                        <a:latin typeface="Cambria Math" panose="02040503050406030204" pitchFamily="18" charset="0"/>
                      </a:rPr>
                      <m:t>𝑦</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4</m:t>
                    </m:r>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12</m:t>
                    </m:r>
                  </m:oMath>
                </a14:m>
                <a:r>
                  <a:rPr sz="2000" b="0">
                    <a:solidFill>
                      <a:srgbClr val="111827"/>
                    </a:solidFill>
                    <a:latin typeface="Arial"/>
                  </a:rPr>
                  <a: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Equation of line of intersection of </a:t>
                </a:r>
                <a14:m>
                  <m:oMath xmlns:m="http://schemas.openxmlformats.org/officeDocument/2006/math">
                    <m:sSub>
                      <m:e>
                        <m:r>
                          <a:rPr lang="en-IN" sz="2000" i="1">
                            <a:solidFill>
                              <a:srgbClr val="111827"/>
                            </a:solidFill>
                            <a:latin typeface="Cambria Math" panose="02040503050406030204" pitchFamily="18" charset="0"/>
                          </a:rPr>
                          <m:t>𝑃</m:t>
                        </m:r>
                      </m:e>
                      <m:sub>
                        <m:r>
                          <a:rPr lang="en-IN" sz="2000" i="1">
                            <a:solidFill>
                              <a:srgbClr val="111827"/>
                            </a:solidFill>
                            <a:latin typeface="Cambria Math" panose="02040503050406030204" pitchFamily="18" charset="0"/>
                          </a:rPr>
                          <m:t>1</m:t>
                        </m:r>
                      </m:sub>
                    </m:sSub>
                  </m:oMath>
                </a14:m>
                <a:r>
                  <a:rPr sz="2000" b="0">
                    <a:solidFill>
                      <a:srgbClr val="111827"/>
                    </a:solidFill>
                    <a:latin typeface="Arial"/>
                  </a:rPr>
                  <a:t> and </a:t>
                </a:r>
                <a14:m>
                  <m:oMath xmlns:m="http://schemas.openxmlformats.org/officeDocument/2006/math">
                    <m:sSub>
                      <m:e>
                        <m:r>
                          <a:rPr lang="en-IN" sz="2000" i="1">
                            <a:solidFill>
                              <a:srgbClr val="111827"/>
                            </a:solidFill>
                            <a:latin typeface="Cambria Math" panose="02040503050406030204" pitchFamily="18" charset="0"/>
                          </a:rPr>
                          <m:t>𝑃</m:t>
                        </m:r>
                      </m:e>
                      <m:sub>
                        <m:r>
                          <a:rPr lang="en-IN" sz="2000" i="1">
                            <a:solidFill>
                              <a:srgbClr val="111827"/>
                            </a:solidFill>
                            <a:latin typeface="Cambria Math" panose="02040503050406030204" pitchFamily="18" charset="0"/>
                          </a:rPr>
                          <m:t>2</m:t>
                        </m:r>
                      </m:sub>
                    </m:sSub>
                  </m:oMath>
                </a14:m>
                <a:r>
                  <a:rPr sz="2000" b="0">
                    <a:solidFill>
                      <a:srgbClr val="111827"/>
                    </a:solidFill>
                    <a:latin typeface="Arial"/>
                  </a:rPr>
                  <a:t> is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𝑥</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15</m:t>
                        </m:r>
                      </m:num>
                      <m:den>
                        <m:r>
                          <a:rPr lang="en-IN" sz="2000" i="1">
                            <a:solidFill>
                              <a:srgbClr val="111827"/>
                            </a:solidFill>
                            <a:latin typeface="Cambria Math" panose="02040503050406030204" pitchFamily="18" charset="0"/>
                          </a:rPr>
                          <m:t>5</m:t>
                        </m:r>
                      </m:den>
                    </m:f>
                    <m:r>
                      <m:rPr>
                        <m:sty m:val="p"/>
                      </m:rPr>
                      <a:rPr lang="en-IN" sz="2000">
                        <a:solidFill>
                          <a:srgbClr val="111827"/>
                        </a:solidFill>
                        <a:latin typeface="Cambria Math" panose="02040503050406030204" pitchFamily="18" charset="0"/>
                      </a:rPr>
                      <m:t>=</m:t>
                    </m:r>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𝑦</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12</m:t>
                        </m:r>
                      </m:num>
                      <m:den>
                        <m:r>
                          <a:rPr lang="en-IN" sz="2000" i="1">
                            <a:solidFill>
                              <a:srgbClr val="111827"/>
                            </a:solidFill>
                            <a:latin typeface="Cambria Math" panose="02040503050406030204" pitchFamily="18" charset="0"/>
                          </a:rPr>
                          <m:t>4</m:t>
                        </m:r>
                      </m:den>
                    </m:f>
                    <m:r>
                      <m:rPr>
                        <m:sty m:val="p"/>
                      </m:rPr>
                      <a:rPr lang="en-IN" sz="2000">
                        <a:solidFill>
                          <a:srgbClr val="111827"/>
                        </a:solidFill>
                        <a:latin typeface="Cambria Math" panose="02040503050406030204" pitchFamily="18" charset="0"/>
                      </a:rPr>
                      <m:t>=</m:t>
                    </m:r>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num>
                      <m:den>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den>
                    </m:f>
                  </m:oMath>
                </a14:m>
                <a:r>
                  <a:rPr sz="2000" b="0">
                    <a:solidFill>
                      <a:srgbClr val="111827"/>
                    </a:solidFill>
                    <a:latin typeface="Arial"/>
                  </a:rPr>
                  <a: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The length of perpendicular from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to plane </a:t>
                </a:r>
                <a14:m>
                  <m:oMath xmlns:m="http://schemas.openxmlformats.org/officeDocument/2006/math">
                    <m:sSub>
                      <m:e>
                        <m:r>
                          <a:rPr lang="en-IN" sz="2000" i="1">
                            <a:solidFill>
                              <a:srgbClr val="111827"/>
                            </a:solidFill>
                            <a:latin typeface="Cambria Math" panose="02040503050406030204" pitchFamily="18" charset="0"/>
                          </a:rPr>
                          <m:t>𝑃</m:t>
                        </m:r>
                      </m:e>
                      <m:sub>
                        <m:r>
                          <a:rPr lang="en-IN" sz="2000" i="1">
                            <a:solidFill>
                              <a:srgbClr val="111827"/>
                            </a:solidFill>
                            <a:latin typeface="Cambria Math" panose="02040503050406030204" pitchFamily="18" charset="0"/>
                          </a:rPr>
                          <m:t>3</m:t>
                        </m:r>
                      </m:sub>
                    </m:sSub>
                  </m:oMath>
                </a14:m>
                <a:r>
                  <a:rPr sz="2000" b="0">
                    <a:solidFill>
                      <a:srgbClr val="111827"/>
                    </a:solidFill>
                    <a:latin typeface="Arial"/>
                  </a:rPr>
                  <a:t> is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2</m:t>
                        </m:r>
                      </m:num>
                      <m:den>
                        <m:rad>
                          <m:radPr>
                            <m:degHide m:val="on"/>
                            <m:ctrlPr>
                              <a:rPr lang="en-IN" sz="2000" i="1">
                                <a:solidFill>
                                  <a:srgbClr val="111827"/>
                                </a:solidFill>
                                <a:latin typeface="Cambria Math" panose="02040503050406030204" pitchFamily="18" charset="0"/>
                              </a:rPr>
                            </m:ctrlPr>
                          </m:radPr>
                          <m:deg/>
                          <m:e>
                            <m:r>
                              <a:rPr lang="en-IN" sz="2000" i="1">
                                <a:solidFill>
                                  <a:srgbClr val="111827"/>
                                </a:solidFill>
                                <a:latin typeface="Cambria Math" panose="02040503050406030204" pitchFamily="18" charset="0"/>
                              </a:rPr>
                              <m:t>18</m:t>
                            </m:r>
                          </m:e>
                        </m:rad>
                      </m:den>
                    </m:f>
                  </m:oMath>
                </a14:m>
                <a:r>
                  <a:rPr sz="2000" b="0">
                    <a:solidFill>
                      <a:srgbClr val="111827"/>
                    </a:solidFill>
                    <a:latin typeface="Arial"/>
                  </a:rPr>
                  <a:t>.</a:t>
                </a:r>
                <a:endParaRPr sz="2000">
                  <a:solidFill>
                    <a:srgbClr val="111827"/>
                  </a:solidFill>
                </a:endParaRPr>
              </a:p>
            </p:txBody>
          </p:sp>
        </mc:Choice>
        <mc:Fallback>
          <p:sp>
            <p:nvSpPr>
              <p:cNvPr id="4" name="Rounded Rectangle 3"/>
              <p:cNvSpPr/>
              <p:nvPr/>
            </p:nvSpPr>
            <p:spPr>
              <a:xfrm>
                <a:off x="731520" y="1280160"/>
                <a:ext cx="10725912" cy="420268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From point </a:t>
                </a:r>
                <a:r>
                  <a:rPr lang="en-IN" sz="2000">
                    <a:solidFill>
                      <a:srgbClr val="111827"/>
                    </a:solidFill>
                    <a:latin typeface="Cambria Math" panose="02040503050406030204" pitchFamily="18" charset="0"/>
                  </a:rPr>
                  <a:t>$A(-1,1,-1)$</a:t>
                </a:r>
                <a:r>
                  <a:rPr sz="2000" b="0">
                    <a:solidFill>
                      <a:srgbClr val="111827"/>
                    </a:solidFill>
                    <a:latin typeface="Arial"/>
                  </a:rPr>
                  <a:t>, the perpendicular is drawn to a plane </a:t>
                </a:r>
                <a:r>
                  <a:rPr lang="en-IN" sz="2000">
                    <a:solidFill>
                      <a:srgbClr val="111827"/>
                    </a:solidFill>
                    <a:latin typeface="Cambria Math" panose="02040503050406030204" pitchFamily="18" charset="0"/>
                  </a:rPr>
                  <a:t>$P_1$</a:t>
                </a:r>
                <a:r>
                  <a:rPr sz="2000" b="0">
                    <a:solidFill>
                      <a:srgbClr val="111827"/>
                    </a:solidFill>
                    <a:latin typeface="Arial"/>
                  </a:rPr>
                  <a:t> whose foot is </a:t>
                </a:r>
                <a:r>
                  <a:rPr lang="en-IN" sz="2000">
                    <a:solidFill>
                      <a:srgbClr val="111827"/>
                    </a:solidFill>
                    <a:latin typeface="Cambria Math" panose="02040503050406030204" pitchFamily="18" charset="0"/>
                  </a:rPr>
                  <a:t>$(1,-1,1)$</a:t>
                </a:r>
                <a:r>
                  <a:rPr sz="2000" b="0">
                    <a:solidFill>
                      <a:srgbClr val="111827"/>
                    </a:solidFill>
                    <a:latin typeface="Arial"/>
                  </a:rPr>
                  <a:t>. From point </a:t>
                </a:r>
                <a:r>
                  <a:rPr lang="en-IN" sz="2000">
                    <a:solidFill>
                      <a:srgbClr val="111827"/>
                    </a:solidFill>
                    <a:latin typeface="Cambria Math" panose="02040503050406030204" pitchFamily="18" charset="0"/>
                  </a:rPr>
                  <a:t>$B(3,-1,-1)$</a:t>
                </a:r>
                <a:r>
                  <a:rPr sz="2000" b="0">
                    <a:solidFill>
                      <a:srgbClr val="111827"/>
                    </a:solidFill>
                    <a:latin typeface="Arial"/>
                  </a:rPr>
                  <a:t>, the perpendicular is drawn to a plane </a:t>
                </a:r>
                <a:r>
                  <a:rPr lang="en-IN" sz="2000">
                    <a:solidFill>
                      <a:srgbClr val="111827"/>
                    </a:solidFill>
                    <a:latin typeface="Cambria Math" panose="02040503050406030204" pitchFamily="18" charset="0"/>
                  </a:rPr>
                  <a:t>$P_2$</a:t>
                </a:r>
                <a:r>
                  <a:rPr sz="2000" b="0">
                    <a:solidFill>
                      <a:srgbClr val="111827"/>
                    </a:solidFill>
                    <a:latin typeface="Arial"/>
                  </a:rPr>
                  <a:t> whose foot is </a:t>
                </a:r>
                <a:r>
                  <a:rPr lang="en-IN" sz="2000">
                    <a:solidFill>
                      <a:srgbClr val="111827"/>
                    </a:solidFill>
                    <a:latin typeface="Cambria Math" panose="02040503050406030204" pitchFamily="18" charset="0"/>
                  </a:rPr>
                  <a:t>$(1,2,1)$</a:t>
                </a:r>
                <a:r>
                  <a:rPr sz="2000" b="0">
                    <a:solidFill>
                      <a:srgbClr val="111827"/>
                    </a:solidFill>
                    <a:latin typeface="Arial"/>
                  </a:rPr>
                  <a:t>. </a:t>
                </a:r>
                <a:r>
                  <a:rPr lang="en-IN" sz="2000">
                    <a:solidFill>
                      <a:srgbClr val="111827"/>
                    </a:solidFill>
                    <a:latin typeface="Cambria Math" panose="02040503050406030204" pitchFamily="18" charset="0"/>
                  </a:rPr>
                  <a:t>$P_3$</a:t>
                </a:r>
                <a:r>
                  <a:rPr sz="2000" b="0">
                    <a:solidFill>
                      <a:srgbClr val="111827"/>
                    </a:solidFill>
                    <a:latin typeface="Arial"/>
                  </a:rPr>
                  <a:t> is a plane containing the line of intersection of </a:t>
                </a:r>
                <a:r>
                  <a:rPr lang="en-IN" sz="2000">
                    <a:solidFill>
                      <a:srgbClr val="111827"/>
                    </a:solidFill>
                    <a:latin typeface="Cambria Math" panose="02040503050406030204" pitchFamily="18" charset="0"/>
                  </a:rPr>
                  <a:t>$P_1$</a:t>
                </a:r>
                <a:r>
                  <a:rPr sz="2000" b="0">
                    <a:solidFill>
                      <a:srgbClr val="111827"/>
                    </a:solidFill>
                    <a:latin typeface="Arial"/>
                  </a:rPr>
                  <a:t> and </a:t>
                </a:r>
                <a:r>
                  <a:rPr lang="en-IN" sz="2000">
                    <a:solidFill>
                      <a:srgbClr val="111827"/>
                    </a:solidFill>
                    <a:latin typeface="Cambria Math" panose="02040503050406030204" pitchFamily="18" charset="0"/>
                  </a:rPr>
                  <a:t>$P_2$</a:t>
                </a:r>
                <a:r>
                  <a:rPr sz="2000" b="0">
                    <a:solidFill>
                      <a:srgbClr val="111827"/>
                    </a:solidFill>
                    <a:latin typeface="Arial"/>
                  </a:rPr>
                  <a:t> and passing through the mid point of the line joining </a:t>
                </a:r>
                <a:r>
                  <a:rPr lang="en-IN" sz="2000">
                    <a:solidFill>
                      <a:srgbClr val="111827"/>
                    </a:solidFill>
                    <a:latin typeface="Cambria Math" panose="02040503050406030204" pitchFamily="18" charset="0"/>
                  </a:rPr>
                  <a:t>$A$</a:t>
                </a:r>
                <a:r>
                  <a:rPr sz="2000" b="0">
                    <a:solidFill>
                      <a:srgbClr val="111827"/>
                    </a:solidFill>
                    <a:latin typeface="Arial"/>
                  </a:rPr>
                  <a:t> and </a:t>
                </a:r>
                <a:r>
                  <a:rPr lang="en-IN" sz="2000">
                    <a:solidFill>
                      <a:srgbClr val="111827"/>
                    </a:solidFill>
                    <a:latin typeface="Cambria Math" panose="02040503050406030204" pitchFamily="18" charset="0"/>
                  </a:rPr>
                  <a:t>$B$</a:t>
                </a:r>
                <a:r>
                  <a:rPr sz="2000" b="0">
                    <a:solidFill>
                      <a:srgbClr val="111827"/>
                    </a:solidFill>
                    <a:latin typeface="Arial"/>
                  </a:rPr>
                  <a:t>. Then which of the following statement (s) is/are correct: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Direction ratios of line of intersection of </a:t>
                </a:r>
                <a:r>
                  <a:rPr lang="en-IN" sz="2000">
                    <a:solidFill>
                      <a:srgbClr val="111827"/>
                    </a:solidFill>
                    <a:latin typeface="Cambria Math" panose="02040503050406030204" pitchFamily="18" charset="0"/>
                  </a:rPr>
                  <a:t>$P_1$</a:t>
                </a:r>
                <a:r>
                  <a:rPr sz="2000" b="0">
                    <a:solidFill>
                      <a:srgbClr val="111827"/>
                    </a:solidFill>
                    <a:latin typeface="Arial"/>
                  </a:rPr>
                  <a:t> and </a:t>
                </a:r>
                <a:r>
                  <a:rPr lang="en-IN" sz="2000">
                    <a:solidFill>
                      <a:srgbClr val="111827"/>
                    </a:solidFill>
                    <a:latin typeface="Cambria Math" panose="02040503050406030204" pitchFamily="18" charset="0"/>
                  </a:rPr>
                  <a:t>$P_2$</a:t>
                </a:r>
                <a:r>
                  <a:rPr sz="2000" b="0">
                    <a:solidFill>
                      <a:srgbClr val="111827"/>
                    </a:solidFill>
                    <a:latin typeface="Arial"/>
                  </a:rPr>
                  <a:t> are </a:t>
                </a:r>
                <a:r>
                  <a:rPr lang="en-IN" sz="2000">
                    <a:solidFill>
                      <a:srgbClr val="111827"/>
                    </a:solidFill>
                    <a:latin typeface="Cambria Math" panose="02040503050406030204" pitchFamily="18" charset="0"/>
                  </a:rPr>
                  <a:t>$5,4,-1$</a:t>
                </a:r>
                <a:r>
                  <a:rPr sz="2000" b="0">
                    <a:solidFill>
                      <a:srgbClr val="111827"/>
                    </a:solidFill>
                    <a:latin typeface="Arial"/>
                  </a:rPr>
                  <a: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Equation of plane </a:t>
                </a:r>
                <a:r>
                  <a:rPr lang="en-IN" sz="2000">
                    <a:solidFill>
                      <a:srgbClr val="111827"/>
                    </a:solidFill>
                    <a:latin typeface="Cambria Math" panose="02040503050406030204" pitchFamily="18" charset="0"/>
                  </a:rPr>
                  <a:t>$P_3$</a:t>
                </a:r>
                <a:r>
                  <a:rPr sz="2000" b="0">
                    <a:solidFill>
                      <a:srgbClr val="111827"/>
                    </a:solidFill>
                    <a:latin typeface="Arial"/>
                  </a:rPr>
                  <a:t> is </a:t>
                </a:r>
                <a:r>
                  <a:rPr lang="en-IN" sz="2000">
                    <a:solidFill>
                      <a:srgbClr val="111827"/>
                    </a:solidFill>
                    <a:latin typeface="Cambria Math" panose="02040503050406030204" pitchFamily="18" charset="0"/>
                  </a:rPr>
                  <a:t>$16x-19y+4z=12$</a:t>
                </a:r>
                <a:r>
                  <a:rPr sz="2000" b="0">
                    <a:solidFill>
                      <a:srgbClr val="111827"/>
                    </a:solidFill>
                    <a:latin typeface="Arial"/>
                  </a:rPr>
                  <a: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Equation of line of intersection of </a:t>
                </a:r>
                <a:r>
                  <a:rPr lang="en-IN" sz="2000">
                    <a:solidFill>
                      <a:srgbClr val="111827"/>
                    </a:solidFill>
                    <a:latin typeface="Cambria Math" panose="02040503050406030204" pitchFamily="18" charset="0"/>
                  </a:rPr>
                  <a:t>$P_1$</a:t>
                </a:r>
                <a:r>
                  <a:rPr sz="2000" b="0">
                    <a:solidFill>
                      <a:srgbClr val="111827"/>
                    </a:solidFill>
                    <a:latin typeface="Arial"/>
                  </a:rPr>
                  <a:t> and </a:t>
                </a:r>
                <a:r>
                  <a:rPr lang="en-IN" sz="2000">
                    <a:solidFill>
                      <a:srgbClr val="111827"/>
                    </a:solidFill>
                    <a:latin typeface="Cambria Math" panose="02040503050406030204" pitchFamily="18" charset="0"/>
                  </a:rPr>
                  <a:t>$P_2$</a:t>
                </a:r>
                <a:r>
                  <a:rPr sz="2000" b="0">
                    <a:solidFill>
                      <a:srgbClr val="111827"/>
                    </a:solidFill>
                    <a:latin typeface="Arial"/>
                  </a:rPr>
                  <a:t> is </a:t>
                </a:r>
                <a:r>
                  <a:rPr lang="en-IN" sz="2000">
                    <a:solidFill>
                      <a:srgbClr val="111827"/>
                    </a:solidFill>
                    <a:latin typeface="Cambria Math" panose="02040503050406030204" pitchFamily="18" charset="0"/>
                  </a:rPr>
                  <a:t>$\frac{x-15}{5}=\frac{y-12}{4}=\frac{z-0}{-1}$</a:t>
                </a:r>
                <a:r>
                  <a:rPr sz="2000" b="0">
                    <a:solidFill>
                      <a:srgbClr val="111827"/>
                    </a:solidFill>
                    <a:latin typeface="Arial"/>
                  </a:rPr>
                  <a: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The length of perpendicular from </a:t>
                </a:r>
                <a:r>
                  <a:rPr lang="en-IN" sz="2000">
                    <a:solidFill>
                      <a:srgbClr val="111827"/>
                    </a:solidFill>
                    <a:latin typeface="Cambria Math" panose="02040503050406030204" pitchFamily="18" charset="0"/>
                  </a:rPr>
                  <a:t>$(0,0,0)$</a:t>
                </a:r>
                <a:r>
                  <a:rPr sz="2000" b="0">
                    <a:solidFill>
                      <a:srgbClr val="111827"/>
                    </a:solidFill>
                    <a:latin typeface="Arial"/>
                  </a:rPr>
                  <a:t> to plane </a:t>
                </a:r>
                <a:r>
                  <a:rPr lang="en-IN" sz="2000">
                    <a:solidFill>
                      <a:srgbClr val="111827"/>
                    </a:solidFill>
                    <a:latin typeface="Cambria Math" panose="02040503050406030204" pitchFamily="18" charset="0"/>
                  </a:rPr>
                  <a:t>$P_3$</a:t>
                </a:r>
                <a:r>
                  <a:rPr sz="2000" b="0">
                    <a:solidFill>
                      <a:srgbClr val="111827"/>
                    </a:solidFill>
                    <a:latin typeface="Arial"/>
                  </a:rPr>
                  <a:t> is </a:t>
                </a:r>
                <a:r>
                  <a:rPr lang="en-IN" sz="2000">
                    <a:solidFill>
                      <a:srgbClr val="111827"/>
                    </a:solidFill>
                    <a:latin typeface="Cambria Math" panose="02040503050406030204" pitchFamily="18" charset="0"/>
                  </a:rPr>
                  <a:t>$\frac{2}{\sqrt{18}}$</a:t>
                </a:r>
                <a:r>
                  <a:rPr sz="2000" b="0">
                    <a:solidFill>
                      <a:srgbClr val="111827"/>
                    </a:solidFill>
                    <a:latin typeface="Arial"/>
                  </a:rPr>
                  <a:t>.</a:t>
                </a:r>
                <a:endParaRPr sz="2000">
                  <a:solidFill>
                    <a:srgbClr val="111827"/>
                  </a:solidFill>
                </a:endParaRPr>
              </a:p>
            </p:txBody>
          </p:sp>
        </mc:Fallback>
      </mc:AlternateContent>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Planes through feet of perpendiculars and their line of intersection, Plane through the intersection of two planes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normal of each plane is the vector from the point to its foot; the line of intersection has direction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and </a:t>
                </a:r>
                <a14:m>
                  <m:oMath xmlns:m="http://schemas.openxmlformats.org/officeDocument/2006/math">
                    <m:sSub>
                      <m:e>
                        <m:r>
                          <a:rPr lang="en-IN" sz="2400" i="1">
                            <a:solidFill>
                              <a:srgbClr val="78350F"/>
                            </a:solidFill>
                            <a:latin typeface="Cambria Math" panose="02040503050406030204" pitchFamily="18" charset="0"/>
                          </a:rPr>
                          <m:t>𝑃</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𝑃</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λ</m:t>
                    </m:r>
                    <m:sSub>
                      <m:e>
                        <m:r>
                          <a:rPr lang="en-IN" sz="2400" i="1">
                            <a:solidFill>
                              <a:srgbClr val="78350F"/>
                            </a:solidFill>
                            <a:latin typeface="Cambria Math" panose="02040503050406030204" pitchFamily="18" charset="0"/>
                          </a:rPr>
                          <m:t>𝑃</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through the mid-point.</a:t>
                </a:r>
                <a:endParaRPr sz="2400">
                  <a:solidFill>
                    <a:srgbClr val="78350F"/>
                  </a:solidFill>
                </a:endParaRPr>
              </a:p>
            </p:txBody>
          </p:sp>
        </mc:Choice>
        <mc:Fallback>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normal of each plane is the vector from the point to its foot; the line of intersection has direction </a:t>
                </a:r>
                <a:r>
                  <a:rPr lang="en-IN" sz="2400">
                    <a:solidFill>
                      <a:srgbClr val="78350F"/>
                    </a:solidFill>
                    <a:latin typeface="Cambria Math" panose="02040503050406030204" pitchFamily="18" charset="0"/>
                  </a:rPr>
                  <a:t>$\vec n_1\times\vec n_2$</a:t>
                </a:r>
                <a:r>
                  <a:rPr sz="2400" b="0">
                    <a:solidFill>
                      <a:srgbClr val="78350F"/>
                    </a:solidFill>
                    <a:latin typeface="Arial"/>
                  </a:rPr>
                  <a:t>, and </a:t>
                </a:r>
                <a:r>
                  <a:rPr lang="en-IN" sz="2400">
                    <a:solidFill>
                      <a:srgbClr val="78350F"/>
                    </a:solidFill>
                    <a:latin typeface="Cambria Math" panose="02040503050406030204" pitchFamily="18" charset="0"/>
                  </a:rPr>
                  <a:t>$P_3=P_1+\lambda P_2$</a:t>
                </a:r>
                <a:r>
                  <a:rPr sz="2400" b="0">
                    <a:solidFill>
                      <a:srgbClr val="78350F"/>
                    </a:solidFill>
                    <a:latin typeface="Arial"/>
                  </a:rPr>
                  <a:t> through the mid-point.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of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foot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of </a:t>
                </a:r>
                <a:r>
                  <a:rPr lang="en-IN" sz="2400">
                    <a:solidFill>
                      <a:srgbClr val="111827"/>
                    </a:solidFill>
                    <a:latin typeface="Cambria Math" panose="02040503050406030204" pitchFamily="18" charset="0"/>
                  </a:rPr>
                  <a:t>$P_1$</a:t>
                </a:r>
                <a:r>
                  <a:rPr sz="2400" b="0">
                    <a:solidFill>
                      <a:srgbClr val="111827"/>
                    </a:solidFill>
                    <a:latin typeface="Arial"/>
                  </a:rPr>
                  <a:t>: foot </a:t>
                </a:r>
                <a:r>
                  <a:rPr lang="en-IN" sz="2400">
                    <a:solidFill>
                      <a:srgbClr val="111827"/>
                    </a:solidFill>
                    <a:latin typeface="Cambria Math" panose="02040503050406030204" pitchFamily="18" charset="0"/>
                  </a:rPr>
                  <a:t>$-A=(2,-2,2)$</a:t>
                </a:r>
                <a:r>
                  <a:rPr sz="2400" b="0">
                    <a:solidFill>
                      <a:srgbClr val="111827"/>
                    </a:solidFill>
                    <a:latin typeface="Arial"/>
                  </a:rPr>
                  <a:t>, so </a:t>
                </a:r>
                <a:r>
                  <a:rPr lang="en-IN" sz="2400">
                    <a:solidFill>
                      <a:srgbClr val="111827"/>
                    </a:solidFill>
                    <a:latin typeface="Cambria Math" panose="02040503050406030204" pitchFamily="18" charset="0"/>
                  </a:rPr>
                  <a:t>$P_1:\ (2x-1)-2(y+1)+2(z-1)=0\Rightarrow x-y+z=3$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of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foot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Direction of the line of intersection: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 is true (direction ratios </a:t>
                </a: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Mid-point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plane through the intersection: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(B)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in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So the line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and (C) is true.</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of </a:t>
                </a:r>
                <a:r>
                  <a:rPr lang="en-IN" sz="2400">
                    <a:solidFill>
                      <a:srgbClr val="111827"/>
                    </a:solidFill>
                    <a:latin typeface="Cambria Math" panose="02040503050406030204" pitchFamily="18" charset="0"/>
                  </a:rPr>
                  <a:t>$P_2$</a:t>
                </a:r>
                <a:r>
                  <a:rPr sz="2400" b="0">
                    <a:solidFill>
                      <a:srgbClr val="111827"/>
                    </a:solidFill>
                    <a:latin typeface="Arial"/>
                  </a:rPr>
                  <a:t>: foot </a:t>
                </a:r>
                <a:r>
                  <a:rPr lang="en-IN" sz="2400">
                    <a:solidFill>
                      <a:srgbClr val="111827"/>
                    </a:solidFill>
                    <a:latin typeface="Cambria Math" panose="02040503050406030204" pitchFamily="18" charset="0"/>
                  </a:rPr>
                  <a:t>$-B=(-2,3,2)$</a:t>
                </a:r>
                <a:r>
                  <a:rPr sz="2400" b="0">
                    <a:solidFill>
                      <a:srgbClr val="111827"/>
                    </a:solidFill>
                    <a:latin typeface="Arial"/>
                  </a:rPr>
                  <a:t>, so </a:t>
                </a:r>
                <a:r>
                  <a:rPr lang="en-IN" sz="2400">
                    <a:solidFill>
                      <a:srgbClr val="111827"/>
                    </a:solidFill>
                    <a:latin typeface="Cambria Math" panose="02040503050406030204" pitchFamily="18" charset="0"/>
                  </a:rPr>
                  <a:t>$P_2:\ 2(x-1)-3(y-2)-2(z-1)=0\Rightarrow2x-3y-2z+6=0$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Direction of the line of intersection: </a:t>
                </a:r>
                <a:r>
                  <a:rPr lang="en-IN" sz="2400">
                    <a:solidFill>
                      <a:srgbClr val="111827"/>
                    </a:solidFill>
                    <a:latin typeface="Cambria Math" panose="02040503050406030204" pitchFamily="18" charset="0"/>
                  </a:rPr>
                  <a:t>$(1,-1,1)\times(2,-3,-2)=(5,4,-1)$</a:t>
                </a:r>
                <a:r>
                  <a:rPr sz="2400" b="0">
                    <a:solidFill>
                      <a:srgbClr val="111827"/>
                    </a:solidFill>
                    <a:latin typeface="Arial"/>
                  </a:rPr>
                  <a:t>, so (A) is true (direction ratios </a:t>
                </a:r>
                <a:r>
                  <a:rPr lang="en-IN" sz="2400">
                    <a:solidFill>
                      <a:srgbClr val="111827"/>
                    </a:solidFill>
                    <a:latin typeface="Cambria Math" panose="02040503050406030204" pitchFamily="18" charset="0"/>
                  </a:rPr>
                  <a:t>$5,4,-1$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Mid-point of </a:t>
                </a:r>
                <a:r>
                  <a:rPr lang="en-IN" sz="2400">
                    <a:solidFill>
                      <a:srgbClr val="111827"/>
                    </a:solidFill>
                    <a:latin typeface="Cambria Math" panose="02040503050406030204" pitchFamily="18" charset="0"/>
                  </a:rPr>
                  <a:t>$AB$</a:t>
                </a:r>
                <a:r>
                  <a:rPr sz="2400" b="0">
                    <a:solidFill>
                      <a:srgbClr val="111827"/>
                    </a:solidFill>
                    <a:latin typeface="Arial"/>
                  </a:rPr>
                  <a:t> is </a:t>
                </a:r>
                <a:r>
                  <a:rPr lang="en-IN" sz="2400">
                    <a:solidFill>
                      <a:srgbClr val="111827"/>
                    </a:solidFill>
                    <a:latin typeface="Cambria Math" panose="02040503050406030204" pitchFamily="18" charset="0"/>
                  </a:rPr>
                  <a:t>$(1,0,-1)$</a:t>
                </a:r>
                <a:r>
                  <a:rPr sz="2400" b="0">
                    <a:solidFill>
                      <a:srgbClr val="111827"/>
                    </a:solidFill>
                    <a:latin typeface="Arial"/>
                  </a:rPr>
                  <a:t>. A plane through the intersection: </a:t>
                </a:r>
                <a:r>
                  <a:rPr lang="en-IN" sz="2400">
                    <a:solidFill>
                      <a:srgbClr val="111827"/>
                    </a:solidFill>
                    <a:latin typeface="Cambria Math" panose="02040503050406030204" pitchFamily="18" charset="0"/>
                  </a:rPr>
                  <a:t>$P_1+\lambda P_2=0$</a:t>
                </a:r>
                <a:r>
                  <a:rPr sz="2400" b="0">
                    <a:solidFill>
                      <a:srgbClr val="111827"/>
                    </a:solidFill>
                    <a:latin typeface="Arial"/>
                  </a:rPr>
                  <a:t>, i.e. </a:t>
                </a:r>
                <a:r>
                  <a:rPr lang="en-IN" sz="2400">
                    <a:solidFill>
                      <a:srgbClr val="111827"/>
                    </a:solidFill>
                    <a:latin typeface="Cambria Math" panose="02040503050406030204" pitchFamily="18" charset="0"/>
                  </a:rPr>
                  <a:t>$(x-y+z-3)+\lambda(2x-3y-2z+6)=0$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$(1,0,-1)$</a:t>
                </a:r>
                <a:r>
                  <a:rPr sz="2400" b="0">
                    <a:solidFill>
                      <a:srgbClr val="111827"/>
                    </a:solidFill>
                    <a:latin typeface="Arial"/>
                  </a:rPr>
                  <a:t>: </a:t>
                </a:r>
                <a:r>
                  <a:rPr lang="en-IN" sz="2400">
                    <a:solidFill>
                      <a:srgbClr val="111827"/>
                    </a:solidFill>
                    <a:latin typeface="Cambria Math" panose="02040503050406030204" pitchFamily="18" charset="0"/>
                  </a:rPr>
                  <a:t>$(1-1-3)+\lambda(2+2+6)=0\Rightarrow\lambda=\frac{3}{10}$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$10(x-y+z-3)+3(2x-3y-2z+6)=0\Rightarrow16x-19y+4z-12=0$</a:t>
                </a:r>
                <a:r>
                  <a:rPr sz="2400" b="0">
                    <a:solidFill>
                      <a:srgbClr val="111827"/>
                    </a:solidFill>
                    <a:latin typeface="Arial"/>
                  </a:rPr>
                  <a:t>, so (B)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$z=0$</a:t>
                </a:r>
                <a:r>
                  <a:rPr sz="2400" b="0">
                    <a:solidFill>
                      <a:srgbClr val="111827"/>
                    </a:solidFill>
                    <a:latin typeface="Arial"/>
                  </a:rPr>
                  <a:t> in </a:t>
                </a:r>
                <a:r>
                  <a:rPr lang="en-IN" sz="2400">
                    <a:solidFill>
                      <a:srgbClr val="111827"/>
                    </a:solidFill>
                    <a:latin typeface="Cambria Math" panose="02040503050406030204" pitchFamily="18" charset="0"/>
                  </a:rPr>
                  <a:t>$P_1,P_2$</a:t>
                </a:r>
                <a:r>
                  <a:rPr sz="2400" b="0">
                    <a:solidFill>
                      <a:srgbClr val="111827"/>
                    </a:solidFill>
                    <a:latin typeface="Arial"/>
                  </a:rPr>
                  <a:t>: </a:t>
                </a:r>
                <a:r>
                  <a:rPr lang="en-IN" sz="2400">
                    <a:solidFill>
                      <a:srgbClr val="111827"/>
                    </a:solidFill>
                    <a:latin typeface="Cambria Math" panose="02040503050406030204" pitchFamily="18" charset="0"/>
                  </a:rPr>
                  <a:t>$x-y=3,\ 2x-3y=-6$</a:t>
                </a:r>
                <a:r>
                  <a:rPr sz="2400" b="0">
                    <a:solidFill>
                      <a:srgbClr val="111827"/>
                    </a:solidFill>
                    <a:latin typeface="Arial"/>
                  </a:rPr>
                  <a:t>, giving </a:t>
                </a:r>
                <a:r>
                  <a:rPr lang="en-IN" sz="2400">
                    <a:solidFill>
                      <a:srgbClr val="111827"/>
                    </a:solidFill>
                    <a:latin typeface="Cambria Math" panose="02040503050406030204" pitchFamily="18" charset="0"/>
                  </a:rPr>
                  <a:t>$x=15,\ y=12$</a:t>
                </a:r>
                <a:r>
                  <a:rPr sz="2400" b="0">
                    <a:solidFill>
                      <a:srgbClr val="111827"/>
                    </a:solidFill>
                    <a:latin typeface="Arial"/>
                  </a:rPr>
                  <a:t>. So the line is </a:t>
                </a:r>
                <a:r>
                  <a:rPr lang="en-IN" sz="2400">
                    <a:solidFill>
                      <a:srgbClr val="111827"/>
                    </a:solidFill>
                    <a:latin typeface="Cambria Math" panose="02040503050406030204" pitchFamily="18" charset="0"/>
                  </a:rPr>
                  <a:t>$\frac{x-15}{5}=\frac{y-12}{4}=\frac{z-0}{-1}$</a:t>
                </a:r>
                <a:r>
                  <a:rPr sz="2400" b="0">
                    <a:solidFill>
                      <a:srgbClr val="111827"/>
                    </a:solidFill>
                    <a:latin typeface="Arial"/>
                  </a:rPr>
                  <a:t> and (C) is true.</a:t>
                </a:r>
                <a:endParaRPr sz="2400">
                  <a:solidFill>
                    <a:srgbClr val="111827"/>
                  </a:solidFill>
                </a:endParaRPr>
              </a:p>
            </p:txBody>
          </p:sp>
        </mc:Fallback>
      </mc:AlternateContent>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 distance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from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16</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19</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2</m:t>
                                </m:r>
                              </m:sup>
                            </m:sSup>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633</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18</m:t>
                            </m:r>
                          </m:e>
                        </m:rad>
                      </m:den>
                    </m:f>
                  </m:oMath>
                </a14:m>
                <a:r>
                  <a:rPr sz="2400" b="0">
                    <a:solidFill>
                      <a:srgbClr val="111827"/>
                    </a:solidFill>
                    <a:latin typeface="Arial"/>
                  </a:rPr>
                  <a:t>, so (D) is false. Answer: A,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 distance of </a:t>
                </a:r>
                <a:r>
                  <a:rPr lang="en-IN" sz="2400">
                    <a:solidFill>
                      <a:srgbClr val="111827"/>
                    </a:solidFill>
                    <a:latin typeface="Cambria Math" panose="02040503050406030204" pitchFamily="18" charset="0"/>
                  </a:rPr>
                  <a:t>$(0,0,0)$</a:t>
                </a:r>
                <a:r>
                  <a:rPr sz="2400" b="0">
                    <a:solidFill>
                      <a:srgbClr val="111827"/>
                    </a:solidFill>
                    <a:latin typeface="Arial"/>
                  </a:rPr>
                  <a:t> from </a:t>
                </a:r>
                <a:r>
                  <a:rPr lang="en-IN" sz="2400">
                    <a:solidFill>
                      <a:srgbClr val="111827"/>
                    </a:solidFill>
                    <a:latin typeface="Cambria Math" panose="02040503050406030204" pitchFamily="18" charset="0"/>
                  </a:rPr>
                  <a:t>$P_3$</a:t>
                </a:r>
                <a:r>
                  <a:rPr sz="2400" b="0">
                    <a:solidFill>
                      <a:srgbClr val="111827"/>
                    </a:solidFill>
                    <a:latin typeface="Arial"/>
                  </a:rPr>
                  <a:t> is </a:t>
                </a:r>
                <a:r>
                  <a:rPr lang="en-IN" sz="2400">
                    <a:solidFill>
                      <a:srgbClr val="111827"/>
                    </a:solidFill>
                    <a:latin typeface="Cambria Math" panose="02040503050406030204" pitchFamily="18" charset="0"/>
                  </a:rPr>
                  <a:t>$\frac{12}{\sqrt{16^2+19^2+4^2}}=\frac{12}{\sqrt{633}}\ne\frac{2}{\sqrt{18}}$</a:t>
                </a:r>
                <a:r>
                  <a:rPr sz="2400" b="0">
                    <a:solidFill>
                      <a:srgbClr val="111827"/>
                    </a:solidFill>
                    <a:latin typeface="Arial"/>
                  </a:rPr>
                  <a:t>, so (D) is false. Answer: A, B,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 C)</a:t>
            </a:r>
            <a:endParaRPr sz="2800">
              <a:solidFill>
                <a:srgbClr val="15803D"/>
              </a:solidFill>
            </a:endParaRP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Build </a:t>
                </a:r>
                <a14:m>
                  <m:oMath xmlns:m="http://schemas.openxmlformats.org/officeDocument/2006/math">
                    <m:sSub>
                      <m:e>
                        <m:r>
                          <a:rPr lang="en-IN" sz="2400" i="1">
                            <a:solidFill>
                              <a:srgbClr val="78350F"/>
                            </a:solidFill>
                            <a:latin typeface="Cambria Math" panose="02040503050406030204" pitchFamily="18" charset="0"/>
                          </a:rPr>
                          <m:t>𝑃</m:t>
                        </m:r>
                      </m:e>
                      <m:sub>
                        <m:r>
                          <a:rPr lang="en-IN" sz="2400" i="1">
                            <a:solidFill>
                              <a:srgbClr val="78350F"/>
                            </a:solidFill>
                            <a:latin typeface="Cambria Math" panose="02040503050406030204" pitchFamily="18" charset="0"/>
                          </a:rPr>
                          <m:t>3</m:t>
                        </m:r>
                      </m:sub>
                    </m:sSub>
                  </m:oMath>
                </a14:m>
                <a:r>
                  <a:rPr sz="2400" b="0">
                    <a:solidFill>
                      <a:srgbClr val="78350F"/>
                    </a:solidFill>
                    <a:latin typeface="Arial"/>
                  </a:rPr>
                  <a:t> directly from the line and the mid-point: its normal is perpendicular to the line direction and to the vector from a point of the line to the mid-point.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Build </a:t>
                </a:r>
                <a:r>
                  <a:rPr lang="en-IN" sz="2400">
                    <a:solidFill>
                      <a:srgbClr val="78350F"/>
                    </a:solidFill>
                    <a:latin typeface="Cambria Math" panose="02040503050406030204" pitchFamily="18" charset="0"/>
                  </a:rPr>
                  <a:t>$P_3$</a:t>
                </a:r>
                <a:r>
                  <a:rPr sz="2400" b="0">
                    <a:solidFill>
                      <a:srgbClr val="78350F"/>
                    </a:solidFill>
                    <a:latin typeface="Arial"/>
                  </a:rPr>
                  <a:t> directly from the line and the mid-point: its normal is perpendicular to the line direction and to the vector from a point of the line to the mid-point.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line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mid-point is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Vector in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line passes through </a:t>
                </a:r>
                <a:r>
                  <a:rPr lang="en-IN" sz="2400">
                    <a:solidFill>
                      <a:srgbClr val="111827"/>
                    </a:solidFill>
                    <a:latin typeface="Cambria Math" panose="02040503050406030204" pitchFamily="18" charset="0"/>
                  </a:rPr>
                  <a:t>$(15,12,0)$</a:t>
                </a:r>
                <a:r>
                  <a:rPr sz="2400" b="0">
                    <a:solidFill>
                      <a:srgbClr val="111827"/>
                    </a:solidFill>
                    <a:latin typeface="Arial"/>
                  </a:rPr>
                  <a:t> with direction </a:t>
                </a:r>
                <a:r>
                  <a:rPr lang="en-IN" sz="2400">
                    <a:solidFill>
                      <a:srgbClr val="111827"/>
                    </a:solidFill>
                    <a:latin typeface="Cambria Math" panose="02040503050406030204" pitchFamily="18" charset="0"/>
                  </a:rPr>
                  <a:t>$\vec d=(5,4,-1)$</a:t>
                </a:r>
                <a:r>
                  <a:rPr sz="2400" b="0">
                    <a:solidFill>
                      <a:srgbClr val="111827"/>
                    </a:solidFill>
                    <a:latin typeface="Arial"/>
                  </a:rPr>
                  <a:t>; the mid-point is </a:t>
                </a:r>
                <a:r>
                  <a:rPr lang="en-IN" sz="2400">
                    <a:solidFill>
                      <a:srgbClr val="111827"/>
                    </a:solidFill>
                    <a:latin typeface="Cambria Math" panose="02040503050406030204" pitchFamily="18" charset="0"/>
                  </a:rPr>
                  <a:t>$M=(1,0,-1)$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Vector in </a:t>
                </a:r>
                <a:r>
                  <a:rPr lang="en-IN" sz="2400">
                    <a:solidFill>
                      <a:srgbClr val="111827"/>
                    </a:solidFill>
                    <a:latin typeface="Cambria Math" panose="02040503050406030204" pitchFamily="18" charset="0"/>
                  </a:rPr>
                  <a:t>$P_3$</a:t>
                </a:r>
                <a:r>
                  <a:rPr sz="2400" b="0">
                    <a:solidFill>
                      <a:srgbClr val="111827"/>
                    </a:solidFill>
                    <a:latin typeface="Arial"/>
                  </a:rPr>
                  <a:t>: </a:t>
                </a:r>
                <a:r>
                  <a:rPr lang="en-IN" sz="2400">
                    <a:solidFill>
                      <a:srgbClr val="111827"/>
                    </a:solidFill>
                    <a:latin typeface="Cambria Math" panose="02040503050406030204" pitchFamily="18" charset="0"/>
                  </a:rPr>
                  <a:t>$\overrightarrow{M\,(15,12,0)}=(14,12,1)$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of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Plane through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the same as (B).</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Normal of </a:t>
                </a:r>
                <a:r>
                  <a:rPr lang="en-IN" sz="2400">
                    <a:solidFill>
                      <a:srgbClr val="111827"/>
                    </a:solidFill>
                    <a:latin typeface="Cambria Math" panose="02040503050406030204" pitchFamily="18" charset="0"/>
                  </a:rPr>
                  <a:t>$P_3$</a:t>
                </a:r>
                <a:r>
                  <a:rPr sz="2400" b="0">
                    <a:solidFill>
                      <a:srgbClr val="111827"/>
                    </a:solidFill>
                    <a:latin typeface="Arial"/>
                  </a:rPr>
                  <a:t>: </a:t>
                </a:r>
                <a:r>
                  <a:rPr lang="en-IN" sz="2400">
                    <a:solidFill>
                      <a:srgbClr val="111827"/>
                    </a:solidFill>
                    <a:latin typeface="Cambria Math" panose="02040503050406030204" pitchFamily="18" charset="0"/>
                  </a:rPr>
                  <a:t>$\vec d\times(14,12,1)=(4\cdot1-(-1)\cdot12,\ (-1)\cdot14-5\cdot1,\ 5\cdot12-4\cdot14)=(16,-19,4)$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Plane through </a:t>
                </a:r>
                <a:r>
                  <a:rPr lang="en-IN" sz="2400">
                    <a:solidFill>
                      <a:srgbClr val="111827"/>
                    </a:solidFill>
                    <a:latin typeface="Cambria Math" panose="02040503050406030204" pitchFamily="18" charset="0"/>
                  </a:rPr>
                  <a:t>$M$</a:t>
                </a:r>
                <a:r>
                  <a:rPr sz="2400" b="0">
                    <a:solidFill>
                      <a:srgbClr val="111827"/>
                    </a:solidFill>
                    <a:latin typeface="Arial"/>
                  </a:rPr>
                  <a:t>: </a:t>
                </a:r>
                <a:r>
                  <a:rPr lang="en-IN" sz="2400">
                    <a:solidFill>
                      <a:srgbClr val="111827"/>
                    </a:solidFill>
                    <a:latin typeface="Cambria Math" panose="02040503050406030204" pitchFamily="18" charset="0"/>
                  </a:rPr>
                  <a:t>$16(x-1)-19y+4(z+1)=0\Rightarrow16x-19y+4z=12$</a:t>
                </a:r>
                <a:r>
                  <a:rPr sz="2400" b="0">
                    <a:solidFill>
                      <a:srgbClr val="111827"/>
                    </a:solidFill>
                    <a:latin typeface="Arial"/>
                  </a:rPr>
                  <a:t>, the same as (B).</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B, C)</a:t>
            </a:r>
            <a:endParaRPr sz="2800">
              <a:solidFill>
                <a:srgbClr val="15803D"/>
              </a:solidFill>
            </a:endParaRP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of intersection of planes with normals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has direction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Every plane through the line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(one parameter, fixed by one extra condition).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perpendicular from a point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to a plane meeting it at the foot </a:t>
                </a:r>
                <a14:m>
                  <m:oMath xmlns:m="http://schemas.openxmlformats.org/officeDocument/2006/math">
                    <m:r>
                      <a:rPr lang="en-IN" sz="2400" i="1">
                        <a:solidFill>
                          <a:srgbClr val="111827"/>
                        </a:solidFill>
                        <a:latin typeface="Cambria Math" panose="02040503050406030204" pitchFamily="18" charset="0"/>
                      </a:rPr>
                      <m:t>𝐹</m:t>
                    </m:r>
                  </m:oMath>
                </a14:m>
                <a:r>
                  <a:rPr sz="2400" b="0">
                    <a:solidFill>
                      <a:srgbClr val="111827"/>
                    </a:solidFill>
                    <a:latin typeface="Arial"/>
                  </a:rPr>
                  <a:t> gives the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oMath>
                </a14:m>
                <a:r>
                  <a:rPr sz="2400" b="0">
                    <a:solidFill>
                      <a:srgbClr val="111827"/>
                    </a:solidFill>
                    <a:latin typeface="Arial"/>
                  </a:rPr>
                  <a:t> and the plane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(no need for the plane's equation).</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of intersection of planes with normals </a:t>
                </a:r>
                <a:r>
                  <a:rPr lang="en-IN" sz="2400">
                    <a:solidFill>
                      <a:srgbClr val="111827"/>
                    </a:solidFill>
                    <a:latin typeface="Cambria Math" panose="02040503050406030204" pitchFamily="18" charset="0"/>
                  </a:rPr>
                  <a:t>$\vec n_1,\vec n_2$</a:t>
                </a:r>
                <a:r>
                  <a:rPr sz="2400" b="0">
                    <a:solidFill>
                      <a:srgbClr val="111827"/>
                    </a:solidFill>
                    <a:latin typeface="Arial"/>
                  </a:rPr>
                  <a:t> has direction </a:t>
                </a:r>
                <a:r>
                  <a:rPr lang="en-IN" sz="2400">
                    <a:solidFill>
                      <a:srgbClr val="111827"/>
                    </a:solidFill>
                    <a:latin typeface="Cambria Math" panose="02040503050406030204" pitchFamily="18" charset="0"/>
                  </a:rPr>
                  <a:t>$\vec n_1\times\vec n_2$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Every plane through the line </a:t>
                </a:r>
                <a:r>
                  <a:rPr lang="en-IN" sz="2400">
                    <a:solidFill>
                      <a:srgbClr val="111827"/>
                    </a:solidFill>
                    <a:latin typeface="Cambria Math" panose="02040503050406030204" pitchFamily="18" charset="0"/>
                  </a:rPr>
                  <a:t>$P_1=0=P_2$</a:t>
                </a:r>
                <a:r>
                  <a:rPr sz="2400" b="0">
                    <a:solidFill>
                      <a:srgbClr val="111827"/>
                    </a:solidFill>
                    <a:latin typeface="Arial"/>
                  </a:rPr>
                  <a:t> is </a:t>
                </a:r>
                <a:r>
                  <a:rPr lang="en-IN" sz="2400">
                    <a:solidFill>
                      <a:srgbClr val="111827"/>
                    </a:solidFill>
                    <a:latin typeface="Cambria Math" panose="02040503050406030204" pitchFamily="18" charset="0"/>
                  </a:rPr>
                  <a:t>$P_1+\lambda P_2=0$</a:t>
                </a:r>
                <a:r>
                  <a:rPr sz="2400" b="0">
                    <a:solidFill>
                      <a:srgbClr val="111827"/>
                    </a:solidFill>
                    <a:latin typeface="Arial"/>
                  </a:rPr>
                  <a:t> (one parameter, fixed by one extra condition).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perpendicular from a point </a:t>
                </a:r>
                <a:r>
                  <a:rPr lang="en-IN" sz="2400">
                    <a:solidFill>
                      <a:srgbClr val="111827"/>
                    </a:solidFill>
                    <a:latin typeface="Cambria Math" panose="02040503050406030204" pitchFamily="18" charset="0"/>
                  </a:rPr>
                  <a:t>$A$</a:t>
                </a:r>
                <a:r>
                  <a:rPr sz="2400" b="0">
                    <a:solidFill>
                      <a:srgbClr val="111827"/>
                    </a:solidFill>
                    <a:latin typeface="Arial"/>
                  </a:rPr>
                  <a:t> to a plane meeting it at the foot </a:t>
                </a:r>
                <a:r>
                  <a:rPr lang="en-IN" sz="2400">
                    <a:solidFill>
                      <a:srgbClr val="111827"/>
                    </a:solidFill>
                    <a:latin typeface="Cambria Math" panose="02040503050406030204" pitchFamily="18" charset="0"/>
                  </a:rPr>
                  <a:t>$F$</a:t>
                </a:r>
                <a:r>
                  <a:rPr sz="2400" b="0">
                    <a:solidFill>
                      <a:srgbClr val="111827"/>
                    </a:solidFill>
                    <a:latin typeface="Arial"/>
                  </a:rPr>
                  <a:t> gives the normal </a:t>
                </a:r>
                <a:r>
                  <a:rPr lang="en-IN" sz="2400">
                    <a:solidFill>
                      <a:srgbClr val="111827"/>
                    </a:solidFill>
                    <a:latin typeface="Cambria Math" panose="02040503050406030204" pitchFamily="18" charset="0"/>
                  </a:rPr>
                  <a:t>$\overrightarrow{AF}$</a:t>
                </a:r>
                <a:r>
                  <a:rPr sz="2400" b="0">
                    <a:solidFill>
                      <a:srgbClr val="111827"/>
                    </a:solidFill>
                    <a:latin typeface="Arial"/>
                  </a:rPr>
                  <a:t> and the plane </a:t>
                </a:r>
                <a:r>
                  <a:rPr lang="en-IN" sz="2400">
                    <a:solidFill>
                      <a:srgbClr val="111827"/>
                    </a:solidFill>
                    <a:latin typeface="Cambria Math" panose="02040503050406030204" pitchFamily="18" charset="0"/>
                  </a:rPr>
                  <a:t>$\overrightarrow{AF}\cdot(\vec r-\vec F)=0$</a:t>
                </a:r>
                <a:r>
                  <a:rPr sz="2400" b="0">
                    <a:solidFill>
                      <a:srgbClr val="111827"/>
                    </a:solidFill>
                    <a:latin typeface="Arial"/>
                  </a:rPr>
                  <a:t> (no need for the plane's equation).</a:t>
                </a:r>
                <a:endParaRPr sz="2400">
                  <a:solidFill>
                    <a:srgbClr val="111827"/>
                  </a:solidFill>
                </a:endParaRPr>
              </a:p>
            </p:txBody>
          </p:sp>
        </mc:Fallback>
      </mc:AlternateContent>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12140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oMath>
                </a14:m>
                <a:r>
                  <a:rPr sz="2400" b="0">
                    <a:solidFill>
                      <a:srgbClr val="111827"/>
                    </a:solidFill>
                    <a:latin typeface="Arial"/>
                  </a:rPr>
                  <a:t>, then which of the following is/are true: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are perpendicular.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are parallel.</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is of length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oMath>
                </a14:m>
                <a:r>
                  <a:rPr sz="2400" b="0">
                    <a:solidFill>
                      <a:srgbClr val="111827"/>
                    </a:solidFill>
                    <a:latin typeface="Arial"/>
                  </a:rPr>
                  <a:t> units, then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can be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If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26</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oMath>
                </a14:m>
                <a:r>
                  <a:rPr sz="2400" b="0">
                    <a:solidFill>
                      <a:srgbClr val="111827"/>
                    </a:solidFill>
                    <a:latin typeface="Arial"/>
                  </a:rPr>
                  <a:t> units.</a:t>
                </a:r>
                <a:endParaRPr sz="2400">
                  <a:solidFill>
                    <a:srgbClr val="111827"/>
                  </a:solidFill>
                </a:endParaRPr>
              </a:p>
            </p:txBody>
          </p:sp>
        </mc:Choice>
        <mc:Fallback>
          <p:sp>
            <p:nvSpPr>
              <p:cNvPr id="4" name="Rounded Rectangle 3"/>
              <p:cNvSpPr/>
              <p:nvPr/>
            </p:nvSpPr>
            <p:spPr>
              <a:xfrm>
                <a:off x="731520" y="1280160"/>
                <a:ext cx="10725912" cy="412140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$a_1,a_2,a_3\in R-\{0\}$</a:t>
                </a:r>
                <a:r>
                  <a:rPr sz="2400" b="0">
                    <a:solidFill>
                      <a:srgbClr val="111827"/>
                    </a:solidFill>
                    <a:latin typeface="Arial"/>
                  </a:rPr>
                  <a:t> and </a:t>
                </a:r>
                <a:r>
                  <a:rPr lang="en-IN" sz="2400">
                    <a:solidFill>
                      <a:srgbClr val="111827"/>
                    </a:solidFill>
                    <a:latin typeface="Cambria Math" panose="02040503050406030204" pitchFamily="18" charset="0"/>
                  </a:rPr>
                  <a:t>$a_1+a_2\cos2x+a_3\sin^2x=0\ \forall x\in R$</a:t>
                </a:r>
                <a:r>
                  <a:rPr sz="2400" b="0">
                    <a:solidFill>
                      <a:srgbClr val="111827"/>
                    </a:solidFill>
                    <a:latin typeface="Arial"/>
                  </a:rPr>
                  <a:t>, then which of the following is/are true: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$\vec a=a_1\hat i+a_2\hat j+a_3\hat k$</a:t>
                </a:r>
                <a:r>
                  <a:rPr sz="2400" b="0">
                    <a:solidFill>
                      <a:srgbClr val="111827"/>
                    </a:solidFill>
                    <a:latin typeface="Arial"/>
                  </a:rPr>
                  <a:t> and </a:t>
                </a:r>
                <a:r>
                  <a:rPr lang="en-IN" sz="2400">
                    <a:solidFill>
                      <a:srgbClr val="111827"/>
                    </a:solidFill>
                    <a:latin typeface="Cambria Math" panose="02040503050406030204" pitchFamily="18" charset="0"/>
                  </a:rPr>
                  <a:t>$\vec b=4\hat i+2\hat j+\hat k$</a:t>
                </a:r>
                <a:r>
                  <a:rPr sz="2400" b="0">
                    <a:solidFill>
                      <a:srgbClr val="111827"/>
                    </a:solidFill>
                    <a:latin typeface="Arial"/>
                  </a:rPr>
                  <a:t> are perpendicular.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$\vec a=a_1\hat i+a_2\hat j+a_3\hat k$</a:t>
                </a:r>
                <a:r>
                  <a:rPr sz="2400" b="0">
                    <a:solidFill>
                      <a:srgbClr val="111827"/>
                    </a:solidFill>
                    <a:latin typeface="Arial"/>
                  </a:rPr>
                  <a:t> and </a:t>
                </a:r>
                <a:r>
                  <a:rPr lang="en-IN" sz="2400">
                    <a:solidFill>
                      <a:srgbClr val="111827"/>
                    </a:solidFill>
                    <a:latin typeface="Cambria Math" panose="02040503050406030204" pitchFamily="18" charset="0"/>
                  </a:rPr>
                  <a:t>$\vec b=-\hat i+\hat j+2\hat k$</a:t>
                </a:r>
                <a:r>
                  <a:rPr sz="2400" b="0">
                    <a:solidFill>
                      <a:srgbClr val="111827"/>
                    </a:solidFill>
                    <a:latin typeface="Arial"/>
                  </a:rPr>
                  <a:t> are parallel.</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If </a:t>
                </a:r>
                <a:r>
                  <a:rPr lang="en-IN" sz="2400">
                    <a:solidFill>
                      <a:srgbClr val="111827"/>
                    </a:solidFill>
                    <a:latin typeface="Cambria Math" panose="02040503050406030204" pitchFamily="18" charset="0"/>
                  </a:rPr>
                  <a:t>$\vec a=a_1\hat i+a_2\hat j+a_3\hat k$</a:t>
                </a:r>
                <a:r>
                  <a:rPr sz="2400" b="0">
                    <a:solidFill>
                      <a:srgbClr val="111827"/>
                    </a:solidFill>
                    <a:latin typeface="Arial"/>
                  </a:rPr>
                  <a:t> is of length </a:t>
                </a:r>
                <a:r>
                  <a:rPr lang="en-IN" sz="2400">
                    <a:solidFill>
                      <a:srgbClr val="111827"/>
                    </a:solidFill>
                    <a:latin typeface="Cambria Math" panose="02040503050406030204" pitchFamily="18" charset="0"/>
                  </a:rPr>
                  <a:t>$\sqrt6$</a:t>
                </a:r>
                <a:r>
                  <a:rPr sz="2400" b="0">
                    <a:solidFill>
                      <a:srgbClr val="111827"/>
                    </a:solidFill>
                    <a:latin typeface="Arial"/>
                  </a:rPr>
                  <a:t> units, then </a:t>
                </a:r>
                <a:r>
                  <a:rPr lang="en-IN" sz="2400">
                    <a:solidFill>
                      <a:srgbClr val="111827"/>
                    </a:solidFill>
                    <a:latin typeface="Cambria Math" panose="02040503050406030204" pitchFamily="18" charset="0"/>
                  </a:rPr>
                  <a:t>$(a_1,a_2,a_3)$</a:t>
                </a:r>
                <a:r>
                  <a:rPr sz="2400" b="0">
                    <a:solidFill>
                      <a:srgbClr val="111827"/>
                    </a:solidFill>
                    <a:latin typeface="Arial"/>
                  </a:rPr>
                  <a:t> can be </a:t>
                </a:r>
                <a:r>
                  <a:rPr lang="en-IN" sz="2400">
                    <a:solidFill>
                      <a:srgbClr val="111827"/>
                    </a:solidFill>
                    <a:latin typeface="Cambria Math" panose="02040503050406030204" pitchFamily="18" charset="0"/>
                  </a:rPr>
                  <a:t>$(1,-1,-2)$</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If </a:t>
                </a:r>
                <a:r>
                  <a:rPr lang="en-IN" sz="2400">
                    <a:solidFill>
                      <a:srgbClr val="111827"/>
                    </a:solidFill>
                    <a:latin typeface="Cambria Math" panose="02040503050406030204" pitchFamily="18" charset="0"/>
                  </a:rPr>
                  <a:t>$2a_1+3a_2+6a_3=26$</a:t>
                </a:r>
                <a:r>
                  <a:rPr sz="2400" b="0">
                    <a:solidFill>
                      <a:srgbClr val="111827"/>
                    </a:solidFill>
                    <a:latin typeface="Arial"/>
                  </a:rPr>
                  <a:t> then </a:t>
                </a:r>
                <a:r>
                  <a:rPr lang="en-IN" sz="2400">
                    <a:solidFill>
                      <a:srgbClr val="111827"/>
                    </a:solidFill>
                    <a:latin typeface="Cambria Math" panose="02040503050406030204" pitchFamily="18" charset="0"/>
                  </a:rPr>
                  <a:t>$|a_1\hat i+a_2\hat j+a_3\hat k|=2\sqrt6$</a:t>
                </a:r>
                <a:r>
                  <a:rPr sz="2400" b="0">
                    <a:solidFill>
                      <a:srgbClr val="111827"/>
                    </a:solidFill>
                    <a:latin typeface="Arial"/>
                  </a:rPr>
                  <a:t> units.</a:t>
                </a:r>
                <a:endParaRPr sz="2400">
                  <a:solidFill>
                    <a:srgbClr val="111827"/>
                  </a:solidFill>
                </a:endParaRPr>
              </a:p>
            </p:txBody>
          </p:sp>
        </mc:Fallback>
      </mc:AlternateContent>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Identity in trigonometric functions and parallel/perpendicular vectors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An identity in </a:t>
                </a:r>
                <a14:m>
                  <m:oMath xmlns:m="http://schemas.openxmlformats.org/officeDocument/2006/math">
                    <m:r>
                      <a:rPr lang="en-IN" sz="2400" i="1">
                        <a:solidFill>
                          <a:srgbClr val="78350F"/>
                        </a:solidFill>
                        <a:latin typeface="Cambria Math" panose="02040503050406030204" pitchFamily="18" charset="0"/>
                      </a:rPr>
                      <m:t>𝑥</m:t>
                    </m:r>
                  </m:oMath>
                </a14:m>
                <a:r>
                  <a:rPr sz="2400" b="0">
                    <a:solidFill>
                      <a:srgbClr val="78350F"/>
                    </a:solidFill>
                    <a:latin typeface="Arial"/>
                  </a:rPr>
                  <a:t> forces the coefficient of </a:t>
                </a:r>
                <a14:m>
                  <m:oMath xmlns:m="http://schemas.openxmlformats.org/officeDocument/2006/math">
                    <m:sSup>
                      <m:e>
                        <m:r>
                          <m:rPr>
                            <m:sty m:val="p"/>
                          </m:rPr>
                          <a:rPr lang="en-IN" sz="2400">
                            <a:solidFill>
                              <a:srgbClr val="78350F"/>
                            </a:solidFill>
                            <a:latin typeface="Cambria Math" panose="02040503050406030204" pitchFamily="18" charset="0"/>
                          </a:rPr>
                          <m:t>sin</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𝑥</m:t>
                    </m:r>
                  </m:oMath>
                </a14:m>
                <a:r>
                  <a:rPr sz="2400" b="0">
                    <a:solidFill>
                      <a:srgbClr val="78350F"/>
                    </a:solidFill>
                    <a:latin typeface="Arial"/>
                  </a:rPr>
                  <a:t> and the constant term to vanish: </a:t>
                </a:r>
                <a14:m>
                  <m:oMath xmlns:m="http://schemas.openxmlformats.org/officeDocument/2006/math">
                    <m:sSub>
                      <m:e>
                        <m:r>
                          <a:rPr lang="en-IN" sz="2400" i="1">
                            <a:solidFill>
                              <a:srgbClr val="78350F"/>
                            </a:solidFill>
                            <a:latin typeface="Cambria Math" panose="02040503050406030204" pitchFamily="18" charset="0"/>
                          </a:rPr>
                          <m:t>𝑎</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𝑎</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and </a:t>
                </a:r>
                <a14:m>
                  <m:oMath xmlns:m="http://schemas.openxmlformats.org/officeDocument/2006/math">
                    <m:sSub>
                      <m:e>
                        <m:r>
                          <a:rPr lang="en-IN" sz="2400" i="1">
                            <a:solidFill>
                              <a:srgbClr val="78350F"/>
                            </a:solidFill>
                            <a:latin typeface="Cambria Math" panose="02040503050406030204" pitchFamily="18" charset="0"/>
                          </a:rPr>
                          <m:t>𝑎</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Sub>
                      <m:e>
                        <m:r>
                          <a:rPr lang="en-IN" sz="2400" i="1">
                            <a:solidFill>
                              <a:srgbClr val="78350F"/>
                            </a:solidFill>
                            <a:latin typeface="Cambria Math" panose="02040503050406030204" pitchFamily="18" charset="0"/>
                          </a:rPr>
                          <m:t>𝑎</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so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λ</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An identity in </a:t>
                </a:r>
                <a:r>
                  <a:rPr lang="en-IN" sz="2400">
                    <a:solidFill>
                      <a:srgbClr val="78350F"/>
                    </a:solidFill>
                    <a:latin typeface="Cambria Math" panose="02040503050406030204" pitchFamily="18" charset="0"/>
                  </a:rPr>
                  <a:t>$x$</a:t>
                </a:r>
                <a:r>
                  <a:rPr sz="2400" b="0">
                    <a:solidFill>
                      <a:srgbClr val="78350F"/>
                    </a:solidFill>
                    <a:latin typeface="Arial"/>
                  </a:rPr>
                  <a:t> forces the coefficient of </a:t>
                </a:r>
                <a:r>
                  <a:rPr lang="en-IN" sz="2400">
                    <a:solidFill>
                      <a:srgbClr val="78350F"/>
                    </a:solidFill>
                    <a:latin typeface="Cambria Math" panose="02040503050406030204" pitchFamily="18" charset="0"/>
                  </a:rPr>
                  <a:t>$\sin^2x$</a:t>
                </a:r>
                <a:r>
                  <a:rPr sz="2400" b="0">
                    <a:solidFill>
                      <a:srgbClr val="78350F"/>
                    </a:solidFill>
                    <a:latin typeface="Arial"/>
                  </a:rPr>
                  <a:t> and the constant term to vanish: </a:t>
                </a:r>
                <a:r>
                  <a:rPr lang="en-IN" sz="2400">
                    <a:solidFill>
                      <a:srgbClr val="78350F"/>
                    </a:solidFill>
                    <a:latin typeface="Cambria Math" panose="02040503050406030204" pitchFamily="18" charset="0"/>
                  </a:rPr>
                  <a:t>$a_1+a_2=0$</a:t>
                </a:r>
                <a:r>
                  <a:rPr sz="2400" b="0">
                    <a:solidFill>
                      <a:srgbClr val="78350F"/>
                    </a:solidFill>
                    <a:latin typeface="Arial"/>
                  </a:rPr>
                  <a:t> and </a:t>
                </a:r>
                <a:r>
                  <a:rPr lang="en-IN" sz="2400">
                    <a:solidFill>
                      <a:srgbClr val="78350F"/>
                    </a:solidFill>
                    <a:latin typeface="Cambria Math" panose="02040503050406030204" pitchFamily="18" charset="0"/>
                  </a:rPr>
                  <a:t>$a_3=2a_2$</a:t>
                </a:r>
                <a:r>
                  <a:rPr sz="2400" b="0">
                    <a:solidFill>
                      <a:srgbClr val="78350F"/>
                    </a:solidFill>
                    <a:latin typeface="Arial"/>
                  </a:rPr>
                  <a:t>, so </a:t>
                </a:r>
                <a:r>
                  <a:rPr lang="en-IN" sz="2400">
                    <a:solidFill>
                      <a:srgbClr val="78350F"/>
                    </a:solidFill>
                    <a:latin typeface="Cambria Math" panose="02040503050406030204" pitchFamily="18" charset="0"/>
                  </a:rPr>
                  <a:t>$\vec a=\lambda(-1,1,2)$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276088"/>
                <a:ext cx="10725912" cy="13990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Using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 all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276088"/>
                <a:ext cx="10725912" cy="13990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Using </a:t>
                </a:r>
                <a:r>
                  <a:rPr lang="en-IN" sz="2400">
                    <a:solidFill>
                      <a:srgbClr val="111827"/>
                    </a:solidFill>
                    <a:latin typeface="Cambria Math" panose="02040503050406030204" pitchFamily="18" charset="0"/>
                  </a:rPr>
                  <a:t>$\cos2x=1-2\sin^2x$</a:t>
                </a:r>
                <a:r>
                  <a:rPr sz="2400" b="0">
                    <a:solidFill>
                      <a:srgbClr val="111827"/>
                    </a:solidFill>
                    <a:latin typeface="Arial"/>
                  </a:rPr>
                  <a:t>: </a:t>
                </a:r>
                <a:r>
                  <a:rPr lang="en-IN" sz="2400">
                    <a:solidFill>
                      <a:srgbClr val="111827"/>
                    </a:solidFill>
                    <a:latin typeface="Cambria Math" panose="02040503050406030204" pitchFamily="18" charset="0"/>
                  </a:rPr>
                  <a:t>$(a_1+a_2)+\sin^2x(a_3-2a_2)=0$</a:t>
                </a:r>
                <a:r>
                  <a:rPr sz="2400" b="0">
                    <a:solidFill>
                      <a:srgbClr val="111827"/>
                    </a:solidFill>
                    <a:latin typeface="Arial"/>
                  </a:rPr>
                  <a:t> for all </a:t>
                </a:r>
                <a:r>
                  <a:rPr lang="en-IN" sz="2400">
                    <a:solidFill>
                      <a:srgbClr val="111827"/>
                    </a:solidFill>
                    <a:latin typeface="Cambria Math" panose="02040503050406030204" pitchFamily="18" charset="0"/>
                  </a:rPr>
                  <a:t>$x$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$a_1+a_2=0$</a:t>
                </a:r>
                <a:r>
                  <a:rPr sz="2400" b="0">
                    <a:solidFill>
                      <a:srgbClr val="111827"/>
                    </a:solidFill>
                    <a:latin typeface="Arial"/>
                  </a:rPr>
                  <a:t> and </a:t>
                </a:r>
                <a:r>
                  <a:rPr lang="en-IN" sz="2400">
                    <a:solidFill>
                      <a:srgbClr val="111827"/>
                    </a:solidFill>
                    <a:latin typeface="Cambria Math" panose="02040503050406030204" pitchFamily="18" charset="0"/>
                  </a:rPr>
                  <a:t>$a_3-2a_2=0$</a:t>
                </a:r>
                <a:r>
                  <a:rPr sz="2400" b="0">
                    <a:solidFill>
                      <a:srgbClr val="111827"/>
                    </a:solidFill>
                    <a:latin typeface="Arial"/>
                  </a:rPr>
                  <a:t>, i.e. </a:t>
                </a:r>
                <a:r>
                  <a:rPr lang="en-IN" sz="2400">
                    <a:solidFill>
                      <a:srgbClr val="111827"/>
                    </a:solidFill>
                    <a:latin typeface="Cambria Math" panose="02040503050406030204" pitchFamily="18" charset="0"/>
                  </a:rPr>
                  <a:t>$\frac{a_1}{-1}=\frac{a_2}{1}=\frac{a_3}{2}=\lambda$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for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for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parallel,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possible,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oMath>
                </a14:m>
                <a:r>
                  <a:rPr sz="2400" b="0">
                    <a:solidFill>
                      <a:srgbClr val="111827"/>
                    </a:solidFill>
                    <a:latin typeface="Arial"/>
                  </a:rPr>
                  <a:t>: true. Answer: A, B, C,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$(a_1,a_2,a_3)=(-\lambda,\lambda,2\lambda)$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$\vec a\cdot\vec b=-4\lambda+2\lambda+2\lambda=0$</a:t>
                </a:r>
                <a:r>
                  <a:rPr sz="2400" b="0">
                    <a:solidFill>
                      <a:srgbClr val="111827"/>
                    </a:solidFill>
                    <a:latin typeface="Arial"/>
                  </a:rPr>
                  <a:t>, so </a:t>
                </a:r>
                <a:r>
                  <a:rPr lang="en-IN" sz="2400">
                    <a:solidFill>
                      <a:srgbClr val="111827"/>
                    </a:solidFill>
                    <a:latin typeface="Cambria Math" panose="02040503050406030204" pitchFamily="18" charset="0"/>
                  </a:rPr>
                  <a:t>$\vec a\perp\vec b$</a:t>
                </a:r>
                <a:r>
                  <a:rPr sz="2400" b="0">
                    <a:solidFill>
                      <a:srgbClr val="111827"/>
                    </a:solidFill>
                    <a:latin typeface="Arial"/>
                  </a:rPr>
                  <a:t> for </a:t>
                </a:r>
                <a:r>
                  <a:rPr lang="en-IN" sz="2400">
                    <a:solidFill>
                      <a:srgbClr val="111827"/>
                    </a:solidFill>
                    <a:latin typeface="Cambria Math" panose="02040503050406030204" pitchFamily="18" charset="0"/>
                  </a:rPr>
                  <a:t>$\vec b=4\hat i+2\hat j+\hat k$</a:t>
                </a:r>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$\vec a=\lambda(-\hat i+\hat j+2\hat k)=\lambda\vec b$</a:t>
                </a:r>
                <a:r>
                  <a:rPr sz="2400" b="0">
                    <a:solidFill>
                      <a:srgbClr val="111827"/>
                    </a:solidFill>
                    <a:latin typeface="Arial"/>
                  </a:rPr>
                  <a:t> for </a:t>
                </a:r>
                <a:r>
                  <a:rPr lang="en-IN" sz="2400">
                    <a:solidFill>
                      <a:srgbClr val="111827"/>
                    </a:solidFill>
                    <a:latin typeface="Cambria Math" panose="02040503050406030204" pitchFamily="18" charset="0"/>
                  </a:rPr>
                  <a:t>$\vec b=-\hat i+\hat j+2\hat k$</a:t>
                </a:r>
                <a:r>
                  <a:rPr sz="2400" b="0">
                    <a:solidFill>
                      <a:srgbClr val="111827"/>
                    </a:solidFill>
                    <a:latin typeface="Arial"/>
                  </a:rPr>
                  <a:t>: parallel,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$|\vec a|=\sqrt6\Rightarrow|\lambda|\sqrt6=\sqrt6\Rightarrow\lambda=\pm1$</a:t>
                </a:r>
                <a:r>
                  <a:rPr sz="2400" b="0">
                    <a:solidFill>
                      <a:srgbClr val="111827"/>
                    </a:solidFill>
                    <a:latin typeface="Arial"/>
                  </a:rPr>
                  <a:t>; </a:t>
                </a:r>
                <a:r>
                  <a:rPr lang="en-IN" sz="2400">
                    <a:solidFill>
                      <a:srgbClr val="111827"/>
                    </a:solidFill>
                    <a:latin typeface="Cambria Math" panose="02040503050406030204" pitchFamily="18" charset="0"/>
                  </a:rPr>
                  <a:t>$\lambda=-1$</a:t>
                </a:r>
                <a:r>
                  <a:rPr sz="2400" b="0">
                    <a:solidFill>
                      <a:srgbClr val="111827"/>
                    </a:solidFill>
                    <a:latin typeface="Arial"/>
                  </a:rPr>
                  <a:t> gives </a:t>
                </a:r>
                <a:r>
                  <a:rPr lang="en-IN" sz="2400">
                    <a:solidFill>
                      <a:srgbClr val="111827"/>
                    </a:solidFill>
                    <a:latin typeface="Cambria Math" panose="02040503050406030204" pitchFamily="18" charset="0"/>
                  </a:rPr>
                  <a:t>$(1,-1,-2)$</a:t>
                </a:r>
                <a:r>
                  <a:rPr sz="2400" b="0">
                    <a:solidFill>
                      <a:srgbClr val="111827"/>
                    </a:solidFill>
                    <a:latin typeface="Arial"/>
                  </a:rPr>
                  <a:t>: possible,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$2a_1+3a_2+6a_3=\lambda(-2+3+12)=13\lambda=26\Rightarrow\lambda=2$</a:t>
                </a:r>
                <a:r>
                  <a:rPr sz="2400" b="0">
                    <a:solidFill>
                      <a:srgbClr val="111827"/>
                    </a:solidFill>
                    <a:latin typeface="Arial"/>
                  </a:rPr>
                  <a:t>, so </a:t>
                </a:r>
                <a:r>
                  <a:rPr lang="en-IN" sz="2400">
                    <a:solidFill>
                      <a:srgbClr val="111827"/>
                    </a:solidFill>
                    <a:latin typeface="Cambria Math" panose="02040503050406030204" pitchFamily="18" charset="0"/>
                  </a:rPr>
                  <a:t>$|\vec a|=2\sqrt6$</a:t>
                </a:r>
                <a:r>
                  <a:rPr sz="2400" b="0">
                    <a:solidFill>
                      <a:srgbClr val="111827"/>
                    </a:solidFill>
                    <a:latin typeface="Arial"/>
                  </a:rPr>
                  <a:t>: true. Answer: A, B, C,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 C, D)</a:t>
            </a:r>
            <a:endParaRPr sz="2800">
              <a:solidFill>
                <a:srgbClr val="15803D"/>
              </a:solidFill>
            </a:endParaRP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Substitute two convenient values of </a:t>
                </a:r>
                <a14:m>
                  <m:oMath xmlns:m="http://schemas.openxmlformats.org/officeDocument/2006/math">
                    <m:r>
                      <a:rPr lang="en-IN" sz="2400" i="1">
                        <a:solidFill>
                          <a:srgbClr val="78350F"/>
                        </a:solidFill>
                        <a:latin typeface="Cambria Math" panose="02040503050406030204" pitchFamily="18" charset="0"/>
                      </a:rPr>
                      <m:t>𝑥</m:t>
                    </m:r>
                  </m:oMath>
                </a14:m>
                <a:r>
                  <a:rPr sz="2400" b="0">
                    <a:solidFill>
                      <a:srgbClr val="78350F"/>
                    </a:solidFill>
                    <a:latin typeface="Arial"/>
                  </a:rPr>
                  <a:t> instead of comparing coefficients.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Substitute two convenient values of </a:t>
                </a:r>
                <a:r>
                  <a:rPr lang="en-IN" sz="2400">
                    <a:solidFill>
                      <a:srgbClr val="78350F"/>
                    </a:solidFill>
                    <a:latin typeface="Cambria Math" panose="02040503050406030204" pitchFamily="18" charset="0"/>
                  </a:rPr>
                  <a:t>$x$</a:t>
                </a:r>
                <a:r>
                  <a:rPr sz="2400" b="0">
                    <a:solidFill>
                      <a:srgbClr val="78350F"/>
                    </a:solidFill>
                    <a:latin typeface="Arial"/>
                  </a:rPr>
                  <a:t> instead of comparing coefficients.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same family as before (and every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then satisfies the identity).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four statements then follow as above: all four are true.</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$x=0$</a:t>
                </a:r>
                <a:r>
                  <a:rPr sz="2400" b="0">
                    <a:solidFill>
                      <a:srgbClr val="111827"/>
                    </a:solidFill>
                    <a:latin typeface="Arial"/>
                  </a:rPr>
                  <a:t>: </a:t>
                </a:r>
                <a:r>
                  <a:rPr lang="en-IN" sz="2400">
                    <a:solidFill>
                      <a:srgbClr val="111827"/>
                    </a:solidFill>
                    <a:latin typeface="Cambria Math" panose="02040503050406030204" pitchFamily="18" charset="0"/>
                  </a:rPr>
                  <a:t>$a_1+a_2\cdot1+a_3\cdot0=0\Rightarrow a_1=-a_2$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$x=\frac\pi2$</a:t>
                </a:r>
                <a:r>
                  <a:rPr sz="2400" b="0">
                    <a:solidFill>
                      <a:srgbClr val="111827"/>
                    </a:solidFill>
                    <a:latin typeface="Arial"/>
                  </a:rPr>
                  <a:t>: </a:t>
                </a:r>
                <a:r>
                  <a:rPr lang="en-IN" sz="2400">
                    <a:solidFill>
                      <a:srgbClr val="111827"/>
                    </a:solidFill>
                    <a:latin typeface="Cambria Math" panose="02040503050406030204" pitchFamily="18" charset="0"/>
                  </a:rPr>
                  <a:t>$a_1+a_2\cos\pi+a_3\cdot1=0\Rightarrow a_1-a_2+a_3=0\Rightarrow a_3=a_2-a_1=2a_2$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$(a_1,a_2,a_3)=a_2(-1,1,2)$</a:t>
                </a:r>
                <a:r>
                  <a:rPr sz="2400" b="0">
                    <a:solidFill>
                      <a:srgbClr val="111827"/>
                    </a:solidFill>
                    <a:latin typeface="Arial"/>
                  </a:rPr>
                  <a:t>, the same family as before (and every </a:t>
                </a:r>
                <a:r>
                  <a:rPr lang="en-IN" sz="2400">
                    <a:solidFill>
                      <a:srgbClr val="111827"/>
                    </a:solidFill>
                    <a:latin typeface="Cambria Math" panose="02040503050406030204" pitchFamily="18" charset="0"/>
                  </a:rPr>
                  <a:t>$x$</a:t>
                </a:r>
                <a:r>
                  <a:rPr sz="2400" b="0">
                    <a:solidFill>
                      <a:srgbClr val="111827"/>
                    </a:solidFill>
                    <a:latin typeface="Arial"/>
                  </a:rPr>
                  <a:t> then satisfies the identity).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four statements then follow as above: all four are true.</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B, C, D)</a:t>
            </a:r>
            <a:endParaRPr sz="2800">
              <a:solidFill>
                <a:srgbClr val="15803D"/>
              </a:solidFill>
            </a:endParaRP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 all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oMath>
                </a14:m>
                <a:r>
                  <a:rPr sz="2400" b="0">
                    <a:solidFill>
                      <a:srgbClr val="111827"/>
                    </a:solidFill>
                    <a:latin typeface="Arial"/>
                  </a:rPr>
                  <a:t> in a set with more than one value, then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(comparing coefficients of independent functions).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substitutions of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(e.g.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are enough to get the coefficients, and they must be verified in the original identity.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are parallel;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perpendicular; fixing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or a linear combination fixes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$A+B\,s=0$</a:t>
                </a:r>
                <a:r>
                  <a:rPr sz="2400" b="0">
                    <a:solidFill>
                      <a:srgbClr val="111827"/>
                    </a:solidFill>
                    <a:latin typeface="Arial"/>
                  </a:rPr>
                  <a:t> for all </a:t>
                </a:r>
                <a:r>
                  <a:rPr lang="en-IN" sz="2400">
                    <a:solidFill>
                      <a:srgbClr val="111827"/>
                    </a:solidFill>
                    <a:latin typeface="Cambria Math" panose="02040503050406030204" pitchFamily="18" charset="0"/>
                  </a:rPr>
                  <a:t>$s=\sin^2x$</a:t>
                </a:r>
                <a:r>
                  <a:rPr sz="2400" b="0">
                    <a:solidFill>
                      <a:srgbClr val="111827"/>
                    </a:solidFill>
                    <a:latin typeface="Arial"/>
                  </a:rPr>
                  <a:t> in a set with more than one value, then </a:t>
                </a:r>
                <a:r>
                  <a:rPr lang="en-IN" sz="2400">
                    <a:solidFill>
                      <a:srgbClr val="111827"/>
                    </a:solidFill>
                    <a:latin typeface="Cambria Math" panose="02040503050406030204" pitchFamily="18" charset="0"/>
                  </a:rPr>
                  <a:t>$A=B=0$</a:t>
                </a:r>
                <a:r>
                  <a:rPr sz="2400" b="0">
                    <a:solidFill>
                      <a:srgbClr val="111827"/>
                    </a:solidFill>
                    <a:latin typeface="Arial"/>
                  </a:rPr>
                  <a:t> (comparing coefficients of independent functions).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substitutions of </a:t>
                </a:r>
                <a:r>
                  <a:rPr lang="en-IN" sz="2400">
                    <a:solidFill>
                      <a:srgbClr val="111827"/>
                    </a:solidFill>
                    <a:latin typeface="Cambria Math" panose="02040503050406030204" pitchFamily="18" charset="0"/>
                  </a:rPr>
                  <a:t>$x$</a:t>
                </a:r>
                <a:r>
                  <a:rPr sz="2400" b="0">
                    <a:solidFill>
                      <a:srgbClr val="111827"/>
                    </a:solidFill>
                    <a:latin typeface="Arial"/>
                  </a:rPr>
                  <a:t> (e.g. </a:t>
                </a:r>
                <a:r>
                  <a:rPr lang="en-IN" sz="2400">
                    <a:solidFill>
                      <a:srgbClr val="111827"/>
                    </a:solidFill>
                    <a:latin typeface="Cambria Math" panose="02040503050406030204" pitchFamily="18" charset="0"/>
                  </a:rPr>
                  <a:t>$0$</a:t>
                </a:r>
                <a:r>
                  <a:rPr sz="2400" b="0">
                    <a:solidFill>
                      <a:srgbClr val="111827"/>
                    </a:solidFill>
                    <a:latin typeface="Arial"/>
                  </a:rPr>
                  <a:t> and </a:t>
                </a:r>
                <a:r>
                  <a:rPr lang="en-IN" sz="2400">
                    <a:solidFill>
                      <a:srgbClr val="111827"/>
                    </a:solidFill>
                    <a:latin typeface="Cambria Math" panose="02040503050406030204" pitchFamily="18" charset="0"/>
                  </a:rPr>
                  <a:t>$\frac\pi2$</a:t>
                </a:r>
                <a:r>
                  <a:rPr sz="2400" b="0">
                    <a:solidFill>
                      <a:srgbClr val="111827"/>
                    </a:solidFill>
                    <a:latin typeface="Arial"/>
                  </a:rPr>
                  <a:t>) are enough to get the coefficients, and they must be verified in the original identity.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Vectors </a:t>
                </a:r>
                <a:r>
                  <a:rPr lang="en-IN" sz="2400">
                    <a:solidFill>
                      <a:srgbClr val="111827"/>
                    </a:solidFill>
                    <a:latin typeface="Cambria Math" panose="02040503050406030204" pitchFamily="18" charset="0"/>
                  </a:rPr>
                  <a:t>$\vec a=\lambda\vec b$</a:t>
                </a:r>
                <a:r>
                  <a:rPr sz="2400" b="0">
                    <a:solidFill>
                      <a:srgbClr val="111827"/>
                    </a:solidFill>
                    <a:latin typeface="Arial"/>
                  </a:rPr>
                  <a:t> are parallel; </a:t>
                </a:r>
                <a:r>
                  <a:rPr lang="en-IN" sz="2400">
                    <a:solidFill>
                      <a:srgbClr val="111827"/>
                    </a:solidFill>
                    <a:latin typeface="Cambria Math" panose="02040503050406030204" pitchFamily="18" charset="0"/>
                  </a:rPr>
                  <a:t>$\vec a\cdot\vec b=0$</a:t>
                </a:r>
                <a:r>
                  <a:rPr sz="2400" b="0">
                    <a:solidFill>
                      <a:srgbClr val="111827"/>
                    </a:solidFill>
                    <a:latin typeface="Arial"/>
                  </a:rPr>
                  <a:t> perpendicular; fixing </a:t>
                </a:r>
                <a:r>
                  <a:rPr lang="en-IN" sz="2400">
                    <a:solidFill>
                      <a:srgbClr val="111827"/>
                    </a:solidFill>
                    <a:latin typeface="Cambria Math" panose="02040503050406030204" pitchFamily="18" charset="0"/>
                  </a:rPr>
                  <a:t>$|\vec a|$</a:t>
                </a:r>
                <a:r>
                  <a:rPr sz="2400" b="0">
                    <a:solidFill>
                      <a:srgbClr val="111827"/>
                    </a:solidFill>
                    <a:latin typeface="Arial"/>
                  </a:rPr>
                  <a:t> or a linear combination fixes </a:t>
                </a:r>
                <a:r>
                  <a:rPr lang="en-IN" sz="2400">
                    <a:solidFill>
                      <a:srgbClr val="111827"/>
                    </a:solidFill>
                    <a:latin typeface="Cambria Math" panose="02040503050406030204" pitchFamily="18" charset="0"/>
                  </a:rPr>
                  <a:t>$\lambda$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60298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position vector of the vertices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&amp;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of a tetrahedron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&amp;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respectively. The altitude from the vertex </a:t>
                </a:r>
                <a14:m>
                  <m:oMath xmlns:m="http://schemas.openxmlformats.org/officeDocument/2006/math">
                    <m:r>
                      <a:rPr lang="en-IN" sz="2400" i="1">
                        <a:solidFill>
                          <a:srgbClr val="111827"/>
                        </a:solidFill>
                        <a:latin typeface="Cambria Math" panose="02040503050406030204" pitchFamily="18" charset="0"/>
                      </a:rPr>
                      <m:t>𝐷</m:t>
                    </m:r>
                  </m:oMath>
                </a14:m>
                <a:r>
                  <a:rPr sz="2400" b="0">
                    <a:solidFill>
                      <a:srgbClr val="111827"/>
                    </a:solidFill>
                    <a:latin typeface="Arial"/>
                  </a:rPr>
                  <a:t> to the opposite face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meets the median through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at point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units and volume of tetrahedron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3</m:t>
                        </m:r>
                      </m:den>
                    </m:f>
                  </m:oMath>
                </a14:m>
                <a:r>
                  <a:rPr sz="2400" b="0">
                    <a:solidFill>
                      <a:srgbClr val="111827"/>
                    </a:solidFill>
                    <a:latin typeface="Arial"/>
                  </a:rPr>
                  <a:t>, then the correct statement(s) among the following is/are: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The altitude from vertex </a:t>
                </a: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units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There is only one possible position for point </a:t>
                </a:r>
                <a14:m>
                  <m:oMath xmlns:m="http://schemas.openxmlformats.org/officeDocument/2006/math">
                    <m:r>
                      <a:rPr lang="en-IN" sz="2400" i="1">
                        <a:solidFill>
                          <a:srgbClr val="111827"/>
                        </a:solidFill>
                        <a:latin typeface="Cambria Math" panose="02040503050406030204" pitchFamily="18" charset="0"/>
                      </a:rPr>
                      <m:t>𝐸</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There are two possible positions for point </a:t>
                </a:r>
                <a14:m>
                  <m:oMath xmlns:m="http://schemas.openxmlformats.org/officeDocument/2006/math">
                    <m:r>
                      <a:rPr lang="en-IN" sz="2400" i="1">
                        <a:solidFill>
                          <a:srgbClr val="111827"/>
                        </a:solidFill>
                        <a:latin typeface="Cambria Math" panose="02040503050406030204" pitchFamily="18" charset="0"/>
                      </a:rPr>
                      <m:t>𝐸</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is normal to the plane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endParaRPr sz="2400">
                  <a:solidFill>
                    <a:srgbClr val="111827"/>
                  </a:solidFill>
                </a:endParaRPr>
              </a:p>
            </p:txBody>
          </p:sp>
        </mc:Choice>
        <mc:Fallback>
          <p:sp>
            <p:nvSpPr>
              <p:cNvPr id="4" name="Rounded Rectangle 3"/>
              <p:cNvSpPr/>
              <p:nvPr/>
            </p:nvSpPr>
            <p:spPr>
              <a:xfrm>
                <a:off x="731520" y="1280160"/>
                <a:ext cx="10725912" cy="460298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position vector of the vertices </a:t>
                </a:r>
                <a:r>
                  <a:rPr lang="en-IN" sz="2400">
                    <a:solidFill>
                      <a:srgbClr val="111827"/>
                    </a:solidFill>
                    <a:latin typeface="Cambria Math" panose="02040503050406030204" pitchFamily="18" charset="0"/>
                  </a:rPr>
                  <a:t>$A,B$</a:t>
                </a:r>
                <a:r>
                  <a:rPr sz="2400" b="0">
                    <a:solidFill>
                      <a:srgbClr val="111827"/>
                    </a:solidFill>
                    <a:latin typeface="Arial"/>
                  </a:rPr>
                  <a:t> &amp; </a:t>
                </a:r>
                <a:r>
                  <a:rPr lang="en-IN" sz="2400">
                    <a:solidFill>
                      <a:srgbClr val="111827"/>
                    </a:solidFill>
                    <a:latin typeface="Cambria Math" panose="02040503050406030204" pitchFamily="18" charset="0"/>
                  </a:rPr>
                  <a:t>$C$</a:t>
                </a:r>
                <a:r>
                  <a:rPr sz="2400" b="0">
                    <a:solidFill>
                      <a:srgbClr val="111827"/>
                    </a:solidFill>
                    <a:latin typeface="Arial"/>
                  </a:rPr>
                  <a:t> of a tetrahedron </a:t>
                </a:r>
                <a:r>
                  <a:rPr lang="en-IN" sz="2400">
                    <a:solidFill>
                      <a:srgbClr val="111827"/>
                    </a:solidFill>
                    <a:latin typeface="Cambria Math" panose="02040503050406030204" pitchFamily="18" charset="0"/>
                  </a:rPr>
                  <a:t>$ABCD$</a:t>
                </a:r>
                <a:r>
                  <a:rPr sz="2400" b="0">
                    <a:solidFill>
                      <a:srgbClr val="111827"/>
                    </a:solidFill>
                    <a:latin typeface="Arial"/>
                  </a:rPr>
                  <a:t> are </a:t>
                </a:r>
                <a:r>
                  <a:rPr lang="en-IN" sz="2400">
                    <a:solidFill>
                      <a:srgbClr val="111827"/>
                    </a:solidFill>
                    <a:latin typeface="Cambria Math" panose="02040503050406030204" pitchFamily="18" charset="0"/>
                  </a:rPr>
                  <a:t>$(1,1,1)$</a:t>
                </a:r>
                <a:r>
                  <a:rPr sz="2400" b="0">
                    <a:solidFill>
                      <a:srgbClr val="111827"/>
                    </a:solidFill>
                    <a:latin typeface="Arial"/>
                  </a:rPr>
                  <a:t>, </a:t>
                </a:r>
                <a:r>
                  <a:rPr lang="en-IN" sz="2400">
                    <a:solidFill>
                      <a:srgbClr val="111827"/>
                    </a:solidFill>
                    <a:latin typeface="Cambria Math" panose="02040503050406030204" pitchFamily="18" charset="0"/>
                  </a:rPr>
                  <a:t>$(1,0,0)$</a:t>
                </a:r>
                <a:r>
                  <a:rPr sz="2400" b="0">
                    <a:solidFill>
                      <a:srgbClr val="111827"/>
                    </a:solidFill>
                    <a:latin typeface="Arial"/>
                  </a:rPr>
                  <a:t> &amp; </a:t>
                </a:r>
                <a:r>
                  <a:rPr lang="en-IN" sz="2400">
                    <a:solidFill>
                      <a:srgbClr val="111827"/>
                    </a:solidFill>
                    <a:latin typeface="Cambria Math" panose="02040503050406030204" pitchFamily="18" charset="0"/>
                  </a:rPr>
                  <a:t>$(3,0,0)$</a:t>
                </a:r>
                <a:r>
                  <a:rPr sz="2400" b="0">
                    <a:solidFill>
                      <a:srgbClr val="111827"/>
                    </a:solidFill>
                    <a:latin typeface="Arial"/>
                  </a:rPr>
                  <a:t> respectively. The altitude from the vertex </a:t>
                </a:r>
                <a:r>
                  <a:rPr lang="en-IN" sz="2400">
                    <a:solidFill>
                      <a:srgbClr val="111827"/>
                    </a:solidFill>
                    <a:latin typeface="Cambria Math" panose="02040503050406030204" pitchFamily="18" charset="0"/>
                  </a:rPr>
                  <a:t>$D$</a:t>
                </a:r>
                <a:r>
                  <a:rPr sz="2400" b="0">
                    <a:solidFill>
                      <a:srgbClr val="111827"/>
                    </a:solidFill>
                    <a:latin typeface="Arial"/>
                  </a:rPr>
                  <a:t> to the opposite face </a:t>
                </a:r>
                <a:r>
                  <a:rPr lang="en-IN" sz="2400">
                    <a:solidFill>
                      <a:srgbClr val="111827"/>
                    </a:solidFill>
                    <a:latin typeface="Cambria Math" panose="02040503050406030204" pitchFamily="18" charset="0"/>
                  </a:rPr>
                  <a:t>$ABC$</a:t>
                </a:r>
                <a:r>
                  <a:rPr sz="2400" b="0">
                    <a:solidFill>
                      <a:srgbClr val="111827"/>
                    </a:solidFill>
                    <a:latin typeface="Arial"/>
                  </a:rPr>
                  <a:t> meets the median through </a:t>
                </a:r>
                <a:r>
                  <a:rPr lang="en-IN" sz="2400">
                    <a:solidFill>
                      <a:srgbClr val="111827"/>
                    </a:solidFill>
                    <a:latin typeface="Cambria Math" panose="02040503050406030204" pitchFamily="18" charset="0"/>
                  </a:rPr>
                  <a:t>$A$</a:t>
                </a:r>
                <a:r>
                  <a:rPr sz="2400" b="0">
                    <a:solidFill>
                      <a:srgbClr val="111827"/>
                    </a:solidFill>
                    <a:latin typeface="Arial"/>
                  </a:rPr>
                  <a:t> of </a:t>
                </a:r>
                <a:r>
                  <a:rPr lang="en-IN" sz="2400">
                    <a:solidFill>
                      <a:srgbClr val="111827"/>
                    </a:solidFill>
                    <a:latin typeface="Cambria Math" panose="02040503050406030204" pitchFamily="18" charset="0"/>
                  </a:rPr>
                  <a:t>$\triangle ABC$</a:t>
                </a:r>
                <a:r>
                  <a:rPr sz="2400" b="0">
                    <a:solidFill>
                      <a:srgbClr val="111827"/>
                    </a:solidFill>
                    <a:latin typeface="Arial"/>
                  </a:rPr>
                  <a:t> at point </a:t>
                </a:r>
                <a:r>
                  <a:rPr lang="en-IN" sz="2400">
                    <a:solidFill>
                      <a:srgbClr val="111827"/>
                    </a:solidFill>
                    <a:latin typeface="Cambria Math" panose="02040503050406030204" pitchFamily="18" charset="0"/>
                  </a:rPr>
                  <a:t>$E$</a:t>
                </a:r>
                <a:r>
                  <a:rPr sz="2400" b="0">
                    <a:solidFill>
                      <a:srgbClr val="111827"/>
                    </a:solidFill>
                    <a:latin typeface="Arial"/>
                  </a:rPr>
                  <a:t>. If </a:t>
                </a:r>
                <a:r>
                  <a:rPr lang="en-IN" sz="2400">
                    <a:solidFill>
                      <a:srgbClr val="111827"/>
                    </a:solidFill>
                    <a:latin typeface="Cambria Math" panose="02040503050406030204" pitchFamily="18" charset="0"/>
                  </a:rPr>
                  <a:t>$AD=4$</a:t>
                </a:r>
                <a:r>
                  <a:rPr sz="2400" b="0">
                    <a:solidFill>
                      <a:srgbClr val="111827"/>
                    </a:solidFill>
                    <a:latin typeface="Arial"/>
                  </a:rPr>
                  <a:t> units and volume of tetrahedron </a:t>
                </a:r>
                <a:r>
                  <a:rPr lang="en-IN" sz="2400">
                    <a:solidFill>
                      <a:srgbClr val="111827"/>
                    </a:solidFill>
                    <a:latin typeface="Cambria Math" panose="02040503050406030204" pitchFamily="18" charset="0"/>
                  </a:rPr>
                  <a:t>$=\frac{2\sqrt2}{3}$</a:t>
                </a:r>
                <a:r>
                  <a:rPr sz="2400" b="0">
                    <a:solidFill>
                      <a:srgbClr val="111827"/>
                    </a:solidFill>
                    <a:latin typeface="Arial"/>
                  </a:rPr>
                  <a:t>, then the correct statement(s) among the following is/are: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The altitude from vertex </a:t>
                </a:r>
                <a:r>
                  <a:rPr lang="en-IN" sz="2400">
                    <a:solidFill>
                      <a:srgbClr val="111827"/>
                    </a:solidFill>
                    <a:latin typeface="Cambria Math" panose="02040503050406030204" pitchFamily="18" charset="0"/>
                  </a:rPr>
                  <a:t>$D=2$</a:t>
                </a:r>
                <a:r>
                  <a:rPr sz="2400" b="0">
                    <a:solidFill>
                      <a:srgbClr val="111827"/>
                    </a:solidFill>
                    <a:latin typeface="Arial"/>
                  </a:rPr>
                  <a:t> units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There is only one possible position for point </a:t>
                </a:r>
                <a:r>
                  <a:rPr lang="en-IN" sz="2400">
                    <a:solidFill>
                      <a:srgbClr val="111827"/>
                    </a:solidFill>
                    <a:latin typeface="Cambria Math" panose="02040503050406030204" pitchFamily="18" charset="0"/>
                  </a:rPr>
                  <a:t>$E$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There are two possible positions for point </a:t>
                </a:r>
                <a:r>
                  <a:rPr lang="en-IN" sz="2400">
                    <a:solidFill>
                      <a:srgbClr val="111827"/>
                    </a:solidFill>
                    <a:latin typeface="Cambria Math" panose="02040503050406030204" pitchFamily="18" charset="0"/>
                  </a:rPr>
                  <a:t>$E$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Vector </a:t>
                </a:r>
                <a:r>
                  <a:rPr lang="en-IN" sz="2400">
                    <a:solidFill>
                      <a:srgbClr val="111827"/>
                    </a:solidFill>
                    <a:latin typeface="Cambria Math" panose="02040503050406030204" pitchFamily="18" charset="0"/>
                  </a:rPr>
                  <a:t>$\hat j-\hat k$</a:t>
                </a:r>
                <a:r>
                  <a:rPr sz="2400" b="0">
                    <a:solidFill>
                      <a:srgbClr val="111827"/>
                    </a:solidFill>
                    <a:latin typeface="Arial"/>
                  </a:rPr>
                  <a:t> is normal to the plane </a:t>
                </a:r>
                <a:r>
                  <a:rPr lang="en-IN" sz="2400">
                    <a:solidFill>
                      <a:srgbClr val="111827"/>
                    </a:solidFill>
                    <a:latin typeface="Cambria Math" panose="02040503050406030204" pitchFamily="18" charset="0"/>
                  </a:rPr>
                  <a:t>$ABC$</a:t>
                </a:r>
                <a:endParaRPr sz="2400">
                  <a:solidFill>
                    <a:srgbClr val="111827"/>
                  </a:solidFill>
                </a:endParaRPr>
              </a:p>
            </p:txBody>
          </p:sp>
        </mc:Fallback>
      </mc:AlternateContent>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Tetrahedron: altitude and foot of the altitude on a median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Volume </a:t>
                </a:r>
                <a14:m>
                  <m:oMath xmlns:m="http://schemas.openxmlformats.org/officeDocument/2006/math">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3</m:t>
                        </m:r>
                      </m:den>
                    </m:f>
                    <m:r>
                      <m:rPr>
                        <m:sty m:val="p"/>
                      </m:rPr>
                      <a:rPr lang="en-IN" sz="2400">
                        <a:solidFill>
                          <a:srgbClr val="78350F"/>
                        </a:solidFill>
                        <a:latin typeface="Cambria Math" panose="02040503050406030204" pitchFamily="18" charset="0"/>
                      </a:rPr>
                      <m:t>(</m:t>
                    </m:r>
                    <m:r>
                      <m:rPr>
                        <m:nor/>
                      </m:rPr>
                      <a:rPr lang="en-IN" sz="2400" i="1">
                        <a:solidFill>
                          <a:srgbClr val="78350F"/>
                        </a:solidFill>
                        <a:latin typeface="Cambria Math" panose="02040503050406030204" pitchFamily="18" charset="0"/>
                      </a:rPr>
                      <m:t>𝑎𝑟𝑒𝑎 𝑜𝑓 </m:t>
                    </m:r>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𝐶</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ℎ</m:t>
                    </m:r>
                  </m:oMath>
                </a14:m>
                <a:r>
                  <a:rPr sz="2400" b="0">
                    <a:solidFill>
                      <a:srgbClr val="78350F"/>
                    </a:solidFill>
                    <a:latin typeface="Arial"/>
                  </a:rPr>
                  <a:t> gives </a:t>
                </a:r>
                <a14:m>
                  <m:oMath xmlns:m="http://schemas.openxmlformats.org/officeDocument/2006/math">
                    <m:r>
                      <a:rPr lang="en-IN" sz="2400" i="1">
                        <a:solidFill>
                          <a:srgbClr val="78350F"/>
                        </a:solidFill>
                        <a:latin typeface="Cambria Math" panose="02040503050406030204" pitchFamily="18" charset="0"/>
                      </a:rPr>
                      <m:t>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then </a:t>
                </a:r>
                <a14:m>
                  <m:oMath xmlns:m="http://schemas.openxmlformats.org/officeDocument/2006/math">
                    <m:r>
                      <a:rPr lang="en-IN" sz="2400" i="1">
                        <a:solidFill>
                          <a:srgbClr val="78350F"/>
                        </a:solidFill>
                        <a:latin typeface="Cambria Math" panose="02040503050406030204" pitchFamily="18" charset="0"/>
                      </a:rPr>
                      <m:t>𝐴</m:t>
                    </m:r>
                    <m:sSup>
                      <m:e>
                        <m:r>
                          <a:rPr lang="en-IN" sz="2400" i="1">
                            <a:solidFill>
                              <a:srgbClr val="78350F"/>
                            </a:solidFill>
                            <a:latin typeface="Cambria Math" panose="02040503050406030204" pitchFamily="18" charset="0"/>
                          </a:rPr>
                          <m:t>𝐸</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𝐴</m:t>
                    </m:r>
                    <m:sSup>
                      <m:e>
                        <m:r>
                          <a:rPr lang="en-IN" sz="2400" i="1">
                            <a:solidFill>
                              <a:srgbClr val="78350F"/>
                            </a:solidFill>
                            <a:latin typeface="Cambria Math" panose="02040503050406030204" pitchFamily="18" charset="0"/>
                          </a:rPr>
                          <m:t>𝐷</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12</m:t>
                    </m:r>
                  </m:oMath>
                </a14:m>
                <a:r>
                  <a:rPr sz="2400" b="0">
                    <a:solidFill>
                      <a:srgbClr val="78350F"/>
                    </a:solidFill>
                    <a:latin typeface="Arial"/>
                  </a:rPr>
                  <a:t> places </a:t>
                </a:r>
                <a14:m>
                  <m:oMath xmlns:m="http://schemas.openxmlformats.org/officeDocument/2006/math">
                    <m:r>
                      <a:rPr lang="en-IN" sz="2400" i="1">
                        <a:solidFill>
                          <a:srgbClr val="78350F"/>
                        </a:solidFill>
                        <a:latin typeface="Cambria Math" panose="02040503050406030204" pitchFamily="18" charset="0"/>
                      </a:rPr>
                      <m:t>𝐸</m:t>
                    </m:r>
                  </m:oMath>
                </a14:m>
                <a:r>
                  <a:rPr sz="2400" b="0">
                    <a:solidFill>
                      <a:srgbClr val="78350F"/>
                    </a:solidFill>
                    <a:latin typeface="Arial"/>
                  </a:rPr>
                  <a:t> on the median at distance </a:t>
                </a:r>
                <a14:m>
                  <m:oMath xmlns:m="http://schemas.openxmlformats.org/officeDocument/2006/math">
                    <m:r>
                      <a:rPr lang="en-IN" sz="2400" i="1">
                        <a:solidFill>
                          <a:srgbClr val="78350F"/>
                        </a:solidFill>
                        <a:latin typeface="Cambria Math" panose="02040503050406030204" pitchFamily="18" charset="0"/>
                      </a:rPr>
                      <m:t>2</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oMath>
                </a14:m>
                <a:r>
                  <a:rPr sz="2400" b="0">
                    <a:solidFill>
                      <a:srgbClr val="78350F"/>
                    </a:solidFill>
                    <a:latin typeface="Arial"/>
                  </a:rPr>
                  <a:t> from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on either side.</a:t>
                </a:r>
                <a:endParaRPr sz="2400">
                  <a:solidFill>
                    <a:srgbClr val="78350F"/>
                  </a:solidFill>
                </a:endParaRPr>
              </a:p>
            </p:txBody>
          </p:sp>
        </mc:Choice>
        <mc:Fallback>
          <p:sp>
            <p:nvSpPr>
              <p:cNvPr id="5" name="Rounded Rectangle 4"/>
              <p:cNvSpPr/>
              <p:nvPr/>
            </p:nvSpPr>
            <p:spPr>
              <a:xfrm>
                <a:off x="731520" y="3438144"/>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Volume </a:t>
                </a:r>
                <a:r>
                  <a:rPr lang="en-IN" sz="2400">
                    <a:solidFill>
                      <a:srgbClr val="78350F"/>
                    </a:solidFill>
                    <a:latin typeface="Cambria Math" panose="02040503050406030204" pitchFamily="18" charset="0"/>
                  </a:rPr>
                  <a:t>$=\frac13(\text{area of }ABC)\cdot h$</a:t>
                </a:r>
                <a:r>
                  <a:rPr sz="2400" b="0">
                    <a:solidFill>
                      <a:srgbClr val="78350F"/>
                    </a:solidFill>
                    <a:latin typeface="Arial"/>
                  </a:rPr>
                  <a:t> gives </a:t>
                </a:r>
                <a:r>
                  <a:rPr lang="en-IN" sz="2400">
                    <a:solidFill>
                      <a:srgbClr val="78350F"/>
                    </a:solidFill>
                    <a:latin typeface="Cambria Math" panose="02040503050406030204" pitchFamily="18" charset="0"/>
                  </a:rPr>
                  <a:t>$h=2$</a:t>
                </a:r>
                <a:r>
                  <a:rPr sz="2400" b="0">
                    <a:solidFill>
                      <a:srgbClr val="78350F"/>
                    </a:solidFill>
                    <a:latin typeface="Arial"/>
                  </a:rPr>
                  <a:t>; then </a:t>
                </a:r>
                <a:r>
                  <a:rPr lang="en-IN" sz="2400">
                    <a:solidFill>
                      <a:srgbClr val="78350F"/>
                    </a:solidFill>
                    <a:latin typeface="Cambria Math" panose="02040503050406030204" pitchFamily="18" charset="0"/>
                  </a:rPr>
                  <a:t>$AE^2=AD^2-h^2=12$</a:t>
                </a:r>
                <a:r>
                  <a:rPr sz="2400" b="0">
                    <a:solidFill>
                      <a:srgbClr val="78350F"/>
                    </a:solidFill>
                    <a:latin typeface="Arial"/>
                  </a:rPr>
                  <a:t> places </a:t>
                </a:r>
                <a:r>
                  <a:rPr lang="en-IN" sz="2400">
                    <a:solidFill>
                      <a:srgbClr val="78350F"/>
                    </a:solidFill>
                    <a:latin typeface="Cambria Math" panose="02040503050406030204" pitchFamily="18" charset="0"/>
                  </a:rPr>
                  <a:t>$E$</a:t>
                </a:r>
                <a:r>
                  <a:rPr sz="2400" b="0">
                    <a:solidFill>
                      <a:srgbClr val="78350F"/>
                    </a:solidFill>
                    <a:latin typeface="Arial"/>
                  </a:rPr>
                  <a:t> on the median at distance </a:t>
                </a:r>
                <a:r>
                  <a:rPr lang="en-IN" sz="2400">
                    <a:solidFill>
                      <a:srgbClr val="78350F"/>
                    </a:solidFill>
                    <a:latin typeface="Cambria Math" panose="02040503050406030204" pitchFamily="18" charset="0"/>
                  </a:rPr>
                  <a:t>$2\sqrt3$</a:t>
                </a:r>
                <a:r>
                  <a:rPr sz="2400" b="0">
                    <a:solidFill>
                      <a:srgbClr val="78350F"/>
                    </a:solidFill>
                    <a:latin typeface="Arial"/>
                  </a:rPr>
                  <a:t> from </a:t>
                </a:r>
                <a:r>
                  <a:rPr lang="en-IN" sz="2400">
                    <a:solidFill>
                      <a:srgbClr val="78350F"/>
                    </a:solidFill>
                    <a:latin typeface="Cambria Math" panose="02040503050406030204" pitchFamily="18" charset="0"/>
                  </a:rPr>
                  <a:t>$A$</a:t>
                </a:r>
                <a:r>
                  <a:rPr sz="2400" b="0">
                    <a:solidFill>
                      <a:srgbClr val="78350F"/>
                    </a:solidFill>
                    <a:latin typeface="Arial"/>
                  </a:rPr>
                  <a:t> on either side.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166360"/>
                <a:ext cx="10725912" cy="15087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166360"/>
                <a:ext cx="10725912" cy="15087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$\overrightarrow{AB}=(0,-1,-1)$</a:t>
                </a:r>
                <a:r>
                  <a:rPr sz="2400" b="0">
                    <a:solidFill>
                      <a:srgbClr val="111827"/>
                    </a:solidFill>
                    <a:latin typeface="Arial"/>
                  </a:rPr>
                  <a:t>, </a:t>
                </a:r>
                <a:r>
                  <a:rPr lang="en-IN" sz="2400">
                    <a:solidFill>
                      <a:srgbClr val="111827"/>
                    </a:solidFill>
                    <a:latin typeface="Cambria Math" panose="02040503050406030204" pitchFamily="18" charset="0"/>
                  </a:rPr>
                  <a:t>$\overrightarrow{AC}=(2,-1,-1)$</a:t>
                </a:r>
                <a:r>
                  <a:rPr sz="2400" b="0">
                    <a:solidFill>
                      <a:srgbClr val="111827"/>
                    </a:solidFill>
                    <a:latin typeface="Arial"/>
                  </a:rPr>
                  <a:t>, so </a:t>
                </a:r>
                <a:r>
                  <a:rPr lang="en-IN" sz="2400">
                    <a:solidFill>
                      <a:srgbClr val="111827"/>
                    </a:solidFill>
                    <a:latin typeface="Cambria Math" panose="02040503050406030204" pitchFamily="18" charset="0"/>
                  </a:rPr>
                  <a:t>$\overrightarrow{AB}\times\overrightarrow{AC}=(0,-2,2)$</a:t>
                </a:r>
                <a:r>
                  <a:rPr sz="2400" b="0">
                    <a:solidFill>
                      <a:srgbClr val="111827"/>
                    </a:solidFill>
                    <a:latin typeface="Arial"/>
                  </a:rPr>
                  <a:t> and the area of </a:t>
                </a:r>
                <a:r>
                  <a:rPr lang="en-IN" sz="2400">
                    <a:solidFill>
                      <a:srgbClr val="111827"/>
                    </a:solidFill>
                    <a:latin typeface="Cambria Math" panose="02040503050406030204" pitchFamily="18" charset="0"/>
                  </a:rPr>
                  <a:t>$\triangle ABC=\frac12\cdot2\sqrt2=\sqrt2$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Volume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to the plane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(D)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divide the median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𝑀</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mid-point of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𝐷</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plane and </a:t>
                </a:r>
                <a14:m>
                  <m:oMath xmlns:m="http://schemas.openxmlformats.org/officeDocument/2006/math">
                    <m:r>
                      <a:rPr lang="en-IN" sz="2400" i="1">
                        <a:solidFill>
                          <a:srgbClr val="111827"/>
                        </a:solidFill>
                        <a:latin typeface="Cambria Math" panose="02040503050406030204" pitchFamily="18" charset="0"/>
                      </a:rPr>
                      <m:t>𝐷</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𝐸</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sSup>
                      <m:e>
                        <m:r>
                          <a:rPr lang="en-IN" sz="2400" i="1">
                            <a:solidFill>
                              <a:srgbClr val="111827"/>
                            </a:solidFill>
                            <a:latin typeface="Cambria Math" panose="02040503050406030204" pitchFamily="18" charset="0"/>
                          </a:rPr>
                          <m:t>𝐷</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𝐷</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𝐸</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Also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λ</m:t>
                            </m:r>
                          </m:num>
                          <m:den>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λ</m:t>
                            </m:r>
                          </m:num>
                          <m:den>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Volume </a:t>
                </a:r>
                <a:r>
                  <a:rPr lang="en-IN" sz="2400">
                    <a:solidFill>
                      <a:srgbClr val="111827"/>
                    </a:solidFill>
                    <a:latin typeface="Cambria Math" panose="02040503050406030204" pitchFamily="18" charset="0"/>
                  </a:rPr>
                  <a:t>$\frac13\cdot\sqrt2\cdot h=\frac{2\sqrt2}{3}\Rightarrow h=2$</a:t>
                </a:r>
                <a:r>
                  <a:rPr sz="2400" b="0">
                    <a:solidFill>
                      <a:srgbClr val="111827"/>
                    </a:solidFill>
                    <a:latin typeface="Arial"/>
                  </a:rPr>
                  <a:t>: (A)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to the plane </a:t>
                </a:r>
                <a:r>
                  <a:rPr lang="en-IN" sz="2400">
                    <a:solidFill>
                      <a:srgbClr val="111827"/>
                    </a:solidFill>
                    <a:latin typeface="Cambria Math" panose="02040503050406030204" pitchFamily="18" charset="0"/>
                  </a:rPr>
                  <a:t>$ABC$</a:t>
                </a:r>
                <a:r>
                  <a:rPr sz="2400" b="0">
                    <a:solidFill>
                      <a:srgbClr val="111827"/>
                    </a:solidFill>
                    <a:latin typeface="Arial"/>
                  </a:rPr>
                  <a:t> is </a:t>
                </a:r>
                <a:r>
                  <a:rPr lang="en-IN" sz="2400">
                    <a:solidFill>
                      <a:srgbClr val="111827"/>
                    </a:solidFill>
                    <a:latin typeface="Cambria Math" panose="02040503050406030204" pitchFamily="18" charset="0"/>
                  </a:rPr>
                  <a:t>$\propto(0,-2,2)\propto\hat j-\hat k$</a:t>
                </a:r>
                <a:r>
                  <a:rPr sz="2400" b="0">
                    <a:solidFill>
                      <a:srgbClr val="111827"/>
                    </a:solidFill>
                    <a:latin typeface="Arial"/>
                  </a:rPr>
                  <a:t>: (D)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$E$</a:t>
                </a:r>
                <a:r>
                  <a:rPr sz="2400" b="0">
                    <a:solidFill>
                      <a:srgbClr val="111827"/>
                    </a:solidFill>
                    <a:latin typeface="Arial"/>
                  </a:rPr>
                  <a:t> divide the median </a:t>
                </a:r>
                <a:r>
                  <a:rPr lang="en-IN" sz="2400">
                    <a:solidFill>
                      <a:srgbClr val="111827"/>
                    </a:solidFill>
                    <a:latin typeface="Cambria Math" panose="02040503050406030204" pitchFamily="18" charset="0"/>
                  </a:rPr>
                  <a:t>$AM$</a:t>
                </a:r>
                <a:r>
                  <a:rPr sz="2400" b="0">
                    <a:solidFill>
                      <a:srgbClr val="111827"/>
                    </a:solidFill>
                    <a:latin typeface="Arial"/>
                  </a:rPr>
                  <a:t> (</a:t>
                </a:r>
                <a:r>
                  <a:rPr lang="en-IN" sz="2400">
                    <a:solidFill>
                      <a:srgbClr val="111827"/>
                    </a:solidFill>
                    <a:latin typeface="Cambria Math" panose="02040503050406030204" pitchFamily="18" charset="0"/>
                  </a:rPr>
                  <a:t>$M=(2,0,0)$</a:t>
                </a:r>
                <a:r>
                  <a:rPr sz="2400" b="0">
                    <a:solidFill>
                      <a:srgbClr val="111827"/>
                    </a:solidFill>
                    <a:latin typeface="Arial"/>
                  </a:rPr>
                  <a:t> the mid-point of </a:t>
                </a:r>
                <a:r>
                  <a:rPr lang="en-IN" sz="2400">
                    <a:solidFill>
                      <a:srgbClr val="111827"/>
                    </a:solidFill>
                    <a:latin typeface="Cambria Math" panose="02040503050406030204" pitchFamily="18" charset="0"/>
                  </a:rPr>
                  <a:t>$BC$</a:t>
                </a:r>
                <a:r>
                  <a:rPr sz="2400" b="0">
                    <a:solidFill>
                      <a:srgbClr val="111827"/>
                    </a:solidFill>
                    <a:latin typeface="Arial"/>
                  </a:rPr>
                  <a:t>) in </a:t>
                </a:r>
                <a:r>
                  <a:rPr lang="en-IN" sz="2400">
                    <a:solidFill>
                      <a:srgbClr val="111827"/>
                    </a:solidFill>
                    <a:latin typeface="Cambria Math" panose="02040503050406030204" pitchFamily="18" charset="0"/>
                  </a:rPr>
                  <a:t>$AE:EM=\lambda:1$</a:t>
                </a:r>
                <a:r>
                  <a:rPr sz="2400" b="0">
                    <a:solidFill>
                      <a:srgbClr val="111827"/>
                    </a:solidFill>
                    <a:latin typeface="Arial"/>
                  </a:rPr>
                  <a:t>: </a:t>
                </a:r>
                <a:r>
                  <a:rPr lang="en-IN" sz="2400">
                    <a:solidFill>
                      <a:srgbClr val="111827"/>
                    </a:solidFill>
                    <a:latin typeface="Cambria Math" panose="02040503050406030204" pitchFamily="18" charset="0"/>
                  </a:rPr>
                  <a:t>$E=\left(\frac{2\lambda+1}{\lambda+1},\frac{1}{\lambda+1},\frac{1}{\lambda+1}\right)$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$DE\perp$</a:t>
                </a:r>
                <a:r>
                  <a:rPr sz="2400" b="0">
                    <a:solidFill>
                      <a:srgbClr val="111827"/>
                    </a:solidFill>
                    <a:latin typeface="Arial"/>
                  </a:rPr>
                  <a:t> plane and </a:t>
                </a:r>
                <a:r>
                  <a:rPr lang="en-IN" sz="2400">
                    <a:solidFill>
                      <a:srgbClr val="111827"/>
                    </a:solidFill>
                    <a:latin typeface="Cambria Math" panose="02040503050406030204" pitchFamily="18" charset="0"/>
                  </a:rPr>
                  <a:t>$DE=2$</a:t>
                </a:r>
                <a:r>
                  <a:rPr sz="2400" b="0">
                    <a:solidFill>
                      <a:srgbClr val="111827"/>
                    </a:solidFill>
                    <a:latin typeface="Arial"/>
                  </a:rPr>
                  <a:t>, so </a:t>
                </a:r>
                <a:r>
                  <a:rPr lang="en-IN" sz="2400">
                    <a:solidFill>
                      <a:srgbClr val="111827"/>
                    </a:solidFill>
                    <a:latin typeface="Cambria Math" panose="02040503050406030204" pitchFamily="18" charset="0"/>
                  </a:rPr>
                  <a:t>$AE^2+ED^2=AD^2\Rightarrow AE^2=16-4=12$</a:t>
                </a:r>
                <a:r>
                  <a:rPr sz="2400" b="0">
                    <a:solidFill>
                      <a:srgbClr val="111827"/>
                    </a:solidFill>
                    <a:latin typeface="Arial"/>
                  </a:rPr>
                  <a:t>, </a:t>
                </a:r>
                <a:r>
                  <a:rPr lang="en-IN" sz="2400">
                    <a:solidFill>
                      <a:srgbClr val="111827"/>
                    </a:solidFill>
                    <a:latin typeface="Cambria Math" panose="02040503050406030204" pitchFamily="18" charset="0"/>
                  </a:rPr>
                  <a:t>$AE=2\sqrt3$</a:t>
                </a:r>
                <a:r>
                  <a:rPr sz="2400" b="0">
                    <a:solidFill>
                      <a:srgbClr val="111827"/>
                    </a:solidFill>
                    <a:latin typeface="Arial"/>
                  </a:rPr>
                  <a:t>. Also </a:t>
                </a:r>
                <a:r>
                  <a:rPr lang="en-IN" sz="2400">
                    <a:solidFill>
                      <a:srgbClr val="111827"/>
                    </a:solidFill>
                    <a:latin typeface="Cambria Math" panose="02040503050406030204" pitchFamily="18" charset="0"/>
                  </a:rPr>
                  <a:t>$AM=\sqrt3$</a:t>
                </a:r>
                <a:r>
                  <a:rPr sz="2400" b="0">
                    <a:solidFill>
                      <a:srgbClr val="111827"/>
                    </a:solidFill>
                    <a:latin typeface="Arial"/>
                  </a:rPr>
                  <a:t>, </a:t>
                </a:r>
                <a:r>
                  <a:rPr lang="en-IN" sz="2400">
                    <a:solidFill>
                      <a:srgbClr val="111827"/>
                    </a:solidFill>
                    <a:latin typeface="Cambria Math" panose="02040503050406030204" pitchFamily="18" charset="0"/>
                  </a:rPr>
                  <a:t>$AE=\left|\frac{\lambda}{\lambda+1}\right|\sqrt3$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$\left|\frac{\lambda}{\lambda+1}\right|=2\Rightarrow\lambda=-2$</a:t>
                </a:r>
                <a:r>
                  <a:rPr sz="2400" b="0">
                    <a:solidFill>
                      <a:srgbClr val="111827"/>
                    </a:solidFill>
                    <a:latin typeface="Arial"/>
                  </a:rPr>
                  <a:t> or </a:t>
                </a:r>
                <a:r>
                  <a:rPr lang="en-IN" sz="2400">
                    <a:solidFill>
                      <a:srgbClr val="111827"/>
                    </a:solidFill>
                    <a:latin typeface="Cambria Math" panose="02040503050406030204" pitchFamily="18" charset="0"/>
                  </a:rPr>
                  <a:t>$\lambda=-\frac23$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There are two possible positions of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(C) is true and (B) is false. Answer: A, C,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$\lambda=-2$</a:t>
                </a:r>
                <a:r>
                  <a:rPr sz="2400" b="0">
                    <a:solidFill>
                      <a:srgbClr val="111827"/>
                    </a:solidFill>
                    <a:latin typeface="Arial"/>
                  </a:rPr>
                  <a:t> gives </a:t>
                </a:r>
                <a:r>
                  <a:rPr lang="en-IN" sz="2400">
                    <a:solidFill>
                      <a:srgbClr val="111827"/>
                    </a:solidFill>
                    <a:latin typeface="Cambria Math" panose="02040503050406030204" pitchFamily="18" charset="0"/>
                  </a:rPr>
                  <a:t>$E=(3,-1,-1)$</a:t>
                </a:r>
                <a:r>
                  <a:rPr sz="2400" b="0">
                    <a:solidFill>
                      <a:srgbClr val="111827"/>
                    </a:solidFill>
                    <a:latin typeface="Arial"/>
                  </a:rPr>
                  <a:t>; </a:t>
                </a:r>
                <a:r>
                  <a:rPr lang="en-IN" sz="2400">
                    <a:solidFill>
                      <a:srgbClr val="111827"/>
                    </a:solidFill>
                    <a:latin typeface="Cambria Math" panose="02040503050406030204" pitchFamily="18" charset="0"/>
                  </a:rPr>
                  <a:t>$\lambda=-\frac23$</a:t>
                </a:r>
                <a:r>
                  <a:rPr sz="2400" b="0">
                    <a:solidFill>
                      <a:srgbClr val="111827"/>
                    </a:solidFill>
                    <a:latin typeface="Arial"/>
                  </a:rPr>
                  <a:t> gives </a:t>
                </a:r>
                <a:r>
                  <a:rPr lang="en-IN" sz="2400">
                    <a:solidFill>
                      <a:srgbClr val="111827"/>
                    </a:solidFill>
                    <a:latin typeface="Cambria Math" panose="02040503050406030204" pitchFamily="18" charset="0"/>
                  </a:rPr>
                  <a:t>$E=(-1,3,3)$</a:t>
                </a:r>
                <a:r>
                  <a:rPr sz="2400" b="0">
                    <a:solidFill>
                      <a:srgbClr val="111827"/>
                    </a:solidFill>
                    <a:latin typeface="Arial"/>
                  </a:rPr>
                  <a:t>. There are two possible positions of </a:t>
                </a:r>
                <a:r>
                  <a:rPr lang="en-IN" sz="2400">
                    <a:solidFill>
                      <a:srgbClr val="111827"/>
                    </a:solidFill>
                    <a:latin typeface="Cambria Math" panose="02040503050406030204" pitchFamily="18" charset="0"/>
                  </a:rPr>
                  <a:t>$E$</a:t>
                </a:r>
                <a:r>
                  <a:rPr sz="2400" b="0">
                    <a:solidFill>
                      <a:srgbClr val="111827"/>
                    </a:solidFill>
                    <a:latin typeface="Arial"/>
                  </a:rPr>
                  <a:t>: (C) is true and (B) is false. Answer: A, C,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C, D)</a:t>
            </a:r>
            <a:endParaRPr sz="2800">
              <a:solidFill>
                <a:srgbClr val="15803D"/>
              </a:solidFill>
            </a:endParaRP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a:t>
                </a:r>
                <a14:m>
                  <m:oMath xmlns:m="http://schemas.openxmlformats.org/officeDocument/2006/math">
                    <m:r>
                      <a:rPr lang="en-IN" sz="2400" i="1">
                        <a:solidFill>
                          <a:srgbClr val="78350F"/>
                        </a:solidFill>
                        <a:latin typeface="Cambria Math" panose="02040503050406030204" pitchFamily="18" charset="0"/>
                      </a:rPr>
                      <m:t>𝐸</m:t>
                    </m:r>
                  </m:oMath>
                </a14:m>
                <a:r>
                  <a:rPr sz="2400" b="0">
                    <a:solidFill>
                      <a:srgbClr val="78350F"/>
                    </a:solidFill>
                    <a:latin typeface="Arial"/>
                  </a:rPr>
                  <a:t> directly: it lies on line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𝑀</m:t>
                    </m:r>
                  </m:oMath>
                </a14:m>
                <a:r>
                  <a:rPr sz="2400" b="0">
                    <a:solidFill>
                      <a:srgbClr val="78350F"/>
                    </a:solidFill>
                    <a:latin typeface="Arial"/>
                  </a:rPr>
                  <a:t> at distance </a:t>
                </a:r>
                <a14:m>
                  <m:oMath xmlns:m="http://schemas.openxmlformats.org/officeDocument/2006/math">
                    <m:r>
                      <a:rPr lang="en-IN" sz="2400" i="1">
                        <a:solidFill>
                          <a:srgbClr val="78350F"/>
                        </a:solidFill>
                        <a:latin typeface="Cambria Math" panose="02040503050406030204" pitchFamily="18" charset="0"/>
                      </a:rPr>
                      <m:t>2</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oMath>
                </a14:m>
                <a:r>
                  <a:rPr sz="2400" b="0">
                    <a:solidFill>
                      <a:srgbClr val="78350F"/>
                    </a:solidFill>
                    <a:latin typeface="Arial"/>
                  </a:rPr>
                  <a:t> from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so move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oMath>
                </a14:m>
                <a:r>
                  <a:rPr sz="2400" b="0">
                    <a:solidFill>
                      <a:srgbClr val="78350F"/>
                    </a:solidFill>
                    <a:latin typeface="Arial"/>
                  </a:rPr>
                  <a:t> along the unit vector of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𝑀</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a:t>
                </a:r>
                <a:r>
                  <a:rPr lang="en-IN" sz="2400">
                    <a:solidFill>
                      <a:srgbClr val="78350F"/>
                    </a:solidFill>
                    <a:latin typeface="Cambria Math" panose="02040503050406030204" pitchFamily="18" charset="0"/>
                  </a:rPr>
                  <a:t>$E$</a:t>
                </a:r>
                <a:r>
                  <a:rPr sz="2400" b="0">
                    <a:solidFill>
                      <a:srgbClr val="78350F"/>
                    </a:solidFill>
                    <a:latin typeface="Arial"/>
                  </a:rPr>
                  <a:t> directly: it lies on line </a:t>
                </a:r>
                <a:r>
                  <a:rPr lang="en-IN" sz="2400">
                    <a:solidFill>
                      <a:srgbClr val="78350F"/>
                    </a:solidFill>
                    <a:latin typeface="Cambria Math" panose="02040503050406030204" pitchFamily="18" charset="0"/>
                  </a:rPr>
                  <a:t>$AM$</a:t>
                </a:r>
                <a:r>
                  <a:rPr sz="2400" b="0">
                    <a:solidFill>
                      <a:srgbClr val="78350F"/>
                    </a:solidFill>
                    <a:latin typeface="Arial"/>
                  </a:rPr>
                  <a:t> at distance </a:t>
                </a:r>
                <a:r>
                  <a:rPr lang="en-IN" sz="2400">
                    <a:solidFill>
                      <a:srgbClr val="78350F"/>
                    </a:solidFill>
                    <a:latin typeface="Cambria Math" panose="02040503050406030204" pitchFamily="18" charset="0"/>
                  </a:rPr>
                  <a:t>$2\sqrt3$</a:t>
                </a:r>
                <a:r>
                  <a:rPr sz="2400" b="0">
                    <a:solidFill>
                      <a:srgbClr val="78350F"/>
                    </a:solidFill>
                    <a:latin typeface="Arial"/>
                  </a:rPr>
                  <a:t> from </a:t>
                </a:r>
                <a:r>
                  <a:rPr lang="en-IN" sz="2400">
                    <a:solidFill>
                      <a:srgbClr val="78350F"/>
                    </a:solidFill>
                    <a:latin typeface="Cambria Math" panose="02040503050406030204" pitchFamily="18" charset="0"/>
                  </a:rPr>
                  <a:t>$A$</a:t>
                </a:r>
                <a:r>
                  <a:rPr sz="2400" b="0">
                    <a:solidFill>
                      <a:srgbClr val="78350F"/>
                    </a:solidFill>
                    <a:latin typeface="Arial"/>
                  </a:rPr>
                  <a:t>, so move </a:t>
                </a:r>
                <a:r>
                  <a:rPr lang="en-IN" sz="2400">
                    <a:solidFill>
                      <a:srgbClr val="78350F"/>
                    </a:solidFill>
                    <a:latin typeface="Cambria Math" panose="02040503050406030204" pitchFamily="18" charset="0"/>
                  </a:rPr>
                  <a:t>$\pm2\sqrt3$</a:t>
                </a:r>
                <a:r>
                  <a:rPr sz="2400" b="0">
                    <a:solidFill>
                      <a:srgbClr val="78350F"/>
                    </a:solidFill>
                    <a:latin typeface="Arial"/>
                  </a:rPr>
                  <a:t> along the unit vector of </a:t>
                </a:r>
                <a:r>
                  <a:rPr lang="en-IN" sz="2400">
                    <a:solidFill>
                      <a:srgbClr val="78350F"/>
                    </a:solidFill>
                    <a:latin typeface="Cambria Math" panose="02040503050406030204" pitchFamily="18" charset="0"/>
                  </a:rPr>
                  <a:t>$\overrightarrow{AM}$</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give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(right triangle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r>
                      <a:rPr lang="en-IN" sz="2400" i="1">
                        <a:solidFill>
                          <a:srgbClr val="111827"/>
                        </a:solidFill>
                        <a:latin typeface="Cambria Math" panose="02040503050406030204" pitchFamily="18" charset="0"/>
                      </a:rPr>
                      <m:t>𝐷</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𝐷</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plane).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𝑀</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length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its unit vector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$h=2$</a:t>
                </a:r>
                <a:r>
                  <a:rPr sz="2400" b="0">
                    <a:solidFill>
                      <a:srgbClr val="111827"/>
                    </a:solidFill>
                    <a:latin typeface="Arial"/>
                  </a:rPr>
                  <a:t> and </a:t>
                </a:r>
                <a:r>
                  <a:rPr lang="en-IN" sz="2400">
                    <a:solidFill>
                      <a:srgbClr val="111827"/>
                    </a:solidFill>
                    <a:latin typeface="Cambria Math" panose="02040503050406030204" pitchFamily="18" charset="0"/>
                  </a:rPr>
                  <a:t>$AD=4$</a:t>
                </a:r>
                <a:r>
                  <a:rPr sz="2400" b="0">
                    <a:solidFill>
                      <a:srgbClr val="111827"/>
                    </a:solidFill>
                    <a:latin typeface="Arial"/>
                  </a:rPr>
                  <a:t> give </a:t>
                </a:r>
                <a:r>
                  <a:rPr lang="en-IN" sz="2400">
                    <a:solidFill>
                      <a:srgbClr val="111827"/>
                    </a:solidFill>
                    <a:latin typeface="Cambria Math" panose="02040503050406030204" pitchFamily="18" charset="0"/>
                  </a:rPr>
                  <a:t>$AE=\sqrt{16-4}=2\sqrt3$</a:t>
                </a:r>
                <a:r>
                  <a:rPr sz="2400" b="0">
                    <a:solidFill>
                      <a:srgbClr val="111827"/>
                    </a:solidFill>
                    <a:latin typeface="Arial"/>
                  </a:rPr>
                  <a:t> (right triangle </a:t>
                </a:r>
                <a:r>
                  <a:rPr lang="en-IN" sz="2400">
                    <a:solidFill>
                      <a:srgbClr val="111827"/>
                    </a:solidFill>
                    <a:latin typeface="Cambria Math" panose="02040503050406030204" pitchFamily="18" charset="0"/>
                  </a:rPr>
                  <a:t>$AED$</a:t>
                </a:r>
                <a:r>
                  <a:rPr sz="2400" b="0">
                    <a:solidFill>
                      <a:srgbClr val="111827"/>
                    </a:solidFill>
                    <a:latin typeface="Arial"/>
                  </a:rPr>
                  <a:t> with </a:t>
                </a:r>
                <a:r>
                  <a:rPr lang="en-IN" sz="2400">
                    <a:solidFill>
                      <a:srgbClr val="111827"/>
                    </a:solidFill>
                    <a:latin typeface="Cambria Math" panose="02040503050406030204" pitchFamily="18" charset="0"/>
                  </a:rPr>
                  <a:t>$DE\perp$</a:t>
                </a:r>
                <a:r>
                  <a:rPr sz="2400" b="0">
                    <a:solidFill>
                      <a:srgbClr val="111827"/>
                    </a:solidFill>
                    <a:latin typeface="Arial"/>
                  </a:rPr>
                  <a:t> plane).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$\overrightarrow{AM}=(2,0,0)-(1,1,1)=(1,-1,-1)$</a:t>
                </a:r>
                <a:r>
                  <a:rPr sz="2400" b="0">
                    <a:solidFill>
                      <a:srgbClr val="111827"/>
                    </a:solidFill>
                    <a:latin typeface="Arial"/>
                  </a:rPr>
                  <a:t>, of length </a:t>
                </a:r>
                <a:r>
                  <a:rPr lang="en-IN" sz="2400">
                    <a:solidFill>
                      <a:srgbClr val="111827"/>
                    </a:solidFill>
                    <a:latin typeface="Cambria Math" panose="02040503050406030204" pitchFamily="18" charset="0"/>
                  </a:rPr>
                  <a:t>$\sqrt3$</a:t>
                </a:r>
                <a:r>
                  <a:rPr sz="2400" b="0">
                    <a:solidFill>
                      <a:srgbClr val="111827"/>
                    </a:solidFill>
                    <a:latin typeface="Arial"/>
                  </a:rPr>
                  <a:t>; its unit vector is </a:t>
                </a:r>
                <a:r>
                  <a:rPr lang="en-IN" sz="2400">
                    <a:solidFill>
                      <a:srgbClr val="111827"/>
                    </a:solidFill>
                    <a:latin typeface="Cambria Math" panose="02040503050406030204" pitchFamily="18" charset="0"/>
                  </a:rPr>
                  <a:t>$\frac{1}{\sqrt3}(1,-1,-1)$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positions are possible (on opposite sides of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two positions for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$E=A\pm2\sqrt3\cdot\frac{1}{\sqrt3}(1,-1,-1)=(1,1,1)\pm2(1,-1,-1)=(3,-1,-1)$</a:t>
                </a:r>
                <a:r>
                  <a:rPr sz="2400" b="0">
                    <a:solidFill>
                      <a:srgbClr val="111827"/>
                    </a:solidFill>
                    <a:latin typeface="Arial"/>
                  </a:rPr>
                  <a:t> or </a:t>
                </a:r>
                <a:r>
                  <a:rPr lang="en-IN" sz="2400">
                    <a:solidFill>
                      <a:srgbClr val="111827"/>
                    </a:solidFill>
                    <a:latin typeface="Cambria Math" panose="02040503050406030204" pitchFamily="18" charset="0"/>
                  </a:rPr>
                  <a:t>$(-1,3,3)$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positions are possible (on opposite sides of </a:t>
                </a:r>
                <a:r>
                  <a:rPr lang="en-IN" sz="2400">
                    <a:solidFill>
                      <a:srgbClr val="111827"/>
                    </a:solidFill>
                    <a:latin typeface="Cambria Math" panose="02040503050406030204" pitchFamily="18" charset="0"/>
                  </a:rPr>
                  <a:t>$A$</a:t>
                </a:r>
                <a:r>
                  <a:rPr sz="2400" b="0">
                    <a:solidFill>
                      <a:srgbClr val="111827"/>
                    </a:solidFill>
                    <a:latin typeface="Arial"/>
                  </a:rPr>
                  <a:t>): two positions for </a:t>
                </a:r>
                <a:r>
                  <a:rPr lang="en-IN" sz="2400">
                    <a:solidFill>
                      <a:srgbClr val="111827"/>
                    </a:solidFill>
                    <a:latin typeface="Cambria Math" panose="02040503050406030204" pitchFamily="18" charset="0"/>
                  </a:rPr>
                  <a:t>$E$</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C, D)</a:t>
            </a:r>
            <a:endParaRPr sz="2800">
              <a:solidFill>
                <a:srgbClr val="15803D"/>
              </a:solidFill>
            </a:endParaRP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Volume of a tetrahedron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𝑏𝑎𝑠𝑒 𝑎𝑟𝑒𝑎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ℎ</m:t>
                    </m:r>
                  </m:oMath>
                </a14:m>
                <a:r>
                  <a:rPr sz="2400" b="0">
                    <a:solidFill>
                      <a:srgbClr val="111827"/>
                    </a:solidFill>
                    <a:latin typeface="Arial"/>
                  </a:rPr>
                  <a:t>; base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normal is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foot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of the altitude from </a:t>
                </a:r>
                <a14:m>
                  <m:oMath xmlns:m="http://schemas.openxmlformats.org/officeDocument/2006/math">
                    <m:r>
                      <a:rPr lang="en-IN" sz="2400" i="1">
                        <a:solidFill>
                          <a:srgbClr val="111827"/>
                        </a:solidFill>
                        <a:latin typeface="Cambria Math" panose="02040503050406030204" pitchFamily="18" charset="0"/>
                      </a:rPr>
                      <m:t>𝐷</m:t>
                    </m:r>
                  </m:oMath>
                </a14:m>
                <a:r>
                  <a:rPr sz="2400" b="0">
                    <a:solidFill>
                      <a:srgbClr val="111827"/>
                    </a:solidFill>
                    <a:latin typeface="Arial"/>
                  </a:rPr>
                  <a:t> satisfies </a:t>
                </a:r>
                <a14:m>
                  <m:oMath xmlns:m="http://schemas.openxmlformats.org/officeDocument/2006/math">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𝐸</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𝐷</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(Pythagoras); if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is known to lie on a line through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the point is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 - usually two solutions.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point on a segment dividing it in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from the start allows negative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(external division) when the point lies beyond the ends.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Volume of a tetrahedron </a:t>
                </a:r>
                <a:r>
                  <a:rPr lang="en-IN" sz="2400">
                    <a:solidFill>
                      <a:srgbClr val="111827"/>
                    </a:solidFill>
                    <a:latin typeface="Cambria Math" panose="02040503050406030204" pitchFamily="18" charset="0"/>
                  </a:rPr>
                  <a:t>$=\frac13(\text{base area})\,h$</a:t>
                </a:r>
                <a:r>
                  <a:rPr sz="2400" b="0">
                    <a:solidFill>
                      <a:srgbClr val="111827"/>
                    </a:solidFill>
                    <a:latin typeface="Arial"/>
                  </a:rPr>
                  <a:t>; base area </a:t>
                </a:r>
                <a:r>
                  <a:rPr lang="en-IN" sz="2400">
                    <a:solidFill>
                      <a:srgbClr val="111827"/>
                    </a:solidFill>
                    <a:latin typeface="Cambria Math" panose="02040503050406030204" pitchFamily="18" charset="0"/>
                  </a:rPr>
                  <a:t>$=\frac12|\overrightarrow{AB}\times\overrightarrow{AC}|$</a:t>
                </a:r>
                <a:r>
                  <a:rPr sz="2400" b="0">
                    <a:solidFill>
                      <a:srgbClr val="111827"/>
                    </a:solidFill>
                    <a:latin typeface="Arial"/>
                  </a:rPr>
                  <a:t> and the normal is </a:t>
                </a:r>
                <a:r>
                  <a:rPr lang="en-IN" sz="2400">
                    <a:solidFill>
                      <a:srgbClr val="111827"/>
                    </a:solidFill>
                    <a:latin typeface="Cambria Math" panose="02040503050406030204" pitchFamily="18" charset="0"/>
                  </a:rPr>
                  <a:t>$\overrightarrow{AB}\times\overrightarrow{AC}$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foot </a:t>
                </a:r>
                <a:r>
                  <a:rPr lang="en-IN" sz="2400">
                    <a:solidFill>
                      <a:srgbClr val="111827"/>
                    </a:solidFill>
                    <a:latin typeface="Cambria Math" panose="02040503050406030204" pitchFamily="18" charset="0"/>
                  </a:rPr>
                  <a:t>$E$</a:t>
                </a:r>
                <a:r>
                  <a:rPr sz="2400" b="0">
                    <a:solidFill>
                      <a:srgbClr val="111827"/>
                    </a:solidFill>
                    <a:latin typeface="Arial"/>
                  </a:rPr>
                  <a:t> of the altitude from </a:t>
                </a:r>
                <a:r>
                  <a:rPr lang="en-IN" sz="2400">
                    <a:solidFill>
                      <a:srgbClr val="111827"/>
                    </a:solidFill>
                    <a:latin typeface="Cambria Math" panose="02040503050406030204" pitchFamily="18" charset="0"/>
                  </a:rPr>
                  <a:t>$D$</a:t>
                </a:r>
                <a:r>
                  <a:rPr sz="2400" b="0">
                    <a:solidFill>
                      <a:srgbClr val="111827"/>
                    </a:solidFill>
                    <a:latin typeface="Arial"/>
                  </a:rPr>
                  <a:t> satisfies </a:t>
                </a:r>
                <a:r>
                  <a:rPr lang="en-IN" sz="2400">
                    <a:solidFill>
                      <a:srgbClr val="111827"/>
                    </a:solidFill>
                    <a:latin typeface="Cambria Math" panose="02040503050406030204" pitchFamily="18" charset="0"/>
                  </a:rPr>
                  <a:t>$AE^2=AD^2-h^2$</a:t>
                </a:r>
                <a:r>
                  <a:rPr sz="2400" b="0">
                    <a:solidFill>
                      <a:srgbClr val="111827"/>
                    </a:solidFill>
                    <a:latin typeface="Arial"/>
                  </a:rPr>
                  <a:t> (Pythagoras); if </a:t>
                </a:r>
                <a:r>
                  <a:rPr lang="en-IN" sz="2400">
                    <a:solidFill>
                      <a:srgbClr val="111827"/>
                    </a:solidFill>
                    <a:latin typeface="Cambria Math" panose="02040503050406030204" pitchFamily="18" charset="0"/>
                  </a:rPr>
                  <a:t>$E$</a:t>
                </a:r>
                <a:r>
                  <a:rPr sz="2400" b="0">
                    <a:solidFill>
                      <a:srgbClr val="111827"/>
                    </a:solidFill>
                    <a:latin typeface="Arial"/>
                  </a:rPr>
                  <a:t> is known to lie on a line through </a:t>
                </a:r>
                <a:r>
                  <a:rPr lang="en-IN" sz="2400">
                    <a:solidFill>
                      <a:srgbClr val="111827"/>
                    </a:solidFill>
                    <a:latin typeface="Cambria Math" panose="02040503050406030204" pitchFamily="18" charset="0"/>
                  </a:rPr>
                  <a:t>$A$</a:t>
                </a:r>
                <a:r>
                  <a:rPr sz="2400" b="0">
                    <a:solidFill>
                      <a:srgbClr val="111827"/>
                    </a:solidFill>
                    <a:latin typeface="Arial"/>
                  </a:rPr>
                  <a:t>, the point is </a:t>
                </a:r>
                <a:r>
                  <a:rPr lang="en-IN" sz="2400">
                    <a:solidFill>
                      <a:srgbClr val="111827"/>
                    </a:solidFill>
                    <a:latin typeface="Cambria Math" panose="02040503050406030204" pitchFamily="18" charset="0"/>
                  </a:rPr>
                  <a:t>$A\pm AE\cdot\hat u$</a:t>
                </a:r>
                <a:r>
                  <a:rPr sz="2400" b="0">
                    <a:solidFill>
                      <a:srgbClr val="111827"/>
                    </a:solidFill>
                    <a:latin typeface="Arial"/>
                  </a:rPr>
                  <a:t> - usually two solutions.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point on a segment dividing it in </a:t>
                </a:r>
                <a:r>
                  <a:rPr lang="en-IN" sz="2400">
                    <a:solidFill>
                      <a:srgbClr val="111827"/>
                    </a:solidFill>
                    <a:latin typeface="Cambria Math" panose="02040503050406030204" pitchFamily="18" charset="0"/>
                  </a:rPr>
                  <a:t>$\lambda:1$</a:t>
                </a:r>
                <a:r>
                  <a:rPr sz="2400" b="0">
                    <a:solidFill>
                      <a:srgbClr val="111827"/>
                    </a:solidFill>
                    <a:latin typeface="Arial"/>
                  </a:rPr>
                  <a:t> from the start allows negative </a:t>
                </a:r>
                <a:r>
                  <a:rPr lang="en-IN" sz="2400">
                    <a:solidFill>
                      <a:srgbClr val="111827"/>
                    </a:solidFill>
                    <a:latin typeface="Cambria Math" panose="02040503050406030204" pitchFamily="18" charset="0"/>
                  </a:rPr>
                  <a:t>$\lambda$</a:t>
                </a:r>
                <a:r>
                  <a:rPr sz="2400" b="0">
                    <a:solidFill>
                      <a:srgbClr val="111827"/>
                    </a:solidFill>
                    <a:latin typeface="Arial"/>
                  </a:rPr>
                  <a:t> (external division) when the point lies beyond the ends.</a:t>
                </a:r>
                <a:endParaRPr sz="2400">
                  <a:solidFill>
                    <a:srgbClr val="111827"/>
                  </a:solidFill>
                </a:endParaRPr>
              </a:p>
            </p:txBody>
          </p:sp>
        </mc:Fallback>
      </mc:AlternateContent>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are three non-coplanar vectors, then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endParaRPr sz="2400">
                  <a:solidFill>
                    <a:srgbClr val="111827"/>
                  </a:solidFill>
                </a:endParaRPr>
              </a:p>
            </p:txBody>
          </p:sp>
        </mc:Choice>
        <mc:Fallback>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a,\vec b$</a:t>
                </a:r>
                <a:r>
                  <a:rPr sz="2400" b="0">
                    <a:solidFill>
                      <a:srgbClr val="111827"/>
                    </a:solidFill>
                    <a:latin typeface="Arial"/>
                  </a:rPr>
                  <a:t> and </a:t>
                </a:r>
                <a:r>
                  <a:rPr lang="en-IN" sz="2400">
                    <a:solidFill>
                      <a:srgbClr val="111827"/>
                    </a:solidFill>
                    <a:latin typeface="Cambria Math" panose="02040503050406030204" pitchFamily="18" charset="0"/>
                  </a:rPr>
                  <a:t>$\vec c$</a:t>
                </a:r>
                <a:r>
                  <a:rPr sz="2400" b="0">
                    <a:solidFill>
                      <a:srgbClr val="111827"/>
                    </a:solidFill>
                    <a:latin typeface="Arial"/>
                  </a:rPr>
                  <a:t> are three non-coplanar vectors, then </a:t>
                </a:r>
                <a:r>
                  <a:rPr lang="en-IN" sz="2400">
                    <a:solidFill>
                      <a:srgbClr val="111827"/>
                    </a:solidFill>
                    <a:latin typeface="Cambria Math" panose="02040503050406030204" pitchFamily="18" charset="0"/>
                  </a:rPr>
                  <a:t>$[\vec a\times(\vec b+\vec c)\ \ \ \vec b\times(\vec c-2\vec a)\ \ \ \vec c\times(\vec a+3\vec b)]$</a:t>
                </a:r>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$[\vec a\ \vec b\ \vec c]^2$</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$7[\vec a\ \vec b\ \vec c]^2$</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$-5[\vec a\times\vec b\ \ \vec b\times\vec c\ \ \vec c\times\vec a]$</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$7[\vec c\times\vec a\ \ \vec a\times\vec b\ \ \vec b\times\vec c]$</a:t>
                </a:r>
                <a:endParaRPr sz="2400">
                  <a:solidFill>
                    <a:srgbClr val="111827"/>
                  </a:solidFill>
                </a:endParaRPr>
              </a:p>
            </p:txBody>
          </p:sp>
        </mc:Fallback>
      </mc:AlternateContent>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Scalar triple product of vectors built from cross products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a:t>
                </a:r>
                <a14:m>
                  <m:oMath xmlns:m="http://schemas.openxmlformats.org/officeDocument/2006/math">
                    <m:r>
                      <a:rPr lang="en-IN" sz="2400" i="1">
                        <a:solidFill>
                          <a:srgbClr val="78350F"/>
                        </a:solidFill>
                        <a:latin typeface="Cambria Math" panose="02040503050406030204" pitchFamily="18" charset="0"/>
                      </a:rPr>
                      <m:t>𝑋</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𝑌</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𝑍</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oMath>
                </a14:m>
                <a:r>
                  <a:rPr sz="2400" b="0">
                    <a:solidFill>
                      <a:srgbClr val="78350F"/>
                    </a:solidFill>
                    <a:latin typeface="Arial"/>
                  </a:rPr>
                  <a:t> each factor is a combination of </a:t>
                </a:r>
                <a14:m>
                  <m:oMath xmlns:m="http://schemas.openxmlformats.org/officeDocument/2006/math">
                    <m:r>
                      <a:rPr lang="en-IN" sz="2400" i="1">
                        <a:solidFill>
                          <a:srgbClr val="78350F"/>
                        </a:solidFill>
                        <a:latin typeface="Cambria Math" panose="02040503050406030204" pitchFamily="18" charset="0"/>
                      </a:rPr>
                      <m:t>𝑋</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𝑌</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𝑍</m:t>
                    </m:r>
                  </m:oMath>
                </a14:m>
                <a:r>
                  <a:rPr sz="2400" b="0">
                    <a:solidFill>
                      <a:srgbClr val="78350F"/>
                    </a:solidFill>
                    <a:latin typeface="Arial"/>
                  </a:rPr>
                  <a:t>, so the triple product is </a:t>
                </a:r>
                <a14:m>
                  <m:oMath xmlns:m="http://schemas.openxmlformats.org/officeDocument/2006/math">
                    <m:r>
                      <m:rPr>
                        <m:sty m:val="p"/>
                      </m:rPr>
                      <a:rPr lang="en-IN" sz="2400">
                        <a:solidFill>
                          <a:srgbClr val="78350F"/>
                        </a:solidFill>
                        <a:latin typeface="Cambria Math" panose="02040503050406030204" pitchFamily="18" charset="0"/>
                      </a:rPr>
                      <m:t>det</m:t>
                    </m:r>
                    <m:r>
                      <m:rPr>
                        <m:sty m:val="p"/>
                      </m:rPr>
                      <a:rPr lang="en-IN" sz="2400">
                        <a:solidFill>
                          <a:srgbClr val="78350F"/>
                        </a:solidFill>
                        <a:latin typeface="Cambria Math" panose="02040503050406030204" pitchFamily="18" charset="0"/>
                      </a:rPr>
                      <m:t>(</m:t>
                    </m:r>
                    <m:r>
                      <m:rPr>
                        <m:nor/>
                      </m:rPr>
                      <a:rPr lang="en-IN" sz="2400" i="1">
                        <a:solidFill>
                          <a:srgbClr val="78350F"/>
                        </a:solidFill>
                        <a:latin typeface="Cambria Math" panose="02040503050406030204" pitchFamily="18" charset="0"/>
                      </a:rPr>
                      <m:t>𝑐𝑜𝑒𝑓𝑓𝑖𝑐𝑖𝑒𝑛𝑡𝑠</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𝑋</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𝑌</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𝑍</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a:t>
                </a:r>
                <a:r>
                  <a:rPr lang="en-IN" sz="2400">
                    <a:solidFill>
                      <a:srgbClr val="78350F"/>
                    </a:solidFill>
                    <a:latin typeface="Cambria Math" panose="02040503050406030204" pitchFamily="18" charset="0"/>
                  </a:rPr>
                  <a:t>$X=\vec a\times\vec b,\ Y=\vec b\times\vec c,\ Z=\vec c\times\vec a$</a:t>
                </a:r>
                <a:r>
                  <a:rPr sz="2400" b="0">
                    <a:solidFill>
                      <a:srgbClr val="78350F"/>
                    </a:solidFill>
                    <a:latin typeface="Arial"/>
                  </a:rPr>
                  <a:t> each factor is a combination of </a:t>
                </a:r>
                <a:r>
                  <a:rPr lang="en-IN" sz="2400">
                    <a:solidFill>
                      <a:srgbClr val="78350F"/>
                    </a:solidFill>
                    <a:latin typeface="Cambria Math" panose="02040503050406030204" pitchFamily="18" charset="0"/>
                  </a:rPr>
                  <a:t>$X,Y,Z$</a:t>
                </a:r>
                <a:r>
                  <a:rPr sz="2400" b="0">
                    <a:solidFill>
                      <a:srgbClr val="78350F"/>
                    </a:solidFill>
                    <a:latin typeface="Arial"/>
                  </a:rPr>
                  <a:t>, so the triple product is </a:t>
                </a:r>
                <a:r>
                  <a:rPr lang="en-IN" sz="2400">
                    <a:solidFill>
                      <a:srgbClr val="78350F"/>
                    </a:solidFill>
                    <a:latin typeface="Cambria Math" panose="02040503050406030204" pitchFamily="18" charset="0"/>
                  </a:rPr>
                  <a:t>$\det(\text{coefficients})\,[X\ Y\ Z]$</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𝑍</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𝑍</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$X=\vec a\times\vec b$</a:t>
                </a:r>
                <a:r>
                  <a:rPr sz="2400" b="0">
                    <a:solidFill>
                      <a:srgbClr val="111827"/>
                    </a:solidFill>
                    <a:latin typeface="Arial"/>
                  </a:rPr>
                  <a:t>, </a:t>
                </a:r>
                <a:r>
                  <a:rPr lang="en-IN" sz="2400">
                    <a:solidFill>
                      <a:srgbClr val="111827"/>
                    </a:solidFill>
                    <a:latin typeface="Cambria Math" panose="02040503050406030204" pitchFamily="18" charset="0"/>
                  </a:rPr>
                  <a:t>$Y=\vec b\times\vec c$</a:t>
                </a:r>
                <a:r>
                  <a:rPr sz="2400" b="0">
                    <a:solidFill>
                      <a:srgbClr val="111827"/>
                    </a:solidFill>
                    <a:latin typeface="Arial"/>
                  </a:rPr>
                  <a:t>, </a:t>
                </a:r>
                <a:r>
                  <a:rPr lang="en-IN" sz="2400">
                    <a:solidFill>
                      <a:srgbClr val="111827"/>
                    </a:solidFill>
                    <a:latin typeface="Cambria Math" panose="02040503050406030204" pitchFamily="18" charset="0"/>
                  </a:rPr>
                  <a:t>$Z=\vec c\times\vec 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b+\vec c)=\vec a\times\vec b+\vec a\times\vec c=X-Z$</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𝑋</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𝑍</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𝑌</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𝑍</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𝑍</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0</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0</m:t>
                              </m:r>
                            </m:e>
                          </m:mr>
                          <m:mr>
                            <m:e>
                              <m:r>
                                <a:rPr lang="en-IN" sz="2400" i="1">
                                  <a:solidFill>
                                    <a:srgbClr val="111827"/>
                                  </a:solidFill>
                                  <a:latin typeface="Cambria Math" panose="02040503050406030204" pitchFamily="18" charset="0"/>
                                </a:rPr>
                                <m:t>0</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e>
                            <m:e>
                              <m:r>
                                <a:rPr lang="en-IN" sz="2400" i="1">
                                  <a:solidFill>
                                    <a:srgbClr val="111827"/>
                                  </a:solidFill>
                                  <a:latin typeface="Cambria Math" panose="02040503050406030204" pitchFamily="18" charset="0"/>
                                </a:rPr>
                                <m:t>1</m:t>
                              </m:r>
                            </m:e>
                          </m:mr>
                        </m:m>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𝑌</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𝑍</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determinant is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value is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(B) is true, and (A),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false.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𝑍</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𝑌</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𝑍</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(cyclic), so (D) is true; (C),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false. Answer: B,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b\times(\vec c-2\vec a)=\vec b\times\vec c-2\,\vec b\times\vec a=Y+2X$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c\times(\vec a+3\vec b)=\vec c\times\vec a+3\,\vec c\times\vec b=Z-3Y$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$[X-Z\ \ \ 2X+Y\ \ \ Z-3Y]=\left|\begin{matrix}1&amp;0&amp;-1\\2&amp;1&amp;0\\0&amp;-3&amp;1\end{matrix}\right|[X\ Y\ 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determinant is </a:t>
                </a:r>
                <a:r>
                  <a:rPr lang="en-IN" sz="2400">
                    <a:solidFill>
                      <a:srgbClr val="111827"/>
                    </a:solidFill>
                    <a:latin typeface="Cambria Math" panose="02040503050406030204" pitchFamily="18" charset="0"/>
                  </a:rPr>
                  <a:t>$1(1-0)-0+(-1)(-6-0)=7$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value is </a:t>
                </a:r>
                <a:r>
                  <a:rPr lang="en-IN" sz="2400">
                    <a:solidFill>
                      <a:srgbClr val="111827"/>
                    </a:solidFill>
                    <a:latin typeface="Cambria Math" panose="02040503050406030204" pitchFamily="18" charset="0"/>
                  </a:rPr>
                  <a:t>$7[\vec a\times\vec b\ \ \vec b\times\vec c\ \ \vec c\times\vec a]=7[\vec a\ \vec b\ \vec c]^2$</a:t>
                </a:r>
                <a:r>
                  <a:rPr sz="2400" b="0">
                    <a:solidFill>
                      <a:srgbClr val="111827"/>
                    </a:solidFill>
                    <a:latin typeface="Arial"/>
                  </a:rPr>
                  <a:t>: (B) is true, and (A), </a:t>
                </a:r>
                <a:r>
                  <a:rPr lang="en-IN" sz="2400">
                    <a:solidFill>
                      <a:srgbClr val="111827"/>
                    </a:solidFill>
                    <a:latin typeface="Cambria Math" panose="02040503050406030204" pitchFamily="18" charset="0"/>
                  </a:rPr>
                  <a:t>$[\vec a\ \vec b\ \vec c]^2$</a:t>
                </a:r>
                <a:r>
                  <a:rPr sz="2400" b="0">
                    <a:solidFill>
                      <a:srgbClr val="111827"/>
                    </a:solidFill>
                    <a:latin typeface="Arial"/>
                  </a:rPr>
                  <a:t>, is false.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c\times\vec a\ \ \vec a\times\vec b\ \ \vec b\times\vec c]=[Z\ X\ Y]=[X\ Y\ Z]$</a:t>
                </a:r>
                <a:r>
                  <a:rPr sz="2400" b="0">
                    <a:solidFill>
                      <a:srgbClr val="111827"/>
                    </a:solidFill>
                    <a:latin typeface="Arial"/>
                  </a:rPr>
                  <a:t> (cyclic), so (D) is true; (C), </a:t>
                </a:r>
                <a:r>
                  <a:rPr lang="en-IN" sz="2400">
                    <a:solidFill>
                      <a:srgbClr val="111827"/>
                    </a:solidFill>
                    <a:latin typeface="Cambria Math" panose="02040503050406030204" pitchFamily="18" charset="0"/>
                  </a:rPr>
                  <a:t>$-5[\ldots]$</a:t>
                </a:r>
                <a:r>
                  <a:rPr sz="2400" b="0">
                    <a:solidFill>
                      <a:srgbClr val="111827"/>
                    </a:solidFill>
                    <a:latin typeface="Arial"/>
                  </a:rPr>
                  <a:t>, is false. Answer: B,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D)</a:t>
            </a:r>
            <a:endParaRPr sz="2800">
              <a:solidFill>
                <a:srgbClr val="15803D"/>
              </a:solidFill>
            </a:endParaRP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Pick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𝑖</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𝑗</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𝑘</m:t>
                        </m:r>
                      </m:e>
                    </m:acc>
                  </m:oMath>
                </a14:m>
                <a:r>
                  <a:rPr sz="2400" b="0">
                    <a:solidFill>
                      <a:srgbClr val="78350F"/>
                    </a:solidFill>
                    <a:latin typeface="Arial"/>
                  </a:rPr>
                  <a:t> (non-coplanar) and evaluate the determinant of the three explicit vectors.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Pick </a:t>
                </a:r>
                <a:r>
                  <a:rPr lang="en-IN" sz="2400">
                    <a:solidFill>
                      <a:srgbClr val="78350F"/>
                    </a:solidFill>
                    <a:latin typeface="Cambria Math" panose="02040503050406030204" pitchFamily="18" charset="0"/>
                  </a:rPr>
                  <a:t>$\vec a=\hat i,\ \vec b=\hat j,\ \vec c=\hat k$</a:t>
                </a:r>
                <a:r>
                  <a:rPr sz="2400" b="0">
                    <a:solidFill>
                      <a:srgbClr val="78350F"/>
                    </a:solidFill>
                    <a:latin typeface="Arial"/>
                  </a:rPr>
                  <a:t> (non-coplanar) and evaluate the determinant of the three explicit vectors.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0</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0</m:t>
                              </m:r>
                            </m:e>
                            <m:e>
                              <m:r>
                                <a:rPr lang="en-IN" sz="2400" i="1">
                                  <a:solidFill>
                                    <a:srgbClr val="111827"/>
                                  </a:solidFill>
                                  <a:latin typeface="Cambria Math" panose="02040503050406030204" pitchFamily="18" charset="0"/>
                                </a:rPr>
                                <m:t>2</m:t>
                              </m:r>
                            </m:e>
                          </m:m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e>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0</m:t>
                              </m:r>
                            </m:e>
                          </m:mr>
                        </m:m>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while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value is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((B) and (D); (A) gives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(C)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b+\vec c)=\hat i\times(\hat j+\hat k)=\hat k-\hat j=(0,-1,1)$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b\times(\vec c-2\vec a)=\hat j\times(\hat k-2\hat i)=\hat i+2\hat k=(1,0,2)$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c\times(\vec a+3\vec b)=\hat k\times(\hat i+3\hat j)=\hat j-3\hat i=(-3,1,0)$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$\left|\begin{matrix}0&amp;-1&amp;1\\1&amp;0&amp;2\\-3&amp;1&amp;0\end{matrix}\right|=0-(-1)(0+6)+1(1-0)=7$</a:t>
                </a:r>
                <a:r>
                  <a:rPr sz="2400" b="0">
                    <a:solidFill>
                      <a:srgbClr val="111827"/>
                    </a:solidFill>
                    <a:latin typeface="Arial"/>
                  </a:rPr>
                  <a:t>, while </a:t>
                </a:r>
                <a:r>
                  <a:rPr lang="en-IN" sz="2400">
                    <a:solidFill>
                      <a:srgbClr val="111827"/>
                    </a:solidFill>
                    <a:latin typeface="Cambria Math" panose="02040503050406030204" pitchFamily="18" charset="0"/>
                  </a:rPr>
                  <a:t>$[\vec a\ \vec b\ \vec c]^2=1$</a:t>
                </a:r>
                <a:r>
                  <a:rPr sz="2400" b="0">
                    <a:solidFill>
                      <a:srgbClr val="111827"/>
                    </a:solidFill>
                    <a:latin typeface="Arial"/>
                  </a:rPr>
                  <a:t>: the value is </a:t>
                </a:r>
                <a:r>
                  <a:rPr lang="en-IN" sz="2400">
                    <a:solidFill>
                      <a:srgbClr val="111827"/>
                    </a:solidFill>
                    <a:latin typeface="Cambria Math" panose="02040503050406030204" pitchFamily="18" charset="0"/>
                  </a:rPr>
                  <a:t>$7[\vec a\ \vec b\ \vec c]^2$</a:t>
                </a:r>
                <a:r>
                  <a:rPr sz="2400" b="0">
                    <a:solidFill>
                      <a:srgbClr val="111827"/>
                    </a:solidFill>
                    <a:latin typeface="Arial"/>
                  </a:rPr>
                  <a:t> ((B) and (D); (A) gives </a:t>
                </a:r>
                <a:r>
                  <a:rPr lang="en-IN" sz="2400">
                    <a:solidFill>
                      <a:srgbClr val="111827"/>
                    </a:solidFill>
                    <a:latin typeface="Cambria Math" panose="02040503050406030204" pitchFamily="18" charset="0"/>
                  </a:rPr>
                  <a:t>$1$</a:t>
                </a:r>
                <a:r>
                  <a:rPr sz="2400" b="0">
                    <a:solidFill>
                      <a:srgbClr val="111827"/>
                    </a:solidFill>
                    <a:latin typeface="Arial"/>
                  </a:rPr>
                  <a:t>, (C) gives </a:t>
                </a:r>
                <a:r>
                  <a:rPr lang="en-IN" sz="2400">
                    <a:solidFill>
                      <a:srgbClr val="111827"/>
                    </a:solidFill>
                    <a:latin typeface="Cambria Math" panose="02040503050406030204" pitchFamily="18" charset="0"/>
                  </a:rPr>
                  <a:t>$-5$</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D)</a:t>
            </a:r>
            <a:endParaRPr sz="2800">
              <a:solidFill>
                <a:srgbClr val="15803D"/>
              </a:solidFill>
            </a:endParaRP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the triple product is invariant under cyclic permutation.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are linear combinations of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with coefficient matrix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 products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etc. are combinations of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𝑍</m:t>
                    </m:r>
                  </m:oMath>
                </a14:m>
                <a:r>
                  <a:rPr sz="2400" b="0">
                    <a:solidFill>
                      <a:srgbClr val="111827"/>
                    </a:solidFill>
                    <a:latin typeface="Arial"/>
                  </a:rPr>
                  <a:t> because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𝑍</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 \ \vec b\times\vec c\ \ \vec c\times\vec a]=[\vec a\ \vec b\ \vec c]^2$</a:t>
                </a:r>
                <a:r>
                  <a:rPr sz="2400" b="0">
                    <a:solidFill>
                      <a:srgbClr val="111827"/>
                    </a:solidFill>
                    <a:latin typeface="Arial"/>
                  </a:rPr>
                  <a:t> and the triple product is invariant under cyclic permutation.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p,\vec q,\vec r$</a:t>
                </a:r>
                <a:r>
                  <a:rPr sz="2400" b="0">
                    <a:solidFill>
                      <a:srgbClr val="111827"/>
                    </a:solidFill>
                    <a:latin typeface="Arial"/>
                  </a:rPr>
                  <a:t> are linear combinations of </a:t>
                </a:r>
                <a:r>
                  <a:rPr lang="en-IN" sz="2400">
                    <a:solidFill>
                      <a:srgbClr val="111827"/>
                    </a:solidFill>
                    <a:latin typeface="Cambria Math" panose="02040503050406030204" pitchFamily="18" charset="0"/>
                  </a:rPr>
                  <a:t>$\vec e_1,\vec e_2,\vec e_3$</a:t>
                </a:r>
                <a:r>
                  <a:rPr sz="2400" b="0">
                    <a:solidFill>
                      <a:srgbClr val="111827"/>
                    </a:solidFill>
                    <a:latin typeface="Arial"/>
                  </a:rPr>
                  <a:t> with coefficient matrix </a:t>
                </a:r>
                <a:r>
                  <a:rPr lang="en-IN" sz="2400">
                    <a:solidFill>
                      <a:srgbClr val="111827"/>
                    </a:solidFill>
                    <a:latin typeface="Cambria Math" panose="02040503050406030204" pitchFamily="18" charset="0"/>
                  </a:rPr>
                  <a:t>$M$</a:t>
                </a:r>
                <a:r>
                  <a:rPr sz="2400" b="0">
                    <a:solidFill>
                      <a:srgbClr val="111827"/>
                    </a:solidFill>
                    <a:latin typeface="Arial"/>
                  </a:rPr>
                  <a:t>, then </a:t>
                </a:r>
                <a:r>
                  <a:rPr lang="en-IN" sz="2400">
                    <a:solidFill>
                      <a:srgbClr val="111827"/>
                    </a:solidFill>
                    <a:latin typeface="Cambria Math" panose="02040503050406030204" pitchFamily="18" charset="0"/>
                  </a:rPr>
                  <a:t>$[\vec p\ \vec q\ \vec r]=\det M\,[\vec e_1\ \vec e_2\ \vec e_3]$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 products </a:t>
                </a:r>
                <a:r>
                  <a:rPr lang="en-IN" sz="2400">
                    <a:solidFill>
                      <a:srgbClr val="111827"/>
                    </a:solidFill>
                    <a:latin typeface="Cambria Math" panose="02040503050406030204" pitchFamily="18" charset="0"/>
                  </a:rPr>
                  <a:t>$\vec a\times(\vec b+\vec c)$</a:t>
                </a:r>
                <a:r>
                  <a:rPr sz="2400" b="0">
                    <a:solidFill>
                      <a:srgbClr val="111827"/>
                    </a:solidFill>
                    <a:latin typeface="Arial"/>
                  </a:rPr>
                  <a:t> etc. are combinations of </a:t>
                </a:r>
                <a:r>
                  <a:rPr lang="en-IN" sz="2400">
                    <a:solidFill>
                      <a:srgbClr val="111827"/>
                    </a:solidFill>
                    <a:latin typeface="Cambria Math" panose="02040503050406030204" pitchFamily="18" charset="0"/>
                  </a:rPr>
                  <a:t>$X,Y,Z$</a:t>
                </a:r>
                <a:r>
                  <a:rPr sz="2400" b="0">
                    <a:solidFill>
                      <a:srgbClr val="111827"/>
                    </a:solidFill>
                    <a:latin typeface="Arial"/>
                  </a:rPr>
                  <a:t> because </a:t>
                </a:r>
                <a:r>
                  <a:rPr lang="en-IN" sz="2400">
                    <a:solidFill>
                      <a:srgbClr val="111827"/>
                    </a:solidFill>
                    <a:latin typeface="Cambria Math" panose="02040503050406030204" pitchFamily="18" charset="0"/>
                  </a:rPr>
                  <a:t>$\vec a\times\vec c=-Z$</a:t>
                </a:r>
                <a:r>
                  <a:rPr sz="2400" b="0">
                    <a:solidFill>
                      <a:srgbClr val="111827"/>
                    </a:solidFill>
                    <a:latin typeface="Arial"/>
                  </a:rPr>
                  <a:t>, </a:t>
                </a:r>
                <a:r>
                  <a:rPr lang="en-IN" sz="2400">
                    <a:solidFill>
                      <a:srgbClr val="111827"/>
                    </a:solidFill>
                    <a:latin typeface="Cambria Math" panose="02040503050406030204" pitchFamily="18" charset="0"/>
                  </a:rPr>
                  <a:t>$\vec b\times\vec a=-X$</a:t>
                </a:r>
                <a:r>
                  <a:rPr sz="2400" b="0">
                    <a:solidFill>
                      <a:srgbClr val="111827"/>
                    </a:solidFill>
                    <a:latin typeface="Arial"/>
                  </a:rPr>
                  <a:t>, </a:t>
                </a:r>
                <a:r>
                  <a:rPr lang="en-IN" sz="2400">
                    <a:solidFill>
                      <a:srgbClr val="111827"/>
                    </a:solidFill>
                    <a:latin typeface="Cambria Math" panose="02040503050406030204" pitchFamily="18" charset="0"/>
                  </a:rPr>
                  <a:t>$\vec c\times\vec b=-Y$</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unit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are at right angles to each other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all real </a:t>
                </a:r>
                <a14:m>
                  <m:oMath xmlns:m="http://schemas.openxmlformats.org/officeDocument/2006/math">
                    <m:r>
                      <a:rPr lang="en-IN" sz="2400" i="1">
                        <a:solidFill>
                          <a:srgbClr val="111827"/>
                        </a:solidFill>
                        <a:latin typeface="Cambria Math" panose="02040503050406030204" pitchFamily="18" charset="0"/>
                      </a:rPr>
                      <m:t>𝑘</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is perpendicular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oMath>
                </a14:m>
                <a:r>
                  <a:rPr sz="2400" b="0">
                    <a:solidFill>
                      <a:srgbClr val="111827"/>
                    </a:solidFill>
                    <a:latin typeface="Arial"/>
                  </a:rPr>
                  <a:t> is perpendicular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oMath>
                </a14:m>
                <a:endParaRPr sz="2400">
                  <a:solidFill>
                    <a:srgbClr val="111827"/>
                  </a:solidFill>
                </a:endParaRPr>
              </a:p>
            </p:txBody>
          </p:sp>
        </mc:Choice>
        <mc:Fallback>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unit vectors </a:t>
                </a:r>
                <a:r>
                  <a:rPr lang="en-IN" sz="2400">
                    <a:solidFill>
                      <a:srgbClr val="111827"/>
                    </a:solidFill>
                    <a:latin typeface="Cambria Math" panose="02040503050406030204" pitchFamily="18" charset="0"/>
                  </a:rPr>
                  <a:t>$\hat i$</a:t>
                </a:r>
                <a:r>
                  <a:rPr sz="2400" b="0">
                    <a:solidFill>
                      <a:srgbClr val="111827"/>
                    </a:solidFill>
                    <a:latin typeface="Arial"/>
                  </a:rPr>
                  <a:t> and </a:t>
                </a:r>
                <a:r>
                  <a:rPr lang="en-IN" sz="2400">
                    <a:solidFill>
                      <a:srgbClr val="111827"/>
                    </a:solidFill>
                    <a:latin typeface="Cambria Math" panose="02040503050406030204" pitchFamily="18" charset="0"/>
                  </a:rPr>
                  <a:t>$\hat j$</a:t>
                </a:r>
                <a:r>
                  <a:rPr sz="2400" b="0">
                    <a:solidFill>
                      <a:srgbClr val="111827"/>
                    </a:solidFill>
                    <a:latin typeface="Arial"/>
                  </a:rPr>
                  <a:t> are at right angles to each other and </a:t>
                </a:r>
                <a:r>
                  <a:rPr lang="en-IN" sz="2400">
                    <a:solidFill>
                      <a:srgbClr val="111827"/>
                    </a:solidFill>
                    <a:latin typeface="Cambria Math" panose="02040503050406030204" pitchFamily="18" charset="0"/>
                  </a:rPr>
                  <a:t>$\vec p=3\hat i+4\hat j,\ \vec q=5\hat i,\ 4\vec r=\vec p+\vec q$</a:t>
                </a:r>
                <a:r>
                  <a:rPr sz="2400" b="0">
                    <a:solidFill>
                      <a:srgbClr val="111827"/>
                    </a:solidFill>
                    <a:latin typeface="Arial"/>
                  </a:rPr>
                  <a:t> and </a:t>
                </a:r>
                <a:r>
                  <a:rPr lang="en-IN" sz="2400">
                    <a:solidFill>
                      <a:srgbClr val="111827"/>
                    </a:solidFill>
                    <a:latin typeface="Cambria Math" panose="02040503050406030204" pitchFamily="18" charset="0"/>
                  </a:rPr>
                  <a:t>$2\vec s=\vec p-\vec q$</a:t>
                </a:r>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$|\vec r+k\vec s|=|\vec r-k\vec s|$</a:t>
                </a:r>
                <a:r>
                  <a:rPr sz="2400" b="0">
                    <a:solidFill>
                      <a:srgbClr val="111827"/>
                    </a:solidFill>
                    <a:latin typeface="Arial"/>
                  </a:rPr>
                  <a:t> for all real </a:t>
                </a:r>
                <a:r>
                  <a:rPr lang="en-IN" sz="2400">
                    <a:solidFill>
                      <a:srgbClr val="111827"/>
                    </a:solidFill>
                    <a:latin typeface="Cambria Math" panose="02040503050406030204" pitchFamily="18" charset="0"/>
                  </a:rPr>
                  <a:t>$k$</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$\vec r$</a:t>
                </a:r>
                <a:r>
                  <a:rPr sz="2400" b="0">
                    <a:solidFill>
                      <a:srgbClr val="111827"/>
                    </a:solidFill>
                    <a:latin typeface="Arial"/>
                  </a:rPr>
                  <a:t> is perpendicular to </a:t>
                </a:r>
                <a:r>
                  <a:rPr lang="en-IN" sz="2400">
                    <a:solidFill>
                      <a:srgbClr val="111827"/>
                    </a:solidFill>
                    <a:latin typeface="Cambria Math" panose="02040503050406030204" pitchFamily="18" charset="0"/>
                  </a:rPr>
                  <a:t>$\vec 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$\vec r+\vec s$</a:t>
                </a:r>
                <a:r>
                  <a:rPr sz="2400" b="0">
                    <a:solidFill>
                      <a:srgbClr val="111827"/>
                    </a:solidFill>
                    <a:latin typeface="Arial"/>
                  </a:rPr>
                  <a:t> is perpendicular to </a:t>
                </a:r>
                <a:r>
                  <a:rPr lang="en-IN" sz="2400">
                    <a:solidFill>
                      <a:srgbClr val="111827"/>
                    </a:solidFill>
                    <a:latin typeface="Cambria Math" panose="02040503050406030204" pitchFamily="18" charset="0"/>
                  </a:rPr>
                  <a:t>$\vec r-\vec 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$|\vec r|=|\vec s|=|\vec p|=|\vec q|$</a:t>
                </a:r>
                <a:endParaRPr sz="2400">
                  <a:solidFill>
                    <a:srgbClr val="111827"/>
                  </a:solidFill>
                </a:endParaRPr>
              </a:p>
            </p:txBody>
          </p:sp>
        </mc:Fallback>
      </mc:AlternateContent>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Perpendicular unit vectors and combinations of vectors, Properties of rhombus diagonals in vectors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Compute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𝑖</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𝑗</m:t>
                        </m:r>
                      </m:e>
                    </m:acc>
                  </m:oMath>
                </a14:m>
                <a:r>
                  <a:rPr sz="2400" b="0">
                    <a:solidFill>
                      <a:srgbClr val="78350F"/>
                    </a:solidFill>
                    <a:latin typeface="Arial"/>
                  </a:rPr>
                  <a:t> and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𝑠</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𝑖</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𝑗</m:t>
                        </m:r>
                      </m:e>
                    </m:acc>
                  </m:oMath>
                </a14:m>
                <a:r>
                  <a:rPr sz="2400" b="0">
                    <a:solidFill>
                      <a:srgbClr val="78350F"/>
                    </a:solidFill>
                    <a:latin typeface="Arial"/>
                  </a:rPr>
                  <a:t>; then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𝑠</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𝑠</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Compute </a:t>
                </a:r>
                <a:r>
                  <a:rPr lang="en-IN" sz="2400">
                    <a:solidFill>
                      <a:srgbClr val="78350F"/>
                    </a:solidFill>
                    <a:latin typeface="Cambria Math" panose="02040503050406030204" pitchFamily="18" charset="0"/>
                  </a:rPr>
                  <a:t>$\vec r=2\hat i+\hat j$</a:t>
                </a:r>
                <a:r>
                  <a:rPr sz="2400" b="0">
                    <a:solidFill>
                      <a:srgbClr val="78350F"/>
                    </a:solidFill>
                    <a:latin typeface="Arial"/>
                  </a:rPr>
                  <a:t> and </a:t>
                </a:r>
                <a:r>
                  <a:rPr lang="en-IN" sz="2400">
                    <a:solidFill>
                      <a:srgbClr val="78350F"/>
                    </a:solidFill>
                    <a:latin typeface="Cambria Math" panose="02040503050406030204" pitchFamily="18" charset="0"/>
                  </a:rPr>
                  <a:t>$\vec s=-\hat i+2\hat j$</a:t>
                </a:r>
                <a:r>
                  <a:rPr sz="2400" b="0">
                    <a:solidFill>
                      <a:srgbClr val="78350F"/>
                    </a:solidFill>
                    <a:latin typeface="Arial"/>
                  </a:rPr>
                  <a:t>; then </a:t>
                </a:r>
                <a:r>
                  <a:rPr lang="en-IN" sz="2400">
                    <a:solidFill>
                      <a:srgbClr val="78350F"/>
                    </a:solidFill>
                    <a:latin typeface="Cambria Math" panose="02040503050406030204" pitchFamily="18" charset="0"/>
                  </a:rPr>
                  <a:t>$\vec r\cdot\vec s=0$</a:t>
                </a:r>
                <a:r>
                  <a:rPr sz="2400" b="0">
                    <a:solidFill>
                      <a:srgbClr val="78350F"/>
                    </a:solidFill>
                    <a:latin typeface="Arial"/>
                  </a:rPr>
                  <a:t>, </a:t>
                </a:r>
                <a:r>
                  <a:rPr lang="en-IN" sz="2400">
                    <a:solidFill>
                      <a:srgbClr val="78350F"/>
                    </a:solidFill>
                    <a:latin typeface="Cambria Math" panose="02040503050406030204" pitchFamily="18" charset="0"/>
                  </a:rPr>
                  <a:t>$|\vec r|=|\vec s|$</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$\hat i\cdot\hat j=0$</a:t>
                </a:r>
                <a:r>
                  <a:rPr sz="2400" b="0">
                    <a:solidFill>
                      <a:srgbClr val="111827"/>
                    </a:solidFill>
                    <a:latin typeface="Arial"/>
                  </a:rPr>
                  <a:t>, </a:t>
                </a:r>
                <a:r>
                  <a:rPr lang="en-IN" sz="2400">
                    <a:solidFill>
                      <a:srgbClr val="111827"/>
                    </a:solidFill>
                    <a:latin typeface="Cambria Math" panose="02040503050406030204" pitchFamily="18" charset="0"/>
                  </a:rPr>
                  <a:t>$\vec p=3\hat i+4\hat j$</a:t>
                </a:r>
                <a:r>
                  <a:rPr sz="2400" b="0">
                    <a:solidFill>
                      <a:srgbClr val="111827"/>
                    </a:solidFill>
                    <a:latin typeface="Arial"/>
                  </a:rPr>
                  <a:t>, </a:t>
                </a:r>
                <a:r>
                  <a:rPr lang="en-IN" sz="2400">
                    <a:solidFill>
                      <a:srgbClr val="111827"/>
                    </a:solidFill>
                    <a:latin typeface="Cambria Math" panose="02040503050406030204" pitchFamily="18" charset="0"/>
                  </a:rPr>
                  <a:t>$\vec q=5\hat 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$4\vec r=\vec p+\vec q=8\hat i+4\hat j\Rightarrow\vec r=2\hat i+\hat j$</a:t>
                </a:r>
                <a:r>
                  <a:rPr sz="2400" b="0">
                    <a:solidFill>
                      <a:srgbClr val="111827"/>
                    </a:solidFill>
                    <a:latin typeface="Arial"/>
                  </a:rPr>
                  <a:t>; </a:t>
                </a:r>
                <a:r>
                  <a:rPr lang="en-IN" sz="2400">
                    <a:solidFill>
                      <a:srgbClr val="111827"/>
                    </a:solidFill>
                    <a:latin typeface="Cambria Math" panose="02040503050406030204" pitchFamily="18" charset="0"/>
                  </a:rPr>
                  <a:t>$\ 2\vec s=\vec p-\vec q=-2\hat i+4\hat j\Rightarrow\vec s=-\hat i+2\hat j$</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 equal for all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oMath>
                </a14:m>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but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false. Answer: A,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$|\vec r+k\vec s|=|(2-k)\hat i+(1+2k)\hat j|=\sqrt{5+5k^2}$</a:t>
                </a:r>
                <a:r>
                  <a:rPr sz="2400" b="0">
                    <a:solidFill>
                      <a:srgbClr val="111827"/>
                    </a:solidFill>
                    <a:latin typeface="Arial"/>
                  </a:rPr>
                  <a:t> and </a:t>
                </a:r>
                <a:r>
                  <a:rPr lang="en-IN" sz="2400">
                    <a:solidFill>
                      <a:srgbClr val="111827"/>
                    </a:solidFill>
                    <a:latin typeface="Cambria Math" panose="02040503050406030204" pitchFamily="18" charset="0"/>
                  </a:rPr>
                  <a:t>$|\vec r-k\vec s|=|(2+k)\hat i+(1-2k)\hat j|=\sqrt{5+5k^2}$</a:t>
                </a:r>
                <a:r>
                  <a:rPr sz="2400" b="0">
                    <a:solidFill>
                      <a:srgbClr val="111827"/>
                    </a:solidFill>
                    <a:latin typeface="Arial"/>
                  </a:rPr>
                  <a:t>: equal for all </a:t>
                </a:r>
                <a:r>
                  <a:rPr lang="en-IN" sz="2400">
                    <a:solidFill>
                      <a:srgbClr val="111827"/>
                    </a:solidFill>
                    <a:latin typeface="Cambria Math" panose="02040503050406030204" pitchFamily="18" charset="0"/>
                  </a:rPr>
                  <a:t>$k$</a:t>
                </a:r>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$\vec r\cdot\vec s=-2+2=0$</a:t>
                </a:r>
                <a:r>
                  <a:rPr sz="2400" b="0">
                    <a:solidFill>
                      <a:srgbClr val="111827"/>
                    </a:solidFill>
                    <a:latin typeface="Arial"/>
                  </a:rPr>
                  <a:t>, so </a:t>
                </a:r>
                <a:r>
                  <a:rPr lang="en-IN" sz="2400">
                    <a:solidFill>
                      <a:srgbClr val="111827"/>
                    </a:solidFill>
                    <a:latin typeface="Cambria Math" panose="02040503050406030204" pitchFamily="18" charset="0"/>
                  </a:rPr>
                  <a:t>$\vec r\perp\vec s$</a:t>
                </a:r>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$\vec r+\vec s=\hat i+3\hat j$</a:t>
                </a:r>
                <a:r>
                  <a:rPr sz="2400" b="0">
                    <a:solidFill>
                      <a:srgbClr val="111827"/>
                    </a:solidFill>
                    <a:latin typeface="Arial"/>
                  </a:rPr>
                  <a:t> and </a:t>
                </a:r>
                <a:r>
                  <a:rPr lang="en-IN" sz="2400">
                    <a:solidFill>
                      <a:srgbClr val="111827"/>
                    </a:solidFill>
                    <a:latin typeface="Cambria Math" panose="02040503050406030204" pitchFamily="18" charset="0"/>
                  </a:rPr>
                  <a:t>$\vec r-\vec s=3\hat i-\hat j$</a:t>
                </a:r>
                <a:r>
                  <a:rPr sz="2400" b="0">
                    <a:solidFill>
                      <a:srgbClr val="111827"/>
                    </a:solidFill>
                    <a:latin typeface="Arial"/>
                  </a:rPr>
                  <a:t>; </a:t>
                </a:r>
                <a:r>
                  <a:rPr lang="en-IN" sz="2400">
                    <a:solidFill>
                      <a:srgbClr val="111827"/>
                    </a:solidFill>
                    <a:latin typeface="Cambria Math" panose="02040503050406030204" pitchFamily="18" charset="0"/>
                  </a:rPr>
                  <a:t>$(\vec r+\vec s)\cdot(\vec r-\vec s)=3-3=0$</a:t>
                </a:r>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$|\vec r|=\sqrt5=|\vec s|$</a:t>
                </a:r>
                <a:r>
                  <a:rPr sz="2400" b="0">
                    <a:solidFill>
                      <a:srgbClr val="111827"/>
                    </a:solidFill>
                    <a:latin typeface="Arial"/>
                  </a:rPr>
                  <a:t> but </a:t>
                </a:r>
                <a:r>
                  <a:rPr lang="en-IN" sz="2400">
                    <a:solidFill>
                      <a:srgbClr val="111827"/>
                    </a:solidFill>
                    <a:latin typeface="Cambria Math" panose="02040503050406030204" pitchFamily="18" charset="0"/>
                  </a:rPr>
                  <a:t>$|\vec p|=5=|\vec q|$</a:t>
                </a:r>
                <a:r>
                  <a:rPr sz="2400" b="0">
                    <a:solidFill>
                      <a:srgbClr val="111827"/>
                    </a:solidFill>
                    <a:latin typeface="Arial"/>
                  </a:rPr>
                  <a:t>, so </a:t>
                </a:r>
                <a:r>
                  <a:rPr lang="en-IN" sz="2400">
                    <a:solidFill>
                      <a:srgbClr val="111827"/>
                    </a:solidFill>
                    <a:latin typeface="Cambria Math" panose="02040503050406030204" pitchFamily="18" charset="0"/>
                  </a:rPr>
                  <a:t>$|\vec r|=|\vec s|=|\vec p|=|\vec q|$</a:t>
                </a:r>
                <a:r>
                  <a:rPr sz="2400" b="0">
                    <a:solidFill>
                      <a:srgbClr val="111827"/>
                    </a:solidFill>
                    <a:latin typeface="Arial"/>
                  </a:rPr>
                  <a:t> is false. Answer: A, B,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 C)</a:t>
            </a:r>
            <a:endParaRPr sz="2800">
              <a:solidFill>
                <a:srgbClr val="15803D"/>
              </a:solidFill>
            </a:endParaRP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Work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oMath>
                </a14:m>
                <a:r>
                  <a:rPr sz="2400" b="0">
                    <a:solidFill>
                      <a:srgbClr val="78350F"/>
                    </a:solidFill>
                    <a:latin typeface="Arial"/>
                  </a:rPr>
                  <a:t> only: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oMath>
                </a14:m>
                <a:r>
                  <a:rPr sz="2400" b="0">
                    <a:solidFill>
                      <a:srgbClr val="78350F"/>
                    </a:solidFill>
                    <a:latin typeface="Arial"/>
                  </a:rPr>
                  <a:t>, so the diagonals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oMath>
                </a14:m>
                <a:r>
                  <a:rPr sz="2400" b="0">
                    <a:solidFill>
                      <a:srgbClr val="78350F"/>
                    </a:solidFill>
                    <a:latin typeface="Arial"/>
                  </a:rPr>
                  <a:t> of the rhombus are perpendicular.</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Work with </a:t>
                </a:r>
                <a:r>
                  <a:rPr lang="en-IN" sz="2400">
                    <a:solidFill>
                      <a:srgbClr val="78350F"/>
                    </a:solidFill>
                    <a:latin typeface="Cambria Math" panose="02040503050406030204" pitchFamily="18" charset="0"/>
                  </a:rPr>
                  <a:t>$\vec p,\vec q$</a:t>
                </a:r>
                <a:r>
                  <a:rPr sz="2400" b="0">
                    <a:solidFill>
                      <a:srgbClr val="78350F"/>
                    </a:solidFill>
                    <a:latin typeface="Arial"/>
                  </a:rPr>
                  <a:t> only: </a:t>
                </a:r>
                <a:r>
                  <a:rPr lang="en-IN" sz="2400">
                    <a:solidFill>
                      <a:srgbClr val="78350F"/>
                    </a:solidFill>
                    <a:latin typeface="Cambria Math" panose="02040503050406030204" pitchFamily="18" charset="0"/>
                  </a:rPr>
                  <a:t>$|\vec p|=|\vec q|=5$</a:t>
                </a:r>
                <a:r>
                  <a:rPr sz="2400" b="0">
                    <a:solidFill>
                      <a:srgbClr val="78350F"/>
                    </a:solidFill>
                    <a:latin typeface="Arial"/>
                  </a:rPr>
                  <a:t>, so the diagonals </a:t>
                </a:r>
                <a:r>
                  <a:rPr lang="en-IN" sz="2400">
                    <a:solidFill>
                      <a:srgbClr val="78350F"/>
                    </a:solidFill>
                    <a:latin typeface="Cambria Math" panose="02040503050406030204" pitchFamily="18" charset="0"/>
                  </a:rPr>
                  <a:t>$\vec p\pm\vec q$</a:t>
                </a:r>
                <a:r>
                  <a:rPr sz="2400" b="0">
                    <a:solidFill>
                      <a:srgbClr val="78350F"/>
                    </a:solidFill>
                    <a:latin typeface="Arial"/>
                  </a:rPr>
                  <a:t> of the rhombus are perpendicular.</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(B).</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 all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(A).</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r=\frac{\vec p+\vec q}{4}$</a:t>
                </a:r>
                <a:r>
                  <a:rPr sz="2400" b="0">
                    <a:solidFill>
                      <a:srgbClr val="111827"/>
                    </a:solidFill>
                    <a:latin typeface="Arial"/>
                  </a:rPr>
                  <a:t> and </a:t>
                </a:r>
                <a:r>
                  <a:rPr lang="en-IN" sz="2400">
                    <a:solidFill>
                      <a:srgbClr val="111827"/>
                    </a:solidFill>
                    <a:latin typeface="Cambria Math" panose="02040503050406030204" pitchFamily="18" charset="0"/>
                  </a:rPr>
                  <a:t>$\vec s=\frac{\vec p-\vec q}{2}$</a:t>
                </a:r>
                <a:r>
                  <a:rPr sz="2400" b="0">
                    <a:solidFill>
                      <a:srgbClr val="111827"/>
                    </a:solidFill>
                    <a:latin typeface="Arial"/>
                  </a:rPr>
                  <a:t>, so </a:t>
                </a:r>
                <a:r>
                  <a:rPr lang="en-IN" sz="2400">
                    <a:solidFill>
                      <a:srgbClr val="111827"/>
                    </a:solidFill>
                    <a:latin typeface="Cambria Math" panose="02040503050406030204" pitchFamily="18" charset="0"/>
                  </a:rPr>
                  <a:t>$\vec r\cdot\vec s=\frac{|\vec p|^2-|\vec q|^2}{8}=\frac{25-25}{8}=0$</a:t>
                </a:r>
                <a:r>
                  <a:rPr sz="2400" b="0">
                    <a:solidFill>
                      <a:srgbClr val="111827"/>
                    </a:solidFill>
                    <a:latin typeface="Arial"/>
                  </a:rPr>
                  <a:t>: (B).</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r+k\vec s|^2-|\vec r-k\vec s|^2=4k\,\vec r\cdot\vec s=0$</a:t>
                </a:r>
                <a:r>
                  <a:rPr sz="2400" b="0">
                    <a:solidFill>
                      <a:srgbClr val="111827"/>
                    </a:solidFill>
                    <a:latin typeface="Arial"/>
                  </a:rPr>
                  <a:t> for all </a:t>
                </a:r>
                <a:r>
                  <a:rPr lang="en-IN" sz="2400">
                    <a:solidFill>
                      <a:srgbClr val="111827"/>
                    </a:solidFill>
                    <a:latin typeface="Cambria Math" panose="02040503050406030204" pitchFamily="18" charset="0"/>
                  </a:rPr>
                  <a:t>$k$</a:t>
                </a:r>
                <a:r>
                  <a:rPr sz="2400" b="0">
                    <a:solidFill>
                      <a:srgbClr val="111827"/>
                    </a:solidFill>
                    <a:latin typeface="Arial"/>
                  </a:rPr>
                  <a:t>: (A).</a:t>
                </a:r>
                <a:endParaRPr sz="2400">
                  <a:solidFill>
                    <a:srgbClr val="111827"/>
                  </a:solidFill>
                </a:endParaRPr>
              </a:p>
            </p:txBody>
          </p:sp>
        </mc:Fallback>
      </mc:AlternateContent>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num>
                      <m:den>
                        <m:r>
                          <a:rPr lang="en-IN" sz="2400" i="1">
                            <a:solidFill>
                              <a:srgbClr val="111827"/>
                            </a:solidFill>
                            <a:latin typeface="Cambria Math" panose="02040503050406030204" pitchFamily="18" charset="0"/>
                          </a:rPr>
                          <m:t>16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(C).</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(D) false.</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r|^2=\frac{|\vec p+\vec q|^2}{16}=\frac{50+30}{16}=5$</a:t>
                </a:r>
                <a:r>
                  <a:rPr sz="2400" b="0">
                    <a:solidFill>
                      <a:srgbClr val="111827"/>
                    </a:solidFill>
                    <a:latin typeface="Arial"/>
                  </a:rPr>
                  <a:t> and </a:t>
                </a:r>
                <a:r>
                  <a:rPr lang="en-IN" sz="2400">
                    <a:solidFill>
                      <a:srgbClr val="111827"/>
                    </a:solidFill>
                    <a:latin typeface="Cambria Math" panose="02040503050406030204" pitchFamily="18" charset="0"/>
                  </a:rPr>
                  <a:t>$|\vec s|^2=\frac{|\vec p-\vec q|^2}{4}=\frac{50-30}{4}=5$</a:t>
                </a:r>
                <a:r>
                  <a:rPr sz="2400" b="0">
                    <a:solidFill>
                      <a:srgbClr val="111827"/>
                    </a:solidFill>
                    <a:latin typeface="Arial"/>
                  </a:rPr>
                  <a:t> (with </a:t>
                </a:r>
                <a:r>
                  <a:rPr lang="en-IN" sz="2400">
                    <a:solidFill>
                      <a:srgbClr val="111827"/>
                    </a:solidFill>
                    <a:latin typeface="Cambria Math" panose="02040503050406030204" pitchFamily="18" charset="0"/>
                  </a:rPr>
                  <a:t>$\vec p\cdot\vec q=15$</a:t>
                </a:r>
                <a:r>
                  <a:rPr sz="2400" b="0">
                    <a:solidFill>
                      <a:srgbClr val="111827"/>
                    </a:solidFill>
                    <a:latin typeface="Arial"/>
                  </a:rPr>
                  <a:t>), so </a:t>
                </a:r>
                <a:r>
                  <a:rPr lang="en-IN" sz="2400">
                    <a:solidFill>
                      <a:srgbClr val="111827"/>
                    </a:solidFill>
                    <a:latin typeface="Cambria Math" panose="02040503050406030204" pitchFamily="18" charset="0"/>
                  </a:rPr>
                  <a:t>$|\vec r|=|\vec s|$</a:t>
                </a:r>
                <a:r>
                  <a:rPr sz="2400" b="0">
                    <a:solidFill>
                      <a:srgbClr val="111827"/>
                    </a:solidFill>
                    <a:latin typeface="Arial"/>
                  </a:rPr>
                  <a:t> and </a:t>
                </a:r>
                <a:r>
                  <a:rPr lang="en-IN" sz="2400">
                    <a:solidFill>
                      <a:srgbClr val="111827"/>
                    </a:solidFill>
                    <a:latin typeface="Cambria Math" panose="02040503050406030204" pitchFamily="18" charset="0"/>
                  </a:rPr>
                  <a:t>$(\vec r+\vec s)\cdot(\vec r-\vec s)=|\vec r|^2-|\vec s|^2=0$</a:t>
                </a:r>
                <a:r>
                  <a:rPr sz="2400" b="0">
                    <a:solidFill>
                      <a:srgbClr val="111827"/>
                    </a:solidFill>
                    <a:latin typeface="Arial"/>
                  </a:rPr>
                  <a:t>: (C).</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r|=\sqrt5\ne5=|\vec p|$</a:t>
                </a:r>
                <a:r>
                  <a:rPr sz="2400" b="0">
                    <a:solidFill>
                      <a:srgbClr val="111827"/>
                    </a:solidFill>
                    <a:latin typeface="Arial"/>
                  </a:rPr>
                  <a:t>: (D) false.</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B, C)</a:t>
            </a:r>
            <a:endParaRPr sz="2800">
              <a:solidFill>
                <a:srgbClr val="15803D"/>
              </a:solidFill>
            </a:endParaRP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all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iff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perpendicular iff equal lengths (rhombus diagonals).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Equal-length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always (diagonals of a rhombus are perpendicular).</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u+k\vec v|=|\vec u-k\vec v|$</a:t>
                </a:r>
                <a:r>
                  <a:rPr sz="2400" b="0">
                    <a:solidFill>
                      <a:srgbClr val="111827"/>
                    </a:solidFill>
                    <a:latin typeface="Arial"/>
                  </a:rPr>
                  <a:t> for all </a:t>
                </a:r>
                <a:r>
                  <a:rPr lang="en-IN" sz="2400">
                    <a:solidFill>
                      <a:srgbClr val="111827"/>
                    </a:solidFill>
                    <a:latin typeface="Cambria Math" panose="02040503050406030204" pitchFamily="18" charset="0"/>
                  </a:rPr>
                  <a:t>$k$</a:t>
                </a:r>
                <a:r>
                  <a:rPr sz="2400" b="0">
                    <a:solidFill>
                      <a:srgbClr val="111827"/>
                    </a:solidFill>
                    <a:latin typeface="Arial"/>
                  </a:rPr>
                  <a:t> iff </a:t>
                </a:r>
                <a:r>
                  <a:rPr lang="en-IN" sz="2400">
                    <a:solidFill>
                      <a:srgbClr val="111827"/>
                    </a:solidFill>
                    <a:latin typeface="Cambria Math" panose="02040503050406030204" pitchFamily="18" charset="0"/>
                  </a:rPr>
                  <a:t>$\vec u\cdot\vec v=0$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u+\vec v)\cdot(\vec u-\vec v)=|\vec u|^2-|\vec v|^2$</a:t>
                </a:r>
                <a:r>
                  <a:rPr sz="2400" b="0">
                    <a:solidFill>
                      <a:srgbClr val="111827"/>
                    </a:solidFill>
                    <a:latin typeface="Arial"/>
                  </a:rPr>
                  <a:t>: perpendicular iff equal lengths (rhombus diagonals).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Equal-length </a:t>
                </a:r>
                <a:r>
                  <a:rPr lang="en-IN" sz="2400">
                    <a:solidFill>
                      <a:srgbClr val="111827"/>
                    </a:solidFill>
                    <a:latin typeface="Cambria Math" panose="02040503050406030204" pitchFamily="18" charset="0"/>
                  </a:rPr>
                  <a:t>$\vec p,\vec q$</a:t>
                </a:r>
                <a:r>
                  <a:rPr sz="2400" b="0">
                    <a:solidFill>
                      <a:srgbClr val="111827"/>
                    </a:solidFill>
                    <a:latin typeface="Arial"/>
                  </a:rPr>
                  <a:t>: </a:t>
                </a:r>
                <a:r>
                  <a:rPr lang="en-IN" sz="2400">
                    <a:solidFill>
                      <a:srgbClr val="111827"/>
                    </a:solidFill>
                    <a:latin typeface="Cambria Math" panose="02040503050406030204" pitchFamily="18" charset="0"/>
                  </a:rPr>
                  <a:t>$\vec p+\vec q\perp\vec p-\vec q$</a:t>
                </a:r>
                <a:r>
                  <a:rPr sz="2400" b="0">
                    <a:solidFill>
                      <a:srgbClr val="111827"/>
                    </a:solidFill>
                    <a:latin typeface="Arial"/>
                  </a:rPr>
                  <a:t> always (diagonals of a rhombus are perpendicular).</a:t>
                </a:r>
                <a:endParaRPr sz="2400">
                  <a:solidFill>
                    <a:srgbClr val="111827"/>
                  </a:solidFill>
                </a:endParaRPr>
              </a:p>
            </p:txBody>
          </p:sp>
        </mc:Fallback>
      </mc:AlternateContent>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4447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are collinear for: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unique value of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unique value of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no value of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infinitely many values of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endParaRPr sz="2400">
                  <a:solidFill>
                    <a:srgbClr val="111827"/>
                  </a:solidFill>
                </a:endParaRPr>
              </a:p>
            </p:txBody>
          </p:sp>
        </mc:Choice>
        <mc:Fallback>
          <p:sp>
            <p:nvSpPr>
              <p:cNvPr id="4" name="Rounded Rectangle 3"/>
              <p:cNvSpPr/>
              <p:nvPr/>
            </p:nvSpPr>
            <p:spPr>
              <a:xfrm>
                <a:off x="731520" y="1280160"/>
                <a:ext cx="10725912" cy="34447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vectors </a:t>
                </a:r>
                <a:r>
                  <a:rPr lang="en-IN" sz="2400">
                    <a:solidFill>
                      <a:srgbClr val="111827"/>
                    </a:solidFill>
                    <a:latin typeface="Cambria Math" panose="02040503050406030204" pitchFamily="18" charset="0"/>
                  </a:rPr>
                  <a:t>$\vec a(x)=(\cos x)\hat i+(\sin x)\hat j,\ \vec b(x)=x\hat i+(\sin x)\hat j$</a:t>
                </a:r>
                <a:r>
                  <a:rPr sz="2400" b="0">
                    <a:solidFill>
                      <a:srgbClr val="111827"/>
                    </a:solidFill>
                    <a:latin typeface="Arial"/>
                  </a:rPr>
                  <a:t> are collinear for: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unique value of </a:t>
                </a:r>
                <a:r>
                  <a:rPr lang="en-IN" sz="2400">
                    <a:solidFill>
                      <a:srgbClr val="111827"/>
                    </a:solidFill>
                    <a:latin typeface="Cambria Math" panose="02040503050406030204" pitchFamily="18" charset="0"/>
                  </a:rPr>
                  <a:t>$x,\ 0&lt;x&lt;\frac\pi6$</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unique value of </a:t>
                </a:r>
                <a:r>
                  <a:rPr lang="en-IN" sz="2400">
                    <a:solidFill>
                      <a:srgbClr val="111827"/>
                    </a:solidFill>
                    <a:latin typeface="Cambria Math" panose="02040503050406030204" pitchFamily="18" charset="0"/>
                  </a:rPr>
                  <a:t>$x,\ \frac\pi6&lt;x&lt;\frac\pi3$</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no value of </a:t>
                </a:r>
                <a:r>
                  <a:rPr lang="en-IN" sz="2400">
                    <a:solidFill>
                      <a:srgbClr val="111827"/>
                    </a:solidFill>
                    <a:latin typeface="Cambria Math" panose="02040503050406030204" pitchFamily="18" charset="0"/>
                  </a:rPr>
                  <a:t>$x,\ 0&lt;x&lt;\frac\pi6$</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infinitely many values of </a:t>
                </a:r>
                <a:r>
                  <a:rPr lang="en-IN" sz="2400">
                    <a:solidFill>
                      <a:srgbClr val="111827"/>
                    </a:solidFill>
                    <a:latin typeface="Cambria Math" panose="02040503050406030204" pitchFamily="18" charset="0"/>
                  </a:rPr>
                  <a:t>$x,\ 0&lt;x&lt;\frac\pi2$</a:t>
                </a:r>
                <a:endParaRPr sz="2400">
                  <a:solidFill>
                    <a:srgbClr val="111827"/>
                  </a:solidFill>
                </a:endParaRPr>
              </a:p>
            </p:txBody>
          </p:sp>
        </mc:Fallback>
      </mc:AlternateContent>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Collinearity of vector functions of x, Unique root of cos x = x</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Collinearity gives </a:t>
                </a:r>
                <a14:m>
                  <m:oMath xmlns:m="http://schemas.openxmlformats.org/officeDocument/2006/math">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on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π</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this is </a:t>
                </a:r>
                <a14:m>
                  <m:oMath xmlns:m="http://schemas.openxmlformats.org/officeDocument/2006/math">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oMath>
                </a14:m>
                <a:r>
                  <a:rPr sz="2400" b="0">
                    <a:solidFill>
                      <a:srgbClr val="78350F"/>
                    </a:solidFill>
                    <a:latin typeface="Arial"/>
                  </a:rPr>
                  <a:t>, which has exactly one root, between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π</m:t>
                        </m:r>
                      </m:num>
                      <m:den>
                        <m:r>
                          <a:rPr lang="en-IN" sz="2400" i="1">
                            <a:solidFill>
                              <a:srgbClr val="78350F"/>
                            </a:solidFill>
                            <a:latin typeface="Cambria Math" panose="02040503050406030204" pitchFamily="18" charset="0"/>
                          </a:rPr>
                          <m:t>6</m:t>
                        </m:r>
                      </m:den>
                    </m:f>
                  </m:oMath>
                </a14:m>
                <a:r>
                  <a:rPr sz="2400" b="0">
                    <a:solidFill>
                      <a:srgbClr val="78350F"/>
                    </a:solidFill>
                    <a:latin typeface="Arial"/>
                  </a:rPr>
                  <a:t> and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π</m:t>
                        </m:r>
                      </m:num>
                      <m:den>
                        <m:r>
                          <a:rPr lang="en-IN" sz="2400" i="1">
                            <a:solidFill>
                              <a:srgbClr val="78350F"/>
                            </a:solidFill>
                            <a:latin typeface="Cambria Math" panose="02040503050406030204" pitchFamily="18" charset="0"/>
                          </a:rPr>
                          <m:t>3</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Collinearity gives </a:t>
                </a:r>
                <a:r>
                  <a:rPr lang="en-IN" sz="2400">
                    <a:solidFill>
                      <a:srgbClr val="78350F"/>
                    </a:solidFill>
                    <a:latin typeface="Cambria Math" panose="02040503050406030204" pitchFamily="18" charset="0"/>
                  </a:rPr>
                  <a:t>$\sin x(\cos x-x)=0$</a:t>
                </a:r>
                <a:r>
                  <a:rPr sz="2400" b="0">
                    <a:solidFill>
                      <a:srgbClr val="78350F"/>
                    </a:solidFill>
                    <a:latin typeface="Arial"/>
                  </a:rPr>
                  <a:t>; on </a:t>
                </a:r>
                <a:r>
                  <a:rPr lang="en-IN" sz="2400">
                    <a:solidFill>
                      <a:srgbClr val="78350F"/>
                    </a:solidFill>
                    <a:latin typeface="Cambria Math" panose="02040503050406030204" pitchFamily="18" charset="0"/>
                  </a:rPr>
                  <a:t>$(0,\frac\pi2)$</a:t>
                </a:r>
                <a:r>
                  <a:rPr sz="2400" b="0">
                    <a:solidFill>
                      <a:srgbClr val="78350F"/>
                    </a:solidFill>
                    <a:latin typeface="Arial"/>
                  </a:rPr>
                  <a:t> this is </a:t>
                </a:r>
                <a:r>
                  <a:rPr lang="en-IN" sz="2400">
                    <a:solidFill>
                      <a:srgbClr val="78350F"/>
                    </a:solidFill>
                    <a:latin typeface="Cambria Math" panose="02040503050406030204" pitchFamily="18" charset="0"/>
                  </a:rPr>
                  <a:t>$\cos x=x$</a:t>
                </a:r>
                <a:r>
                  <a:rPr sz="2400" b="0">
                    <a:solidFill>
                      <a:srgbClr val="78350F"/>
                    </a:solidFill>
                    <a:latin typeface="Arial"/>
                  </a:rPr>
                  <a:t>, which has exactly one root, between </a:t>
                </a:r>
                <a:r>
                  <a:rPr lang="en-IN" sz="2400">
                    <a:solidFill>
                      <a:srgbClr val="78350F"/>
                    </a:solidFill>
                    <a:latin typeface="Cambria Math" panose="02040503050406030204" pitchFamily="18" charset="0"/>
                  </a:rPr>
                  <a:t>$\frac\pi6$</a:t>
                </a:r>
                <a:r>
                  <a:rPr sz="2400" b="0">
                    <a:solidFill>
                      <a:srgbClr val="78350F"/>
                    </a:solidFill>
                    <a:latin typeface="Arial"/>
                  </a:rPr>
                  <a:t> and </a:t>
                </a:r>
                <a:r>
                  <a:rPr lang="en-IN" sz="2400">
                    <a:solidFill>
                      <a:srgbClr val="78350F"/>
                    </a:solidFill>
                    <a:latin typeface="Cambria Math" panose="02040503050406030204" pitchFamily="18" charset="0"/>
                  </a:rPr>
                  <a:t>$\frac\pi3$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123688"/>
                <a:ext cx="10725912" cy="15514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collinear iff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the condition is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123688"/>
                <a:ext cx="10725912" cy="15514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a(x)$</a:t>
                </a:r>
                <a:r>
                  <a:rPr sz="2400" b="0">
                    <a:solidFill>
                      <a:srgbClr val="111827"/>
                    </a:solidFill>
                    <a:latin typeface="Arial"/>
                  </a:rPr>
                  <a:t> and </a:t>
                </a:r>
                <a:r>
                  <a:rPr lang="en-IN" sz="2400">
                    <a:solidFill>
                      <a:srgbClr val="111827"/>
                    </a:solidFill>
                    <a:latin typeface="Cambria Math" panose="02040503050406030204" pitchFamily="18" charset="0"/>
                  </a:rPr>
                  <a:t>$\vec b(x)$</a:t>
                </a:r>
                <a:r>
                  <a:rPr sz="2400" b="0">
                    <a:solidFill>
                      <a:srgbClr val="111827"/>
                    </a:solidFill>
                    <a:latin typeface="Arial"/>
                  </a:rPr>
                  <a:t> are collinear iff </a:t>
                </a:r>
                <a:r>
                  <a:rPr lang="en-IN" sz="2400">
                    <a:solidFill>
                      <a:srgbClr val="111827"/>
                    </a:solidFill>
                    <a:latin typeface="Cambria Math" panose="02040503050406030204" pitchFamily="18" charset="0"/>
                  </a:rPr>
                  <a:t>$\cos x\sin x-x\sin x=0$</a:t>
                </a:r>
                <a:r>
                  <a:rPr sz="2400" b="0">
                    <a:solidFill>
                      <a:srgbClr val="111827"/>
                    </a:solidFill>
                    <a:latin typeface="Arial"/>
                  </a:rPr>
                  <a:t>, i.e. </a:t>
                </a:r>
                <a:r>
                  <a:rPr lang="en-IN" sz="2400">
                    <a:solidFill>
                      <a:srgbClr val="111827"/>
                    </a:solidFill>
                    <a:latin typeface="Cambria Math" panose="02040503050406030204" pitchFamily="18" charset="0"/>
                  </a:rPr>
                  <a:t>$\sin x(\cos x-x)=0$</a:t>
                </a:r>
                <a:r>
                  <a:rPr sz="2400" b="0">
                    <a:solidFill>
                      <a:srgbClr val="111827"/>
                    </a:solidFill>
                    <a:latin typeface="Arial"/>
                  </a:rPr>
                  <a:t>; for </a:t>
                </a:r>
                <a:r>
                  <a:rPr lang="en-IN" sz="2400">
                    <a:solidFill>
                      <a:srgbClr val="111827"/>
                    </a:solidFill>
                    <a:latin typeface="Cambria Math" panose="02040503050406030204" pitchFamily="18" charset="0"/>
                  </a:rPr>
                  <a:t>$0&lt;x&lt;\frac\pi2$</a:t>
                </a:r>
                <a:r>
                  <a:rPr sz="2400" b="0">
                    <a:solidFill>
                      <a:srgbClr val="111827"/>
                    </a:solidFill>
                    <a:latin typeface="Arial"/>
                  </a:rPr>
                  <a:t>, </a:t>
                </a:r>
                <a:r>
                  <a:rPr lang="en-IN" sz="2400">
                    <a:solidFill>
                      <a:srgbClr val="111827"/>
                    </a:solidFill>
                    <a:latin typeface="Cambria Math" panose="02040503050406030204" pitchFamily="18" charset="0"/>
                  </a:rPr>
                  <a:t>$\sin x\ne0$</a:t>
                </a:r>
                <a:r>
                  <a:rPr sz="2400" b="0">
                    <a:solidFill>
                      <a:srgbClr val="111827"/>
                    </a:solidFill>
                    <a:latin typeface="Arial"/>
                  </a:rPr>
                  <a:t>, so the condition is </a:t>
                </a:r>
                <a:r>
                  <a:rPr lang="en-IN" sz="2400">
                    <a:solidFill>
                      <a:srgbClr val="111827"/>
                    </a:solidFill>
                    <a:latin typeface="Cambria Math" panose="02040503050406030204" pitchFamily="18" charset="0"/>
                  </a:rPr>
                  <a:t>$\cos x=x$</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𝑥</m:t>
                    </m:r>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𝑓</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𝑓</m:t>
                    </m:r>
                  </m:oMath>
                </a14:m>
                <a:r>
                  <a:rPr sz="2400" b="0">
                    <a:solidFill>
                      <a:srgbClr val="111827"/>
                    </a:solidFill>
                    <a:latin typeface="Arial"/>
                  </a:rPr>
                  <a:t> is increasing and has at most one zero.</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𝑓</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𝑓</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has exactly one solution, and it lies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(B) is true, (C) is true (no value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e>
                    </m:d>
                  </m:oMath>
                </a14:m>
                <a:r>
                  <a:rPr sz="2400" b="0">
                    <a:solidFill>
                      <a:srgbClr val="111827"/>
                    </a:solidFill>
                    <a:latin typeface="Arial"/>
                  </a:rPr>
                  <a:t>), (A) and (D) are false. Answer: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$f(x)=x-\cos x$</a:t>
                </a:r>
                <a:r>
                  <a:rPr sz="2400" b="0">
                    <a:solidFill>
                      <a:srgbClr val="111827"/>
                    </a:solidFill>
                    <a:latin typeface="Arial"/>
                  </a:rPr>
                  <a:t>. Then </a:t>
                </a:r>
                <a:r>
                  <a:rPr lang="en-IN" sz="2400">
                    <a:solidFill>
                      <a:srgbClr val="111827"/>
                    </a:solidFill>
                    <a:latin typeface="Cambria Math" panose="02040503050406030204" pitchFamily="18" charset="0"/>
                  </a:rPr>
                  <a:t>$f'(x)=1+\sin x\ge0$</a:t>
                </a:r>
                <a:r>
                  <a:rPr sz="2400" b="0">
                    <a:solidFill>
                      <a:srgbClr val="111827"/>
                    </a:solidFill>
                    <a:latin typeface="Arial"/>
                  </a:rPr>
                  <a:t>, so </a:t>
                </a:r>
                <a:r>
                  <a:rPr lang="en-IN" sz="2400">
                    <a:solidFill>
                      <a:srgbClr val="111827"/>
                    </a:solidFill>
                    <a:latin typeface="Cambria Math" panose="02040503050406030204" pitchFamily="18" charset="0"/>
                  </a:rPr>
                  <a:t>$f$</a:t>
                </a:r>
                <a:r>
                  <a:rPr sz="2400" b="0">
                    <a:solidFill>
                      <a:srgbClr val="111827"/>
                    </a:solidFill>
                    <a:latin typeface="Arial"/>
                  </a:rPr>
                  <a:t> is increasing and has at most one zero.</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$f\left(\frac\pi6\right)=\frac\pi6-\frac{\sqrt3}{2}&lt;0$</a:t>
                </a:r>
                <a:r>
                  <a:rPr sz="2400" b="0">
                    <a:solidFill>
                      <a:srgbClr val="111827"/>
                    </a:solidFill>
                    <a:latin typeface="Arial"/>
                  </a:rPr>
                  <a:t> and </a:t>
                </a:r>
                <a:r>
                  <a:rPr lang="en-IN" sz="2400">
                    <a:solidFill>
                      <a:srgbClr val="111827"/>
                    </a:solidFill>
                    <a:latin typeface="Cambria Math" panose="02040503050406030204" pitchFamily="18" charset="0"/>
                  </a:rPr>
                  <a:t>$f\left(\frac\pi3\right)=\frac\pi3-\frac12&gt;0$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$f(x)&lt;0$</a:t>
                </a:r>
                <a:r>
                  <a:rPr sz="2400" b="0">
                    <a:solidFill>
                      <a:srgbClr val="111827"/>
                    </a:solidFill>
                    <a:latin typeface="Arial"/>
                  </a:rPr>
                  <a:t> for </a:t>
                </a:r>
                <a:r>
                  <a:rPr lang="en-IN" sz="2400">
                    <a:solidFill>
                      <a:srgbClr val="111827"/>
                    </a:solidFill>
                    <a:latin typeface="Cambria Math" panose="02040503050406030204" pitchFamily="18" charset="0"/>
                  </a:rPr>
                  <a:t>$x&lt;\frac\pi6$</a:t>
                </a:r>
                <a:r>
                  <a:rPr sz="2400" b="0">
                    <a:solidFill>
                      <a:srgbClr val="111827"/>
                    </a:solidFill>
                    <a:latin typeface="Arial"/>
                  </a:rPr>
                  <a:t> and </a:t>
                </a:r>
                <a:r>
                  <a:rPr lang="en-IN" sz="2400">
                    <a:solidFill>
                      <a:srgbClr val="111827"/>
                    </a:solidFill>
                    <a:latin typeface="Cambria Math" panose="02040503050406030204" pitchFamily="18" charset="0"/>
                  </a:rPr>
                  <a:t>$f(x)&gt;0$</a:t>
                </a:r>
                <a:r>
                  <a:rPr sz="2400" b="0">
                    <a:solidFill>
                      <a:srgbClr val="111827"/>
                    </a:solidFill>
                    <a:latin typeface="Arial"/>
                  </a:rPr>
                  <a:t> for </a:t>
                </a:r>
                <a:r>
                  <a:rPr lang="en-IN" sz="2400">
                    <a:solidFill>
                      <a:srgbClr val="111827"/>
                    </a:solidFill>
                    <a:latin typeface="Cambria Math" panose="02040503050406030204" pitchFamily="18" charset="0"/>
                  </a:rPr>
                  <a:t>$x\ge\frac\pi3$</a:t>
                </a:r>
                <a:r>
                  <a:rPr sz="2400" b="0">
                    <a:solidFill>
                      <a:srgbClr val="111827"/>
                    </a:solidFill>
                    <a:latin typeface="Arial"/>
                  </a:rPr>
                  <a:t>: </a:t>
                </a:r>
                <a:r>
                  <a:rPr lang="en-IN" sz="2400">
                    <a:solidFill>
                      <a:srgbClr val="111827"/>
                    </a:solidFill>
                    <a:latin typeface="Cambria Math" panose="02040503050406030204" pitchFamily="18" charset="0"/>
                  </a:rPr>
                  <a:t>$\cos x=x$</a:t>
                </a:r>
                <a:r>
                  <a:rPr sz="2400" b="0">
                    <a:solidFill>
                      <a:srgbClr val="111827"/>
                    </a:solidFill>
                    <a:latin typeface="Arial"/>
                  </a:rPr>
                  <a:t> has exactly one solution, and it lies in </a:t>
                </a:r>
                <a:r>
                  <a:rPr lang="en-IN" sz="2400">
                    <a:solidFill>
                      <a:srgbClr val="111827"/>
                    </a:solidFill>
                    <a:latin typeface="Cambria Math" panose="02040503050406030204" pitchFamily="18" charset="0"/>
                  </a:rPr>
                  <a:t>$\left(\frac\pi6,\frac\pi3\right)$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(B) is true, (C) is true (no value in </a:t>
                </a:r>
                <a:r>
                  <a:rPr lang="en-IN" sz="2400">
                    <a:solidFill>
                      <a:srgbClr val="111827"/>
                    </a:solidFill>
                    <a:latin typeface="Cambria Math" panose="02040503050406030204" pitchFamily="18" charset="0"/>
                  </a:rPr>
                  <a:t>$\left(0,\frac\pi6\right)$</a:t>
                </a:r>
                <a:r>
                  <a:rPr sz="2400" b="0">
                    <a:solidFill>
                      <a:srgbClr val="111827"/>
                    </a:solidFill>
                    <a:latin typeface="Arial"/>
                  </a:rPr>
                  <a:t>), (A) and (D) are false. Answer: B,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a:t>
            </a:r>
            <a:endParaRPr sz="2800">
              <a:solidFill>
                <a:srgbClr val="15803D"/>
              </a:solidFill>
            </a:endParaRP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Sketch </a:t>
                </a:r>
                <a14:m>
                  <m:oMath xmlns:m="http://schemas.openxmlformats.org/officeDocument/2006/math">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𝑥</m:t>
                    </m:r>
                  </m:oMath>
                </a14:m>
                <a:r>
                  <a:rPr sz="2400" b="0">
                    <a:solidFill>
                      <a:srgbClr val="78350F"/>
                    </a:solidFill>
                    <a:latin typeface="Arial"/>
                  </a:rPr>
                  <a:t> (decreasing from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 to </a:t>
                </a:r>
                <a14:m>
                  <m:oMath xmlns:m="http://schemas.openxmlformats.org/officeDocument/2006/math">
                    <m:r>
                      <a:rPr lang="en-IN" sz="2400" i="1">
                        <a:solidFill>
                          <a:srgbClr val="78350F"/>
                        </a:solidFill>
                        <a:latin typeface="Cambria Math" panose="02040503050406030204" pitchFamily="18" charset="0"/>
                      </a:rPr>
                      <m:t>0</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oMath>
                </a14:m>
                <a:r>
                  <a:rPr sz="2400" b="0">
                    <a:solidFill>
                      <a:srgbClr val="78350F"/>
                    </a:solidFill>
                    <a:latin typeface="Arial"/>
                  </a:rPr>
                  <a:t> (increasing) on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π</m:t>
                            </m:r>
                          </m:num>
                          <m:den>
                            <m:r>
                              <a:rPr lang="en-IN" sz="2400" i="1">
                                <a:solidFill>
                                  <a:srgbClr val="78350F"/>
                                </a:solidFill>
                                <a:latin typeface="Cambria Math" panose="02040503050406030204" pitchFamily="18" charset="0"/>
                              </a:rPr>
                              <m:t>2</m:t>
                            </m:r>
                          </m:den>
                        </m:f>
                      </m:e>
                    </m:d>
                  </m:oMath>
                </a14:m>
                <a:r>
                  <a:rPr sz="2400" b="0">
                    <a:solidFill>
                      <a:srgbClr val="78350F"/>
                    </a:solidFill>
                    <a:latin typeface="Arial"/>
                  </a:rPr>
                  <a:t>: they cross exactly once.</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Sketch </a:t>
                </a:r>
                <a:r>
                  <a:rPr lang="en-IN" sz="2400">
                    <a:solidFill>
                      <a:srgbClr val="78350F"/>
                    </a:solidFill>
                    <a:latin typeface="Cambria Math" panose="02040503050406030204" pitchFamily="18" charset="0"/>
                  </a:rPr>
                  <a:t>$y=\cos x$</a:t>
                </a:r>
                <a:r>
                  <a:rPr sz="2400" b="0">
                    <a:solidFill>
                      <a:srgbClr val="78350F"/>
                    </a:solidFill>
                    <a:latin typeface="Arial"/>
                  </a:rPr>
                  <a:t> (decreasing from </a:t>
                </a:r>
                <a:r>
                  <a:rPr lang="en-IN" sz="2400">
                    <a:solidFill>
                      <a:srgbClr val="78350F"/>
                    </a:solidFill>
                    <a:latin typeface="Cambria Math" panose="02040503050406030204" pitchFamily="18" charset="0"/>
                  </a:rPr>
                  <a:t>$1$</a:t>
                </a:r>
                <a:r>
                  <a:rPr sz="2400" b="0">
                    <a:solidFill>
                      <a:srgbClr val="78350F"/>
                    </a:solidFill>
                    <a:latin typeface="Arial"/>
                  </a:rPr>
                  <a:t> to </a:t>
                </a:r>
                <a:r>
                  <a:rPr lang="en-IN" sz="2400">
                    <a:solidFill>
                      <a:srgbClr val="78350F"/>
                    </a:solidFill>
                    <a:latin typeface="Cambria Math" panose="02040503050406030204" pitchFamily="18" charset="0"/>
                  </a:rPr>
                  <a:t>$0$</a:t>
                </a:r>
                <a:r>
                  <a:rPr sz="2400" b="0">
                    <a:solidFill>
                      <a:srgbClr val="78350F"/>
                    </a:solidFill>
                    <a:latin typeface="Arial"/>
                  </a:rPr>
                  <a:t>) and </a:t>
                </a:r>
                <a:r>
                  <a:rPr lang="en-IN" sz="2400">
                    <a:solidFill>
                      <a:srgbClr val="78350F"/>
                    </a:solidFill>
                    <a:latin typeface="Cambria Math" panose="02040503050406030204" pitchFamily="18" charset="0"/>
                  </a:rPr>
                  <a:t>$y=x$</a:t>
                </a:r>
                <a:r>
                  <a:rPr sz="2400" b="0">
                    <a:solidFill>
                      <a:srgbClr val="78350F"/>
                    </a:solidFill>
                    <a:latin typeface="Arial"/>
                  </a:rPr>
                  <a:t> (increasing) on </a:t>
                </a:r>
                <a:r>
                  <a:rPr lang="en-IN" sz="2400">
                    <a:solidFill>
                      <a:srgbClr val="78350F"/>
                    </a:solidFill>
                    <a:latin typeface="Cambria Math" panose="02040503050406030204" pitchFamily="18" charset="0"/>
                  </a:rPr>
                  <a:t>$\left(0,\frac\pi2\right)$</a:t>
                </a:r>
                <a:r>
                  <a:rPr sz="2400" b="0">
                    <a:solidFill>
                      <a:srgbClr val="78350F"/>
                    </a:solidFill>
                    <a:latin typeface="Arial"/>
                  </a:rPr>
                  <a:t>: they cross exactly once.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𝑥</m:t>
                    </m:r>
                  </m:oMath>
                </a14:m>
                <a:r>
                  <a:rPr sz="2400" b="0">
                    <a:solidFill>
                      <a:srgbClr val="111827"/>
                    </a:solidFill>
                    <a:latin typeface="Arial"/>
                  </a:rPr>
                  <a:t> is strictly decreasing from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while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is strictly increasing from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to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decreasing and an increasing function cross at most once;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line is below the curve and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above, so they cross exactly once.</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 </a:t>
                </a:r>
                <a:r>
                  <a:rPr lang="en-IN" sz="2400">
                    <a:solidFill>
                      <a:srgbClr val="111827"/>
                    </a:solidFill>
                    <a:latin typeface="Cambria Math" panose="02040503050406030204" pitchFamily="18" charset="0"/>
                  </a:rPr>
                  <a:t>$\left(0,\frac\pi2\right)$</a:t>
                </a:r>
                <a:r>
                  <a:rPr sz="2400" b="0">
                    <a:solidFill>
                      <a:srgbClr val="111827"/>
                    </a:solidFill>
                    <a:latin typeface="Arial"/>
                  </a:rPr>
                  <a:t>, </a:t>
                </a:r>
                <a:r>
                  <a:rPr lang="en-IN" sz="2400">
                    <a:solidFill>
                      <a:srgbClr val="111827"/>
                    </a:solidFill>
                    <a:latin typeface="Cambria Math" panose="02040503050406030204" pitchFamily="18" charset="0"/>
                  </a:rPr>
                  <a:t>$\cos x$</a:t>
                </a:r>
                <a:r>
                  <a:rPr sz="2400" b="0">
                    <a:solidFill>
                      <a:srgbClr val="111827"/>
                    </a:solidFill>
                    <a:latin typeface="Arial"/>
                  </a:rPr>
                  <a:t> is strictly decreasing from </a:t>
                </a:r>
                <a:r>
                  <a:rPr lang="en-IN" sz="2400">
                    <a:solidFill>
                      <a:srgbClr val="111827"/>
                    </a:solidFill>
                    <a:latin typeface="Cambria Math" panose="02040503050406030204" pitchFamily="18" charset="0"/>
                  </a:rPr>
                  <a:t>$1$</a:t>
                </a:r>
                <a:r>
                  <a:rPr sz="2400" b="0">
                    <a:solidFill>
                      <a:srgbClr val="111827"/>
                    </a:solidFill>
                    <a:latin typeface="Arial"/>
                  </a:rPr>
                  <a:t> to </a:t>
                </a:r>
                <a:r>
                  <a:rPr lang="en-IN" sz="2400">
                    <a:solidFill>
                      <a:srgbClr val="111827"/>
                    </a:solidFill>
                    <a:latin typeface="Cambria Math" panose="02040503050406030204" pitchFamily="18" charset="0"/>
                  </a:rPr>
                  <a:t>$0$</a:t>
                </a:r>
                <a:r>
                  <a:rPr sz="2400" b="0">
                    <a:solidFill>
                      <a:srgbClr val="111827"/>
                    </a:solidFill>
                    <a:latin typeface="Arial"/>
                  </a:rPr>
                  <a:t>, while </a:t>
                </a:r>
                <a:r>
                  <a:rPr lang="en-IN" sz="2400">
                    <a:solidFill>
                      <a:srgbClr val="111827"/>
                    </a:solidFill>
                    <a:latin typeface="Cambria Math" panose="02040503050406030204" pitchFamily="18" charset="0"/>
                  </a:rPr>
                  <a:t>$y=x$</a:t>
                </a:r>
                <a:r>
                  <a:rPr sz="2400" b="0">
                    <a:solidFill>
                      <a:srgbClr val="111827"/>
                    </a:solidFill>
                    <a:latin typeface="Arial"/>
                  </a:rPr>
                  <a:t> is strictly increasing from </a:t>
                </a:r>
                <a:r>
                  <a:rPr lang="en-IN" sz="2400">
                    <a:solidFill>
                      <a:srgbClr val="111827"/>
                    </a:solidFill>
                    <a:latin typeface="Cambria Math" panose="02040503050406030204" pitchFamily="18" charset="0"/>
                  </a:rPr>
                  <a:t>$0$</a:t>
                </a:r>
                <a:r>
                  <a:rPr sz="2400" b="0">
                    <a:solidFill>
                      <a:srgbClr val="111827"/>
                    </a:solidFill>
                    <a:latin typeface="Arial"/>
                  </a:rPr>
                  <a:t> to </a:t>
                </a:r>
                <a:r>
                  <a:rPr lang="en-IN" sz="2400">
                    <a:solidFill>
                      <a:srgbClr val="111827"/>
                    </a:solidFill>
                    <a:latin typeface="Cambria Math" panose="02040503050406030204" pitchFamily="18" charset="0"/>
                  </a:rPr>
                  <a:t>$\frac\pi2$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decreasing and an increasing function cross at most once; at </a:t>
                </a:r>
                <a:r>
                  <a:rPr lang="en-IN" sz="2400">
                    <a:solidFill>
                      <a:srgbClr val="111827"/>
                    </a:solidFill>
                    <a:latin typeface="Cambria Math" panose="02040503050406030204" pitchFamily="18" charset="0"/>
                  </a:rPr>
                  <a:t>$x=0$</a:t>
                </a:r>
                <a:r>
                  <a:rPr sz="2400" b="0">
                    <a:solidFill>
                      <a:srgbClr val="111827"/>
                    </a:solidFill>
                    <a:latin typeface="Arial"/>
                  </a:rPr>
                  <a:t> the line is below the curve and at </a:t>
                </a:r>
                <a:r>
                  <a:rPr lang="en-IN" sz="2400">
                    <a:solidFill>
                      <a:srgbClr val="111827"/>
                    </a:solidFill>
                    <a:latin typeface="Cambria Math" panose="02040503050406030204" pitchFamily="18" charset="0"/>
                  </a:rPr>
                  <a:t>$x=\frac\pi2$</a:t>
                </a:r>
                <a:r>
                  <a:rPr sz="2400" b="0">
                    <a:solidFill>
                      <a:srgbClr val="111827"/>
                    </a:solidFill>
                    <a:latin typeface="Arial"/>
                  </a:rPr>
                  <a:t> above, so they cross exactly once.</a:t>
                </a:r>
                <a:endParaRPr sz="2400">
                  <a:solidFill>
                    <a:srgbClr val="111827"/>
                  </a:solidFill>
                </a:endParaRPr>
              </a:p>
            </p:txBody>
          </p:sp>
        </mc:Fallback>
      </mc:AlternateContent>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0.866</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0.524</m:t>
                    </m:r>
                  </m:oMath>
                </a14:m>
                <a:r>
                  <a:rPr sz="2400" b="0">
                    <a:solidFill>
                      <a:srgbClr val="111827"/>
                    </a:solidFill>
                    <a:latin typeface="Arial"/>
                  </a:rPr>
                  <a:t> (curve above line) and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0.5</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1.047</m:t>
                    </m:r>
                  </m:oMath>
                </a14:m>
                <a:r>
                  <a:rPr sz="2400" b="0">
                    <a:solidFill>
                      <a:srgbClr val="111827"/>
                    </a:solidFill>
                    <a:latin typeface="Arial"/>
                  </a:rPr>
                  <a:t> (curve below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crossing lies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(B) and (C).</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At </a:t>
                </a:r>
                <a:r>
                  <a:rPr lang="en-IN" sz="2400">
                    <a:solidFill>
                      <a:srgbClr val="111827"/>
                    </a:solidFill>
                    <a:latin typeface="Cambria Math" panose="02040503050406030204" pitchFamily="18" charset="0"/>
                  </a:rPr>
                  <a:t>$x=\frac\pi6$</a:t>
                </a:r>
                <a:r>
                  <a:rPr sz="2400" b="0">
                    <a:solidFill>
                      <a:srgbClr val="111827"/>
                    </a:solidFill>
                    <a:latin typeface="Arial"/>
                  </a:rPr>
                  <a:t>: </a:t>
                </a:r>
                <a:r>
                  <a:rPr lang="en-IN" sz="2400">
                    <a:solidFill>
                      <a:srgbClr val="111827"/>
                    </a:solidFill>
                    <a:latin typeface="Cambria Math" panose="02040503050406030204" pitchFamily="18" charset="0"/>
                  </a:rPr>
                  <a:t>$\cos x=0.866&gt;0.524$</a:t>
                </a:r>
                <a:r>
                  <a:rPr sz="2400" b="0">
                    <a:solidFill>
                      <a:srgbClr val="111827"/>
                    </a:solidFill>
                    <a:latin typeface="Arial"/>
                  </a:rPr>
                  <a:t> (curve above line) and at </a:t>
                </a:r>
                <a:r>
                  <a:rPr lang="en-IN" sz="2400">
                    <a:solidFill>
                      <a:srgbClr val="111827"/>
                    </a:solidFill>
                    <a:latin typeface="Cambria Math" panose="02040503050406030204" pitchFamily="18" charset="0"/>
                  </a:rPr>
                  <a:t>$x=\frac\pi3$</a:t>
                </a:r>
                <a:r>
                  <a:rPr sz="2400" b="0">
                    <a:solidFill>
                      <a:srgbClr val="111827"/>
                    </a:solidFill>
                    <a:latin typeface="Arial"/>
                  </a:rPr>
                  <a:t>: </a:t>
                </a:r>
                <a:r>
                  <a:rPr lang="en-IN" sz="2400">
                    <a:solidFill>
                      <a:srgbClr val="111827"/>
                    </a:solidFill>
                    <a:latin typeface="Cambria Math" panose="02040503050406030204" pitchFamily="18" charset="0"/>
                  </a:rPr>
                  <a:t>$\cos x=0.5&lt;1.047$</a:t>
                </a:r>
                <a:r>
                  <a:rPr sz="2400" b="0">
                    <a:solidFill>
                      <a:srgbClr val="111827"/>
                    </a:solidFill>
                    <a:latin typeface="Arial"/>
                  </a:rPr>
                  <a:t> (curve below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crossing lies in </a:t>
                </a:r>
                <a:r>
                  <a:rPr lang="en-IN" sz="2400">
                    <a:solidFill>
                      <a:srgbClr val="111827"/>
                    </a:solidFill>
                    <a:latin typeface="Cambria Math" panose="02040503050406030204" pitchFamily="18" charset="0"/>
                  </a:rPr>
                  <a:t>$\left(\frac\pi6,\frac\pi3\right)$</a:t>
                </a:r>
                <a:r>
                  <a:rPr sz="2400" b="0">
                    <a:solidFill>
                      <a:srgbClr val="111827"/>
                    </a:solidFill>
                    <a:latin typeface="Arial"/>
                  </a:rPr>
                  <a:t>: (B) and (C).</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a:t>
            </a:r>
            <a:endParaRPr sz="2800">
              <a:solidFill>
                <a:srgbClr val="15803D"/>
              </a:solidFill>
            </a:endParaRP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𝑢</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𝑢</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𝑣</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𝑣</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collinear iff </a:t>
                </a:r>
                <a14:m>
                  <m:oMath xmlns:m="http://schemas.openxmlformats.org/officeDocument/2006/math">
                    <m:sSub>
                      <m:e>
                        <m:r>
                          <a:rPr lang="en-IN" sz="2400" i="1">
                            <a:solidFill>
                              <a:srgbClr val="111827"/>
                            </a:solidFill>
                            <a:latin typeface="Cambria Math" panose="02040503050406030204" pitchFamily="18" charset="0"/>
                          </a:rPr>
                          <m:t>𝑢</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𝑣</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𝑢</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𝑣</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(components in a plane).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equation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has a unique real root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0.739</m:t>
                    </m:r>
                  </m:oMath>
                </a14:m>
                <a:r>
                  <a:rPr sz="2400" b="0">
                    <a:solidFill>
                      <a:srgbClr val="111827"/>
                    </a:solidFill>
                    <a:latin typeface="Arial"/>
                  </a:rPr>
                  <a:t> (the Dottie number); an increasing vs a decreasing function meet at most once.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locate a root between two values, check the sign change of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𝑥</m:t>
                    </m:r>
                  </m:oMath>
                </a14:m>
                <a:r>
                  <a:rPr sz="2400" b="0">
                    <a:solidFill>
                      <a:srgbClr val="111827"/>
                    </a:solidFill>
                    <a:latin typeface="Arial"/>
                  </a:rPr>
                  <a:t> at the end points.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u=(u_1,u_2)$</a:t>
                </a:r>
                <a:r>
                  <a:rPr sz="2400" b="0">
                    <a:solidFill>
                      <a:srgbClr val="111827"/>
                    </a:solidFill>
                    <a:latin typeface="Arial"/>
                  </a:rPr>
                  <a:t> and </a:t>
                </a:r>
                <a:r>
                  <a:rPr lang="en-IN" sz="2400">
                    <a:solidFill>
                      <a:srgbClr val="111827"/>
                    </a:solidFill>
                    <a:latin typeface="Cambria Math" panose="02040503050406030204" pitchFamily="18" charset="0"/>
                  </a:rPr>
                  <a:t>$\vec v=(v_1,v_2)$</a:t>
                </a:r>
                <a:r>
                  <a:rPr sz="2400" b="0">
                    <a:solidFill>
                      <a:srgbClr val="111827"/>
                    </a:solidFill>
                    <a:latin typeface="Arial"/>
                  </a:rPr>
                  <a:t> are collinear iff </a:t>
                </a:r>
                <a:r>
                  <a:rPr lang="en-IN" sz="2400">
                    <a:solidFill>
                      <a:srgbClr val="111827"/>
                    </a:solidFill>
                    <a:latin typeface="Cambria Math" panose="02040503050406030204" pitchFamily="18" charset="0"/>
                  </a:rPr>
                  <a:t>$u_1v_2-u_2v_1=0$</a:t>
                </a:r>
                <a:r>
                  <a:rPr sz="2400" b="0">
                    <a:solidFill>
                      <a:srgbClr val="111827"/>
                    </a:solidFill>
                    <a:latin typeface="Arial"/>
                  </a:rPr>
                  <a:t> (components in a plane).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equation </a:t>
                </a:r>
                <a:r>
                  <a:rPr lang="en-IN" sz="2400">
                    <a:solidFill>
                      <a:srgbClr val="111827"/>
                    </a:solidFill>
                    <a:latin typeface="Cambria Math" panose="02040503050406030204" pitchFamily="18" charset="0"/>
                  </a:rPr>
                  <a:t>$\cos x=x$</a:t>
                </a:r>
                <a:r>
                  <a:rPr sz="2400" b="0">
                    <a:solidFill>
                      <a:srgbClr val="111827"/>
                    </a:solidFill>
                    <a:latin typeface="Arial"/>
                  </a:rPr>
                  <a:t> has a unique real root </a:t>
                </a:r>
                <a:r>
                  <a:rPr lang="en-IN" sz="2400">
                    <a:solidFill>
                      <a:srgbClr val="111827"/>
                    </a:solidFill>
                    <a:latin typeface="Cambria Math" panose="02040503050406030204" pitchFamily="18" charset="0"/>
                  </a:rPr>
                  <a:t>$x\approx0.739$</a:t>
                </a:r>
                <a:r>
                  <a:rPr sz="2400" b="0">
                    <a:solidFill>
                      <a:srgbClr val="111827"/>
                    </a:solidFill>
                    <a:latin typeface="Arial"/>
                  </a:rPr>
                  <a:t> (the Dottie number); an increasing vs a decreasing function meet at most once.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locate a root between two values, check the sign change of </a:t>
                </a:r>
                <a:r>
                  <a:rPr lang="en-IN" sz="2400">
                    <a:solidFill>
                      <a:srgbClr val="111827"/>
                    </a:solidFill>
                    <a:latin typeface="Cambria Math" panose="02040503050406030204" pitchFamily="18" charset="0"/>
                  </a:rPr>
                  <a:t>$f(x)=x-\cos x$</a:t>
                </a:r>
                <a:r>
                  <a:rPr sz="2400" b="0">
                    <a:solidFill>
                      <a:srgbClr val="111827"/>
                    </a:solidFill>
                    <a:latin typeface="Arial"/>
                  </a:rPr>
                  <a:t> at the end points.</a:t>
                </a:r>
                <a:endParaRPr sz="2400">
                  <a:solidFill>
                    <a:srgbClr val="111827"/>
                  </a:solidFill>
                </a:endParaRPr>
              </a:p>
            </p:txBody>
          </p:sp>
        </mc:Fallback>
      </mc:AlternateContent>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8153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are three non-coplanar vectors satisfying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38</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then choose the correct option (s):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33</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oMath>
                </a14:m>
                <a:endParaRPr sz="2400">
                  <a:solidFill>
                    <a:srgbClr val="111827"/>
                  </a:solidFill>
                </a:endParaRPr>
              </a:p>
            </p:txBody>
          </p:sp>
        </mc:Choice>
        <mc:Fallback>
          <p:sp>
            <p:nvSpPr>
              <p:cNvPr id="4" name="Rounded Rectangle 3"/>
              <p:cNvSpPr/>
              <p:nvPr/>
            </p:nvSpPr>
            <p:spPr>
              <a:xfrm>
                <a:off x="731520" y="1280160"/>
                <a:ext cx="10725912" cy="28153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p,\vec q,\vec r$</a:t>
                </a:r>
                <a:r>
                  <a:rPr sz="2400" b="0">
                    <a:solidFill>
                      <a:srgbClr val="111827"/>
                    </a:solidFill>
                    <a:latin typeface="Arial"/>
                  </a:rPr>
                  <a:t> are three non-coplanar vectors satisfying </a:t>
                </a:r>
                <a:r>
                  <a:rPr lang="en-IN" sz="2400">
                    <a:solidFill>
                      <a:srgbClr val="111827"/>
                    </a:solidFill>
                    <a:latin typeface="Cambria Math" panose="02040503050406030204" pitchFamily="18" charset="0"/>
                  </a:rPr>
                  <a:t>$x(-\vec p+2\vec q+3\vec r)+y(2\vec p+3\vec q-4\vec r)+z(\vec p-4\vec q+5\vec r)=-4\vec p-21\vec q+38\vec r$</a:t>
                </a:r>
                <a:r>
                  <a:rPr sz="2400" b="0">
                    <a:solidFill>
                      <a:srgbClr val="111827"/>
                    </a:solidFill>
                    <a:latin typeface="Arial"/>
                  </a:rPr>
                  <a:t>, then choose the correct option (s):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$5x-y+z=17$</a:t>
                </a:r>
                <a:r>
                  <a:rPr sz="2400" b="0">
                    <a:solidFill>
                      <a:srgbClr val="111827"/>
                    </a:solidFill>
                    <a:latin typeface="Arial"/>
                  </a:rPr>
                  <a:t>   (B) </a:t>
                </a:r>
                <a:r>
                  <a:rPr lang="en-IN" sz="2400">
                    <a:solidFill>
                      <a:srgbClr val="111827"/>
                    </a:solidFill>
                    <a:latin typeface="Cambria Math" panose="02040503050406030204" pitchFamily="18" charset="0"/>
                  </a:rPr>
                  <a:t>$2x-2y+6z=33$</a:t>
                </a:r>
                <a:r>
                  <a:rPr sz="2400" b="0">
                    <a:solidFill>
                      <a:srgbClr val="111827"/>
                    </a:solidFill>
                    <a:latin typeface="Arial"/>
                  </a:rPr>
                  <a:t>   (C) </a:t>
                </a:r>
                <a:r>
                  <a:rPr lang="en-IN" sz="2400">
                    <a:solidFill>
                      <a:srgbClr val="111827"/>
                    </a:solidFill>
                    <a:latin typeface="Cambria Math" panose="02040503050406030204" pitchFamily="18" charset="0"/>
                  </a:rPr>
                  <a:t>$x+5y-3z=25$</a:t>
                </a:r>
                <a:r>
                  <a:rPr sz="2400" b="0">
                    <a:solidFill>
                      <a:srgbClr val="111827"/>
                    </a:solidFill>
                    <a:latin typeface="Arial"/>
                  </a:rPr>
                  <a:t>   (D) </a:t>
                </a:r>
                <a:r>
                  <a:rPr lang="en-IN" sz="2400">
                    <a:solidFill>
                      <a:srgbClr val="111827"/>
                    </a:solidFill>
                    <a:latin typeface="Cambria Math" panose="02040503050406030204" pitchFamily="18" charset="0"/>
                  </a:rPr>
                  <a:t>$4x+y+2z=13$</a:t>
                </a:r>
                <a:endParaRPr sz="2400">
                  <a:solidFill>
                    <a:srgbClr val="111827"/>
                  </a:solidFill>
                </a:endParaRPr>
              </a:p>
            </p:txBody>
          </p:sp>
        </mc:Fallback>
      </mc:AlternateContent>
      <p:sp>
        <p:nvSpPr>
          <p:cNvPr id="5" name="Rectangle 4"/>
          <p:cNvSpPr/>
          <p:nvPr/>
        </p:nvSpPr>
        <p:spPr>
          <a:xfrm>
            <a:off x="731520" y="4324095"/>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Linear independence of vectors and solving linear equations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Non-coplanar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oMath>
                </a14:m>
                <a:r>
                  <a:rPr sz="2400" b="0">
                    <a:solidFill>
                      <a:srgbClr val="78350F"/>
                    </a:solidFill>
                    <a:latin typeface="Arial"/>
                  </a:rPr>
                  <a:t> are linearly independent, so the coefficients of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oMath>
                </a14:m>
                <a:r>
                  <a:rPr sz="2400" b="0">
                    <a:solidFill>
                      <a:srgbClr val="78350F"/>
                    </a:solidFill>
                    <a:latin typeface="Arial"/>
                  </a:rPr>
                  <a:t> on both sides must be equal, giving three linear equations in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Non-coplanar </a:t>
                </a:r>
                <a:r>
                  <a:rPr lang="en-IN" sz="2400">
                    <a:solidFill>
                      <a:srgbClr val="78350F"/>
                    </a:solidFill>
                    <a:latin typeface="Cambria Math" panose="02040503050406030204" pitchFamily="18" charset="0"/>
                  </a:rPr>
                  <a:t>$\vec p,\vec q,\vec r$</a:t>
                </a:r>
                <a:r>
                  <a:rPr sz="2400" b="0">
                    <a:solidFill>
                      <a:srgbClr val="78350F"/>
                    </a:solidFill>
                    <a:latin typeface="Arial"/>
                  </a:rPr>
                  <a:t> are linearly independent, so the coefficients of </a:t>
                </a:r>
                <a:r>
                  <a:rPr lang="en-IN" sz="2400">
                    <a:solidFill>
                      <a:srgbClr val="78350F"/>
                    </a:solidFill>
                    <a:latin typeface="Cambria Math" panose="02040503050406030204" pitchFamily="18" charset="0"/>
                  </a:rPr>
                  <a:t>$\vec p,\vec q,\vec r$</a:t>
                </a:r>
                <a:r>
                  <a:rPr sz="2400" b="0">
                    <a:solidFill>
                      <a:srgbClr val="78350F"/>
                    </a:solidFill>
                    <a:latin typeface="Arial"/>
                  </a:rPr>
                  <a:t> on both sides must be equal, giving three linear equations in </a:t>
                </a:r>
                <a:r>
                  <a:rPr lang="en-IN" sz="2400">
                    <a:solidFill>
                      <a:srgbClr val="78350F"/>
                    </a:solidFill>
                    <a:latin typeface="Cambria Math" panose="02040503050406030204" pitchFamily="18" charset="0"/>
                  </a:rPr>
                  <a:t>$x,y,z$</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Compare the coefficients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the coefficients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the coefficients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38</m:t>
                    </m:r>
                  </m:oMath>
                </a14:m>
                <a:r>
                  <a:rPr sz="2400" b="0">
                    <a:solidFill>
                      <a:srgbClr val="111827"/>
                    </a:solidFill>
                    <a:latin typeface="Arial"/>
                  </a:rPr>
                  <a:t> ......(3).</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Put in (2):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37</m:t>
                    </m:r>
                  </m:oMath>
                </a14:m>
                <a:r>
                  <a:rPr sz="2400" b="0">
                    <a:solidFill>
                      <a:srgbClr val="111827"/>
                    </a:solidFill>
                    <a:latin typeface="Arial"/>
                  </a:rPr>
                  <a:t> ......(4).</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Compare the coefficients of </a:t>
                </a:r>
                <a:r>
                  <a:rPr lang="en-IN" sz="2400">
                    <a:solidFill>
                      <a:srgbClr val="111827"/>
                    </a:solidFill>
                    <a:latin typeface="Cambria Math" panose="02040503050406030204" pitchFamily="18" charset="0"/>
                  </a:rPr>
                  <a:t>$\vec p$</a:t>
                </a:r>
                <a:r>
                  <a:rPr sz="2400" b="0">
                    <a:solidFill>
                      <a:srgbClr val="111827"/>
                    </a:solidFill>
                    <a:latin typeface="Arial"/>
                  </a:rPr>
                  <a:t>: </a:t>
                </a:r>
                <a:r>
                  <a:rPr lang="en-IN" sz="2400">
                    <a:solidFill>
                      <a:srgbClr val="111827"/>
                    </a:solidFill>
                    <a:latin typeface="Cambria Math" panose="02040503050406030204" pitchFamily="18" charset="0"/>
                  </a:rPr>
                  <a:t>$-x+2y+z=-4$</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the coefficients of </a:t>
                </a:r>
                <a:r>
                  <a:rPr lang="en-IN" sz="2400">
                    <a:solidFill>
                      <a:srgbClr val="111827"/>
                    </a:solidFill>
                    <a:latin typeface="Cambria Math" panose="02040503050406030204" pitchFamily="18" charset="0"/>
                  </a:rPr>
                  <a:t>$\vec q$</a:t>
                </a:r>
                <a:r>
                  <a:rPr sz="2400" b="0">
                    <a:solidFill>
                      <a:srgbClr val="111827"/>
                    </a:solidFill>
                    <a:latin typeface="Arial"/>
                  </a:rPr>
                  <a:t>: </a:t>
                </a:r>
                <a:r>
                  <a:rPr lang="en-IN" sz="2400">
                    <a:solidFill>
                      <a:srgbClr val="111827"/>
                    </a:solidFill>
                    <a:latin typeface="Cambria Math" panose="02040503050406030204" pitchFamily="18" charset="0"/>
                  </a:rPr>
                  <a:t>$2x+3y-4z=-21$</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the coefficients of </a:t>
                </a:r>
                <a:r>
                  <a:rPr lang="en-IN" sz="2400">
                    <a:solidFill>
                      <a:srgbClr val="111827"/>
                    </a:solidFill>
                    <a:latin typeface="Cambria Math" panose="02040503050406030204" pitchFamily="18" charset="0"/>
                  </a:rPr>
                  <a:t>$\vec r$</a:t>
                </a:r>
                <a:r>
                  <a:rPr sz="2400" b="0">
                    <a:solidFill>
                      <a:srgbClr val="111827"/>
                    </a:solidFill>
                    <a:latin typeface="Arial"/>
                  </a:rPr>
                  <a:t>: </a:t>
                </a:r>
                <a:r>
                  <a:rPr lang="en-IN" sz="2400">
                    <a:solidFill>
                      <a:srgbClr val="111827"/>
                    </a:solidFill>
                    <a:latin typeface="Cambria Math" panose="02040503050406030204" pitchFamily="18" charset="0"/>
                  </a:rPr>
                  <a:t>$3x-4y+5z=38$</a:t>
                </a:r>
                <a:r>
                  <a:rPr sz="2400" b="0">
                    <a:solidFill>
                      <a:srgbClr val="111827"/>
                    </a:solidFill>
                    <a:latin typeface="Arial"/>
                  </a:rPr>
                  <a:t> ......(3).</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t>
                </a:r>
                <a:r>
                  <a:rPr lang="en-IN" sz="2400">
                    <a:solidFill>
                      <a:srgbClr val="111827"/>
                    </a:solidFill>
                    <a:latin typeface="Cambria Math" panose="02040503050406030204" pitchFamily="18" charset="0"/>
                  </a:rPr>
                  <a:t>$z=x-2y-4$</a:t>
                </a:r>
                <a:r>
                  <a:rPr sz="2400" b="0">
                    <a:solidFill>
                      <a:srgbClr val="111827"/>
                    </a:solidFill>
                    <a:latin typeface="Arial"/>
                  </a:rPr>
                  <a:t>. Put in (2): </a:t>
                </a:r>
                <a:r>
                  <a:rPr lang="en-IN" sz="2400">
                    <a:solidFill>
                      <a:srgbClr val="111827"/>
                    </a:solidFill>
                    <a:latin typeface="Cambria Math" panose="02040503050406030204" pitchFamily="18" charset="0"/>
                  </a:rPr>
                  <a:t>$2x+3y-4x+8y+16=-21\Rightarrow-2x+11y=-37$</a:t>
                </a:r>
                <a:r>
                  <a:rPr sz="2400" b="0">
                    <a:solidFill>
                      <a:srgbClr val="111827"/>
                    </a:solidFill>
                    <a:latin typeface="Arial"/>
                  </a:rPr>
                  <a:t> ......(4).</a:t>
                </a:r>
                <a:endParaRPr sz="2400">
                  <a:solidFill>
                    <a:srgbClr val="111827"/>
                  </a:solidFill>
                </a:endParaRPr>
              </a:p>
            </p:txBody>
          </p:sp>
        </mc:Fallback>
      </mc:AlternateContent>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in (3):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29</m:t>
                    </m:r>
                  </m:oMath>
                </a14:m>
                <a:r>
                  <a:rPr sz="2400" b="0">
                    <a:solidFill>
                      <a:srgbClr val="111827"/>
                    </a:solidFill>
                    <a:latin typeface="Arial"/>
                  </a:rPr>
                  <a:t> ......(5).</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(4)</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 (5): </a:t>
                </a:r>
                <a14:m>
                  <m:oMath xmlns:m="http://schemas.openxmlformats.org/officeDocument/2006/math">
                    <m:r>
                      <a:rPr lang="en-IN" sz="2400" i="1">
                        <a:solidFill>
                          <a:srgbClr val="111827"/>
                        </a:solidFill>
                        <a:latin typeface="Cambria Math" panose="02040503050406030204" pitchFamily="18" charset="0"/>
                      </a:rPr>
                      <m:t>15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from (5)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m:t>
                    </m:r>
                  </m:oMath>
                </a14:m>
                <a:r>
                  <a:rPr sz="2400" b="0">
                    <a:solidFill>
                      <a:srgbClr val="111827"/>
                    </a:solidFill>
                    <a:latin typeface="Arial"/>
                  </a:rPr>
                  <a:t>: true. (B)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33</m:t>
                    </m:r>
                  </m:oMath>
                </a14:m>
                <a:r>
                  <a:rPr sz="2400" b="0">
                    <a:solidFill>
                      <a:srgbClr val="111827"/>
                    </a:solidFill>
                    <a:latin typeface="Arial"/>
                  </a:rPr>
                  <a:t>: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false. (D)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oMath>
                </a14:m>
                <a:r>
                  <a:rPr sz="2400" b="0">
                    <a:solidFill>
                      <a:srgbClr val="111827"/>
                    </a:solidFill>
                    <a:latin typeface="Arial"/>
                  </a:rPr>
                  <a:t>: true. Answer: A,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in (3): </a:t>
                </a:r>
                <a:r>
                  <a:rPr lang="en-IN" sz="2400">
                    <a:solidFill>
                      <a:srgbClr val="111827"/>
                    </a:solidFill>
                    <a:latin typeface="Cambria Math" panose="02040503050406030204" pitchFamily="18" charset="0"/>
                  </a:rPr>
                  <a:t>$3x-4y+5x-10y-20=38\Rightarrow8x-14y=58\Rightarrow4x-7y=29$</a:t>
                </a:r>
                <a:r>
                  <a:rPr sz="2400" b="0">
                    <a:solidFill>
                      <a:srgbClr val="111827"/>
                    </a:solidFill>
                    <a:latin typeface="Arial"/>
                  </a:rPr>
                  <a:t> ......(5).</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(4)</a:t>
                </a:r>
                <a:r>
                  <a:rPr lang="en-IN" sz="2400">
                    <a:solidFill>
                      <a:srgbClr val="111827"/>
                    </a:solidFill>
                    <a:latin typeface="Cambria Math" panose="02040503050406030204" pitchFamily="18" charset="0"/>
                  </a:rPr>
                  <a:t>$\times2$</a:t>
                </a:r>
                <a:r>
                  <a:rPr sz="2400" b="0">
                    <a:solidFill>
                      <a:srgbClr val="111827"/>
                    </a:solidFill>
                    <a:latin typeface="Arial"/>
                  </a:rPr>
                  <a:t> + (5): </a:t>
                </a:r>
                <a:r>
                  <a:rPr lang="en-IN" sz="2400">
                    <a:solidFill>
                      <a:srgbClr val="111827"/>
                    </a:solidFill>
                    <a:latin typeface="Cambria Math" panose="02040503050406030204" pitchFamily="18" charset="0"/>
                  </a:rPr>
                  <a:t>$15y=-45\Rightarrow y=-3$</a:t>
                </a:r>
                <a:r>
                  <a:rPr sz="2400" b="0">
                    <a:solidFill>
                      <a:srgbClr val="111827"/>
                    </a:solidFill>
                    <a:latin typeface="Arial"/>
                  </a:rPr>
                  <a:t>; from (5) </a:t>
                </a:r>
                <a:r>
                  <a:rPr lang="en-IN" sz="2400">
                    <a:solidFill>
                      <a:srgbClr val="111827"/>
                    </a:solidFill>
                    <a:latin typeface="Cambria Math" panose="02040503050406030204" pitchFamily="18" charset="0"/>
                  </a:rPr>
                  <a:t>$x=\frac{29-21}{4}=2$</a:t>
                </a:r>
                <a:r>
                  <a:rPr sz="2400" b="0">
                    <a:solidFill>
                      <a:srgbClr val="111827"/>
                    </a:solidFill>
                    <a:latin typeface="Arial"/>
                  </a:rPr>
                  <a:t>; </a:t>
                </a:r>
                <a:r>
                  <a:rPr lang="en-IN" sz="2400">
                    <a:solidFill>
                      <a:srgbClr val="111827"/>
                    </a:solidFill>
                    <a:latin typeface="Cambria Math" panose="02040503050406030204" pitchFamily="18" charset="0"/>
                  </a:rPr>
                  <a:t>$z=2+6-4=4$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$5x-y+z=10+3+4=17$</a:t>
                </a:r>
                <a:r>
                  <a:rPr sz="2400" b="0">
                    <a:solidFill>
                      <a:srgbClr val="111827"/>
                    </a:solidFill>
                    <a:latin typeface="Arial"/>
                  </a:rPr>
                  <a:t>: true. (B) </a:t>
                </a:r>
                <a:r>
                  <a:rPr lang="en-IN" sz="2400">
                    <a:solidFill>
                      <a:srgbClr val="111827"/>
                    </a:solidFill>
                    <a:latin typeface="Cambria Math" panose="02040503050406030204" pitchFamily="18" charset="0"/>
                  </a:rPr>
                  <a:t>$2x-2y+6z=4+6+24=34\ne33$</a:t>
                </a:r>
                <a:r>
                  <a:rPr sz="2400" b="0">
                    <a:solidFill>
                      <a:srgbClr val="111827"/>
                    </a:solidFill>
                    <a:latin typeface="Arial"/>
                  </a:rPr>
                  <a:t>: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$x+5y-3z=2-15-12=-25\ne25$</a:t>
                </a:r>
                <a:r>
                  <a:rPr sz="2400" b="0">
                    <a:solidFill>
                      <a:srgbClr val="111827"/>
                    </a:solidFill>
                    <a:latin typeface="Arial"/>
                  </a:rPr>
                  <a:t>: false. (D) </a:t>
                </a:r>
                <a:r>
                  <a:rPr lang="en-IN" sz="2400">
                    <a:solidFill>
                      <a:srgbClr val="111827"/>
                    </a:solidFill>
                    <a:latin typeface="Cambria Math" panose="02040503050406030204" pitchFamily="18" charset="0"/>
                  </a:rPr>
                  <a:t>$4x+y+2z=8-3+8=13$</a:t>
                </a:r>
                <a:r>
                  <a:rPr sz="2400" b="0">
                    <a:solidFill>
                      <a:srgbClr val="111827"/>
                    </a:solidFill>
                    <a:latin typeface="Arial"/>
                  </a:rPr>
                  <a:t>: true. Answer: A,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D)</a:t>
            </a:r>
            <a:endParaRPr sz="2800">
              <a:solidFill>
                <a:srgbClr val="15803D"/>
              </a:solidFill>
            </a:endParaRP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73761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Cramer's rule on the three coefficient equations.</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154936"/>
                <a:ext cx="10725912" cy="36332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3</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mr>
                          <m:mr>
                            <m:e>
                              <m:r>
                                <a:rPr lang="en-IN" sz="2400" i="1">
                                  <a:solidFill>
                                    <a:srgbClr val="111827"/>
                                  </a:solidFill>
                                  <a:latin typeface="Cambria Math" panose="02040503050406030204" pitchFamily="18" charset="0"/>
                                </a:rPr>
                                <m:t>3</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e>
                              <m:r>
                                <a:rPr lang="en-IN" sz="2400" i="1">
                                  <a:solidFill>
                                    <a:srgbClr val="111827"/>
                                  </a:solidFill>
                                  <a:latin typeface="Cambria Math" panose="02040503050406030204" pitchFamily="18" charset="0"/>
                                </a:rPr>
                                <m:t>5</m:t>
                              </m:r>
                            </m:e>
                          </m:mr>
                        </m:m>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𝑥</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1</m:t>
                              </m:r>
                            </m:e>
                          </m:m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e>
                            <m:e>
                              <m:r>
                                <a:rPr lang="en-IN" sz="2400" i="1">
                                  <a:solidFill>
                                    <a:srgbClr val="111827"/>
                                  </a:solidFill>
                                  <a:latin typeface="Cambria Math" panose="02040503050406030204" pitchFamily="18" charset="0"/>
                                </a:rPr>
                                <m:t>3</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mr>
                          <m:mr>
                            <m:e>
                              <m:r>
                                <a:rPr lang="en-IN" sz="2400" i="1">
                                  <a:solidFill>
                                    <a:srgbClr val="111827"/>
                                  </a:solidFill>
                                  <a:latin typeface="Cambria Math" panose="02040503050406030204" pitchFamily="18" charset="0"/>
                                </a:rPr>
                                <m:t>38</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e>
                              <m:r>
                                <a:rPr lang="en-IN" sz="2400" i="1">
                                  <a:solidFill>
                                    <a:srgbClr val="111827"/>
                                  </a:solidFill>
                                  <a:latin typeface="Cambria Math" panose="02040503050406030204" pitchFamily="18" charset="0"/>
                                </a:rPr>
                                <m:t>5</m:t>
                              </m:r>
                            </m:e>
                          </m:mr>
                        </m:m>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𝑦</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e>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2</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mr>
                          <m:mr>
                            <m:e>
                              <m:r>
                                <a:rPr lang="en-IN" sz="2400" i="1">
                                  <a:solidFill>
                                    <a:srgbClr val="111827"/>
                                  </a:solidFill>
                                  <a:latin typeface="Cambria Math" panose="02040503050406030204" pitchFamily="18" charset="0"/>
                                </a:rPr>
                                <m:t>3</m:t>
                              </m:r>
                            </m:e>
                            <m:e>
                              <m:r>
                                <a:rPr lang="en-IN" sz="2400" i="1">
                                  <a:solidFill>
                                    <a:srgbClr val="111827"/>
                                  </a:solidFill>
                                  <a:latin typeface="Cambria Math" panose="02040503050406030204" pitchFamily="18" charset="0"/>
                                </a:rPr>
                                <m:t>38</m:t>
                              </m:r>
                            </m:e>
                            <m:e>
                              <m:r>
                                <a:rPr lang="en-IN" sz="2400" i="1">
                                  <a:solidFill>
                                    <a:srgbClr val="111827"/>
                                  </a:solidFill>
                                  <a:latin typeface="Cambria Math" panose="02040503050406030204" pitchFamily="18" charset="0"/>
                                </a:rPr>
                                <m:t>5</m:t>
                              </m:r>
                            </m:e>
                          </m:mr>
                        </m:m>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180</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𝑧</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2</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mr>
                          <m:mr>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3</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e>
                          </m:mr>
                          <m:mr>
                            <m:e>
                              <m:r>
                                <a:rPr lang="en-IN" sz="2400" i="1">
                                  <a:solidFill>
                                    <a:srgbClr val="111827"/>
                                  </a:solidFill>
                                  <a:latin typeface="Cambria Math" panose="02040503050406030204" pitchFamily="18" charset="0"/>
                                </a:rPr>
                                <m:t>3</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e>
                              <m:r>
                                <a:rPr lang="en-IN" sz="2400" i="1">
                                  <a:solidFill>
                                    <a:srgbClr val="111827"/>
                                  </a:solidFill>
                                  <a:latin typeface="Cambria Math" panose="02040503050406030204" pitchFamily="18" charset="0"/>
                                </a:rPr>
                                <m:t>38</m:t>
                              </m:r>
                            </m:e>
                          </m:mr>
                        </m:m>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180</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same values as the elimination; options (A) and (D) hold, (B) and (C) fail.</a:t>
                </a:r>
                <a:endParaRPr sz="2400">
                  <a:solidFill>
                    <a:srgbClr val="111827"/>
                  </a:solidFill>
                </a:endParaRPr>
              </a:p>
            </p:txBody>
          </p:sp>
        </mc:Choice>
        <mc:Fallback>
          <p:sp>
            <p:nvSpPr>
              <p:cNvPr id="6" name="Rectangle 5"/>
              <p:cNvSpPr/>
              <p:nvPr/>
            </p:nvSpPr>
            <p:spPr>
              <a:xfrm>
                <a:off x="731520" y="2154936"/>
                <a:ext cx="10725912" cy="36332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$D=\left|\begin{matrix}-1&amp;2&amp;1\\2&amp;3&amp;-4\\3&amp;-4&amp;5\end{matrix}\right|=-60$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$D_x=\left|\begin{matrix}-4&amp;2&amp;1\\-21&amp;3&amp;-4\\38&amp;-4&amp;5\end{matrix}\right|=-120$</a:t>
                </a:r>
                <a:r>
                  <a:rPr sz="2400" b="0">
                    <a:solidFill>
                      <a:srgbClr val="111827"/>
                    </a:solidFill>
                    <a:latin typeface="Arial"/>
                  </a:rPr>
                  <a:t>, </a:t>
                </a:r>
                <a:r>
                  <a:rPr lang="en-IN" sz="2400">
                    <a:solidFill>
                      <a:srgbClr val="111827"/>
                    </a:solidFill>
                    <a:latin typeface="Cambria Math" panose="02040503050406030204" pitchFamily="18" charset="0"/>
                  </a:rPr>
                  <a:t>$D_y=\left|\begin{matrix}-1&amp;-4&amp;1\\2&amp;-21&amp;-4\\3&amp;38&amp;5\end{matrix}\right|=180$</a:t>
                </a:r>
                <a:r>
                  <a:rPr sz="2400" b="0">
                    <a:solidFill>
                      <a:srgbClr val="111827"/>
                    </a:solidFill>
                    <a:latin typeface="Arial"/>
                  </a:rPr>
                  <a:t>, </a:t>
                </a:r>
                <a:r>
                  <a:rPr lang="en-IN" sz="2400">
                    <a:solidFill>
                      <a:srgbClr val="111827"/>
                    </a:solidFill>
                    <a:latin typeface="Cambria Math" panose="02040503050406030204" pitchFamily="18" charset="0"/>
                  </a:rPr>
                  <a:t>$D_z=\left|\begin{matrix}-1&amp;2&amp;-4\\2&amp;3&amp;-21\\3&amp;-4&amp;38\end{matrix}\right|=-240$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$x=\frac{-120}{-60}=2,\ y=\frac{180}{-60}=-3,\ z=\frac{-240}{-60}=4$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same values as the elimination; options (A) and (D) hold, (B) and (C) fail.</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D)</a:t>
            </a:r>
            <a:endParaRPr sz="2800">
              <a:solidFill>
                <a:srgbClr val="15803D"/>
              </a:solidFill>
            </a:endParaRP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are non-coplanar, </a:t>
                </a:r>
                <a14:m>
                  <m:oMath xmlns:m="http://schemas.openxmlformats.org/officeDocument/2006/math">
                    <m:r>
                      <a:rPr lang="en-IN" sz="2400" i="1">
                        <a:solidFill>
                          <a:srgbClr val="111827"/>
                        </a:solidFill>
                        <a:latin typeface="Cambria Math" panose="02040503050406030204" pitchFamily="18" charset="0"/>
                      </a:rPr>
                      <m:t>α</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forces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 vector equation becomes three scalar equations.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coefficients of independent vectors whenever an equation holds between combinations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check a solution by substituting it back into at least one of the original equations.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p,\vec q,\vec r$</a:t>
                </a:r>
                <a:r>
                  <a:rPr sz="2400" b="0">
                    <a:solidFill>
                      <a:srgbClr val="111827"/>
                    </a:solidFill>
                    <a:latin typeface="Arial"/>
                  </a:rPr>
                  <a:t> are non-coplanar, </a:t>
                </a:r>
                <a:r>
                  <a:rPr lang="en-IN" sz="2400">
                    <a:solidFill>
                      <a:srgbClr val="111827"/>
                    </a:solidFill>
                    <a:latin typeface="Cambria Math" panose="02040503050406030204" pitchFamily="18" charset="0"/>
                  </a:rPr>
                  <a:t>$\alpha\vec p+\beta\vec q+\gamma\vec r=\vec 0$</a:t>
                </a:r>
                <a:r>
                  <a:rPr sz="2400" b="0">
                    <a:solidFill>
                      <a:srgbClr val="111827"/>
                    </a:solidFill>
                    <a:latin typeface="Arial"/>
                  </a:rPr>
                  <a:t> forces </a:t>
                </a:r>
                <a:r>
                  <a:rPr lang="en-IN" sz="2400">
                    <a:solidFill>
                      <a:srgbClr val="111827"/>
                    </a:solidFill>
                    <a:latin typeface="Cambria Math" panose="02040503050406030204" pitchFamily="18" charset="0"/>
                  </a:rPr>
                  <a:t>$\alpha=\beta=\gamma=0$</a:t>
                </a:r>
                <a:r>
                  <a:rPr sz="2400" b="0">
                    <a:solidFill>
                      <a:srgbClr val="111827"/>
                    </a:solidFill>
                    <a:latin typeface="Arial"/>
                  </a:rPr>
                  <a:t>; so a vector equation becomes three scalar equations.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coefficients of independent vectors whenever an equation holds between combinations of </a:t>
                </a:r>
                <a:r>
                  <a:rPr lang="en-IN" sz="2400">
                    <a:solidFill>
                      <a:srgbClr val="111827"/>
                    </a:solidFill>
                    <a:latin typeface="Cambria Math" panose="02040503050406030204" pitchFamily="18" charset="0"/>
                  </a:rPr>
                  <a:t>$\vec p,\vec q,\vec 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check a solution by substituting it back into at least one of the original equations.</a:t>
                </a:r>
                <a:endParaRPr sz="2400">
                  <a:solidFill>
                    <a:srgbClr val="111827"/>
                  </a:solidFill>
                </a:endParaRPr>
              </a:p>
            </p:txBody>
          </p:sp>
        </mc:Fallback>
      </mc:AlternateContent>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67004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Given a line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and a plane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Let lines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respectively be projection and image of line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in plane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Let planes </a:t>
                </a:r>
                <a14:m>
                  <m:oMath xmlns:m="http://schemas.openxmlformats.org/officeDocument/2006/math">
                    <m:sSub>
                      <m:e>
                        <m:r>
                          <m:rPr>
                            <m:sty m:val="p"/>
                          </m:rPr>
                          <a:rPr lang="en-IN" sz="2400">
                            <a:solidFill>
                              <a:srgbClr val="111827"/>
                            </a:solidFill>
                            <a:latin typeface="Cambria Math" panose="02040503050406030204" pitchFamily="18" charset="0"/>
                          </a:rPr>
                          <m:t>Π</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m:rPr>
                            <m:sty m:val="p"/>
                          </m:rPr>
                          <a:rPr lang="en-IN" sz="2400">
                            <a:solidFill>
                              <a:srgbClr val="111827"/>
                            </a:solidFill>
                            <a:latin typeface="Cambria Math" panose="02040503050406030204" pitchFamily="18" charset="0"/>
                          </a:rPr>
                          <m:t>Π</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respectively be planes containing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and parallel, perpendicular to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Then shortest distance of:</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b>
                      <m:e>
                        <m:r>
                          <m:rPr>
                            <m:sty m:val="p"/>
                          </m:rPr>
                          <a:rPr lang="en-IN" sz="2400">
                            <a:solidFill>
                              <a:srgbClr val="111827"/>
                            </a:solidFill>
                            <a:latin typeface="Cambria Math" panose="02040503050406030204" pitchFamily="18" charset="0"/>
                          </a:rPr>
                          <m:t>Π</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from origin is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from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53</m:t>
                        </m:r>
                      </m:e>
                    </m:ra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from origin is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285</m:t>
                            </m:r>
                          </m:num>
                          <m:den>
                            <m:r>
                              <a:rPr lang="en-IN" sz="2400" i="1">
                                <a:solidFill>
                                  <a:srgbClr val="111827"/>
                                </a:solidFill>
                                <a:latin typeface="Cambria Math" panose="02040503050406030204" pitchFamily="18" charset="0"/>
                              </a:rPr>
                              <m:t>7</m:t>
                            </m:r>
                          </m:den>
                        </m:f>
                      </m:e>
                    </m:ra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sSub>
                      <m:e>
                        <m:r>
                          <m:rPr>
                            <m:sty m:val="p"/>
                          </m:rPr>
                          <a:rPr lang="en-IN" sz="2400">
                            <a:solidFill>
                              <a:srgbClr val="111827"/>
                            </a:solidFill>
                            <a:latin typeface="Cambria Math" panose="02040503050406030204" pitchFamily="18" charset="0"/>
                          </a:rPr>
                          <m:t>Π</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from origin is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49</m:t>
                            </m:r>
                          </m:num>
                          <m:den>
                            <m:r>
                              <a:rPr lang="en-IN" sz="2400" i="1">
                                <a:solidFill>
                                  <a:srgbClr val="111827"/>
                                </a:solidFill>
                                <a:latin typeface="Cambria Math" panose="02040503050406030204" pitchFamily="18" charset="0"/>
                              </a:rPr>
                              <m:t>26</m:t>
                            </m:r>
                          </m:den>
                        </m:f>
                      </m:e>
                    </m:rad>
                  </m:oMath>
                </a14:m>
                <a:endParaRPr sz="2400">
                  <a:solidFill>
                    <a:srgbClr val="111827"/>
                  </a:solidFill>
                </a:endParaRPr>
              </a:p>
            </p:txBody>
          </p:sp>
        </mc:Choice>
        <mc:Fallback>
          <p:sp>
            <p:nvSpPr>
              <p:cNvPr id="4" name="Rounded Rectangle 3"/>
              <p:cNvSpPr/>
              <p:nvPr/>
            </p:nvSpPr>
            <p:spPr>
              <a:xfrm>
                <a:off x="731520" y="1280160"/>
                <a:ext cx="10725912" cy="467004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Given a line </a:t>
                </a:r>
                <a:r>
                  <a:rPr lang="en-IN" sz="2400">
                    <a:solidFill>
                      <a:srgbClr val="111827"/>
                    </a:solidFill>
                    <a:latin typeface="Cambria Math" panose="02040503050406030204" pitchFamily="18" charset="0"/>
                  </a:rPr>
                  <a:t>$L$</a:t>
                </a:r>
                <a:r>
                  <a:rPr sz="2400" b="0">
                    <a:solidFill>
                      <a:srgbClr val="111827"/>
                    </a:solidFill>
                    <a:latin typeface="Arial"/>
                  </a:rPr>
                  <a:t> and a plane </a:t>
                </a:r>
                <a:r>
                  <a:rPr lang="en-IN" sz="2400">
                    <a:solidFill>
                      <a:srgbClr val="111827"/>
                    </a:solidFill>
                    <a:latin typeface="Cambria Math" panose="02040503050406030204" pitchFamily="18" charset="0"/>
                  </a:rPr>
                  <a:t>$\Pi$</a:t>
                </a:r>
                <a:r>
                  <a:rPr sz="2400" b="0">
                    <a:solidFill>
                      <a:srgbClr val="111827"/>
                    </a:solidFill>
                    <a:latin typeface="Arial"/>
                  </a:rPr>
                  <a:t>: </a:t>
                </a:r>
                <a:r>
                  <a:rPr lang="en-IN" sz="2400">
                    <a:solidFill>
                      <a:srgbClr val="111827"/>
                    </a:solidFill>
                    <a:latin typeface="Cambria Math" panose="02040503050406030204" pitchFamily="18" charset="0"/>
                  </a:rPr>
                  <a:t>$L=\frac{x+2}{2}=\frac{y+1}{-1}=\frac z3$</a:t>
                </a:r>
                <a:r>
                  <a:rPr sz="2400" b="0">
                    <a:solidFill>
                      <a:srgbClr val="111827"/>
                    </a:solidFill>
                    <a:latin typeface="Arial"/>
                  </a:rPr>
                  <a:t>, </a:t>
                </a:r>
                <a:r>
                  <a:rPr lang="en-IN" sz="2400">
                    <a:solidFill>
                      <a:srgbClr val="111827"/>
                    </a:solidFill>
                    <a:latin typeface="Cambria Math" panose="02040503050406030204" pitchFamily="18" charset="0"/>
                  </a:rPr>
                  <a:t>$\Pi=x+y+z=3$</a:t>
                </a:r>
                <a:r>
                  <a:rPr sz="2400" b="0">
                    <a:solidFill>
                      <a:srgbClr val="111827"/>
                    </a:solidFill>
                    <a:latin typeface="Arial"/>
                  </a:rPr>
                  <a:t>. Let lines </a:t>
                </a:r>
                <a:r>
                  <a:rPr lang="en-IN" sz="2400">
                    <a:solidFill>
                      <a:srgbClr val="111827"/>
                    </a:solidFill>
                    <a:latin typeface="Cambria Math" panose="02040503050406030204" pitchFamily="18" charset="0"/>
                  </a:rPr>
                  <a:t>$L_1$</a:t>
                </a:r>
                <a:r>
                  <a:rPr sz="2400" b="0">
                    <a:solidFill>
                      <a:srgbClr val="111827"/>
                    </a:solidFill>
                    <a:latin typeface="Arial"/>
                  </a:rPr>
                  <a:t> and </a:t>
                </a:r>
                <a:r>
                  <a:rPr lang="en-IN" sz="2400">
                    <a:solidFill>
                      <a:srgbClr val="111827"/>
                    </a:solidFill>
                    <a:latin typeface="Cambria Math" panose="02040503050406030204" pitchFamily="18" charset="0"/>
                  </a:rPr>
                  <a:t>$L_2$</a:t>
                </a:r>
                <a:r>
                  <a:rPr sz="2400" b="0">
                    <a:solidFill>
                      <a:srgbClr val="111827"/>
                    </a:solidFill>
                    <a:latin typeface="Arial"/>
                  </a:rPr>
                  <a:t> respectively be projection and image of line </a:t>
                </a:r>
                <a:r>
                  <a:rPr lang="en-IN" sz="2400">
                    <a:solidFill>
                      <a:srgbClr val="111827"/>
                    </a:solidFill>
                    <a:latin typeface="Cambria Math" panose="02040503050406030204" pitchFamily="18" charset="0"/>
                  </a:rPr>
                  <a:t>$L$</a:t>
                </a:r>
                <a:r>
                  <a:rPr sz="2400" b="0">
                    <a:solidFill>
                      <a:srgbClr val="111827"/>
                    </a:solidFill>
                    <a:latin typeface="Arial"/>
                  </a:rPr>
                  <a:t> in plane </a:t>
                </a:r>
                <a:r>
                  <a:rPr lang="en-IN" sz="2400">
                    <a:solidFill>
                      <a:srgbClr val="111827"/>
                    </a:solidFill>
                    <a:latin typeface="Cambria Math" panose="02040503050406030204" pitchFamily="18" charset="0"/>
                  </a:rPr>
                  <a:t>$\Pi$</a:t>
                </a:r>
                <a:r>
                  <a:rPr sz="2400" b="0">
                    <a:solidFill>
                      <a:srgbClr val="111827"/>
                    </a:solidFill>
                    <a:latin typeface="Arial"/>
                  </a:rPr>
                  <a:t>. Let planes </a:t>
                </a:r>
                <a:r>
                  <a:rPr lang="en-IN" sz="2400">
                    <a:solidFill>
                      <a:srgbClr val="111827"/>
                    </a:solidFill>
                    <a:latin typeface="Cambria Math" panose="02040503050406030204" pitchFamily="18" charset="0"/>
                  </a:rPr>
                  <a:t>$\Pi_1,\Pi_2$</a:t>
                </a:r>
                <a:r>
                  <a:rPr sz="2400" b="0">
                    <a:solidFill>
                      <a:srgbClr val="111827"/>
                    </a:solidFill>
                    <a:latin typeface="Arial"/>
                  </a:rPr>
                  <a:t> respectively be planes containing </a:t>
                </a:r>
                <a:r>
                  <a:rPr lang="en-IN" sz="2400">
                    <a:solidFill>
                      <a:srgbClr val="111827"/>
                    </a:solidFill>
                    <a:latin typeface="Cambria Math" panose="02040503050406030204" pitchFamily="18" charset="0"/>
                  </a:rPr>
                  <a:t>$L$</a:t>
                </a:r>
                <a:r>
                  <a:rPr sz="2400" b="0">
                    <a:solidFill>
                      <a:srgbClr val="111827"/>
                    </a:solidFill>
                    <a:latin typeface="Arial"/>
                  </a:rPr>
                  <a:t> and parallel, perpendicular to </a:t>
                </a:r>
                <a:r>
                  <a:rPr lang="en-IN" sz="2400">
                    <a:solidFill>
                      <a:srgbClr val="111827"/>
                    </a:solidFill>
                    <a:latin typeface="Cambria Math" panose="02040503050406030204" pitchFamily="18" charset="0"/>
                  </a:rPr>
                  <a:t>$\Pi$</a:t>
                </a:r>
                <a:r>
                  <a:rPr sz="2400" b="0">
                    <a:solidFill>
                      <a:srgbClr val="111827"/>
                    </a:solidFill>
                    <a:latin typeface="Arial"/>
                  </a:rPr>
                  <a:t>. Then shortest distance of:</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$\Pi_1$</a:t>
                </a:r>
                <a:r>
                  <a:rPr sz="2400" b="0">
                    <a:solidFill>
                      <a:srgbClr val="111827"/>
                    </a:solidFill>
                    <a:latin typeface="Arial"/>
                  </a:rPr>
                  <a:t> from origin is </a:t>
                </a:r>
                <a:r>
                  <a:rPr lang="en-IN" sz="2400">
                    <a:solidFill>
                      <a:srgbClr val="111827"/>
                    </a:solidFill>
                    <a:latin typeface="Cambria Math" panose="02040503050406030204" pitchFamily="18" charset="0"/>
                  </a:rPr>
                  <a:t>$\sqrt3$</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$L_1$</a:t>
                </a:r>
                <a:r>
                  <a:rPr sz="2400" b="0">
                    <a:solidFill>
                      <a:srgbClr val="111827"/>
                    </a:solidFill>
                    <a:latin typeface="Arial"/>
                  </a:rPr>
                  <a:t> from </a:t>
                </a:r>
                <a:r>
                  <a:rPr lang="en-IN" sz="2400">
                    <a:solidFill>
                      <a:srgbClr val="111827"/>
                    </a:solidFill>
                    <a:latin typeface="Cambria Math" panose="02040503050406030204" pitchFamily="18" charset="0"/>
                  </a:rPr>
                  <a:t>$(-9,6,-3)$</a:t>
                </a:r>
                <a:r>
                  <a:rPr sz="2400" b="0">
                    <a:solidFill>
                      <a:srgbClr val="111827"/>
                    </a:solidFill>
                    <a:latin typeface="Arial"/>
                  </a:rPr>
                  <a:t> is </a:t>
                </a:r>
                <a:r>
                  <a:rPr lang="en-IN" sz="2400">
                    <a:solidFill>
                      <a:srgbClr val="111827"/>
                    </a:solidFill>
                    <a:latin typeface="Cambria Math" panose="02040503050406030204" pitchFamily="18" charset="0"/>
                  </a:rPr>
                  <a:t>$\sqrt{53}$</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$L_2$</a:t>
                </a:r>
                <a:r>
                  <a:rPr sz="2400" b="0">
                    <a:solidFill>
                      <a:srgbClr val="111827"/>
                    </a:solidFill>
                    <a:latin typeface="Arial"/>
                  </a:rPr>
                  <a:t> from origin is </a:t>
                </a:r>
                <a:r>
                  <a:rPr lang="en-IN" sz="2400">
                    <a:solidFill>
                      <a:srgbClr val="111827"/>
                    </a:solidFill>
                    <a:latin typeface="Cambria Math" panose="02040503050406030204" pitchFamily="18" charset="0"/>
                  </a:rPr>
                  <a:t>$\sqrt{\frac{285}{7}}$</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$\Pi_2$</a:t>
                </a:r>
                <a:r>
                  <a:rPr sz="2400" b="0">
                    <a:solidFill>
                      <a:srgbClr val="111827"/>
                    </a:solidFill>
                    <a:latin typeface="Arial"/>
                  </a:rPr>
                  <a:t> from origin is </a:t>
                </a:r>
                <a:r>
                  <a:rPr lang="en-IN" sz="2400">
                    <a:solidFill>
                      <a:srgbClr val="111827"/>
                    </a:solidFill>
                    <a:latin typeface="Cambria Math" panose="02040503050406030204" pitchFamily="18" charset="0"/>
                  </a:rPr>
                  <a:t>$\sqrt{\frac{49}{26}}$</a:t>
                </a:r>
                <a:endParaRPr sz="2400">
                  <a:solidFill>
                    <a:srgbClr val="111827"/>
                  </a:solidFill>
                </a:endParaRPr>
              </a:p>
            </p:txBody>
          </p:sp>
        </mc:Fallback>
      </mc:AlternateContent>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Projection and image (reflection) of a line in a plane, Distance of a point from a line and a plane from the origin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point </a:t>
                </a:r>
                <a14:m>
                  <m:oMath xmlns:m="http://schemas.openxmlformats.org/officeDocument/2006/math">
                    <m:r>
                      <a:rPr lang="en-IN" sz="2400" i="1">
                        <a:solidFill>
                          <a:srgbClr val="78350F"/>
                        </a:solidFill>
                        <a:latin typeface="Cambria Math" panose="02040503050406030204" pitchFamily="18" charset="0"/>
                      </a:rPr>
                      <m:t>𝐿</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Π</m:t>
                    </m:r>
                  </m:oMath>
                </a14:m>
                <a:r>
                  <a:rPr sz="2400" b="0">
                    <a:solidFill>
                      <a:srgbClr val="78350F"/>
                    </a:solidFill>
                    <a:latin typeface="Arial"/>
                  </a:rPr>
                  <a:t> lies on </a:t>
                </a:r>
                <a14:m>
                  <m:oMath xmlns:m="http://schemas.openxmlformats.org/officeDocument/2006/math">
                    <m:sSub>
                      <m:e>
                        <m:r>
                          <a:rPr lang="en-IN" sz="2400" i="1">
                            <a:solidFill>
                              <a:srgbClr val="78350F"/>
                            </a:solidFill>
                            <a:latin typeface="Cambria Math" panose="02040503050406030204" pitchFamily="18" charset="0"/>
                          </a:rPr>
                          <m:t>𝐿</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and </a:t>
                </a:r>
                <a14:m>
                  <m:oMath xmlns:m="http://schemas.openxmlformats.org/officeDocument/2006/math">
                    <m:sSub>
                      <m:e>
                        <m:r>
                          <a:rPr lang="en-IN" sz="2400" i="1">
                            <a:solidFill>
                              <a:srgbClr val="78350F"/>
                            </a:solidFill>
                            <a:latin typeface="Cambria Math" panose="02040503050406030204" pitchFamily="18" charset="0"/>
                          </a:rPr>
                          <m:t>𝐿</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a:t>
                </a:r>
                <a14:m>
                  <m:oMath xmlns:m="http://schemas.openxmlformats.org/officeDocument/2006/math">
                    <m:sSub>
                      <m:e>
                        <m:r>
                          <a:rPr lang="en-IN" sz="2400" i="1">
                            <a:solidFill>
                              <a:srgbClr val="78350F"/>
                            </a:solidFill>
                            <a:latin typeface="Cambria Math" panose="02040503050406030204" pitchFamily="18" charset="0"/>
                          </a:rPr>
                          <m:t>𝐿</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has direction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num>
                      <m:den>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den>
                    </m:f>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oMath>
                </a14:m>
                <a:r>
                  <a:rPr sz="2400" b="0">
                    <a:solidFill>
                      <a:srgbClr val="78350F"/>
                    </a:solidFill>
                    <a:latin typeface="Arial"/>
                  </a:rPr>
                  <a:t>, </a:t>
                </a:r>
                <a14:m>
                  <m:oMath xmlns:m="http://schemas.openxmlformats.org/officeDocument/2006/math">
                    <m:sSub>
                      <m:e>
                        <m:r>
                          <a:rPr lang="en-IN" sz="2400" i="1">
                            <a:solidFill>
                              <a:srgbClr val="78350F"/>
                            </a:solidFill>
                            <a:latin typeface="Cambria Math" panose="02040503050406030204" pitchFamily="18" charset="0"/>
                          </a:rPr>
                          <m:t>𝐿</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has direction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f>
                      <m:fPr>
                        <m:type m:val="bar"/>
                        <m:ctrlPr>
                          <a:rPr lang="en-IN" sz="2400" i="1">
                            <a:solidFill>
                              <a:srgbClr val="78350F"/>
                            </a:solidFill>
                            <a:latin typeface="Cambria Math" panose="02040503050406030204" pitchFamily="18" charset="0"/>
                          </a:rPr>
                        </m:ctrlPr>
                      </m:fPr>
                      <m:num>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num>
                      <m:den>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den>
                    </m:f>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oMath>
                </a14:m>
                <a:r>
                  <a:rPr sz="2400" b="0">
                    <a:solidFill>
                      <a:srgbClr val="78350F"/>
                    </a:solidFill>
                    <a:latin typeface="Arial"/>
                  </a:rPr>
                  <a:t>, and </a:t>
                </a:r>
                <a14:m>
                  <m:oMath xmlns:m="http://schemas.openxmlformats.org/officeDocument/2006/math">
                    <m:sSub>
                      <m:e>
                        <m:r>
                          <m:rPr>
                            <m:sty m:val="p"/>
                          </m:rPr>
                          <a:rPr lang="en-IN" sz="2400">
                            <a:solidFill>
                              <a:srgbClr val="78350F"/>
                            </a:solidFill>
                            <a:latin typeface="Cambria Math" panose="02040503050406030204" pitchFamily="18" charset="0"/>
                          </a:rPr>
                          <m:t>Π</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has normal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point </a:t>
                </a:r>
                <a:r>
                  <a:rPr lang="en-IN" sz="2400">
                    <a:solidFill>
                      <a:srgbClr val="78350F"/>
                    </a:solidFill>
                    <a:latin typeface="Cambria Math" panose="02040503050406030204" pitchFamily="18" charset="0"/>
                  </a:rPr>
                  <a:t>$L\cap\Pi$</a:t>
                </a:r>
                <a:r>
                  <a:rPr sz="2400" b="0">
                    <a:solidFill>
                      <a:srgbClr val="78350F"/>
                    </a:solidFill>
                    <a:latin typeface="Arial"/>
                  </a:rPr>
                  <a:t> lies on </a:t>
                </a:r>
                <a:r>
                  <a:rPr lang="en-IN" sz="2400">
                    <a:solidFill>
                      <a:srgbClr val="78350F"/>
                    </a:solidFill>
                    <a:latin typeface="Cambria Math" panose="02040503050406030204" pitchFamily="18" charset="0"/>
                  </a:rPr>
                  <a:t>$L_1$</a:t>
                </a:r>
                <a:r>
                  <a:rPr sz="2400" b="0">
                    <a:solidFill>
                      <a:srgbClr val="78350F"/>
                    </a:solidFill>
                    <a:latin typeface="Arial"/>
                  </a:rPr>
                  <a:t> and </a:t>
                </a:r>
                <a:r>
                  <a:rPr lang="en-IN" sz="2400">
                    <a:solidFill>
                      <a:srgbClr val="78350F"/>
                    </a:solidFill>
                    <a:latin typeface="Cambria Math" panose="02040503050406030204" pitchFamily="18" charset="0"/>
                  </a:rPr>
                  <a:t>$L_2$</a:t>
                </a:r>
                <a:r>
                  <a:rPr sz="2400" b="0">
                    <a:solidFill>
                      <a:srgbClr val="78350F"/>
                    </a:solidFill>
                    <a:latin typeface="Arial"/>
                  </a:rPr>
                  <a:t>; </a:t>
                </a:r>
                <a:r>
                  <a:rPr lang="en-IN" sz="2400">
                    <a:solidFill>
                      <a:srgbClr val="78350F"/>
                    </a:solidFill>
                    <a:latin typeface="Cambria Math" panose="02040503050406030204" pitchFamily="18" charset="0"/>
                  </a:rPr>
                  <a:t>$L_1$</a:t>
                </a:r>
                <a:r>
                  <a:rPr sz="2400" b="0">
                    <a:solidFill>
                      <a:srgbClr val="78350F"/>
                    </a:solidFill>
                    <a:latin typeface="Arial"/>
                  </a:rPr>
                  <a:t> has direction </a:t>
                </a:r>
                <a:r>
                  <a:rPr lang="en-IN" sz="2400">
                    <a:solidFill>
                      <a:srgbClr val="78350F"/>
                    </a:solidFill>
                    <a:latin typeface="Cambria Math" panose="02040503050406030204" pitchFamily="18" charset="0"/>
                  </a:rPr>
                  <a:t>$\vec d-\frac{\vec d\cdot\vec n}{|\vec n|^2}\vec n$</a:t>
                </a:r>
                <a:r>
                  <a:rPr sz="2400" b="0">
                    <a:solidFill>
                      <a:srgbClr val="78350F"/>
                    </a:solidFill>
                    <a:latin typeface="Arial"/>
                  </a:rPr>
                  <a:t>, </a:t>
                </a:r>
                <a:r>
                  <a:rPr lang="en-IN" sz="2400">
                    <a:solidFill>
                      <a:srgbClr val="78350F"/>
                    </a:solidFill>
                    <a:latin typeface="Cambria Math" panose="02040503050406030204" pitchFamily="18" charset="0"/>
                  </a:rPr>
                  <a:t>$L_2$</a:t>
                </a:r>
                <a:r>
                  <a:rPr sz="2400" b="0">
                    <a:solidFill>
                      <a:srgbClr val="78350F"/>
                    </a:solidFill>
                    <a:latin typeface="Arial"/>
                  </a:rPr>
                  <a:t> has direction </a:t>
                </a:r>
                <a:r>
                  <a:rPr lang="en-IN" sz="2400">
                    <a:solidFill>
                      <a:srgbClr val="78350F"/>
                    </a:solidFill>
                    <a:latin typeface="Cambria Math" panose="02040503050406030204" pitchFamily="18" charset="0"/>
                  </a:rPr>
                  <a:t>$\vec d-2\frac{\vec d\cdot\vec n}{|\vec n|^2}\vec n$</a:t>
                </a:r>
                <a:r>
                  <a:rPr sz="2400" b="0">
                    <a:solidFill>
                      <a:srgbClr val="78350F"/>
                    </a:solidFill>
                    <a:latin typeface="Arial"/>
                  </a:rPr>
                  <a:t>, and </a:t>
                </a:r>
                <a:r>
                  <a:rPr lang="en-IN" sz="2400">
                    <a:solidFill>
                      <a:srgbClr val="78350F"/>
                    </a:solidFill>
                    <a:latin typeface="Cambria Math" panose="02040503050406030204" pitchFamily="18" charset="0"/>
                  </a:rPr>
                  <a:t>$\Pi_2$</a:t>
                </a:r>
                <a:r>
                  <a:rPr sz="2400" b="0">
                    <a:solidFill>
                      <a:srgbClr val="78350F"/>
                    </a:solidFill>
                    <a:latin typeface="Arial"/>
                  </a:rPr>
                  <a:t> has normal </a:t>
                </a:r>
                <a:r>
                  <a:rPr lang="en-IN" sz="2400">
                    <a:solidFill>
                      <a:srgbClr val="78350F"/>
                    </a:solidFill>
                    <a:latin typeface="Cambria Math" panose="02040503050406030204" pitchFamily="18" charset="0"/>
                  </a:rPr>
                  <a:t>$\vec d\times\vec n$</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495544"/>
                <a:ext cx="10725912" cy="117957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passes through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has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495544"/>
                <a:ext cx="10725912" cy="117957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a:t>
                </a:r>
                <a:r>
                  <a:rPr sz="2400" b="0">
                    <a:solidFill>
                      <a:srgbClr val="111827"/>
                    </a:solidFill>
                    <a:latin typeface="Arial"/>
                  </a:rPr>
                  <a:t> passes through </a:t>
                </a:r>
                <a:r>
                  <a:rPr lang="en-IN" sz="2400">
                    <a:solidFill>
                      <a:srgbClr val="111827"/>
                    </a:solidFill>
                    <a:latin typeface="Cambria Math" panose="02040503050406030204" pitchFamily="18" charset="0"/>
                  </a:rPr>
                  <a:t>$(-2,-1,0)$</a:t>
                </a:r>
                <a:r>
                  <a:rPr sz="2400" b="0">
                    <a:solidFill>
                      <a:srgbClr val="111827"/>
                    </a:solidFill>
                    <a:latin typeface="Arial"/>
                  </a:rPr>
                  <a:t> with direction </a:t>
                </a:r>
                <a:r>
                  <a:rPr lang="en-IN" sz="2400">
                    <a:solidFill>
                      <a:srgbClr val="111827"/>
                    </a:solidFill>
                    <a:latin typeface="Cambria Math" panose="02040503050406030204" pitchFamily="18" charset="0"/>
                  </a:rPr>
                  <a:t>$\vec d=(2,-1,3)$</a:t>
                </a:r>
                <a:r>
                  <a:rPr sz="2400" b="0">
                    <a:solidFill>
                      <a:srgbClr val="111827"/>
                    </a:solidFill>
                    <a:latin typeface="Arial"/>
                  </a:rPr>
                  <a:t>; </a:t>
                </a:r>
                <a:r>
                  <a:rPr lang="en-IN" sz="2400">
                    <a:solidFill>
                      <a:srgbClr val="111827"/>
                    </a:solidFill>
                    <a:latin typeface="Cambria Math" panose="02040503050406030204" pitchFamily="18" charset="0"/>
                  </a:rPr>
                  <a:t>$\Pi$</a:t>
                </a:r>
                <a:r>
                  <a:rPr sz="2400" b="0">
                    <a:solidFill>
                      <a:srgbClr val="111827"/>
                    </a:solidFill>
                    <a:latin typeface="Arial"/>
                  </a:rPr>
                  <a:t> has normal </a:t>
                </a:r>
                <a:r>
                  <a:rPr lang="en-IN" sz="2400">
                    <a:solidFill>
                      <a:srgbClr val="111827"/>
                    </a:solidFill>
                    <a:latin typeface="Cambria Math" panose="02040503050406030204" pitchFamily="18" charset="0"/>
                  </a:rPr>
                  <a:t>$\vec n=(1,1,1)$</a:t>
                </a:r>
                <a:r>
                  <a:rPr sz="2400" b="0">
                    <a:solidFill>
                      <a:srgbClr val="111827"/>
                    </a:solidFill>
                    <a:latin typeface="Arial"/>
                  </a:rPr>
                  <a:t>, </a:t>
                </a:r>
                <a:r>
                  <a:rPr lang="en-IN" sz="2400">
                    <a:solidFill>
                      <a:srgbClr val="111827"/>
                    </a:solidFill>
                    <a:latin typeface="Cambria Math" panose="02040503050406030204" pitchFamily="18" charset="0"/>
                  </a:rPr>
                  <a:t>$\vec d\cdot\vec n=4$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meets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where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Projection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through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For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17</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distance</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4134</m:t>
                        </m:r>
                      </m:num>
                      <m:den>
                        <m:r>
                          <a:rPr lang="en-IN" sz="2400" i="1">
                            <a:solidFill>
                              <a:srgbClr val="111827"/>
                            </a:solidFill>
                            <a:latin typeface="Cambria Math" panose="02040503050406030204" pitchFamily="18" charset="0"/>
                          </a:rPr>
                          <m:t>78</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53</m:t>
                    </m:r>
                  </m:oMath>
                </a14:m>
                <a:r>
                  <a:rPr sz="2400" b="0">
                    <a:solidFill>
                      <a:srgbClr val="111827"/>
                    </a:solidFill>
                    <a:latin typeface="Arial"/>
                  </a:rPr>
                  <a:t>: (B) is true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m:rPr>
                            <m:sty m:val="p"/>
                          </m:rPr>
                          <a:rPr lang="en-IN" sz="2400">
                            <a:solidFill>
                              <a:srgbClr val="111827"/>
                            </a:solidFill>
                            <a:latin typeface="Cambria Math" panose="02040503050406030204" pitchFamily="18" charset="0"/>
                          </a:rPr>
                          <m:t>Π</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(contains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perpendicular to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distance from origin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49</m:t>
                            </m:r>
                          </m:num>
                          <m:den>
                            <m:r>
                              <a:rPr lang="en-IN" sz="2400" i="1">
                                <a:solidFill>
                                  <a:srgbClr val="111827"/>
                                </a:solidFill>
                                <a:latin typeface="Cambria Math" panose="02040503050406030204" pitchFamily="18" charset="0"/>
                              </a:rPr>
                              <m:t>26</m:t>
                            </m:r>
                          </m:den>
                        </m:f>
                      </m:e>
                    </m:rad>
                  </m:oMath>
                </a14:m>
                <a:r>
                  <a:rPr sz="2400" b="0">
                    <a:solidFill>
                      <a:srgbClr val="111827"/>
                    </a:solidFill>
                    <a:latin typeface="Arial"/>
                  </a:rPr>
                  <a:t>: (D) is true.</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a:t>
                </a:r>
                <a:r>
                  <a:rPr sz="2400" b="0">
                    <a:solidFill>
                      <a:srgbClr val="111827"/>
                    </a:solidFill>
                    <a:latin typeface="Arial"/>
                  </a:rPr>
                  <a:t> meets </a:t>
                </a:r>
                <a:r>
                  <a:rPr lang="en-IN" sz="2400">
                    <a:solidFill>
                      <a:srgbClr val="111827"/>
                    </a:solidFill>
                    <a:latin typeface="Cambria Math" panose="02040503050406030204" pitchFamily="18" charset="0"/>
                  </a:rPr>
                  <a:t>$\Pi$</a:t>
                </a:r>
                <a:r>
                  <a:rPr sz="2400" b="0">
                    <a:solidFill>
                      <a:srgbClr val="111827"/>
                    </a:solidFill>
                    <a:latin typeface="Arial"/>
                  </a:rPr>
                  <a:t> where </a:t>
                </a:r>
                <a:r>
                  <a:rPr lang="en-IN" sz="2400">
                    <a:solidFill>
                      <a:srgbClr val="111827"/>
                    </a:solidFill>
                    <a:latin typeface="Cambria Math" panose="02040503050406030204" pitchFamily="18" charset="0"/>
                  </a:rPr>
                  <a:t>$(2t-2)+(-t-1)+3t=3\Rightarrow4t=6\Rightarrow t=\frac32$</a:t>
                </a:r>
                <a:r>
                  <a:rPr sz="2400" b="0">
                    <a:solidFill>
                      <a:srgbClr val="111827"/>
                    </a:solidFill>
                    <a:latin typeface="Arial"/>
                  </a:rPr>
                  <a:t>: </a:t>
                </a:r>
                <a:r>
                  <a:rPr lang="en-IN" sz="2400">
                    <a:solidFill>
                      <a:srgbClr val="111827"/>
                    </a:solidFill>
                    <a:latin typeface="Cambria Math" panose="02040503050406030204" pitchFamily="18" charset="0"/>
                  </a:rPr>
                  <a:t>$Q=\left(1,-\frac52,\frac92\right)$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Projection </a:t>
                </a:r>
                <a:r>
                  <a:rPr lang="en-IN" sz="2400">
                    <a:solidFill>
                      <a:srgbClr val="111827"/>
                    </a:solidFill>
                    <a:latin typeface="Cambria Math" panose="02040503050406030204" pitchFamily="18" charset="0"/>
                  </a:rPr>
                  <a:t>$L_1$</a:t>
                </a:r>
                <a:r>
                  <a:rPr sz="2400" b="0">
                    <a:solidFill>
                      <a:srgbClr val="111827"/>
                    </a:solidFill>
                    <a:latin typeface="Arial"/>
                  </a:rPr>
                  <a:t>: direction </a:t>
                </a:r>
                <a:r>
                  <a:rPr lang="en-IN" sz="2400">
                    <a:solidFill>
                      <a:srgbClr val="111827"/>
                    </a:solidFill>
                    <a:latin typeface="Cambria Math" panose="02040503050406030204" pitchFamily="18" charset="0"/>
                  </a:rPr>
                  <a:t>$\vec d-\frac43\vec n=\left(\frac23,-\frac73,\frac53\right)\parallel(2,-7,5)$</a:t>
                </a:r>
                <a:r>
                  <a:rPr sz="2400" b="0">
                    <a:solidFill>
                      <a:srgbClr val="111827"/>
                    </a:solidFill>
                    <a:latin typeface="Arial"/>
                  </a:rPr>
                  <a:t> through </a:t>
                </a:r>
                <a:r>
                  <a:rPr lang="en-IN" sz="2400">
                    <a:solidFill>
                      <a:srgbClr val="111827"/>
                    </a:solidFill>
                    <a:latin typeface="Cambria Math" panose="02040503050406030204" pitchFamily="18" charset="0"/>
                  </a:rPr>
                  <a:t>$Q$</a:t>
                </a:r>
                <a:r>
                  <a:rPr sz="2400" b="0">
                    <a:solidFill>
                      <a:srgbClr val="111827"/>
                    </a:solidFill>
                    <a:latin typeface="Arial"/>
                  </a:rPr>
                  <a:t>. For </a:t>
                </a:r>
                <a:r>
                  <a:rPr lang="en-IN" sz="2400">
                    <a:solidFill>
                      <a:srgbClr val="111827"/>
                    </a:solidFill>
                    <a:latin typeface="Cambria Math" panose="02040503050406030204" pitchFamily="18" charset="0"/>
                  </a:rPr>
                  <a:t>$(-9,6,-3)$</a:t>
                </a:r>
                <a:r>
                  <a:rPr sz="2400" b="0">
                    <a:solidFill>
                      <a:srgbClr val="111827"/>
                    </a:solidFill>
                    <a:latin typeface="Arial"/>
                  </a:rPr>
                  <a:t>: </a:t>
                </a:r>
                <a:r>
                  <a:rPr lang="en-IN" sz="2400">
                    <a:solidFill>
                      <a:srgbClr val="111827"/>
                    </a:solidFill>
                    <a:latin typeface="Cambria Math" panose="02040503050406030204" pitchFamily="18" charset="0"/>
                  </a:rPr>
                  <a:t>$\vec w=(-10,\frac{17}{2},-\frac{15}{2})$</a:t>
                </a:r>
                <a:r>
                  <a:rPr sz="2400" b="0">
                    <a:solidFill>
                      <a:srgbClr val="111827"/>
                    </a:solidFill>
                    <a:latin typeface="Arial"/>
                  </a:rPr>
                  <a:t>, </a:t>
                </a:r>
                <a:r>
                  <a:rPr lang="en-IN" sz="2400">
                    <a:solidFill>
                      <a:srgbClr val="111827"/>
                    </a:solidFill>
                    <a:latin typeface="Cambria Math" panose="02040503050406030204" pitchFamily="18" charset="0"/>
                  </a:rPr>
                  <a:t>$\vec w\times(2,-7,5)=(-10,35,53)$</a:t>
                </a:r>
                <a:r>
                  <a:rPr sz="2400" b="0">
                    <a:solidFill>
                      <a:srgbClr val="111827"/>
                    </a:solidFill>
                    <a:latin typeface="Arial"/>
                  </a:rPr>
                  <a:t>, distance</a:t>
                </a:r>
                <a:r>
                  <a:rPr lang="en-IN" sz="2400">
                    <a:solidFill>
                      <a:srgbClr val="111827"/>
                    </a:solidFill>
                    <a:latin typeface="Cambria Math" panose="02040503050406030204" pitchFamily="18" charset="0"/>
                  </a:rPr>
                  <a:t>$^2=\frac{4134}{78}=53$</a:t>
                </a:r>
                <a:r>
                  <a:rPr sz="2400" b="0">
                    <a:solidFill>
                      <a:srgbClr val="111827"/>
                    </a:solidFill>
                    <a:latin typeface="Arial"/>
                  </a:rPr>
                  <a:t>: (B) is true (</a:t>
                </a:r>
                <a:r>
                  <a:rPr lang="en-IN" sz="2400">
                    <a:solidFill>
                      <a:srgbClr val="111827"/>
                    </a:solidFill>
                    <a:latin typeface="Cambria Math" panose="02040503050406030204" pitchFamily="18" charset="0"/>
                  </a:rPr>
                  <a:t>$\sqrt{53}$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$\Pi_2$</a:t>
                </a:r>
                <a:r>
                  <a:rPr sz="2400" b="0">
                    <a:solidFill>
                      <a:srgbClr val="111827"/>
                    </a:solidFill>
                    <a:latin typeface="Arial"/>
                  </a:rPr>
                  <a:t> (contains </a:t>
                </a:r>
                <a:r>
                  <a:rPr lang="en-IN" sz="2400">
                    <a:solidFill>
                      <a:srgbClr val="111827"/>
                    </a:solidFill>
                    <a:latin typeface="Cambria Math" panose="02040503050406030204" pitchFamily="18" charset="0"/>
                  </a:rPr>
                  <a:t>$L$</a:t>
                </a:r>
                <a:r>
                  <a:rPr sz="2400" b="0">
                    <a:solidFill>
                      <a:srgbClr val="111827"/>
                    </a:solidFill>
                    <a:latin typeface="Arial"/>
                  </a:rPr>
                  <a:t>, perpendicular to </a:t>
                </a:r>
                <a:r>
                  <a:rPr lang="en-IN" sz="2400">
                    <a:solidFill>
                      <a:srgbClr val="111827"/>
                    </a:solidFill>
                    <a:latin typeface="Cambria Math" panose="02040503050406030204" pitchFamily="18" charset="0"/>
                  </a:rPr>
                  <a:t>$\Pi$</a:t>
                </a:r>
                <a:r>
                  <a:rPr sz="2400" b="0">
                    <a:solidFill>
                      <a:srgbClr val="111827"/>
                    </a:solidFill>
                    <a:latin typeface="Arial"/>
                  </a:rPr>
                  <a:t>): normal </a:t>
                </a:r>
                <a:r>
                  <a:rPr lang="en-IN" sz="2400">
                    <a:solidFill>
                      <a:srgbClr val="111827"/>
                    </a:solidFill>
                    <a:latin typeface="Cambria Math" panose="02040503050406030204" pitchFamily="18" charset="0"/>
                  </a:rPr>
                  <a:t>$\vec d\times\vec n=(-4,1,3)$</a:t>
                </a:r>
                <a:r>
                  <a:rPr sz="2400" b="0">
                    <a:solidFill>
                      <a:srgbClr val="111827"/>
                    </a:solidFill>
                    <a:latin typeface="Arial"/>
                  </a:rPr>
                  <a:t>, so </a:t>
                </a:r>
                <a:r>
                  <a:rPr lang="en-IN" sz="2400">
                    <a:solidFill>
                      <a:srgbClr val="111827"/>
                    </a:solidFill>
                    <a:latin typeface="Cambria Math" panose="02040503050406030204" pitchFamily="18" charset="0"/>
                  </a:rPr>
                  <a:t>$-4(x+2)+(y+1)+3z=0\Rightarrow4x-y-3z+7=0$</a:t>
                </a:r>
                <a:r>
                  <a:rPr sz="2400" b="0">
                    <a:solidFill>
                      <a:srgbClr val="111827"/>
                    </a:solidFill>
                    <a:latin typeface="Arial"/>
                  </a:rPr>
                  <a:t>; distance from origin </a:t>
                </a:r>
                <a:r>
                  <a:rPr lang="en-IN" sz="2400">
                    <a:solidFill>
                      <a:srgbClr val="111827"/>
                    </a:solidFill>
                    <a:latin typeface="Cambria Math" panose="02040503050406030204" pitchFamily="18" charset="0"/>
                  </a:rPr>
                  <a:t>$\frac{7}{\sqrt{26}}=\sqrt{\frac{49}{26}}$</a:t>
                </a:r>
                <a:r>
                  <a:rPr sz="2400" b="0">
                    <a:solidFill>
                      <a:srgbClr val="111827"/>
                    </a:solidFill>
                    <a:latin typeface="Arial"/>
                  </a:rPr>
                  <a:t>: (D) is true.</a:t>
                </a:r>
                <a:endParaRPr sz="2400">
                  <a:solidFill>
                    <a:srgbClr val="111827"/>
                  </a:solidFill>
                </a:endParaRPr>
              </a:p>
            </p:txBody>
          </p:sp>
        </mc:Fallback>
      </mc:AlternateContent>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Image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through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The distance of the origin is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2565</m:t>
                            </m:r>
                          </m:num>
                          <m:den>
                            <m:r>
                              <a:rPr lang="en-IN" sz="2400" i="1">
                                <a:solidFill>
                                  <a:srgbClr val="111827"/>
                                </a:solidFill>
                                <a:latin typeface="Cambria Math" panose="02040503050406030204" pitchFamily="18" charset="0"/>
                              </a:rPr>
                              <m:t>126</m:t>
                            </m:r>
                          </m:den>
                        </m:f>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285</m:t>
                            </m:r>
                          </m:num>
                          <m:den>
                            <m:r>
                              <a:rPr lang="en-IN" sz="2400" i="1">
                                <a:solidFill>
                                  <a:srgbClr val="111827"/>
                                </a:solidFill>
                                <a:latin typeface="Cambria Math" panose="02040503050406030204" pitchFamily="18" charset="0"/>
                              </a:rPr>
                              <m:t>14</m:t>
                            </m:r>
                          </m:den>
                        </m:f>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285</m:t>
                            </m:r>
                          </m:num>
                          <m:den>
                            <m:r>
                              <a:rPr lang="en-IN" sz="2400" i="1">
                                <a:solidFill>
                                  <a:srgbClr val="111827"/>
                                </a:solidFill>
                                <a:latin typeface="Cambria Math" panose="02040503050406030204" pitchFamily="18" charset="0"/>
                              </a:rPr>
                              <m:t>7</m:t>
                            </m:r>
                          </m:den>
                        </m:f>
                      </m:e>
                    </m:rad>
                  </m:oMath>
                </a14:m>
                <a:r>
                  <a:rPr sz="2400" b="0">
                    <a:solidFill>
                      <a:srgbClr val="111827"/>
                    </a:solidFill>
                    <a:latin typeface="Arial"/>
                  </a:rPr>
                  <a:t>: (C) is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no plane containing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is parallel to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because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sSub>
                      <m:e>
                        <m:r>
                          <m:rPr>
                            <m:sty m:val="p"/>
                          </m:rPr>
                          <a:rPr lang="en-IN" sz="2400">
                            <a:solidFill>
                              <a:srgbClr val="111827"/>
                            </a:solidFill>
                            <a:latin typeface="Cambria Math" panose="02040503050406030204" pitchFamily="18" charset="0"/>
                          </a:rPr>
                          <m:t>Π</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not defined as printed. The key's value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equals the distance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of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itself from the origin, so (A) can only be read that way. The PDF gives no working; the key (A, B, D) is reported with this caveat.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Image </a:t>
                </a:r>
                <a:r>
                  <a:rPr lang="en-IN" sz="2400">
                    <a:solidFill>
                      <a:srgbClr val="111827"/>
                    </a:solidFill>
                    <a:latin typeface="Cambria Math" panose="02040503050406030204" pitchFamily="18" charset="0"/>
                  </a:rPr>
                  <a:t>$L_2$</a:t>
                </a:r>
                <a:r>
                  <a:rPr sz="2400" b="0">
                    <a:solidFill>
                      <a:srgbClr val="111827"/>
                    </a:solidFill>
                    <a:latin typeface="Arial"/>
                  </a:rPr>
                  <a:t>: direction </a:t>
                </a:r>
                <a:r>
                  <a:rPr lang="en-IN" sz="2400">
                    <a:solidFill>
                      <a:srgbClr val="111827"/>
                    </a:solidFill>
                    <a:latin typeface="Cambria Math" panose="02040503050406030204" pitchFamily="18" charset="0"/>
                  </a:rPr>
                  <a:t>$\vec d-\frac83\vec n=\left(-\frac23,-\frac{11}3,\frac13\right)\parallel(-2,-11,1)$</a:t>
                </a:r>
                <a:r>
                  <a:rPr sz="2400" b="0">
                    <a:solidFill>
                      <a:srgbClr val="111827"/>
                    </a:solidFill>
                    <a:latin typeface="Arial"/>
                  </a:rPr>
                  <a:t> through </a:t>
                </a:r>
                <a:r>
                  <a:rPr lang="en-IN" sz="2400">
                    <a:solidFill>
                      <a:srgbClr val="111827"/>
                    </a:solidFill>
                    <a:latin typeface="Cambria Math" panose="02040503050406030204" pitchFamily="18" charset="0"/>
                  </a:rPr>
                  <a:t>$Q$</a:t>
                </a:r>
                <a:r>
                  <a:rPr sz="2400" b="0">
                    <a:solidFill>
                      <a:srgbClr val="111827"/>
                    </a:solidFill>
                    <a:latin typeface="Arial"/>
                  </a:rPr>
                  <a:t>. The distance of the origin is </a:t>
                </a:r>
                <a:r>
                  <a:rPr lang="en-IN" sz="2400">
                    <a:solidFill>
                      <a:srgbClr val="111827"/>
                    </a:solidFill>
                    <a:latin typeface="Cambria Math" panose="02040503050406030204" pitchFamily="18" charset="0"/>
                  </a:rPr>
                  <a:t>$\sqrt{\frac{2565}{126}}=\sqrt{\frac{285}{14}}\ne\sqrt{\frac{285}{7}}$</a:t>
                </a:r>
                <a:r>
                  <a:rPr sz="2400" b="0">
                    <a:solidFill>
                      <a:srgbClr val="111827"/>
                    </a:solidFill>
                    <a:latin typeface="Arial"/>
                  </a:rPr>
                  <a:t>: (C) is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no plane containing </a:t>
                </a:r>
                <a:r>
                  <a:rPr lang="en-IN" sz="2400">
                    <a:solidFill>
                      <a:srgbClr val="111827"/>
                    </a:solidFill>
                    <a:latin typeface="Cambria Math" panose="02040503050406030204" pitchFamily="18" charset="0"/>
                  </a:rPr>
                  <a:t>$L$</a:t>
                </a:r>
                <a:r>
                  <a:rPr sz="2400" b="0">
                    <a:solidFill>
                      <a:srgbClr val="111827"/>
                    </a:solidFill>
                    <a:latin typeface="Arial"/>
                  </a:rPr>
                  <a:t> is parallel to </a:t>
                </a:r>
                <a:r>
                  <a:rPr lang="en-IN" sz="2400">
                    <a:solidFill>
                      <a:srgbClr val="111827"/>
                    </a:solidFill>
                    <a:latin typeface="Cambria Math" panose="02040503050406030204" pitchFamily="18" charset="0"/>
                  </a:rPr>
                  <a:t>$\Pi$</a:t>
                </a:r>
                <a:r>
                  <a:rPr sz="2400" b="0">
                    <a:solidFill>
                      <a:srgbClr val="111827"/>
                    </a:solidFill>
                    <a:latin typeface="Arial"/>
                  </a:rPr>
                  <a:t> because </a:t>
                </a:r>
                <a:r>
                  <a:rPr lang="en-IN" sz="2400">
                    <a:solidFill>
                      <a:srgbClr val="111827"/>
                    </a:solidFill>
                    <a:latin typeface="Cambria Math" panose="02040503050406030204" pitchFamily="18" charset="0"/>
                  </a:rPr>
                  <a:t>$\vec d\cdot\vec n=4\ne0$</a:t>
                </a:r>
                <a:r>
                  <a:rPr sz="2400" b="0">
                    <a:solidFill>
                      <a:srgbClr val="111827"/>
                    </a:solidFill>
                    <a:latin typeface="Arial"/>
                  </a:rPr>
                  <a:t>, so </a:t>
                </a:r>
                <a:r>
                  <a:rPr lang="en-IN" sz="2400">
                    <a:solidFill>
                      <a:srgbClr val="111827"/>
                    </a:solidFill>
                    <a:latin typeface="Cambria Math" panose="02040503050406030204" pitchFamily="18" charset="0"/>
                  </a:rPr>
                  <a:t>$\Pi_1$</a:t>
                </a:r>
                <a:r>
                  <a:rPr sz="2400" b="0">
                    <a:solidFill>
                      <a:srgbClr val="111827"/>
                    </a:solidFill>
                    <a:latin typeface="Arial"/>
                  </a:rPr>
                  <a:t> is not defined as printed. The key's value </a:t>
                </a:r>
                <a:r>
                  <a:rPr lang="en-IN" sz="2400">
                    <a:solidFill>
                      <a:srgbClr val="111827"/>
                    </a:solidFill>
                    <a:latin typeface="Cambria Math" panose="02040503050406030204" pitchFamily="18" charset="0"/>
                  </a:rPr>
                  <a:t>$\sqrt3$</a:t>
                </a:r>
                <a:r>
                  <a:rPr sz="2400" b="0">
                    <a:solidFill>
                      <a:srgbClr val="111827"/>
                    </a:solidFill>
                    <a:latin typeface="Arial"/>
                  </a:rPr>
                  <a:t> equals the distance </a:t>
                </a:r>
                <a:r>
                  <a:rPr lang="en-IN" sz="2400">
                    <a:solidFill>
                      <a:srgbClr val="111827"/>
                    </a:solidFill>
                    <a:latin typeface="Cambria Math" panose="02040503050406030204" pitchFamily="18" charset="0"/>
                  </a:rPr>
                  <a:t>$\frac{3}{\sqrt3}$</a:t>
                </a:r>
                <a:r>
                  <a:rPr sz="2400" b="0">
                    <a:solidFill>
                      <a:srgbClr val="111827"/>
                    </a:solidFill>
                    <a:latin typeface="Arial"/>
                  </a:rPr>
                  <a:t> of </a:t>
                </a:r>
                <a:r>
                  <a:rPr lang="en-IN" sz="2400">
                    <a:solidFill>
                      <a:srgbClr val="111827"/>
                    </a:solidFill>
                    <a:latin typeface="Cambria Math" panose="02040503050406030204" pitchFamily="18" charset="0"/>
                  </a:rPr>
                  <a:t>$\Pi$</a:t>
                </a:r>
                <a:r>
                  <a:rPr sz="2400" b="0">
                    <a:solidFill>
                      <a:srgbClr val="111827"/>
                    </a:solidFill>
                    <a:latin typeface="Arial"/>
                  </a:rPr>
                  <a:t> itself from the origin, so (A) can only be read that way. The PDF gives no working; the key (A, B, D) is reported with this caveat.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 D) as per the paper's key. (B) and (D) verified; (C) false; (A) cannot be derived as printed.</a:t>
            </a:r>
            <a:endParaRPr sz="2800">
              <a:solidFill>
                <a:srgbClr val="15803D"/>
              </a:solidFill>
            </a:endParaRP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Projection of a line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on a plane with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image (reflection)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both pass through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through a line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perpendicular to a plane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has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and contains the projection of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onto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of a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from the line through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with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Projection of a line (direction </a:t>
                </a:r>
                <a:r>
                  <a:rPr lang="en-IN" sz="2400">
                    <a:solidFill>
                      <a:srgbClr val="111827"/>
                    </a:solidFill>
                    <a:latin typeface="Cambria Math" panose="02040503050406030204" pitchFamily="18" charset="0"/>
                  </a:rPr>
                  <a:t>$\vec d$</a:t>
                </a:r>
                <a:r>
                  <a:rPr sz="2400" b="0">
                    <a:solidFill>
                      <a:srgbClr val="111827"/>
                    </a:solidFill>
                    <a:latin typeface="Arial"/>
                  </a:rPr>
                  <a:t>) on a plane with normal </a:t>
                </a:r>
                <a:r>
                  <a:rPr lang="en-IN" sz="2400">
                    <a:solidFill>
                      <a:srgbClr val="111827"/>
                    </a:solidFill>
                    <a:latin typeface="Cambria Math" panose="02040503050406030204" pitchFamily="18" charset="0"/>
                  </a:rPr>
                  <a:t>$\vec n$</a:t>
                </a:r>
                <a:r>
                  <a:rPr sz="2400" b="0">
                    <a:solidFill>
                      <a:srgbClr val="111827"/>
                    </a:solidFill>
                    <a:latin typeface="Arial"/>
                  </a:rPr>
                  <a:t>: direction </a:t>
                </a:r>
                <a:r>
                  <a:rPr lang="en-IN" sz="2400">
                    <a:solidFill>
                      <a:srgbClr val="111827"/>
                    </a:solidFill>
                    <a:latin typeface="Cambria Math" panose="02040503050406030204" pitchFamily="18" charset="0"/>
                  </a:rPr>
                  <a:t>$\vec d-\frac{\vec d\cdot\vec n}{|\vec n|^2}\vec n$</a:t>
                </a:r>
                <a:r>
                  <a:rPr sz="2400" b="0">
                    <a:solidFill>
                      <a:srgbClr val="111827"/>
                    </a:solidFill>
                    <a:latin typeface="Arial"/>
                  </a:rPr>
                  <a:t>; image (reflection) direction </a:t>
                </a:r>
                <a:r>
                  <a:rPr lang="en-IN" sz="2400">
                    <a:solidFill>
                      <a:srgbClr val="111827"/>
                    </a:solidFill>
                    <a:latin typeface="Cambria Math" panose="02040503050406030204" pitchFamily="18" charset="0"/>
                  </a:rPr>
                  <a:t>$\vec d-2\frac{\vec d\cdot\vec n}{|\vec n|^2}\vec n$</a:t>
                </a:r>
                <a:r>
                  <a:rPr sz="2400" b="0">
                    <a:solidFill>
                      <a:srgbClr val="111827"/>
                    </a:solidFill>
                    <a:latin typeface="Arial"/>
                  </a:rPr>
                  <a:t>; both pass through </a:t>
                </a:r>
                <a:r>
                  <a:rPr lang="en-IN" sz="2400">
                    <a:solidFill>
                      <a:srgbClr val="111827"/>
                    </a:solidFill>
                    <a:latin typeface="Cambria Math" panose="02040503050406030204" pitchFamily="18" charset="0"/>
                  </a:rPr>
                  <a:t>$L\cap\Pi$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through a line </a:t>
                </a:r>
                <a:r>
                  <a:rPr lang="en-IN" sz="2400">
                    <a:solidFill>
                      <a:srgbClr val="111827"/>
                    </a:solidFill>
                    <a:latin typeface="Cambria Math" panose="02040503050406030204" pitchFamily="18" charset="0"/>
                  </a:rPr>
                  <a:t>$L$</a:t>
                </a:r>
                <a:r>
                  <a:rPr sz="2400" b="0">
                    <a:solidFill>
                      <a:srgbClr val="111827"/>
                    </a:solidFill>
                    <a:latin typeface="Arial"/>
                  </a:rPr>
                  <a:t> perpendicular to a plane </a:t>
                </a:r>
                <a:r>
                  <a:rPr lang="en-IN" sz="2400">
                    <a:solidFill>
                      <a:srgbClr val="111827"/>
                    </a:solidFill>
                    <a:latin typeface="Cambria Math" panose="02040503050406030204" pitchFamily="18" charset="0"/>
                  </a:rPr>
                  <a:t>$\Pi$</a:t>
                </a:r>
                <a:r>
                  <a:rPr sz="2400" b="0">
                    <a:solidFill>
                      <a:srgbClr val="111827"/>
                    </a:solidFill>
                    <a:latin typeface="Arial"/>
                  </a:rPr>
                  <a:t> has normal </a:t>
                </a:r>
                <a:r>
                  <a:rPr lang="en-IN" sz="2400">
                    <a:solidFill>
                      <a:srgbClr val="111827"/>
                    </a:solidFill>
                    <a:latin typeface="Cambria Math" panose="02040503050406030204" pitchFamily="18" charset="0"/>
                  </a:rPr>
                  <a:t>$\vec d\times\vec n$</a:t>
                </a:r>
                <a:r>
                  <a:rPr sz="2400" b="0">
                    <a:solidFill>
                      <a:srgbClr val="111827"/>
                    </a:solidFill>
                    <a:latin typeface="Arial"/>
                  </a:rPr>
                  <a:t> and contains the projection of </a:t>
                </a:r>
                <a:r>
                  <a:rPr lang="en-IN" sz="2400">
                    <a:solidFill>
                      <a:srgbClr val="111827"/>
                    </a:solidFill>
                    <a:latin typeface="Cambria Math" panose="02040503050406030204" pitchFamily="18" charset="0"/>
                  </a:rPr>
                  <a:t>$L$</a:t>
                </a:r>
                <a:r>
                  <a:rPr sz="2400" b="0">
                    <a:solidFill>
                      <a:srgbClr val="111827"/>
                    </a:solidFill>
                    <a:latin typeface="Arial"/>
                  </a:rPr>
                  <a:t> onto </a:t>
                </a:r>
                <a:r>
                  <a:rPr lang="en-IN" sz="2400">
                    <a:solidFill>
                      <a:srgbClr val="111827"/>
                    </a:solidFill>
                    <a:latin typeface="Cambria Math" panose="02040503050406030204" pitchFamily="18" charset="0"/>
                  </a:rPr>
                  <a:t>$\Pi$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of a point </a:t>
                </a:r>
                <a:r>
                  <a:rPr lang="en-IN" sz="2400">
                    <a:solidFill>
                      <a:srgbClr val="111827"/>
                    </a:solidFill>
                    <a:latin typeface="Cambria Math" panose="02040503050406030204" pitchFamily="18" charset="0"/>
                  </a:rPr>
                  <a:t>$P$</a:t>
                </a:r>
                <a:r>
                  <a:rPr sz="2400" b="0">
                    <a:solidFill>
                      <a:srgbClr val="111827"/>
                    </a:solidFill>
                    <a:latin typeface="Arial"/>
                  </a:rPr>
                  <a:t> from the line through </a:t>
                </a:r>
                <a:r>
                  <a:rPr lang="en-IN" sz="2400">
                    <a:solidFill>
                      <a:srgbClr val="111827"/>
                    </a:solidFill>
                    <a:latin typeface="Cambria Math" panose="02040503050406030204" pitchFamily="18" charset="0"/>
                  </a:rPr>
                  <a:t>$Q$</a:t>
                </a:r>
                <a:r>
                  <a:rPr sz="2400" b="0">
                    <a:solidFill>
                      <a:srgbClr val="111827"/>
                    </a:solidFill>
                    <a:latin typeface="Arial"/>
                  </a:rPr>
                  <a:t> with direction </a:t>
                </a:r>
                <a:r>
                  <a:rPr lang="en-IN" sz="2400">
                    <a:solidFill>
                      <a:srgbClr val="111827"/>
                    </a:solidFill>
                    <a:latin typeface="Cambria Math" panose="02040503050406030204" pitchFamily="18" charset="0"/>
                  </a:rPr>
                  <a:t>$\vec e$</a:t>
                </a:r>
                <a:r>
                  <a:rPr sz="2400" b="0">
                    <a:solidFill>
                      <a:srgbClr val="111827"/>
                    </a:solidFill>
                    <a:latin typeface="Arial"/>
                  </a:rPr>
                  <a:t>: </a:t>
                </a:r>
                <a:r>
                  <a:rPr lang="en-IN" sz="2400">
                    <a:solidFill>
                      <a:srgbClr val="111827"/>
                    </a:solidFill>
                    <a:latin typeface="Cambria Math" panose="02040503050406030204" pitchFamily="18" charset="0"/>
                  </a:rPr>
                  <a:t>$\frac{|\overrightarrow{QP}\times\vec e|}{|\vec e|}$</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3</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Paragraph Based Single Correct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Q36 – Q44</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Marks not printed in the paper: JEE Advanced default of 3 marks assumed</a:t>
            </a:r>
            <a:endParaRPr sz="2800">
              <a:solidFill>
                <a:srgbClr val="FFFFFF"/>
              </a:solidFill>
            </a:endParaRP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vertices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are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Its orthocentre is </a:t>
                </a:r>
                <a14:m>
                  <m:oMath xmlns:m="http://schemas.openxmlformats.org/officeDocument/2006/math">
                    <m:r>
                      <a:rPr lang="en-IN" sz="2400" i="1">
                        <a:solidFill>
                          <a:srgbClr val="111827"/>
                        </a:solidFill>
                        <a:latin typeface="Cambria Math" panose="02040503050406030204" pitchFamily="18" charset="0"/>
                      </a:rPr>
                      <m:t>𝐻</m:t>
                    </m:r>
                  </m:oMath>
                </a14:m>
                <a:r>
                  <a:rPr sz="2400" b="0">
                    <a:solidFill>
                      <a:srgbClr val="111827"/>
                    </a:solidFill>
                    <a:latin typeface="Arial"/>
                  </a:rPr>
                  <a:t> and circumcentre is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 point equidistant from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and the origin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-coordinate of </a:t>
                </a:r>
                <a14:m>
                  <m:oMath xmlns:m="http://schemas.openxmlformats.org/officeDocument/2006/math">
                    <m:r>
                      <a:rPr lang="en-IN" sz="2400" i="1">
                        <a:solidFill>
                          <a:srgbClr val="111827"/>
                        </a:solidFill>
                        <a:latin typeface="Cambria Math" panose="02040503050406030204" pitchFamily="18" charset="0"/>
                      </a:rPr>
                      <m:t>𝐻</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endParaRPr sz="2400">
                  <a:solidFill>
                    <a:srgbClr val="111827"/>
                  </a:solidFill>
                </a:endParaRPr>
              </a:p>
            </p:txBody>
          </p:sp>
        </mc:Choice>
        <mc:Fallback>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vertices of </a:t>
                </a:r>
                <a:r>
                  <a:rPr lang="en-IN" sz="2400">
                    <a:solidFill>
                      <a:srgbClr val="111827"/>
                    </a:solidFill>
                    <a:latin typeface="Cambria Math" panose="02040503050406030204" pitchFamily="18" charset="0"/>
                  </a:rPr>
                  <a:t>$\triangle ABC$</a:t>
                </a:r>
                <a:r>
                  <a:rPr sz="2400" b="0">
                    <a:solidFill>
                      <a:srgbClr val="111827"/>
                    </a:solidFill>
                    <a:latin typeface="Arial"/>
                  </a:rPr>
                  <a:t> are </a:t>
                </a:r>
                <a:r>
                  <a:rPr lang="en-IN" sz="2400">
                    <a:solidFill>
                      <a:srgbClr val="111827"/>
                    </a:solidFill>
                    <a:latin typeface="Cambria Math" panose="02040503050406030204" pitchFamily="18" charset="0"/>
                  </a:rPr>
                  <a:t>$A(2,0,0)$</a:t>
                </a:r>
                <a:r>
                  <a:rPr sz="2400" b="0">
                    <a:solidFill>
                      <a:srgbClr val="111827"/>
                    </a:solidFill>
                    <a:latin typeface="Arial"/>
                  </a:rPr>
                  <a:t>, </a:t>
                </a:r>
                <a:r>
                  <a:rPr lang="en-IN" sz="2400">
                    <a:solidFill>
                      <a:srgbClr val="111827"/>
                    </a:solidFill>
                    <a:latin typeface="Cambria Math" panose="02040503050406030204" pitchFamily="18" charset="0"/>
                  </a:rPr>
                  <a:t>$B(0,1,0)$</a:t>
                </a:r>
                <a:r>
                  <a:rPr sz="2400" b="0">
                    <a:solidFill>
                      <a:srgbClr val="111827"/>
                    </a:solidFill>
                    <a:latin typeface="Arial"/>
                  </a:rPr>
                  <a:t>, </a:t>
                </a:r>
                <a:r>
                  <a:rPr lang="en-IN" sz="2400">
                    <a:solidFill>
                      <a:srgbClr val="111827"/>
                    </a:solidFill>
                    <a:latin typeface="Cambria Math" panose="02040503050406030204" pitchFamily="18" charset="0"/>
                  </a:rPr>
                  <a:t>$C(0,0,2)$</a:t>
                </a:r>
                <a:r>
                  <a:rPr sz="2400" b="0">
                    <a:solidFill>
                      <a:srgbClr val="111827"/>
                    </a:solidFill>
                    <a:latin typeface="Arial"/>
                  </a:rPr>
                  <a:t>. Its orthocentre is </a:t>
                </a:r>
                <a:r>
                  <a:rPr lang="en-IN" sz="2400">
                    <a:solidFill>
                      <a:srgbClr val="111827"/>
                    </a:solidFill>
                    <a:latin typeface="Cambria Math" panose="02040503050406030204" pitchFamily="18" charset="0"/>
                  </a:rPr>
                  <a:t>$H$</a:t>
                </a:r>
                <a:r>
                  <a:rPr sz="2400" b="0">
                    <a:solidFill>
                      <a:srgbClr val="111827"/>
                    </a:solidFill>
                    <a:latin typeface="Arial"/>
                  </a:rPr>
                  <a:t> and circumcentre is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$P$</a:t>
                </a:r>
                <a:r>
                  <a:rPr sz="2400" b="0">
                    <a:solidFill>
                      <a:srgbClr val="111827"/>
                    </a:solidFill>
                    <a:latin typeface="Arial"/>
                  </a:rPr>
                  <a:t> is a point equidistant from </a:t>
                </a:r>
                <a:r>
                  <a:rPr lang="en-IN" sz="2400">
                    <a:solidFill>
                      <a:srgbClr val="111827"/>
                    </a:solidFill>
                    <a:latin typeface="Cambria Math" panose="02040503050406030204" pitchFamily="18" charset="0"/>
                  </a:rPr>
                  <a:t>$A,B,C$</a:t>
                </a:r>
                <a:r>
                  <a:rPr sz="2400" b="0">
                    <a:solidFill>
                      <a:srgbClr val="111827"/>
                    </a:solidFill>
                    <a:latin typeface="Arial"/>
                  </a:rPr>
                  <a:t> and the origin </a:t>
                </a:r>
                <a:r>
                  <a:rPr lang="en-IN" sz="2400">
                    <a:solidFill>
                      <a:srgbClr val="111827"/>
                    </a:solidFill>
                    <a:latin typeface="Cambria Math" panose="02040503050406030204" pitchFamily="18" charset="0"/>
                  </a:rPr>
                  <a:t>$O$</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a:t>
                </a:r>
                <a:r>
                  <a:rPr lang="en-IN" sz="2400">
                    <a:solidFill>
                      <a:srgbClr val="111827"/>
                    </a:solidFill>
                    <a:latin typeface="Cambria Math" panose="02040503050406030204" pitchFamily="18" charset="0"/>
                  </a:rPr>
                  <a:t>$z$</a:t>
                </a:r>
                <a:r>
                  <a:rPr sz="2400" b="0">
                    <a:solidFill>
                      <a:srgbClr val="111827"/>
                    </a:solidFill>
                    <a:latin typeface="Arial"/>
                  </a:rPr>
                  <a:t>-coordinate of </a:t>
                </a:r>
                <a:r>
                  <a:rPr lang="en-IN" sz="2400">
                    <a:solidFill>
                      <a:srgbClr val="111827"/>
                    </a:solidFill>
                    <a:latin typeface="Cambria Math" panose="02040503050406030204" pitchFamily="18" charset="0"/>
                  </a:rPr>
                  <a:t>$H$</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$\frac12$</a:t>
                </a:r>
                <a:r>
                  <a:rPr sz="2400" b="0">
                    <a:solidFill>
                      <a:srgbClr val="111827"/>
                    </a:solidFill>
                    <a:latin typeface="Arial"/>
                  </a:rPr>
                  <a:t>   (C) </a:t>
                </a:r>
                <a:r>
                  <a:rPr lang="en-IN" sz="2400">
                    <a:solidFill>
                      <a:srgbClr val="111827"/>
                    </a:solidFill>
                    <a:latin typeface="Cambria Math" panose="02040503050406030204" pitchFamily="18" charset="0"/>
                  </a:rPr>
                  <a:t>$\frac16$</a:t>
                </a:r>
                <a:r>
                  <a:rPr sz="2400" b="0">
                    <a:solidFill>
                      <a:srgbClr val="111827"/>
                    </a:solidFill>
                    <a:latin typeface="Arial"/>
                  </a:rPr>
                  <a:t>   (D) </a:t>
                </a:r>
                <a:r>
                  <a:rPr lang="en-IN" sz="2400">
                    <a:solidFill>
                      <a:srgbClr val="111827"/>
                    </a:solidFill>
                    <a:latin typeface="Cambria Math" panose="02040503050406030204" pitchFamily="18" charset="0"/>
                  </a:rPr>
                  <a:t>$\frac13$</a:t>
                </a:r>
                <a:endParaRPr sz="2400">
                  <a:solidFill>
                    <a:srgbClr val="111827"/>
                  </a:solidFill>
                </a:endParaRPr>
              </a:p>
            </p:txBody>
          </p:sp>
        </mc:Fallback>
      </mc:AlternateContent>
      <p:sp>
        <p:nvSpPr>
          <p:cNvPr id="5" name="Rectangle 4"/>
          <p:cNvSpPr/>
          <p:nvPr/>
        </p:nvSpPr>
        <p:spPr>
          <a:xfrm>
            <a:off x="731520" y="4125467"/>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Orthocentre of a triangle in 3D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𝐶</m:t>
                    </m:r>
                    <m:r>
                      <m:rPr>
                        <m:sty m:val="p"/>
                      </m:rPr>
                      <a:rPr lang="en-IN" sz="2400">
                        <a:solidFill>
                          <a:srgbClr val="78350F"/>
                        </a:solidFill>
                        <a:latin typeface="Cambria Math" panose="02040503050406030204" pitchFamily="18" charset="0"/>
                      </a:rPr>
                      <m:t>=</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5</m:t>
                        </m:r>
                      </m:e>
                    </m:rad>
                  </m:oMath>
                </a14:m>
                <a:r>
                  <a:rPr sz="2400" b="0">
                    <a:solidFill>
                      <a:srgbClr val="78350F"/>
                    </a:solidFill>
                    <a:latin typeface="Arial"/>
                  </a:rPr>
                  <a:t>, so the altitude from </a:t>
                </a:r>
                <a14:m>
                  <m:oMath xmlns:m="http://schemas.openxmlformats.org/officeDocument/2006/math">
                    <m:r>
                      <a:rPr lang="en-IN" sz="2400" i="1">
                        <a:solidFill>
                          <a:srgbClr val="78350F"/>
                        </a:solidFill>
                        <a:latin typeface="Cambria Math" panose="02040503050406030204" pitchFamily="18" charset="0"/>
                      </a:rPr>
                      <m:t>𝐵</m:t>
                    </m:r>
                  </m:oMath>
                </a14:m>
                <a:r>
                  <a:rPr sz="2400" b="0">
                    <a:solidFill>
                      <a:srgbClr val="78350F"/>
                    </a:solidFill>
                    <a:latin typeface="Arial"/>
                  </a:rPr>
                  <a:t> is the median </a:t>
                </a:r>
                <a14:m>
                  <m:oMath xmlns:m="http://schemas.openxmlformats.org/officeDocument/2006/math">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𝑀</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𝐻</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𝑀</m:t>
                        </m:r>
                      </m:e>
                    </m:acc>
                  </m:oMath>
                </a14:m>
                <a:r>
                  <a:rPr sz="2400" b="0">
                    <a:solidFill>
                      <a:srgbClr val="78350F"/>
                    </a:solidFill>
                    <a:latin typeface="Arial"/>
                  </a:rPr>
                  <a:t> and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𝐻</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𝐶</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fixes </a:t>
                </a:r>
                <a14:m>
                  <m:oMath xmlns:m="http://schemas.openxmlformats.org/officeDocument/2006/math">
                    <m:r>
                      <a:rPr lang="en-IN" sz="2400" i="1">
                        <a:solidFill>
                          <a:srgbClr val="78350F"/>
                        </a:solidFill>
                        <a:latin typeface="Cambria Math" panose="02040503050406030204" pitchFamily="18" charset="0"/>
                      </a:rPr>
                      <m:t>𝑟</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$AB=BC=\sqrt5$</a:t>
                </a:r>
                <a:r>
                  <a:rPr sz="2400" b="0">
                    <a:solidFill>
                      <a:srgbClr val="78350F"/>
                    </a:solidFill>
                    <a:latin typeface="Arial"/>
                  </a:rPr>
                  <a:t>, so the altitude from </a:t>
                </a:r>
                <a:r>
                  <a:rPr lang="en-IN" sz="2400">
                    <a:solidFill>
                      <a:srgbClr val="78350F"/>
                    </a:solidFill>
                    <a:latin typeface="Cambria Math" panose="02040503050406030204" pitchFamily="18" charset="0"/>
                  </a:rPr>
                  <a:t>$B$</a:t>
                </a:r>
                <a:r>
                  <a:rPr sz="2400" b="0">
                    <a:solidFill>
                      <a:srgbClr val="78350F"/>
                    </a:solidFill>
                    <a:latin typeface="Arial"/>
                  </a:rPr>
                  <a:t> is the median </a:t>
                </a:r>
                <a:r>
                  <a:rPr lang="en-IN" sz="2400">
                    <a:solidFill>
                      <a:srgbClr val="78350F"/>
                    </a:solidFill>
                    <a:latin typeface="Cambria Math" panose="02040503050406030204" pitchFamily="18" charset="0"/>
                  </a:rPr>
                  <a:t>$BM$</a:t>
                </a:r>
                <a:r>
                  <a:rPr sz="2400" b="0">
                    <a:solidFill>
                      <a:srgbClr val="78350F"/>
                    </a:solidFill>
                    <a:latin typeface="Arial"/>
                  </a:rPr>
                  <a:t>; </a:t>
                </a:r>
                <a:r>
                  <a:rPr lang="en-IN" sz="2400">
                    <a:solidFill>
                      <a:srgbClr val="78350F"/>
                    </a:solidFill>
                    <a:latin typeface="Cambria Math" panose="02040503050406030204" pitchFamily="18" charset="0"/>
                  </a:rPr>
                  <a:t>$H=B+r\overrightarrow{BM}$</a:t>
                </a:r>
                <a:r>
                  <a:rPr sz="2400" b="0">
                    <a:solidFill>
                      <a:srgbClr val="78350F"/>
                    </a:solidFill>
                    <a:latin typeface="Arial"/>
                  </a:rPr>
                  <a:t> and </a:t>
                </a:r>
                <a:r>
                  <a:rPr lang="en-IN" sz="2400">
                    <a:solidFill>
                      <a:srgbClr val="78350F"/>
                    </a:solidFill>
                    <a:latin typeface="Cambria Math" panose="02040503050406030204" pitchFamily="18" charset="0"/>
                  </a:rPr>
                  <a:t>$\overrightarrow{AH}\cdot\overrightarrow{BC}=0$</a:t>
                </a:r>
                <a:r>
                  <a:rPr sz="2400" b="0">
                    <a:solidFill>
                      <a:srgbClr val="78350F"/>
                    </a:solidFill>
                    <a:latin typeface="Arial"/>
                  </a:rPr>
                  <a:t> fixes </a:t>
                </a:r>
                <a:r>
                  <a:rPr lang="en-IN" sz="2400">
                    <a:solidFill>
                      <a:srgbClr val="78350F"/>
                    </a:solidFill>
                    <a:latin typeface="Cambria Math" panose="02040503050406030204" pitchFamily="18" charset="0"/>
                  </a:rPr>
                  <a:t>$r$</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is the apex of an isosceles triangle and the altitude from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goes to the mid-point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𝐻</m:t>
                    </m:r>
                  </m:oMath>
                </a14:m>
                <a:r>
                  <a:rPr sz="2400" b="0">
                    <a:solidFill>
                      <a:srgbClr val="111827"/>
                    </a:solidFill>
                    <a:latin typeface="Arial"/>
                  </a:rPr>
                  <a:t> lies on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𝑀</m:t>
                    </m:r>
                  </m:oMath>
                </a14:m>
                <a:r>
                  <a:rPr sz="2400" b="0">
                    <a:solidFill>
                      <a:srgbClr val="111827"/>
                    </a:solidFill>
                    <a:latin typeface="Arial"/>
                  </a:rPr>
                  <a:t>: position vector of </a:t>
                </a:r>
                <a14:m>
                  <m:oMath xmlns:m="http://schemas.openxmlformats.org/officeDocument/2006/math">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(since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𝑀</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𝐻</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$AB=\sqrt{4+1}=\sqrt5=BC$</a:t>
                </a:r>
                <a:r>
                  <a:rPr sz="2400" b="0">
                    <a:solidFill>
                      <a:srgbClr val="111827"/>
                    </a:solidFill>
                    <a:latin typeface="Arial"/>
                  </a:rPr>
                  <a:t>, so </a:t>
                </a:r>
                <a:r>
                  <a:rPr lang="en-IN" sz="2400">
                    <a:solidFill>
                      <a:srgbClr val="111827"/>
                    </a:solidFill>
                    <a:latin typeface="Cambria Math" panose="02040503050406030204" pitchFamily="18" charset="0"/>
                  </a:rPr>
                  <a:t>$B$</a:t>
                </a:r>
                <a:r>
                  <a:rPr sz="2400" b="0">
                    <a:solidFill>
                      <a:srgbClr val="111827"/>
                    </a:solidFill>
                    <a:latin typeface="Arial"/>
                  </a:rPr>
                  <a:t> is the apex of an isosceles triangle and the altitude from </a:t>
                </a:r>
                <a:r>
                  <a:rPr lang="en-IN" sz="2400">
                    <a:solidFill>
                      <a:srgbClr val="111827"/>
                    </a:solidFill>
                    <a:latin typeface="Cambria Math" panose="02040503050406030204" pitchFamily="18" charset="0"/>
                  </a:rPr>
                  <a:t>$B$</a:t>
                </a:r>
                <a:r>
                  <a:rPr sz="2400" b="0">
                    <a:solidFill>
                      <a:srgbClr val="111827"/>
                    </a:solidFill>
                    <a:latin typeface="Arial"/>
                  </a:rPr>
                  <a:t> goes to the mid-point </a:t>
                </a:r>
                <a:r>
                  <a:rPr lang="en-IN" sz="2400">
                    <a:solidFill>
                      <a:srgbClr val="111827"/>
                    </a:solidFill>
                    <a:latin typeface="Cambria Math" panose="02040503050406030204" pitchFamily="18" charset="0"/>
                  </a:rPr>
                  <a:t>$M=(1,0,1)$</a:t>
                </a:r>
                <a:r>
                  <a:rPr sz="2400" b="0">
                    <a:solidFill>
                      <a:srgbClr val="111827"/>
                    </a:solidFill>
                    <a:latin typeface="Arial"/>
                  </a:rPr>
                  <a:t> of </a:t>
                </a:r>
                <a:r>
                  <a:rPr lang="en-IN" sz="2400">
                    <a:solidFill>
                      <a:srgbClr val="111827"/>
                    </a:solidFill>
                    <a:latin typeface="Cambria Math" panose="02040503050406030204" pitchFamily="18" charset="0"/>
                  </a:rPr>
                  <a:t>$AC$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a:t>
                </a:r>
                <a:r>
                  <a:rPr sz="2400" b="0">
                    <a:solidFill>
                      <a:srgbClr val="111827"/>
                    </a:solidFill>
                    <a:latin typeface="Arial"/>
                  </a:rPr>
                  <a:t> lies on </a:t>
                </a:r>
                <a:r>
                  <a:rPr lang="en-IN" sz="2400">
                    <a:solidFill>
                      <a:srgbClr val="111827"/>
                    </a:solidFill>
                    <a:latin typeface="Cambria Math" panose="02040503050406030204" pitchFamily="18" charset="0"/>
                  </a:rPr>
                  <a:t>$BM$</a:t>
                </a:r>
                <a:r>
                  <a:rPr sz="2400" b="0">
                    <a:solidFill>
                      <a:srgbClr val="111827"/>
                    </a:solidFill>
                    <a:latin typeface="Arial"/>
                  </a:rPr>
                  <a:t>: position vector of </a:t>
                </a:r>
                <a:r>
                  <a:rPr lang="en-IN" sz="2400">
                    <a:solidFill>
                      <a:srgbClr val="111827"/>
                    </a:solidFill>
                    <a:latin typeface="Cambria Math" panose="02040503050406030204" pitchFamily="18" charset="0"/>
                  </a:rPr>
                  <a:t>$H=\hat j+r(\hat i-\hat j+\hat k)$</a:t>
                </a:r>
                <a:r>
                  <a:rPr sz="2400" b="0">
                    <a:solidFill>
                      <a:srgbClr val="111827"/>
                    </a:solidFill>
                    <a:latin typeface="Arial"/>
                  </a:rPr>
                  <a:t> (since </a:t>
                </a:r>
                <a:r>
                  <a:rPr lang="en-IN" sz="2400">
                    <a:solidFill>
                      <a:srgbClr val="111827"/>
                    </a:solidFill>
                    <a:latin typeface="Cambria Math" panose="02040503050406030204" pitchFamily="18" charset="0"/>
                  </a:rPr>
                  <a:t>$\overrightarrow{BM}=(1,-1,1)$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$\overrightarrow{AH}=(r-2)\hat i+(1-r)\hat j+r\hat k$</a:t>
                </a:r>
                <a:r>
                  <a:rPr sz="2400" b="0">
                    <a:solidFill>
                      <a:srgbClr val="111827"/>
                    </a:solidFill>
                    <a:latin typeface="Arial"/>
                  </a:rPr>
                  <a:t> and </a:t>
                </a:r>
                <a:r>
                  <a:rPr lang="en-IN" sz="2400">
                    <a:solidFill>
                      <a:srgbClr val="111827"/>
                    </a:solidFill>
                    <a:latin typeface="Cambria Math" panose="02040503050406030204" pitchFamily="18" charset="0"/>
                  </a:rPr>
                  <a:t>$\overrightarrow{BC}=-\hat j+2\hat k$</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𝐻</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so the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-coordinate of </a:t>
                </a:r>
                <a14:m>
                  <m:oMath xmlns:m="http://schemas.openxmlformats.org/officeDocument/2006/math">
                    <m:r>
                      <a:rPr lang="en-IN" sz="2400" i="1">
                        <a:solidFill>
                          <a:srgbClr val="111827"/>
                        </a:solidFill>
                        <a:latin typeface="Cambria Math" panose="02040503050406030204" pitchFamily="18" charset="0"/>
                      </a:rPr>
                      <m:t>𝐻</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option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$\overrightarrow{AH}\cdot\overrightarrow{BC}=0\Rightarrow-(1-r)+2r=0\Rightarrow r-1+2r=0\Rightarrow r=\frac13$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$H=\left(\frac13,\frac23,\frac13\right)$</a:t>
                </a:r>
                <a:r>
                  <a:rPr sz="2400" b="0">
                    <a:solidFill>
                      <a:srgbClr val="111827"/>
                    </a:solidFill>
                    <a:latin typeface="Arial"/>
                  </a:rPr>
                  <a:t>, so the </a:t>
                </a:r>
                <a:r>
                  <a:rPr lang="en-IN" sz="2400">
                    <a:solidFill>
                      <a:srgbClr val="111827"/>
                    </a:solidFill>
                    <a:latin typeface="Cambria Math" panose="02040503050406030204" pitchFamily="18" charset="0"/>
                  </a:rPr>
                  <a:t>$z$</a:t>
                </a:r>
                <a:r>
                  <a:rPr sz="2400" b="0">
                    <a:solidFill>
                      <a:srgbClr val="111827"/>
                    </a:solidFill>
                    <a:latin typeface="Arial"/>
                  </a:rPr>
                  <a:t>-coordinate of </a:t>
                </a:r>
                <a:r>
                  <a:rPr lang="en-IN" sz="2400">
                    <a:solidFill>
                      <a:srgbClr val="111827"/>
                    </a:solidFill>
                    <a:latin typeface="Cambria Math" panose="02040503050406030204" pitchFamily="18" charset="0"/>
                  </a:rPr>
                  <a:t>$H$</a:t>
                </a:r>
                <a:r>
                  <a:rPr sz="2400" b="0">
                    <a:solidFill>
                      <a:srgbClr val="111827"/>
                    </a:solidFill>
                    <a:latin typeface="Arial"/>
                  </a:rPr>
                  <a:t> is </a:t>
                </a:r>
                <a:r>
                  <a:rPr lang="en-IN" sz="2400">
                    <a:solidFill>
                      <a:srgbClr val="111827"/>
                    </a:solidFill>
                    <a:latin typeface="Cambria Math" panose="02040503050406030204" pitchFamily="18" charset="0"/>
                  </a:rPr>
                  <a:t>$\frac13$</a:t>
                </a:r>
                <a:r>
                  <a:rPr sz="2400" b="0">
                    <a:solidFill>
                      <a:srgbClr val="111827"/>
                    </a:solidFill>
                    <a:latin typeface="Arial"/>
                  </a:rPr>
                  <a:t>: option (D).</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r>
                          <a:rPr lang="en-IN" sz="2800" i="1">
                            <a:solidFill>
                              <a:srgbClr val="15803D"/>
                            </a:solidFill>
                            <a:latin typeface="Cambria Math" panose="02040503050406030204" pitchFamily="18" charset="0"/>
                          </a:rPr>
                          <m:t>3</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r>
                  <a:rPr lang="en-IN" sz="2800">
                    <a:solidFill>
                      <a:srgbClr val="15803D"/>
                    </a:solidFill>
                    <a:latin typeface="Cambria Math" panose="02040503050406030204" pitchFamily="18" charset="0"/>
                  </a:rPr>
                  <a:t>$\frac13$</a:t>
                </a:r>
                <a:endParaRPr sz="2800">
                  <a:solidFill>
                    <a:srgbClr val="15803D"/>
                  </a:solidFill>
                </a:endParaRPr>
              </a:p>
            </p:txBody>
          </p:sp>
        </mc:Fallback>
      </mc:AlternateContent>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Solve for </a:t>
                </a:r>
                <a14:m>
                  <m:oMath xmlns:m="http://schemas.openxmlformats.org/officeDocument/2006/math">
                    <m:r>
                      <a:rPr lang="en-IN" sz="2400" i="1">
                        <a:solidFill>
                          <a:srgbClr val="78350F"/>
                        </a:solidFill>
                        <a:latin typeface="Cambria Math" panose="02040503050406030204" pitchFamily="18" charset="0"/>
                      </a:rPr>
                      <m:t>𝐻</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from two perpendicularity conditions and the plane of the triangle.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Solve for </a:t>
                </a:r>
                <a:r>
                  <a:rPr lang="en-IN" sz="2400">
                    <a:solidFill>
                      <a:srgbClr val="78350F"/>
                    </a:solidFill>
                    <a:latin typeface="Cambria Math" panose="02040503050406030204" pitchFamily="18" charset="0"/>
                  </a:rPr>
                  <a:t>$H=(x,y,z)$</a:t>
                </a:r>
                <a:r>
                  <a:rPr sz="2400" b="0">
                    <a:solidFill>
                      <a:srgbClr val="78350F"/>
                    </a:solidFill>
                    <a:latin typeface="Arial"/>
                  </a:rPr>
                  <a:t> from two perpendicularity conditions and the plane of the triangle.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plane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𝐻</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𝐻</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Plane: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and the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-coordinate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plane </a:t>
                </a:r>
                <a:r>
                  <a:rPr lang="en-IN" sz="2400">
                    <a:solidFill>
                      <a:srgbClr val="111827"/>
                    </a:solidFill>
                    <a:latin typeface="Cambria Math" panose="02040503050406030204" pitchFamily="18" charset="0"/>
                  </a:rPr>
                  <a:t>$ABC$</a:t>
                </a:r>
                <a:r>
                  <a:rPr sz="2400" b="0">
                    <a:solidFill>
                      <a:srgbClr val="111827"/>
                    </a:solidFill>
                    <a:latin typeface="Arial"/>
                  </a:rPr>
                  <a:t> is </a:t>
                </a:r>
                <a:r>
                  <a:rPr lang="en-IN" sz="2400">
                    <a:solidFill>
                      <a:srgbClr val="111827"/>
                    </a:solidFill>
                    <a:latin typeface="Cambria Math" panose="02040503050406030204" pitchFamily="18" charset="0"/>
                  </a:rPr>
                  <a:t>$\frac x2+y+\frac z2=1$</a:t>
                </a:r>
                <a:r>
                  <a:rPr sz="2400" b="0">
                    <a:solidFill>
                      <a:srgbClr val="111827"/>
                    </a:solidFill>
                    <a:latin typeface="Arial"/>
                  </a:rPr>
                  <a:t>, i.e. </a:t>
                </a:r>
                <a:r>
                  <a:rPr lang="en-IN" sz="2400">
                    <a:solidFill>
                      <a:srgbClr val="111827"/>
                    </a:solidFill>
                    <a:latin typeface="Cambria Math" panose="02040503050406030204" pitchFamily="18" charset="0"/>
                  </a:rPr>
                  <a:t>$x+2y+z=2$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$\overrightarrow{BH}\cdot\overrightarrow{AC}=0$</a:t>
                </a:r>
                <a:r>
                  <a:rPr sz="2400" b="0">
                    <a:solidFill>
                      <a:srgbClr val="111827"/>
                    </a:solidFill>
                    <a:latin typeface="Arial"/>
                  </a:rPr>
                  <a:t>: </a:t>
                </a:r>
                <a:r>
                  <a:rPr lang="en-IN" sz="2400">
                    <a:solidFill>
                      <a:srgbClr val="111827"/>
                    </a:solidFill>
                    <a:latin typeface="Cambria Math" panose="02040503050406030204" pitchFamily="18" charset="0"/>
                  </a:rPr>
                  <a:t>$(x,y-1,z)\cdot(-2,0,2)=0\Rightarrow z=x$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$\overrightarrow{AH}\cdot\overrightarrow{BC}=0$</a:t>
                </a:r>
                <a:r>
                  <a:rPr sz="2400" b="0">
                    <a:solidFill>
                      <a:srgbClr val="111827"/>
                    </a:solidFill>
                    <a:latin typeface="Arial"/>
                  </a:rPr>
                  <a:t>: </a:t>
                </a:r>
                <a:r>
                  <a:rPr lang="en-IN" sz="2400">
                    <a:solidFill>
                      <a:srgbClr val="111827"/>
                    </a:solidFill>
                    <a:latin typeface="Cambria Math" panose="02040503050406030204" pitchFamily="18" charset="0"/>
                  </a:rPr>
                  <a:t>$(x-2,y,z)\cdot(0,-1,2)=0\Rightarrow-y+2z=0\Rightarrow y=2z$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Plane: </a:t>
                </a:r>
                <a:r>
                  <a:rPr lang="en-IN" sz="2400">
                    <a:solidFill>
                      <a:srgbClr val="111827"/>
                    </a:solidFill>
                    <a:latin typeface="Cambria Math" panose="02040503050406030204" pitchFamily="18" charset="0"/>
                  </a:rPr>
                  <a:t>$z+4z+z=2\Rightarrow z=\frac13$</a:t>
                </a:r>
                <a:r>
                  <a:rPr sz="2400" b="0">
                    <a:solidFill>
                      <a:srgbClr val="111827"/>
                    </a:solidFill>
                    <a:latin typeface="Arial"/>
                  </a:rPr>
                  <a:t>; so </a:t>
                </a:r>
                <a:r>
                  <a:rPr lang="en-IN" sz="2400">
                    <a:solidFill>
                      <a:srgbClr val="111827"/>
                    </a:solidFill>
                    <a:latin typeface="Cambria Math" panose="02040503050406030204" pitchFamily="18" charset="0"/>
                  </a:rPr>
                  <a:t>$H=\left(\frac13,\frac23,\frac13\right)$</a:t>
                </a:r>
                <a:r>
                  <a:rPr sz="2400" b="0">
                    <a:solidFill>
                      <a:srgbClr val="111827"/>
                    </a:solidFill>
                    <a:latin typeface="Arial"/>
                  </a:rPr>
                  <a:t> and the </a:t>
                </a:r>
                <a:r>
                  <a:rPr lang="en-IN" sz="2400">
                    <a:solidFill>
                      <a:srgbClr val="111827"/>
                    </a:solidFill>
                    <a:latin typeface="Cambria Math" panose="02040503050406030204" pitchFamily="18" charset="0"/>
                  </a:rPr>
                  <a:t>$z$</a:t>
                </a:r>
                <a:r>
                  <a:rPr sz="2400" b="0">
                    <a:solidFill>
                      <a:srgbClr val="111827"/>
                    </a:solidFill>
                    <a:latin typeface="Arial"/>
                  </a:rPr>
                  <a:t>-coordinate is </a:t>
                </a:r>
                <a:r>
                  <a:rPr lang="en-IN" sz="2400">
                    <a:solidFill>
                      <a:srgbClr val="111827"/>
                    </a:solidFill>
                    <a:latin typeface="Cambria Math" panose="02040503050406030204" pitchFamily="18" charset="0"/>
                  </a:rPr>
                  <a:t>$\frac13$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r>
                          <a:rPr lang="en-IN" sz="2800" i="1">
                            <a:solidFill>
                              <a:srgbClr val="15803D"/>
                            </a:solidFill>
                            <a:latin typeface="Cambria Math" panose="02040503050406030204" pitchFamily="18" charset="0"/>
                          </a:rPr>
                          <m:t>3</m:t>
                        </m:r>
                      </m:den>
                    </m:f>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r>
                  <a:rPr lang="en-IN" sz="2800">
                    <a:solidFill>
                      <a:srgbClr val="15803D"/>
                    </a:solidFill>
                    <a:latin typeface="Cambria Math" panose="02040503050406030204" pitchFamily="18" charset="0"/>
                  </a:rPr>
                  <a:t>$\frac13$</a:t>
                </a:r>
                <a:endParaRPr sz="2800">
                  <a:solidFill>
                    <a:srgbClr val="15803D"/>
                  </a:solidFill>
                </a:endParaRPr>
              </a:p>
            </p:txBody>
          </p:sp>
        </mc:Fallback>
      </mc:AlternateContent>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triangle with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the orthocentre, centroid and circumcentre all lie on the median from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(the axis of symmetry).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Orthocentre </a:t>
                </a:r>
                <a14:m>
                  <m:oMath xmlns:m="http://schemas.openxmlformats.org/officeDocument/2006/math">
                    <m:r>
                      <a:rPr lang="en-IN" sz="2400" i="1">
                        <a:solidFill>
                          <a:srgbClr val="111827"/>
                        </a:solidFill>
                        <a:latin typeface="Cambria Math" panose="02040503050406030204" pitchFamily="18" charset="0"/>
                      </a:rPr>
                      <m:t>𝐻</m:t>
                    </m:r>
                  </m:oMath>
                </a14:m>
                <a:r>
                  <a:rPr sz="2400" b="0">
                    <a:solidFill>
                      <a:srgbClr val="111827"/>
                    </a:solidFill>
                    <a:latin typeface="Arial"/>
                  </a:rPr>
                  <a:t> satisfies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𝐻</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𝐻</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𝐴</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(two of the three altitude conditions) and lies in the plane of the triangle.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Euler line: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𝐻</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𝐺</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𝑆</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centroid,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circumcentre).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triangle with </a:t>
                </a:r>
                <a:r>
                  <a:rPr lang="en-IN" sz="2400">
                    <a:solidFill>
                      <a:srgbClr val="111827"/>
                    </a:solidFill>
                    <a:latin typeface="Cambria Math" panose="02040503050406030204" pitchFamily="18" charset="0"/>
                  </a:rPr>
                  <a:t>$AB=BC$</a:t>
                </a:r>
                <a:r>
                  <a:rPr sz="2400" b="0">
                    <a:solidFill>
                      <a:srgbClr val="111827"/>
                    </a:solidFill>
                    <a:latin typeface="Arial"/>
                  </a:rPr>
                  <a:t> the orthocentre, centroid and circumcentre all lie on the median from </a:t>
                </a:r>
                <a:r>
                  <a:rPr lang="en-IN" sz="2400">
                    <a:solidFill>
                      <a:srgbClr val="111827"/>
                    </a:solidFill>
                    <a:latin typeface="Cambria Math" panose="02040503050406030204" pitchFamily="18" charset="0"/>
                  </a:rPr>
                  <a:t>$B$</a:t>
                </a:r>
                <a:r>
                  <a:rPr sz="2400" b="0">
                    <a:solidFill>
                      <a:srgbClr val="111827"/>
                    </a:solidFill>
                    <a:latin typeface="Arial"/>
                  </a:rPr>
                  <a:t> (the axis of symmetry).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Orthocentre </a:t>
                </a:r>
                <a:r>
                  <a:rPr lang="en-IN" sz="2400">
                    <a:solidFill>
                      <a:srgbClr val="111827"/>
                    </a:solidFill>
                    <a:latin typeface="Cambria Math" panose="02040503050406030204" pitchFamily="18" charset="0"/>
                  </a:rPr>
                  <a:t>$H$</a:t>
                </a:r>
                <a:r>
                  <a:rPr sz="2400" b="0">
                    <a:solidFill>
                      <a:srgbClr val="111827"/>
                    </a:solidFill>
                    <a:latin typeface="Arial"/>
                  </a:rPr>
                  <a:t> satisfies </a:t>
                </a:r>
                <a:r>
                  <a:rPr lang="en-IN" sz="2400">
                    <a:solidFill>
                      <a:srgbClr val="111827"/>
                    </a:solidFill>
                    <a:latin typeface="Cambria Math" panose="02040503050406030204" pitchFamily="18" charset="0"/>
                  </a:rPr>
                  <a:t>$\overrightarrow{AH}\cdot\overrightarrow{BC}=0$</a:t>
                </a:r>
                <a:r>
                  <a:rPr sz="2400" b="0">
                    <a:solidFill>
                      <a:srgbClr val="111827"/>
                    </a:solidFill>
                    <a:latin typeface="Arial"/>
                  </a:rPr>
                  <a:t>, </a:t>
                </a:r>
                <a:r>
                  <a:rPr lang="en-IN" sz="2400">
                    <a:solidFill>
                      <a:srgbClr val="111827"/>
                    </a:solidFill>
                    <a:latin typeface="Cambria Math" panose="02040503050406030204" pitchFamily="18" charset="0"/>
                  </a:rPr>
                  <a:t>$\overrightarrow{BH}\cdot\overrightarrow{CA}=0$</a:t>
                </a:r>
                <a:r>
                  <a:rPr sz="2400" b="0">
                    <a:solidFill>
                      <a:srgbClr val="111827"/>
                    </a:solidFill>
                    <a:latin typeface="Arial"/>
                  </a:rPr>
                  <a:t> (two of the three altitude conditions) and lies in the plane of the triangle.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Euler line: </a:t>
                </a:r>
                <a:r>
                  <a:rPr lang="en-IN" sz="2400">
                    <a:solidFill>
                      <a:srgbClr val="111827"/>
                    </a:solidFill>
                    <a:latin typeface="Cambria Math" panose="02040503050406030204" pitchFamily="18" charset="0"/>
                  </a:rPr>
                  <a:t>$\vec H=3\vec G-2\vec S$</a:t>
                </a:r>
                <a:r>
                  <a:rPr sz="2400" b="0">
                    <a:solidFill>
                      <a:srgbClr val="111827"/>
                    </a:solidFill>
                    <a:latin typeface="Arial"/>
                  </a:rPr>
                  <a:t> (</a:t>
                </a:r>
                <a:r>
                  <a:rPr lang="en-IN" sz="2400">
                    <a:solidFill>
                      <a:srgbClr val="111827"/>
                    </a:solidFill>
                    <a:latin typeface="Cambria Math" panose="02040503050406030204" pitchFamily="18" charset="0"/>
                  </a:rPr>
                  <a:t>$G$</a:t>
                </a:r>
                <a:r>
                  <a:rPr sz="2400" b="0">
                    <a:solidFill>
                      <a:srgbClr val="111827"/>
                    </a:solidFill>
                    <a:latin typeface="Arial"/>
                  </a:rPr>
                  <a:t> centroid, </a:t>
                </a:r>
                <a:r>
                  <a:rPr lang="en-IN" sz="2400">
                    <a:solidFill>
                      <a:srgbClr val="111827"/>
                    </a:solidFill>
                    <a:latin typeface="Cambria Math" panose="02040503050406030204" pitchFamily="18" charset="0"/>
                  </a:rPr>
                  <a:t>$S$</a:t>
                </a:r>
                <a:r>
                  <a:rPr sz="2400" b="0">
                    <a:solidFill>
                      <a:srgbClr val="111827"/>
                    </a:solidFill>
                    <a:latin typeface="Arial"/>
                  </a:rPr>
                  <a:t> circumcentre).</a:t>
                </a:r>
                <a:endParaRPr sz="2400">
                  <a:solidFill>
                    <a:srgbClr val="111827"/>
                  </a:solidFill>
                </a:endParaRPr>
              </a:p>
            </p:txBody>
          </p:sp>
        </mc:Fallback>
      </mc:AlternateContent>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vertices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are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Its orthocentre is </a:t>
                </a:r>
                <a14:m>
                  <m:oMath xmlns:m="http://schemas.openxmlformats.org/officeDocument/2006/math">
                    <m:r>
                      <a:rPr lang="en-IN" sz="2400" i="1">
                        <a:solidFill>
                          <a:srgbClr val="111827"/>
                        </a:solidFill>
                        <a:latin typeface="Cambria Math" panose="02040503050406030204" pitchFamily="18" charset="0"/>
                      </a:rPr>
                      <m:t>𝐻</m:t>
                    </m:r>
                  </m:oMath>
                </a14:m>
                <a:r>
                  <a:rPr sz="2400" b="0">
                    <a:solidFill>
                      <a:srgbClr val="111827"/>
                    </a:solidFill>
                    <a:latin typeface="Arial"/>
                  </a:rPr>
                  <a:t> and circumcentre is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 point equidistant from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and the origin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-coordinate of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endParaRPr sz="2400">
                  <a:solidFill>
                    <a:srgbClr val="111827"/>
                  </a:solidFill>
                </a:endParaRPr>
              </a:p>
            </p:txBody>
          </p:sp>
        </mc:Choice>
        <mc:Fallback>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vertices of </a:t>
                </a:r>
                <a:r>
                  <a:rPr lang="en-IN" sz="2400">
                    <a:solidFill>
                      <a:srgbClr val="111827"/>
                    </a:solidFill>
                    <a:latin typeface="Cambria Math" panose="02040503050406030204" pitchFamily="18" charset="0"/>
                  </a:rPr>
                  <a:t>$\triangle ABC$</a:t>
                </a:r>
                <a:r>
                  <a:rPr sz="2400" b="0">
                    <a:solidFill>
                      <a:srgbClr val="111827"/>
                    </a:solidFill>
                    <a:latin typeface="Arial"/>
                  </a:rPr>
                  <a:t> are </a:t>
                </a:r>
                <a:r>
                  <a:rPr lang="en-IN" sz="2400">
                    <a:solidFill>
                      <a:srgbClr val="111827"/>
                    </a:solidFill>
                    <a:latin typeface="Cambria Math" panose="02040503050406030204" pitchFamily="18" charset="0"/>
                  </a:rPr>
                  <a:t>$A(2,0,0)$</a:t>
                </a:r>
                <a:r>
                  <a:rPr sz="2400" b="0">
                    <a:solidFill>
                      <a:srgbClr val="111827"/>
                    </a:solidFill>
                    <a:latin typeface="Arial"/>
                  </a:rPr>
                  <a:t>, </a:t>
                </a:r>
                <a:r>
                  <a:rPr lang="en-IN" sz="2400">
                    <a:solidFill>
                      <a:srgbClr val="111827"/>
                    </a:solidFill>
                    <a:latin typeface="Cambria Math" panose="02040503050406030204" pitchFamily="18" charset="0"/>
                  </a:rPr>
                  <a:t>$B(0,1,0)$</a:t>
                </a:r>
                <a:r>
                  <a:rPr sz="2400" b="0">
                    <a:solidFill>
                      <a:srgbClr val="111827"/>
                    </a:solidFill>
                    <a:latin typeface="Arial"/>
                  </a:rPr>
                  <a:t>, </a:t>
                </a:r>
                <a:r>
                  <a:rPr lang="en-IN" sz="2400">
                    <a:solidFill>
                      <a:srgbClr val="111827"/>
                    </a:solidFill>
                    <a:latin typeface="Cambria Math" panose="02040503050406030204" pitchFamily="18" charset="0"/>
                  </a:rPr>
                  <a:t>$C(0,0,2)$</a:t>
                </a:r>
                <a:r>
                  <a:rPr sz="2400" b="0">
                    <a:solidFill>
                      <a:srgbClr val="111827"/>
                    </a:solidFill>
                    <a:latin typeface="Arial"/>
                  </a:rPr>
                  <a:t>. Its orthocentre is </a:t>
                </a:r>
                <a:r>
                  <a:rPr lang="en-IN" sz="2400">
                    <a:solidFill>
                      <a:srgbClr val="111827"/>
                    </a:solidFill>
                    <a:latin typeface="Cambria Math" panose="02040503050406030204" pitchFamily="18" charset="0"/>
                  </a:rPr>
                  <a:t>$H$</a:t>
                </a:r>
                <a:r>
                  <a:rPr sz="2400" b="0">
                    <a:solidFill>
                      <a:srgbClr val="111827"/>
                    </a:solidFill>
                    <a:latin typeface="Arial"/>
                  </a:rPr>
                  <a:t> and circumcentre is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$P$</a:t>
                </a:r>
                <a:r>
                  <a:rPr sz="2400" b="0">
                    <a:solidFill>
                      <a:srgbClr val="111827"/>
                    </a:solidFill>
                    <a:latin typeface="Arial"/>
                  </a:rPr>
                  <a:t> is a point equidistant from </a:t>
                </a:r>
                <a:r>
                  <a:rPr lang="en-IN" sz="2400">
                    <a:solidFill>
                      <a:srgbClr val="111827"/>
                    </a:solidFill>
                    <a:latin typeface="Cambria Math" panose="02040503050406030204" pitchFamily="18" charset="0"/>
                  </a:rPr>
                  <a:t>$A,B,C$</a:t>
                </a:r>
                <a:r>
                  <a:rPr sz="2400" b="0">
                    <a:solidFill>
                      <a:srgbClr val="111827"/>
                    </a:solidFill>
                    <a:latin typeface="Arial"/>
                  </a:rPr>
                  <a:t> and the origin </a:t>
                </a:r>
                <a:r>
                  <a:rPr lang="en-IN" sz="2400">
                    <a:solidFill>
                      <a:srgbClr val="111827"/>
                    </a:solidFill>
                    <a:latin typeface="Cambria Math" panose="02040503050406030204" pitchFamily="18" charset="0"/>
                  </a:rPr>
                  <a:t>$O$</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a:t>
                </a:r>
                <a:r>
                  <a:rPr lang="en-IN" sz="2400">
                    <a:solidFill>
                      <a:srgbClr val="111827"/>
                    </a:solidFill>
                    <a:latin typeface="Cambria Math" panose="02040503050406030204" pitchFamily="18" charset="0"/>
                  </a:rPr>
                  <a:t>$y$</a:t>
                </a:r>
                <a:r>
                  <a:rPr sz="2400" b="0">
                    <a:solidFill>
                      <a:srgbClr val="111827"/>
                    </a:solidFill>
                    <a:latin typeface="Arial"/>
                  </a:rPr>
                  <a:t>-coordinate of </a:t>
                </a:r>
                <a:r>
                  <a:rPr lang="en-IN" sz="2400">
                    <a:solidFill>
                      <a:srgbClr val="111827"/>
                    </a:solidFill>
                    <a:latin typeface="Cambria Math" panose="02040503050406030204" pitchFamily="18" charset="0"/>
                  </a:rPr>
                  <a:t>$S$</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$\frac56$</a:t>
                </a:r>
                <a:r>
                  <a:rPr sz="2400" b="0">
                    <a:solidFill>
                      <a:srgbClr val="111827"/>
                    </a:solidFill>
                    <a:latin typeface="Arial"/>
                  </a:rPr>
                  <a:t>   (B) </a:t>
                </a:r>
                <a:r>
                  <a:rPr lang="en-IN" sz="2400">
                    <a:solidFill>
                      <a:srgbClr val="111827"/>
                    </a:solidFill>
                    <a:latin typeface="Cambria Math" panose="02040503050406030204" pitchFamily="18" charset="0"/>
                  </a:rPr>
                  <a:t>$\frac13$</a:t>
                </a:r>
                <a:r>
                  <a:rPr sz="2400" b="0">
                    <a:solidFill>
                      <a:srgbClr val="111827"/>
                    </a:solidFill>
                    <a:latin typeface="Arial"/>
                  </a:rPr>
                  <a:t>   (C) </a:t>
                </a:r>
                <a:r>
                  <a:rPr lang="en-IN" sz="2400">
                    <a:solidFill>
                      <a:srgbClr val="111827"/>
                    </a:solidFill>
                    <a:latin typeface="Cambria Math" panose="02040503050406030204" pitchFamily="18" charset="0"/>
                  </a:rPr>
                  <a:t>$\frac16$</a:t>
                </a:r>
                <a:r>
                  <a:rPr sz="2400" b="0">
                    <a:solidFill>
                      <a:srgbClr val="111827"/>
                    </a:solidFill>
                    <a:latin typeface="Arial"/>
                  </a:rPr>
                  <a:t>   (D) </a:t>
                </a:r>
                <a:r>
                  <a:rPr lang="en-IN" sz="2400">
                    <a:solidFill>
                      <a:srgbClr val="111827"/>
                    </a:solidFill>
                    <a:latin typeface="Cambria Math" panose="02040503050406030204" pitchFamily="18" charset="0"/>
                  </a:rPr>
                  <a:t>$\frac12$</a:t>
                </a:r>
                <a:endParaRPr sz="2400">
                  <a:solidFill>
                    <a:srgbClr val="111827"/>
                  </a:solidFill>
                </a:endParaRPr>
              </a:p>
            </p:txBody>
          </p:sp>
        </mc:Fallback>
      </mc:AlternateContent>
      <p:sp>
        <p:nvSpPr>
          <p:cNvPr id="5" name="Rectangle 4"/>
          <p:cNvSpPr/>
          <p:nvPr/>
        </p:nvSpPr>
        <p:spPr>
          <a:xfrm>
            <a:off x="731520" y="4125467"/>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Circumcentre of a triangle in 3D (Euler line)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84734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Euler line: </a:t>
                </a:r>
                <a14:m>
                  <m:oMath xmlns:m="http://schemas.openxmlformats.org/officeDocument/2006/math">
                    <m:r>
                      <a:rPr lang="en-IN" sz="2400" i="1">
                        <a:solidFill>
                          <a:srgbClr val="78350F"/>
                        </a:solidFill>
                        <a:latin typeface="Cambria Math" panose="02040503050406030204" pitchFamily="18" charset="0"/>
                      </a:rPr>
                      <m:t>𝐻</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𝐺</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𝑆</m:t>
                    </m:r>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𝐺</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𝐻</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84734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Euler line: </a:t>
                </a:r>
                <a:r>
                  <a:rPr lang="en-IN" sz="2400">
                    <a:solidFill>
                      <a:srgbClr val="78350F"/>
                    </a:solidFill>
                    <a:latin typeface="Cambria Math" panose="02040503050406030204" pitchFamily="18" charset="0"/>
                  </a:rPr>
                  <a:t>$H=3G-2S$</a:t>
                </a:r>
                <a:r>
                  <a:rPr sz="2400" b="0">
                    <a:solidFill>
                      <a:srgbClr val="78350F"/>
                    </a:solidFill>
                    <a:latin typeface="Arial"/>
                  </a:rPr>
                  <a:t>, so </a:t>
                </a:r>
                <a:r>
                  <a:rPr lang="en-IN" sz="2400">
                    <a:solidFill>
                      <a:srgbClr val="78350F"/>
                    </a:solidFill>
                    <a:latin typeface="Cambria Math" panose="02040503050406030204" pitchFamily="18" charset="0"/>
                  </a:rPr>
                  <a:t>$S=\frac{3G-H}{2}$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264664"/>
                <a:ext cx="10725912" cy="441045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Position vector of </a:t>
                </a:r>
                <a14:m>
                  <m:oMath xmlns:m="http://schemas.openxmlformats.org/officeDocument/2006/math">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Position vector of the centroid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𝐻</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are collinear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𝐻</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𝐺</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𝑆</m:t>
                        </m:r>
                      </m:e>
                    </m:acc>
                  </m:oMath>
                </a14:m>
                <a:r>
                  <a:rPr sz="2400" b="0">
                    <a:solidFill>
                      <a:srgbClr val="111827"/>
                    </a:solidFill>
                    <a:latin typeface="Arial"/>
                  </a:rPr>
                  <a:t>, so position vector of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𝐺</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𝐻</m:t>
                            </m:r>
                          </m:e>
                        </m:acc>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264664"/>
                <a:ext cx="10725912" cy="441045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Position vector of </a:t>
                </a:r>
                <a:r>
                  <a:rPr lang="en-IN" sz="2400">
                    <a:solidFill>
                      <a:srgbClr val="111827"/>
                    </a:solidFill>
                    <a:latin typeface="Cambria Math" panose="02040503050406030204" pitchFamily="18" charset="0"/>
                  </a:rPr>
                  <a:t>$H=\frac{\hat i}{3}+\frac{2\hat j}{3}+\frac{\hat k}{3}$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Position vector of the centroid </a:t>
                </a:r>
                <a:r>
                  <a:rPr lang="en-IN" sz="2400">
                    <a:solidFill>
                      <a:srgbClr val="111827"/>
                    </a:solidFill>
                    <a:latin typeface="Cambria Math" panose="02040503050406030204" pitchFamily="18" charset="0"/>
                  </a:rPr>
                  <a:t>$G=\frac{2\hat i}{3}+\frac{\hat j}{3}+\frac{2\hat k}{3}$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a:t>
                </a:r>
                <a:r>
                  <a:rPr sz="2400" b="0">
                    <a:solidFill>
                      <a:srgbClr val="111827"/>
                    </a:solidFill>
                    <a:latin typeface="Arial"/>
                  </a:rPr>
                  <a:t>, </a:t>
                </a:r>
                <a:r>
                  <a:rPr lang="en-IN" sz="2400">
                    <a:solidFill>
                      <a:srgbClr val="111827"/>
                    </a:solidFill>
                    <a:latin typeface="Cambria Math" panose="02040503050406030204" pitchFamily="18" charset="0"/>
                  </a:rPr>
                  <a:t>$G$</a:t>
                </a:r>
                <a:r>
                  <a:rPr sz="2400" b="0">
                    <a:solidFill>
                      <a:srgbClr val="111827"/>
                    </a:solidFill>
                    <a:latin typeface="Arial"/>
                  </a:rPr>
                  <a:t>, </a:t>
                </a:r>
                <a:r>
                  <a:rPr lang="en-IN" sz="2400">
                    <a:solidFill>
                      <a:srgbClr val="111827"/>
                    </a:solidFill>
                    <a:latin typeface="Cambria Math" panose="02040503050406030204" pitchFamily="18" charset="0"/>
                  </a:rPr>
                  <a:t>$S$</a:t>
                </a:r>
                <a:r>
                  <a:rPr sz="2400" b="0">
                    <a:solidFill>
                      <a:srgbClr val="111827"/>
                    </a:solidFill>
                    <a:latin typeface="Arial"/>
                  </a:rPr>
                  <a:t> are collinear with </a:t>
                </a:r>
                <a:r>
                  <a:rPr lang="en-IN" sz="2400">
                    <a:solidFill>
                      <a:srgbClr val="111827"/>
                    </a:solidFill>
                    <a:latin typeface="Cambria Math" panose="02040503050406030204" pitchFamily="18" charset="0"/>
                  </a:rPr>
                  <a:t>$\vec H=3\vec G-2\vec S$</a:t>
                </a:r>
                <a:r>
                  <a:rPr sz="2400" b="0">
                    <a:solidFill>
                      <a:srgbClr val="111827"/>
                    </a:solidFill>
                    <a:latin typeface="Arial"/>
                  </a:rPr>
                  <a:t>, so position vector of </a:t>
                </a:r>
                <a:r>
                  <a:rPr lang="en-IN" sz="2400">
                    <a:solidFill>
                      <a:srgbClr val="111827"/>
                    </a:solidFill>
                    <a:latin typeface="Cambria Math" panose="02040503050406030204" pitchFamily="18" charset="0"/>
                  </a:rPr>
                  <a:t>$S=\frac{3\vec G-\vec H}{2}$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𝐺</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𝐻</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6</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-coordinate of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option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$3\vec G-\vec H=\left(2-\frac13,\ 1-\frac23,\ 2-\frac13\right)=\left(\frac53,\frac13,\frac53\right)$</a:t>
                </a:r>
                <a:r>
                  <a:rPr sz="2400" b="0">
                    <a:solidFill>
                      <a:srgbClr val="111827"/>
                    </a:solidFill>
                    <a:latin typeface="Arial"/>
                  </a:rPr>
                  <a:t>, so </a:t>
                </a:r>
                <a:r>
                  <a:rPr lang="en-IN" sz="2400">
                    <a:solidFill>
                      <a:srgbClr val="111827"/>
                    </a:solidFill>
                    <a:latin typeface="Cambria Math" panose="02040503050406030204" pitchFamily="18" charset="0"/>
                  </a:rPr>
                  <a:t>$S=\left(\frac56,\frac16,\frac56\right)$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r>
                  <a:rPr lang="en-IN" sz="2400">
                    <a:solidFill>
                      <a:srgbClr val="111827"/>
                    </a:solidFill>
                    <a:latin typeface="Cambria Math" panose="02040503050406030204" pitchFamily="18" charset="0"/>
                  </a:rPr>
                  <a:t>$y$</a:t>
                </a:r>
                <a:r>
                  <a:rPr sz="2400" b="0">
                    <a:solidFill>
                      <a:srgbClr val="111827"/>
                    </a:solidFill>
                    <a:latin typeface="Arial"/>
                  </a:rPr>
                  <a:t>-coordinate of </a:t>
                </a:r>
                <a:r>
                  <a:rPr lang="en-IN" sz="2400">
                    <a:solidFill>
                      <a:srgbClr val="111827"/>
                    </a:solidFill>
                    <a:latin typeface="Cambria Math" panose="02040503050406030204" pitchFamily="18" charset="0"/>
                  </a:rPr>
                  <a:t>$S$</a:t>
                </a:r>
                <a:r>
                  <a:rPr sz="2400" b="0">
                    <a:solidFill>
                      <a:srgbClr val="111827"/>
                    </a:solidFill>
                    <a:latin typeface="Arial"/>
                  </a:rPr>
                  <a:t> is </a:t>
                </a:r>
                <a:r>
                  <a:rPr lang="en-IN" sz="2400">
                    <a:solidFill>
                      <a:srgbClr val="111827"/>
                    </a:solidFill>
                    <a:latin typeface="Cambria Math" panose="02040503050406030204" pitchFamily="18" charset="0"/>
                  </a:rPr>
                  <a:t>$\frac16$</a:t>
                </a:r>
                <a:r>
                  <a:rPr sz="2400" b="0">
                    <a:solidFill>
                      <a:srgbClr val="111827"/>
                    </a:solidFill>
                    <a:latin typeface="Arial"/>
                  </a:rPr>
                  <a:t>: option (C).</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r>
                          <a:rPr lang="en-IN" sz="2800" i="1">
                            <a:solidFill>
                              <a:srgbClr val="15803D"/>
                            </a:solidFill>
                            <a:latin typeface="Cambria Math" panose="02040503050406030204" pitchFamily="18" charset="0"/>
                          </a:rPr>
                          <m:t>6</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$\frac16$</a:t>
                </a:r>
                <a:endParaRPr sz="2800">
                  <a:solidFill>
                    <a:srgbClr val="15803D"/>
                  </a:solidFill>
                </a:endParaRPr>
              </a:p>
            </p:txBody>
          </p:sp>
        </mc:Fallback>
      </mc:AlternateContent>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the circumcentre directly: </a:t>
                </a:r>
                <a14:m>
                  <m:oMath xmlns:m="http://schemas.openxmlformats.org/officeDocument/2006/math">
                    <m:r>
                      <a:rPr lang="en-IN" sz="2400" i="1">
                        <a:solidFill>
                          <a:srgbClr val="78350F"/>
                        </a:solidFill>
                        <a:latin typeface="Cambria Math" panose="02040503050406030204" pitchFamily="18" charset="0"/>
                      </a:rPr>
                      <m:t>𝑆</m:t>
                    </m:r>
                  </m:oMath>
                </a14:m>
                <a:r>
                  <a:rPr sz="2400" b="0">
                    <a:solidFill>
                      <a:srgbClr val="78350F"/>
                    </a:solidFill>
                    <a:latin typeface="Arial"/>
                  </a:rPr>
                  <a:t> is equidistant from </a:t>
                </a:r>
                <a14:m>
                  <m:oMath xmlns:m="http://schemas.openxmlformats.org/officeDocument/2006/math">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oMath>
                </a14:m>
                <a:r>
                  <a:rPr sz="2400" b="0">
                    <a:solidFill>
                      <a:srgbClr val="78350F"/>
                    </a:solidFill>
                    <a:latin typeface="Arial"/>
                  </a:rPr>
                  <a:t> and lies in the plane of the triangle.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the circumcentre directly: </a:t>
                </a:r>
                <a:r>
                  <a:rPr lang="en-IN" sz="2400">
                    <a:solidFill>
                      <a:srgbClr val="78350F"/>
                    </a:solidFill>
                    <a:latin typeface="Cambria Math" panose="02040503050406030204" pitchFamily="18" charset="0"/>
                  </a:rPr>
                  <a:t>$S$</a:t>
                </a:r>
                <a:r>
                  <a:rPr sz="2400" b="0">
                    <a:solidFill>
                      <a:srgbClr val="78350F"/>
                    </a:solidFill>
                    <a:latin typeface="Arial"/>
                  </a:rPr>
                  <a:t> is equidistant from </a:t>
                </a:r>
                <a:r>
                  <a:rPr lang="en-IN" sz="2400">
                    <a:solidFill>
                      <a:srgbClr val="78350F"/>
                    </a:solidFill>
                    <a:latin typeface="Cambria Math" panose="02040503050406030204" pitchFamily="18" charset="0"/>
                  </a:rPr>
                  <a:t>$A,B,C$</a:t>
                </a:r>
                <a:r>
                  <a:rPr sz="2400" b="0">
                    <a:solidFill>
                      <a:srgbClr val="78350F"/>
                    </a:solidFill>
                    <a:latin typeface="Arial"/>
                  </a:rPr>
                  <a:t> and lies in the plane of the triangle.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𝐵</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a:rPr lang="en-IN" sz="2400" i="1">
                        <a:solidFill>
                          <a:srgbClr val="111827"/>
                        </a:solidFill>
                        <a:latin typeface="Cambria Math" panose="02040503050406030204" pitchFamily="18" charset="0"/>
                      </a:rPr>
                      <m:t>𝐶</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hence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Plane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6</m:t>
                            </m:r>
                          </m:den>
                        </m:f>
                      </m:e>
                    </m:d>
                  </m:oMath>
                </a14:m>
                <a:r>
                  <a:rPr sz="2400" b="0">
                    <a:solidFill>
                      <a:srgbClr val="111827"/>
                    </a:solidFill>
                    <a:latin typeface="Arial"/>
                  </a:rPr>
                  <a:t>, the same value).</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$SA=SB$</a:t>
                </a:r>
                <a:r>
                  <a:rPr sz="2400" b="0">
                    <a:solidFill>
                      <a:srgbClr val="111827"/>
                    </a:solidFill>
                    <a:latin typeface="Arial"/>
                  </a:rPr>
                  <a:t>: </a:t>
                </a:r>
                <a:r>
                  <a:rPr lang="en-IN" sz="2400">
                    <a:solidFill>
                      <a:srgbClr val="111827"/>
                    </a:solidFill>
                    <a:latin typeface="Cambria Math" panose="02040503050406030204" pitchFamily="18" charset="0"/>
                  </a:rPr>
                  <a:t>$(x-2)^2+y^2+z^2=x^2+(y-1)^2+z^2\Rightarrow-4x+4=-2y+1\Rightarrow4x-2y=3$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$SB=SC$</a:t>
                </a:r>
                <a:r>
                  <a:rPr sz="2400" b="0">
                    <a:solidFill>
                      <a:srgbClr val="111827"/>
                    </a:solidFill>
                    <a:latin typeface="Arial"/>
                  </a:rPr>
                  <a:t>: </a:t>
                </a:r>
                <a:r>
                  <a:rPr lang="en-IN" sz="2400">
                    <a:solidFill>
                      <a:srgbClr val="111827"/>
                    </a:solidFill>
                    <a:latin typeface="Cambria Math" panose="02040503050406030204" pitchFamily="18" charset="0"/>
                  </a:rPr>
                  <a:t>$x^2+(y-1)^2+z^2=x^2+y^2+(z-2)^2\Rightarrow-2y+1=-4z+4\Rightarrow4z-2y=3$</a:t>
                </a:r>
                <a:r>
                  <a:rPr sz="2400" b="0">
                    <a:solidFill>
                      <a:srgbClr val="111827"/>
                    </a:solidFill>
                    <a:latin typeface="Arial"/>
                  </a:rPr>
                  <a:t>, hence </a:t>
                </a:r>
                <a:r>
                  <a:rPr lang="en-IN" sz="2400">
                    <a:solidFill>
                      <a:srgbClr val="111827"/>
                    </a:solidFill>
                    <a:latin typeface="Cambria Math" panose="02040503050406030204" pitchFamily="18" charset="0"/>
                  </a:rPr>
                  <a:t>$x=z$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Plane </a:t>
                </a:r>
                <a:r>
                  <a:rPr lang="en-IN" sz="2400">
                    <a:solidFill>
                      <a:srgbClr val="111827"/>
                    </a:solidFill>
                    <a:latin typeface="Cambria Math" panose="02040503050406030204" pitchFamily="18" charset="0"/>
                  </a:rPr>
                  <a:t>$ABC$</a:t>
                </a:r>
                <a:r>
                  <a:rPr sz="2400" b="0">
                    <a:solidFill>
                      <a:srgbClr val="111827"/>
                    </a:solidFill>
                    <a:latin typeface="Arial"/>
                  </a:rPr>
                  <a:t>: </a:t>
                </a:r>
                <a:r>
                  <a:rPr lang="en-IN" sz="2400">
                    <a:solidFill>
                      <a:srgbClr val="111827"/>
                    </a:solidFill>
                    <a:latin typeface="Cambria Math" panose="02040503050406030204" pitchFamily="18" charset="0"/>
                  </a:rPr>
                  <a:t>$x+2y+z=2\Rightarrow2x+2y=2\Rightarrow y=1-x$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$4x-2(1-x)=3\Rightarrow6x=5\Rightarrow x=\frac56$</a:t>
                </a:r>
                <a:r>
                  <a:rPr sz="2400" b="0">
                    <a:solidFill>
                      <a:srgbClr val="111827"/>
                    </a:solidFill>
                    <a:latin typeface="Arial"/>
                  </a:rPr>
                  <a:t> and </a:t>
                </a:r>
                <a:r>
                  <a:rPr lang="en-IN" sz="2400">
                    <a:solidFill>
                      <a:srgbClr val="111827"/>
                    </a:solidFill>
                    <a:latin typeface="Cambria Math" panose="02040503050406030204" pitchFamily="18" charset="0"/>
                  </a:rPr>
                  <a:t>$y=\frac16$</a:t>
                </a:r>
                <a:r>
                  <a:rPr sz="2400" b="0">
                    <a:solidFill>
                      <a:srgbClr val="111827"/>
                    </a:solidFill>
                    <a:latin typeface="Arial"/>
                  </a:rPr>
                  <a:t> (so </a:t>
                </a:r>
                <a:r>
                  <a:rPr lang="en-IN" sz="2400">
                    <a:solidFill>
                      <a:srgbClr val="111827"/>
                    </a:solidFill>
                    <a:latin typeface="Cambria Math" panose="02040503050406030204" pitchFamily="18" charset="0"/>
                  </a:rPr>
                  <a:t>$S=\left(\frac56,\frac16,\frac56\right)$</a:t>
                </a:r>
                <a:r>
                  <a:rPr sz="2400" b="0">
                    <a:solidFill>
                      <a:srgbClr val="111827"/>
                    </a:solidFill>
                    <a:latin typeface="Arial"/>
                  </a:rPr>
                  <a:t>, the same value).</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r>
                          <a:rPr lang="en-IN" sz="2800" i="1">
                            <a:solidFill>
                              <a:srgbClr val="15803D"/>
                            </a:solidFill>
                            <a:latin typeface="Cambria Math" panose="02040503050406030204" pitchFamily="18" charset="0"/>
                          </a:rPr>
                          <m:t>6</m:t>
                        </m:r>
                      </m:den>
                    </m:f>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$\frac16$</a:t>
                </a:r>
                <a:endParaRPr sz="2800">
                  <a:solidFill>
                    <a:srgbClr val="15803D"/>
                  </a:solidFill>
                </a:endParaRPr>
              </a:p>
            </p:txBody>
          </p:sp>
        </mc:Fallback>
      </mc:AlternateContent>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Euler line of a triangle: </a:t>
                </a:r>
                <a14:m>
                  <m:oMath xmlns:m="http://schemas.openxmlformats.org/officeDocument/2006/math">
                    <m:r>
                      <a:rPr lang="en-IN" sz="2400" i="1">
                        <a:solidFill>
                          <a:srgbClr val="111827"/>
                        </a:solidFill>
                        <a:latin typeface="Cambria Math" panose="02040503050406030204" pitchFamily="18" charset="0"/>
                      </a:rPr>
                      <m:t>𝐻</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collinear with </a:t>
                </a:r>
                <a14:m>
                  <m:oMath xmlns:m="http://schemas.openxmlformats.org/officeDocument/2006/math">
                    <m:r>
                      <a:rPr lang="en-IN" sz="2400" i="1">
                        <a:solidFill>
                          <a:srgbClr val="111827"/>
                        </a:solidFill>
                        <a:latin typeface="Cambria Math" panose="02040503050406030204" pitchFamily="18" charset="0"/>
                      </a:rPr>
                      <m:t>𝐻</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𝐺</m:t>
                    </m:r>
                    <m:r>
                      <a:rPr lang="en-IN" sz="2400" i="1">
                        <a:solidFill>
                          <a:srgbClr val="111827"/>
                        </a:solidFill>
                        <a:latin typeface="Cambria Math" panose="02040503050406030204" pitchFamily="18" charset="0"/>
                      </a:rPr>
                      <m:t>𝑆</m:t>
                    </m:r>
                  </m:oMath>
                </a14:m>
                <a:r>
                  <a:rPr sz="2400" b="0">
                    <a:solidFill>
                      <a:srgbClr val="111827"/>
                    </a:solidFill>
                    <a:latin typeface="Arial"/>
                  </a:rPr>
                  <a:t>, i.e.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𝐻</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𝑆</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𝐺</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circumcentre is the point of the plane equidistant from the three vertices: solve </a:t>
                </a:r>
                <a14:m>
                  <m:oMath xmlns:m="http://schemas.openxmlformats.org/officeDocument/2006/math">
                    <m:r>
                      <a:rPr lang="en-IN" sz="2400" i="1">
                        <a:solidFill>
                          <a:srgbClr val="111827"/>
                        </a:solidFill>
                        <a:latin typeface="Cambria Math" panose="02040503050406030204" pitchFamily="18" charset="0"/>
                      </a:rPr>
                      <m:t>𝑆</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together with the plane equation.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Equidistance from two points gives a plane (perpendicular bisector); two such planes and the triangle's plane meet in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Euler line of a triangle: </a:t>
                </a:r>
                <a:r>
                  <a:rPr lang="en-IN" sz="2400">
                    <a:solidFill>
                      <a:srgbClr val="111827"/>
                    </a:solidFill>
                    <a:latin typeface="Cambria Math" panose="02040503050406030204" pitchFamily="18" charset="0"/>
                  </a:rPr>
                  <a:t>$H$</a:t>
                </a:r>
                <a:r>
                  <a:rPr sz="2400" b="0">
                    <a:solidFill>
                      <a:srgbClr val="111827"/>
                    </a:solidFill>
                    <a:latin typeface="Arial"/>
                  </a:rPr>
                  <a:t>, </a:t>
                </a:r>
                <a:r>
                  <a:rPr lang="en-IN" sz="2400">
                    <a:solidFill>
                      <a:srgbClr val="111827"/>
                    </a:solidFill>
                    <a:latin typeface="Cambria Math" panose="02040503050406030204" pitchFamily="18" charset="0"/>
                  </a:rPr>
                  <a:t>$G$</a:t>
                </a:r>
                <a:r>
                  <a:rPr sz="2400" b="0">
                    <a:solidFill>
                      <a:srgbClr val="111827"/>
                    </a:solidFill>
                    <a:latin typeface="Arial"/>
                  </a:rPr>
                  <a:t>, </a:t>
                </a:r>
                <a:r>
                  <a:rPr lang="en-IN" sz="2400">
                    <a:solidFill>
                      <a:srgbClr val="111827"/>
                    </a:solidFill>
                    <a:latin typeface="Cambria Math" panose="02040503050406030204" pitchFamily="18" charset="0"/>
                  </a:rPr>
                  <a:t>$S$</a:t>
                </a:r>
                <a:r>
                  <a:rPr sz="2400" b="0">
                    <a:solidFill>
                      <a:srgbClr val="111827"/>
                    </a:solidFill>
                    <a:latin typeface="Arial"/>
                  </a:rPr>
                  <a:t> collinear with </a:t>
                </a:r>
                <a:r>
                  <a:rPr lang="en-IN" sz="2400">
                    <a:solidFill>
                      <a:srgbClr val="111827"/>
                    </a:solidFill>
                    <a:latin typeface="Cambria Math" panose="02040503050406030204" pitchFamily="18" charset="0"/>
                  </a:rPr>
                  <a:t>$HG=2\,GS$</a:t>
                </a:r>
                <a:r>
                  <a:rPr sz="2400" b="0">
                    <a:solidFill>
                      <a:srgbClr val="111827"/>
                    </a:solidFill>
                    <a:latin typeface="Arial"/>
                  </a:rPr>
                  <a:t>, i.e. </a:t>
                </a:r>
                <a:r>
                  <a:rPr lang="en-IN" sz="2400">
                    <a:solidFill>
                      <a:srgbClr val="111827"/>
                    </a:solidFill>
                    <a:latin typeface="Cambria Math" panose="02040503050406030204" pitchFamily="18" charset="0"/>
                  </a:rPr>
                  <a:t>$\vec H+2\vec S=3\vec G$</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circumcentre is the point of the plane equidistant from the three vertices: solve </a:t>
                </a:r>
                <a:r>
                  <a:rPr lang="en-IN" sz="2400">
                    <a:solidFill>
                      <a:srgbClr val="111827"/>
                    </a:solidFill>
                    <a:latin typeface="Cambria Math" panose="02040503050406030204" pitchFamily="18" charset="0"/>
                  </a:rPr>
                  <a:t>$SA^2=SB^2=SC^2$</a:t>
                </a:r>
                <a:r>
                  <a:rPr sz="2400" b="0">
                    <a:solidFill>
                      <a:srgbClr val="111827"/>
                    </a:solidFill>
                    <a:latin typeface="Arial"/>
                  </a:rPr>
                  <a:t> together with the plane equation.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Equidistance from two points gives a plane (perpendicular bisector); two such planes and the triangle's plane meet in </a:t>
                </a:r>
                <a:r>
                  <a:rPr lang="en-IN" sz="2400">
                    <a:solidFill>
                      <a:srgbClr val="111827"/>
                    </a:solidFill>
                    <a:latin typeface="Cambria Math" panose="02040503050406030204" pitchFamily="18" charset="0"/>
                  </a:rPr>
                  <a:t>$S$</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vertices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are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Its orthocentre is </a:t>
                </a:r>
                <a14:m>
                  <m:oMath xmlns:m="http://schemas.openxmlformats.org/officeDocument/2006/math">
                    <m:r>
                      <a:rPr lang="en-IN" sz="2400" i="1">
                        <a:solidFill>
                          <a:srgbClr val="111827"/>
                        </a:solidFill>
                        <a:latin typeface="Cambria Math" panose="02040503050406030204" pitchFamily="18" charset="0"/>
                      </a:rPr>
                      <m:t>𝐻</m:t>
                    </m:r>
                  </m:oMath>
                </a14:m>
                <a:r>
                  <a:rPr sz="2400" b="0">
                    <a:solidFill>
                      <a:srgbClr val="111827"/>
                    </a:solidFill>
                    <a:latin typeface="Arial"/>
                  </a:rPr>
                  <a:t> and circumcentre is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 point equidistant from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and the origin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𝐴</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(C)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rad>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endParaRPr sz="2400">
                  <a:solidFill>
                    <a:srgbClr val="111827"/>
                  </a:solidFill>
                </a:endParaRPr>
              </a:p>
            </p:txBody>
          </p:sp>
        </mc:Choice>
        <mc:Fallback>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vertices of </a:t>
                </a:r>
                <a:r>
                  <a:rPr lang="en-IN" sz="2400">
                    <a:solidFill>
                      <a:srgbClr val="111827"/>
                    </a:solidFill>
                    <a:latin typeface="Cambria Math" panose="02040503050406030204" pitchFamily="18" charset="0"/>
                  </a:rPr>
                  <a:t>$\triangle ABC$</a:t>
                </a:r>
                <a:r>
                  <a:rPr sz="2400" b="0">
                    <a:solidFill>
                      <a:srgbClr val="111827"/>
                    </a:solidFill>
                    <a:latin typeface="Arial"/>
                  </a:rPr>
                  <a:t> are </a:t>
                </a:r>
                <a:r>
                  <a:rPr lang="en-IN" sz="2400">
                    <a:solidFill>
                      <a:srgbClr val="111827"/>
                    </a:solidFill>
                    <a:latin typeface="Cambria Math" panose="02040503050406030204" pitchFamily="18" charset="0"/>
                  </a:rPr>
                  <a:t>$A(2,0,0)$</a:t>
                </a:r>
                <a:r>
                  <a:rPr sz="2400" b="0">
                    <a:solidFill>
                      <a:srgbClr val="111827"/>
                    </a:solidFill>
                    <a:latin typeface="Arial"/>
                  </a:rPr>
                  <a:t>, </a:t>
                </a:r>
                <a:r>
                  <a:rPr lang="en-IN" sz="2400">
                    <a:solidFill>
                      <a:srgbClr val="111827"/>
                    </a:solidFill>
                    <a:latin typeface="Cambria Math" panose="02040503050406030204" pitchFamily="18" charset="0"/>
                  </a:rPr>
                  <a:t>$B(0,1,0)$</a:t>
                </a:r>
                <a:r>
                  <a:rPr sz="2400" b="0">
                    <a:solidFill>
                      <a:srgbClr val="111827"/>
                    </a:solidFill>
                    <a:latin typeface="Arial"/>
                  </a:rPr>
                  <a:t>, </a:t>
                </a:r>
                <a:r>
                  <a:rPr lang="en-IN" sz="2400">
                    <a:solidFill>
                      <a:srgbClr val="111827"/>
                    </a:solidFill>
                    <a:latin typeface="Cambria Math" panose="02040503050406030204" pitchFamily="18" charset="0"/>
                  </a:rPr>
                  <a:t>$C(0,0,2)$</a:t>
                </a:r>
                <a:r>
                  <a:rPr sz="2400" b="0">
                    <a:solidFill>
                      <a:srgbClr val="111827"/>
                    </a:solidFill>
                    <a:latin typeface="Arial"/>
                  </a:rPr>
                  <a:t>. Its orthocentre is </a:t>
                </a:r>
                <a:r>
                  <a:rPr lang="en-IN" sz="2400">
                    <a:solidFill>
                      <a:srgbClr val="111827"/>
                    </a:solidFill>
                    <a:latin typeface="Cambria Math" panose="02040503050406030204" pitchFamily="18" charset="0"/>
                  </a:rPr>
                  <a:t>$H$</a:t>
                </a:r>
                <a:r>
                  <a:rPr sz="2400" b="0">
                    <a:solidFill>
                      <a:srgbClr val="111827"/>
                    </a:solidFill>
                    <a:latin typeface="Arial"/>
                  </a:rPr>
                  <a:t> and circumcentre is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$P$</a:t>
                </a:r>
                <a:r>
                  <a:rPr sz="2400" b="0">
                    <a:solidFill>
                      <a:srgbClr val="111827"/>
                    </a:solidFill>
                    <a:latin typeface="Arial"/>
                  </a:rPr>
                  <a:t> is a point equidistant from </a:t>
                </a:r>
                <a:r>
                  <a:rPr lang="en-IN" sz="2400">
                    <a:solidFill>
                      <a:srgbClr val="111827"/>
                    </a:solidFill>
                    <a:latin typeface="Cambria Math" panose="02040503050406030204" pitchFamily="18" charset="0"/>
                  </a:rPr>
                  <a:t>$A,B,C$</a:t>
                </a:r>
                <a:r>
                  <a:rPr sz="2400" b="0">
                    <a:solidFill>
                      <a:srgbClr val="111827"/>
                    </a:solidFill>
                    <a:latin typeface="Arial"/>
                  </a:rPr>
                  <a:t> and the origin </a:t>
                </a:r>
                <a:r>
                  <a:rPr lang="en-IN" sz="2400">
                    <a:solidFill>
                      <a:srgbClr val="111827"/>
                    </a:solidFill>
                    <a:latin typeface="Cambria Math" panose="02040503050406030204" pitchFamily="18" charset="0"/>
                  </a:rPr>
                  <a:t>$O$</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lang="en-IN" sz="2400">
                    <a:solidFill>
                      <a:srgbClr val="111827"/>
                    </a:solidFill>
                    <a:latin typeface="Cambria Math" panose="02040503050406030204" pitchFamily="18" charset="0"/>
                  </a:rPr>
                  <a:t>$PA$</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$\sqrt2$</a:t>
                </a:r>
                <a:r>
                  <a:rPr sz="2400" b="0">
                    <a:solidFill>
                      <a:srgbClr val="111827"/>
                    </a:solidFill>
                    <a:latin typeface="Arial"/>
                  </a:rPr>
                  <a:t>   (C) </a:t>
                </a:r>
                <a:r>
                  <a:rPr lang="en-IN" sz="2400">
                    <a:solidFill>
                      <a:srgbClr val="111827"/>
                    </a:solidFill>
                    <a:latin typeface="Cambria Math" panose="02040503050406030204" pitchFamily="18" charset="0"/>
                  </a:rPr>
                  <a:t>$\sqrt{\frac32}$</a:t>
                </a:r>
                <a:r>
                  <a:rPr sz="2400" b="0">
                    <a:solidFill>
                      <a:srgbClr val="111827"/>
                    </a:solidFill>
                    <a:latin typeface="Arial"/>
                  </a:rPr>
                  <a:t>   (D) </a:t>
                </a:r>
                <a:r>
                  <a:rPr lang="en-IN" sz="2400">
                    <a:solidFill>
                      <a:srgbClr val="111827"/>
                    </a:solidFill>
                    <a:latin typeface="Cambria Math" panose="02040503050406030204" pitchFamily="18" charset="0"/>
                  </a:rPr>
                  <a:t>$\frac32$</a:t>
                </a:r>
                <a:endParaRPr sz="2400">
                  <a:solidFill>
                    <a:srgbClr val="111827"/>
                  </a:solidFill>
                </a:endParaRPr>
              </a:p>
            </p:txBody>
          </p:sp>
        </mc:Fallback>
      </mc:AlternateContent>
      <p:sp>
        <p:nvSpPr>
          <p:cNvPr id="5" name="Rectangle 4"/>
          <p:cNvSpPr/>
          <p:nvPr/>
        </p:nvSpPr>
        <p:spPr>
          <a:xfrm>
            <a:off x="731520" y="4125467"/>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Circumcentre of a tetrahedron with mutually perpendicular edges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is equidistant from </a:t>
                </a:r>
                <a14:m>
                  <m:oMath xmlns:m="http://schemas.openxmlformats.org/officeDocument/2006/math">
                    <m:r>
                      <a:rPr lang="en-IN" sz="2400" i="1">
                        <a:solidFill>
                          <a:srgbClr val="78350F"/>
                        </a:solidFill>
                        <a:latin typeface="Cambria Math" panose="02040503050406030204" pitchFamily="18" charset="0"/>
                      </a:rPr>
                      <m:t>𝑂</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oMath>
                </a14:m>
                <a:r>
                  <a:rPr sz="2400" b="0">
                    <a:solidFill>
                      <a:srgbClr val="78350F"/>
                    </a:solidFill>
                    <a:latin typeface="Arial"/>
                  </a:rPr>
                  <a:t>: the centre of the box with edges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𝐶</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$P$</a:t>
                </a:r>
                <a:r>
                  <a:rPr sz="2400" b="0">
                    <a:solidFill>
                      <a:srgbClr val="78350F"/>
                    </a:solidFill>
                    <a:latin typeface="Arial"/>
                  </a:rPr>
                  <a:t> is equidistant from </a:t>
                </a:r>
                <a:r>
                  <a:rPr lang="en-IN" sz="2400">
                    <a:solidFill>
                      <a:srgbClr val="78350F"/>
                    </a:solidFill>
                    <a:latin typeface="Cambria Math" panose="02040503050406030204" pitchFamily="18" charset="0"/>
                  </a:rPr>
                  <a:t>$O,A,B,C$</a:t>
                </a:r>
                <a:r>
                  <a:rPr sz="2400" b="0">
                    <a:solidFill>
                      <a:srgbClr val="78350F"/>
                    </a:solidFill>
                    <a:latin typeface="Arial"/>
                  </a:rPr>
                  <a:t>: the centre of the box with edges </a:t>
                </a:r>
                <a:r>
                  <a:rPr lang="en-IN" sz="2400">
                    <a:solidFill>
                      <a:srgbClr val="78350F"/>
                    </a:solidFill>
                    <a:latin typeface="Cambria Math" panose="02040503050406030204" pitchFamily="18" charset="0"/>
                  </a:rPr>
                  <a:t>$OA,OB,OC$</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option (D).</a:t>
                </a:r>
                <a:endParaRPr sz="2400">
                  <a:solidFill>
                    <a:srgbClr val="111827"/>
                  </a:solidFill>
                </a:endParaRPr>
              </a:p>
            </p:txBody>
          </p:sp>
        </mc:Choice>
        <mc:Fallback>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$P=(a,b,c)$</a:t>
                </a:r>
                <a:r>
                  <a:rPr sz="2400" b="0">
                    <a:solidFill>
                      <a:srgbClr val="111827"/>
                    </a:solidFill>
                    <a:latin typeface="Arial"/>
                  </a:rPr>
                  <a:t>; </a:t>
                </a:r>
                <a:r>
                  <a:rPr lang="en-IN" sz="2400">
                    <a:solidFill>
                      <a:srgbClr val="111827"/>
                    </a:solidFill>
                    <a:latin typeface="Cambria Math" panose="02040503050406030204" pitchFamily="18" charset="0"/>
                  </a:rPr>
                  <a:t>$PA=PB=PC=OP$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$PA^2=OP^2$</a:t>
                </a:r>
                <a:r>
                  <a:rPr sz="2400" b="0">
                    <a:solidFill>
                      <a:srgbClr val="111827"/>
                    </a:solidFill>
                    <a:latin typeface="Arial"/>
                  </a:rPr>
                  <a:t>: </a:t>
                </a:r>
                <a:r>
                  <a:rPr lang="en-IN" sz="2400">
                    <a:solidFill>
                      <a:srgbClr val="111827"/>
                    </a:solidFill>
                    <a:latin typeface="Cambria Math" panose="02040503050406030204" pitchFamily="18" charset="0"/>
                  </a:rPr>
                  <a:t>$(a-2)^2+b^2+c^2=a^2+b^2+c^2\Rightarrow a=1$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$PB^2=OP^2$</a:t>
                </a:r>
                <a:r>
                  <a:rPr sz="2400" b="0">
                    <a:solidFill>
                      <a:srgbClr val="111827"/>
                    </a:solidFill>
                    <a:latin typeface="Arial"/>
                  </a:rPr>
                  <a:t>: </a:t>
                </a:r>
                <a:r>
                  <a:rPr lang="en-IN" sz="2400">
                    <a:solidFill>
                      <a:srgbClr val="111827"/>
                    </a:solidFill>
                    <a:latin typeface="Cambria Math" panose="02040503050406030204" pitchFamily="18" charset="0"/>
                  </a:rPr>
                  <a:t>$a^2+(b-1)^2+c^2=a^2+b^2+c^2\Rightarrow b=\frac12$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$PC^2=OP^2$</a:t>
                </a:r>
                <a:r>
                  <a:rPr sz="2400" b="0">
                    <a:solidFill>
                      <a:srgbClr val="111827"/>
                    </a:solidFill>
                    <a:latin typeface="Arial"/>
                  </a:rPr>
                  <a:t>: </a:t>
                </a:r>
                <a:r>
                  <a:rPr lang="en-IN" sz="2400">
                    <a:solidFill>
                      <a:srgbClr val="111827"/>
                    </a:solidFill>
                    <a:latin typeface="Cambria Math" panose="02040503050406030204" pitchFamily="18" charset="0"/>
                  </a:rPr>
                  <a:t>$a^2+b^2+(c-2)^2=a^2+b^2+c^2\Rightarrow c=1$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$P=\left(1,\frac12,1\right)$</a:t>
                </a:r>
                <a:r>
                  <a:rPr sz="2400" b="0">
                    <a:solidFill>
                      <a:srgbClr val="111827"/>
                    </a:solidFill>
                    <a:latin typeface="Arial"/>
                  </a:rPr>
                  <a:t> and </a:t>
                </a:r>
                <a:r>
                  <a:rPr lang="en-IN" sz="2400">
                    <a:solidFill>
                      <a:srgbClr val="111827"/>
                    </a:solidFill>
                    <a:latin typeface="Cambria Math" panose="02040503050406030204" pitchFamily="18" charset="0"/>
                  </a:rPr>
                  <a:t>$PA=\sqrt{(1-2)^2+\frac14+1}=\sqrt{\frac94}=\frac32$</a:t>
                </a:r>
                <a:r>
                  <a:rPr sz="2400" b="0">
                    <a:solidFill>
                      <a:srgbClr val="111827"/>
                    </a:solidFill>
                    <a:latin typeface="Arial"/>
                  </a:rPr>
                  <a:t>: option (D).</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2</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r>
                  <a:rPr lang="en-IN" sz="2800">
                    <a:solidFill>
                      <a:srgbClr val="15803D"/>
                    </a:solidFill>
                    <a:latin typeface="Cambria Math" panose="02040503050406030204" pitchFamily="18" charset="0"/>
                  </a:rPr>
                  <a:t>$\frac32$</a:t>
                </a:r>
                <a:endParaRPr sz="2800">
                  <a:solidFill>
                    <a:srgbClr val="15803D"/>
                  </a:solidFill>
                </a:endParaRPr>
              </a:p>
            </p:txBody>
          </p:sp>
        </mc:Fallback>
      </mc:AlternateContent>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𝐶</m:t>
                    </m:r>
                  </m:oMath>
                </a14:m>
                <a:r>
                  <a:rPr sz="2400" b="0">
                    <a:solidFill>
                      <a:srgbClr val="78350F"/>
                    </a:solidFill>
                    <a:latin typeface="Arial"/>
                  </a:rPr>
                  <a:t> are mutually perpendicular: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is the centre of the rectangular box with these edges, and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oMath>
                </a14:m>
                <a:r>
                  <a:rPr sz="2400" b="0">
                    <a:solidFill>
                      <a:srgbClr val="78350F"/>
                    </a:solidFill>
                    <a:latin typeface="Arial"/>
                  </a:rPr>
                  <a:t> space diagonal.</a:t>
                </a:r>
                <a:endParaRPr sz="2400">
                  <a:solidFill>
                    <a:srgbClr val="78350F"/>
                  </a:solidFill>
                </a:endParaRPr>
              </a:p>
            </p:txBody>
          </p:sp>
        </mc:Choice>
        <mc:Fallback>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lang="en-IN" sz="2400">
                    <a:solidFill>
                      <a:srgbClr val="78350F"/>
                    </a:solidFill>
                    <a:latin typeface="Cambria Math" panose="02040503050406030204" pitchFamily="18" charset="0"/>
                  </a:rPr>
                  <a:t>$OA,OB,OC$</a:t>
                </a:r>
                <a:r>
                  <a:rPr sz="2400" b="0">
                    <a:solidFill>
                      <a:srgbClr val="78350F"/>
                    </a:solidFill>
                    <a:latin typeface="Arial"/>
                  </a:rPr>
                  <a:t> are mutually perpendicular: </a:t>
                </a:r>
                <a:r>
                  <a:rPr lang="en-IN" sz="2400">
                    <a:solidFill>
                      <a:srgbClr val="78350F"/>
                    </a:solidFill>
                    <a:latin typeface="Cambria Math" panose="02040503050406030204" pitchFamily="18" charset="0"/>
                  </a:rPr>
                  <a:t>$P$</a:t>
                </a:r>
                <a:r>
                  <a:rPr sz="2400" b="0">
                    <a:solidFill>
                      <a:srgbClr val="78350F"/>
                    </a:solidFill>
                    <a:latin typeface="Arial"/>
                  </a:rPr>
                  <a:t> is the centre of the rectangular box with these edges, and </a:t>
                </a:r>
                <a:r>
                  <a:rPr lang="en-IN" sz="2400">
                    <a:solidFill>
                      <a:srgbClr val="78350F"/>
                    </a:solidFill>
                    <a:latin typeface="Cambria Math" panose="02040503050406030204" pitchFamily="18" charset="0"/>
                  </a:rPr>
                  <a:t>$PA=\frac12\times$</a:t>
                </a:r>
                <a:r>
                  <a:rPr sz="2400" b="0">
                    <a:solidFill>
                      <a:srgbClr val="78350F"/>
                    </a:solidFill>
                    <a:latin typeface="Arial"/>
                  </a:rPr>
                  <a:t> space diagonal.</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008375"/>
                <a:ext cx="10725912" cy="277977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along the three axes: </a:t>
                </a:r>
                <a14:m>
                  <m:oMath xmlns:m="http://schemas.openxmlformats.org/officeDocument/2006/math">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are four vertices of the box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sphere through </a:t>
                </a:r>
                <a14:m>
                  <m:oMath xmlns:m="http://schemas.openxmlformats.org/officeDocument/2006/math">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has the diagonal of the box as a diameter, so its centre is the centre of the box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Radius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008375"/>
                <a:ext cx="10725912" cy="277977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$OA=2,\ OB=1,\ OC=2$</a:t>
                </a:r>
                <a:r>
                  <a:rPr sz="2400" b="0">
                    <a:solidFill>
                      <a:srgbClr val="111827"/>
                    </a:solidFill>
                    <a:latin typeface="Arial"/>
                  </a:rPr>
                  <a:t> along the three axes: </a:t>
                </a:r>
                <a:r>
                  <a:rPr lang="en-IN" sz="2400">
                    <a:solidFill>
                      <a:srgbClr val="111827"/>
                    </a:solidFill>
                    <a:latin typeface="Cambria Math" panose="02040503050406030204" pitchFamily="18" charset="0"/>
                  </a:rPr>
                  <a:t>$O,A,B,C$</a:t>
                </a:r>
                <a:r>
                  <a:rPr sz="2400" b="0">
                    <a:solidFill>
                      <a:srgbClr val="111827"/>
                    </a:solidFill>
                    <a:latin typeface="Arial"/>
                  </a:rPr>
                  <a:t> are four vertices of the box </a:t>
                </a:r>
                <a:r>
                  <a:rPr lang="en-IN" sz="2400">
                    <a:solidFill>
                      <a:srgbClr val="111827"/>
                    </a:solidFill>
                    <a:latin typeface="Cambria Math" panose="02040503050406030204" pitchFamily="18" charset="0"/>
                  </a:rPr>
                  <a:t>$[0,2]\times[0,1]\times[0,2]$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sphere through </a:t>
                </a:r>
                <a:r>
                  <a:rPr lang="en-IN" sz="2400">
                    <a:solidFill>
                      <a:srgbClr val="111827"/>
                    </a:solidFill>
                    <a:latin typeface="Cambria Math" panose="02040503050406030204" pitchFamily="18" charset="0"/>
                  </a:rPr>
                  <a:t>$O,A,B,C$</a:t>
                </a:r>
                <a:r>
                  <a:rPr sz="2400" b="0">
                    <a:solidFill>
                      <a:srgbClr val="111827"/>
                    </a:solidFill>
                    <a:latin typeface="Arial"/>
                  </a:rPr>
                  <a:t> has the diagonal of the box as a diameter, so its centre is the centre of the box </a:t>
                </a:r>
                <a:r>
                  <a:rPr lang="en-IN" sz="2400">
                    <a:solidFill>
                      <a:srgbClr val="111827"/>
                    </a:solidFill>
                    <a:latin typeface="Cambria Math" panose="02040503050406030204" pitchFamily="18" charset="0"/>
                  </a:rPr>
                  <a:t>$(1,\frac12,1)$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Radius </a:t>
                </a:r>
                <a:r>
                  <a:rPr lang="en-IN" sz="2400">
                    <a:solidFill>
                      <a:srgbClr val="111827"/>
                    </a:solidFill>
                    <a:latin typeface="Cambria Math" panose="02040503050406030204" pitchFamily="18" charset="0"/>
                  </a:rPr>
                  <a:t>$=\frac12\sqrt{2^2+1^2+2^2}=\frac32$</a:t>
                </a:r>
                <a:r>
                  <a:rPr sz="2400" b="0">
                    <a:solidFill>
                      <a:srgbClr val="111827"/>
                    </a:solidFill>
                    <a:latin typeface="Arial"/>
                  </a:rPr>
                  <a:t>, so </a:t>
                </a:r>
                <a:r>
                  <a:rPr lang="en-IN" sz="2400">
                    <a:solidFill>
                      <a:srgbClr val="111827"/>
                    </a:solidFill>
                    <a:latin typeface="Cambria Math" panose="02040503050406030204" pitchFamily="18" charset="0"/>
                  </a:rPr>
                  <a:t>$PA=\frac32$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2</m:t>
                        </m:r>
                      </m:den>
                    </m:f>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r>
                  <a:rPr lang="en-IN" sz="2800">
                    <a:solidFill>
                      <a:srgbClr val="15803D"/>
                    </a:solidFill>
                    <a:latin typeface="Cambria Math" panose="02040503050406030204" pitchFamily="18" charset="0"/>
                  </a:rPr>
                  <a:t>$\frac32$</a:t>
                </a:r>
                <a:endParaRPr sz="2800">
                  <a:solidFill>
                    <a:srgbClr val="15803D"/>
                  </a:solidFill>
                </a:endParaRPr>
              </a:p>
            </p:txBody>
          </p:sp>
        </mc:Fallback>
      </mc:AlternateContent>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oMath>
                </a14:m>
                <a:r>
                  <a:rPr sz="2400" b="0">
                    <a:solidFill>
                      <a:srgbClr val="111827"/>
                    </a:solidFill>
                    <a:latin typeface="Arial"/>
                  </a:rPr>
                  <a:t> are mutually perpendicular with lengths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the circumcentre of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and the circumradius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point equidistant from the origin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equidistance from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and a point on an axis fixes that coordinate.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Circumradius of a right-corner tetrahedron: half the body diagonal of the enclosing box.</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$OA,OB,OC$</a:t>
                </a:r>
                <a:r>
                  <a:rPr sz="2400" b="0">
                    <a:solidFill>
                      <a:srgbClr val="111827"/>
                    </a:solidFill>
                    <a:latin typeface="Arial"/>
                  </a:rPr>
                  <a:t> are mutually perpendicular with lengths </a:t>
                </a:r>
                <a:r>
                  <a:rPr lang="en-IN" sz="2400">
                    <a:solidFill>
                      <a:srgbClr val="111827"/>
                    </a:solidFill>
                    <a:latin typeface="Cambria Math" panose="02040503050406030204" pitchFamily="18" charset="0"/>
                  </a:rPr>
                  <a:t>$a,b,c$</a:t>
                </a:r>
                <a:r>
                  <a:rPr sz="2400" b="0">
                    <a:solidFill>
                      <a:srgbClr val="111827"/>
                    </a:solidFill>
                    <a:latin typeface="Arial"/>
                  </a:rPr>
                  <a:t>, the circumcentre of </a:t>
                </a:r>
                <a:r>
                  <a:rPr lang="en-IN" sz="2400">
                    <a:solidFill>
                      <a:srgbClr val="111827"/>
                    </a:solidFill>
                    <a:latin typeface="Cambria Math" panose="02040503050406030204" pitchFamily="18" charset="0"/>
                  </a:rPr>
                  <a:t>$OABC$</a:t>
                </a:r>
                <a:r>
                  <a:rPr sz="2400" b="0">
                    <a:solidFill>
                      <a:srgbClr val="111827"/>
                    </a:solidFill>
                    <a:latin typeface="Arial"/>
                  </a:rPr>
                  <a:t> is </a:t>
                </a:r>
                <a:r>
                  <a:rPr lang="en-IN" sz="2400">
                    <a:solidFill>
                      <a:srgbClr val="111827"/>
                    </a:solidFill>
                    <a:latin typeface="Cambria Math" panose="02040503050406030204" pitchFamily="18" charset="0"/>
                  </a:rPr>
                  <a:t>$\left(\frac a2,\frac b2,\frac c2\right)$</a:t>
                </a:r>
                <a:r>
                  <a:rPr sz="2400" b="0">
                    <a:solidFill>
                      <a:srgbClr val="111827"/>
                    </a:solidFill>
                    <a:latin typeface="Arial"/>
                  </a:rPr>
                  <a:t> and the circumradius is </a:t>
                </a:r>
                <a:r>
                  <a:rPr lang="en-IN" sz="2400">
                    <a:solidFill>
                      <a:srgbClr val="111827"/>
                    </a:solidFill>
                    <a:latin typeface="Cambria Math" panose="02040503050406030204" pitchFamily="18" charset="0"/>
                  </a:rPr>
                  <a:t>$\frac12\sqrt{a^2+b^2+c^2}$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point equidistant from the origin and </a:t>
                </a:r>
                <a:r>
                  <a:rPr lang="en-IN" sz="2400">
                    <a:solidFill>
                      <a:srgbClr val="111827"/>
                    </a:solidFill>
                    <a:latin typeface="Cambria Math" panose="02040503050406030204" pitchFamily="18" charset="0"/>
                  </a:rPr>
                  <a:t>$(a,0,0)$</a:t>
                </a:r>
                <a:r>
                  <a:rPr sz="2400" b="0">
                    <a:solidFill>
                      <a:srgbClr val="111827"/>
                    </a:solidFill>
                    <a:latin typeface="Arial"/>
                  </a:rPr>
                  <a:t> has </a:t>
                </a:r>
                <a:r>
                  <a:rPr lang="en-IN" sz="2400">
                    <a:solidFill>
                      <a:srgbClr val="111827"/>
                    </a:solidFill>
                    <a:latin typeface="Cambria Math" panose="02040503050406030204" pitchFamily="18" charset="0"/>
                  </a:rPr>
                  <a:t>$x=\frac a2$</a:t>
                </a:r>
                <a:r>
                  <a:rPr sz="2400" b="0">
                    <a:solidFill>
                      <a:srgbClr val="111827"/>
                    </a:solidFill>
                    <a:latin typeface="Arial"/>
                  </a:rPr>
                  <a:t>: equidistance from </a:t>
                </a:r>
                <a:r>
                  <a:rPr lang="en-IN" sz="2400">
                    <a:solidFill>
                      <a:srgbClr val="111827"/>
                    </a:solidFill>
                    <a:latin typeface="Cambria Math" panose="02040503050406030204" pitchFamily="18" charset="0"/>
                  </a:rPr>
                  <a:t>$O$</a:t>
                </a:r>
                <a:r>
                  <a:rPr sz="2400" b="0">
                    <a:solidFill>
                      <a:srgbClr val="111827"/>
                    </a:solidFill>
                    <a:latin typeface="Arial"/>
                  </a:rPr>
                  <a:t> and a point on an axis fixes that coordinate.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Circumradius of a right-corner tetrahedron: half the body diagonal of the enclosing box.</a:t>
                </a:r>
                <a:endParaRPr sz="2400">
                  <a:solidFill>
                    <a:srgbClr val="111827"/>
                  </a:solidFill>
                </a:endParaRPr>
              </a:p>
            </p:txBody>
          </p:sp>
        </mc:Fallback>
      </mc:AlternateContent>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9631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None of these</a:t>
                </a:r>
                <a:endParaRPr sz="2400">
                  <a:solidFill>
                    <a:srgbClr val="111827"/>
                  </a:solidFill>
                </a:endParaRPr>
              </a:p>
            </p:txBody>
          </p:sp>
        </mc:Choice>
        <mc:Fallback>
          <p:sp>
            <p:nvSpPr>
              <p:cNvPr id="4" name="Rounded Rectangle 3"/>
              <p:cNvSpPr/>
              <p:nvPr/>
            </p:nvSpPr>
            <p:spPr>
              <a:xfrm>
                <a:off x="731520" y="1280160"/>
                <a:ext cx="10725912" cy="29631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Vector </a:t>
                </a:r>
                <a:r>
                  <a:rPr lang="en-IN" sz="2400">
                    <a:solidFill>
                      <a:srgbClr val="111827"/>
                    </a:solidFill>
                    <a:latin typeface="Cambria Math" panose="02040503050406030204" pitchFamily="18" charset="0"/>
                  </a:rPr>
                  <a:t>$\vec x$</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$\frac{1}{|\vec a\times\vec b|^2}\left[\vec a\times(\vec a\times\vec b)\right]$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$\frac{r}{|\vec a\times\vec b|}\left[\vec a\times\vec b-\vec a\times(\vec a\times\vec b)\right]$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$\frac{r}{|\vec a\times\vec b|^2}\left[\vec a\times\vec b+\vec b\times(\vec a\times\vec b)\right]$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None of these</a:t>
                </a:r>
                <a:endParaRPr sz="2400">
                  <a:solidFill>
                    <a:srgbClr val="111827"/>
                  </a:solidFill>
                </a:endParaRPr>
              </a:p>
            </p:txBody>
          </p:sp>
        </mc:Fallback>
      </mc:AlternateContent>
      <p:sp>
        <p:nvSpPr>
          <p:cNvPr id="5" name="Rectangle 4"/>
          <p:cNvSpPr/>
          <p:nvPr/>
        </p:nvSpPr>
        <p:spPr>
          <a:xfrm>
            <a:off x="731520" y="4471923"/>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Solving simultaneous vector equations with cross products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First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num>
                      <m:den>
                        <m:r>
                          <a:rPr lang="en-IN" sz="2400" i="1">
                            <a:solidFill>
                              <a:srgbClr val="78350F"/>
                            </a:solidFill>
                            <a:latin typeface="Cambria Math" panose="02040503050406030204" pitchFamily="18" charset="0"/>
                          </a:rPr>
                          <m:t>𝑟</m:t>
                        </m:r>
                      </m:den>
                    </m:f>
                  </m:oMath>
                </a14:m>
                <a:r>
                  <a:rPr sz="2400" b="0">
                    <a:solidFill>
                      <a:srgbClr val="78350F"/>
                    </a:solidFill>
                    <a:latin typeface="Arial"/>
                  </a:rPr>
                  <a:t>; then cross (i)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oMath>
                </a14:m>
                <a:r>
                  <a:rPr sz="2400" b="0">
                    <a:solidFill>
                      <a:srgbClr val="78350F"/>
                    </a:solidFill>
                    <a:latin typeface="Arial"/>
                  </a:rPr>
                  <a:t>: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First </a:t>
                </a:r>
                <a:r>
                  <a:rPr lang="en-IN" sz="2400">
                    <a:solidFill>
                      <a:srgbClr val="78350F"/>
                    </a:solidFill>
                    <a:latin typeface="Cambria Math" panose="02040503050406030204" pitchFamily="18" charset="0"/>
                  </a:rPr>
                  <a:t>$\vec y=\frac{\vec a\times\vec b}{r}$</a:t>
                </a:r>
                <a:r>
                  <a:rPr sz="2400" b="0">
                    <a:solidFill>
                      <a:srgbClr val="78350F"/>
                    </a:solidFill>
                    <a:latin typeface="Arial"/>
                  </a:rPr>
                  <a:t>; then cross (i) with </a:t>
                </a:r>
                <a:r>
                  <a:rPr lang="en-IN" sz="2400">
                    <a:solidFill>
                      <a:srgbClr val="78350F"/>
                    </a:solidFill>
                    <a:latin typeface="Cambria Math" panose="02040503050406030204" pitchFamily="18" charset="0"/>
                  </a:rPr>
                  <a:t>$\vec y$</a:t>
                </a:r>
                <a:r>
                  <a:rPr sz="2400" b="0">
                    <a:solidFill>
                      <a:srgbClr val="78350F"/>
                    </a:solidFill>
                    <a:latin typeface="Arial"/>
                  </a:rPr>
                  <a:t>: </a:t>
                </a:r>
                <a:r>
                  <a:rPr lang="en-IN" sz="2400">
                    <a:solidFill>
                      <a:srgbClr val="78350F"/>
                    </a:solidFill>
                    <a:latin typeface="Cambria Math" panose="02040503050406030204" pitchFamily="18" charset="0"/>
                  </a:rPr>
                  <a:t>$(\vec x\times\vec y)\times\vec y=\vec y-|\vec y|^2\vec x$</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(i) and (ii):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(the term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vanishes).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by (ii) and (iii),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 (i)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on the right: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Left side: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(using (iv)).</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(i) and (ii): </a:t>
                </a:r>
                <a:r>
                  <a:rPr lang="en-IN" sz="2400">
                    <a:solidFill>
                      <a:srgbClr val="111827"/>
                    </a:solidFill>
                    <a:latin typeface="Cambria Math" panose="02040503050406030204" pitchFamily="18" charset="0"/>
                  </a:rPr>
                  <a:t>$\vec a\times\vec b=(\vec x\times\vec y)\times(\vec y\times\vec z)=[\vec x\ \vec y\ \vec z]\,\vec y$</a:t>
                </a:r>
                <a:r>
                  <a:rPr sz="2400" b="0">
                    <a:solidFill>
                      <a:srgbClr val="111827"/>
                    </a:solidFill>
                    <a:latin typeface="Arial"/>
                  </a:rPr>
                  <a:t> (the term </a:t>
                </a:r>
                <a:r>
                  <a:rPr lang="en-IN" sz="2400">
                    <a:solidFill>
                      <a:srgbClr val="111827"/>
                    </a:solidFill>
                    <a:latin typeface="Cambria Math" panose="02040503050406030204" pitchFamily="18" charset="0"/>
                  </a:rPr>
                  <a:t>$[\vec x\ \vec y\ \vec y]\vec z$</a:t>
                </a:r>
                <a:r>
                  <a:rPr sz="2400" b="0">
                    <a:solidFill>
                      <a:srgbClr val="111827"/>
                    </a:solidFill>
                    <a:latin typeface="Arial"/>
                  </a:rPr>
                  <a:t> vanishes).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x\ \vec y\ \vec z]=\vec x\cdot(\vec y\times\vec z)=\vec x\cdot\vec b=r$</a:t>
                </a:r>
                <a:r>
                  <a:rPr sz="2400" b="0">
                    <a:solidFill>
                      <a:srgbClr val="111827"/>
                    </a:solidFill>
                    <a:latin typeface="Arial"/>
                  </a:rPr>
                  <a:t> by (ii) and (iii), so </a:t>
                </a:r>
                <a:r>
                  <a:rPr lang="en-IN" sz="2400">
                    <a:solidFill>
                      <a:srgbClr val="111827"/>
                    </a:solidFill>
                    <a:latin typeface="Cambria Math" panose="02040503050406030204" pitchFamily="18" charset="0"/>
                  </a:rPr>
                  <a:t>$\vec y=\frac{\vec a\times\vec b}{r}$</a:t>
                </a:r>
                <a:r>
                  <a:rPr sz="2400" b="0">
                    <a:solidFill>
                      <a:srgbClr val="111827"/>
                    </a:solidFill>
                    <a:latin typeface="Arial"/>
                  </a:rPr>
                  <a:t> and </a:t>
                </a:r>
                <a:r>
                  <a:rPr lang="en-IN" sz="2400">
                    <a:solidFill>
                      <a:srgbClr val="111827"/>
                    </a:solidFill>
                    <a:latin typeface="Cambria Math" panose="02040503050406030204" pitchFamily="18" charset="0"/>
                  </a:rPr>
                  <a:t>$|\vec y|^2=\frac{|\vec a\times\vec b|^2}{r^2}$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 (i) with </a:t>
                </a:r>
                <a:r>
                  <a:rPr lang="en-IN" sz="2400">
                    <a:solidFill>
                      <a:srgbClr val="111827"/>
                    </a:solidFill>
                    <a:latin typeface="Cambria Math" panose="02040503050406030204" pitchFamily="18" charset="0"/>
                  </a:rPr>
                  <a:t>$\vec y$</a:t>
                </a:r>
                <a:r>
                  <a:rPr sz="2400" b="0">
                    <a:solidFill>
                      <a:srgbClr val="111827"/>
                    </a:solidFill>
                    <a:latin typeface="Arial"/>
                  </a:rPr>
                  <a:t> on the right: </a:t>
                </a:r>
                <a:r>
                  <a:rPr lang="en-IN" sz="2400">
                    <a:solidFill>
                      <a:srgbClr val="111827"/>
                    </a:solidFill>
                    <a:latin typeface="Cambria Math" panose="02040503050406030204" pitchFamily="18" charset="0"/>
                  </a:rPr>
                  <a:t>$(\vec x\times\vec y)\times\vec y=\vec a\times\vec 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Left side: </a:t>
                </a:r>
                <a:r>
                  <a:rPr lang="en-IN" sz="2400">
                    <a:solidFill>
                      <a:srgbClr val="111827"/>
                    </a:solidFill>
                    <a:latin typeface="Cambria Math" panose="02040503050406030204" pitchFamily="18" charset="0"/>
                  </a:rPr>
                  <a:t>$(\vec x\times\vec y)\times\vec y=\vec y(\vec x\cdot\vec y)-\vec x(\vec y\cdot\vec y)=\vec y-|\vec y|^2\vec x$</a:t>
                </a:r>
                <a:r>
                  <a:rPr sz="2400" b="0">
                    <a:solidFill>
                      <a:srgbClr val="111827"/>
                    </a:solidFill>
                    <a:latin typeface="Arial"/>
                  </a:rPr>
                  <a:t> (using (iv)).</a:t>
                </a:r>
                <a:endParaRPr sz="2400">
                  <a:solidFill>
                    <a:srgbClr val="111827"/>
                  </a:solidFill>
                </a:endParaRPr>
              </a:p>
            </p:txBody>
          </p:sp>
        </mc:Fallback>
      </mc:AlternateContent>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Right side: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is option (B) (its printed denominator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lacks the square; a numerical test with random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confirms the squared form is the correct one and (A), (C) are not).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Right side: </a:t>
                </a:r>
                <a:r>
                  <a:rPr lang="en-IN" sz="2400">
                    <a:solidFill>
                      <a:srgbClr val="111827"/>
                    </a:solidFill>
                    <a:latin typeface="Cambria Math" panose="02040503050406030204" pitchFamily="18" charset="0"/>
                  </a:rPr>
                  <a:t>$\vec a\times\vec y=\frac{\vec a\times(\vec a\times\vec b)}{r}$</a:t>
                </a:r>
                <a:r>
                  <a:rPr sz="2400" b="0">
                    <a:solidFill>
                      <a:srgbClr val="111827"/>
                    </a:solidFill>
                    <a:latin typeface="Arial"/>
                  </a:rPr>
                  <a:t>. So </a:t>
                </a:r>
                <a:r>
                  <a:rPr lang="en-IN" sz="2400">
                    <a:solidFill>
                      <a:srgbClr val="111827"/>
                    </a:solidFill>
                    <a:latin typeface="Cambria Math" panose="02040503050406030204" pitchFamily="18" charset="0"/>
                  </a:rPr>
                  <a:t>$|\vec y|^2\vec x=\vec y-\frac{\vec a\times(\vec a\times\vec b)}{r}=\frac{\vec a\times\vec b-\vec a\times(\vec a\times\vec b)}{r}$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x=\frac{r^2}{|\vec a\times\vec b|^2}\cdot\frac{\vec a\times\vec b-\vec a\times(\vec a\times\vec b)}{r}=\frac{r}{|\vec a\times\vec b|^2}\left[\vec a\times\vec b-\vec a\times(\vec a\times\vec b)\right]$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is option (B) (its printed denominator </a:t>
                </a:r>
                <a:r>
                  <a:rPr lang="en-IN" sz="2400">
                    <a:solidFill>
                      <a:srgbClr val="111827"/>
                    </a:solidFill>
                    <a:latin typeface="Cambria Math" panose="02040503050406030204" pitchFamily="18" charset="0"/>
                  </a:rPr>
                  <a:t>$|\vec a\times\vec b|$</a:t>
                </a:r>
                <a:r>
                  <a:rPr sz="2400" b="0">
                    <a:solidFill>
                      <a:srgbClr val="111827"/>
                    </a:solidFill>
                    <a:latin typeface="Arial"/>
                  </a:rPr>
                  <a:t> lacks the square; a numerical test with random </a:t>
                </a:r>
                <a:r>
                  <a:rPr lang="en-IN" sz="2400">
                    <a:solidFill>
                      <a:srgbClr val="111827"/>
                    </a:solidFill>
                    <a:latin typeface="Cambria Math" panose="02040503050406030204" pitchFamily="18" charset="0"/>
                  </a:rPr>
                  <a:t>$\vec a,\vec b$</a:t>
                </a:r>
                <a:r>
                  <a:rPr sz="2400" b="0">
                    <a:solidFill>
                      <a:srgbClr val="111827"/>
                    </a:solidFill>
                    <a:latin typeface="Arial"/>
                  </a:rPr>
                  <a:t> confirms the squared form is the correct one and (A), (C) are not).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(the printed denominator should be </a:t>
                </a:r>
                <a14:m>
                  <m:oMath xmlns:m="http://schemas.openxmlformats.org/officeDocument/2006/math">
                    <m:r>
                      <m:rPr>
                        <m:sty m:val="p"/>
                      </m:rPr>
                      <a:rPr lang="en-IN" sz="2800">
                        <a:solidFill>
                          <a:srgbClr val="15803D"/>
                        </a:solidFill>
                        <a:latin typeface="Cambria Math" panose="02040503050406030204" pitchFamily="18" charset="0"/>
                      </a:rPr>
                      <m:t>|</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𝑎</m:t>
                        </m:r>
                      </m:e>
                    </m:acc>
                    <m:r>
                      <m:rPr>
                        <m:sty m:val="p"/>
                      </m:rPr>
                      <a:rPr lang="en-IN" sz="2800">
                        <a:solidFill>
                          <a:srgbClr val="15803D"/>
                        </a:solidFill>
                        <a:latin typeface="Cambria Math" panose="02040503050406030204" pitchFamily="18" charset="0"/>
                      </a:rPr>
                      <m:t>×</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𝑏</m:t>
                        </m:r>
                      </m:e>
                    </m:acc>
                    <m:sSup>
                      <m:e>
                        <m:r>
                          <m:rPr>
                            <m:sty m:val="p"/>
                          </m:rPr>
                          <a:rPr lang="en-IN" sz="2800">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2</m:t>
                        </m:r>
                      </m:sup>
                    </m:sSup>
                  </m:oMath>
                </a14:m>
                <a:r>
                  <a:rPr sz="2800" b="1">
                    <a:solidFill>
                      <a:srgbClr val="15803D"/>
                    </a:solidFill>
                    <a:latin typeface="Arial"/>
                  </a:rPr>
                  <a:t>)</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(the printed denominator should be </a:t>
                </a:r>
                <a:r>
                  <a:rPr lang="en-IN" sz="2800">
                    <a:solidFill>
                      <a:srgbClr val="15803D"/>
                    </a:solidFill>
                    <a:latin typeface="Cambria Math" panose="02040503050406030204" pitchFamily="18" charset="0"/>
                  </a:rPr>
                  <a:t>$|\vec a\times\vec b|^2$</a:t>
                </a:r>
                <a:r>
                  <a:rPr sz="2800" b="1">
                    <a:solidFill>
                      <a:srgbClr val="15803D"/>
                    </a:solidFill>
                    <a:latin typeface="Arial"/>
                  </a:rPr>
                  <a:t>)</a:t>
                </a:r>
                <a:endParaRPr sz="2800">
                  <a:solidFill>
                    <a:srgbClr val="15803D"/>
                  </a:solidFill>
                </a:endParaRPr>
              </a:p>
            </p:txBody>
          </p:sp>
        </mc:Fallback>
      </mc:AlternateContent>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Test the options on an explicit instance: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𝑖</m:t>
                        </m:r>
                      </m:e>
                    </m:acc>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𝑗</m:t>
                        </m:r>
                      </m:e>
                    </m:acc>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for which the system can be solved by inspection.</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Test the options on an explicit instance: </a:t>
                </a:r>
                <a:r>
                  <a:rPr lang="en-IN" sz="2400">
                    <a:solidFill>
                      <a:srgbClr val="78350F"/>
                    </a:solidFill>
                    <a:latin typeface="Cambria Math" panose="02040503050406030204" pitchFamily="18" charset="0"/>
                  </a:rPr>
                  <a:t>$\vec a=\hat i$</a:t>
                </a:r>
                <a:r>
                  <a:rPr sz="2400" b="0">
                    <a:solidFill>
                      <a:srgbClr val="78350F"/>
                    </a:solidFill>
                    <a:latin typeface="Arial"/>
                  </a:rPr>
                  <a:t>, </a:t>
                </a:r>
                <a:r>
                  <a:rPr lang="en-IN" sz="2400">
                    <a:solidFill>
                      <a:srgbClr val="78350F"/>
                    </a:solidFill>
                    <a:latin typeface="Cambria Math" panose="02040503050406030204" pitchFamily="18" charset="0"/>
                  </a:rPr>
                  <a:t>$\vec b=\hat j$</a:t>
                </a:r>
                <a:r>
                  <a:rPr sz="2400" b="0">
                    <a:solidFill>
                      <a:srgbClr val="78350F"/>
                    </a:solidFill>
                    <a:latin typeface="Arial"/>
                  </a:rPr>
                  <a:t>, </a:t>
                </a:r>
                <a:r>
                  <a:rPr lang="en-IN" sz="2400">
                    <a:solidFill>
                      <a:srgbClr val="78350F"/>
                    </a:solidFill>
                    <a:latin typeface="Cambria Math" panose="02040503050406030204" pitchFamily="18" charset="0"/>
                  </a:rPr>
                  <a:t>$r=1$</a:t>
                </a:r>
                <a:r>
                  <a:rPr sz="2400" b="0">
                    <a:solidFill>
                      <a:srgbClr val="78350F"/>
                    </a:solidFill>
                    <a:latin typeface="Arial"/>
                  </a:rPr>
                  <a:t>, for which the system can be solved by inspection.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(from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(iv)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(iii):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(check: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y\perp\vec a,\vec b$</a:t>
                </a:r>
                <a:r>
                  <a:rPr sz="2400" b="0">
                    <a:solidFill>
                      <a:srgbClr val="111827"/>
                    </a:solidFill>
                    <a:latin typeface="Arial"/>
                  </a:rPr>
                  <a:t> and </a:t>
                </a:r>
                <a:r>
                  <a:rPr lang="en-IN" sz="2400">
                    <a:solidFill>
                      <a:srgbClr val="111827"/>
                    </a:solidFill>
                    <a:latin typeface="Cambria Math" panose="02040503050406030204" pitchFamily="18" charset="0"/>
                  </a:rPr>
                  <a:t>$\vec x\times\vec y=\hat i$</a:t>
                </a:r>
                <a:r>
                  <a:rPr sz="2400" b="0">
                    <a:solidFill>
                      <a:srgbClr val="111827"/>
                    </a:solidFill>
                    <a:latin typeface="Arial"/>
                  </a:rPr>
                  <a:t>, </a:t>
                </a:r>
                <a:r>
                  <a:rPr lang="en-IN" sz="2400">
                    <a:solidFill>
                      <a:srgbClr val="111827"/>
                    </a:solidFill>
                    <a:latin typeface="Cambria Math" panose="02040503050406030204" pitchFamily="18" charset="0"/>
                  </a:rPr>
                  <a:t>$\vec y\times\vec z=\hat j$</a:t>
                </a:r>
                <a:r>
                  <a:rPr sz="2400" b="0">
                    <a:solidFill>
                      <a:srgbClr val="111827"/>
                    </a:solidFill>
                    <a:latin typeface="Arial"/>
                  </a:rPr>
                  <a:t>: take </a:t>
                </a:r>
                <a:r>
                  <a:rPr lang="en-IN" sz="2400">
                    <a:solidFill>
                      <a:srgbClr val="111827"/>
                    </a:solidFill>
                    <a:latin typeface="Cambria Math" panose="02040503050406030204" pitchFamily="18" charset="0"/>
                  </a:rPr>
                  <a:t>$\vec y=\hat k$</a:t>
                </a:r>
                <a:r>
                  <a:rPr sz="2400" b="0">
                    <a:solidFill>
                      <a:srgbClr val="111827"/>
                    </a:solidFill>
                    <a:latin typeface="Arial"/>
                  </a:rPr>
                  <a:t> (from </a:t>
                </a:r>
                <a:r>
                  <a:rPr lang="en-IN" sz="2400">
                    <a:solidFill>
                      <a:srgbClr val="111827"/>
                    </a:solidFill>
                    <a:latin typeface="Cambria Math" panose="02040503050406030204" pitchFamily="18" charset="0"/>
                  </a:rPr>
                  <a:t>$\vec y=\frac{\vec a\times\vec b}{r}=\hat i\times\hat j=\hat 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x\times\hat k=\hat i$</a:t>
                </a:r>
                <a:r>
                  <a:rPr sz="2400" b="0">
                    <a:solidFill>
                      <a:srgbClr val="111827"/>
                    </a:solidFill>
                    <a:latin typeface="Arial"/>
                  </a:rPr>
                  <a:t> with </a:t>
                </a:r>
                <a:r>
                  <a:rPr lang="en-IN" sz="2400">
                    <a:solidFill>
                      <a:srgbClr val="111827"/>
                    </a:solidFill>
                    <a:latin typeface="Cambria Math" panose="02040503050406030204" pitchFamily="18" charset="0"/>
                  </a:rPr>
                  <a:t>$\vec x\cdot\hat k=1$</a:t>
                </a:r>
                <a:r>
                  <a:rPr sz="2400" b="0">
                    <a:solidFill>
                      <a:srgbClr val="111827"/>
                    </a:solidFill>
                    <a:latin typeface="Arial"/>
                  </a:rPr>
                  <a:t> (iv) and </a:t>
                </a:r>
                <a:r>
                  <a:rPr lang="en-IN" sz="2400">
                    <a:solidFill>
                      <a:srgbClr val="111827"/>
                    </a:solidFill>
                    <a:latin typeface="Cambria Math" panose="02040503050406030204" pitchFamily="18" charset="0"/>
                  </a:rPr>
                  <a:t>$\vec x\cdot\hat j=1$</a:t>
                </a:r>
                <a:r>
                  <a:rPr sz="2400" b="0">
                    <a:solidFill>
                      <a:srgbClr val="111827"/>
                    </a:solidFill>
                    <a:latin typeface="Arial"/>
                  </a:rPr>
                  <a:t> (iii): </a:t>
                </a:r>
                <a:r>
                  <a:rPr lang="en-IN" sz="2400">
                    <a:solidFill>
                      <a:srgbClr val="111827"/>
                    </a:solidFill>
                    <a:latin typeface="Cambria Math" panose="02040503050406030204" pitchFamily="18" charset="0"/>
                  </a:rPr>
                  <a:t>$\vec x=\hat j+\hat k$</a:t>
                </a:r>
                <a:r>
                  <a:rPr sz="2400" b="0">
                    <a:solidFill>
                      <a:srgbClr val="111827"/>
                    </a:solidFill>
                    <a:latin typeface="Arial"/>
                  </a:rPr>
                  <a:t> (check: </a:t>
                </a:r>
                <a:r>
                  <a:rPr lang="en-IN" sz="2400">
                    <a:solidFill>
                      <a:srgbClr val="111827"/>
                    </a:solidFill>
                    <a:latin typeface="Cambria Math" panose="02040503050406030204" pitchFamily="18" charset="0"/>
                  </a:rPr>
                  <a:t>$(\hat j+\hat k)\times\hat k=\hat 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 (B) with the squared denominator: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e>
                    </m:d>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 (A)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and option (C)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both differ from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So (B) is the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 (B) with the squared denominator: </a:t>
                </a:r>
                <a:r>
                  <a:rPr lang="en-IN" sz="2400">
                    <a:solidFill>
                      <a:srgbClr val="111827"/>
                    </a:solidFill>
                    <a:latin typeface="Cambria Math" panose="02040503050406030204" pitchFamily="18" charset="0"/>
                  </a:rPr>
                  <a:t>$\frac{1}{1}\left[\hat k-\hat i\times\hat k\right]=\hat k+\hat j=\hat j+\hat k$</a:t>
                </a:r>
                <a:r>
                  <a:rPr sz="2400" b="0">
                    <a:solidFill>
                      <a:srgbClr val="111827"/>
                    </a:solidFill>
                    <a:latin typeface="Arial"/>
                  </a:rPr>
                  <a:t> ✓.</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 (A) gives </a:t>
                </a:r>
                <a:r>
                  <a:rPr lang="en-IN" sz="2400">
                    <a:solidFill>
                      <a:srgbClr val="111827"/>
                    </a:solidFill>
                    <a:latin typeface="Cambria Math" panose="02040503050406030204" pitchFamily="18" charset="0"/>
                  </a:rPr>
                  <a:t>$\hat i\times\hat k=-\hat j$</a:t>
                </a:r>
                <a:r>
                  <a:rPr sz="2400" b="0">
                    <a:solidFill>
                      <a:srgbClr val="111827"/>
                    </a:solidFill>
                    <a:latin typeface="Arial"/>
                  </a:rPr>
                  <a:t> and option (C) gives </a:t>
                </a:r>
                <a:r>
                  <a:rPr lang="en-IN" sz="2400">
                    <a:solidFill>
                      <a:srgbClr val="111827"/>
                    </a:solidFill>
                    <a:latin typeface="Cambria Math" panose="02040503050406030204" pitchFamily="18" charset="0"/>
                  </a:rPr>
                  <a:t>$\hat k+\hat j\times\hat k=\hat k+\hat i$</a:t>
                </a:r>
                <a:r>
                  <a:rPr sz="2400" b="0">
                    <a:solidFill>
                      <a:srgbClr val="111827"/>
                    </a:solidFill>
                    <a:latin typeface="Arial"/>
                  </a:rPr>
                  <a:t>: both differ from </a:t>
                </a:r>
                <a:r>
                  <a:rPr lang="en-IN" sz="2400">
                    <a:solidFill>
                      <a:srgbClr val="111827"/>
                    </a:solidFill>
                    <a:latin typeface="Cambria Math" panose="02040503050406030204" pitchFamily="18" charset="0"/>
                  </a:rPr>
                  <a:t>$\hat j+\hat k$</a:t>
                </a:r>
                <a:r>
                  <a:rPr sz="2400" b="0">
                    <a:solidFill>
                      <a:srgbClr val="111827"/>
                    </a:solidFill>
                    <a:latin typeface="Arial"/>
                  </a:rPr>
                  <a:t>. So (B) is the vector </a:t>
                </a:r>
                <a:r>
                  <a:rPr lang="en-IN" sz="2400">
                    <a:solidFill>
                      <a:srgbClr val="111827"/>
                    </a:solidFill>
                    <a:latin typeface="Cambria Math" panose="02040503050406030204" pitchFamily="18" charset="0"/>
                  </a:rPr>
                  <a:t>$\vec x$</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(the printed denominator should be </a:t>
                </a:r>
                <a14:m>
                  <m:oMath xmlns:m="http://schemas.openxmlformats.org/officeDocument/2006/math">
                    <m:r>
                      <m:rPr>
                        <m:sty m:val="p"/>
                      </m:rPr>
                      <a:rPr lang="en-IN" sz="2800">
                        <a:solidFill>
                          <a:srgbClr val="15803D"/>
                        </a:solidFill>
                        <a:latin typeface="Cambria Math" panose="02040503050406030204" pitchFamily="18" charset="0"/>
                      </a:rPr>
                      <m:t>|</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𝑎</m:t>
                        </m:r>
                      </m:e>
                    </m:acc>
                    <m:r>
                      <m:rPr>
                        <m:sty m:val="p"/>
                      </m:rPr>
                      <a:rPr lang="en-IN" sz="2800">
                        <a:solidFill>
                          <a:srgbClr val="15803D"/>
                        </a:solidFill>
                        <a:latin typeface="Cambria Math" panose="02040503050406030204" pitchFamily="18" charset="0"/>
                      </a:rPr>
                      <m:t>×</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𝑏</m:t>
                        </m:r>
                      </m:e>
                    </m:acc>
                    <m:sSup>
                      <m:e>
                        <m:r>
                          <m:rPr>
                            <m:sty m:val="p"/>
                          </m:rPr>
                          <a:rPr lang="en-IN" sz="2800">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2</m:t>
                        </m:r>
                      </m:sup>
                    </m:sSup>
                  </m:oMath>
                </a14:m>
                <a:r>
                  <a:rPr sz="2800" b="1">
                    <a:solidFill>
                      <a:srgbClr val="15803D"/>
                    </a:solidFill>
                    <a:latin typeface="Arial"/>
                  </a:rPr>
                  <a:t>)</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(the printed denominator should be </a:t>
                </a:r>
                <a:r>
                  <a:rPr lang="en-IN" sz="2800">
                    <a:solidFill>
                      <a:srgbClr val="15803D"/>
                    </a:solidFill>
                    <a:latin typeface="Cambria Math" panose="02040503050406030204" pitchFamily="18" charset="0"/>
                  </a:rPr>
                  <a:t>$|\vec a\times\vec b|^2$</a:t>
                </a:r>
                <a:r>
                  <a:rPr sz="2800" b="1">
                    <a:solidFill>
                      <a:srgbClr val="15803D"/>
                    </a:solidFill>
                    <a:latin typeface="Arial"/>
                  </a:rPr>
                  <a:t>)</a:t>
                </a:r>
                <a:endParaRPr sz="2800">
                  <a:solidFill>
                    <a:srgbClr val="15803D"/>
                  </a:solidFill>
                </a:endParaRPr>
              </a:p>
            </p:txBody>
          </p:sp>
        </mc:Fallback>
      </mc:AlternateContent>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 the standard way to recover a vector from its cross product with a known vector plus one dot product.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Given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is determined: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(for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p\times\vec q)\times(\vec r\times\vec s)=[\vec p\ \vec q\ \vec s]\vec r-[\vec p\ \vec q\ \vec r]\vec 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u\times\vec v)\times\vec w=\vec v(\vec u\cdot\vec w)-\vec u(\vec v\cdot\vec w)$</a:t>
                </a:r>
                <a:r>
                  <a:rPr sz="2400" b="0">
                    <a:solidFill>
                      <a:srgbClr val="111827"/>
                    </a:solidFill>
                    <a:latin typeface="Arial"/>
                  </a:rPr>
                  <a:t> - the standard way to recover a vector from its cross product with a known vector plus one dot product.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Given </a:t>
                </a:r>
                <a:r>
                  <a:rPr lang="en-IN" sz="2400">
                    <a:solidFill>
                      <a:srgbClr val="111827"/>
                    </a:solidFill>
                    <a:latin typeface="Cambria Math" panose="02040503050406030204" pitchFamily="18" charset="0"/>
                  </a:rPr>
                  <a:t>$\vec x\times\vec y=\vec a$</a:t>
                </a:r>
                <a:r>
                  <a:rPr sz="2400" b="0">
                    <a:solidFill>
                      <a:srgbClr val="111827"/>
                    </a:solidFill>
                    <a:latin typeface="Arial"/>
                  </a:rPr>
                  <a:t> and </a:t>
                </a:r>
                <a:r>
                  <a:rPr lang="en-IN" sz="2400">
                    <a:solidFill>
                      <a:srgbClr val="111827"/>
                    </a:solidFill>
                    <a:latin typeface="Cambria Math" panose="02040503050406030204" pitchFamily="18" charset="0"/>
                  </a:rPr>
                  <a:t>$\vec x\cdot\vec y=k$</a:t>
                </a:r>
                <a:r>
                  <a:rPr sz="2400" b="0">
                    <a:solidFill>
                      <a:srgbClr val="111827"/>
                    </a:solidFill>
                    <a:latin typeface="Arial"/>
                  </a:rPr>
                  <a:t>, </a:t>
                </a:r>
                <a:r>
                  <a:rPr lang="en-IN" sz="2400">
                    <a:solidFill>
                      <a:srgbClr val="111827"/>
                    </a:solidFill>
                    <a:latin typeface="Cambria Math" panose="02040503050406030204" pitchFamily="18" charset="0"/>
                  </a:rPr>
                  <a:t>$\vec x$</a:t>
                </a:r>
                <a:r>
                  <a:rPr sz="2400" b="0">
                    <a:solidFill>
                      <a:srgbClr val="111827"/>
                    </a:solidFill>
                    <a:latin typeface="Arial"/>
                  </a:rPr>
                  <a:t> is determined: </a:t>
                </a:r>
                <a:r>
                  <a:rPr lang="en-IN" sz="2400">
                    <a:solidFill>
                      <a:srgbClr val="111827"/>
                    </a:solidFill>
                    <a:latin typeface="Cambria Math" panose="02040503050406030204" pitchFamily="18" charset="0"/>
                  </a:rPr>
                  <a:t>$\vec x=\frac{\vec y\,k-\vec a\times\vec y}{|\vec y|^2}$</a:t>
                </a:r>
                <a:r>
                  <a:rPr sz="2400" b="0">
                    <a:solidFill>
                      <a:srgbClr val="111827"/>
                    </a:solidFill>
                    <a:latin typeface="Arial"/>
                  </a:rPr>
                  <a:t> (for </a:t>
                </a:r>
                <a:r>
                  <a:rPr lang="en-IN" sz="2400">
                    <a:solidFill>
                      <a:srgbClr val="111827"/>
                    </a:solidFill>
                    <a:latin typeface="Cambria Math" panose="02040503050406030204" pitchFamily="18" charset="0"/>
                  </a:rPr>
                  <a:t>$\vec y\ne\vec 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62381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......(i),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......(ii),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......(iii),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......(iv)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......(v), where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are non-zero non-collinear vectors,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𝑟</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𝑟</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endParaRPr sz="2400">
                  <a:solidFill>
                    <a:srgbClr val="111827"/>
                  </a:solidFill>
                </a:endParaRPr>
              </a:p>
            </p:txBody>
          </p:sp>
        </mc:Choice>
        <mc:Fallback>
          <p:sp>
            <p:nvSpPr>
              <p:cNvPr id="4" name="Rounded Rectangle 3"/>
              <p:cNvSpPr/>
              <p:nvPr/>
            </p:nvSpPr>
            <p:spPr>
              <a:xfrm>
                <a:off x="731520" y="1280160"/>
                <a:ext cx="10725912" cy="462381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x\times\vec y=\vec a$</a:t>
                </a:r>
                <a:r>
                  <a:rPr sz="2400" b="0">
                    <a:solidFill>
                      <a:srgbClr val="111827"/>
                    </a:solidFill>
                    <a:latin typeface="Arial"/>
                  </a:rPr>
                  <a:t> ......(i), </a:t>
                </a:r>
                <a:r>
                  <a:rPr lang="en-IN" sz="2400">
                    <a:solidFill>
                      <a:srgbClr val="111827"/>
                    </a:solidFill>
                    <a:latin typeface="Cambria Math" panose="02040503050406030204" pitchFamily="18" charset="0"/>
                  </a:rPr>
                  <a:t>$\vec y\times\vec z=\vec b$</a:t>
                </a:r>
                <a:r>
                  <a:rPr sz="2400" b="0">
                    <a:solidFill>
                      <a:srgbClr val="111827"/>
                    </a:solidFill>
                    <a:latin typeface="Arial"/>
                  </a:rPr>
                  <a:t> ......(ii), </a:t>
                </a:r>
                <a:r>
                  <a:rPr lang="en-IN" sz="2400">
                    <a:solidFill>
                      <a:srgbClr val="111827"/>
                    </a:solidFill>
                    <a:latin typeface="Cambria Math" panose="02040503050406030204" pitchFamily="18" charset="0"/>
                  </a:rPr>
                  <a:t>$\vec x\cdot\vec b=r$</a:t>
                </a:r>
                <a:r>
                  <a:rPr sz="2400" b="0">
                    <a:solidFill>
                      <a:srgbClr val="111827"/>
                    </a:solidFill>
                    <a:latin typeface="Arial"/>
                  </a:rPr>
                  <a:t> ......(iii), </a:t>
                </a:r>
                <a:r>
                  <a:rPr lang="en-IN" sz="2400">
                    <a:solidFill>
                      <a:srgbClr val="111827"/>
                    </a:solidFill>
                    <a:latin typeface="Cambria Math" panose="02040503050406030204" pitchFamily="18" charset="0"/>
                  </a:rPr>
                  <a:t>$\vec x\cdot\vec y=1$</a:t>
                </a:r>
                <a:r>
                  <a:rPr sz="2400" b="0">
                    <a:solidFill>
                      <a:srgbClr val="111827"/>
                    </a:solidFill>
                    <a:latin typeface="Arial"/>
                  </a:rPr>
                  <a:t> ......(iv) and </a:t>
                </a:r>
                <a:r>
                  <a:rPr lang="en-IN" sz="2400">
                    <a:solidFill>
                      <a:srgbClr val="111827"/>
                    </a:solidFill>
                    <a:latin typeface="Cambria Math" panose="02040503050406030204" pitchFamily="18" charset="0"/>
                  </a:rPr>
                  <a:t>$\vec y\cdot\vec z=1$</a:t>
                </a:r>
                <a:r>
                  <a:rPr sz="2400" b="0">
                    <a:solidFill>
                      <a:srgbClr val="111827"/>
                    </a:solidFill>
                    <a:latin typeface="Arial"/>
                  </a:rPr>
                  <a:t> ......(v), where </a:t>
                </a:r>
                <a:r>
                  <a:rPr lang="en-IN" sz="2400">
                    <a:solidFill>
                      <a:srgbClr val="111827"/>
                    </a:solidFill>
                    <a:latin typeface="Cambria Math" panose="02040503050406030204" pitchFamily="18" charset="0"/>
                  </a:rPr>
                  <a:t>$\vec a,\vec b$</a:t>
                </a:r>
                <a:r>
                  <a:rPr sz="2400" b="0">
                    <a:solidFill>
                      <a:srgbClr val="111827"/>
                    </a:solidFill>
                    <a:latin typeface="Arial"/>
                  </a:rPr>
                  <a:t> are non-zero non-collinear vectors,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Vector </a:t>
                </a:r>
                <a:r>
                  <a:rPr lang="en-IN" sz="2400">
                    <a:solidFill>
                      <a:srgbClr val="111827"/>
                    </a:solidFill>
                    <a:latin typeface="Cambria Math" panose="02040503050406030204" pitchFamily="18" charset="0"/>
                  </a:rPr>
                  <a:t>$\vec y$</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$\frac{\vec a\times\vec b}{r}$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$\vec a+\frac{\vec a\times\vec b}{r}$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$\frac{\vec a\times\vec b}{2r}$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$\frac{\vec a}{r}+\vec a\times\vec b$</a:t>
                </a:r>
                <a:endParaRPr sz="2400">
                  <a:solidFill>
                    <a:srgbClr val="111827"/>
                  </a:solidFill>
                </a:endParaRPr>
              </a:p>
            </p:txBody>
          </p:sp>
        </mc:Fallback>
      </mc:AlternateContent>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triple product identities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066288"/>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066288"/>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$(\vec x\times\vec y)\times(\vec y\times\vec z)=[\vec x\ \vec y\ \vec z]\vec y$</a:t>
                </a:r>
                <a:r>
                  <a:rPr sz="2400" b="0">
                    <a:solidFill>
                      <a:srgbClr val="78350F"/>
                    </a:solidFill>
                    <a:latin typeface="Arial"/>
                  </a:rPr>
                  <a:t> and </a:t>
                </a:r>
                <a:r>
                  <a:rPr lang="en-IN" sz="2400">
                    <a:solidFill>
                      <a:srgbClr val="78350F"/>
                    </a:solidFill>
                    <a:latin typeface="Cambria Math" panose="02040503050406030204" pitchFamily="18" charset="0"/>
                  </a:rPr>
                  <a:t>$[\vec x\ \vec y\ \vec z]=\vec x\cdot\vec b=r$</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312920"/>
                <a:ext cx="10725912" cy="23621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(i) and (ii):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312920"/>
                <a:ext cx="10725912" cy="23621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(i) and (ii): </a:t>
                </a:r>
                <a:r>
                  <a:rPr lang="en-IN" sz="2400">
                    <a:solidFill>
                      <a:srgbClr val="111827"/>
                    </a:solidFill>
                    <a:latin typeface="Cambria Math" panose="02040503050406030204" pitchFamily="18" charset="0"/>
                  </a:rPr>
                  <a:t>$(\vec x\times\vec y)\times(\vec y\times\vec z)=\vec a\times\vec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r>
                  <a:rPr lang="en-IN" sz="2400">
                    <a:solidFill>
                      <a:srgbClr val="111827"/>
                    </a:solidFill>
                    <a:latin typeface="Cambria Math" panose="02040503050406030204" pitchFamily="18" charset="0"/>
                  </a:rPr>
                  <a:t>$(\vec p\times\vec q)\times(\vec r\times\vec s)=[\vec p\ \vec q\ \vec s]\vec r-[\vec p\ \vec q\ \vec r]\vec s$</a:t>
                </a:r>
                <a:r>
                  <a:rPr sz="2400" b="0">
                    <a:solidFill>
                      <a:srgbClr val="111827"/>
                    </a:solidFill>
                    <a:latin typeface="Arial"/>
                  </a:rPr>
                  <a:t> with </a:t>
                </a:r>
                <a:r>
                  <a:rPr lang="en-IN" sz="2400">
                    <a:solidFill>
                      <a:srgbClr val="111827"/>
                    </a:solidFill>
                    <a:latin typeface="Cambria Math" panose="02040503050406030204" pitchFamily="18" charset="0"/>
                  </a:rPr>
                  <a:t>$\vec p=\vec x,\ \vec q=\vec y,\ \vec r=\vec y,\ \vec s=\vec z$</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by (ii), (iii).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𝑟</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 option (A).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x\ \vec y\ \vec z]\vec y-[\vec x\ \vec y\ \vec y]\vec z=[\vec x\ \vec y\ \vec z]\vec 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x\ \vec y\ \vec z]=\vec x\cdot(\vec y\times\vec z)=\vec x\cdot\vec b=r$</a:t>
                </a:r>
                <a:r>
                  <a:rPr sz="2400" b="0">
                    <a:solidFill>
                      <a:srgbClr val="111827"/>
                    </a:solidFill>
                    <a:latin typeface="Arial"/>
                  </a:rPr>
                  <a:t> by (ii), (iii).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$r\,\vec y=\vec a\times\vec b$</a:t>
                </a:r>
                <a:r>
                  <a:rPr sz="2400" b="0">
                    <a:solidFill>
                      <a:srgbClr val="111827"/>
                    </a:solidFill>
                    <a:latin typeface="Arial"/>
                  </a:rPr>
                  <a:t> and </a:t>
                </a:r>
                <a:r>
                  <a:rPr lang="en-IN" sz="2400">
                    <a:solidFill>
                      <a:srgbClr val="111827"/>
                    </a:solidFill>
                    <a:latin typeface="Cambria Math" panose="02040503050406030204" pitchFamily="18" charset="0"/>
                  </a:rPr>
                  <a:t>$\vec y=\frac{\vec a\times\vec b}{r}$</a:t>
                </a:r>
                <a:r>
                  <a:rPr sz="2400" b="0">
                    <a:solidFill>
                      <a:srgbClr val="111827"/>
                    </a:solidFill>
                    <a:latin typeface="Arial"/>
                  </a:rPr>
                  <a:t>: option (A).</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f>
                      <m:fPr>
                        <m:type m:val="bar"/>
                        <m:ctrlPr>
                          <a:rPr lang="en-IN" sz="2800" i="1">
                            <a:solidFill>
                              <a:srgbClr val="15803D"/>
                            </a:solidFill>
                            <a:latin typeface="Cambria Math" panose="02040503050406030204" pitchFamily="18" charset="0"/>
                          </a:rPr>
                        </m:ctrlPr>
                      </m:fPr>
                      <m:num>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𝑎</m:t>
                            </m:r>
                          </m:e>
                        </m:acc>
                        <m:r>
                          <m:rPr>
                            <m:sty m:val="p"/>
                          </m:rPr>
                          <a:rPr lang="en-IN" sz="2800">
                            <a:solidFill>
                              <a:srgbClr val="15803D"/>
                            </a:solidFill>
                            <a:latin typeface="Cambria Math" panose="02040503050406030204" pitchFamily="18" charset="0"/>
                          </a:rPr>
                          <m:t>×</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𝑏</m:t>
                            </m:r>
                          </m:e>
                        </m:acc>
                      </m:num>
                      <m:den>
                        <m:r>
                          <a:rPr lang="en-IN" sz="2800" i="1">
                            <a:solidFill>
                              <a:srgbClr val="15803D"/>
                            </a:solidFill>
                            <a:latin typeface="Cambria Math" panose="02040503050406030204" pitchFamily="18" charset="0"/>
                          </a:rPr>
                          <m:t>𝑟</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$\frac{\vec a\times\vec b}{r}$</a:t>
                </a:r>
                <a:endParaRPr sz="2800">
                  <a:solidFill>
                    <a:srgbClr val="15803D"/>
                  </a:solidFill>
                </a:endParaRPr>
              </a:p>
            </p:txBody>
          </p:sp>
        </mc:Fallback>
      </mc:AlternateContent>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Expand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𝑤</m:t>
                        </m:r>
                      </m:e>
                    </m:acc>
                  </m:oMath>
                </a14:m>
                <a:r>
                  <a:rPr sz="2400" b="0">
                    <a:solidFill>
                      <a:srgbClr val="78350F"/>
                    </a:solidFill>
                    <a:latin typeface="Arial"/>
                  </a:rPr>
                  <a:t>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𝑤</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oMath>
                </a14:m>
                <a:r>
                  <a:rPr sz="2400" b="0">
                    <a:solidFill>
                      <a:srgbClr val="78350F"/>
                    </a:solidFill>
                    <a:latin typeface="Arial"/>
                  </a:rPr>
                  <a:t> by the rule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𝑢</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𝑣</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𝑤</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𝑣</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𝑢</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𝑤</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𝑢</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𝑣</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𝑤</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Expand </a:t>
                </a:r>
                <a:r>
                  <a:rPr lang="en-IN" sz="2400">
                    <a:solidFill>
                      <a:srgbClr val="78350F"/>
                    </a:solidFill>
                    <a:latin typeface="Cambria Math" panose="02040503050406030204" pitchFamily="18" charset="0"/>
                  </a:rPr>
                  <a:t>$(\vec x\times\vec y)\times\vec w$</a:t>
                </a:r>
                <a:r>
                  <a:rPr sz="2400" b="0">
                    <a:solidFill>
                      <a:srgbClr val="78350F"/>
                    </a:solidFill>
                    <a:latin typeface="Arial"/>
                  </a:rPr>
                  <a:t> with </a:t>
                </a:r>
                <a:r>
                  <a:rPr lang="en-IN" sz="2400">
                    <a:solidFill>
                      <a:srgbClr val="78350F"/>
                    </a:solidFill>
                    <a:latin typeface="Cambria Math" panose="02040503050406030204" pitchFamily="18" charset="0"/>
                  </a:rPr>
                  <a:t>$\vec w=\vec y\times\vec z$</a:t>
                </a:r>
                <a:r>
                  <a:rPr sz="2400" b="0">
                    <a:solidFill>
                      <a:srgbClr val="78350F"/>
                    </a:solidFill>
                    <a:latin typeface="Arial"/>
                  </a:rPr>
                  <a:t> by the rule </a:t>
                </a:r>
                <a:r>
                  <a:rPr lang="en-IN" sz="2400">
                    <a:solidFill>
                      <a:srgbClr val="78350F"/>
                    </a:solidFill>
                    <a:latin typeface="Cambria Math" panose="02040503050406030204" pitchFamily="18" charset="0"/>
                  </a:rPr>
                  <a:t>$(\vec u\times\vec v)\times\vec w=\vec v(\vec u\cdot\vec w)-\vec u(\vec v\cdot\vec w)$</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by (iii).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giving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 (option A).</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b=(\vec x\times\vec y)\times\vec b$</a:t>
                </a:r>
                <a:r>
                  <a:rPr sz="2400" b="0">
                    <a:solidFill>
                      <a:srgbClr val="111827"/>
                    </a:solidFill>
                    <a:latin typeface="Arial"/>
                  </a:rPr>
                  <a:t> with </a:t>
                </a:r>
                <a:r>
                  <a:rPr lang="en-IN" sz="2400">
                    <a:solidFill>
                      <a:srgbClr val="111827"/>
                    </a:solidFill>
                    <a:latin typeface="Cambria Math" panose="02040503050406030204" pitchFamily="18" charset="0"/>
                  </a:rPr>
                  <a:t>$\vec b=\vec y\times\vec 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x\times\vec y)\times\vec b=\vec y(\vec x\cdot\vec b)-\vec x(\vec y\cdot\vec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y\cdot\vec b=\vec y\cdot(\vec y\times\vec z)=0$</a:t>
                </a:r>
                <a:r>
                  <a:rPr sz="2400" b="0">
                    <a:solidFill>
                      <a:srgbClr val="111827"/>
                    </a:solidFill>
                    <a:latin typeface="Arial"/>
                  </a:rPr>
                  <a:t> and </a:t>
                </a:r>
                <a:r>
                  <a:rPr lang="en-IN" sz="2400">
                    <a:solidFill>
                      <a:srgbClr val="111827"/>
                    </a:solidFill>
                    <a:latin typeface="Cambria Math" panose="02040503050406030204" pitchFamily="18" charset="0"/>
                  </a:rPr>
                  <a:t>$\vec x\cdot\vec b=r$</a:t>
                </a:r>
                <a:r>
                  <a:rPr sz="2400" b="0">
                    <a:solidFill>
                      <a:srgbClr val="111827"/>
                    </a:solidFill>
                    <a:latin typeface="Arial"/>
                  </a:rPr>
                  <a:t> by (iii).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$\vec a\times\vec b=r\,\vec y$</a:t>
                </a:r>
                <a:r>
                  <a:rPr sz="2400" b="0">
                    <a:solidFill>
                      <a:srgbClr val="111827"/>
                    </a:solidFill>
                    <a:latin typeface="Arial"/>
                  </a:rPr>
                  <a:t>, giving </a:t>
                </a:r>
                <a:r>
                  <a:rPr lang="en-IN" sz="2400">
                    <a:solidFill>
                      <a:srgbClr val="111827"/>
                    </a:solidFill>
                    <a:latin typeface="Cambria Math" panose="02040503050406030204" pitchFamily="18" charset="0"/>
                  </a:rPr>
                  <a:t>$\vec y=\frac{\vec a\times\vec b}{r}$</a:t>
                </a:r>
                <a:r>
                  <a:rPr sz="2400" b="0">
                    <a:solidFill>
                      <a:srgbClr val="111827"/>
                    </a:solidFill>
                    <a:latin typeface="Arial"/>
                  </a:rPr>
                  <a:t> (option A).</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f>
                      <m:fPr>
                        <m:type m:val="bar"/>
                        <m:ctrlPr>
                          <a:rPr lang="en-IN" sz="2800" i="1">
                            <a:solidFill>
                              <a:srgbClr val="15803D"/>
                            </a:solidFill>
                            <a:latin typeface="Cambria Math" panose="02040503050406030204" pitchFamily="18" charset="0"/>
                          </a:rPr>
                        </m:ctrlPr>
                      </m:fPr>
                      <m:num>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𝑎</m:t>
                            </m:r>
                          </m:e>
                        </m:acc>
                        <m:r>
                          <m:rPr>
                            <m:sty m:val="p"/>
                          </m:rPr>
                          <a:rPr lang="en-IN" sz="2800">
                            <a:solidFill>
                              <a:srgbClr val="15803D"/>
                            </a:solidFill>
                            <a:latin typeface="Cambria Math" panose="02040503050406030204" pitchFamily="18" charset="0"/>
                          </a:rPr>
                          <m:t>×</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𝑏</m:t>
                            </m:r>
                          </m:e>
                        </m:acc>
                      </m:num>
                      <m:den>
                        <m:r>
                          <a:rPr lang="en-IN" sz="2800" i="1">
                            <a:solidFill>
                              <a:srgbClr val="15803D"/>
                            </a:solidFill>
                            <a:latin typeface="Cambria Math" panose="02040503050406030204" pitchFamily="18" charset="0"/>
                          </a:rPr>
                          <m:t>𝑟</m:t>
                        </m:r>
                      </m:den>
                    </m:f>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$\frac{\vec a\times\vec b}{r}$</a:t>
                </a:r>
                <a:endParaRPr sz="2800">
                  <a:solidFill>
                    <a:srgbClr val="15803D"/>
                  </a:solidFill>
                </a:endParaRPr>
              </a:p>
            </p:txBody>
          </p:sp>
        </mc:Fallback>
      </mc:AlternateContent>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appears in two cross products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(the product of two cross products sharing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is a multiple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can be read as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y$</a:t>
                </a:r>
                <a:r>
                  <a:rPr sz="2400" b="0">
                    <a:solidFill>
                      <a:srgbClr val="111827"/>
                    </a:solidFill>
                    <a:latin typeface="Arial"/>
                  </a:rPr>
                  <a:t> appears in two cross products </a:t>
                </a:r>
                <a:r>
                  <a:rPr lang="en-IN" sz="2400">
                    <a:solidFill>
                      <a:srgbClr val="111827"/>
                    </a:solidFill>
                    <a:latin typeface="Cambria Math" panose="02040503050406030204" pitchFamily="18" charset="0"/>
                  </a:rPr>
                  <a:t>$\vec x\times\vec y=\vec a$</a:t>
                </a:r>
                <a:r>
                  <a:rPr sz="2400" b="0">
                    <a:solidFill>
                      <a:srgbClr val="111827"/>
                    </a:solidFill>
                    <a:latin typeface="Arial"/>
                  </a:rPr>
                  <a:t> and </a:t>
                </a:r>
                <a:r>
                  <a:rPr lang="en-IN" sz="2400">
                    <a:solidFill>
                      <a:srgbClr val="111827"/>
                    </a:solidFill>
                    <a:latin typeface="Cambria Math" panose="02040503050406030204" pitchFamily="18" charset="0"/>
                  </a:rPr>
                  <a:t>$\vec y\times\vec z=\vec b$</a:t>
                </a:r>
                <a:r>
                  <a:rPr sz="2400" b="0">
                    <a:solidFill>
                      <a:srgbClr val="111827"/>
                    </a:solidFill>
                    <a:latin typeface="Arial"/>
                  </a:rPr>
                  <a:t>, then </a:t>
                </a:r>
                <a:r>
                  <a:rPr lang="en-IN" sz="2400">
                    <a:solidFill>
                      <a:srgbClr val="111827"/>
                    </a:solidFill>
                    <a:latin typeface="Cambria Math" panose="02040503050406030204" pitchFamily="18" charset="0"/>
                  </a:rPr>
                  <a:t>$\vec y\parallel\vec a\times\vec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x\times\vec y)\times(\vec y\times\vec z)=[\vec x\ \vec y\ \vec z]\,\vec y$</a:t>
                </a:r>
                <a:r>
                  <a:rPr sz="2400" b="0">
                    <a:solidFill>
                      <a:srgbClr val="111827"/>
                    </a:solidFill>
                    <a:latin typeface="Arial"/>
                  </a:rPr>
                  <a:t> (the product of two cross products sharing </a:t>
                </a:r>
                <a:r>
                  <a:rPr lang="en-IN" sz="2400">
                    <a:solidFill>
                      <a:srgbClr val="111827"/>
                    </a:solidFill>
                    <a:latin typeface="Cambria Math" panose="02040503050406030204" pitchFamily="18" charset="0"/>
                  </a:rPr>
                  <a:t>$\vec y$</a:t>
                </a:r>
                <a:r>
                  <a:rPr sz="2400" b="0">
                    <a:solidFill>
                      <a:srgbClr val="111827"/>
                    </a:solidFill>
                    <a:latin typeface="Arial"/>
                  </a:rPr>
                  <a:t> is a multiple of </a:t>
                </a:r>
                <a:r>
                  <a:rPr lang="en-IN" sz="2400">
                    <a:solidFill>
                      <a:srgbClr val="111827"/>
                    </a:solidFill>
                    <a:latin typeface="Cambria Math" panose="02040503050406030204" pitchFamily="18" charset="0"/>
                  </a:rPr>
                  <a:t>$\vec 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x\ \vec y\ \vec z]$</a:t>
                </a:r>
                <a:r>
                  <a:rPr sz="2400" b="0">
                    <a:solidFill>
                      <a:srgbClr val="111827"/>
                    </a:solidFill>
                    <a:latin typeface="Arial"/>
                  </a:rPr>
                  <a:t> can be read as </a:t>
                </a:r>
                <a:r>
                  <a:rPr lang="en-IN" sz="2400">
                    <a:solidFill>
                      <a:srgbClr val="111827"/>
                    </a:solidFill>
                    <a:latin typeface="Cambria Math" panose="02040503050406030204" pitchFamily="18" charset="0"/>
                  </a:rPr>
                  <a:t>$\vec x\cdot\vec b$</a:t>
                </a:r>
                <a:r>
                  <a:rPr sz="2400" b="0">
                    <a:solidFill>
                      <a:srgbClr val="111827"/>
                    </a:solidFill>
                    <a:latin typeface="Arial"/>
                  </a:rPr>
                  <a:t> or </a:t>
                </a:r>
                <a:r>
                  <a:rPr lang="en-IN" sz="2400">
                    <a:solidFill>
                      <a:srgbClr val="111827"/>
                    </a:solidFill>
                    <a:latin typeface="Cambria Math" panose="02040503050406030204" pitchFamily="18" charset="0"/>
                  </a:rPr>
                  <a:t>$\vec a\cdot\vec z$</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51408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......(i),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......(ii),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......(iii),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......(iv)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......(v), where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are non-zero non-collinear vectors, then.</a:t>
                </a:r>
                <a:endParaRPr sz="2400">
                  <a:solidFill>
                    <a:srgbClr val="111827"/>
                  </a:solidFill>
                </a:endParaRPr>
              </a:p>
              <a:p>
                <a:pPr algn="l">
                  <a:spcAft>
                    <a:spcPts val="500"/>
                  </a:spcAft>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None of these</a:t>
                </a:r>
                <a:endParaRPr sz="2400">
                  <a:solidFill>
                    <a:srgbClr val="111827"/>
                  </a:solidFill>
                </a:endParaRPr>
              </a:p>
            </p:txBody>
          </p:sp>
        </mc:Choice>
        <mc:Fallback>
          <p:sp>
            <p:nvSpPr>
              <p:cNvPr id="4" name="Rounded Rectangle 3"/>
              <p:cNvSpPr/>
              <p:nvPr/>
            </p:nvSpPr>
            <p:spPr>
              <a:xfrm>
                <a:off x="731520" y="1280160"/>
                <a:ext cx="10725912" cy="451408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x\times\vec y=\vec a$</a:t>
                </a:r>
                <a:r>
                  <a:rPr sz="2400" b="0">
                    <a:solidFill>
                      <a:srgbClr val="111827"/>
                    </a:solidFill>
                    <a:latin typeface="Arial"/>
                  </a:rPr>
                  <a:t> ......(i), </a:t>
                </a:r>
                <a:r>
                  <a:rPr lang="en-IN" sz="2400">
                    <a:solidFill>
                      <a:srgbClr val="111827"/>
                    </a:solidFill>
                    <a:latin typeface="Cambria Math" panose="02040503050406030204" pitchFamily="18" charset="0"/>
                  </a:rPr>
                  <a:t>$\vec y\times\vec z=\vec b$</a:t>
                </a:r>
                <a:r>
                  <a:rPr sz="2400" b="0">
                    <a:solidFill>
                      <a:srgbClr val="111827"/>
                    </a:solidFill>
                    <a:latin typeface="Arial"/>
                  </a:rPr>
                  <a:t> ......(ii), </a:t>
                </a:r>
                <a:r>
                  <a:rPr lang="en-IN" sz="2400">
                    <a:solidFill>
                      <a:srgbClr val="111827"/>
                    </a:solidFill>
                    <a:latin typeface="Cambria Math" panose="02040503050406030204" pitchFamily="18" charset="0"/>
                  </a:rPr>
                  <a:t>$\vec x\cdot\vec b=r$</a:t>
                </a:r>
                <a:r>
                  <a:rPr sz="2400" b="0">
                    <a:solidFill>
                      <a:srgbClr val="111827"/>
                    </a:solidFill>
                    <a:latin typeface="Arial"/>
                  </a:rPr>
                  <a:t> ......(iii), </a:t>
                </a:r>
                <a:r>
                  <a:rPr lang="en-IN" sz="2400">
                    <a:solidFill>
                      <a:srgbClr val="111827"/>
                    </a:solidFill>
                    <a:latin typeface="Cambria Math" panose="02040503050406030204" pitchFamily="18" charset="0"/>
                  </a:rPr>
                  <a:t>$\vec x\cdot\vec y=1$</a:t>
                </a:r>
                <a:r>
                  <a:rPr sz="2400" b="0">
                    <a:solidFill>
                      <a:srgbClr val="111827"/>
                    </a:solidFill>
                    <a:latin typeface="Arial"/>
                  </a:rPr>
                  <a:t> ......(iv) and </a:t>
                </a:r>
                <a:r>
                  <a:rPr lang="en-IN" sz="2400">
                    <a:solidFill>
                      <a:srgbClr val="111827"/>
                    </a:solidFill>
                    <a:latin typeface="Cambria Math" panose="02040503050406030204" pitchFamily="18" charset="0"/>
                  </a:rPr>
                  <a:t>$\vec y\cdot\vec z=1$</a:t>
                </a:r>
                <a:r>
                  <a:rPr sz="2400" b="0">
                    <a:solidFill>
                      <a:srgbClr val="111827"/>
                    </a:solidFill>
                    <a:latin typeface="Arial"/>
                  </a:rPr>
                  <a:t> ......(v), where </a:t>
                </a:r>
                <a:r>
                  <a:rPr lang="en-IN" sz="2400">
                    <a:solidFill>
                      <a:srgbClr val="111827"/>
                    </a:solidFill>
                    <a:latin typeface="Cambria Math" panose="02040503050406030204" pitchFamily="18" charset="0"/>
                  </a:rPr>
                  <a:t>$\vec a,\vec b$</a:t>
                </a:r>
                <a:r>
                  <a:rPr sz="2400" b="0">
                    <a:solidFill>
                      <a:srgbClr val="111827"/>
                    </a:solidFill>
                    <a:latin typeface="Arial"/>
                  </a:rPr>
                  <a:t> are non-zero non-collinear vectors, then.</a:t>
                </a:r>
                <a:endParaRPr sz="2400">
                  <a:solidFill>
                    <a:srgbClr val="111827"/>
                  </a:solidFill>
                </a:endParaRPr>
              </a:p>
              <a:p>
                <a:pPr algn="l">
                  <a:spcAft>
                    <a:spcPts val="500"/>
                  </a:spcAft>
                  <a:defRPr sz="2400">
                    <a:solidFill>
                      <a:srgbClr val="111827"/>
                    </a:solidFill>
                  </a:defRPr>
                </a:pPr>
                <a:r>
                  <a:rPr lang="en-IN" sz="2400">
                    <a:solidFill>
                      <a:srgbClr val="111827"/>
                    </a:solidFill>
                    <a:latin typeface="Cambria Math" panose="02040503050406030204" pitchFamily="18" charset="0"/>
                  </a:rPr>
                  <a:t>$\vec z$</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$\frac{r}{|\vec a\times\vec b|^2}\left[\vec a+\vec b+(\vec a\times\vec b)\right]$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$\frac{r}{|\vec a\times\vec b|^2}\left[\vec a+\vec b-\vec a\times(\vec a\times\vec b)\right]$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$\frac{r}{|\vec a\times\vec b|^2}\left[\vec a\times\vec b+\vec b\times(\vec a\times\vec b)\right]$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None of these</a:t>
                </a:r>
                <a:endParaRPr sz="2400">
                  <a:solidFill>
                    <a:srgbClr val="111827"/>
                  </a:solidFill>
                </a:endParaRPr>
              </a:p>
            </p:txBody>
          </p:sp>
        </mc:Fallback>
      </mc:AlternateContent>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triple product identities, Solving simultaneous vector equations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Cross (ii)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oMath>
                </a14:m>
                <a:r>
                  <a:rPr sz="2400" b="0">
                    <a:solidFill>
                      <a:srgbClr val="78350F"/>
                    </a:solidFill>
                    <a:latin typeface="Arial"/>
                  </a:rPr>
                  <a:t> from the left: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oMath>
                </a14:m>
                <a:r>
                  <a:rPr sz="2400" b="0">
                    <a:solidFill>
                      <a:srgbClr val="78350F"/>
                    </a:solidFill>
                    <a:latin typeface="Arial"/>
                  </a:rPr>
                  <a:t> (using (v)), which equals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Cross (ii) with </a:t>
                </a:r>
                <a:r>
                  <a:rPr lang="en-IN" sz="2400">
                    <a:solidFill>
                      <a:srgbClr val="78350F"/>
                    </a:solidFill>
                    <a:latin typeface="Cambria Math" panose="02040503050406030204" pitchFamily="18" charset="0"/>
                  </a:rPr>
                  <a:t>$\vec y$</a:t>
                </a:r>
                <a:r>
                  <a:rPr sz="2400" b="0">
                    <a:solidFill>
                      <a:srgbClr val="78350F"/>
                    </a:solidFill>
                    <a:latin typeface="Arial"/>
                  </a:rPr>
                  <a:t> from the left: </a:t>
                </a:r>
                <a:r>
                  <a:rPr lang="en-IN" sz="2400">
                    <a:solidFill>
                      <a:srgbClr val="78350F"/>
                    </a:solidFill>
                    <a:latin typeface="Cambria Math" panose="02040503050406030204" pitchFamily="18" charset="0"/>
                  </a:rPr>
                  <a:t>$\vec y\times(\vec y\times\vec z)=\vec y-|\vec y|^2\vec z$</a:t>
                </a:r>
                <a:r>
                  <a:rPr sz="2400" b="0">
                    <a:solidFill>
                      <a:srgbClr val="78350F"/>
                    </a:solidFill>
                    <a:latin typeface="Arial"/>
                  </a:rPr>
                  <a:t> (using (v)), which equals </a:t>
                </a:r>
                <a:r>
                  <a:rPr lang="en-IN" sz="2400">
                    <a:solidFill>
                      <a:srgbClr val="78350F"/>
                    </a:solidFill>
                    <a:latin typeface="Cambria Math" panose="02040503050406030204" pitchFamily="18" charset="0"/>
                  </a:rPr>
                  <a:t>$\vec y\times\vec 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(i), (ii):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(i), (ii): </a:t>
                </a:r>
                <a:r>
                  <a:rPr lang="en-IN" sz="2400">
                    <a:solidFill>
                      <a:srgbClr val="111827"/>
                    </a:solidFill>
                    <a:latin typeface="Cambria Math" panose="02040503050406030204" pitchFamily="18" charset="0"/>
                  </a:rPr>
                  <a:t>$\vec y=\frac{\vec a\times\vec b}{r}$</a:t>
                </a:r>
                <a:r>
                  <a:rPr sz="2400" b="0">
                    <a:solidFill>
                      <a:srgbClr val="111827"/>
                    </a:solidFill>
                    <a:latin typeface="Arial"/>
                  </a:rPr>
                  <a:t> and </a:t>
                </a:r>
                <a:r>
                  <a:rPr lang="en-IN" sz="2400">
                    <a:solidFill>
                      <a:srgbClr val="111827"/>
                    </a:solidFill>
                    <a:latin typeface="Cambria Math" panose="02040503050406030204" pitchFamily="18" charset="0"/>
                  </a:rPr>
                  <a:t>$|\vec y|^2=\frac{|\vec a\times\vec b|^2}{r^2}$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Cross (ii)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from the left: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Left side: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(using (v)).</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Right side: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Cross (ii) with </a:t>
                </a:r>
                <a:r>
                  <a:rPr lang="en-IN" sz="2400">
                    <a:solidFill>
                      <a:srgbClr val="111827"/>
                    </a:solidFill>
                    <a:latin typeface="Cambria Math" panose="02040503050406030204" pitchFamily="18" charset="0"/>
                  </a:rPr>
                  <a:t>$\vec y$</a:t>
                </a:r>
                <a:r>
                  <a:rPr sz="2400" b="0">
                    <a:solidFill>
                      <a:srgbClr val="111827"/>
                    </a:solidFill>
                    <a:latin typeface="Arial"/>
                  </a:rPr>
                  <a:t> from the left: </a:t>
                </a:r>
                <a:r>
                  <a:rPr lang="en-IN" sz="2400">
                    <a:solidFill>
                      <a:srgbClr val="111827"/>
                    </a:solidFill>
                    <a:latin typeface="Cambria Math" panose="02040503050406030204" pitchFamily="18" charset="0"/>
                  </a:rPr>
                  <a:t>$\vec y\times(\vec y\times\vec z)=\vec y\times\vec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Left side: </a:t>
                </a:r>
                <a:r>
                  <a:rPr lang="en-IN" sz="2400">
                    <a:solidFill>
                      <a:srgbClr val="111827"/>
                    </a:solidFill>
                    <a:latin typeface="Cambria Math" panose="02040503050406030204" pitchFamily="18" charset="0"/>
                  </a:rPr>
                  <a:t>$\vec y\times(\vec y\times\vec z)=\vec y(\vec y\cdot\vec z)-\vec z(\vec y\cdot\vec y)=\vec y-|\vec y|^2\vec z$</a:t>
                </a:r>
                <a:r>
                  <a:rPr sz="2400" b="0">
                    <a:solidFill>
                      <a:srgbClr val="111827"/>
                    </a:solidFill>
                    <a:latin typeface="Arial"/>
                  </a:rPr>
                  <a:t> (using (v)).</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Right side: </a:t>
                </a:r>
                <a:r>
                  <a:rPr lang="en-IN" sz="2400">
                    <a:solidFill>
                      <a:srgbClr val="111827"/>
                    </a:solidFill>
                    <a:latin typeface="Cambria Math" panose="02040503050406030204" pitchFamily="18" charset="0"/>
                  </a:rPr>
                  <a:t>$\vec y\times\vec b=\frac{(\vec a\times\vec b)\times\vec b}{r}=-\frac{\vec b\times(\vec a\times\vec b)}{r}$</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 option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$|\vec y|^2\vec z=\vec y+\frac{\vec b\times(\vec a\times\vec b)}{r}=\frac{(\vec a\times\vec b)+\vec b\times(\vec a\times\vec b)}{r}$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z=\frac{r^2}{|\vec a\times\vec b|^2}\cdot\frac{(\vec a\times\vec b)+\vec b\times(\vec a\times\vec b)}{r}=\frac{r}{|\vec a\times\vec b|^2}\left[\vec a\times\vec b+\vec b\times(\vec a\times\vec b)\right]$</a:t>
                </a:r>
                <a:r>
                  <a:rPr sz="2400" b="0">
                    <a:solidFill>
                      <a:srgbClr val="111827"/>
                    </a:solidFill>
                    <a:latin typeface="Arial"/>
                  </a:rPr>
                  <a:t>: option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a:t>
            </a:r>
            <a:endParaRPr sz="2800">
              <a:solidFill>
                <a:srgbClr val="15803D"/>
              </a:solidFill>
            </a:endParaRP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Check each option on the explicit instance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𝑖</m:t>
                        </m:r>
                      </m:e>
                    </m:acc>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𝑗</m:t>
                        </m:r>
                      </m:e>
                    </m:acc>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where the system is solved by inspection.</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Check each option on the explicit instance </a:t>
                </a:r>
                <a:r>
                  <a:rPr lang="en-IN" sz="2400">
                    <a:solidFill>
                      <a:srgbClr val="78350F"/>
                    </a:solidFill>
                    <a:latin typeface="Cambria Math" panose="02040503050406030204" pitchFamily="18" charset="0"/>
                  </a:rPr>
                  <a:t>$\vec a=\hat i$</a:t>
                </a:r>
                <a:r>
                  <a:rPr sz="2400" b="0">
                    <a:solidFill>
                      <a:srgbClr val="78350F"/>
                    </a:solidFill>
                    <a:latin typeface="Arial"/>
                  </a:rPr>
                  <a:t>, </a:t>
                </a:r>
                <a:r>
                  <a:rPr lang="en-IN" sz="2400">
                    <a:solidFill>
                      <a:srgbClr val="78350F"/>
                    </a:solidFill>
                    <a:latin typeface="Cambria Math" panose="02040503050406030204" pitchFamily="18" charset="0"/>
                  </a:rPr>
                  <a:t>$\vec b=\hat j$</a:t>
                </a:r>
                <a:r>
                  <a:rPr sz="2400" b="0">
                    <a:solidFill>
                      <a:srgbClr val="78350F"/>
                    </a:solidFill>
                    <a:latin typeface="Arial"/>
                  </a:rPr>
                  <a:t>, </a:t>
                </a:r>
                <a:r>
                  <a:rPr lang="en-IN" sz="2400">
                    <a:solidFill>
                      <a:srgbClr val="78350F"/>
                    </a:solidFill>
                    <a:latin typeface="Cambria Math" panose="02040503050406030204" pitchFamily="18" charset="0"/>
                  </a:rPr>
                  <a:t>$r=1$</a:t>
                </a:r>
                <a:r>
                  <a:rPr sz="2400" b="0">
                    <a:solidFill>
                      <a:srgbClr val="78350F"/>
                    </a:solidFill>
                    <a:latin typeface="Arial"/>
                  </a:rPr>
                  <a:t>, where the system is solved by inspection.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 in the previous part,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(check: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 in the previous part, </a:t>
                </a:r>
                <a:r>
                  <a:rPr lang="en-IN" sz="2400">
                    <a:solidFill>
                      <a:srgbClr val="111827"/>
                    </a:solidFill>
                    <a:latin typeface="Cambria Math" panose="02040503050406030204" pitchFamily="18" charset="0"/>
                  </a:rPr>
                  <a:t>$\vec y=\hat k$</a:t>
                </a:r>
                <a:r>
                  <a:rPr sz="2400" b="0">
                    <a:solidFill>
                      <a:srgbClr val="111827"/>
                    </a:solidFill>
                    <a:latin typeface="Arial"/>
                  </a:rPr>
                  <a:t> and </a:t>
                </a:r>
                <a:r>
                  <a:rPr lang="en-IN" sz="2400">
                    <a:solidFill>
                      <a:srgbClr val="111827"/>
                    </a:solidFill>
                    <a:latin typeface="Cambria Math" panose="02040503050406030204" pitchFamily="18" charset="0"/>
                  </a:rPr>
                  <a:t>$\vec x=\hat j+\hat 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y\times\vec z=\hat j$</a:t>
                </a:r>
                <a:r>
                  <a:rPr sz="2400" b="0">
                    <a:solidFill>
                      <a:srgbClr val="111827"/>
                    </a:solidFill>
                    <a:latin typeface="Arial"/>
                  </a:rPr>
                  <a:t> and </a:t>
                </a:r>
                <a:r>
                  <a:rPr lang="en-IN" sz="2400">
                    <a:solidFill>
                      <a:srgbClr val="111827"/>
                    </a:solidFill>
                    <a:latin typeface="Cambria Math" panose="02040503050406030204" pitchFamily="18" charset="0"/>
                  </a:rPr>
                  <a:t>$\vec y\cdot\vec z=1$</a:t>
                </a:r>
                <a:r>
                  <a:rPr sz="2400" b="0">
                    <a:solidFill>
                      <a:srgbClr val="111827"/>
                    </a:solidFill>
                    <a:latin typeface="Arial"/>
                  </a:rPr>
                  <a:t> with </a:t>
                </a:r>
                <a:r>
                  <a:rPr lang="en-IN" sz="2400">
                    <a:solidFill>
                      <a:srgbClr val="111827"/>
                    </a:solidFill>
                    <a:latin typeface="Cambria Math" panose="02040503050406030204" pitchFamily="18" charset="0"/>
                  </a:rPr>
                  <a:t>$\vec y=\hat k$</a:t>
                </a:r>
                <a:r>
                  <a:rPr sz="2400" b="0">
                    <a:solidFill>
                      <a:srgbClr val="111827"/>
                    </a:solidFill>
                    <a:latin typeface="Arial"/>
                  </a:rPr>
                  <a:t>: </a:t>
                </a:r>
                <a:r>
                  <a:rPr lang="en-IN" sz="2400">
                    <a:solidFill>
                      <a:srgbClr val="111827"/>
                    </a:solidFill>
                    <a:latin typeface="Cambria Math" panose="02040503050406030204" pitchFamily="18" charset="0"/>
                  </a:rPr>
                  <a:t>$\vec z=\hat k+\hat i$</a:t>
                </a:r>
                <a:r>
                  <a:rPr sz="2400" b="0">
                    <a:solidFill>
                      <a:srgbClr val="111827"/>
                    </a:solidFill>
                    <a:latin typeface="Arial"/>
                  </a:rPr>
                  <a:t> (check: </a:t>
                </a:r>
                <a:r>
                  <a:rPr lang="en-IN" sz="2400">
                    <a:solidFill>
                      <a:srgbClr val="111827"/>
                    </a:solidFill>
                    <a:latin typeface="Cambria Math" panose="02040503050406030204" pitchFamily="18" charset="0"/>
                  </a:rPr>
                  <a:t>$\hat k\times(\hat k+\hat i)=\hat j$</a:t>
                </a:r>
                <a:r>
                  <a:rPr sz="2400" b="0">
                    <a:solidFill>
                      <a:srgbClr val="111827"/>
                    </a:solidFill>
                    <a:latin typeface="Arial"/>
                  </a:rPr>
                  <a:t> and </a:t>
                </a:r>
                <a:r>
                  <a:rPr lang="en-IN" sz="2400">
                    <a:solidFill>
                      <a:srgbClr val="111827"/>
                    </a:solidFill>
                    <a:latin typeface="Cambria Math" panose="02040503050406030204" pitchFamily="18" charset="0"/>
                  </a:rPr>
                  <a:t>$\hat k\cdot(\hat k+\hat i)=1$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e>
                    </m:d>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 option (A)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option (B)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both wrong.</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(C) is the correct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 (C): </a:t>
                </a:r>
                <a:r>
                  <a:rPr lang="en-IN" sz="2400">
                    <a:solidFill>
                      <a:srgbClr val="111827"/>
                    </a:solidFill>
                    <a:latin typeface="Cambria Math" panose="02040503050406030204" pitchFamily="18" charset="0"/>
                  </a:rPr>
                  <a:t>$\frac{1}{1}\left[\hat k+\hat j\times\hat k\right]=\hat k+\hat i$</a:t>
                </a:r>
                <a:r>
                  <a:rPr sz="2400" b="0">
                    <a:solidFill>
                      <a:srgbClr val="111827"/>
                    </a:solidFill>
                    <a:latin typeface="Arial"/>
                  </a:rPr>
                  <a:t> ✓; option (A) gives </a:t>
                </a:r>
                <a:r>
                  <a:rPr lang="en-IN" sz="2400">
                    <a:solidFill>
                      <a:srgbClr val="111827"/>
                    </a:solidFill>
                    <a:latin typeface="Cambria Math" panose="02040503050406030204" pitchFamily="18" charset="0"/>
                  </a:rPr>
                  <a:t>$\hat i+\hat j+\hat k$</a:t>
                </a:r>
                <a:r>
                  <a:rPr sz="2400" b="0">
                    <a:solidFill>
                      <a:srgbClr val="111827"/>
                    </a:solidFill>
                    <a:latin typeface="Arial"/>
                  </a:rPr>
                  <a:t> and option (B) gives </a:t>
                </a:r>
                <a:r>
                  <a:rPr lang="en-IN" sz="2400">
                    <a:solidFill>
                      <a:srgbClr val="111827"/>
                    </a:solidFill>
                    <a:latin typeface="Cambria Math" panose="02040503050406030204" pitchFamily="18" charset="0"/>
                  </a:rPr>
                  <a:t>$\hat i+\hat j+\hat j$</a:t>
                </a:r>
                <a:r>
                  <a:rPr sz="2400" b="0">
                    <a:solidFill>
                      <a:srgbClr val="111827"/>
                    </a:solidFill>
                    <a:latin typeface="Arial"/>
                  </a:rPr>
                  <a:t> (as </a:t>
                </a:r>
                <a:r>
                  <a:rPr lang="en-IN" sz="2400">
                    <a:solidFill>
                      <a:srgbClr val="111827"/>
                    </a:solidFill>
                    <a:latin typeface="Cambria Math" panose="02040503050406030204" pitchFamily="18" charset="0"/>
                  </a:rPr>
                  <a:t>$\hat i\times\hat k=-\hat j$</a:t>
                </a:r>
                <a:r>
                  <a:rPr sz="2400" b="0">
                    <a:solidFill>
                      <a:srgbClr val="111827"/>
                    </a:solidFill>
                    <a:latin typeface="Arial"/>
                  </a:rPr>
                  <a:t>): both wrong.</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(C) is the correct vector </a:t>
                </a:r>
                <a:r>
                  <a:rPr lang="en-IN" sz="2400">
                    <a:solidFill>
                      <a:srgbClr val="111827"/>
                    </a:solidFill>
                    <a:latin typeface="Cambria Math" panose="02040503050406030204" pitchFamily="18" charset="0"/>
                  </a:rPr>
                  <a:t>$\vec z$</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a:t>
            </a:r>
            <a:endParaRPr sz="2800">
              <a:solidFill>
                <a:srgbClr val="15803D"/>
              </a:solidFill>
            </a:endParaRP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a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is recovered from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Given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same device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in the previous question; the three vectors form the reciprocal-type system built from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y\times(\vec y\times\vec z)=\vec y(\vec y\cdot\vec z)-|\vec y|^2\vec z$</a:t>
                </a:r>
                <a:r>
                  <a:rPr sz="2400" b="0">
                    <a:solidFill>
                      <a:srgbClr val="111827"/>
                    </a:solidFill>
                    <a:latin typeface="Arial"/>
                  </a:rPr>
                  <a:t>: a vector </a:t>
                </a:r>
                <a:r>
                  <a:rPr lang="en-IN" sz="2400">
                    <a:solidFill>
                      <a:srgbClr val="111827"/>
                    </a:solidFill>
                    <a:latin typeface="Cambria Math" panose="02040503050406030204" pitchFamily="18" charset="0"/>
                  </a:rPr>
                  <a:t>$\vec z$</a:t>
                </a:r>
                <a:r>
                  <a:rPr sz="2400" b="0">
                    <a:solidFill>
                      <a:srgbClr val="111827"/>
                    </a:solidFill>
                    <a:latin typeface="Arial"/>
                  </a:rPr>
                  <a:t> is recovered from </a:t>
                </a:r>
                <a:r>
                  <a:rPr lang="en-IN" sz="2400">
                    <a:solidFill>
                      <a:srgbClr val="111827"/>
                    </a:solidFill>
                    <a:latin typeface="Cambria Math" panose="02040503050406030204" pitchFamily="18" charset="0"/>
                  </a:rPr>
                  <a:t>$\vec y\times\vec z$</a:t>
                </a:r>
                <a:r>
                  <a:rPr sz="2400" b="0">
                    <a:solidFill>
                      <a:srgbClr val="111827"/>
                    </a:solidFill>
                    <a:latin typeface="Arial"/>
                  </a:rPr>
                  <a:t> and </a:t>
                </a:r>
                <a:r>
                  <a:rPr lang="en-IN" sz="2400">
                    <a:solidFill>
                      <a:srgbClr val="111827"/>
                    </a:solidFill>
                    <a:latin typeface="Cambria Math" panose="02040503050406030204" pitchFamily="18" charset="0"/>
                  </a:rPr>
                  <a:t>$\vec y\cdot\vec 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Given </a:t>
                </a:r>
                <a:r>
                  <a:rPr lang="en-IN" sz="2400">
                    <a:solidFill>
                      <a:srgbClr val="111827"/>
                    </a:solidFill>
                    <a:latin typeface="Cambria Math" panose="02040503050406030204" pitchFamily="18" charset="0"/>
                  </a:rPr>
                  <a:t>$\vec y\times\vec z=\vec b$</a:t>
                </a:r>
                <a:r>
                  <a:rPr sz="2400" b="0">
                    <a:solidFill>
                      <a:srgbClr val="111827"/>
                    </a:solidFill>
                    <a:latin typeface="Arial"/>
                  </a:rPr>
                  <a:t> and </a:t>
                </a:r>
                <a:r>
                  <a:rPr lang="en-IN" sz="2400">
                    <a:solidFill>
                      <a:srgbClr val="111827"/>
                    </a:solidFill>
                    <a:latin typeface="Cambria Math" panose="02040503050406030204" pitchFamily="18" charset="0"/>
                  </a:rPr>
                  <a:t>$\vec y\cdot\vec z=k$</a:t>
                </a:r>
                <a:r>
                  <a:rPr sz="2400" b="0">
                    <a:solidFill>
                      <a:srgbClr val="111827"/>
                    </a:solidFill>
                    <a:latin typeface="Arial"/>
                  </a:rPr>
                  <a:t>: </a:t>
                </a:r>
                <a:r>
                  <a:rPr lang="en-IN" sz="2400">
                    <a:solidFill>
                      <a:srgbClr val="111827"/>
                    </a:solidFill>
                    <a:latin typeface="Cambria Math" panose="02040503050406030204" pitchFamily="18" charset="0"/>
                  </a:rPr>
                  <a:t>$\vec z=\frac{k\,\vec y+\vec b\times\vec y}{|\vec y|^2}$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same device with </a:t>
                </a:r>
                <a:r>
                  <a:rPr lang="en-IN" sz="2400">
                    <a:solidFill>
                      <a:srgbClr val="111827"/>
                    </a:solidFill>
                    <a:latin typeface="Cambria Math" panose="02040503050406030204" pitchFamily="18" charset="0"/>
                  </a:rPr>
                  <a:t>$\vec x\times\vec y$</a:t>
                </a:r>
                <a:r>
                  <a:rPr sz="2400" b="0">
                    <a:solidFill>
                      <a:srgbClr val="111827"/>
                    </a:solidFill>
                    <a:latin typeface="Arial"/>
                  </a:rPr>
                  <a:t> gives </a:t>
                </a:r>
                <a:r>
                  <a:rPr lang="en-IN" sz="2400">
                    <a:solidFill>
                      <a:srgbClr val="111827"/>
                    </a:solidFill>
                    <a:latin typeface="Cambria Math" panose="02040503050406030204" pitchFamily="18" charset="0"/>
                  </a:rPr>
                  <a:t>$\vec x$</a:t>
                </a:r>
                <a:r>
                  <a:rPr sz="2400" b="0">
                    <a:solidFill>
                      <a:srgbClr val="111827"/>
                    </a:solidFill>
                    <a:latin typeface="Arial"/>
                  </a:rPr>
                  <a:t> in the previous question; the three vectors form the reciprocal-type system built from </a:t>
                </a:r>
                <a:r>
                  <a:rPr lang="en-IN" sz="2400">
                    <a:solidFill>
                      <a:srgbClr val="111827"/>
                    </a:solidFill>
                    <a:latin typeface="Cambria Math" panose="02040503050406030204" pitchFamily="18" charset="0"/>
                  </a:rPr>
                  <a:t>$\vec a,\vec b,\vec a\times\vec 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1765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A conic section is obtained by the intersection of two inverted cones (having same vertex) with a plane. If a plane passes through the vertex, then its intersection with the cones either represents a pair of straight lines or a point depending upon whether it intersects the cones or not. If plane does not pass through vertex, then section may be hyperbola or circle depending upon whether plane is parallel to axis of the cone or perpendicular to it. If it has any other inclination, then intersection of plane and cone gives an ellipse. If a variable point </a:t>
                </a:r>
                <a14:m>
                  <m:oMath xmlns:m="http://schemas.openxmlformats.org/officeDocument/2006/math">
                    <m:r>
                      <a:rPr lang="en-IN" sz="2000" i="1">
                        <a:solidFill>
                          <a:srgbClr val="111827"/>
                        </a:solidFill>
                        <a:latin typeface="Cambria Math" panose="02040503050406030204" pitchFamily="18" charset="0"/>
                      </a:rPr>
                      <m:t>𝑃</m:t>
                    </m:r>
                  </m:oMath>
                </a14:m>
                <a:r>
                  <a:rPr sz="2000" b="0">
                    <a:solidFill>
                      <a:srgbClr val="111827"/>
                    </a:solidFill>
                    <a:latin typeface="Arial"/>
                  </a:rPr>
                  <a:t> moves such that the line passing through </a:t>
                </a:r>
                <a14:m>
                  <m:oMath xmlns:m="http://schemas.openxmlformats.org/officeDocument/2006/math">
                    <m:r>
                      <a:rPr lang="en-IN" sz="2000" i="1">
                        <a:solidFill>
                          <a:srgbClr val="111827"/>
                        </a:solidFill>
                        <a:latin typeface="Cambria Math" panose="02040503050406030204" pitchFamily="18" charset="0"/>
                      </a:rPr>
                      <m:t>𝑃</m:t>
                    </m:r>
                  </m:oMath>
                </a14:m>
                <a:r>
                  <a:rPr sz="2000" b="0">
                    <a:solidFill>
                      <a:srgbClr val="111827"/>
                    </a:solidFill>
                    <a:latin typeface="Arial"/>
                  </a:rPr>
                  <a:t> and </a:t>
                </a:r>
                <a14:m>
                  <m:oMath xmlns:m="http://schemas.openxmlformats.org/officeDocument/2006/math">
                    <m:r>
                      <a:rPr lang="en-IN" sz="2000" i="1">
                        <a:solidFill>
                          <a:srgbClr val="111827"/>
                        </a:solidFill>
                        <a:latin typeface="Cambria Math" panose="02040503050406030204" pitchFamily="18" charset="0"/>
                      </a:rPr>
                      <m:t>𝑄</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makes an angle </a:t>
                </a:r>
                <a14:m>
                  <m:oMath xmlns:m="http://schemas.openxmlformats.org/officeDocument/2006/math">
                    <m:sSup>
                      <m:e>
                        <m:r>
                          <a:rPr lang="en-IN" sz="2000" i="1">
                            <a:solidFill>
                              <a:srgbClr val="111827"/>
                            </a:solidFill>
                            <a:latin typeface="Cambria Math" panose="02040503050406030204" pitchFamily="18" charset="0"/>
                          </a:rPr>
                          <m:t>60</m:t>
                        </m:r>
                      </m:e>
                      <m:sup>
                        <m:r>
                          <m:rPr>
                            <m:sty m:val="p"/>
                          </m:rPr>
                          <a:rPr lang="en-IN" sz="2000">
                            <a:solidFill>
                              <a:srgbClr val="111827"/>
                            </a:solidFill>
                            <a:latin typeface="Cambria Math" panose="02040503050406030204" pitchFamily="18" charset="0"/>
                          </a:rPr>
                          <m:t>∘</m:t>
                        </m:r>
                      </m:sup>
                    </m:sSup>
                  </m:oMath>
                </a14:m>
                <a:r>
                  <a:rPr sz="2000" b="0">
                    <a:solidFill>
                      <a:srgbClr val="111827"/>
                    </a:solidFill>
                    <a:latin typeface="Arial"/>
                  </a:rPr>
                  <a:t> with </a:t>
                </a:r>
                <a14:m>
                  <m:oMath xmlns:m="http://schemas.openxmlformats.org/officeDocument/2006/math">
                    <m:r>
                      <a:rPr lang="en-IN" sz="2000" i="1">
                        <a:solidFill>
                          <a:srgbClr val="111827"/>
                        </a:solidFill>
                        <a:latin typeface="Cambria Math" panose="02040503050406030204" pitchFamily="18" charset="0"/>
                      </a:rPr>
                      <m:t>𝑧</m:t>
                    </m:r>
                  </m:oMath>
                </a14:m>
                <a:r>
                  <a:rPr sz="2000" b="0">
                    <a:solidFill>
                      <a:srgbClr val="111827"/>
                    </a:solidFill>
                    <a:latin typeface="Arial"/>
                  </a:rPr>
                  <a:t>-axis, then</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The locus of </a:t>
                </a:r>
                <a14:m>
                  <m:oMath xmlns:m="http://schemas.openxmlformats.org/officeDocument/2006/math">
                    <m:r>
                      <a:rPr lang="en-IN" sz="2000" i="1">
                        <a:solidFill>
                          <a:srgbClr val="111827"/>
                        </a:solidFill>
                        <a:latin typeface="Cambria Math" panose="02040503050406030204" pitchFamily="18" charset="0"/>
                      </a:rPr>
                      <m:t>𝑃</m:t>
                    </m:r>
                  </m:oMath>
                </a14:m>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t>
                </a:r>
                <a14:m>
                  <m:oMath xmlns:m="http://schemas.openxmlformats.org/officeDocument/2006/math">
                    <m:sSup>
                      <m:e>
                        <m:r>
                          <a:rPr lang="en-IN" sz="2000" i="1">
                            <a:solidFill>
                              <a:srgbClr val="111827"/>
                            </a:solidFill>
                            <a:latin typeface="Cambria Math" panose="02040503050406030204" pitchFamily="18" charset="0"/>
                          </a:rPr>
                          <m:t>𝑥</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𝑦</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3</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sSup>
                      <m:e>
                        <m:r>
                          <m:rPr>
                            <m:sty m:val="p"/>
                          </m:rPr>
                          <a:rPr lang="en-IN" sz="2000">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oMath>
                </a14:m>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t>
                </a:r>
                <a14:m>
                  <m:oMath xmlns:m="http://schemas.openxmlformats.org/officeDocument/2006/math">
                    <m:sSup>
                      <m:e>
                        <m:r>
                          <a:rPr lang="en-IN" sz="2000" i="1">
                            <a:solidFill>
                              <a:srgbClr val="111827"/>
                            </a:solidFill>
                            <a:latin typeface="Cambria Math" panose="02040503050406030204" pitchFamily="18" charset="0"/>
                          </a:rPr>
                          <m:t>𝑥</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𝑦</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3</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sSup>
                      <m:e>
                        <m:r>
                          <m:rPr>
                            <m:sty m:val="p"/>
                          </m:rPr>
                          <a:rPr lang="en-IN" sz="2000">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oMath>
                </a14:m>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t>
                </a:r>
                <a14:m>
                  <m:oMath xmlns:m="http://schemas.openxmlformats.org/officeDocument/2006/math">
                    <m:sSup>
                      <m:e>
                        <m:r>
                          <a:rPr lang="en-IN" sz="2000" i="1">
                            <a:solidFill>
                              <a:srgbClr val="111827"/>
                            </a:solidFill>
                            <a:latin typeface="Cambria Math" panose="02040503050406030204" pitchFamily="18" charset="0"/>
                          </a:rPr>
                          <m:t>𝑥</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𝑦</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3</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sSup>
                      <m:e>
                        <m:r>
                          <m:rPr>
                            <m:sty m:val="p"/>
                          </m:rPr>
                          <a:rPr lang="en-IN" sz="2000">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oMath>
                </a14:m>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t>
                </a:r>
                <a14:m>
                  <m:oMath xmlns:m="http://schemas.openxmlformats.org/officeDocument/2006/math">
                    <m:sSup>
                      <m:e>
                        <m:r>
                          <a:rPr lang="en-IN" sz="2000" i="1">
                            <a:solidFill>
                              <a:srgbClr val="111827"/>
                            </a:solidFill>
                            <a:latin typeface="Cambria Math" panose="02040503050406030204" pitchFamily="18" charset="0"/>
                          </a:rPr>
                          <m:t>𝑥</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𝑦</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3</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sSup>
                      <m:e>
                        <m:r>
                          <m:rPr>
                            <m:sty m:val="p"/>
                          </m:rPr>
                          <a:rPr lang="en-IN" sz="2000">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oMath>
                </a14:m>
                <a:endParaRPr sz="2000">
                  <a:solidFill>
                    <a:srgbClr val="111827"/>
                  </a:solidFill>
                </a:endParaRPr>
              </a:p>
            </p:txBody>
          </p:sp>
        </mc:Choice>
        <mc:Fallback>
          <p:sp>
            <p:nvSpPr>
              <p:cNvPr id="4" name="Rounded Rectangle 3"/>
              <p:cNvSpPr/>
              <p:nvPr/>
            </p:nvSpPr>
            <p:spPr>
              <a:xfrm>
                <a:off x="731520" y="1280160"/>
                <a:ext cx="10725912" cy="51765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A conic section is obtained by the intersection of two inverted cones (having same vertex) with a plane. If a plane passes through the vertex, then its intersection with the cones either represents a pair of straight lines or a point depending upon whether it intersects the cones or not. If plane does not pass through vertex, then section may be hyperbola or circle depending upon whether plane is parallel to axis of the cone or perpendicular to it. If it has any other inclination, then intersection of plane and cone gives an ellipse. If a variable point </a:t>
                </a:r>
                <a:r>
                  <a:rPr lang="en-IN" sz="2000">
                    <a:solidFill>
                      <a:srgbClr val="111827"/>
                    </a:solidFill>
                    <a:latin typeface="Cambria Math" panose="02040503050406030204" pitchFamily="18" charset="0"/>
                  </a:rPr>
                  <a:t>$P$</a:t>
                </a:r>
                <a:r>
                  <a:rPr sz="2000" b="0">
                    <a:solidFill>
                      <a:srgbClr val="111827"/>
                    </a:solidFill>
                    <a:latin typeface="Arial"/>
                  </a:rPr>
                  <a:t> moves such that the line passing through </a:t>
                </a:r>
                <a:r>
                  <a:rPr lang="en-IN" sz="2000">
                    <a:solidFill>
                      <a:srgbClr val="111827"/>
                    </a:solidFill>
                    <a:latin typeface="Cambria Math" panose="02040503050406030204" pitchFamily="18" charset="0"/>
                  </a:rPr>
                  <a:t>$P$</a:t>
                </a:r>
                <a:r>
                  <a:rPr sz="2000" b="0">
                    <a:solidFill>
                      <a:srgbClr val="111827"/>
                    </a:solidFill>
                    <a:latin typeface="Arial"/>
                  </a:rPr>
                  <a:t> and </a:t>
                </a:r>
                <a:r>
                  <a:rPr lang="en-IN" sz="2000">
                    <a:solidFill>
                      <a:srgbClr val="111827"/>
                    </a:solidFill>
                    <a:latin typeface="Cambria Math" panose="02040503050406030204" pitchFamily="18" charset="0"/>
                  </a:rPr>
                  <a:t>$Q(0,0,2)$</a:t>
                </a:r>
                <a:r>
                  <a:rPr sz="2000" b="0">
                    <a:solidFill>
                      <a:srgbClr val="111827"/>
                    </a:solidFill>
                    <a:latin typeface="Arial"/>
                  </a:rPr>
                  <a:t> makes an angle </a:t>
                </a:r>
                <a:r>
                  <a:rPr lang="en-IN" sz="2000">
                    <a:solidFill>
                      <a:srgbClr val="111827"/>
                    </a:solidFill>
                    <a:latin typeface="Cambria Math" panose="02040503050406030204" pitchFamily="18" charset="0"/>
                  </a:rPr>
                  <a:t>$60^\circ$</a:t>
                </a:r>
                <a:r>
                  <a:rPr sz="2000" b="0">
                    <a:solidFill>
                      <a:srgbClr val="111827"/>
                    </a:solidFill>
                    <a:latin typeface="Arial"/>
                  </a:rPr>
                  <a:t> with </a:t>
                </a:r>
                <a:r>
                  <a:rPr lang="en-IN" sz="2000">
                    <a:solidFill>
                      <a:srgbClr val="111827"/>
                    </a:solidFill>
                    <a:latin typeface="Cambria Math" panose="02040503050406030204" pitchFamily="18" charset="0"/>
                  </a:rPr>
                  <a:t>$z$</a:t>
                </a:r>
                <a:r>
                  <a:rPr sz="2000" b="0">
                    <a:solidFill>
                      <a:srgbClr val="111827"/>
                    </a:solidFill>
                    <a:latin typeface="Arial"/>
                  </a:rPr>
                  <a:t>-axis, then</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The locus of </a:t>
                </a:r>
                <a:r>
                  <a:rPr lang="en-IN" sz="2000">
                    <a:solidFill>
                      <a:srgbClr val="111827"/>
                    </a:solidFill>
                    <a:latin typeface="Cambria Math" panose="02040503050406030204" pitchFamily="18" charset="0"/>
                  </a:rPr>
                  <a:t>$P$</a:t>
                </a:r>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t>
                </a:r>
                <a:r>
                  <a:rPr lang="en-IN" sz="2000">
                    <a:solidFill>
                      <a:srgbClr val="111827"/>
                    </a:solidFill>
                    <a:latin typeface="Cambria Math" panose="02040503050406030204" pitchFamily="18" charset="0"/>
                  </a:rPr>
                  <a:t>$x^2-y^2-3(z-2)^2=0$</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t>
                </a:r>
                <a:r>
                  <a:rPr lang="en-IN" sz="2000">
                    <a:solidFill>
                      <a:srgbClr val="111827"/>
                    </a:solidFill>
                    <a:latin typeface="Cambria Math" panose="02040503050406030204" pitchFamily="18" charset="0"/>
                  </a:rPr>
                  <a:t>$x^2-y^2+3(z-2)^2=0$</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t>
                </a:r>
                <a:r>
                  <a:rPr lang="en-IN" sz="2000">
                    <a:solidFill>
                      <a:srgbClr val="111827"/>
                    </a:solidFill>
                    <a:latin typeface="Cambria Math" panose="02040503050406030204" pitchFamily="18" charset="0"/>
                  </a:rPr>
                  <a:t>$x^2+y^2-3(z-2)^2=0$</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t>
                </a:r>
                <a:r>
                  <a:rPr lang="en-IN" sz="2000">
                    <a:solidFill>
                      <a:srgbClr val="111827"/>
                    </a:solidFill>
                    <a:latin typeface="Cambria Math" panose="02040503050406030204" pitchFamily="18" charset="0"/>
                  </a:rPr>
                  <a:t>$x^2+y^2+3(z-2)^2=0$</a:t>
                </a:r>
                <a:endParaRPr sz="2000">
                  <a:solidFill>
                    <a:srgbClr val="111827"/>
                  </a:solidFill>
                </a:endParaRPr>
              </a:p>
            </p:txBody>
          </p:sp>
        </mc:Fallback>
      </mc:AlternateContent>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Locus of a point: double cone (angle with an axis)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direction cosine of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𝑄</m:t>
                        </m:r>
                        <m:r>
                          <a:rPr lang="en-IN" sz="2400" i="1">
                            <a:solidFill>
                              <a:srgbClr val="78350F"/>
                            </a:solidFill>
                            <a:latin typeface="Cambria Math" panose="02040503050406030204" pitchFamily="18" charset="0"/>
                          </a:rPr>
                          <m:t>𝑃</m:t>
                        </m:r>
                      </m:e>
                    </m:acc>
                  </m:oMath>
                </a14:m>
                <a:r>
                  <a:rPr sz="2400" b="0">
                    <a:solidFill>
                      <a:srgbClr val="78350F"/>
                    </a:solidFill>
                    <a:latin typeface="Arial"/>
                  </a:rPr>
                  <a:t> with the </a:t>
                </a:r>
                <a14:m>
                  <m:oMath xmlns:m="http://schemas.openxmlformats.org/officeDocument/2006/math">
                    <m:r>
                      <a:rPr lang="en-IN" sz="2400" i="1">
                        <a:solidFill>
                          <a:srgbClr val="78350F"/>
                        </a:solidFill>
                        <a:latin typeface="Cambria Math" panose="02040503050406030204" pitchFamily="18" charset="0"/>
                      </a:rPr>
                      <m:t>𝑧</m:t>
                    </m:r>
                  </m:oMath>
                </a14:m>
                <a:r>
                  <a:rPr sz="2400" b="0">
                    <a:solidFill>
                      <a:srgbClr val="78350F"/>
                    </a:solidFill>
                    <a:latin typeface="Arial"/>
                  </a:rPr>
                  <a:t>-axis satisfies </a:t>
                </a:r>
                <a14:m>
                  <m:oMath xmlns:m="http://schemas.openxmlformats.org/officeDocument/2006/math">
                    <m:sSup>
                      <m:e>
                        <m:r>
                          <m:rPr>
                            <m:sty m:val="p"/>
                          </m:rPr>
                          <a:rPr lang="en-IN" sz="2400">
                            <a:solidFill>
                              <a:srgbClr val="78350F"/>
                            </a:solidFill>
                            <a:latin typeface="Cambria Math" panose="02040503050406030204" pitchFamily="18" charset="0"/>
                          </a:rPr>
                          <m:t>cos</m:t>
                        </m:r>
                      </m:e>
                      <m:sup>
                        <m:r>
                          <a:rPr lang="en-IN" sz="2400" i="1">
                            <a:solidFill>
                              <a:srgbClr val="78350F"/>
                            </a:solidFill>
                            <a:latin typeface="Cambria Math" panose="02040503050406030204" pitchFamily="18" charset="0"/>
                          </a:rPr>
                          <m:t>2</m:t>
                        </m:r>
                      </m:sup>
                    </m:sSup>
                    <m:sSup>
                      <m:e>
                        <m:r>
                          <a:rPr lang="en-IN" sz="2400" i="1">
                            <a:solidFill>
                              <a:srgbClr val="78350F"/>
                            </a:solidFill>
                            <a:latin typeface="Cambria Math" panose="02040503050406030204" pitchFamily="18" charset="0"/>
                          </a:rPr>
                          <m:t>60</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4</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direction cosine of </a:t>
                </a:r>
                <a:r>
                  <a:rPr lang="en-IN" sz="2400">
                    <a:solidFill>
                      <a:srgbClr val="78350F"/>
                    </a:solidFill>
                    <a:latin typeface="Cambria Math" panose="02040503050406030204" pitchFamily="18" charset="0"/>
                  </a:rPr>
                  <a:t>$\overrightarrow{QP}$</a:t>
                </a:r>
                <a:r>
                  <a:rPr sz="2400" b="0">
                    <a:solidFill>
                      <a:srgbClr val="78350F"/>
                    </a:solidFill>
                    <a:latin typeface="Arial"/>
                  </a:rPr>
                  <a:t> with the </a:t>
                </a:r>
                <a:r>
                  <a:rPr lang="en-IN" sz="2400">
                    <a:solidFill>
                      <a:srgbClr val="78350F"/>
                    </a:solidFill>
                    <a:latin typeface="Cambria Math" panose="02040503050406030204" pitchFamily="18" charset="0"/>
                  </a:rPr>
                  <a:t>$z$</a:t>
                </a:r>
                <a:r>
                  <a:rPr sz="2400" b="0">
                    <a:solidFill>
                      <a:srgbClr val="78350F"/>
                    </a:solidFill>
                    <a:latin typeface="Arial"/>
                  </a:rPr>
                  <a:t>-axis satisfies </a:t>
                </a:r>
                <a:r>
                  <a:rPr lang="en-IN" sz="2400">
                    <a:solidFill>
                      <a:srgbClr val="78350F"/>
                    </a:solidFill>
                    <a:latin typeface="Cambria Math" panose="02040503050406030204" pitchFamily="18" charset="0"/>
                  </a:rPr>
                  <a:t>$\cos^2 60^\circ=\frac14$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794504"/>
                <a:ext cx="10725912" cy="188061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lies on a line through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making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with the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-axis,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has </a:t>
                </a:r>
                <a14:m>
                  <m:oMath xmlns:m="http://schemas.openxmlformats.org/officeDocument/2006/math">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794504"/>
                <a:ext cx="10725912" cy="188061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$P(x,y,z)$</a:t>
                </a:r>
                <a:r>
                  <a:rPr sz="2400" b="0">
                    <a:solidFill>
                      <a:srgbClr val="111827"/>
                    </a:solidFill>
                    <a:latin typeface="Arial"/>
                  </a:rPr>
                  <a:t> lies on a line through </a:t>
                </a:r>
                <a:r>
                  <a:rPr lang="en-IN" sz="2400">
                    <a:solidFill>
                      <a:srgbClr val="111827"/>
                    </a:solidFill>
                    <a:latin typeface="Cambria Math" panose="02040503050406030204" pitchFamily="18" charset="0"/>
                  </a:rPr>
                  <a:t>$Q(0,0,2)$</a:t>
                </a:r>
                <a:r>
                  <a:rPr sz="2400" b="0">
                    <a:solidFill>
                      <a:srgbClr val="111827"/>
                    </a:solidFill>
                    <a:latin typeface="Arial"/>
                  </a:rPr>
                  <a:t> making </a:t>
                </a:r>
                <a:r>
                  <a:rPr lang="en-IN" sz="2400">
                    <a:solidFill>
                      <a:srgbClr val="111827"/>
                    </a:solidFill>
                    <a:latin typeface="Cambria Math" panose="02040503050406030204" pitchFamily="18" charset="0"/>
                  </a:rPr>
                  <a:t>$60^\circ$</a:t>
                </a:r>
                <a:r>
                  <a:rPr sz="2400" b="0">
                    <a:solidFill>
                      <a:srgbClr val="111827"/>
                    </a:solidFill>
                    <a:latin typeface="Arial"/>
                  </a:rPr>
                  <a:t> with the </a:t>
                </a:r>
                <a:r>
                  <a:rPr lang="en-IN" sz="2400">
                    <a:solidFill>
                      <a:srgbClr val="111827"/>
                    </a:solidFill>
                    <a:latin typeface="Cambria Math" panose="02040503050406030204" pitchFamily="18" charset="0"/>
                  </a:rPr>
                  <a:t>$z$</a:t>
                </a:r>
                <a:r>
                  <a:rPr sz="2400" b="0">
                    <a:solidFill>
                      <a:srgbClr val="111827"/>
                    </a:solidFill>
                    <a:latin typeface="Arial"/>
                  </a:rPr>
                  <a:t>-axis, so </a:t>
                </a:r>
                <a:r>
                  <a:rPr lang="en-IN" sz="2400">
                    <a:solidFill>
                      <a:srgbClr val="111827"/>
                    </a:solidFill>
                    <a:latin typeface="Cambria Math" panose="02040503050406030204" pitchFamily="18" charset="0"/>
                  </a:rPr>
                  <a:t>$\overrightarrow{QP}=x\hat i+y\hat j+(z-2)\hat k$</a:t>
                </a:r>
                <a:r>
                  <a:rPr sz="2400" b="0">
                    <a:solidFill>
                      <a:srgbClr val="111827"/>
                    </a:solidFill>
                    <a:latin typeface="Arial"/>
                  </a:rPr>
                  <a:t> has </a:t>
                </a:r>
                <a:r>
                  <a:rPr lang="en-IN" sz="2400">
                    <a:solidFill>
                      <a:srgbClr val="111827"/>
                    </a:solidFill>
                    <a:latin typeface="Cambria Math" panose="02040503050406030204" pitchFamily="18" charset="0"/>
                  </a:rPr>
                  <a:t>$\cos60^\circ$</a:t>
                </a:r>
                <a:r>
                  <a:rPr sz="2400" b="0">
                    <a:solidFill>
                      <a:srgbClr val="111827"/>
                    </a:solidFill>
                    <a:latin typeface="Arial"/>
                  </a:rPr>
                  <a:t> with </a:t>
                </a:r>
                <a:r>
                  <a:rPr lang="en-IN" sz="2400">
                    <a:solidFill>
                      <a:srgbClr val="111827"/>
                    </a:solidFill>
                    <a:latin typeface="Cambria Math" panose="02040503050406030204" pitchFamily="18" charset="0"/>
                  </a:rPr>
                  <a:t>$\hat k$</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rad>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(squaring covers both nappes, i.e. the angle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or </a:t>
                </a:r>
                <a14:m>
                  <m:oMath xmlns:m="http://schemas.openxmlformats.org/officeDocument/2006/math">
                    <m:sSup>
                      <m:e>
                        <m:r>
                          <a:rPr lang="en-IN" sz="2400" i="1">
                            <a:solidFill>
                              <a:srgbClr val="111827"/>
                            </a:solidFill>
                            <a:latin typeface="Cambria Math" panose="02040503050406030204" pitchFamily="18" charset="0"/>
                          </a:rPr>
                          <m:t>120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with the axis).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option (C) (a double cone with vertex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and semi-vertical angle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$\frac{z-2}{\sqrt{x^2+y^2+(z-2)^2}}=\cos60^\circ=\frac12$</a:t>
                </a:r>
                <a:r>
                  <a:rPr sz="2400" b="0">
                    <a:solidFill>
                      <a:srgbClr val="111827"/>
                    </a:solidFill>
                    <a:latin typeface="Arial"/>
                  </a:rPr>
                  <a:t> (squaring covers both nappes, i.e. the angle </a:t>
                </a:r>
                <a:r>
                  <a:rPr lang="en-IN" sz="2400">
                    <a:solidFill>
                      <a:srgbClr val="111827"/>
                    </a:solidFill>
                    <a:latin typeface="Cambria Math" panose="02040503050406030204" pitchFamily="18" charset="0"/>
                  </a:rPr>
                  <a:t>$60^\circ$</a:t>
                </a:r>
                <a:r>
                  <a:rPr sz="2400" b="0">
                    <a:solidFill>
                      <a:srgbClr val="111827"/>
                    </a:solidFill>
                    <a:latin typeface="Arial"/>
                  </a:rPr>
                  <a:t> or </a:t>
                </a:r>
                <a:r>
                  <a:rPr lang="en-IN" sz="2400">
                    <a:solidFill>
                      <a:srgbClr val="111827"/>
                    </a:solidFill>
                    <a:latin typeface="Cambria Math" panose="02040503050406030204" pitchFamily="18" charset="0"/>
                  </a:rPr>
                  <a:t>$120^\circ$</a:t>
                </a:r>
                <a:r>
                  <a:rPr sz="2400" b="0">
                    <a:solidFill>
                      <a:srgbClr val="111827"/>
                    </a:solidFill>
                    <a:latin typeface="Arial"/>
                  </a:rPr>
                  <a:t> with the axis).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$4(z-2)^2=x^2+y^2+(z-2)^2$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$x^2+y^2-3(z-2)^2=0$</a:t>
                </a:r>
                <a:r>
                  <a:rPr sz="2400" b="0">
                    <a:solidFill>
                      <a:srgbClr val="111827"/>
                    </a:solidFill>
                    <a:latin typeface="Arial"/>
                  </a:rPr>
                  <a:t>: option (C) (a double cone with vertex </a:t>
                </a:r>
                <a:r>
                  <a:rPr lang="en-IN" sz="2400">
                    <a:solidFill>
                      <a:srgbClr val="111827"/>
                    </a:solidFill>
                    <a:latin typeface="Cambria Math" panose="02040503050406030204" pitchFamily="18" charset="0"/>
                  </a:rPr>
                  <a:t>$Q$</a:t>
                </a:r>
                <a:r>
                  <a:rPr sz="2400" b="0">
                    <a:solidFill>
                      <a:srgbClr val="111827"/>
                    </a:solidFill>
                    <a:latin typeface="Arial"/>
                  </a:rPr>
                  <a:t> and semi-vertical angle </a:t>
                </a:r>
                <a:r>
                  <a:rPr lang="en-IN" sz="2400">
                    <a:solidFill>
                      <a:srgbClr val="111827"/>
                    </a:solidFill>
                    <a:latin typeface="Cambria Math" panose="02040503050406030204" pitchFamily="18" charset="0"/>
                  </a:rPr>
                  <a:t>$60^\circ$</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𝑧</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sSup>
                      <m:e>
                        <m:r>
                          <m:rPr>
                            <m:sty m:val="p"/>
                          </m:rPr>
                          <a:rPr lang="en-IN" sz="2800">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$x^2+y^2-3(z-2)^2=0$</a:t>
                </a:r>
                <a:endParaRPr sz="2800">
                  <a:solidFill>
                    <a:srgbClr val="15803D"/>
                  </a:solidFill>
                </a:endParaRPr>
              </a:p>
            </p:txBody>
          </p:sp>
        </mc:Fallback>
      </mc:AlternateContent>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Parametrise the line through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 direction cosines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𝑙</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sSup>
                      <m:e>
                        <m:r>
                          <a:rPr lang="en-IN" sz="2400" i="1">
                            <a:solidFill>
                              <a:srgbClr val="78350F"/>
                            </a:solidFill>
                            <a:latin typeface="Cambria Math" panose="02040503050406030204" pitchFamily="18" charset="0"/>
                          </a:rPr>
                          <m:t>60</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and eliminate the parameter.</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Parametrise the line through </a:t>
                </a:r>
                <a:r>
                  <a:rPr lang="en-IN" sz="2400">
                    <a:solidFill>
                      <a:srgbClr val="78350F"/>
                    </a:solidFill>
                    <a:latin typeface="Cambria Math" panose="02040503050406030204" pitchFamily="18" charset="0"/>
                  </a:rPr>
                  <a:t>$Q$</a:t>
                </a:r>
                <a:r>
                  <a:rPr sz="2400" b="0">
                    <a:solidFill>
                      <a:srgbClr val="78350F"/>
                    </a:solidFill>
                    <a:latin typeface="Arial"/>
                  </a:rPr>
                  <a:t>: direction cosines </a:t>
                </a:r>
                <a:r>
                  <a:rPr lang="en-IN" sz="2400">
                    <a:solidFill>
                      <a:srgbClr val="78350F"/>
                    </a:solidFill>
                    <a:latin typeface="Cambria Math" panose="02040503050406030204" pitchFamily="18" charset="0"/>
                  </a:rPr>
                  <a:t>$(l,m,n)$</a:t>
                </a:r>
                <a:r>
                  <a:rPr sz="2400" b="0">
                    <a:solidFill>
                      <a:srgbClr val="78350F"/>
                    </a:solidFill>
                    <a:latin typeface="Arial"/>
                  </a:rPr>
                  <a:t> with </a:t>
                </a:r>
                <a:r>
                  <a:rPr lang="en-IN" sz="2400">
                    <a:solidFill>
                      <a:srgbClr val="78350F"/>
                    </a:solidFill>
                    <a:latin typeface="Cambria Math" panose="02040503050406030204" pitchFamily="18" charset="0"/>
                  </a:rPr>
                  <a:t>$n=\cos60^\circ=\frac12$</a:t>
                </a:r>
                <a:r>
                  <a:rPr sz="2400" b="0">
                    <a:solidFill>
                      <a:srgbClr val="78350F"/>
                    </a:solidFill>
                    <a:latin typeface="Arial"/>
                  </a:rPr>
                  <a:t>, and eliminate the parameter.</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315163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point of the line is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𝑛</m:t>
                    </m:r>
                  </m:oMath>
                </a14:m>
                <a:r>
                  <a:rPr sz="2400" b="0">
                    <a:solidFill>
                      <a:srgbClr val="111827"/>
                    </a:solidFill>
                    <a:latin typeface="Arial"/>
                  </a:rPr>
                  <a:t> with </a:t>
                </a:r>
                <a14:m>
                  <m:oMath xmlns:m="http://schemas.openxmlformats.org/officeDocument/2006/math">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(option C).</a:t>
                </a:r>
                <a:endParaRPr sz="2400">
                  <a:solidFill>
                    <a:srgbClr val="111827"/>
                  </a:solidFill>
                </a:endParaRPr>
              </a:p>
            </p:txBody>
          </p:sp>
        </mc:Choice>
        <mc:Fallback>
          <p:sp>
            <p:nvSpPr>
              <p:cNvPr id="6" name="Rectangle 5"/>
              <p:cNvSpPr/>
              <p:nvPr/>
            </p:nvSpPr>
            <p:spPr>
              <a:xfrm>
                <a:off x="731520" y="2636520"/>
                <a:ext cx="10725912" cy="315163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point of the line is </a:t>
                </a:r>
                <a:r>
                  <a:rPr lang="en-IN" sz="2400">
                    <a:solidFill>
                      <a:srgbClr val="111827"/>
                    </a:solidFill>
                    <a:latin typeface="Cambria Math" panose="02040503050406030204" pitchFamily="18" charset="0"/>
                  </a:rPr>
                  <a:t>$P=Q+t(l,m,n)$</a:t>
                </a:r>
                <a:r>
                  <a:rPr sz="2400" b="0">
                    <a:solidFill>
                      <a:srgbClr val="111827"/>
                    </a:solidFill>
                    <a:latin typeface="Arial"/>
                  </a:rPr>
                  <a:t>: </a:t>
                </a:r>
                <a:r>
                  <a:rPr lang="en-IN" sz="2400">
                    <a:solidFill>
                      <a:srgbClr val="111827"/>
                    </a:solidFill>
                    <a:latin typeface="Cambria Math" panose="02040503050406030204" pitchFamily="18" charset="0"/>
                  </a:rPr>
                  <a:t>$x=tl,\ y=tm,\ z-2=tn$</a:t>
                </a:r>
                <a:r>
                  <a:rPr sz="2400" b="0">
                    <a:solidFill>
                      <a:srgbClr val="111827"/>
                    </a:solidFill>
                    <a:latin typeface="Arial"/>
                  </a:rPr>
                  <a:t> with </a:t>
                </a:r>
                <a:r>
                  <a:rPr lang="en-IN" sz="2400">
                    <a:solidFill>
                      <a:srgbClr val="111827"/>
                    </a:solidFill>
                    <a:latin typeface="Cambria Math" panose="02040503050406030204" pitchFamily="18" charset="0"/>
                  </a:rPr>
                  <a:t>$l^2+m^2+n^2=1$</a:t>
                </a:r>
                <a:r>
                  <a:rPr sz="2400" b="0">
                    <a:solidFill>
                      <a:srgbClr val="111827"/>
                    </a:solidFill>
                    <a:latin typeface="Arial"/>
                  </a:rPr>
                  <a:t> and </a:t>
                </a:r>
                <a:r>
                  <a:rPr lang="en-IN" sz="2400">
                    <a:solidFill>
                      <a:srgbClr val="111827"/>
                    </a:solidFill>
                    <a:latin typeface="Cambria Math" panose="02040503050406030204" pitchFamily="18" charset="0"/>
                  </a:rPr>
                  <a:t>$n=\frac12$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$l^2+m^2=1-\frac14=\frac34$</a:t>
                </a:r>
                <a:r>
                  <a:rPr sz="2400" b="0">
                    <a:solidFill>
                      <a:srgbClr val="111827"/>
                    </a:solidFill>
                    <a:latin typeface="Arial"/>
                  </a:rPr>
                  <a:t>, so </a:t>
                </a:r>
                <a:r>
                  <a:rPr lang="en-IN" sz="2400">
                    <a:solidFill>
                      <a:srgbClr val="111827"/>
                    </a:solidFill>
                    <a:latin typeface="Cambria Math" panose="02040503050406030204" pitchFamily="18" charset="0"/>
                  </a:rPr>
                  <a:t>$x^2+y^2=t^2(l^2+m^2)=\frac34t^2$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$(z-2)^2=t^2n^2=\frac14t^2$</a:t>
                </a:r>
                <a:r>
                  <a:rPr sz="2400" b="0">
                    <a:solidFill>
                      <a:srgbClr val="111827"/>
                    </a:solidFill>
                    <a:latin typeface="Arial"/>
                  </a:rPr>
                  <a:t>, so </a:t>
                </a:r>
                <a:r>
                  <a:rPr lang="en-IN" sz="2400">
                    <a:solidFill>
                      <a:srgbClr val="111827"/>
                    </a:solidFill>
                    <a:latin typeface="Cambria Math" panose="02040503050406030204" pitchFamily="18" charset="0"/>
                  </a:rPr>
                  <a:t>$x^2+y^2=3(z-2)^2$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$x^2+y^2-3(z-2)^2=0$</a:t>
                </a:r>
                <a:r>
                  <a:rPr sz="2400" b="0">
                    <a:solidFill>
                      <a:srgbClr val="111827"/>
                    </a:solidFill>
                    <a:latin typeface="Arial"/>
                  </a:rPr>
                  <a:t> (option C).</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sSup>
                      <m:e>
                        <m:r>
                          <a:rPr lang="en-IN" sz="2800" i="1">
                            <a:solidFill>
                              <a:srgbClr val="15803D"/>
                            </a:solidFill>
                            <a:latin typeface="Cambria Math" panose="02040503050406030204" pitchFamily="18" charset="0"/>
                          </a:rPr>
                          <m:t>𝑥</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sSup>
                      <m:e>
                        <m:r>
                          <a:rPr lang="en-IN" sz="2800" i="1">
                            <a:solidFill>
                              <a:srgbClr val="15803D"/>
                            </a:solidFill>
                            <a:latin typeface="Cambria Math" panose="02040503050406030204" pitchFamily="18" charset="0"/>
                          </a:rPr>
                          <m:t>𝑦</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𝑧</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sSup>
                      <m:e>
                        <m:r>
                          <m:rPr>
                            <m:sty m:val="p"/>
                          </m:rPr>
                          <a:rPr lang="en-IN" sz="2800">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2</m:t>
                        </m:r>
                      </m:sup>
                    </m:s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0</m:t>
                    </m:r>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$x^2+y^2-3(z-2)^2=0$</a:t>
                </a:r>
                <a:endParaRPr sz="2800">
                  <a:solidFill>
                    <a:srgbClr val="15803D"/>
                  </a:solidFill>
                </a:endParaRPr>
              </a:p>
            </p:txBody>
          </p:sp>
        </mc:Fallback>
      </mc:AlternateContent>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Locus of lines through a fixed point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making a fixed angle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with a fixed line (axis along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𝑄</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double cone with vertex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axis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and semi-vertical angle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has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𝑄</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here </a:t>
                </a:r>
                <a14:m>
                  <m:oMath xmlns:m="http://schemas.openxmlformats.org/officeDocument/2006/math">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Squaring a direction-cosine equation includes both nappes of the cone.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Locus of lines through a fixed point </a:t>
                </a:r>
                <a:r>
                  <a:rPr lang="en-IN" sz="2400">
                    <a:solidFill>
                      <a:srgbClr val="111827"/>
                    </a:solidFill>
                    <a:latin typeface="Cambria Math" panose="02040503050406030204" pitchFamily="18" charset="0"/>
                  </a:rPr>
                  <a:t>$Q$</a:t>
                </a:r>
                <a:r>
                  <a:rPr sz="2400" b="0">
                    <a:solidFill>
                      <a:srgbClr val="111827"/>
                    </a:solidFill>
                    <a:latin typeface="Arial"/>
                  </a:rPr>
                  <a:t> making a fixed angle </a:t>
                </a:r>
                <a:r>
                  <a:rPr lang="en-IN" sz="2400">
                    <a:solidFill>
                      <a:srgbClr val="111827"/>
                    </a:solidFill>
                    <a:latin typeface="Cambria Math" panose="02040503050406030204" pitchFamily="18" charset="0"/>
                  </a:rPr>
                  <a:t>$\alpha$</a:t>
                </a:r>
                <a:r>
                  <a:rPr sz="2400" b="0">
                    <a:solidFill>
                      <a:srgbClr val="111827"/>
                    </a:solidFill>
                    <a:latin typeface="Arial"/>
                  </a:rPr>
                  <a:t> with a fixed line (axis along </a:t>
                </a:r>
                <a:r>
                  <a:rPr lang="en-IN" sz="2400">
                    <a:solidFill>
                      <a:srgbClr val="111827"/>
                    </a:solidFill>
                    <a:latin typeface="Cambria Math" panose="02040503050406030204" pitchFamily="18" charset="0"/>
                  </a:rPr>
                  <a:t>$\hat k$</a:t>
                </a:r>
                <a:r>
                  <a:rPr sz="2400" b="0">
                    <a:solidFill>
                      <a:srgbClr val="111827"/>
                    </a:solidFill>
                    <a:latin typeface="Arial"/>
                  </a:rPr>
                  <a:t>): </a:t>
                </a:r>
                <a:r>
                  <a:rPr lang="en-IN" sz="2400">
                    <a:solidFill>
                      <a:srgbClr val="111827"/>
                    </a:solidFill>
                    <a:latin typeface="Cambria Math" panose="02040503050406030204" pitchFamily="18" charset="0"/>
                  </a:rPr>
                  <a:t>$x^2+y^2=\tan^2\alpha\,(z-z_Q)^2$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double cone with vertex </a:t>
                </a:r>
                <a:r>
                  <a:rPr lang="en-IN" sz="2400">
                    <a:solidFill>
                      <a:srgbClr val="111827"/>
                    </a:solidFill>
                    <a:latin typeface="Cambria Math" panose="02040503050406030204" pitchFamily="18" charset="0"/>
                  </a:rPr>
                  <a:t>$Q$</a:t>
                </a:r>
                <a:r>
                  <a:rPr sz="2400" b="0">
                    <a:solidFill>
                      <a:srgbClr val="111827"/>
                    </a:solidFill>
                    <a:latin typeface="Arial"/>
                  </a:rPr>
                  <a:t>, axis </a:t>
                </a:r>
                <a:r>
                  <a:rPr lang="en-IN" sz="2400">
                    <a:solidFill>
                      <a:srgbClr val="111827"/>
                    </a:solidFill>
                    <a:latin typeface="Cambria Math" panose="02040503050406030204" pitchFamily="18" charset="0"/>
                  </a:rPr>
                  <a:t>$z$</a:t>
                </a:r>
                <a:r>
                  <a:rPr sz="2400" b="0">
                    <a:solidFill>
                      <a:srgbClr val="111827"/>
                    </a:solidFill>
                    <a:latin typeface="Arial"/>
                  </a:rPr>
                  <a:t> and semi-vertical angle </a:t>
                </a:r>
                <a:r>
                  <a:rPr lang="en-IN" sz="2400">
                    <a:solidFill>
                      <a:srgbClr val="111827"/>
                    </a:solidFill>
                    <a:latin typeface="Cambria Math" panose="02040503050406030204" pitchFamily="18" charset="0"/>
                  </a:rPr>
                  <a:t>$\alpha$</a:t>
                </a:r>
                <a:r>
                  <a:rPr sz="2400" b="0">
                    <a:solidFill>
                      <a:srgbClr val="111827"/>
                    </a:solidFill>
                    <a:latin typeface="Arial"/>
                  </a:rPr>
                  <a:t> has </a:t>
                </a:r>
                <a:r>
                  <a:rPr lang="en-IN" sz="2400">
                    <a:solidFill>
                      <a:srgbClr val="111827"/>
                    </a:solidFill>
                    <a:latin typeface="Cambria Math" panose="02040503050406030204" pitchFamily="18" charset="0"/>
                  </a:rPr>
                  <a:t>$x^2+y^2=\tan^2\alpha\,(z-z_Q)^2$</a:t>
                </a:r>
                <a:r>
                  <a:rPr sz="2400" b="0">
                    <a:solidFill>
                      <a:srgbClr val="111827"/>
                    </a:solidFill>
                    <a:latin typeface="Arial"/>
                  </a:rPr>
                  <a:t>; here </a:t>
                </a:r>
                <a:r>
                  <a:rPr lang="en-IN" sz="2400">
                    <a:solidFill>
                      <a:srgbClr val="111827"/>
                    </a:solidFill>
                    <a:latin typeface="Cambria Math" panose="02040503050406030204" pitchFamily="18" charset="0"/>
                  </a:rPr>
                  <a:t>$\tan^2 60^\circ=3$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Squaring a direction-cosine equation includes both nappes of the cone.</a:t>
                </a:r>
                <a:endParaRPr sz="2400">
                  <a:solidFill>
                    <a:srgbClr val="111827"/>
                  </a:solidFill>
                </a:endParaRPr>
              </a:p>
            </p:txBody>
          </p:sp>
        </mc:Fallback>
      </mc:AlternateContent>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07898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A conic section is obtained by the intersection of two inverted cones (having same vertex) with a plane. If a plane passes through the vertex, then its intersection with the cones either represents a pair of straight lines or a point depending upon whether it intersects the cones or not. If plane does not pass through vertex, then section may be hyperbola or circle depending upon whether plane is parallel to axis of the cone or perpendicular to it. If it has any other inclination, then intersection of plane and cone gives an ellipse. If a variable point </a:t>
                </a:r>
                <a14:m>
                  <m:oMath xmlns:m="http://schemas.openxmlformats.org/officeDocument/2006/math">
                    <m:r>
                      <a:rPr lang="en-IN" sz="2200" i="1">
                        <a:solidFill>
                          <a:srgbClr val="111827"/>
                        </a:solidFill>
                        <a:latin typeface="Cambria Math" panose="02040503050406030204" pitchFamily="18" charset="0"/>
                      </a:rPr>
                      <m:t>𝑃</m:t>
                    </m:r>
                  </m:oMath>
                </a14:m>
                <a:r>
                  <a:rPr sz="2200" b="0">
                    <a:solidFill>
                      <a:srgbClr val="111827"/>
                    </a:solidFill>
                    <a:latin typeface="Arial"/>
                  </a:rPr>
                  <a:t> moves such that the line passing through </a:t>
                </a:r>
                <a14:m>
                  <m:oMath xmlns:m="http://schemas.openxmlformats.org/officeDocument/2006/math">
                    <m:r>
                      <a:rPr lang="en-IN" sz="2200" i="1">
                        <a:solidFill>
                          <a:srgbClr val="111827"/>
                        </a:solidFill>
                        <a:latin typeface="Cambria Math" panose="02040503050406030204" pitchFamily="18" charset="0"/>
                      </a:rPr>
                      <m:t>𝑃</m:t>
                    </m:r>
                  </m:oMath>
                </a14:m>
                <a:r>
                  <a:rPr sz="2200" b="0">
                    <a:solidFill>
                      <a:srgbClr val="111827"/>
                    </a:solidFill>
                    <a:latin typeface="Arial"/>
                  </a:rPr>
                  <a:t> and </a:t>
                </a:r>
                <a14:m>
                  <m:oMath xmlns:m="http://schemas.openxmlformats.org/officeDocument/2006/math">
                    <m:r>
                      <a:rPr lang="en-IN" sz="2200" i="1">
                        <a:solidFill>
                          <a:srgbClr val="111827"/>
                        </a:solidFill>
                        <a:latin typeface="Cambria Math" panose="02040503050406030204" pitchFamily="18" charset="0"/>
                      </a:rPr>
                      <m:t>𝑄</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0</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0</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2</m:t>
                    </m:r>
                    <m:r>
                      <m:rPr>
                        <m:sty m:val="p"/>
                      </m:rPr>
                      <a:rPr lang="en-IN" sz="2200">
                        <a:solidFill>
                          <a:srgbClr val="111827"/>
                        </a:solidFill>
                        <a:latin typeface="Cambria Math" panose="02040503050406030204" pitchFamily="18" charset="0"/>
                      </a:rPr>
                      <m:t>)</m:t>
                    </m:r>
                  </m:oMath>
                </a14:m>
                <a:r>
                  <a:rPr sz="2200" b="0">
                    <a:solidFill>
                      <a:srgbClr val="111827"/>
                    </a:solidFill>
                    <a:latin typeface="Arial"/>
                  </a:rPr>
                  <a:t> makes an angle </a:t>
                </a:r>
                <a14:m>
                  <m:oMath xmlns:m="http://schemas.openxmlformats.org/officeDocument/2006/math">
                    <m:sSup>
                      <m:e>
                        <m:r>
                          <a:rPr lang="en-IN" sz="2200" i="1">
                            <a:solidFill>
                              <a:srgbClr val="111827"/>
                            </a:solidFill>
                            <a:latin typeface="Cambria Math" panose="02040503050406030204" pitchFamily="18" charset="0"/>
                          </a:rPr>
                          <m:t>60</m:t>
                        </m:r>
                      </m:e>
                      <m:sup>
                        <m:r>
                          <m:rPr>
                            <m:sty m:val="p"/>
                          </m:rPr>
                          <a:rPr lang="en-IN" sz="2200">
                            <a:solidFill>
                              <a:srgbClr val="111827"/>
                            </a:solidFill>
                            <a:latin typeface="Cambria Math" panose="02040503050406030204" pitchFamily="18" charset="0"/>
                          </a:rPr>
                          <m:t>∘</m:t>
                        </m:r>
                      </m:sup>
                    </m:sSup>
                  </m:oMath>
                </a14:m>
                <a:r>
                  <a:rPr sz="2200" b="0">
                    <a:solidFill>
                      <a:srgbClr val="111827"/>
                    </a:solidFill>
                    <a:latin typeface="Arial"/>
                  </a:rPr>
                  <a:t> with </a:t>
                </a:r>
                <a14:m>
                  <m:oMath xmlns:m="http://schemas.openxmlformats.org/officeDocument/2006/math">
                    <m:r>
                      <a:rPr lang="en-IN" sz="2200" i="1">
                        <a:solidFill>
                          <a:srgbClr val="111827"/>
                        </a:solidFill>
                        <a:latin typeface="Cambria Math" panose="02040503050406030204" pitchFamily="18" charset="0"/>
                      </a:rPr>
                      <m:t>𝑧</m:t>
                    </m:r>
                  </m:oMath>
                </a14:m>
                <a:r>
                  <a:rPr sz="2200" b="0">
                    <a:solidFill>
                      <a:srgbClr val="111827"/>
                    </a:solidFill>
                    <a:latin typeface="Arial"/>
                  </a:rPr>
                  <a:t>-axis, then</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The locus of intersection of locus of </a:t>
                </a:r>
                <a14:m>
                  <m:oMath xmlns:m="http://schemas.openxmlformats.org/officeDocument/2006/math">
                    <m:r>
                      <a:rPr lang="en-IN" sz="2200" i="1">
                        <a:solidFill>
                          <a:srgbClr val="111827"/>
                        </a:solidFill>
                        <a:latin typeface="Cambria Math" panose="02040503050406030204" pitchFamily="18" charset="0"/>
                      </a:rPr>
                      <m:t>𝑃</m:t>
                    </m:r>
                  </m:oMath>
                </a14:m>
                <a:r>
                  <a:rPr sz="2200" b="0">
                    <a:solidFill>
                      <a:srgbClr val="111827"/>
                    </a:solidFill>
                    <a:latin typeface="Arial"/>
                  </a:rPr>
                  <a:t> and the plane </a:t>
                </a:r>
                <a14:m>
                  <m:oMath xmlns:m="http://schemas.openxmlformats.org/officeDocument/2006/math">
                    <m:r>
                      <a:rPr lang="en-IN" sz="2200" i="1">
                        <a:solidFill>
                          <a:srgbClr val="111827"/>
                        </a:solidFill>
                        <a:latin typeface="Cambria Math" panose="02040503050406030204" pitchFamily="18" charset="0"/>
                      </a:rPr>
                      <m:t>𝑥</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𝑦</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𝑧</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2</m:t>
                    </m:r>
                  </m:oMath>
                </a14:m>
                <a:r>
                  <a:rPr sz="2200" b="0">
                    <a:solidFill>
                      <a:srgbClr val="111827"/>
                    </a:solidFill>
                    <a:latin typeface="Arial"/>
                  </a:rPr>
                  <a:t> is:</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a pair of straight lines   (B) a hyperbola   (C) a circle   (D) a point</a:t>
                </a:r>
                <a:endParaRPr sz="2200">
                  <a:solidFill>
                    <a:srgbClr val="111827"/>
                  </a:solidFill>
                </a:endParaRPr>
              </a:p>
            </p:txBody>
          </p:sp>
        </mc:Choice>
        <mc:Fallback>
          <p:sp>
            <p:nvSpPr>
              <p:cNvPr id="4" name="Rounded Rectangle 3"/>
              <p:cNvSpPr/>
              <p:nvPr/>
            </p:nvSpPr>
            <p:spPr>
              <a:xfrm>
                <a:off x="731520" y="1280160"/>
                <a:ext cx="10725912" cy="507898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A conic section is obtained by the intersection of two inverted cones (having same vertex) with a plane. If a plane passes through the vertex, then its intersection with the cones either represents a pair of straight lines or a point depending upon whether it intersects the cones or not. If plane does not pass through vertex, then section may be hyperbola or circle depending upon whether plane is parallel to axis of the cone or perpendicular to it. If it has any other inclination, then intersection of plane and cone gives an ellipse. If a variable point </a:t>
                </a:r>
                <a:r>
                  <a:rPr lang="en-IN" sz="2200">
                    <a:solidFill>
                      <a:srgbClr val="111827"/>
                    </a:solidFill>
                    <a:latin typeface="Cambria Math" panose="02040503050406030204" pitchFamily="18" charset="0"/>
                  </a:rPr>
                  <a:t>$P$</a:t>
                </a:r>
                <a:r>
                  <a:rPr sz="2200" b="0">
                    <a:solidFill>
                      <a:srgbClr val="111827"/>
                    </a:solidFill>
                    <a:latin typeface="Arial"/>
                  </a:rPr>
                  <a:t> moves such that the line passing through </a:t>
                </a:r>
                <a:r>
                  <a:rPr lang="en-IN" sz="2200">
                    <a:solidFill>
                      <a:srgbClr val="111827"/>
                    </a:solidFill>
                    <a:latin typeface="Cambria Math" panose="02040503050406030204" pitchFamily="18" charset="0"/>
                  </a:rPr>
                  <a:t>$P$</a:t>
                </a:r>
                <a:r>
                  <a:rPr sz="2200" b="0">
                    <a:solidFill>
                      <a:srgbClr val="111827"/>
                    </a:solidFill>
                    <a:latin typeface="Arial"/>
                  </a:rPr>
                  <a:t> and </a:t>
                </a:r>
                <a:r>
                  <a:rPr lang="en-IN" sz="2200">
                    <a:solidFill>
                      <a:srgbClr val="111827"/>
                    </a:solidFill>
                    <a:latin typeface="Cambria Math" panose="02040503050406030204" pitchFamily="18" charset="0"/>
                  </a:rPr>
                  <a:t>$Q(0,0,2)$</a:t>
                </a:r>
                <a:r>
                  <a:rPr sz="2200" b="0">
                    <a:solidFill>
                      <a:srgbClr val="111827"/>
                    </a:solidFill>
                    <a:latin typeface="Arial"/>
                  </a:rPr>
                  <a:t> makes an angle </a:t>
                </a:r>
                <a:r>
                  <a:rPr lang="en-IN" sz="2200">
                    <a:solidFill>
                      <a:srgbClr val="111827"/>
                    </a:solidFill>
                    <a:latin typeface="Cambria Math" panose="02040503050406030204" pitchFamily="18" charset="0"/>
                  </a:rPr>
                  <a:t>$60^\circ$</a:t>
                </a:r>
                <a:r>
                  <a:rPr sz="2200" b="0">
                    <a:solidFill>
                      <a:srgbClr val="111827"/>
                    </a:solidFill>
                    <a:latin typeface="Arial"/>
                  </a:rPr>
                  <a:t> with </a:t>
                </a:r>
                <a:r>
                  <a:rPr lang="en-IN" sz="2200">
                    <a:solidFill>
                      <a:srgbClr val="111827"/>
                    </a:solidFill>
                    <a:latin typeface="Cambria Math" panose="02040503050406030204" pitchFamily="18" charset="0"/>
                  </a:rPr>
                  <a:t>$z$</a:t>
                </a:r>
                <a:r>
                  <a:rPr sz="2200" b="0">
                    <a:solidFill>
                      <a:srgbClr val="111827"/>
                    </a:solidFill>
                    <a:latin typeface="Arial"/>
                  </a:rPr>
                  <a:t>-axis, then</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The locus of intersection of locus of </a:t>
                </a:r>
                <a:r>
                  <a:rPr lang="en-IN" sz="2200">
                    <a:solidFill>
                      <a:srgbClr val="111827"/>
                    </a:solidFill>
                    <a:latin typeface="Cambria Math" panose="02040503050406030204" pitchFamily="18" charset="0"/>
                  </a:rPr>
                  <a:t>$P$</a:t>
                </a:r>
                <a:r>
                  <a:rPr sz="2200" b="0">
                    <a:solidFill>
                      <a:srgbClr val="111827"/>
                    </a:solidFill>
                    <a:latin typeface="Arial"/>
                  </a:rPr>
                  <a:t> and the plane </a:t>
                </a:r>
                <a:r>
                  <a:rPr lang="en-IN" sz="2200">
                    <a:solidFill>
                      <a:srgbClr val="111827"/>
                    </a:solidFill>
                    <a:latin typeface="Cambria Math" panose="02040503050406030204" pitchFamily="18" charset="0"/>
                  </a:rPr>
                  <a:t>$x+y+z=2$</a:t>
                </a:r>
                <a:r>
                  <a:rPr sz="2200" b="0">
                    <a:solidFill>
                      <a:srgbClr val="111827"/>
                    </a:solidFill>
                    <a:latin typeface="Arial"/>
                  </a:rPr>
                  <a:t> is:</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a pair of straight lines   (B) a hyperbola   (C) a circle   (D) a point</a:t>
                </a:r>
                <a:endParaRPr sz="2200">
                  <a:solidFill>
                    <a:srgbClr val="111827"/>
                  </a:solidFill>
                </a:endParaRPr>
              </a:p>
            </p:txBody>
          </p:sp>
        </mc:Fallback>
      </mc:AlternateContent>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Section of a cone by a plane through its vertex</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066288"/>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plane passes through the vertex </a:t>
                </a:r>
                <a14:m>
                  <m:oMath xmlns:m="http://schemas.openxmlformats.org/officeDocument/2006/math">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the section is a pair of lines or a point; substitute </a:t>
                </a:r>
                <a14:m>
                  <m:oMath xmlns:m="http://schemas.openxmlformats.org/officeDocument/2006/math">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to see which.</a:t>
                </a:r>
                <a:endParaRPr sz="2400">
                  <a:solidFill>
                    <a:srgbClr val="78350F"/>
                  </a:solidFill>
                </a:endParaRPr>
              </a:p>
            </p:txBody>
          </p:sp>
        </mc:Choice>
        <mc:Fallback>
          <p:sp>
            <p:nvSpPr>
              <p:cNvPr id="5" name="Rounded Rectangle 4"/>
              <p:cNvSpPr/>
              <p:nvPr/>
            </p:nvSpPr>
            <p:spPr>
              <a:xfrm>
                <a:off x="731520" y="3066288"/>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plane passes through the vertex </a:t>
                </a:r>
                <a:r>
                  <a:rPr lang="en-IN" sz="2400">
                    <a:solidFill>
                      <a:srgbClr val="78350F"/>
                    </a:solidFill>
                    <a:latin typeface="Cambria Math" panose="02040503050406030204" pitchFamily="18" charset="0"/>
                  </a:rPr>
                  <a:t>$Q(0,0,2)$</a:t>
                </a:r>
                <a:r>
                  <a:rPr sz="2400" b="0">
                    <a:solidFill>
                      <a:srgbClr val="78350F"/>
                    </a:solidFill>
                    <a:latin typeface="Arial"/>
                  </a:rPr>
                  <a:t>, so the section is a pair of lines or a point; substitute </a:t>
                </a:r>
                <a:r>
                  <a:rPr lang="en-IN" sz="2400">
                    <a:solidFill>
                      <a:srgbClr val="78350F"/>
                    </a:solidFill>
                    <a:latin typeface="Cambria Math" panose="02040503050406030204" pitchFamily="18" charset="0"/>
                  </a:rPr>
                  <a:t>$z-2=-(x+y)$</a:t>
                </a:r>
                <a:r>
                  <a:rPr sz="2400" b="0">
                    <a:solidFill>
                      <a:srgbClr val="78350F"/>
                    </a:solidFill>
                    <a:latin typeface="Arial"/>
                  </a:rPr>
                  <a:t> to see which.</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plane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passes through the vertex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 the plane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Substitute in the cone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684776"/>
                <a:ext cx="10725912" cy="199034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plane </a:t>
                </a:r>
                <a:r>
                  <a:rPr lang="en-IN" sz="2400">
                    <a:solidFill>
                      <a:srgbClr val="111827"/>
                    </a:solidFill>
                    <a:latin typeface="Cambria Math" panose="02040503050406030204" pitchFamily="18" charset="0"/>
                  </a:rPr>
                  <a:t>$x+y+z=2$</a:t>
                </a:r>
                <a:r>
                  <a:rPr sz="2400" b="0">
                    <a:solidFill>
                      <a:srgbClr val="111827"/>
                    </a:solidFill>
                    <a:latin typeface="Arial"/>
                  </a:rPr>
                  <a:t> passes through the vertex </a:t>
                </a:r>
                <a:r>
                  <a:rPr lang="en-IN" sz="2400">
                    <a:solidFill>
                      <a:srgbClr val="111827"/>
                    </a:solidFill>
                    <a:latin typeface="Cambria Math" panose="02040503050406030204" pitchFamily="18" charset="0"/>
                  </a:rPr>
                  <a:t>$Q(0,0,2)$</a:t>
                </a:r>
                <a:r>
                  <a:rPr sz="2400" b="0">
                    <a:solidFill>
                      <a:srgbClr val="111827"/>
                    </a:solidFill>
                    <a:latin typeface="Arial"/>
                  </a:rPr>
                  <a:t> (</a:t>
                </a:r>
                <a:r>
                  <a:rPr lang="en-IN" sz="2400">
                    <a:solidFill>
                      <a:srgbClr val="111827"/>
                    </a:solidFill>
                    <a:latin typeface="Cambria Math" panose="02040503050406030204" pitchFamily="18" charset="0"/>
                  </a:rPr>
                  <a:t>$0+0+2=2$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 the plane </a:t>
                </a:r>
                <a:r>
                  <a:rPr lang="en-IN" sz="2400">
                    <a:solidFill>
                      <a:srgbClr val="111827"/>
                    </a:solidFill>
                    <a:latin typeface="Cambria Math" panose="02040503050406030204" pitchFamily="18" charset="0"/>
                  </a:rPr>
                  <a:t>$z-2=-(x+y)$</a:t>
                </a:r>
                <a:r>
                  <a:rPr sz="2400" b="0">
                    <a:solidFill>
                      <a:srgbClr val="111827"/>
                    </a:solidFill>
                    <a:latin typeface="Arial"/>
                  </a:rPr>
                  <a:t>. Substitute in the cone </a:t>
                </a:r>
                <a:r>
                  <a:rPr lang="en-IN" sz="2400">
                    <a:solidFill>
                      <a:srgbClr val="111827"/>
                    </a:solidFill>
                    <a:latin typeface="Cambria Math" panose="02040503050406030204" pitchFamily="18" charset="0"/>
                  </a:rPr>
                  <a:t>$x^2+y^2=3(z-2)^2$</a:t>
                </a:r>
                <a:r>
                  <a:rPr sz="2400" b="0">
                    <a:solidFill>
                      <a:srgbClr val="111827"/>
                    </a:solidFill>
                    <a:latin typeface="Arial"/>
                  </a:rPr>
                  <a:t>: </a:t>
                </a:r>
                <a:r>
                  <a:rPr lang="en-IN" sz="2400">
                    <a:solidFill>
                      <a:srgbClr val="111827"/>
                    </a:solidFill>
                    <a:latin typeface="Cambria Math" panose="02040503050406030204" pitchFamily="18" charset="0"/>
                  </a:rPr>
                  <a:t>$x^2+y^2=3(x+y)^2$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Discriminant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so this is a pair of distinct real lines through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(Criterion: a plane through the vertex cuts the cone in two lines if the angle between the plane and the axis,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35.3</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is less than the semi-vertical angle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Hence the locus is a pair of straight lines: option (A).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$2x^2+6xy+2y^2=0\Rightarrow x^2+3xy+y^2=0$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Discriminant </a:t>
                </a:r>
                <a:r>
                  <a:rPr lang="en-IN" sz="2400">
                    <a:solidFill>
                      <a:srgbClr val="111827"/>
                    </a:solidFill>
                    <a:latin typeface="Cambria Math" panose="02040503050406030204" pitchFamily="18" charset="0"/>
                  </a:rPr>
                  <a:t>$9-4=5&gt;0$</a:t>
                </a:r>
                <a:r>
                  <a:rPr sz="2400" b="0">
                    <a:solidFill>
                      <a:srgbClr val="111827"/>
                    </a:solidFill>
                    <a:latin typeface="Arial"/>
                  </a:rPr>
                  <a:t>, so this is a pair of distinct real lines through </a:t>
                </a:r>
                <a:r>
                  <a:rPr lang="en-IN" sz="2400">
                    <a:solidFill>
                      <a:srgbClr val="111827"/>
                    </a:solidFill>
                    <a:latin typeface="Cambria Math" panose="02040503050406030204" pitchFamily="18" charset="0"/>
                  </a:rPr>
                  <a:t>$Q$</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(Criterion: a plane through the vertex cuts the cone in two lines if the angle between the plane and the axis, </a:t>
                </a:r>
                <a:r>
                  <a:rPr lang="en-IN" sz="2400">
                    <a:solidFill>
                      <a:srgbClr val="111827"/>
                    </a:solidFill>
                    <a:latin typeface="Cambria Math" panose="02040503050406030204" pitchFamily="18" charset="0"/>
                  </a:rPr>
                  <a:t>$\varphi$</a:t>
                </a:r>
                <a:r>
                  <a:rPr sz="2400" b="0">
                    <a:solidFill>
                      <a:srgbClr val="111827"/>
                    </a:solidFill>
                    <a:latin typeface="Arial"/>
                  </a:rPr>
                  <a:t> with </a:t>
                </a:r>
                <a:r>
                  <a:rPr lang="en-IN" sz="2400">
                    <a:solidFill>
                      <a:srgbClr val="111827"/>
                    </a:solidFill>
                    <a:latin typeface="Cambria Math" panose="02040503050406030204" pitchFamily="18" charset="0"/>
                  </a:rPr>
                  <a:t>$\sin\varphi=\frac{|\hat n\cdot\hat k|}{|\hat n|}=\frac1{\sqrt3}$</a:t>
                </a:r>
                <a:r>
                  <a:rPr sz="2400" b="0">
                    <a:solidFill>
                      <a:srgbClr val="111827"/>
                    </a:solidFill>
                    <a:latin typeface="Arial"/>
                  </a:rPr>
                  <a:t>, i.e. </a:t>
                </a:r>
                <a:r>
                  <a:rPr lang="en-IN" sz="2400">
                    <a:solidFill>
                      <a:srgbClr val="111827"/>
                    </a:solidFill>
                    <a:latin typeface="Cambria Math" panose="02040503050406030204" pitchFamily="18" charset="0"/>
                  </a:rPr>
                  <a:t>$\varphi\approx35.3^\circ$</a:t>
                </a:r>
                <a:r>
                  <a:rPr sz="2400" b="0">
                    <a:solidFill>
                      <a:srgbClr val="111827"/>
                    </a:solidFill>
                    <a:latin typeface="Arial"/>
                  </a:rPr>
                  <a:t>, is less than the semi-vertical angle </a:t>
                </a:r>
                <a:r>
                  <a:rPr lang="en-IN" sz="2400">
                    <a:solidFill>
                      <a:srgbClr val="111827"/>
                    </a:solidFill>
                    <a:latin typeface="Cambria Math" panose="02040503050406030204" pitchFamily="18" charset="0"/>
                  </a:rPr>
                  <a:t>$60^\circ$</a:t>
                </a:r>
                <a:r>
                  <a:rPr sz="2400" b="0">
                    <a:solidFill>
                      <a:srgbClr val="111827"/>
                    </a:solidFill>
                    <a:latin typeface="Arial"/>
                  </a:rPr>
                  <a:t>.) Hence the locus is a pair of straight lines: option (A).</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 pair of straight lines</a:t>
            </a:r>
            <a:endParaRPr sz="2800">
              <a:solidFill>
                <a:srgbClr val="15803D"/>
              </a:solidFill>
            </a:endParaRP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angle criterion: a plane through the vertex meets the cone in two lines iff the plane's inclination to the axis is less than the semi-vertical angle.</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of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making an angle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with the axis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where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54.7</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itself therefore makes the angle </a:t>
                </a:r>
                <a14:m>
                  <m:oMath xmlns:m="http://schemas.openxmlformats.org/officeDocument/2006/math">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35.3</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with the axis.</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of </a:t>
                </a:r>
                <a:r>
                  <a:rPr lang="en-IN" sz="2400">
                    <a:solidFill>
                      <a:srgbClr val="111827"/>
                    </a:solidFill>
                    <a:latin typeface="Cambria Math" panose="02040503050406030204" pitchFamily="18" charset="0"/>
                  </a:rPr>
                  <a:t>$x+y+z=2$</a:t>
                </a:r>
                <a:r>
                  <a:rPr sz="2400" b="0">
                    <a:solidFill>
                      <a:srgbClr val="111827"/>
                    </a:solidFill>
                    <a:latin typeface="Arial"/>
                  </a:rPr>
                  <a:t> is </a:t>
                </a:r>
                <a:r>
                  <a:rPr lang="en-IN" sz="2400">
                    <a:solidFill>
                      <a:srgbClr val="111827"/>
                    </a:solidFill>
                    <a:latin typeface="Cambria Math" panose="02040503050406030204" pitchFamily="18" charset="0"/>
                  </a:rPr>
                  <a:t>$(1,1,1)$</a:t>
                </a:r>
                <a:r>
                  <a:rPr sz="2400" b="0">
                    <a:solidFill>
                      <a:srgbClr val="111827"/>
                    </a:solidFill>
                    <a:latin typeface="Arial"/>
                  </a:rPr>
                  <a:t>, making an angle </a:t>
                </a:r>
                <a:r>
                  <a:rPr lang="en-IN" sz="2400">
                    <a:solidFill>
                      <a:srgbClr val="111827"/>
                    </a:solidFill>
                    <a:latin typeface="Cambria Math" panose="02040503050406030204" pitchFamily="18" charset="0"/>
                  </a:rPr>
                  <a:t>$\beta$</a:t>
                </a:r>
                <a:r>
                  <a:rPr sz="2400" b="0">
                    <a:solidFill>
                      <a:srgbClr val="111827"/>
                    </a:solidFill>
                    <a:latin typeface="Arial"/>
                  </a:rPr>
                  <a:t> with the axis </a:t>
                </a:r>
                <a:r>
                  <a:rPr lang="en-IN" sz="2400">
                    <a:solidFill>
                      <a:srgbClr val="111827"/>
                    </a:solidFill>
                    <a:latin typeface="Cambria Math" panose="02040503050406030204" pitchFamily="18" charset="0"/>
                  </a:rPr>
                  <a:t>$\hat k$</a:t>
                </a:r>
                <a:r>
                  <a:rPr sz="2400" b="0">
                    <a:solidFill>
                      <a:srgbClr val="111827"/>
                    </a:solidFill>
                    <a:latin typeface="Arial"/>
                  </a:rPr>
                  <a:t> where </a:t>
                </a:r>
                <a:r>
                  <a:rPr lang="en-IN" sz="2400">
                    <a:solidFill>
                      <a:srgbClr val="111827"/>
                    </a:solidFill>
                    <a:latin typeface="Cambria Math" panose="02040503050406030204" pitchFamily="18" charset="0"/>
                  </a:rPr>
                  <a:t>$\cos\beta=\frac1{\sqrt3}$</a:t>
                </a:r>
                <a:r>
                  <a:rPr sz="2400" b="0">
                    <a:solidFill>
                      <a:srgbClr val="111827"/>
                    </a:solidFill>
                    <a:latin typeface="Arial"/>
                  </a:rPr>
                  <a:t> (</a:t>
                </a:r>
                <a:r>
                  <a:rPr lang="en-IN" sz="2400">
                    <a:solidFill>
                      <a:srgbClr val="111827"/>
                    </a:solidFill>
                    <a:latin typeface="Cambria Math" panose="02040503050406030204" pitchFamily="18" charset="0"/>
                  </a:rPr>
                  <a:t>$\beta\approx54.7^\circ$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itself therefore makes the angle </a:t>
                </a:r>
                <a:r>
                  <a:rPr lang="en-IN" sz="2400">
                    <a:solidFill>
                      <a:srgbClr val="111827"/>
                    </a:solidFill>
                    <a:latin typeface="Cambria Math" panose="02040503050406030204" pitchFamily="18" charset="0"/>
                  </a:rPr>
                  <a:t>$\varphi=90^\circ-\beta\approx35.3^\circ$</a:t>
                </a:r>
                <a:r>
                  <a:rPr sz="2400" b="0">
                    <a:solidFill>
                      <a:srgbClr val="111827"/>
                    </a:solidFill>
                    <a:latin typeface="Arial"/>
                  </a:rPr>
                  <a:t> with the axis.</a:t>
                </a:r>
                <a:endParaRPr sz="2400">
                  <a:solidFill>
                    <a:srgbClr val="111827"/>
                  </a:solidFill>
                </a:endParaRPr>
              </a:p>
            </p:txBody>
          </p:sp>
        </mc:Fallback>
      </mc:AlternateContent>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semi-vertical angle of the cone is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&lt;</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so the plane (through the vertex) cuts both nappes in two real lines.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locus is a pair of straight lines.</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semi-vertical angle of the cone is </a:t>
                </a:r>
                <a:r>
                  <a:rPr lang="en-IN" sz="2400">
                    <a:solidFill>
                      <a:srgbClr val="111827"/>
                    </a:solidFill>
                    <a:latin typeface="Cambria Math" panose="02040503050406030204" pitchFamily="18" charset="0"/>
                  </a:rPr>
                  <a:t>$60^\circ$</a:t>
                </a:r>
                <a:r>
                  <a:rPr sz="2400" b="0">
                    <a:solidFill>
                      <a:srgbClr val="111827"/>
                    </a:solidFill>
                    <a:latin typeface="Arial"/>
                  </a:rPr>
                  <a:t> and </a:t>
                </a:r>
                <a:r>
                  <a:rPr lang="en-IN" sz="2400">
                    <a:solidFill>
                      <a:srgbClr val="111827"/>
                    </a:solidFill>
                    <a:latin typeface="Cambria Math" panose="02040503050406030204" pitchFamily="18" charset="0"/>
                  </a:rPr>
                  <a:t>$\varphi&lt;60^\circ$</a:t>
                </a:r>
                <a:r>
                  <a:rPr sz="2400" b="0">
                    <a:solidFill>
                      <a:srgbClr val="111827"/>
                    </a:solidFill>
                    <a:latin typeface="Arial"/>
                  </a:rPr>
                  <a:t>, so the plane (through the vertex) cuts both nappes in two real lines.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locus is a pair of straight lines.</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 pair of straight lines</a:t>
            </a:r>
            <a:endParaRPr sz="2800">
              <a:solidFill>
                <a:srgbClr val="15803D"/>
              </a:solidFill>
            </a:endParaRP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plane through the vertex of a double cone: pair of distinct lines if (angle of the plane with the axis) &lt; semi-vertical angle; a single line if equal; the vertex only if it is greater.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the plane does not pass through the vertex: ellipse (plane meets the axis at an angle greater than the semi-vertical angle, meeting one nappe), parabola (parallel to a generator), hyperbola (smaller angle, meeting both nappes).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Direct check: substitute the plane into the cone's equation and test the discriminant of the resulting homogeneous quadratic.</a:t>
            </a:r>
            <a:endParaRPr sz="2400">
              <a:solidFill>
                <a:srgbClr val="111827"/>
              </a:solidFill>
            </a:endParaRP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73811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A conic section is obtained by the intersection of two inverted cones (having same vertex) with a plane. If a plane passes through the vertex, then its intersection with the cones either represents a pair of straight lines or a point depending upon whether it intersects the cones or not. If plane does not pass through vertex, then section may be hyperbola or circle depending upon whether plane is parallel to axis of the cone or perpendicular to it. If it has any other inclination, then intersection of plane and cone gives an ellipse. If a variable point </a:t>
                </a:r>
                <a14:m>
                  <m:oMath xmlns:m="http://schemas.openxmlformats.org/officeDocument/2006/math">
                    <m:r>
                      <a:rPr lang="en-IN" sz="2200" i="1">
                        <a:solidFill>
                          <a:srgbClr val="111827"/>
                        </a:solidFill>
                        <a:latin typeface="Cambria Math" panose="02040503050406030204" pitchFamily="18" charset="0"/>
                      </a:rPr>
                      <m:t>𝑃</m:t>
                    </m:r>
                  </m:oMath>
                </a14:m>
                <a:r>
                  <a:rPr sz="2200" b="0">
                    <a:solidFill>
                      <a:srgbClr val="111827"/>
                    </a:solidFill>
                    <a:latin typeface="Arial"/>
                  </a:rPr>
                  <a:t> moves such that the line passing through </a:t>
                </a:r>
                <a14:m>
                  <m:oMath xmlns:m="http://schemas.openxmlformats.org/officeDocument/2006/math">
                    <m:r>
                      <a:rPr lang="en-IN" sz="2200" i="1">
                        <a:solidFill>
                          <a:srgbClr val="111827"/>
                        </a:solidFill>
                        <a:latin typeface="Cambria Math" panose="02040503050406030204" pitchFamily="18" charset="0"/>
                      </a:rPr>
                      <m:t>𝑃</m:t>
                    </m:r>
                  </m:oMath>
                </a14:m>
                <a:r>
                  <a:rPr sz="2200" b="0">
                    <a:solidFill>
                      <a:srgbClr val="111827"/>
                    </a:solidFill>
                    <a:latin typeface="Arial"/>
                  </a:rPr>
                  <a:t> and </a:t>
                </a:r>
                <a14:m>
                  <m:oMath xmlns:m="http://schemas.openxmlformats.org/officeDocument/2006/math">
                    <m:r>
                      <a:rPr lang="en-IN" sz="2200" i="1">
                        <a:solidFill>
                          <a:srgbClr val="111827"/>
                        </a:solidFill>
                        <a:latin typeface="Cambria Math" panose="02040503050406030204" pitchFamily="18" charset="0"/>
                      </a:rPr>
                      <m:t>𝑄</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0</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0</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2</m:t>
                    </m:r>
                    <m:r>
                      <m:rPr>
                        <m:sty m:val="p"/>
                      </m:rPr>
                      <a:rPr lang="en-IN" sz="2200">
                        <a:solidFill>
                          <a:srgbClr val="111827"/>
                        </a:solidFill>
                        <a:latin typeface="Cambria Math" panose="02040503050406030204" pitchFamily="18" charset="0"/>
                      </a:rPr>
                      <m:t>)</m:t>
                    </m:r>
                  </m:oMath>
                </a14:m>
                <a:r>
                  <a:rPr sz="2200" b="0">
                    <a:solidFill>
                      <a:srgbClr val="111827"/>
                    </a:solidFill>
                    <a:latin typeface="Arial"/>
                  </a:rPr>
                  <a:t> makes an angle </a:t>
                </a:r>
                <a14:m>
                  <m:oMath xmlns:m="http://schemas.openxmlformats.org/officeDocument/2006/math">
                    <m:sSup>
                      <m:e>
                        <m:r>
                          <a:rPr lang="en-IN" sz="2200" i="1">
                            <a:solidFill>
                              <a:srgbClr val="111827"/>
                            </a:solidFill>
                            <a:latin typeface="Cambria Math" panose="02040503050406030204" pitchFamily="18" charset="0"/>
                          </a:rPr>
                          <m:t>60</m:t>
                        </m:r>
                      </m:e>
                      <m:sup>
                        <m:r>
                          <m:rPr>
                            <m:sty m:val="p"/>
                          </m:rPr>
                          <a:rPr lang="en-IN" sz="2200">
                            <a:solidFill>
                              <a:srgbClr val="111827"/>
                            </a:solidFill>
                            <a:latin typeface="Cambria Math" panose="02040503050406030204" pitchFamily="18" charset="0"/>
                          </a:rPr>
                          <m:t>∘</m:t>
                        </m:r>
                      </m:sup>
                    </m:sSup>
                  </m:oMath>
                </a14:m>
                <a:r>
                  <a:rPr sz="2200" b="0">
                    <a:solidFill>
                      <a:srgbClr val="111827"/>
                    </a:solidFill>
                    <a:latin typeface="Arial"/>
                  </a:rPr>
                  <a:t> with </a:t>
                </a:r>
                <a14:m>
                  <m:oMath xmlns:m="http://schemas.openxmlformats.org/officeDocument/2006/math">
                    <m:r>
                      <a:rPr lang="en-IN" sz="2200" i="1">
                        <a:solidFill>
                          <a:srgbClr val="111827"/>
                        </a:solidFill>
                        <a:latin typeface="Cambria Math" panose="02040503050406030204" pitchFamily="18" charset="0"/>
                      </a:rPr>
                      <m:t>𝑧</m:t>
                    </m:r>
                  </m:oMath>
                </a14:m>
                <a:r>
                  <a:rPr sz="2200" b="0">
                    <a:solidFill>
                      <a:srgbClr val="111827"/>
                    </a:solidFill>
                    <a:latin typeface="Arial"/>
                  </a:rPr>
                  <a:t>-axis, then</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The locus of intersection of locus of </a:t>
                </a:r>
                <a14:m>
                  <m:oMath xmlns:m="http://schemas.openxmlformats.org/officeDocument/2006/math">
                    <m:r>
                      <a:rPr lang="en-IN" sz="2200" i="1">
                        <a:solidFill>
                          <a:srgbClr val="111827"/>
                        </a:solidFill>
                        <a:latin typeface="Cambria Math" panose="02040503050406030204" pitchFamily="18" charset="0"/>
                      </a:rPr>
                      <m:t>𝑃</m:t>
                    </m:r>
                  </m:oMath>
                </a14:m>
                <a:r>
                  <a:rPr sz="2200" b="0">
                    <a:solidFill>
                      <a:srgbClr val="111827"/>
                    </a:solidFill>
                    <a:latin typeface="Arial"/>
                  </a:rPr>
                  <a:t> with </a:t>
                </a:r>
                <a14:m>
                  <m:oMath xmlns:m="http://schemas.openxmlformats.org/officeDocument/2006/math">
                    <m:r>
                      <a:rPr lang="en-IN" sz="2200" i="1">
                        <a:solidFill>
                          <a:srgbClr val="111827"/>
                        </a:solidFill>
                        <a:latin typeface="Cambria Math" panose="02040503050406030204" pitchFamily="18" charset="0"/>
                      </a:rPr>
                      <m:t>𝑥</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𝑦</m:t>
                    </m:r>
                    <m:r>
                      <m:rPr>
                        <m:sty m:val="p"/>
                      </m:rPr>
                      <a:rPr lang="en-IN" sz="2200">
                        <a:solidFill>
                          <a:srgbClr val="111827"/>
                        </a:solidFill>
                        <a:latin typeface="Cambria Math" panose="02040503050406030204" pitchFamily="18" charset="0"/>
                      </a:rPr>
                      <m:t>=</m:t>
                    </m:r>
                    <m:r>
                      <a:rPr lang="en-IN" sz="2200" i="1">
                        <a:solidFill>
                          <a:srgbClr val="111827"/>
                        </a:solidFill>
                        <a:latin typeface="Cambria Math" panose="02040503050406030204" pitchFamily="18" charset="0"/>
                      </a:rPr>
                      <m:t>2</m:t>
                    </m:r>
                  </m:oMath>
                </a14:m>
                <a:r>
                  <a:rPr sz="2200" b="0">
                    <a:solidFill>
                      <a:srgbClr val="111827"/>
                    </a:solidFill>
                    <a:latin typeface="Arial"/>
                  </a:rPr>
                  <a:t> is:</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a straight line   (B) a hyperbola   (C) a circle   (D) an ellipse</a:t>
                </a:r>
                <a:endParaRPr sz="2200">
                  <a:solidFill>
                    <a:srgbClr val="111827"/>
                  </a:solidFill>
                </a:endParaRPr>
              </a:p>
            </p:txBody>
          </p:sp>
        </mc:Choice>
        <mc:Fallback>
          <p:sp>
            <p:nvSpPr>
              <p:cNvPr id="4" name="Rounded Rectangle 3"/>
              <p:cNvSpPr/>
              <p:nvPr/>
            </p:nvSpPr>
            <p:spPr>
              <a:xfrm>
                <a:off x="731520" y="1280160"/>
                <a:ext cx="10725912" cy="473811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A conic section is obtained by the intersection of two inverted cones (having same vertex) with a plane. If a plane passes through the vertex, then its intersection with the cones either represents a pair of straight lines or a point depending upon whether it intersects the cones or not. If plane does not pass through vertex, then section may be hyperbola or circle depending upon whether plane is parallel to axis of the cone or perpendicular to it. If it has any other inclination, then intersection of plane and cone gives an ellipse. If a variable point </a:t>
                </a:r>
                <a:r>
                  <a:rPr lang="en-IN" sz="2200">
                    <a:solidFill>
                      <a:srgbClr val="111827"/>
                    </a:solidFill>
                    <a:latin typeface="Cambria Math" panose="02040503050406030204" pitchFamily="18" charset="0"/>
                  </a:rPr>
                  <a:t>$P$</a:t>
                </a:r>
                <a:r>
                  <a:rPr sz="2200" b="0">
                    <a:solidFill>
                      <a:srgbClr val="111827"/>
                    </a:solidFill>
                    <a:latin typeface="Arial"/>
                  </a:rPr>
                  <a:t> moves such that the line passing through </a:t>
                </a:r>
                <a:r>
                  <a:rPr lang="en-IN" sz="2200">
                    <a:solidFill>
                      <a:srgbClr val="111827"/>
                    </a:solidFill>
                    <a:latin typeface="Cambria Math" panose="02040503050406030204" pitchFamily="18" charset="0"/>
                  </a:rPr>
                  <a:t>$P$</a:t>
                </a:r>
                <a:r>
                  <a:rPr sz="2200" b="0">
                    <a:solidFill>
                      <a:srgbClr val="111827"/>
                    </a:solidFill>
                    <a:latin typeface="Arial"/>
                  </a:rPr>
                  <a:t> and </a:t>
                </a:r>
                <a:r>
                  <a:rPr lang="en-IN" sz="2200">
                    <a:solidFill>
                      <a:srgbClr val="111827"/>
                    </a:solidFill>
                    <a:latin typeface="Cambria Math" panose="02040503050406030204" pitchFamily="18" charset="0"/>
                  </a:rPr>
                  <a:t>$Q(0,0,2)$</a:t>
                </a:r>
                <a:r>
                  <a:rPr sz="2200" b="0">
                    <a:solidFill>
                      <a:srgbClr val="111827"/>
                    </a:solidFill>
                    <a:latin typeface="Arial"/>
                  </a:rPr>
                  <a:t> makes an angle </a:t>
                </a:r>
                <a:r>
                  <a:rPr lang="en-IN" sz="2200">
                    <a:solidFill>
                      <a:srgbClr val="111827"/>
                    </a:solidFill>
                    <a:latin typeface="Cambria Math" panose="02040503050406030204" pitchFamily="18" charset="0"/>
                  </a:rPr>
                  <a:t>$60^\circ$</a:t>
                </a:r>
                <a:r>
                  <a:rPr sz="2200" b="0">
                    <a:solidFill>
                      <a:srgbClr val="111827"/>
                    </a:solidFill>
                    <a:latin typeface="Arial"/>
                  </a:rPr>
                  <a:t> with </a:t>
                </a:r>
                <a:r>
                  <a:rPr lang="en-IN" sz="2200">
                    <a:solidFill>
                      <a:srgbClr val="111827"/>
                    </a:solidFill>
                    <a:latin typeface="Cambria Math" panose="02040503050406030204" pitchFamily="18" charset="0"/>
                  </a:rPr>
                  <a:t>$z$</a:t>
                </a:r>
                <a:r>
                  <a:rPr sz="2200" b="0">
                    <a:solidFill>
                      <a:srgbClr val="111827"/>
                    </a:solidFill>
                    <a:latin typeface="Arial"/>
                  </a:rPr>
                  <a:t>-axis, then</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The locus of intersection of locus of </a:t>
                </a:r>
                <a:r>
                  <a:rPr lang="en-IN" sz="2200">
                    <a:solidFill>
                      <a:srgbClr val="111827"/>
                    </a:solidFill>
                    <a:latin typeface="Cambria Math" panose="02040503050406030204" pitchFamily="18" charset="0"/>
                  </a:rPr>
                  <a:t>$P$</a:t>
                </a:r>
                <a:r>
                  <a:rPr sz="2200" b="0">
                    <a:solidFill>
                      <a:srgbClr val="111827"/>
                    </a:solidFill>
                    <a:latin typeface="Arial"/>
                  </a:rPr>
                  <a:t> with </a:t>
                </a:r>
                <a:r>
                  <a:rPr lang="en-IN" sz="2200">
                    <a:solidFill>
                      <a:srgbClr val="111827"/>
                    </a:solidFill>
                    <a:latin typeface="Cambria Math" panose="02040503050406030204" pitchFamily="18" charset="0"/>
                  </a:rPr>
                  <a:t>$x+y=2$</a:t>
                </a:r>
                <a:r>
                  <a:rPr sz="2200" b="0">
                    <a:solidFill>
                      <a:srgbClr val="111827"/>
                    </a:solidFill>
                    <a:latin typeface="Arial"/>
                  </a:rPr>
                  <a:t> is:</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a straight line   (B) a hyperbola   (C) a circle   (D) an ellipse</a:t>
                </a:r>
                <a:endParaRPr sz="2200">
                  <a:solidFill>
                    <a:srgbClr val="111827"/>
                  </a:solidFill>
                </a:endParaRPr>
              </a:p>
            </p:txBody>
          </p:sp>
        </mc:Fallback>
      </mc:AlternateContent>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Section of a cone by a plane parallel to its axis: hyperbola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plane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is parallel to the </a:t>
                </a:r>
                <a14:m>
                  <m:oMath xmlns:m="http://schemas.openxmlformats.org/officeDocument/2006/math">
                    <m:r>
                      <a:rPr lang="en-IN" sz="2400" i="1">
                        <a:solidFill>
                          <a:srgbClr val="78350F"/>
                        </a:solidFill>
                        <a:latin typeface="Cambria Math" panose="02040503050406030204" pitchFamily="18" charset="0"/>
                      </a:rPr>
                      <m:t>𝑧</m:t>
                    </m:r>
                  </m:oMath>
                </a14:m>
                <a:r>
                  <a:rPr sz="2400" b="0">
                    <a:solidFill>
                      <a:srgbClr val="78350F"/>
                    </a:solidFill>
                    <a:latin typeface="Arial"/>
                  </a:rPr>
                  <a:t>-axis and misses the vertex, so the section is a hyperbola.</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plane </a:t>
                </a:r>
                <a:r>
                  <a:rPr lang="en-IN" sz="2400">
                    <a:solidFill>
                      <a:srgbClr val="78350F"/>
                    </a:solidFill>
                    <a:latin typeface="Cambria Math" panose="02040503050406030204" pitchFamily="18" charset="0"/>
                  </a:rPr>
                  <a:t>$x+y=2$</a:t>
                </a:r>
                <a:r>
                  <a:rPr sz="2400" b="0">
                    <a:solidFill>
                      <a:srgbClr val="78350F"/>
                    </a:solidFill>
                    <a:latin typeface="Arial"/>
                  </a:rPr>
                  <a:t> is parallel to the </a:t>
                </a:r>
                <a:r>
                  <a:rPr lang="en-IN" sz="2400">
                    <a:solidFill>
                      <a:srgbClr val="78350F"/>
                    </a:solidFill>
                    <a:latin typeface="Cambria Math" panose="02040503050406030204" pitchFamily="18" charset="0"/>
                  </a:rPr>
                  <a:t>$z$</a:t>
                </a:r>
                <a:r>
                  <a:rPr sz="2400" b="0">
                    <a:solidFill>
                      <a:srgbClr val="78350F"/>
                    </a:solidFill>
                    <a:latin typeface="Arial"/>
                  </a:rPr>
                  <a:t>-axis and misses the vertex, so the section is a hyperbola.</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plane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parallel to the axis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-axis) of the cone, and it does not pass through the vertex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plane </a:t>
                </a:r>
                <a:r>
                  <a:rPr lang="en-IN" sz="2400">
                    <a:solidFill>
                      <a:srgbClr val="111827"/>
                    </a:solidFill>
                    <a:latin typeface="Cambria Math" panose="02040503050406030204" pitchFamily="18" charset="0"/>
                  </a:rPr>
                  <a:t>$x+y=2$</a:t>
                </a:r>
                <a:r>
                  <a:rPr sz="2400" b="0">
                    <a:solidFill>
                      <a:srgbClr val="111827"/>
                    </a:solidFill>
                    <a:latin typeface="Arial"/>
                  </a:rPr>
                  <a:t> is parallel to the axis (</a:t>
                </a:r>
                <a:r>
                  <a:rPr lang="en-IN" sz="2400">
                    <a:solidFill>
                      <a:srgbClr val="111827"/>
                    </a:solidFill>
                    <a:latin typeface="Cambria Math" panose="02040503050406030204" pitchFamily="18" charset="0"/>
                  </a:rPr>
                  <a:t>$z$</a:t>
                </a:r>
                <a:r>
                  <a:rPr sz="2400" b="0">
                    <a:solidFill>
                      <a:srgbClr val="111827"/>
                    </a:solidFill>
                    <a:latin typeface="Arial"/>
                  </a:rPr>
                  <a:t>-axis) of the cone, and it does not pass through the vertex </a:t>
                </a:r>
                <a:r>
                  <a:rPr lang="en-IN" sz="2400">
                    <a:solidFill>
                      <a:srgbClr val="111827"/>
                    </a:solidFill>
                    <a:latin typeface="Cambria Math" panose="02040503050406030204" pitchFamily="18" charset="0"/>
                  </a:rPr>
                  <a:t>$(0,0,2)$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plane parallel to the axis (not through the vertex) cuts both nappes in a hyperbola.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put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in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a hyperbola: option (B).</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plane parallel to the axis (not through the vertex) cuts both nappes in a hyperbola.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put </a:t>
                </a:r>
                <a:r>
                  <a:rPr lang="en-IN" sz="2400">
                    <a:solidFill>
                      <a:srgbClr val="111827"/>
                    </a:solidFill>
                    <a:latin typeface="Cambria Math" panose="02040503050406030204" pitchFamily="18" charset="0"/>
                  </a:rPr>
                  <a:t>$y=2-x$</a:t>
                </a:r>
                <a:r>
                  <a:rPr sz="2400" b="0">
                    <a:solidFill>
                      <a:srgbClr val="111827"/>
                    </a:solidFill>
                    <a:latin typeface="Arial"/>
                  </a:rPr>
                  <a:t> in </a:t>
                </a:r>
                <a:r>
                  <a:rPr lang="en-IN" sz="2400">
                    <a:solidFill>
                      <a:srgbClr val="111827"/>
                    </a:solidFill>
                    <a:latin typeface="Cambria Math" panose="02040503050406030204" pitchFamily="18" charset="0"/>
                  </a:rPr>
                  <a:t>$x^2+y^2=3(z-2)^2$</a:t>
                </a:r>
                <a:r>
                  <a:rPr sz="2400" b="0">
                    <a:solidFill>
                      <a:srgbClr val="111827"/>
                    </a:solidFill>
                    <a:latin typeface="Arial"/>
                  </a:rPr>
                  <a:t>: </a:t>
                </a:r>
                <a:r>
                  <a:rPr lang="en-IN" sz="2400">
                    <a:solidFill>
                      <a:srgbClr val="111827"/>
                    </a:solidFill>
                    <a:latin typeface="Cambria Math" panose="02040503050406030204" pitchFamily="18" charset="0"/>
                  </a:rPr>
                  <a:t>$2x^2-4x+4=3(z-2)^2\Rightarrow2(x-1)^2+2=3(z-2)^2$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$3(z-2)^2-2(x-1)^2=2$</a:t>
                </a:r>
                <a:r>
                  <a:rPr sz="2400" b="0">
                    <a:solidFill>
                      <a:srgbClr val="111827"/>
                    </a:solidFill>
                    <a:latin typeface="Arial"/>
                  </a:rPr>
                  <a:t> is a hyperbola: option (B).</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 hyperbola</a:t>
            </a:r>
            <a:endParaRPr sz="2800">
              <a:solidFill>
                <a:srgbClr val="15803D"/>
              </a:solidFill>
            </a:endParaRP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general rule instead of substitution: the plane makes angle </a:t>
                </a:r>
                <a14:m>
                  <m:oMath xmlns:m="http://schemas.openxmlformats.org/officeDocument/2006/math">
                    <m:sSup>
                      <m:e>
                        <m:r>
                          <a:rPr lang="en-IN" sz="2400" i="1">
                            <a:solidFill>
                              <a:srgbClr val="78350F"/>
                            </a:solidFill>
                            <a:latin typeface="Cambria Math" panose="02040503050406030204" pitchFamily="18" charset="0"/>
                          </a:rPr>
                          <m:t>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with the axis, smaller than the semi-vertical angle </a:t>
                </a:r>
                <a14:m>
                  <m:oMath xmlns:m="http://schemas.openxmlformats.org/officeDocument/2006/math">
                    <m:sSup>
                      <m:e>
                        <m:r>
                          <a:rPr lang="en-IN" sz="2400" i="1">
                            <a:solidFill>
                              <a:srgbClr val="78350F"/>
                            </a:solidFill>
                            <a:latin typeface="Cambria Math" panose="02040503050406030204" pitchFamily="18" charset="0"/>
                          </a:rPr>
                          <m:t>60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and misses the vertex.</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general rule instead of substitution: the plane makes angle </a:t>
                </a:r>
                <a:r>
                  <a:rPr lang="en-IN" sz="2400">
                    <a:solidFill>
                      <a:srgbClr val="78350F"/>
                    </a:solidFill>
                    <a:latin typeface="Cambria Math" panose="02040503050406030204" pitchFamily="18" charset="0"/>
                  </a:rPr>
                  <a:t>$0^\circ$</a:t>
                </a:r>
                <a:r>
                  <a:rPr sz="2400" b="0">
                    <a:solidFill>
                      <a:srgbClr val="78350F"/>
                    </a:solidFill>
                    <a:latin typeface="Arial"/>
                  </a:rPr>
                  <a:t> with the axis, smaller than the semi-vertical angle </a:t>
                </a:r>
                <a:r>
                  <a:rPr lang="en-IN" sz="2400">
                    <a:solidFill>
                      <a:srgbClr val="78350F"/>
                    </a:solidFill>
                    <a:latin typeface="Cambria Math" panose="02040503050406030204" pitchFamily="18" charset="0"/>
                  </a:rPr>
                  <a:t>$60^\circ$</a:t>
                </a:r>
                <a:r>
                  <a:rPr sz="2400" b="0">
                    <a:solidFill>
                      <a:srgbClr val="78350F"/>
                    </a:solidFill>
                    <a:latin typeface="Arial"/>
                  </a:rPr>
                  <a:t>, and misses the vertex.</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28895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of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so the plane is parallel to the axis (inclination </a:t>
                </a:r>
                <a14:m>
                  <m:oMath xmlns:m="http://schemas.openxmlformats.org/officeDocument/2006/math">
                    <m:sSup>
                      <m:e>
                        <m:r>
                          <a:rPr lang="en-IN" sz="2400" i="1">
                            <a:solidFill>
                              <a:srgbClr val="111827"/>
                            </a:solidFill>
                            <a:latin typeface="Cambria Math" panose="02040503050406030204" pitchFamily="18" charset="0"/>
                          </a:rPr>
                          <m:t>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Inclination to the axis (</a:t>
                </a:r>
                <a14:m>
                  <m:oMath xmlns:m="http://schemas.openxmlformats.org/officeDocument/2006/math">
                    <m:sSup>
                      <m:e>
                        <m:r>
                          <a:rPr lang="en-IN" sz="2400" i="1">
                            <a:solidFill>
                              <a:srgbClr val="111827"/>
                            </a:solidFill>
                            <a:latin typeface="Cambria Math" panose="02040503050406030204" pitchFamily="18" charset="0"/>
                          </a:rPr>
                          <m:t>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is less than the semi-vertical angle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so the plane cuts both nappes.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does not contain the vertex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the section is a non-degenerate conic with two branches: a hyperbola.</a:t>
                </a:r>
                <a:endParaRPr sz="2400">
                  <a:solidFill>
                    <a:srgbClr val="111827"/>
                  </a:solidFill>
                </a:endParaRPr>
              </a:p>
            </p:txBody>
          </p:sp>
        </mc:Choice>
        <mc:Fallback>
          <p:sp>
            <p:nvSpPr>
              <p:cNvPr id="6" name="Rectangle 5"/>
              <p:cNvSpPr/>
              <p:nvPr/>
            </p:nvSpPr>
            <p:spPr>
              <a:xfrm>
                <a:off x="731520" y="2898648"/>
                <a:ext cx="10725912" cy="28895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normal of </a:t>
                </a:r>
                <a:r>
                  <a:rPr lang="en-IN" sz="2400">
                    <a:solidFill>
                      <a:srgbClr val="111827"/>
                    </a:solidFill>
                    <a:latin typeface="Cambria Math" panose="02040503050406030204" pitchFamily="18" charset="0"/>
                  </a:rPr>
                  <a:t>$x+y=2$</a:t>
                </a:r>
                <a:r>
                  <a:rPr sz="2400" b="0">
                    <a:solidFill>
                      <a:srgbClr val="111827"/>
                    </a:solidFill>
                    <a:latin typeface="Arial"/>
                  </a:rPr>
                  <a:t> is </a:t>
                </a:r>
                <a:r>
                  <a:rPr lang="en-IN" sz="2400">
                    <a:solidFill>
                      <a:srgbClr val="111827"/>
                    </a:solidFill>
                    <a:latin typeface="Cambria Math" panose="02040503050406030204" pitchFamily="18" charset="0"/>
                  </a:rPr>
                  <a:t>$(1,1,0)\perp\hat k$</a:t>
                </a:r>
                <a:r>
                  <a:rPr sz="2400" b="0">
                    <a:solidFill>
                      <a:srgbClr val="111827"/>
                    </a:solidFill>
                    <a:latin typeface="Arial"/>
                  </a:rPr>
                  <a:t>, so the plane is parallel to the axis (inclination </a:t>
                </a:r>
                <a:r>
                  <a:rPr lang="en-IN" sz="2400">
                    <a:solidFill>
                      <a:srgbClr val="111827"/>
                    </a:solidFill>
                    <a:latin typeface="Cambria Math" panose="02040503050406030204" pitchFamily="18" charset="0"/>
                  </a:rPr>
                  <a:t>$0^\circ$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Inclination to the axis (</a:t>
                </a:r>
                <a:r>
                  <a:rPr lang="en-IN" sz="2400">
                    <a:solidFill>
                      <a:srgbClr val="111827"/>
                    </a:solidFill>
                    <a:latin typeface="Cambria Math" panose="02040503050406030204" pitchFamily="18" charset="0"/>
                  </a:rPr>
                  <a:t>$0^\circ$</a:t>
                </a:r>
                <a:r>
                  <a:rPr sz="2400" b="0">
                    <a:solidFill>
                      <a:srgbClr val="111827"/>
                    </a:solidFill>
                    <a:latin typeface="Arial"/>
                  </a:rPr>
                  <a:t>) is less than the semi-vertical angle (</a:t>
                </a:r>
                <a:r>
                  <a:rPr lang="en-IN" sz="2400">
                    <a:solidFill>
                      <a:srgbClr val="111827"/>
                    </a:solidFill>
                    <a:latin typeface="Cambria Math" panose="02040503050406030204" pitchFamily="18" charset="0"/>
                  </a:rPr>
                  <a:t>$60^\circ$</a:t>
                </a:r>
                <a:r>
                  <a:rPr sz="2400" b="0">
                    <a:solidFill>
                      <a:srgbClr val="111827"/>
                    </a:solidFill>
                    <a:latin typeface="Arial"/>
                  </a:rPr>
                  <a:t>), so the plane cuts both nappes.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does not contain the vertex (</a:t>
                </a:r>
                <a:r>
                  <a:rPr lang="en-IN" sz="2400">
                    <a:solidFill>
                      <a:srgbClr val="111827"/>
                    </a:solidFill>
                    <a:latin typeface="Cambria Math" panose="02040503050406030204" pitchFamily="18" charset="0"/>
                  </a:rPr>
                  <a:t>$0+0\ne2$</a:t>
                </a:r>
                <a:r>
                  <a:rPr sz="2400" b="0">
                    <a:solidFill>
                      <a:srgbClr val="111827"/>
                    </a:solidFill>
                    <a:latin typeface="Arial"/>
                  </a:rPr>
                  <a:t>), so the section is a non-degenerate conic with two branches: a hyperbola.</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 hyperbola</a:t>
            </a:r>
            <a:endParaRPr sz="2800">
              <a:solidFill>
                <a:srgbClr val="15803D"/>
              </a:solidFill>
            </a:endParaRP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plane parallel to the axis of a double cone (and not through the vertex) cuts it in a hyperbola; perpendicular to the axis: a 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Perpendicular distance from the vertex to the plane tells whether the plane passes through the vertex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gives a degenerate section).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Substituting a plane into the cone's equation and completing squares identifies the conic from the sign of the squared terms.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plane parallel to the axis of a double cone (and not through the vertex) cuts it in a hyperbola; perpendicular to the axis: a 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Perpendicular distance from the vertex to the plane tells whether the plane passes through the vertex (</a:t>
                </a:r>
                <a:r>
                  <a:rPr lang="en-IN" sz="2400">
                    <a:solidFill>
                      <a:srgbClr val="111827"/>
                    </a:solidFill>
                    <a:latin typeface="Cambria Math" panose="02040503050406030204" pitchFamily="18" charset="0"/>
                  </a:rPr>
                  <a:t>$0$</a:t>
                </a:r>
                <a:r>
                  <a:rPr sz="2400" b="0">
                    <a:solidFill>
                      <a:srgbClr val="111827"/>
                    </a:solidFill>
                    <a:latin typeface="Arial"/>
                  </a:rPr>
                  <a:t> gives a degenerate section).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Substituting a plane into the cone's equation and completing squares identifies the conic from the sign of the squared terms.</a:t>
                </a:r>
                <a:endParaRPr sz="2400">
                  <a:solidFill>
                    <a:srgbClr val="111827"/>
                  </a:solidFill>
                </a:endParaRPr>
              </a:p>
            </p:txBody>
          </p:sp>
        </mc:Fallback>
      </mc:AlternateContent>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4</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Numerical and Integer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Q45 – Q72</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Marks not printed in the paper: JEE Advanced default of 4 marks assumed</a:t>
            </a:r>
            <a:endParaRPr sz="2800">
              <a:solidFill>
                <a:srgbClr val="FFFFFF"/>
              </a:solidFill>
            </a:endParaRP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Three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β</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oMath>
                </a14:m>
                <a:r>
                  <a:rPr sz="2400" b="0">
                    <a:solidFill>
                      <a:srgbClr val="111827"/>
                    </a:solidFill>
                    <a:latin typeface="Arial"/>
                  </a:rPr>
                  <a:t> having magnitude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 respectively satisfying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e>
                    </m:d>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β</m:t>
                        </m:r>
                      </m:e>
                    </m:acc>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Three vectors </a:t>
                </a:r>
                <a:r>
                  <a:rPr lang="en-IN" sz="2400">
                    <a:solidFill>
                      <a:srgbClr val="111827"/>
                    </a:solidFill>
                    <a:latin typeface="Cambria Math" panose="02040503050406030204" pitchFamily="18" charset="0"/>
                  </a:rPr>
                  <a:t>$\vec\alpha,\vec\beta,\vec\gamma$</a:t>
                </a:r>
                <a:r>
                  <a:rPr sz="2400" b="0">
                    <a:solidFill>
                      <a:srgbClr val="111827"/>
                    </a:solidFill>
                    <a:latin typeface="Arial"/>
                  </a:rPr>
                  <a:t> having magnitude </a:t>
                </a:r>
                <a:r>
                  <a:rPr lang="en-IN" sz="2400">
                    <a:solidFill>
                      <a:srgbClr val="111827"/>
                    </a:solidFill>
                    <a:latin typeface="Cambria Math" panose="02040503050406030204" pitchFamily="18" charset="0"/>
                  </a:rPr>
                  <a:t>$2,3$</a:t>
                </a:r>
                <a:r>
                  <a:rPr sz="2400" b="0">
                    <a:solidFill>
                      <a:srgbClr val="111827"/>
                    </a:solidFill>
                    <a:latin typeface="Arial"/>
                  </a:rPr>
                  <a:t> and </a:t>
                </a:r>
                <a:r>
                  <a:rPr lang="en-IN" sz="2400">
                    <a:solidFill>
                      <a:srgbClr val="111827"/>
                    </a:solidFill>
                    <a:latin typeface="Cambria Math" panose="02040503050406030204" pitchFamily="18" charset="0"/>
                  </a:rPr>
                  <a:t>$5^{1/3}$</a:t>
                </a:r>
                <a:r>
                  <a:rPr sz="2400" b="0">
                    <a:solidFill>
                      <a:srgbClr val="111827"/>
                    </a:solidFill>
                    <a:latin typeface="Arial"/>
                  </a:rPr>
                  <a:t> respectively satisfying </a:t>
                </a:r>
                <a:r>
                  <a:rPr lang="en-IN" sz="2400">
                    <a:solidFill>
                      <a:srgbClr val="111827"/>
                    </a:solidFill>
                    <a:latin typeface="Cambria Math" panose="02040503050406030204" pitchFamily="18" charset="0"/>
                  </a:rPr>
                  <a:t>$\vec\gamma\times\left((\vec\alpha\times\vec\gamma)\times\vec\gamma\right)=\vec\beta$</a:t>
                </a:r>
                <a:r>
                  <a:rPr sz="2400" b="0">
                    <a:solidFill>
                      <a:srgbClr val="111827"/>
                    </a:solidFill>
                    <a:latin typeface="Arial"/>
                  </a:rPr>
                  <a:t>, then </a:t>
                </a:r>
                <a:r>
                  <a:rPr lang="en-IN" sz="2400">
                    <a:solidFill>
                      <a:srgbClr val="111827"/>
                    </a:solidFill>
                    <a:latin typeface="Cambria Math" panose="02040503050406030204" pitchFamily="18" charset="0"/>
                  </a:rPr>
                  <a:t>$\sin(\vec\alpha\wedge\vec\gamma)$</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3888739"/>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triple product and magnitude relations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α</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oMath>
                </a14:m>
                <a:r>
                  <a:rPr sz="2400" b="0">
                    <a:solidFill>
                      <a:srgbClr val="78350F"/>
                    </a:solidFill>
                    <a:latin typeface="Arial"/>
                  </a:rPr>
                  <a:t> and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α</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oMath>
                </a14:m>
                <a:r>
                  <a:rPr sz="2400" b="0">
                    <a:solidFill>
                      <a:srgbClr val="78350F"/>
                    </a:solidFill>
                    <a:latin typeface="Arial"/>
                  </a:rPr>
                  <a:t>, so magnitudes multiply without angles.</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$\vec\gamma\perp(\vec\alpha\times\vec\gamma)\times\vec\gamma$</a:t>
                </a:r>
                <a:r>
                  <a:rPr sz="2400" b="0">
                    <a:solidFill>
                      <a:srgbClr val="78350F"/>
                    </a:solidFill>
                    <a:latin typeface="Arial"/>
                  </a:rPr>
                  <a:t> and </a:t>
                </a:r>
                <a:r>
                  <a:rPr lang="en-IN" sz="2400">
                    <a:solidFill>
                      <a:srgbClr val="78350F"/>
                    </a:solidFill>
                    <a:latin typeface="Cambria Math" panose="02040503050406030204" pitchFamily="18" charset="0"/>
                  </a:rPr>
                  <a:t>$\vec\alpha\times\vec\gamma\perp\vec\gamma$</a:t>
                </a:r>
                <a:r>
                  <a:rPr sz="2400" b="0">
                    <a:solidFill>
                      <a:srgbClr val="78350F"/>
                    </a:solidFill>
                    <a:latin typeface="Arial"/>
                  </a:rPr>
                  <a:t>, so magnitudes multiply without angles.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β</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e>
                    </m:d>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β</m:t>
                        </m:r>
                      </m:e>
                    </m:acc>
                  </m:oMath>
                </a14:m>
                <a:r>
                  <a:rPr sz="2400" b="0">
                    <a:solidFill>
                      <a:srgbClr val="111827"/>
                    </a:solidFill>
                    <a:latin typeface="Arial"/>
                  </a:rPr>
                  <a:t>: the vector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oMath>
                </a14:m>
                <a:r>
                  <a:rPr sz="2400" b="0">
                    <a:solidFill>
                      <a:srgbClr val="111827"/>
                    </a:solidFill>
                    <a:latin typeface="Arial"/>
                  </a:rPr>
                  <a:t> is perpendicular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oMath>
                </a14:m>
                <a:r>
                  <a:rPr sz="2400" b="0">
                    <a:solidFill>
                      <a:srgbClr val="111827"/>
                    </a:solidFill>
                    <a:latin typeface="Arial"/>
                  </a:rPr>
                  <a:t>, so taking magnitudes gives </a:t>
                </a:r>
                <a14:m>
                  <m:oMath xmlns:m="http://schemas.openxmlformats.org/officeDocument/2006/math">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oMath>
                </a14:m>
                <a:r>
                  <a:rPr sz="2400" b="0">
                    <a:solidFill>
                      <a:srgbClr val="111827"/>
                    </a:solidFill>
                    <a:latin typeface="Arial"/>
                  </a:rPr>
                  <a:t>, so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$|\vec\alpha|=2$</a:t>
                </a:r>
                <a:r>
                  <a:rPr sz="2400" b="0">
                    <a:solidFill>
                      <a:srgbClr val="111827"/>
                    </a:solidFill>
                    <a:latin typeface="Arial"/>
                  </a:rPr>
                  <a:t>, </a:t>
                </a:r>
                <a:r>
                  <a:rPr lang="en-IN" sz="2400">
                    <a:solidFill>
                      <a:srgbClr val="111827"/>
                    </a:solidFill>
                    <a:latin typeface="Cambria Math" panose="02040503050406030204" pitchFamily="18" charset="0"/>
                  </a:rPr>
                  <a:t>$|\vec\beta|=3$</a:t>
                </a:r>
                <a:r>
                  <a:rPr sz="2400" b="0">
                    <a:solidFill>
                      <a:srgbClr val="111827"/>
                    </a:solidFill>
                    <a:latin typeface="Arial"/>
                  </a:rPr>
                  <a:t>, </a:t>
                </a:r>
                <a:r>
                  <a:rPr lang="en-IN" sz="2400">
                    <a:solidFill>
                      <a:srgbClr val="111827"/>
                    </a:solidFill>
                    <a:latin typeface="Cambria Math" panose="02040503050406030204" pitchFamily="18" charset="0"/>
                  </a:rPr>
                  <a:t>$|\vec\gamma|=5^{1/3}$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$\vec\gamma\times\left((\vec\alpha\times\vec\gamma)\times\vec\gamma\right)=\vec\beta$</a:t>
                </a:r>
                <a:r>
                  <a:rPr sz="2400" b="0">
                    <a:solidFill>
                      <a:srgbClr val="111827"/>
                    </a:solidFill>
                    <a:latin typeface="Arial"/>
                  </a:rPr>
                  <a:t>: the vector </a:t>
                </a:r>
                <a:r>
                  <a:rPr lang="en-IN" sz="2400">
                    <a:solidFill>
                      <a:srgbClr val="111827"/>
                    </a:solidFill>
                    <a:latin typeface="Cambria Math" panose="02040503050406030204" pitchFamily="18" charset="0"/>
                  </a:rPr>
                  <a:t>$(\vec\alpha\times\vec\gamma)\times\vec\gamma$</a:t>
                </a:r>
                <a:r>
                  <a:rPr sz="2400" b="0">
                    <a:solidFill>
                      <a:srgbClr val="111827"/>
                    </a:solidFill>
                    <a:latin typeface="Arial"/>
                  </a:rPr>
                  <a:t> is perpendicular to </a:t>
                </a:r>
                <a:r>
                  <a:rPr lang="en-IN" sz="2400">
                    <a:solidFill>
                      <a:srgbClr val="111827"/>
                    </a:solidFill>
                    <a:latin typeface="Cambria Math" panose="02040503050406030204" pitchFamily="18" charset="0"/>
                  </a:rPr>
                  <a:t>$\vec\gamma$</a:t>
                </a:r>
                <a:r>
                  <a:rPr sz="2400" b="0">
                    <a:solidFill>
                      <a:srgbClr val="111827"/>
                    </a:solidFill>
                    <a:latin typeface="Arial"/>
                  </a:rPr>
                  <a:t>, so taking magnitudes gives </a:t>
                </a:r>
                <a:r>
                  <a:rPr lang="en-IN" sz="2400">
                    <a:solidFill>
                      <a:srgbClr val="111827"/>
                    </a:solidFill>
                    <a:latin typeface="Cambria Math" panose="02040503050406030204" pitchFamily="18" charset="0"/>
                  </a:rPr>
                  <a:t>$5^{1/3}\left|(\vec\alpha\times\vec\gamma)\times\vec\gamma\right|=3$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$(\vec\alpha\times\vec\gamma)\perp\vec\gamma$</a:t>
                </a:r>
                <a:r>
                  <a:rPr sz="2400" b="0">
                    <a:solidFill>
                      <a:srgbClr val="111827"/>
                    </a:solidFill>
                    <a:latin typeface="Arial"/>
                  </a:rPr>
                  <a:t>, so </a:t>
                </a:r>
                <a:r>
                  <a:rPr lang="en-IN" sz="2400">
                    <a:solidFill>
                      <a:srgbClr val="111827"/>
                    </a:solidFill>
                    <a:latin typeface="Cambria Math" panose="02040503050406030204" pitchFamily="18" charset="0"/>
                  </a:rPr>
                  <a:t>$\left|(\vec\alpha\times\vec\gamma)\times\vec\gamma\right|=|\vec\alpha\times\vec\gamma|\cdot5^{1/3}$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10</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0.30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$|\vec\alpha\times\vec\gamma|\cdot5^{2/3}=3$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$|\vec\alpha\times\vec\gamma|=2\cdot5^{1/3}\sin(\vec\alpha\wedge\vec\gamma)$</a:t>
                </a:r>
                <a:r>
                  <a:rPr sz="2400" b="0">
                    <a:solidFill>
                      <a:srgbClr val="111827"/>
                    </a:solidFill>
                    <a:latin typeface="Arial"/>
                  </a:rPr>
                  <a:t>, so </a:t>
                </a:r>
                <a:r>
                  <a:rPr lang="en-IN" sz="2400">
                    <a:solidFill>
                      <a:srgbClr val="111827"/>
                    </a:solidFill>
                    <a:latin typeface="Cambria Math" panose="02040503050406030204" pitchFamily="18" charset="0"/>
                  </a:rPr>
                  <a:t>$2\cdot5^{1/3}\cdot5^{2/3}\sin(\vec\alpha\wedge\vec\gamma)=3$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$10\sin(\vec\alpha\wedge\vec\gamma)=3\Rightarrow\sin(\vec\alpha\wedge\vec\gamma)=\frac{3}{10}=0.30$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0.30</a:t>
            </a:r>
            <a:endParaRPr sz="2800">
              <a:solidFill>
                <a:srgbClr val="15803D"/>
              </a:solidFill>
            </a:endParaRP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Expand the triple product: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α</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α</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α</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so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β</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α</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γ</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Expand the triple product: </a:t>
                </a:r>
                <a:r>
                  <a:rPr lang="en-IN" sz="2400">
                    <a:solidFill>
                      <a:srgbClr val="78350F"/>
                    </a:solidFill>
                    <a:latin typeface="Cambria Math" panose="02040503050406030204" pitchFamily="18" charset="0"/>
                  </a:rPr>
                  <a:t>$(\vec\alpha\times\vec\gamma)\times\vec\gamma=\vec\gamma(\vec\alpha\cdot\vec\gamma)-\vec\alpha|\vec\gamma|^2$</a:t>
                </a:r>
                <a:r>
                  <a:rPr sz="2400" b="0">
                    <a:solidFill>
                      <a:srgbClr val="78350F"/>
                    </a:solidFill>
                    <a:latin typeface="Arial"/>
                  </a:rPr>
                  <a:t>, so </a:t>
                </a:r>
                <a:r>
                  <a:rPr lang="en-IN" sz="2400">
                    <a:solidFill>
                      <a:srgbClr val="78350F"/>
                    </a:solidFill>
                    <a:latin typeface="Cambria Math" panose="02040503050406030204" pitchFamily="18" charset="0"/>
                  </a:rPr>
                  <a:t>$\vec\beta=|\vec\gamma|^2(\vec\alpha\times\vec\gamma)$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β</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β</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0.30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$(\vec\alpha\times\vec\gamma)\times\vec\gamma=\vec\gamma(\vec\alpha\cdot\vec\gamma)-\vec\alpha(\vec\gamma\cdot\vec\gamma)$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$\vec\gamma\times\left[\vec\gamma(\vec\alpha\cdot\vec\gamma)-\vec\alpha|\vec\gamma|^2\right]=-|\vec\gamma|^2(\vec\gamma\times\vec\alpha)=|\vec\gamma|^2(\vec\alpha\times\vec\gamma)$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$\vec\beta=|\vec\gamma|^2(\vec\alpha\times\vec\gamma)$</a:t>
                </a:r>
                <a:r>
                  <a:rPr sz="2400" b="0">
                    <a:solidFill>
                      <a:srgbClr val="111827"/>
                    </a:solidFill>
                    <a:latin typeface="Arial"/>
                  </a:rPr>
                  <a:t> and </a:t>
                </a:r>
                <a:r>
                  <a:rPr lang="en-IN" sz="2400">
                    <a:solidFill>
                      <a:srgbClr val="111827"/>
                    </a:solidFill>
                    <a:latin typeface="Cambria Math" panose="02040503050406030204" pitchFamily="18" charset="0"/>
                  </a:rPr>
                  <a:t>$|\vec\beta|=|\vec\gamma|^3|\vec\alpha|\sin\theta=5\cdot2\sin\theta$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$3=10\sin\theta\Rightarrow\sin\theta=0.30$</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0.30</a:t>
            </a:r>
            <a:endParaRPr sz="2800">
              <a:solidFill>
                <a:srgbClr val="15803D"/>
              </a:solidFill>
            </a:endParaRP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two cross products with the same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oMath>
                </a14:m>
                <a:r>
                  <a:rPr sz="2400" b="0">
                    <a:solidFill>
                      <a:srgbClr val="111827"/>
                    </a:solidFill>
                    <a:latin typeface="Arial"/>
                  </a:rPr>
                  <a:t> act as multiplication by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on the part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 perpendicular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γ</m:t>
                        </m:r>
                      </m:e>
                    </m:acc>
                  </m:oMath>
                </a14:m>
                <a:r>
                  <a:rPr sz="2400" b="0">
                    <a:solidFill>
                      <a:srgbClr val="111827"/>
                    </a:solidFill>
                    <a:latin typeface="Arial"/>
                  </a:rPr>
                  <a:t> (and a rotation by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in each step).</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e>
                      <m:sub>
                        <m:r>
                          <m:rPr>
                            <m:sty m:val="p"/>
                          </m:rPr>
                          <a:rPr lang="en-IN" sz="2400">
                            <a:solidFill>
                              <a:srgbClr val="111827"/>
                            </a:solidFill>
                            <a:latin typeface="Cambria Math" panose="02040503050406030204" pitchFamily="18" charset="0"/>
                          </a:rPr>
                          <m:t>⟂</m:t>
                        </m:r>
                      </m:sub>
                    </m:sSub>
                  </m:oMath>
                </a14:m>
                <a:r>
                  <a:rPr sz="2400" b="0">
                    <a:solidFill>
                      <a:srgbClr val="111827"/>
                    </a:solidFill>
                    <a:latin typeface="Arial"/>
                  </a:rPr>
                  <a:t>: repeated crossing rotates by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and scales by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each time.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$\vec\gamma\times\left((\vec\alpha\times\vec\gamma)\times\vec\gamma\right)=|\vec\gamma|^2(\vec\alpha\times\vec\gamma)$</a:t>
                </a:r>
                <a:r>
                  <a:rPr sz="2400" b="0">
                    <a:solidFill>
                      <a:srgbClr val="111827"/>
                    </a:solidFill>
                    <a:latin typeface="Arial"/>
                  </a:rPr>
                  <a:t>: two cross products with the same vector </a:t>
                </a:r>
                <a:r>
                  <a:rPr lang="en-IN" sz="2400">
                    <a:solidFill>
                      <a:srgbClr val="111827"/>
                    </a:solidFill>
                    <a:latin typeface="Cambria Math" panose="02040503050406030204" pitchFamily="18" charset="0"/>
                  </a:rPr>
                  <a:t>$\vec\gamma$</a:t>
                </a:r>
                <a:r>
                  <a:rPr sz="2400" b="0">
                    <a:solidFill>
                      <a:srgbClr val="111827"/>
                    </a:solidFill>
                    <a:latin typeface="Arial"/>
                  </a:rPr>
                  <a:t> act as multiplication by </a:t>
                </a:r>
                <a:r>
                  <a:rPr lang="en-IN" sz="2400">
                    <a:solidFill>
                      <a:srgbClr val="111827"/>
                    </a:solidFill>
                    <a:latin typeface="Cambria Math" panose="02040503050406030204" pitchFamily="18" charset="0"/>
                  </a:rPr>
                  <a:t>$|\vec\gamma|^2$</a:t>
                </a:r>
                <a:r>
                  <a:rPr sz="2400" b="0">
                    <a:solidFill>
                      <a:srgbClr val="111827"/>
                    </a:solidFill>
                    <a:latin typeface="Arial"/>
                  </a:rPr>
                  <a:t> on the part of </a:t>
                </a:r>
                <a:r>
                  <a:rPr lang="en-IN" sz="2400">
                    <a:solidFill>
                      <a:srgbClr val="111827"/>
                    </a:solidFill>
                    <a:latin typeface="Cambria Math" panose="02040503050406030204" pitchFamily="18" charset="0"/>
                  </a:rPr>
                  <a:t>$\vec\alpha$</a:t>
                </a:r>
                <a:r>
                  <a:rPr sz="2400" b="0">
                    <a:solidFill>
                      <a:srgbClr val="111827"/>
                    </a:solidFill>
                    <a:latin typeface="Arial"/>
                  </a:rPr>
                  <a:t> perpendicular to </a:t>
                </a:r>
                <a:r>
                  <a:rPr lang="en-IN" sz="2400">
                    <a:solidFill>
                      <a:srgbClr val="111827"/>
                    </a:solidFill>
                    <a:latin typeface="Cambria Math" panose="02040503050406030204" pitchFamily="18" charset="0"/>
                  </a:rPr>
                  <a:t>$\vec\gamma$</a:t>
                </a:r>
                <a:r>
                  <a:rPr sz="2400" b="0">
                    <a:solidFill>
                      <a:srgbClr val="111827"/>
                    </a:solidFill>
                    <a:latin typeface="Arial"/>
                  </a:rPr>
                  <a:t> (and a rotation by </a:t>
                </a:r>
                <a:r>
                  <a:rPr lang="en-IN" sz="2400">
                    <a:solidFill>
                      <a:srgbClr val="111827"/>
                    </a:solidFill>
                    <a:latin typeface="Cambria Math" panose="02040503050406030204" pitchFamily="18" charset="0"/>
                  </a:rPr>
                  <a:t>$90^\circ$</a:t>
                </a:r>
                <a:r>
                  <a:rPr sz="2400" b="0">
                    <a:solidFill>
                      <a:srgbClr val="111827"/>
                    </a:solidFill>
                    <a:latin typeface="Arial"/>
                  </a:rPr>
                  <a:t> in each step).</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u\times\vec v|=|\vec u||\vec v|$</a:t>
                </a:r>
                <a:r>
                  <a:rPr sz="2400" b="0">
                    <a:solidFill>
                      <a:srgbClr val="111827"/>
                    </a:solidFill>
                    <a:latin typeface="Arial"/>
                  </a:rPr>
                  <a:t> when </a:t>
                </a:r>
                <a:r>
                  <a:rPr lang="en-IN" sz="2400">
                    <a:solidFill>
                      <a:srgbClr val="111827"/>
                    </a:solidFill>
                    <a:latin typeface="Cambria Math" panose="02040503050406030204" pitchFamily="18" charset="0"/>
                  </a:rPr>
                  <a:t>$\vec u\perp\vec v$</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u\times(\vec u\times\vec w)=\vec u(\vec u\cdot\vec w)-\vec w|\vec u|^2=-|\vec u|^2\vec w_\perp$</a:t>
                </a:r>
                <a:r>
                  <a:rPr sz="2400" b="0">
                    <a:solidFill>
                      <a:srgbClr val="111827"/>
                    </a:solidFill>
                    <a:latin typeface="Arial"/>
                  </a:rPr>
                  <a:t>: repeated crossing rotates by </a:t>
                </a:r>
                <a:r>
                  <a:rPr lang="en-IN" sz="2400">
                    <a:solidFill>
                      <a:srgbClr val="111827"/>
                    </a:solidFill>
                    <a:latin typeface="Cambria Math" panose="02040503050406030204" pitchFamily="18" charset="0"/>
                  </a:rPr>
                  <a:t>$90^\circ$</a:t>
                </a:r>
                <a:r>
                  <a:rPr sz="2400" b="0">
                    <a:solidFill>
                      <a:srgbClr val="111827"/>
                    </a:solidFill>
                    <a:latin typeface="Arial"/>
                  </a:rPr>
                  <a:t> and scales by </a:t>
                </a:r>
                <a:r>
                  <a:rPr lang="en-IN" sz="2400">
                    <a:solidFill>
                      <a:srgbClr val="111827"/>
                    </a:solidFill>
                    <a:latin typeface="Cambria Math" panose="02040503050406030204" pitchFamily="18" charset="0"/>
                  </a:rPr>
                  <a:t>$|\vec u|$</a:t>
                </a:r>
                <a:r>
                  <a:rPr sz="2400" b="0">
                    <a:solidFill>
                      <a:srgbClr val="111827"/>
                    </a:solidFill>
                    <a:latin typeface="Arial"/>
                  </a:rPr>
                  <a:t> each time.</a:t>
                </a:r>
                <a:endParaRPr sz="2400">
                  <a:solidFill>
                    <a:srgbClr val="111827"/>
                  </a:solidFill>
                </a:endParaRPr>
              </a:p>
            </p:txBody>
          </p:sp>
        </mc:Fallback>
      </mc:AlternateContent>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be a plane containing the line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and passing through a point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The distance of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𝑧</m:t>
                    </m:r>
                  </m:oMath>
                </a14:m>
                <a:r>
                  <a:rPr sz="2400" b="0">
                    <a:solidFill>
                      <a:srgbClr val="111827"/>
                    </a:solidFill>
                    <a:latin typeface="Arial"/>
                  </a:rPr>
                  <a:t> plane, </a:t>
                </a:r>
                <a14:m>
                  <m:oMath xmlns:m="http://schemas.openxmlformats.org/officeDocument/2006/math">
                    <m:r>
                      <a:rPr lang="en-IN" sz="2400" i="1">
                        <a:solidFill>
                          <a:srgbClr val="111827"/>
                        </a:solidFill>
                        <a:latin typeface="Cambria Math" panose="02040503050406030204" pitchFamily="18" charset="0"/>
                      </a:rPr>
                      <m:t>𝑧</m:t>
                    </m:r>
                    <m:r>
                      <a:rPr lang="en-IN" sz="2400" i="1">
                        <a:solidFill>
                          <a:srgbClr val="111827"/>
                        </a:solidFill>
                        <a:latin typeface="Cambria Math" panose="02040503050406030204" pitchFamily="18" charset="0"/>
                      </a:rPr>
                      <m:t>𝑥</m:t>
                    </m:r>
                  </m:oMath>
                </a14:m>
                <a:r>
                  <a:rPr sz="2400" b="0">
                    <a:solidFill>
                      <a:srgbClr val="111827"/>
                    </a:solidFill>
                    <a:latin typeface="Arial"/>
                  </a:rPr>
                  <a:t> plane and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 plane are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respectively. Plane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meets co-ordinate axes at points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respectively. Find the volume of tetrahedron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the origin).</a:t>
                </a:r>
                <a:endParaRPr sz="2400">
                  <a:solidFill>
                    <a:srgbClr val="111827"/>
                  </a:solidFill>
                </a:endParaRPr>
              </a:p>
            </p:txBody>
          </p:sp>
        </mc:Choice>
        <mc:Fallback>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a:t>
                </a:r>
                <a:r>
                  <a:rPr sz="2400" b="0">
                    <a:solidFill>
                      <a:srgbClr val="111827"/>
                    </a:solidFill>
                    <a:latin typeface="Arial"/>
                  </a:rPr>
                  <a:t> be a plane containing the line </a:t>
                </a:r>
                <a:r>
                  <a:rPr lang="en-IN" sz="2400">
                    <a:solidFill>
                      <a:srgbClr val="111827"/>
                    </a:solidFill>
                    <a:latin typeface="Cambria Math" panose="02040503050406030204" pitchFamily="18" charset="0"/>
                  </a:rPr>
                  <a:t>$z=2,\ x=-y$</a:t>
                </a:r>
                <a:r>
                  <a:rPr sz="2400" b="0">
                    <a:solidFill>
                      <a:srgbClr val="111827"/>
                    </a:solidFill>
                    <a:latin typeface="Arial"/>
                  </a:rPr>
                  <a:t> and passing through a point </a:t>
                </a:r>
                <a:r>
                  <a:rPr lang="en-IN" sz="2400">
                    <a:solidFill>
                      <a:srgbClr val="111827"/>
                    </a:solidFill>
                    <a:latin typeface="Cambria Math" panose="02040503050406030204" pitchFamily="18" charset="0"/>
                  </a:rPr>
                  <a:t>$M(\alpha,\beta,\gamma)$</a:t>
                </a:r>
                <a:r>
                  <a:rPr sz="2400" b="0">
                    <a:solidFill>
                      <a:srgbClr val="111827"/>
                    </a:solidFill>
                    <a:latin typeface="Arial"/>
                  </a:rPr>
                  <a:t> where </a:t>
                </a:r>
                <a:r>
                  <a:rPr lang="en-IN" sz="2400">
                    <a:solidFill>
                      <a:srgbClr val="111827"/>
                    </a:solidFill>
                    <a:latin typeface="Cambria Math" panose="02040503050406030204" pitchFamily="18" charset="0"/>
                  </a:rPr>
                  <a:t>$\alpha&gt;0,\beta&gt;0,\gamma&gt;0$</a:t>
                </a:r>
                <a:r>
                  <a:rPr sz="2400" b="0">
                    <a:solidFill>
                      <a:srgbClr val="111827"/>
                    </a:solidFill>
                    <a:latin typeface="Arial"/>
                  </a:rPr>
                  <a:t>. The distance of </a:t>
                </a:r>
                <a:r>
                  <a:rPr lang="en-IN" sz="2400">
                    <a:solidFill>
                      <a:srgbClr val="111827"/>
                    </a:solidFill>
                    <a:latin typeface="Cambria Math" panose="02040503050406030204" pitchFamily="18" charset="0"/>
                  </a:rPr>
                  <a:t>$M$</a:t>
                </a:r>
                <a:r>
                  <a:rPr sz="2400" b="0">
                    <a:solidFill>
                      <a:srgbClr val="111827"/>
                    </a:solidFill>
                    <a:latin typeface="Arial"/>
                  </a:rPr>
                  <a:t> from </a:t>
                </a:r>
                <a:r>
                  <a:rPr lang="en-IN" sz="2400">
                    <a:solidFill>
                      <a:srgbClr val="111827"/>
                    </a:solidFill>
                    <a:latin typeface="Cambria Math" panose="02040503050406030204" pitchFamily="18" charset="0"/>
                  </a:rPr>
                  <a:t>$yz$</a:t>
                </a:r>
                <a:r>
                  <a:rPr sz="2400" b="0">
                    <a:solidFill>
                      <a:srgbClr val="111827"/>
                    </a:solidFill>
                    <a:latin typeface="Arial"/>
                  </a:rPr>
                  <a:t> plane, </a:t>
                </a:r>
                <a:r>
                  <a:rPr lang="en-IN" sz="2400">
                    <a:solidFill>
                      <a:srgbClr val="111827"/>
                    </a:solidFill>
                    <a:latin typeface="Cambria Math" panose="02040503050406030204" pitchFamily="18" charset="0"/>
                  </a:rPr>
                  <a:t>$zx$</a:t>
                </a:r>
                <a:r>
                  <a:rPr sz="2400" b="0">
                    <a:solidFill>
                      <a:srgbClr val="111827"/>
                    </a:solidFill>
                    <a:latin typeface="Arial"/>
                  </a:rPr>
                  <a:t> plane and </a:t>
                </a:r>
                <a:r>
                  <a:rPr lang="en-IN" sz="2400">
                    <a:solidFill>
                      <a:srgbClr val="111827"/>
                    </a:solidFill>
                    <a:latin typeface="Cambria Math" panose="02040503050406030204" pitchFamily="18" charset="0"/>
                  </a:rPr>
                  <a:t>$xy$</a:t>
                </a:r>
                <a:r>
                  <a:rPr sz="2400" b="0">
                    <a:solidFill>
                      <a:srgbClr val="111827"/>
                    </a:solidFill>
                    <a:latin typeface="Arial"/>
                  </a:rPr>
                  <a:t> plane are </a:t>
                </a:r>
                <a:r>
                  <a:rPr lang="en-IN" sz="2400">
                    <a:solidFill>
                      <a:srgbClr val="111827"/>
                    </a:solidFill>
                    <a:latin typeface="Cambria Math" panose="02040503050406030204" pitchFamily="18" charset="0"/>
                  </a:rPr>
                  <a:t>$1,2$</a:t>
                </a:r>
                <a:r>
                  <a:rPr sz="2400" b="0">
                    <a:solidFill>
                      <a:srgbClr val="111827"/>
                    </a:solidFill>
                    <a:latin typeface="Arial"/>
                  </a:rPr>
                  <a:t> and </a:t>
                </a:r>
                <a:r>
                  <a:rPr lang="en-IN" sz="2400">
                    <a:solidFill>
                      <a:srgbClr val="111827"/>
                    </a:solidFill>
                    <a:latin typeface="Cambria Math" panose="02040503050406030204" pitchFamily="18" charset="0"/>
                  </a:rPr>
                  <a:t>$3$</a:t>
                </a:r>
                <a:r>
                  <a:rPr sz="2400" b="0">
                    <a:solidFill>
                      <a:srgbClr val="111827"/>
                    </a:solidFill>
                    <a:latin typeface="Arial"/>
                  </a:rPr>
                  <a:t> respectively. Plane </a:t>
                </a:r>
                <a:r>
                  <a:rPr lang="en-IN" sz="2400">
                    <a:solidFill>
                      <a:srgbClr val="111827"/>
                    </a:solidFill>
                    <a:latin typeface="Cambria Math" panose="02040503050406030204" pitchFamily="18" charset="0"/>
                  </a:rPr>
                  <a:t>$P$</a:t>
                </a:r>
                <a:r>
                  <a:rPr sz="2400" b="0">
                    <a:solidFill>
                      <a:srgbClr val="111827"/>
                    </a:solidFill>
                    <a:latin typeface="Arial"/>
                  </a:rPr>
                  <a:t> meets co-ordinate axes at points </a:t>
                </a:r>
                <a:r>
                  <a:rPr lang="en-IN" sz="2400">
                    <a:solidFill>
                      <a:srgbClr val="111827"/>
                    </a:solidFill>
                    <a:latin typeface="Cambria Math" panose="02040503050406030204" pitchFamily="18" charset="0"/>
                  </a:rPr>
                  <a:t>$A,B$</a:t>
                </a:r>
                <a:r>
                  <a:rPr sz="2400" b="0">
                    <a:solidFill>
                      <a:srgbClr val="111827"/>
                    </a:solidFill>
                    <a:latin typeface="Arial"/>
                  </a:rPr>
                  <a:t> and </a:t>
                </a:r>
                <a:r>
                  <a:rPr lang="en-IN" sz="2400">
                    <a:solidFill>
                      <a:srgbClr val="111827"/>
                    </a:solidFill>
                    <a:latin typeface="Cambria Math" panose="02040503050406030204" pitchFamily="18" charset="0"/>
                  </a:rPr>
                  <a:t>$C$</a:t>
                </a:r>
                <a:r>
                  <a:rPr sz="2400" b="0">
                    <a:solidFill>
                      <a:srgbClr val="111827"/>
                    </a:solidFill>
                    <a:latin typeface="Arial"/>
                  </a:rPr>
                  <a:t> respectively. Find the volume of tetrahedron </a:t>
                </a:r>
                <a:r>
                  <a:rPr lang="en-IN" sz="2400">
                    <a:solidFill>
                      <a:srgbClr val="111827"/>
                    </a:solidFill>
                    <a:latin typeface="Cambria Math" panose="02040503050406030204" pitchFamily="18" charset="0"/>
                  </a:rPr>
                  <a:t>$OABC$</a:t>
                </a:r>
                <a:r>
                  <a:rPr sz="2400" b="0">
                    <a:solidFill>
                      <a:srgbClr val="111827"/>
                    </a:solidFill>
                    <a:latin typeface="Arial"/>
                  </a:rPr>
                  <a:t> (</a:t>
                </a:r>
                <a:r>
                  <a:rPr lang="en-IN" sz="2400">
                    <a:solidFill>
                      <a:srgbClr val="111827"/>
                    </a:solidFill>
                    <a:latin typeface="Cambria Math" panose="02040503050406030204" pitchFamily="18" charset="0"/>
                  </a:rPr>
                  <a:t>$O$</a:t>
                </a:r>
                <a:r>
                  <a:rPr sz="2400" b="0">
                    <a:solidFill>
                      <a:srgbClr val="111827"/>
                    </a:solidFill>
                    <a:latin typeface="Arial"/>
                  </a:rPr>
                  <a:t> is the origin).</a:t>
                </a:r>
                <a:endParaRPr sz="2400">
                  <a:solidFill>
                    <a:srgbClr val="111827"/>
                  </a:solidFill>
                </a:endParaRPr>
              </a:p>
            </p:txBody>
          </p:sp>
        </mc:Fallback>
      </mc:AlternateContent>
      <p:sp>
        <p:nvSpPr>
          <p:cNvPr id="5" name="Rectangle 4"/>
          <p:cNvSpPr/>
          <p:nvPr/>
        </p:nvSpPr>
        <p:spPr>
          <a:xfrm>
            <a:off x="731520" y="42605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Plane through a line and a point, Intercepts and volume of a tetrahedron OABC</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𝑀</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the plane contains the line direction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the vector from a point of the line to </a:t>
                </a:r>
                <a14:m>
                  <m:oMath xmlns:m="http://schemas.openxmlformats.org/officeDocument/2006/math">
                    <m:r>
                      <a:rPr lang="en-IN" sz="2400" i="1">
                        <a:solidFill>
                          <a:srgbClr val="78350F"/>
                        </a:solidFill>
                        <a:latin typeface="Cambria Math" panose="02040503050406030204" pitchFamily="18" charset="0"/>
                      </a:rPr>
                      <m:t>𝑀</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$M=(1,2,3)$</a:t>
                </a:r>
                <a:r>
                  <a:rPr sz="2400" b="0">
                    <a:solidFill>
                      <a:srgbClr val="78350F"/>
                    </a:solidFill>
                    <a:latin typeface="Arial"/>
                  </a:rPr>
                  <a:t>; the plane contains the line direction </a:t>
                </a:r>
                <a:r>
                  <a:rPr lang="en-IN" sz="2400">
                    <a:solidFill>
                      <a:srgbClr val="78350F"/>
                    </a:solidFill>
                    <a:latin typeface="Cambria Math" panose="02040503050406030204" pitchFamily="18" charset="0"/>
                  </a:rPr>
                  <a:t>$(1,-1,0)$</a:t>
                </a:r>
                <a:r>
                  <a:rPr sz="2400" b="0">
                    <a:solidFill>
                      <a:srgbClr val="78350F"/>
                    </a:solidFill>
                    <a:latin typeface="Arial"/>
                  </a:rPr>
                  <a:t> and the vector from a point of the line to </a:t>
                </a:r>
                <a:r>
                  <a:rPr lang="en-IN" sz="2400">
                    <a:solidFill>
                      <a:srgbClr val="78350F"/>
                    </a:solidFill>
                    <a:latin typeface="Cambria Math" panose="02040503050406030204" pitchFamily="18" charset="0"/>
                  </a:rPr>
                  <a:t>$M$</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distances from </a:t>
                </a:r>
                <a14:m>
                  <m:oMath xmlns:m="http://schemas.openxmlformats.org/officeDocument/2006/math">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 planes are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0</m:t>
                        </m:r>
                      </m:den>
                    </m:f>
                  </m:oMath>
                </a14:m>
                <a:r>
                  <a:rPr sz="2400" b="0">
                    <a:solidFill>
                      <a:srgbClr val="111827"/>
                    </a:solidFill>
                    <a:latin typeface="Arial"/>
                  </a:rPr>
                  <a:t>: it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direction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Direction of the join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PDF uses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distances from </a:t>
                </a:r>
                <a:r>
                  <a:rPr lang="en-IN" sz="2400">
                    <a:solidFill>
                      <a:srgbClr val="111827"/>
                    </a:solidFill>
                    <a:latin typeface="Cambria Math" panose="02040503050406030204" pitchFamily="18" charset="0"/>
                  </a:rPr>
                  <a:t>$yz,zx,xy$</a:t>
                </a:r>
                <a:r>
                  <a:rPr sz="2400" b="0">
                    <a:solidFill>
                      <a:srgbClr val="111827"/>
                    </a:solidFill>
                    <a:latin typeface="Arial"/>
                  </a:rPr>
                  <a:t> planes are </a:t>
                </a:r>
                <a:r>
                  <a:rPr lang="en-IN" sz="2400">
                    <a:solidFill>
                      <a:srgbClr val="111827"/>
                    </a:solidFill>
                    <a:latin typeface="Cambria Math" panose="02040503050406030204" pitchFamily="18" charset="0"/>
                  </a:rPr>
                  <a:t>$\alpha=1$</a:t>
                </a:r>
                <a:r>
                  <a:rPr sz="2400" b="0">
                    <a:solidFill>
                      <a:srgbClr val="111827"/>
                    </a:solidFill>
                    <a:latin typeface="Arial"/>
                  </a:rPr>
                  <a:t>, </a:t>
                </a:r>
                <a:r>
                  <a:rPr lang="en-IN" sz="2400">
                    <a:solidFill>
                      <a:srgbClr val="111827"/>
                    </a:solidFill>
                    <a:latin typeface="Cambria Math" panose="02040503050406030204" pitchFamily="18" charset="0"/>
                  </a:rPr>
                  <a:t>$\beta=2$</a:t>
                </a:r>
                <a:r>
                  <a:rPr sz="2400" b="0">
                    <a:solidFill>
                      <a:srgbClr val="111827"/>
                    </a:solidFill>
                    <a:latin typeface="Arial"/>
                  </a:rPr>
                  <a:t>, </a:t>
                </a:r>
                <a:r>
                  <a:rPr lang="en-IN" sz="2400">
                    <a:solidFill>
                      <a:srgbClr val="111827"/>
                    </a:solidFill>
                    <a:latin typeface="Cambria Math" panose="02040503050406030204" pitchFamily="18" charset="0"/>
                  </a:rPr>
                  <a:t>$\gamma=3$</a:t>
                </a:r>
                <a:r>
                  <a:rPr sz="2400" b="0">
                    <a:solidFill>
                      <a:srgbClr val="111827"/>
                    </a:solidFill>
                    <a:latin typeface="Arial"/>
                  </a:rPr>
                  <a:t>, so </a:t>
                </a:r>
                <a:r>
                  <a:rPr lang="en-IN" sz="2400">
                    <a:solidFill>
                      <a:srgbClr val="111827"/>
                    </a:solidFill>
                    <a:latin typeface="Cambria Math" panose="02040503050406030204" pitchFamily="18" charset="0"/>
                  </a:rPr>
                  <a:t>$M=(1,2,3)$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a:t>
                </a:r>
                <a:r>
                  <a:rPr lang="en-IN" sz="2400">
                    <a:solidFill>
                      <a:srgbClr val="111827"/>
                    </a:solidFill>
                    <a:latin typeface="Cambria Math" panose="02040503050406030204" pitchFamily="18" charset="0"/>
                  </a:rPr>
                  <a:t>$z=2,\ x=-y$</a:t>
                </a:r>
                <a:r>
                  <a:rPr sz="2400" b="0">
                    <a:solidFill>
                      <a:srgbClr val="111827"/>
                    </a:solidFill>
                    <a:latin typeface="Arial"/>
                  </a:rPr>
                  <a:t> is </a:t>
                </a:r>
                <a:r>
                  <a:rPr lang="en-IN" sz="2400">
                    <a:solidFill>
                      <a:srgbClr val="111827"/>
                    </a:solidFill>
                    <a:latin typeface="Cambria Math" panose="02040503050406030204" pitchFamily="18" charset="0"/>
                  </a:rPr>
                  <a:t>$\frac{x-1}{1}=\frac{y+1}{-1}=\frac{z-2}{0}$</a:t>
                </a:r>
                <a:r>
                  <a:rPr sz="2400" b="0">
                    <a:solidFill>
                      <a:srgbClr val="111827"/>
                    </a:solidFill>
                    <a:latin typeface="Arial"/>
                  </a:rPr>
                  <a:t>: it passes through </a:t>
                </a:r>
                <a:r>
                  <a:rPr lang="en-IN" sz="2400">
                    <a:solidFill>
                      <a:srgbClr val="111827"/>
                    </a:solidFill>
                    <a:latin typeface="Cambria Math" panose="02040503050406030204" pitchFamily="18" charset="0"/>
                  </a:rPr>
                  <a:t>$(1,-1,2)$</a:t>
                </a:r>
                <a:r>
                  <a:rPr sz="2400" b="0">
                    <a:solidFill>
                      <a:srgbClr val="111827"/>
                    </a:solidFill>
                    <a:latin typeface="Arial"/>
                  </a:rPr>
                  <a:t> with direction </a:t>
                </a:r>
                <a:r>
                  <a:rPr lang="en-IN" sz="2400">
                    <a:solidFill>
                      <a:srgbClr val="111827"/>
                    </a:solidFill>
                    <a:latin typeface="Cambria Math" panose="02040503050406030204" pitchFamily="18" charset="0"/>
                  </a:rPr>
                  <a:t>$(1,-1,0)$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Direction of the join of </a:t>
                </a:r>
                <a:r>
                  <a:rPr lang="en-IN" sz="2400">
                    <a:solidFill>
                      <a:srgbClr val="111827"/>
                    </a:solidFill>
                    <a:latin typeface="Cambria Math" panose="02040503050406030204" pitchFamily="18" charset="0"/>
                  </a:rPr>
                  <a:t>$(1,-1,2)$</a:t>
                </a:r>
                <a:r>
                  <a:rPr sz="2400" b="0">
                    <a:solidFill>
                      <a:srgbClr val="111827"/>
                    </a:solidFill>
                    <a:latin typeface="Arial"/>
                  </a:rPr>
                  <a:t> and </a:t>
                </a:r>
                <a:r>
                  <a:rPr lang="en-IN" sz="2400">
                    <a:solidFill>
                      <a:srgbClr val="111827"/>
                    </a:solidFill>
                    <a:latin typeface="Cambria Math" panose="02040503050406030204" pitchFamily="18" charset="0"/>
                  </a:rPr>
                  <a:t>$M$</a:t>
                </a:r>
                <a:r>
                  <a:rPr sz="2400" b="0">
                    <a:solidFill>
                      <a:srgbClr val="111827"/>
                    </a:solidFill>
                    <a:latin typeface="Arial"/>
                  </a:rPr>
                  <a:t>: </a:t>
                </a:r>
                <a:r>
                  <a:rPr lang="en-IN" sz="2400">
                    <a:solidFill>
                      <a:srgbClr val="111827"/>
                    </a:solidFill>
                    <a:latin typeface="Cambria Math" panose="02040503050406030204" pitchFamily="18" charset="0"/>
                  </a:rPr>
                  <a:t>$(0,3,1)$</a:t>
                </a:r>
                <a:r>
                  <a:rPr sz="2400" b="0">
                    <a:solidFill>
                      <a:srgbClr val="111827"/>
                    </a:solidFill>
                    <a:latin typeface="Arial"/>
                  </a:rPr>
                  <a:t> (the PDF uses </a:t>
                </a:r>
                <a:r>
                  <a:rPr lang="en-IN" sz="2400">
                    <a:solidFill>
                      <a:srgbClr val="111827"/>
                    </a:solidFill>
                    <a:latin typeface="Cambria Math" panose="02040503050406030204" pitchFamily="18" charset="0"/>
                  </a:rPr>
                  <a:t>$(0,-3,-1)$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a:t>
                </a:r>
                <a:r>
                  <a:rPr lang="en-IN" sz="2400">
                    <a:solidFill>
                      <a:srgbClr val="111827"/>
                    </a:solidFill>
                    <a:latin typeface="Cambria Math" panose="02040503050406030204" pitchFamily="18" charset="0"/>
                  </a:rPr>
                  <a:t>$=(0,-3,-1)\times(1,-1,0)=(-1,-1,3)$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Plane through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Intercepts: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e>
                            <m:e>
                              <m:r>
                                <a:rPr lang="en-IN" sz="2400" i="1">
                                  <a:solidFill>
                                    <a:srgbClr val="111827"/>
                                  </a:solidFill>
                                  <a:latin typeface="Cambria Math" panose="02040503050406030204" pitchFamily="18" charset="0"/>
                                </a:rPr>
                                <m:t>0</m:t>
                              </m:r>
                            </m:e>
                            <m:e>
                              <m:r>
                                <a:rPr lang="en-IN" sz="2400" i="1">
                                  <a:solidFill>
                                    <a:srgbClr val="111827"/>
                                  </a:solidFill>
                                  <a:latin typeface="Cambria Math" panose="02040503050406030204" pitchFamily="18" charset="0"/>
                                </a:rPr>
                                <m:t>0</m:t>
                              </m:r>
                            </m:e>
                          </m:mr>
                          <m:mr>
                            <m:e>
                              <m:r>
                                <a:rPr lang="en-IN" sz="2400" i="1">
                                  <a:solidFill>
                                    <a:srgbClr val="111827"/>
                                  </a:solidFill>
                                  <a:latin typeface="Cambria Math" panose="02040503050406030204" pitchFamily="18" charset="0"/>
                                </a:rPr>
                                <m:t>0</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e>
                            <m:e>
                              <m:r>
                                <a:rPr lang="en-IN" sz="2400" i="1">
                                  <a:solidFill>
                                    <a:srgbClr val="111827"/>
                                  </a:solidFill>
                                  <a:latin typeface="Cambria Math" panose="02040503050406030204" pitchFamily="18" charset="0"/>
                                </a:rPr>
                                <m:t>0</m:t>
                              </m:r>
                            </m:e>
                          </m:mr>
                          <m:mr>
                            <m:e>
                              <m:r>
                                <a:rPr lang="en-IN" sz="2400" i="1">
                                  <a:solidFill>
                                    <a:srgbClr val="111827"/>
                                  </a:solidFill>
                                  <a:latin typeface="Cambria Math" panose="02040503050406030204" pitchFamily="18" charset="0"/>
                                </a:rPr>
                                <m:t>0</m:t>
                              </m:r>
                            </m:e>
                            <m:e>
                              <m:r>
                                <a:rPr lang="en-IN" sz="2400" i="1">
                                  <a:solidFill>
                                    <a:srgbClr val="111827"/>
                                  </a:solidFill>
                                  <a:latin typeface="Cambria Math" panose="02040503050406030204" pitchFamily="18" charset="0"/>
                                </a:rPr>
                                <m:t>0</m:t>
                              </m:r>
                            </m:e>
                            <m:e>
                              <m:r>
                                <a:rPr lang="en-IN" sz="2400" i="1">
                                  <a:solidFill>
                                    <a:srgbClr val="111827"/>
                                  </a:solidFill>
                                  <a:latin typeface="Cambria Math" panose="02040503050406030204" pitchFamily="18" charset="0"/>
                                </a:rPr>
                                <m:t>2</m:t>
                              </m:r>
                            </m:e>
                          </m:mr>
                        </m:m>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Plane through </a:t>
                </a:r>
                <a:r>
                  <a:rPr lang="en-IN" sz="2400">
                    <a:solidFill>
                      <a:srgbClr val="111827"/>
                    </a:solidFill>
                    <a:latin typeface="Cambria Math" panose="02040503050406030204" pitchFamily="18" charset="0"/>
                  </a:rPr>
                  <a:t>$M(1,2,3)$</a:t>
                </a:r>
                <a:r>
                  <a:rPr sz="2400" b="0">
                    <a:solidFill>
                      <a:srgbClr val="111827"/>
                    </a:solidFill>
                    <a:latin typeface="Arial"/>
                  </a:rPr>
                  <a:t>: </a:t>
                </a:r>
                <a:r>
                  <a:rPr lang="en-IN" sz="2400">
                    <a:solidFill>
                      <a:srgbClr val="111827"/>
                    </a:solidFill>
                    <a:latin typeface="Cambria Math" panose="02040503050406030204" pitchFamily="18" charset="0"/>
                  </a:rPr>
                  <a:t>$-(x-1)-(y-2)+3(z-3)=0\Rightarrow-x-y+3z-6=0\Rightarrow x+y-3z=-6$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Intercepts: </a:t>
                </a:r>
                <a:r>
                  <a:rPr lang="en-IN" sz="2400">
                    <a:solidFill>
                      <a:srgbClr val="111827"/>
                    </a:solidFill>
                    <a:latin typeface="Cambria Math" panose="02040503050406030204" pitchFamily="18" charset="0"/>
                  </a:rPr>
                  <a:t>$A(-6,0,0)$</a:t>
                </a:r>
                <a:r>
                  <a:rPr sz="2400" b="0">
                    <a:solidFill>
                      <a:srgbClr val="111827"/>
                    </a:solidFill>
                    <a:latin typeface="Arial"/>
                  </a:rPr>
                  <a:t>, </a:t>
                </a:r>
                <a:r>
                  <a:rPr lang="en-IN" sz="2400">
                    <a:solidFill>
                      <a:srgbClr val="111827"/>
                    </a:solidFill>
                    <a:latin typeface="Cambria Math" panose="02040503050406030204" pitchFamily="18" charset="0"/>
                  </a:rPr>
                  <a:t>$B(0,-6,0)$</a:t>
                </a:r>
                <a:r>
                  <a:rPr sz="2400" b="0">
                    <a:solidFill>
                      <a:srgbClr val="111827"/>
                    </a:solidFill>
                    <a:latin typeface="Arial"/>
                  </a:rPr>
                  <a:t>, </a:t>
                </a:r>
                <a:r>
                  <a:rPr lang="en-IN" sz="2400">
                    <a:solidFill>
                      <a:srgbClr val="111827"/>
                    </a:solidFill>
                    <a:latin typeface="Cambria Math" panose="02040503050406030204" pitchFamily="18" charset="0"/>
                  </a:rPr>
                  <a:t>$C(0,0,2)$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a:t>
                </a:r>
                <a:r>
                  <a:rPr lang="en-IN" sz="2400">
                    <a:solidFill>
                      <a:srgbClr val="111827"/>
                    </a:solidFill>
                    <a:latin typeface="Cambria Math" panose="02040503050406030204" pitchFamily="18" charset="0"/>
                  </a:rPr>
                  <a:t>$=\frac16|[\overrightarrow{OA}\ \overrightarrow{OB}\ \overrightarrow{OC}]|=\frac16\left|\begin{matrix}-6&amp;0&amp;0\\0&amp;-6&amp;0\\0&amp;0&amp;2\end{matrix}\right|=\frac16\times6\times6\times2=12$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12</a:t>
            </a:r>
            <a:endParaRPr sz="2800">
              <a:solidFill>
                <a:srgbClr val="15803D"/>
              </a:solidFill>
            </a:endParaRP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intercept form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𝑥</m:t>
                        </m:r>
                      </m:num>
                      <m:den>
                        <m:r>
                          <a:rPr lang="en-IN" sz="2400" i="1">
                            <a:solidFill>
                              <a:srgbClr val="78350F"/>
                            </a:solidFill>
                            <a:latin typeface="Cambria Math" panose="02040503050406030204" pitchFamily="18" charset="0"/>
                          </a:rPr>
                          <m:t>𝑎</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𝑦</m:t>
                        </m:r>
                      </m:num>
                      <m:den>
                        <m:r>
                          <a:rPr lang="en-IN" sz="2400" i="1">
                            <a:solidFill>
                              <a:srgbClr val="78350F"/>
                            </a:solidFill>
                            <a:latin typeface="Cambria Math" panose="02040503050406030204" pitchFamily="18" charset="0"/>
                          </a:rPr>
                          <m:t>𝑏</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𝑧</m:t>
                        </m:r>
                      </m:num>
                      <m:den>
                        <m:r>
                          <a:rPr lang="en-IN" sz="2400" i="1">
                            <a:solidFill>
                              <a:srgbClr val="78350F"/>
                            </a:solidFill>
                            <a:latin typeface="Cambria Math" panose="02040503050406030204" pitchFamily="18" charset="0"/>
                          </a:rPr>
                          <m:t>𝑐</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make it contain the line.</a:t>
                </a:r>
                <a:endParaRPr sz="2400">
                  <a:solidFill>
                    <a:srgbClr val="78350F"/>
                  </a:solidFill>
                </a:endParaRPr>
              </a:p>
            </p:txBody>
          </p:sp>
        </mc:Choice>
        <mc:Fallback>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intercept form </a:t>
                </a:r>
                <a:r>
                  <a:rPr lang="en-IN" sz="2400">
                    <a:solidFill>
                      <a:srgbClr val="78350F"/>
                    </a:solidFill>
                    <a:latin typeface="Cambria Math" panose="02040503050406030204" pitchFamily="18" charset="0"/>
                  </a:rPr>
                  <a:t>$\frac xa+\frac yb+\frac zc=1$</a:t>
                </a:r>
                <a:r>
                  <a:rPr sz="2400" b="0">
                    <a:solidFill>
                      <a:srgbClr val="78350F"/>
                    </a:solidFill>
                    <a:latin typeface="Arial"/>
                  </a:rPr>
                  <a:t> and make it contain the line.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line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lies in the plane iff for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equation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𝑐</m:t>
                        </m:r>
                      </m:den>
                    </m:f>
                  </m:oMath>
                </a14:m>
                <a:r>
                  <a:rPr sz="2400" b="0">
                    <a:solidFill>
                      <a:srgbClr val="111827"/>
                    </a:solidFill>
                    <a:latin typeface="Arial"/>
                  </a:rPr>
                  <a:t> is the same as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needs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𝑏</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line </a:t>
                </a:r>
                <a:r>
                  <a:rPr lang="en-IN" sz="2400">
                    <a:solidFill>
                      <a:srgbClr val="111827"/>
                    </a:solidFill>
                    <a:latin typeface="Cambria Math" panose="02040503050406030204" pitchFamily="18" charset="0"/>
                  </a:rPr>
                  <a:t>$z=2,\ x+y=0$</a:t>
                </a:r>
                <a:r>
                  <a:rPr sz="2400" b="0">
                    <a:solidFill>
                      <a:srgbClr val="111827"/>
                    </a:solidFill>
                    <a:latin typeface="Arial"/>
                  </a:rPr>
                  <a:t> lies in the plane iff for </a:t>
                </a:r>
                <a:r>
                  <a:rPr lang="en-IN" sz="2400">
                    <a:solidFill>
                      <a:srgbClr val="111827"/>
                    </a:solidFill>
                    <a:latin typeface="Cambria Math" panose="02040503050406030204" pitchFamily="18" charset="0"/>
                  </a:rPr>
                  <a:t>$z=2$</a:t>
                </a:r>
                <a:r>
                  <a:rPr sz="2400" b="0">
                    <a:solidFill>
                      <a:srgbClr val="111827"/>
                    </a:solidFill>
                    <a:latin typeface="Arial"/>
                  </a:rPr>
                  <a:t> the equation </a:t>
                </a:r>
                <a:r>
                  <a:rPr lang="en-IN" sz="2400">
                    <a:solidFill>
                      <a:srgbClr val="111827"/>
                    </a:solidFill>
                    <a:latin typeface="Cambria Math" panose="02040503050406030204" pitchFamily="18" charset="0"/>
                  </a:rPr>
                  <a:t>$\frac xa+\frac yb=1-\frac2c$</a:t>
                </a:r>
                <a:r>
                  <a:rPr sz="2400" b="0">
                    <a:solidFill>
                      <a:srgbClr val="111827"/>
                    </a:solidFill>
                    <a:latin typeface="Arial"/>
                  </a:rPr>
                  <a:t> is the same as </a:t>
                </a:r>
                <a:r>
                  <a:rPr lang="en-IN" sz="2400">
                    <a:solidFill>
                      <a:srgbClr val="111827"/>
                    </a:solidFill>
                    <a:latin typeface="Cambria Math" panose="02040503050406030204" pitchFamily="18" charset="0"/>
                  </a:rPr>
                  <a:t>$x+y=0$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needs </a:t>
                </a:r>
                <a:r>
                  <a:rPr lang="en-IN" sz="2400">
                    <a:solidFill>
                      <a:srgbClr val="111827"/>
                    </a:solidFill>
                    <a:latin typeface="Cambria Math" panose="02040503050406030204" pitchFamily="18" charset="0"/>
                  </a:rPr>
                  <a:t>$1-\frac2c=0$</a:t>
                </a:r>
                <a:r>
                  <a:rPr sz="2400" b="0">
                    <a:solidFill>
                      <a:srgbClr val="111827"/>
                    </a:solidFill>
                    <a:latin typeface="Arial"/>
                  </a:rPr>
                  <a:t>, i.e. </a:t>
                </a:r>
                <a:r>
                  <a:rPr lang="en-IN" sz="2400">
                    <a:solidFill>
                      <a:srgbClr val="111827"/>
                    </a:solidFill>
                    <a:latin typeface="Cambria Math" panose="02040503050406030204" pitchFamily="18" charset="0"/>
                  </a:rPr>
                  <a:t>$c=2$</a:t>
                </a:r>
                <a:r>
                  <a:rPr sz="2400" b="0">
                    <a:solidFill>
                      <a:srgbClr val="111827"/>
                    </a:solidFill>
                    <a:latin typeface="Arial"/>
                  </a:rPr>
                  <a:t>, and </a:t>
                </a:r>
                <a:r>
                  <a:rPr lang="en-IN" sz="2400">
                    <a:solidFill>
                      <a:srgbClr val="111827"/>
                    </a:solidFill>
                    <a:latin typeface="Cambria Math" panose="02040503050406030204" pitchFamily="18" charset="0"/>
                  </a:rPr>
                  <a:t>$\frac1a=\frac1b$</a:t>
                </a:r>
                <a:r>
                  <a:rPr sz="2400" b="0">
                    <a:solidFill>
                      <a:srgbClr val="111827"/>
                    </a:solidFill>
                    <a:latin typeface="Arial"/>
                  </a:rPr>
                  <a:t>, i.e. </a:t>
                </a:r>
                <a:r>
                  <a:rPr lang="en-IN" sz="2400">
                    <a:solidFill>
                      <a:srgbClr val="111827"/>
                    </a:solidFill>
                    <a:latin typeface="Cambria Math" panose="02040503050406030204" pitchFamily="18" charset="0"/>
                  </a:rPr>
                  <a:t>$a=b$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the plane: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$M(1,2,3)$</a:t>
                </a:r>
                <a:r>
                  <a:rPr sz="2400" b="0">
                    <a:solidFill>
                      <a:srgbClr val="111827"/>
                    </a:solidFill>
                    <a:latin typeface="Arial"/>
                  </a:rPr>
                  <a:t> on the plane: </a:t>
                </a:r>
                <a:r>
                  <a:rPr lang="en-IN" sz="2400">
                    <a:solidFill>
                      <a:srgbClr val="111827"/>
                    </a:solidFill>
                    <a:latin typeface="Cambria Math" panose="02040503050406030204" pitchFamily="18" charset="0"/>
                  </a:rPr>
                  <a:t>$\frac1a+\frac2a+\frac32=1\Rightarrow\frac3a=-\frac12\Rightarrow a=b=-6$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a:t>
                </a:r>
                <a:r>
                  <a:rPr lang="en-IN" sz="2400">
                    <a:solidFill>
                      <a:srgbClr val="111827"/>
                    </a:solidFill>
                    <a:latin typeface="Cambria Math" panose="02040503050406030204" pitchFamily="18" charset="0"/>
                  </a:rPr>
                  <a:t>$=\frac16|abc|=\frac16\cdot36\cdot2=12$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12</a:t>
            </a:r>
            <a:endParaRPr sz="2800">
              <a:solidFill>
                <a:srgbClr val="15803D"/>
              </a:solidFill>
            </a:endParaRP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plane with intercepts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cuts off a tetrahedron of volume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through a line (point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and a point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has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0</m:t>
                            </m:r>
                          </m:sub>
                        </m:sSub>
                        <m:r>
                          <a:rPr lang="en-IN" sz="2400" i="1">
                            <a:solidFill>
                              <a:srgbClr val="111827"/>
                            </a:solidFill>
                            <a:latin typeface="Cambria Math" panose="02040503050406030204" pitchFamily="18" charset="0"/>
                          </a:rPr>
                          <m:t>𝑀</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lies in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iff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use this to avoid computing a cross product.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plane with intercepts </a:t>
                </a:r>
                <a:r>
                  <a:rPr lang="en-IN" sz="2400">
                    <a:solidFill>
                      <a:srgbClr val="111827"/>
                    </a:solidFill>
                    <a:latin typeface="Cambria Math" panose="02040503050406030204" pitchFamily="18" charset="0"/>
                  </a:rPr>
                  <a:t>$a,b,c$</a:t>
                </a:r>
                <a:r>
                  <a:rPr sz="2400" b="0">
                    <a:solidFill>
                      <a:srgbClr val="111827"/>
                    </a:solidFill>
                    <a:latin typeface="Arial"/>
                  </a:rPr>
                  <a:t> (</a:t>
                </a:r>
                <a:r>
                  <a:rPr lang="en-IN" sz="2400">
                    <a:solidFill>
                      <a:srgbClr val="111827"/>
                    </a:solidFill>
                    <a:latin typeface="Cambria Math" panose="02040503050406030204" pitchFamily="18" charset="0"/>
                  </a:rPr>
                  <a:t>$\frac xa+\frac yb+\frac zc=1$</a:t>
                </a:r>
                <a:r>
                  <a:rPr sz="2400" b="0">
                    <a:solidFill>
                      <a:srgbClr val="111827"/>
                    </a:solidFill>
                    <a:latin typeface="Arial"/>
                  </a:rPr>
                  <a:t>) cuts off a tetrahedron of volume </a:t>
                </a:r>
                <a:r>
                  <a:rPr lang="en-IN" sz="2400">
                    <a:solidFill>
                      <a:srgbClr val="111827"/>
                    </a:solidFill>
                    <a:latin typeface="Cambria Math" panose="02040503050406030204" pitchFamily="18" charset="0"/>
                  </a:rPr>
                  <a:t>$\frac16|abc|$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through a line (point </a:t>
                </a:r>
                <a:r>
                  <a:rPr lang="en-IN" sz="2400">
                    <a:solidFill>
                      <a:srgbClr val="111827"/>
                    </a:solidFill>
                    <a:latin typeface="Cambria Math" panose="02040503050406030204" pitchFamily="18" charset="0"/>
                  </a:rPr>
                  <a:t>$P_0$</a:t>
                </a:r>
                <a:r>
                  <a:rPr sz="2400" b="0">
                    <a:solidFill>
                      <a:srgbClr val="111827"/>
                    </a:solidFill>
                    <a:latin typeface="Arial"/>
                  </a:rPr>
                  <a:t>, direction </a:t>
                </a:r>
                <a:r>
                  <a:rPr lang="en-IN" sz="2400">
                    <a:solidFill>
                      <a:srgbClr val="111827"/>
                    </a:solidFill>
                    <a:latin typeface="Cambria Math" panose="02040503050406030204" pitchFamily="18" charset="0"/>
                  </a:rPr>
                  <a:t>$\vec d$</a:t>
                </a:r>
                <a:r>
                  <a:rPr sz="2400" b="0">
                    <a:solidFill>
                      <a:srgbClr val="111827"/>
                    </a:solidFill>
                    <a:latin typeface="Arial"/>
                  </a:rPr>
                  <a:t>) and a point </a:t>
                </a:r>
                <a:r>
                  <a:rPr lang="en-IN" sz="2400">
                    <a:solidFill>
                      <a:srgbClr val="111827"/>
                    </a:solidFill>
                    <a:latin typeface="Cambria Math" panose="02040503050406030204" pitchFamily="18" charset="0"/>
                  </a:rPr>
                  <a:t>$M$</a:t>
                </a:r>
                <a:r>
                  <a:rPr sz="2400" b="0">
                    <a:solidFill>
                      <a:srgbClr val="111827"/>
                    </a:solidFill>
                    <a:latin typeface="Arial"/>
                  </a:rPr>
                  <a:t> has normal </a:t>
                </a:r>
                <a:r>
                  <a:rPr lang="en-IN" sz="2400">
                    <a:solidFill>
                      <a:srgbClr val="111827"/>
                    </a:solidFill>
                    <a:latin typeface="Cambria Math" panose="02040503050406030204" pitchFamily="18" charset="0"/>
                  </a:rPr>
                  <a:t>$\vec d\times\overrightarrow{P_0M}$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a:t>
                </a:r>
                <a:r>
                  <a:rPr lang="en-IN" sz="2400">
                    <a:solidFill>
                      <a:srgbClr val="111827"/>
                    </a:solidFill>
                    <a:latin typeface="Cambria Math" panose="02040503050406030204" pitchFamily="18" charset="0"/>
                  </a:rPr>
                  <a:t>$z=c_0,\ x+y=0$</a:t>
                </a:r>
                <a:r>
                  <a:rPr sz="2400" b="0">
                    <a:solidFill>
                      <a:srgbClr val="111827"/>
                    </a:solidFill>
                    <a:latin typeface="Arial"/>
                  </a:rPr>
                  <a:t> lies in </a:t>
                </a:r>
                <a:r>
                  <a:rPr lang="en-IN" sz="2400">
                    <a:solidFill>
                      <a:srgbClr val="111827"/>
                    </a:solidFill>
                    <a:latin typeface="Cambria Math" panose="02040503050406030204" pitchFamily="18" charset="0"/>
                  </a:rPr>
                  <a:t>$\frac xa+\frac yb+\frac zc=1$</a:t>
                </a:r>
                <a:r>
                  <a:rPr sz="2400" b="0">
                    <a:solidFill>
                      <a:srgbClr val="111827"/>
                    </a:solidFill>
                    <a:latin typeface="Arial"/>
                  </a:rPr>
                  <a:t> iff </a:t>
                </a:r>
                <a:r>
                  <a:rPr lang="en-IN" sz="2400">
                    <a:solidFill>
                      <a:srgbClr val="111827"/>
                    </a:solidFill>
                    <a:latin typeface="Cambria Math" panose="02040503050406030204" pitchFamily="18" charset="0"/>
                  </a:rPr>
                  <a:t>$c=c_0$</a:t>
                </a:r>
                <a:r>
                  <a:rPr sz="2400" b="0">
                    <a:solidFill>
                      <a:srgbClr val="111827"/>
                    </a:solidFill>
                    <a:latin typeface="Arial"/>
                  </a:rPr>
                  <a:t> and </a:t>
                </a:r>
                <a:r>
                  <a:rPr lang="en-IN" sz="2400">
                    <a:solidFill>
                      <a:srgbClr val="111827"/>
                    </a:solidFill>
                    <a:latin typeface="Cambria Math" panose="02040503050406030204" pitchFamily="18" charset="0"/>
                  </a:rPr>
                  <a:t>$a=b$</a:t>
                </a:r>
                <a:r>
                  <a:rPr sz="2400" b="0">
                    <a:solidFill>
                      <a:srgbClr val="111827"/>
                    </a:solidFill>
                    <a:latin typeface="Arial"/>
                  </a:rPr>
                  <a:t>: use this to avoid computing a cross product.</a:t>
                </a:r>
                <a:endParaRPr sz="2400">
                  <a:solidFill>
                    <a:srgbClr val="111827"/>
                  </a:solidFill>
                </a:endParaRPr>
              </a:p>
            </p:txBody>
          </p:sp>
        </mc:Fallback>
      </mc:AlternateContent>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12369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be the equation of a plane and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be the point with position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is a line which passes through the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direction ratios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If the distance of the point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from the line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measured parallel to the plane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 is </a:t>
                </a:r>
                <a14:m>
                  <m:oMath xmlns:m="http://schemas.openxmlformats.org/officeDocument/2006/math">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the distance of the point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from the plane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 measured parallel to the line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is </a:t>
                </a:r>
                <a14:m>
                  <m:oMath xmlns:m="http://schemas.openxmlformats.org/officeDocument/2006/math">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then find the value of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sSubSup>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e>
                    </m:rad>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312369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$\pi:\ x+y-z-4=0$</a:t>
                </a:r>
                <a:r>
                  <a:rPr sz="2400" b="0">
                    <a:solidFill>
                      <a:srgbClr val="111827"/>
                    </a:solidFill>
                    <a:latin typeface="Arial"/>
                  </a:rPr>
                  <a:t> be the equation of a plane and </a:t>
                </a:r>
                <a:r>
                  <a:rPr lang="en-IN" sz="2400">
                    <a:solidFill>
                      <a:srgbClr val="111827"/>
                    </a:solidFill>
                    <a:latin typeface="Cambria Math" panose="02040503050406030204" pitchFamily="18" charset="0"/>
                  </a:rPr>
                  <a:t>$A$</a:t>
                </a:r>
                <a:r>
                  <a:rPr sz="2400" b="0">
                    <a:solidFill>
                      <a:srgbClr val="111827"/>
                    </a:solidFill>
                    <a:latin typeface="Arial"/>
                  </a:rPr>
                  <a:t> be the point with position vector </a:t>
                </a:r>
                <a:r>
                  <a:rPr lang="en-IN" sz="2400">
                    <a:solidFill>
                      <a:srgbClr val="111827"/>
                    </a:solidFill>
                    <a:latin typeface="Cambria Math" panose="02040503050406030204" pitchFamily="18" charset="0"/>
                  </a:rPr>
                  <a:t>$\hat i+2\hat j-3\hat k$</a:t>
                </a:r>
                <a:r>
                  <a:rPr sz="2400" b="0">
                    <a:solidFill>
                      <a:srgbClr val="111827"/>
                    </a:solidFill>
                    <a:latin typeface="Arial"/>
                  </a:rPr>
                  <a:t>. </a:t>
                </a:r>
                <a:r>
                  <a:rPr lang="en-IN" sz="2400">
                    <a:solidFill>
                      <a:srgbClr val="111827"/>
                    </a:solidFill>
                    <a:latin typeface="Cambria Math" panose="02040503050406030204" pitchFamily="18" charset="0"/>
                  </a:rPr>
                  <a:t>$L$</a:t>
                </a:r>
                <a:r>
                  <a:rPr sz="2400" b="0">
                    <a:solidFill>
                      <a:srgbClr val="111827"/>
                    </a:solidFill>
                    <a:latin typeface="Arial"/>
                  </a:rPr>
                  <a:t> is a line which passes through the point </a:t>
                </a:r>
                <a:r>
                  <a:rPr lang="en-IN" sz="2400">
                    <a:solidFill>
                      <a:srgbClr val="111827"/>
                    </a:solidFill>
                    <a:latin typeface="Cambria Math" panose="02040503050406030204" pitchFamily="18" charset="0"/>
                  </a:rPr>
                  <a:t>$(1,2,3)$</a:t>
                </a:r>
                <a:r>
                  <a:rPr sz="2400" b="0">
                    <a:solidFill>
                      <a:srgbClr val="111827"/>
                    </a:solidFill>
                    <a:latin typeface="Arial"/>
                  </a:rPr>
                  <a:t> with direction ratios </a:t>
                </a:r>
                <a:r>
                  <a:rPr lang="en-IN" sz="2400">
                    <a:solidFill>
                      <a:srgbClr val="111827"/>
                    </a:solidFill>
                    <a:latin typeface="Cambria Math" panose="02040503050406030204" pitchFamily="18" charset="0"/>
                  </a:rPr>
                  <a:t>$3,-1$</a:t>
                </a:r>
                <a:r>
                  <a:rPr sz="2400" b="0">
                    <a:solidFill>
                      <a:srgbClr val="111827"/>
                    </a:solidFill>
                    <a:latin typeface="Arial"/>
                  </a:rPr>
                  <a:t> and </a:t>
                </a:r>
                <a:r>
                  <a:rPr lang="en-IN" sz="2400">
                    <a:solidFill>
                      <a:srgbClr val="111827"/>
                    </a:solidFill>
                    <a:latin typeface="Cambria Math" panose="02040503050406030204" pitchFamily="18" charset="0"/>
                  </a:rPr>
                  <a:t>$4$</a:t>
                </a:r>
                <a:r>
                  <a:rPr sz="2400" b="0">
                    <a:solidFill>
                      <a:srgbClr val="111827"/>
                    </a:solidFill>
                    <a:latin typeface="Arial"/>
                  </a:rPr>
                  <a:t>. If the distance of the point </a:t>
                </a:r>
                <a:r>
                  <a:rPr lang="en-IN" sz="2400">
                    <a:solidFill>
                      <a:srgbClr val="111827"/>
                    </a:solidFill>
                    <a:latin typeface="Cambria Math" panose="02040503050406030204" pitchFamily="18" charset="0"/>
                  </a:rPr>
                  <a:t>$A$</a:t>
                </a:r>
                <a:r>
                  <a:rPr sz="2400" b="0">
                    <a:solidFill>
                      <a:srgbClr val="111827"/>
                    </a:solidFill>
                    <a:latin typeface="Arial"/>
                  </a:rPr>
                  <a:t> from the line </a:t>
                </a:r>
                <a:r>
                  <a:rPr lang="en-IN" sz="2400">
                    <a:solidFill>
                      <a:srgbClr val="111827"/>
                    </a:solidFill>
                    <a:latin typeface="Cambria Math" panose="02040503050406030204" pitchFamily="18" charset="0"/>
                  </a:rPr>
                  <a:t>$L$</a:t>
                </a:r>
                <a:r>
                  <a:rPr sz="2400" b="0">
                    <a:solidFill>
                      <a:srgbClr val="111827"/>
                    </a:solidFill>
                    <a:latin typeface="Arial"/>
                  </a:rPr>
                  <a:t> measured parallel to the plane </a:t>
                </a:r>
                <a:r>
                  <a:rPr lang="en-IN" sz="2400">
                    <a:solidFill>
                      <a:srgbClr val="111827"/>
                    </a:solidFill>
                    <a:latin typeface="Cambria Math" panose="02040503050406030204" pitchFamily="18" charset="0"/>
                  </a:rPr>
                  <a:t>$\pi$</a:t>
                </a:r>
                <a:r>
                  <a:rPr sz="2400" b="0">
                    <a:solidFill>
                      <a:srgbClr val="111827"/>
                    </a:solidFill>
                    <a:latin typeface="Arial"/>
                  </a:rPr>
                  <a:t> is </a:t>
                </a:r>
                <a:r>
                  <a:rPr lang="en-IN" sz="2400">
                    <a:solidFill>
                      <a:srgbClr val="111827"/>
                    </a:solidFill>
                    <a:latin typeface="Cambria Math" panose="02040503050406030204" pitchFamily="18" charset="0"/>
                  </a:rPr>
                  <a:t>$d_1$</a:t>
                </a:r>
                <a:r>
                  <a:rPr sz="2400" b="0">
                    <a:solidFill>
                      <a:srgbClr val="111827"/>
                    </a:solidFill>
                    <a:latin typeface="Arial"/>
                  </a:rPr>
                  <a:t> and the distance of the point </a:t>
                </a:r>
                <a:r>
                  <a:rPr lang="en-IN" sz="2400">
                    <a:solidFill>
                      <a:srgbClr val="111827"/>
                    </a:solidFill>
                    <a:latin typeface="Cambria Math" panose="02040503050406030204" pitchFamily="18" charset="0"/>
                  </a:rPr>
                  <a:t>$A$</a:t>
                </a:r>
                <a:r>
                  <a:rPr sz="2400" b="0">
                    <a:solidFill>
                      <a:srgbClr val="111827"/>
                    </a:solidFill>
                    <a:latin typeface="Arial"/>
                  </a:rPr>
                  <a:t> from the plane </a:t>
                </a:r>
                <a:r>
                  <a:rPr lang="en-IN" sz="2400">
                    <a:solidFill>
                      <a:srgbClr val="111827"/>
                    </a:solidFill>
                    <a:latin typeface="Cambria Math" panose="02040503050406030204" pitchFamily="18" charset="0"/>
                  </a:rPr>
                  <a:t>$\pi$</a:t>
                </a:r>
                <a:r>
                  <a:rPr sz="2400" b="0">
                    <a:solidFill>
                      <a:srgbClr val="111827"/>
                    </a:solidFill>
                    <a:latin typeface="Arial"/>
                  </a:rPr>
                  <a:t> measured parallel to the line </a:t>
                </a:r>
                <a:r>
                  <a:rPr lang="en-IN" sz="2400">
                    <a:solidFill>
                      <a:srgbClr val="111827"/>
                    </a:solidFill>
                    <a:latin typeface="Cambria Math" panose="02040503050406030204" pitchFamily="18" charset="0"/>
                  </a:rPr>
                  <a:t>$L$</a:t>
                </a:r>
                <a:r>
                  <a:rPr sz="2400" b="0">
                    <a:solidFill>
                      <a:srgbClr val="111827"/>
                    </a:solidFill>
                    <a:latin typeface="Arial"/>
                  </a:rPr>
                  <a:t> is </a:t>
                </a:r>
                <a:r>
                  <a:rPr lang="en-IN" sz="2400">
                    <a:solidFill>
                      <a:srgbClr val="111827"/>
                    </a:solidFill>
                    <a:latin typeface="Cambria Math" panose="02040503050406030204" pitchFamily="18" charset="0"/>
                  </a:rPr>
                  <a:t>$d_2$</a:t>
                </a:r>
                <a:r>
                  <a:rPr sz="2400" b="0">
                    <a:solidFill>
                      <a:srgbClr val="111827"/>
                    </a:solidFill>
                    <a:latin typeface="Arial"/>
                  </a:rPr>
                  <a:t>, then find the value of </a:t>
                </a:r>
                <a:r>
                  <a:rPr lang="en-IN" sz="2400">
                    <a:solidFill>
                      <a:srgbClr val="111827"/>
                    </a:solidFill>
                    <a:latin typeface="Cambria Math" panose="02040503050406030204" pitchFamily="18" charset="0"/>
                  </a:rPr>
                  <a:t>$\sqrt{d_1^2-d_2^2}$</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632452"/>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Distance of a point from a line measured parallel to a plane and from a plane measured along a line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t>
                </a:r>
                <a14:m>
                  <m:oMath xmlns:m="http://schemas.openxmlformats.org/officeDocument/2006/math">
                    <m:sSub>
                      <m:e>
                        <m:r>
                          <a:rPr lang="en-IN" sz="2400" i="1">
                            <a:solidFill>
                              <a:srgbClr val="78350F"/>
                            </a:solidFill>
                            <a:latin typeface="Cambria Math" panose="02040503050406030204" pitchFamily="18" charset="0"/>
                          </a:rPr>
                          <m:t>𝑑</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find the point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of </a:t>
                </a:r>
                <a14:m>
                  <m:oMath xmlns:m="http://schemas.openxmlformats.org/officeDocument/2006/math">
                    <m:r>
                      <a:rPr lang="en-IN" sz="2400" i="1">
                        <a:solidFill>
                          <a:srgbClr val="78350F"/>
                        </a:solidFill>
                        <a:latin typeface="Cambria Math" panose="02040503050406030204" pitchFamily="18" charset="0"/>
                      </a:rPr>
                      <m:t>𝐿</m:t>
                    </m:r>
                  </m:oMath>
                </a14:m>
                <a:r>
                  <a:rPr sz="2400" b="0">
                    <a:solidFill>
                      <a:srgbClr val="78350F"/>
                    </a:solidFill>
                    <a:latin typeface="Arial"/>
                  </a:rPr>
                  <a:t>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𝑃</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π</m:t>
                    </m:r>
                  </m:oMath>
                </a14:m>
                <a:r>
                  <a:rPr sz="2400" b="0">
                    <a:solidFill>
                      <a:srgbClr val="78350F"/>
                    </a:solidFill>
                    <a:latin typeface="Arial"/>
                  </a:rPr>
                  <a:t>; for </a:t>
                </a:r>
                <a14:m>
                  <m:oMath xmlns:m="http://schemas.openxmlformats.org/officeDocument/2006/math">
                    <m:sSub>
                      <m:e>
                        <m:r>
                          <a:rPr lang="en-IN" sz="2400" i="1">
                            <a:solidFill>
                              <a:srgbClr val="78350F"/>
                            </a:solidFill>
                            <a:latin typeface="Cambria Math" panose="02040503050406030204" pitchFamily="18" charset="0"/>
                          </a:rPr>
                          <m:t>𝑑</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move from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along the direction of </a:t>
                </a:r>
                <a14:m>
                  <m:oMath xmlns:m="http://schemas.openxmlformats.org/officeDocument/2006/math">
                    <m:r>
                      <a:rPr lang="en-IN" sz="2400" i="1">
                        <a:solidFill>
                          <a:srgbClr val="78350F"/>
                        </a:solidFill>
                        <a:latin typeface="Cambria Math" panose="02040503050406030204" pitchFamily="18" charset="0"/>
                      </a:rPr>
                      <m:t>𝐿</m:t>
                    </m:r>
                  </m:oMath>
                </a14:m>
                <a:r>
                  <a:rPr sz="2400" b="0">
                    <a:solidFill>
                      <a:srgbClr val="78350F"/>
                    </a:solidFill>
                    <a:latin typeface="Arial"/>
                  </a:rPr>
                  <a:t> until the plane is met.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t>
                </a:r>
                <a:r>
                  <a:rPr lang="en-IN" sz="2400">
                    <a:solidFill>
                      <a:srgbClr val="78350F"/>
                    </a:solidFill>
                    <a:latin typeface="Cambria Math" panose="02040503050406030204" pitchFamily="18" charset="0"/>
                  </a:rPr>
                  <a:t>$d_1$</a:t>
                </a:r>
                <a:r>
                  <a:rPr sz="2400" b="0">
                    <a:solidFill>
                      <a:srgbClr val="78350F"/>
                    </a:solidFill>
                    <a:latin typeface="Arial"/>
                  </a:rPr>
                  <a:t> find the point </a:t>
                </a:r>
                <a:r>
                  <a:rPr lang="en-IN" sz="2400">
                    <a:solidFill>
                      <a:srgbClr val="78350F"/>
                    </a:solidFill>
                    <a:latin typeface="Cambria Math" panose="02040503050406030204" pitchFamily="18" charset="0"/>
                  </a:rPr>
                  <a:t>$P$</a:t>
                </a:r>
                <a:r>
                  <a:rPr sz="2400" b="0">
                    <a:solidFill>
                      <a:srgbClr val="78350F"/>
                    </a:solidFill>
                    <a:latin typeface="Arial"/>
                  </a:rPr>
                  <a:t> of </a:t>
                </a:r>
                <a:r>
                  <a:rPr lang="en-IN" sz="2400">
                    <a:solidFill>
                      <a:srgbClr val="78350F"/>
                    </a:solidFill>
                    <a:latin typeface="Cambria Math" panose="02040503050406030204" pitchFamily="18" charset="0"/>
                  </a:rPr>
                  <a:t>$L$</a:t>
                </a:r>
                <a:r>
                  <a:rPr sz="2400" b="0">
                    <a:solidFill>
                      <a:srgbClr val="78350F"/>
                    </a:solidFill>
                    <a:latin typeface="Arial"/>
                  </a:rPr>
                  <a:t> with </a:t>
                </a:r>
                <a:r>
                  <a:rPr lang="en-IN" sz="2400">
                    <a:solidFill>
                      <a:srgbClr val="78350F"/>
                    </a:solidFill>
                    <a:latin typeface="Cambria Math" panose="02040503050406030204" pitchFamily="18" charset="0"/>
                  </a:rPr>
                  <a:t>$\overrightarrow{AP}\parallel\pi$</a:t>
                </a:r>
                <a:r>
                  <a:rPr sz="2400" b="0">
                    <a:solidFill>
                      <a:srgbClr val="78350F"/>
                    </a:solidFill>
                    <a:latin typeface="Arial"/>
                  </a:rPr>
                  <a:t>; for </a:t>
                </a:r>
                <a:r>
                  <a:rPr lang="en-IN" sz="2400">
                    <a:solidFill>
                      <a:srgbClr val="78350F"/>
                    </a:solidFill>
                    <a:latin typeface="Cambria Math" panose="02040503050406030204" pitchFamily="18" charset="0"/>
                  </a:rPr>
                  <a:t>$d_2$</a:t>
                </a:r>
                <a:r>
                  <a:rPr sz="2400" b="0">
                    <a:solidFill>
                      <a:srgbClr val="78350F"/>
                    </a:solidFill>
                    <a:latin typeface="Arial"/>
                  </a:rPr>
                  <a:t> move from </a:t>
                </a:r>
                <a:r>
                  <a:rPr lang="en-IN" sz="2400">
                    <a:solidFill>
                      <a:srgbClr val="78350F"/>
                    </a:solidFill>
                    <a:latin typeface="Cambria Math" panose="02040503050406030204" pitchFamily="18" charset="0"/>
                  </a:rPr>
                  <a:t>$A$</a:t>
                </a:r>
                <a:r>
                  <a:rPr sz="2400" b="0">
                    <a:solidFill>
                      <a:srgbClr val="78350F"/>
                    </a:solidFill>
                    <a:latin typeface="Arial"/>
                  </a:rPr>
                  <a:t> along the direction of </a:t>
                </a:r>
                <a:r>
                  <a:rPr lang="en-IN" sz="2400">
                    <a:solidFill>
                      <a:srgbClr val="78350F"/>
                    </a:solidFill>
                    <a:latin typeface="Cambria Math" panose="02040503050406030204" pitchFamily="18" charset="0"/>
                  </a:rPr>
                  <a:t>$L$</a:t>
                </a:r>
                <a:r>
                  <a:rPr sz="2400" b="0">
                    <a:solidFill>
                      <a:srgbClr val="78350F"/>
                    </a:solidFill>
                    <a:latin typeface="Arial"/>
                  </a:rPr>
                  <a:t> until the plane is met.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Plane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 has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line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point of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Direction ratios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e>
                    </m:acc>
                  </m:oMath>
                </a14:m>
                <a:r>
                  <a:rPr sz="2400" b="0">
                    <a:solidFill>
                      <a:srgbClr val="111827"/>
                    </a:solidFill>
                    <a:latin typeface="Arial"/>
                  </a:rPr>
                  <a:t> is parallel to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126</m:t>
                        </m:r>
                      </m:e>
                    </m:ra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Plane </a:t>
                </a:r>
                <a:r>
                  <a:rPr lang="en-IN" sz="2400">
                    <a:solidFill>
                      <a:srgbClr val="111827"/>
                    </a:solidFill>
                    <a:latin typeface="Cambria Math" panose="02040503050406030204" pitchFamily="18" charset="0"/>
                  </a:rPr>
                  <a:t>$\pi$</a:t>
                </a:r>
                <a:r>
                  <a:rPr sz="2400" b="0">
                    <a:solidFill>
                      <a:srgbClr val="111827"/>
                    </a:solidFill>
                    <a:latin typeface="Arial"/>
                  </a:rPr>
                  <a:t> has normal </a:t>
                </a:r>
                <a:r>
                  <a:rPr lang="en-IN" sz="2400">
                    <a:solidFill>
                      <a:srgbClr val="111827"/>
                    </a:solidFill>
                    <a:latin typeface="Cambria Math" panose="02040503050406030204" pitchFamily="18" charset="0"/>
                  </a:rPr>
                  <a:t>$\vec n=(1,1,-1)$</a:t>
                </a:r>
                <a:r>
                  <a:rPr sz="2400" b="0">
                    <a:solidFill>
                      <a:srgbClr val="111827"/>
                    </a:solidFill>
                    <a:latin typeface="Arial"/>
                  </a:rPr>
                  <a:t>. </a:t>
                </a:r>
                <a:r>
                  <a:rPr lang="en-IN" sz="2400">
                    <a:solidFill>
                      <a:srgbClr val="111827"/>
                    </a:solidFill>
                    <a:latin typeface="Cambria Math" panose="02040503050406030204" pitchFamily="18" charset="0"/>
                  </a:rPr>
                  <a:t>$A=(1,2,-3)$</a:t>
                </a:r>
                <a:r>
                  <a:rPr sz="2400" b="0">
                    <a:solidFill>
                      <a:srgbClr val="111827"/>
                    </a:solidFill>
                    <a:latin typeface="Arial"/>
                  </a:rPr>
                  <a:t>; line </a:t>
                </a:r>
                <a:r>
                  <a:rPr lang="en-IN" sz="2400">
                    <a:solidFill>
                      <a:srgbClr val="111827"/>
                    </a:solidFill>
                    <a:latin typeface="Cambria Math" panose="02040503050406030204" pitchFamily="18" charset="0"/>
                  </a:rPr>
                  <a:t>$L:\frac{x-1}{3}=\frac{y-2}{-1}=\frac{z-3}{4}=\lambda$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point of </a:t>
                </a:r>
                <a:r>
                  <a:rPr lang="en-IN" sz="2400">
                    <a:solidFill>
                      <a:srgbClr val="111827"/>
                    </a:solidFill>
                    <a:latin typeface="Cambria Math" panose="02040503050406030204" pitchFamily="18" charset="0"/>
                  </a:rPr>
                  <a:t>$L$</a:t>
                </a:r>
                <a:r>
                  <a:rPr sz="2400" b="0">
                    <a:solidFill>
                      <a:srgbClr val="111827"/>
                    </a:solidFill>
                    <a:latin typeface="Arial"/>
                  </a:rPr>
                  <a:t>: </a:t>
                </a:r>
                <a:r>
                  <a:rPr lang="en-IN" sz="2400">
                    <a:solidFill>
                      <a:srgbClr val="111827"/>
                    </a:solidFill>
                    <a:latin typeface="Cambria Math" panose="02040503050406030204" pitchFamily="18" charset="0"/>
                  </a:rPr>
                  <a:t>$P(3\lambda+1,\ -\lambda+2,\ 4\lambda+3)$</a:t>
                </a:r>
                <a:r>
                  <a:rPr sz="2400" b="0">
                    <a:solidFill>
                      <a:srgbClr val="111827"/>
                    </a:solidFill>
                    <a:latin typeface="Arial"/>
                  </a:rPr>
                  <a:t>. Direction ratios of </a:t>
                </a:r>
                <a:r>
                  <a:rPr lang="en-IN" sz="2400">
                    <a:solidFill>
                      <a:srgbClr val="111827"/>
                    </a:solidFill>
                    <a:latin typeface="Cambria Math" panose="02040503050406030204" pitchFamily="18" charset="0"/>
                  </a:rPr>
                  <a:t>$\overrightarrow{AP}$</a:t>
                </a:r>
                <a:r>
                  <a:rPr sz="2400" b="0">
                    <a:solidFill>
                      <a:srgbClr val="111827"/>
                    </a:solidFill>
                    <a:latin typeface="Arial"/>
                  </a:rPr>
                  <a:t>: </a:t>
                </a:r>
                <a:r>
                  <a:rPr lang="en-IN" sz="2400">
                    <a:solidFill>
                      <a:srgbClr val="111827"/>
                    </a:solidFill>
                    <a:latin typeface="Cambria Math" panose="02040503050406030204" pitchFamily="18" charset="0"/>
                  </a:rPr>
                  <a:t>$(3\lambda,\ -\lambda,\ 4\lambda+6)$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$\overrightarrow{AP}$</a:t>
                </a:r>
                <a:r>
                  <a:rPr sz="2400" b="0">
                    <a:solidFill>
                      <a:srgbClr val="111827"/>
                    </a:solidFill>
                    <a:latin typeface="Arial"/>
                  </a:rPr>
                  <a:t> is parallel to </a:t>
                </a:r>
                <a:r>
                  <a:rPr lang="en-IN" sz="2400">
                    <a:solidFill>
                      <a:srgbClr val="111827"/>
                    </a:solidFill>
                    <a:latin typeface="Cambria Math" panose="02040503050406030204" pitchFamily="18" charset="0"/>
                  </a:rPr>
                  <a:t>$\pi$</a:t>
                </a:r>
                <a:r>
                  <a:rPr sz="2400" b="0">
                    <a:solidFill>
                      <a:srgbClr val="111827"/>
                    </a:solidFill>
                    <a:latin typeface="Arial"/>
                  </a:rPr>
                  <a:t>: </a:t>
                </a:r>
                <a:r>
                  <a:rPr lang="en-IN" sz="2400">
                    <a:solidFill>
                      <a:srgbClr val="111827"/>
                    </a:solidFill>
                    <a:latin typeface="Cambria Math" panose="02040503050406030204" pitchFamily="18" charset="0"/>
                  </a:rPr>
                  <a:t>$\overrightarrow{AP}\cdot\vec n=0\Rightarrow3\lambda-\lambda-(4\lambda+6)=0\Rightarrow-2\lambda-6=0\Rightarrow\lambda=-3$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$d_1=AP=\sqrt{9\lambda^2+\lambda^2+(4\lambda+6)^2}=\sqrt{81+9+36}=\sqrt{126}$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through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parallel to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It meets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 where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PDF reaches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through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ad>
                      <m:radPr>
                        <m:degHide m:val="on"/>
                        <m:ctrlPr>
                          <a:rPr lang="en-IN" sz="2400" i="1">
                            <a:solidFill>
                              <a:srgbClr val="111827"/>
                            </a:solidFill>
                            <a:latin typeface="Cambria Math" panose="02040503050406030204" pitchFamily="18" charset="0"/>
                          </a:rPr>
                        </m:ctrlPr>
                      </m:radPr>
                      <m:deg/>
                      <m:e>
                        <m:sSubSup>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126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26</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through </a:t>
                </a:r>
                <a:r>
                  <a:rPr lang="en-IN" sz="2400">
                    <a:solidFill>
                      <a:srgbClr val="111827"/>
                    </a:solidFill>
                    <a:latin typeface="Cambria Math" panose="02040503050406030204" pitchFamily="18" charset="0"/>
                  </a:rPr>
                  <a:t>$A$</a:t>
                </a:r>
                <a:r>
                  <a:rPr sz="2400" b="0">
                    <a:solidFill>
                      <a:srgbClr val="111827"/>
                    </a:solidFill>
                    <a:latin typeface="Arial"/>
                  </a:rPr>
                  <a:t> parallel to </a:t>
                </a:r>
                <a:r>
                  <a:rPr lang="en-IN" sz="2400">
                    <a:solidFill>
                      <a:srgbClr val="111827"/>
                    </a:solidFill>
                    <a:latin typeface="Cambria Math" panose="02040503050406030204" pitchFamily="18" charset="0"/>
                  </a:rPr>
                  <a:t>$L$</a:t>
                </a:r>
                <a:r>
                  <a:rPr sz="2400" b="0">
                    <a:solidFill>
                      <a:srgbClr val="111827"/>
                    </a:solidFill>
                    <a:latin typeface="Arial"/>
                  </a:rPr>
                  <a:t>: </a:t>
                </a:r>
                <a:r>
                  <a:rPr lang="en-IN" sz="2400">
                    <a:solidFill>
                      <a:srgbClr val="111827"/>
                    </a:solidFill>
                    <a:latin typeface="Cambria Math" panose="02040503050406030204" pitchFamily="18" charset="0"/>
                  </a:rPr>
                  <a:t>$x=3\lambda+1,\ y=2-\lambda,\ z=4\lambda-3$</a:t>
                </a:r>
                <a:r>
                  <a:rPr sz="2400" b="0">
                    <a:solidFill>
                      <a:srgbClr val="111827"/>
                    </a:solidFill>
                    <a:latin typeface="Arial"/>
                  </a:rPr>
                  <a:t>. It meets </a:t>
                </a:r>
                <a:r>
                  <a:rPr lang="en-IN" sz="2400">
                    <a:solidFill>
                      <a:srgbClr val="111827"/>
                    </a:solidFill>
                    <a:latin typeface="Cambria Math" panose="02040503050406030204" pitchFamily="18" charset="0"/>
                  </a:rPr>
                  <a:t>$\pi$</a:t>
                </a:r>
                <a:r>
                  <a:rPr sz="2400" b="0">
                    <a:solidFill>
                      <a:srgbClr val="111827"/>
                    </a:solidFill>
                    <a:latin typeface="Arial"/>
                  </a:rPr>
                  <a:t> where </a:t>
                </a:r>
                <a:r>
                  <a:rPr lang="en-IN" sz="2400">
                    <a:solidFill>
                      <a:srgbClr val="111827"/>
                    </a:solidFill>
                    <a:latin typeface="Cambria Math" panose="02040503050406030204" pitchFamily="18" charset="0"/>
                  </a:rPr>
                  <a:t>$(3\lambda+1)+(2-\lambda)-(4\lambda-3)-4=0$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$\Rightarrow-2\lambda+2=0\Rightarrow\lambda=1$</a:t>
                </a:r>
                <a:r>
                  <a:rPr sz="2400" b="0">
                    <a:solidFill>
                      <a:srgbClr val="111827"/>
                    </a:solidFill>
                    <a:latin typeface="Arial"/>
                  </a:rPr>
                  <a:t> (the PDF reaches </a:t>
                </a:r>
                <a:r>
                  <a:rPr lang="en-IN" sz="2400">
                    <a:solidFill>
                      <a:srgbClr val="111827"/>
                    </a:solidFill>
                    <a:latin typeface="Cambria Math" panose="02040503050406030204" pitchFamily="18" charset="0"/>
                  </a:rPr>
                  <a:t>$\lambda=1$</a:t>
                </a:r>
                <a:r>
                  <a:rPr sz="2400" b="0">
                    <a:solidFill>
                      <a:srgbClr val="111827"/>
                    </a:solidFill>
                    <a:latin typeface="Arial"/>
                  </a:rPr>
                  <a:t> through </a:t>
                </a:r>
                <a:r>
                  <a:rPr lang="en-IN" sz="2400">
                    <a:solidFill>
                      <a:srgbClr val="111827"/>
                    </a:solidFill>
                    <a:latin typeface="Cambria Math" panose="02040503050406030204" pitchFamily="18" charset="0"/>
                  </a:rPr>
                  <a:t>$2\lambda-4\lambda+6=4$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$d_2=\sqrt{(3\lambda)^2+(-\lambda)^2+(4\lambda)^2}=\sqrt{26\lambda^2}=\sqrt{26}$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$\sqrt{d_1^2-d_2^2}=\sqrt{126-26}=10$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10</a:t>
            </a:r>
            <a:endParaRPr sz="2800">
              <a:solidFill>
                <a:srgbClr val="15803D"/>
              </a:solidFill>
            </a:endParaRP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Intersect </a:t>
                </a:r>
                <a14:m>
                  <m:oMath xmlns:m="http://schemas.openxmlformats.org/officeDocument/2006/math">
                    <m:r>
                      <a:rPr lang="en-IN" sz="2400" i="1">
                        <a:solidFill>
                          <a:srgbClr val="78350F"/>
                        </a:solidFill>
                        <a:latin typeface="Cambria Math" panose="02040503050406030204" pitchFamily="18" charset="0"/>
                      </a:rPr>
                      <m:t>𝐿</m:t>
                    </m:r>
                  </m:oMath>
                </a14:m>
                <a:r>
                  <a:rPr sz="2400" b="0">
                    <a:solidFill>
                      <a:srgbClr val="78350F"/>
                    </a:solidFill>
                    <a:latin typeface="Arial"/>
                  </a:rPr>
                  <a:t> with the plane through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parallel to </a:t>
                </a:r>
                <a14:m>
                  <m:oMath xmlns:m="http://schemas.openxmlformats.org/officeDocument/2006/math">
                    <m:r>
                      <a:rPr lang="en-IN" sz="2400" i="1">
                        <a:solidFill>
                          <a:srgbClr val="78350F"/>
                        </a:solidFill>
                        <a:latin typeface="Cambria Math" panose="02040503050406030204" pitchFamily="18" charset="0"/>
                      </a:rPr>
                      <m:t>π</m:t>
                    </m:r>
                  </m:oMath>
                </a14:m>
                <a:r>
                  <a:rPr sz="2400" b="0">
                    <a:solidFill>
                      <a:srgbClr val="78350F"/>
                    </a:solidFill>
                    <a:latin typeface="Arial"/>
                  </a:rPr>
                  <a:t> for </a:t>
                </a:r>
                <a14:m>
                  <m:oMath xmlns:m="http://schemas.openxmlformats.org/officeDocument/2006/math">
                    <m:sSub>
                      <m:e>
                        <m:r>
                          <a:rPr lang="en-IN" sz="2400" i="1">
                            <a:solidFill>
                              <a:srgbClr val="78350F"/>
                            </a:solidFill>
                            <a:latin typeface="Cambria Math" panose="02040503050406030204" pitchFamily="18" charset="0"/>
                          </a:rPr>
                          <m:t>𝑑</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and divide the perpendicular distance of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from </a:t>
                </a:r>
                <a14:m>
                  <m:oMath xmlns:m="http://schemas.openxmlformats.org/officeDocument/2006/math">
                    <m:r>
                      <a:rPr lang="en-IN" sz="2400" i="1">
                        <a:solidFill>
                          <a:srgbClr val="78350F"/>
                        </a:solidFill>
                        <a:latin typeface="Cambria Math" panose="02040503050406030204" pitchFamily="18" charset="0"/>
                      </a:rPr>
                      <m:t>π</m:t>
                    </m:r>
                  </m:oMath>
                </a14:m>
                <a:r>
                  <a:rPr sz="2400" b="0">
                    <a:solidFill>
                      <a:srgbClr val="78350F"/>
                    </a:solidFill>
                    <a:latin typeface="Arial"/>
                  </a:rPr>
                  <a:t> by the cosine of the angle between </a:t>
                </a:r>
                <a14:m>
                  <m:oMath xmlns:m="http://schemas.openxmlformats.org/officeDocument/2006/math">
                    <m:r>
                      <a:rPr lang="en-IN" sz="2400" i="1">
                        <a:solidFill>
                          <a:srgbClr val="78350F"/>
                        </a:solidFill>
                        <a:latin typeface="Cambria Math" panose="02040503050406030204" pitchFamily="18" charset="0"/>
                      </a:rPr>
                      <m:t>𝐿</m:t>
                    </m:r>
                  </m:oMath>
                </a14:m>
                <a:r>
                  <a:rPr sz="2400" b="0">
                    <a:solidFill>
                      <a:srgbClr val="78350F"/>
                    </a:solidFill>
                    <a:latin typeface="Arial"/>
                  </a:rPr>
                  <a:t> and the normal for </a:t>
                </a:r>
                <a14:m>
                  <m:oMath xmlns:m="http://schemas.openxmlformats.org/officeDocument/2006/math">
                    <m:sSub>
                      <m:e>
                        <m:r>
                          <a:rPr lang="en-IN" sz="2400" i="1">
                            <a:solidFill>
                              <a:srgbClr val="78350F"/>
                            </a:solidFill>
                            <a:latin typeface="Cambria Math" panose="02040503050406030204" pitchFamily="18" charset="0"/>
                          </a:rPr>
                          <m:t>𝑑</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Intersect </a:t>
                </a:r>
                <a:r>
                  <a:rPr lang="en-IN" sz="2400">
                    <a:solidFill>
                      <a:srgbClr val="78350F"/>
                    </a:solidFill>
                    <a:latin typeface="Cambria Math" panose="02040503050406030204" pitchFamily="18" charset="0"/>
                  </a:rPr>
                  <a:t>$L$</a:t>
                </a:r>
                <a:r>
                  <a:rPr sz="2400" b="0">
                    <a:solidFill>
                      <a:srgbClr val="78350F"/>
                    </a:solidFill>
                    <a:latin typeface="Arial"/>
                  </a:rPr>
                  <a:t> with the plane through </a:t>
                </a:r>
                <a:r>
                  <a:rPr lang="en-IN" sz="2400">
                    <a:solidFill>
                      <a:srgbClr val="78350F"/>
                    </a:solidFill>
                    <a:latin typeface="Cambria Math" panose="02040503050406030204" pitchFamily="18" charset="0"/>
                  </a:rPr>
                  <a:t>$A$</a:t>
                </a:r>
                <a:r>
                  <a:rPr sz="2400" b="0">
                    <a:solidFill>
                      <a:srgbClr val="78350F"/>
                    </a:solidFill>
                    <a:latin typeface="Arial"/>
                  </a:rPr>
                  <a:t> parallel to </a:t>
                </a:r>
                <a:r>
                  <a:rPr lang="en-IN" sz="2400">
                    <a:solidFill>
                      <a:srgbClr val="78350F"/>
                    </a:solidFill>
                    <a:latin typeface="Cambria Math" panose="02040503050406030204" pitchFamily="18" charset="0"/>
                  </a:rPr>
                  <a:t>$\pi$</a:t>
                </a:r>
                <a:r>
                  <a:rPr sz="2400" b="0">
                    <a:solidFill>
                      <a:srgbClr val="78350F"/>
                    </a:solidFill>
                    <a:latin typeface="Arial"/>
                  </a:rPr>
                  <a:t> for </a:t>
                </a:r>
                <a:r>
                  <a:rPr lang="en-IN" sz="2400">
                    <a:solidFill>
                      <a:srgbClr val="78350F"/>
                    </a:solidFill>
                    <a:latin typeface="Cambria Math" panose="02040503050406030204" pitchFamily="18" charset="0"/>
                  </a:rPr>
                  <a:t>$d_1$</a:t>
                </a:r>
                <a:r>
                  <a:rPr sz="2400" b="0">
                    <a:solidFill>
                      <a:srgbClr val="78350F"/>
                    </a:solidFill>
                    <a:latin typeface="Arial"/>
                  </a:rPr>
                  <a:t>, and divide the perpendicular distance of </a:t>
                </a:r>
                <a:r>
                  <a:rPr lang="en-IN" sz="2400">
                    <a:solidFill>
                      <a:srgbClr val="78350F"/>
                    </a:solidFill>
                    <a:latin typeface="Cambria Math" panose="02040503050406030204" pitchFamily="18" charset="0"/>
                  </a:rPr>
                  <a:t>$A$</a:t>
                </a:r>
                <a:r>
                  <a:rPr sz="2400" b="0">
                    <a:solidFill>
                      <a:srgbClr val="78350F"/>
                    </a:solidFill>
                    <a:latin typeface="Arial"/>
                  </a:rPr>
                  <a:t> from </a:t>
                </a:r>
                <a:r>
                  <a:rPr lang="en-IN" sz="2400">
                    <a:solidFill>
                      <a:srgbClr val="78350F"/>
                    </a:solidFill>
                    <a:latin typeface="Cambria Math" panose="02040503050406030204" pitchFamily="18" charset="0"/>
                  </a:rPr>
                  <a:t>$\pi$</a:t>
                </a:r>
                <a:r>
                  <a:rPr sz="2400" b="0">
                    <a:solidFill>
                      <a:srgbClr val="78350F"/>
                    </a:solidFill>
                    <a:latin typeface="Arial"/>
                  </a:rPr>
                  <a:t> by the cosine of the angle between </a:t>
                </a:r>
                <a:r>
                  <a:rPr lang="en-IN" sz="2400">
                    <a:solidFill>
                      <a:srgbClr val="78350F"/>
                    </a:solidFill>
                    <a:latin typeface="Cambria Math" panose="02040503050406030204" pitchFamily="18" charset="0"/>
                  </a:rPr>
                  <a:t>$L$</a:t>
                </a:r>
                <a:r>
                  <a:rPr sz="2400" b="0">
                    <a:solidFill>
                      <a:srgbClr val="78350F"/>
                    </a:solidFill>
                    <a:latin typeface="Arial"/>
                  </a:rPr>
                  <a:t> and the normal for </a:t>
                </a:r>
                <a:r>
                  <a:rPr lang="en-IN" sz="2400">
                    <a:solidFill>
                      <a:srgbClr val="78350F"/>
                    </a:solidFill>
                    <a:latin typeface="Cambria Math" panose="02040503050406030204" pitchFamily="18" charset="0"/>
                  </a:rPr>
                  <a:t>$d_2$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plane through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parallel to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meets it where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lie in that plane, so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oMath>
                </a14:m>
                <a:r>
                  <a:rPr sz="2400" b="0">
                    <a:solidFill>
                      <a:srgbClr val="111827"/>
                    </a:solidFill>
                    <a:latin typeface="Arial"/>
                  </a:rPr>
                  <a:t> is parallel to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 </a:t>
                </a:r>
                <a14:m>
                  <m:oMath xmlns:m="http://schemas.openxmlformats.org/officeDocument/2006/math">
                    <m:sSubSup>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126</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plane through </a:t>
                </a:r>
                <a:r>
                  <a:rPr lang="en-IN" sz="2400">
                    <a:solidFill>
                      <a:srgbClr val="111827"/>
                    </a:solidFill>
                    <a:latin typeface="Cambria Math" panose="02040503050406030204" pitchFamily="18" charset="0"/>
                  </a:rPr>
                  <a:t>$A$</a:t>
                </a:r>
                <a:r>
                  <a:rPr sz="2400" b="0">
                    <a:solidFill>
                      <a:srgbClr val="111827"/>
                    </a:solidFill>
                    <a:latin typeface="Arial"/>
                  </a:rPr>
                  <a:t> parallel to </a:t>
                </a:r>
                <a:r>
                  <a:rPr lang="en-IN" sz="2400">
                    <a:solidFill>
                      <a:srgbClr val="111827"/>
                    </a:solidFill>
                    <a:latin typeface="Cambria Math" panose="02040503050406030204" pitchFamily="18" charset="0"/>
                  </a:rPr>
                  <a:t>$\pi$</a:t>
                </a:r>
                <a:r>
                  <a:rPr sz="2400" b="0">
                    <a:solidFill>
                      <a:srgbClr val="111827"/>
                    </a:solidFill>
                    <a:latin typeface="Arial"/>
                  </a:rPr>
                  <a:t> is </a:t>
                </a:r>
                <a:r>
                  <a:rPr lang="en-IN" sz="2400">
                    <a:solidFill>
                      <a:srgbClr val="111827"/>
                    </a:solidFill>
                    <a:latin typeface="Cambria Math" panose="02040503050406030204" pitchFamily="18" charset="0"/>
                  </a:rPr>
                  <a:t>$x+y-z=1+2+3=6$</a:t>
                </a:r>
                <a:r>
                  <a:rPr sz="2400" b="0">
                    <a:solidFill>
                      <a:srgbClr val="111827"/>
                    </a:solidFill>
                    <a:latin typeface="Arial"/>
                  </a:rPr>
                  <a:t>. </a:t>
                </a:r>
                <a:r>
                  <a:rPr lang="en-IN" sz="2400">
                    <a:solidFill>
                      <a:srgbClr val="111827"/>
                    </a:solidFill>
                    <a:latin typeface="Cambria Math" panose="02040503050406030204" pitchFamily="18" charset="0"/>
                  </a:rPr>
                  <a:t>$L$</a:t>
                </a:r>
                <a:r>
                  <a:rPr sz="2400" b="0">
                    <a:solidFill>
                      <a:srgbClr val="111827"/>
                    </a:solidFill>
                    <a:latin typeface="Arial"/>
                  </a:rPr>
                  <a:t> meets it where </a:t>
                </a:r>
                <a:r>
                  <a:rPr lang="en-IN" sz="2400">
                    <a:solidFill>
                      <a:srgbClr val="111827"/>
                    </a:solidFill>
                    <a:latin typeface="Cambria Math" panose="02040503050406030204" pitchFamily="18" charset="0"/>
                  </a:rPr>
                  <a:t>$(3\lambda+1)+(2-\lambda)-(4\lambda+3)=6\Rightarrow-2\lambda=6$</a:t>
                </a:r>
                <a:r>
                  <a:rPr sz="2400" b="0">
                    <a:solidFill>
                      <a:srgbClr val="111827"/>
                    </a:solidFill>
                    <a:latin typeface="Arial"/>
                  </a:rPr>
                  <a:t>, so </a:t>
                </a:r>
                <a:r>
                  <a:rPr lang="en-IN" sz="2400">
                    <a:solidFill>
                      <a:srgbClr val="111827"/>
                    </a:solidFill>
                    <a:latin typeface="Cambria Math" panose="02040503050406030204" pitchFamily="18" charset="0"/>
                  </a:rPr>
                  <a:t>$\lambda=-3$</a:t>
                </a:r>
                <a:r>
                  <a:rPr sz="2400" b="0">
                    <a:solidFill>
                      <a:srgbClr val="111827"/>
                    </a:solidFill>
                    <a:latin typeface="Arial"/>
                  </a:rPr>
                  <a:t> and </a:t>
                </a:r>
                <a:r>
                  <a:rPr lang="en-IN" sz="2400">
                    <a:solidFill>
                      <a:srgbClr val="111827"/>
                    </a:solidFill>
                    <a:latin typeface="Cambria Math" panose="02040503050406030204" pitchFamily="18" charset="0"/>
                  </a:rPr>
                  <a:t>$P=(-8,5,-9)$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$P$</a:t>
                </a:r>
                <a:r>
                  <a:rPr sz="2400" b="0">
                    <a:solidFill>
                      <a:srgbClr val="111827"/>
                    </a:solidFill>
                    <a:latin typeface="Arial"/>
                  </a:rPr>
                  <a:t> lie in that plane, so </a:t>
                </a:r>
                <a:r>
                  <a:rPr lang="en-IN" sz="2400">
                    <a:solidFill>
                      <a:srgbClr val="111827"/>
                    </a:solidFill>
                    <a:latin typeface="Cambria Math" panose="02040503050406030204" pitchFamily="18" charset="0"/>
                  </a:rPr>
                  <a:t>$AP$</a:t>
                </a:r>
                <a:r>
                  <a:rPr sz="2400" b="0">
                    <a:solidFill>
                      <a:srgbClr val="111827"/>
                    </a:solidFill>
                    <a:latin typeface="Arial"/>
                  </a:rPr>
                  <a:t> is parallel to </a:t>
                </a:r>
                <a:r>
                  <a:rPr lang="en-IN" sz="2400">
                    <a:solidFill>
                      <a:srgbClr val="111827"/>
                    </a:solidFill>
                    <a:latin typeface="Cambria Math" panose="02040503050406030204" pitchFamily="18" charset="0"/>
                  </a:rPr>
                  <a:t>$\pi$</a:t>
                </a:r>
                <a:r>
                  <a:rPr sz="2400" b="0">
                    <a:solidFill>
                      <a:srgbClr val="111827"/>
                    </a:solidFill>
                    <a:latin typeface="Arial"/>
                  </a:rPr>
                  <a:t>: </a:t>
                </a:r>
                <a:r>
                  <a:rPr lang="en-IN" sz="2400">
                    <a:solidFill>
                      <a:srgbClr val="111827"/>
                    </a:solidFill>
                    <a:latin typeface="Cambria Math" panose="02040503050406030204" pitchFamily="18" charset="0"/>
                  </a:rPr>
                  <a:t>$d_1^2=|AP|^2=81+9+36=126$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distance of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between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and the normal.</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ad>
                      <m:radPr>
                        <m:degHide m:val="on"/>
                        <m:ctrlPr>
                          <a:rPr lang="en-IN" sz="2400" i="1">
                            <a:solidFill>
                              <a:srgbClr val="111827"/>
                            </a:solidFill>
                            <a:latin typeface="Cambria Math" panose="02040503050406030204" pitchFamily="18" charset="0"/>
                          </a:rPr>
                        </m:ctrlPr>
                      </m:radPr>
                      <m:deg/>
                      <m:e>
                        <m:sSubSup>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100</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distance of </a:t>
                </a:r>
                <a:r>
                  <a:rPr lang="en-IN" sz="2400">
                    <a:solidFill>
                      <a:srgbClr val="111827"/>
                    </a:solidFill>
                    <a:latin typeface="Cambria Math" panose="02040503050406030204" pitchFamily="18" charset="0"/>
                  </a:rPr>
                  <a:t>$A$</a:t>
                </a:r>
                <a:r>
                  <a:rPr sz="2400" b="0">
                    <a:solidFill>
                      <a:srgbClr val="111827"/>
                    </a:solidFill>
                    <a:latin typeface="Arial"/>
                  </a:rPr>
                  <a:t> from </a:t>
                </a:r>
                <a:r>
                  <a:rPr lang="en-IN" sz="2400">
                    <a:solidFill>
                      <a:srgbClr val="111827"/>
                    </a:solidFill>
                    <a:latin typeface="Cambria Math" panose="02040503050406030204" pitchFamily="18" charset="0"/>
                  </a:rPr>
                  <a:t>$\pi$</a:t>
                </a:r>
                <a:r>
                  <a:rPr sz="2400" b="0">
                    <a:solidFill>
                      <a:srgbClr val="111827"/>
                    </a:solidFill>
                    <a:latin typeface="Arial"/>
                  </a:rPr>
                  <a:t> is </a:t>
                </a:r>
                <a:r>
                  <a:rPr lang="en-IN" sz="2400">
                    <a:solidFill>
                      <a:srgbClr val="111827"/>
                    </a:solidFill>
                    <a:latin typeface="Cambria Math" panose="02040503050406030204" pitchFamily="18" charset="0"/>
                  </a:rPr>
                  <a:t>$\frac{|1+2+3-4|}{\sqrt3}=\frac{2}{\sqrt3}$</a:t>
                </a:r>
                <a:r>
                  <a:rPr sz="2400" b="0">
                    <a:solidFill>
                      <a:srgbClr val="111827"/>
                    </a:solidFill>
                    <a:latin typeface="Arial"/>
                  </a:rPr>
                  <a:t>, and </a:t>
                </a:r>
                <a:r>
                  <a:rPr lang="en-IN" sz="2400">
                    <a:solidFill>
                      <a:srgbClr val="111827"/>
                    </a:solidFill>
                    <a:latin typeface="Cambria Math" panose="02040503050406030204" pitchFamily="18" charset="0"/>
                  </a:rPr>
                  <a:t>$\cos\varphi=\frac{|\vec d\cdot\vec n|}{|\vec d||\vec n|}=\frac{2}{\sqrt{26}\sqrt3}$</a:t>
                </a:r>
                <a:r>
                  <a:rPr sz="2400" b="0">
                    <a:solidFill>
                      <a:srgbClr val="111827"/>
                    </a:solidFill>
                    <a:latin typeface="Arial"/>
                  </a:rPr>
                  <a:t> between </a:t>
                </a:r>
                <a:r>
                  <a:rPr lang="en-IN" sz="2400">
                    <a:solidFill>
                      <a:srgbClr val="111827"/>
                    </a:solidFill>
                    <a:latin typeface="Cambria Math" panose="02040503050406030204" pitchFamily="18" charset="0"/>
                  </a:rPr>
                  <a:t>$L$</a:t>
                </a:r>
                <a:r>
                  <a:rPr sz="2400" b="0">
                    <a:solidFill>
                      <a:srgbClr val="111827"/>
                    </a:solidFill>
                    <a:latin typeface="Arial"/>
                  </a:rPr>
                  <a:t> and the normal.</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$d_2=\frac{2/\sqrt3}{2/(\sqrt{26}\sqrt3)}=\sqrt{26}$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$\sqrt{d_1^2-d_2^2}=\sqrt{100}=10$</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10</a:t>
            </a:r>
            <a:endParaRPr sz="2800">
              <a:solidFill>
                <a:srgbClr val="15803D"/>
              </a:solidFill>
            </a:endParaRP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Distance of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from a line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measured parallel to a plane: intersect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with the plane through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parallel to the given plane.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of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from a plane measured along a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nor/>
                          </m:rPr>
                          <a:rPr lang="en-IN" sz="2400" i="1">
                            <a:solidFill>
                              <a:srgbClr val="111827"/>
                            </a:solidFill>
                            <a:latin typeface="Cambria Math" panose="02040503050406030204" pitchFamily="18" charset="0"/>
                          </a:rPr>
                          <m:t>𝑝𝑒𝑟𝑝𝑒𝑛𝑑𝑖𝑐𝑢𝑙𝑎𝑟 𝑑𝑖𝑠𝑡𝑎𝑛𝑐𝑒</m:t>
                        </m:r>
                      </m:num>
                      <m:den>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are 'oblique distances': set up the line through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in the required direction, then find the intersection parameter.</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Distance of </a:t>
                </a:r>
                <a:r>
                  <a:rPr lang="en-IN" sz="2400">
                    <a:solidFill>
                      <a:srgbClr val="111827"/>
                    </a:solidFill>
                    <a:latin typeface="Cambria Math" panose="02040503050406030204" pitchFamily="18" charset="0"/>
                  </a:rPr>
                  <a:t>$A$</a:t>
                </a:r>
                <a:r>
                  <a:rPr sz="2400" b="0">
                    <a:solidFill>
                      <a:srgbClr val="111827"/>
                    </a:solidFill>
                    <a:latin typeface="Arial"/>
                  </a:rPr>
                  <a:t> from a line </a:t>
                </a:r>
                <a:r>
                  <a:rPr lang="en-IN" sz="2400">
                    <a:solidFill>
                      <a:srgbClr val="111827"/>
                    </a:solidFill>
                    <a:latin typeface="Cambria Math" panose="02040503050406030204" pitchFamily="18" charset="0"/>
                  </a:rPr>
                  <a:t>$L$</a:t>
                </a:r>
                <a:r>
                  <a:rPr sz="2400" b="0">
                    <a:solidFill>
                      <a:srgbClr val="111827"/>
                    </a:solidFill>
                    <a:latin typeface="Arial"/>
                  </a:rPr>
                  <a:t> measured parallel to a plane: intersect </a:t>
                </a:r>
                <a:r>
                  <a:rPr lang="en-IN" sz="2400">
                    <a:solidFill>
                      <a:srgbClr val="111827"/>
                    </a:solidFill>
                    <a:latin typeface="Cambria Math" panose="02040503050406030204" pitchFamily="18" charset="0"/>
                  </a:rPr>
                  <a:t>$L$</a:t>
                </a:r>
                <a:r>
                  <a:rPr sz="2400" b="0">
                    <a:solidFill>
                      <a:srgbClr val="111827"/>
                    </a:solidFill>
                    <a:latin typeface="Arial"/>
                  </a:rPr>
                  <a:t> with the plane through </a:t>
                </a:r>
                <a:r>
                  <a:rPr lang="en-IN" sz="2400">
                    <a:solidFill>
                      <a:srgbClr val="111827"/>
                    </a:solidFill>
                    <a:latin typeface="Cambria Math" panose="02040503050406030204" pitchFamily="18" charset="0"/>
                  </a:rPr>
                  <a:t>$A$</a:t>
                </a:r>
                <a:r>
                  <a:rPr sz="2400" b="0">
                    <a:solidFill>
                      <a:srgbClr val="111827"/>
                    </a:solidFill>
                    <a:latin typeface="Arial"/>
                  </a:rPr>
                  <a:t> parallel to the given plane.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of </a:t>
                </a:r>
                <a:r>
                  <a:rPr lang="en-IN" sz="2400">
                    <a:solidFill>
                      <a:srgbClr val="111827"/>
                    </a:solidFill>
                    <a:latin typeface="Cambria Math" panose="02040503050406030204" pitchFamily="18" charset="0"/>
                  </a:rPr>
                  <a:t>$A$</a:t>
                </a:r>
                <a:r>
                  <a:rPr sz="2400" b="0">
                    <a:solidFill>
                      <a:srgbClr val="111827"/>
                    </a:solidFill>
                    <a:latin typeface="Arial"/>
                  </a:rPr>
                  <a:t> from a plane measured along a direction </a:t>
                </a:r>
                <a:r>
                  <a:rPr lang="en-IN" sz="2400">
                    <a:solidFill>
                      <a:srgbClr val="111827"/>
                    </a:solidFill>
                    <a:latin typeface="Cambria Math" panose="02040503050406030204" pitchFamily="18" charset="0"/>
                  </a:rPr>
                  <a:t>$\vec d$</a:t>
                </a:r>
                <a:r>
                  <a:rPr sz="2400" b="0">
                    <a:solidFill>
                      <a:srgbClr val="111827"/>
                    </a:solidFill>
                    <a:latin typeface="Arial"/>
                  </a:rPr>
                  <a:t>: </a:t>
                </a:r>
                <a:r>
                  <a:rPr lang="en-IN" sz="2400">
                    <a:solidFill>
                      <a:srgbClr val="111827"/>
                    </a:solidFill>
                    <a:latin typeface="Cambria Math" panose="02040503050406030204" pitchFamily="18" charset="0"/>
                  </a:rPr>
                  <a:t>$\frac{\text{perpendicular distance}}{|\cos\varphi|}=\frac{|\vec n\cdot A-p|\,|\vec d|}{|\vec n\cdot\vec 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are 'oblique distances': set up the line through </a:t>
                </a:r>
                <a:r>
                  <a:rPr lang="en-IN" sz="2400">
                    <a:solidFill>
                      <a:srgbClr val="111827"/>
                    </a:solidFill>
                    <a:latin typeface="Cambria Math" panose="02040503050406030204" pitchFamily="18" charset="0"/>
                  </a:rPr>
                  <a:t>$A$</a:t>
                </a:r>
                <a:r>
                  <a:rPr sz="2400" b="0">
                    <a:solidFill>
                      <a:srgbClr val="111827"/>
                    </a:solidFill>
                    <a:latin typeface="Arial"/>
                  </a:rPr>
                  <a:t> in the required direction, then find the intersection parameter.</a:t>
                </a:r>
                <a:endParaRPr sz="2400">
                  <a:solidFill>
                    <a:srgbClr val="111827"/>
                  </a:solidFill>
                </a:endParaRPr>
              </a:p>
            </p:txBody>
          </p:sp>
        </mc:Fallback>
      </mc:AlternateContent>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12369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bisects the circumference of the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then the maximum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The plane denoted by </a:t>
                </a:r>
                <a14:m>
                  <m:oMath xmlns:m="http://schemas.openxmlformats.org/officeDocument/2006/math">
                    <m:sSub>
                      <m:e>
                        <m:r>
                          <m:rPr>
                            <m:sty m:val="p"/>
                          </m:rPr>
                          <a:rPr lang="en-IN" sz="2400">
                            <a:solidFill>
                              <a:srgbClr val="111827"/>
                            </a:solidFill>
                            <a:latin typeface="Cambria Math" panose="02040503050406030204" pitchFamily="18" charset="0"/>
                          </a:rPr>
                          <m:t>Π</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rotated through a right angle about its line of intersection with the plane </a:t>
                </a:r>
                <a14:m>
                  <m:oMath xmlns:m="http://schemas.openxmlformats.org/officeDocument/2006/math">
                    <m:sSub>
                      <m:e>
                        <m:r>
                          <m:rPr>
                            <m:sty m:val="p"/>
                          </m:rPr>
                          <a:rPr lang="en-IN" sz="2400">
                            <a:solidFill>
                              <a:srgbClr val="111827"/>
                            </a:solidFill>
                            <a:latin typeface="Cambria Math" panose="02040503050406030204" pitchFamily="18" charset="0"/>
                          </a:rPr>
                          <m:t>Π</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λ</m:t>
                        </m:r>
                      </m:e>
                    </m:rad>
                  </m:oMath>
                </a14:m>
                <a:r>
                  <a:rPr sz="2400" b="0">
                    <a:solidFill>
                      <a:srgbClr val="111827"/>
                    </a:solidFill>
                    <a:latin typeface="Arial"/>
                  </a:rPr>
                  <a:t>. If the plane in its new position be denoted by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and the distance of this plane from the origin is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𝑘</m:t>
                        </m:r>
                      </m:e>
                    </m:rad>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then find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312369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circle </a:t>
                </a:r>
                <a:r>
                  <a:rPr lang="en-IN" sz="2400">
                    <a:solidFill>
                      <a:srgbClr val="111827"/>
                    </a:solidFill>
                    <a:latin typeface="Cambria Math" panose="02040503050406030204" pitchFamily="18" charset="0"/>
                  </a:rPr>
                  <a:t>$x^2+y^2+4x+22y+a=0$</a:t>
                </a:r>
                <a:r>
                  <a:rPr sz="2400" b="0">
                    <a:solidFill>
                      <a:srgbClr val="111827"/>
                    </a:solidFill>
                    <a:latin typeface="Arial"/>
                  </a:rPr>
                  <a:t> bisects the circumference of the circle </a:t>
                </a:r>
                <a:r>
                  <a:rPr lang="en-IN" sz="2400">
                    <a:solidFill>
                      <a:srgbClr val="111827"/>
                    </a:solidFill>
                    <a:latin typeface="Cambria Math" panose="02040503050406030204" pitchFamily="18" charset="0"/>
                  </a:rPr>
                  <a:t>$x^2+y^2-2x+8y-b=0$</a:t>
                </a:r>
                <a:r>
                  <a:rPr sz="2400" b="0">
                    <a:solidFill>
                      <a:srgbClr val="111827"/>
                    </a:solidFill>
                    <a:latin typeface="Arial"/>
                  </a:rPr>
                  <a:t> (where </a:t>
                </a:r>
                <a:r>
                  <a:rPr lang="en-IN" sz="2400">
                    <a:solidFill>
                      <a:srgbClr val="111827"/>
                    </a:solidFill>
                    <a:latin typeface="Cambria Math" panose="02040503050406030204" pitchFamily="18" charset="0"/>
                  </a:rPr>
                  <a:t>$a,b&gt;0$</a:t>
                </a:r>
                <a:r>
                  <a:rPr sz="2400" b="0">
                    <a:solidFill>
                      <a:srgbClr val="111827"/>
                    </a:solidFill>
                    <a:latin typeface="Arial"/>
                  </a:rPr>
                  <a:t>), then the maximum value of </a:t>
                </a:r>
                <a:r>
                  <a:rPr lang="en-IN" sz="2400">
                    <a:solidFill>
                      <a:srgbClr val="111827"/>
                    </a:solidFill>
                    <a:latin typeface="Cambria Math" panose="02040503050406030204" pitchFamily="18" charset="0"/>
                  </a:rPr>
                  <a:t>$(ab)$</a:t>
                </a:r>
                <a:r>
                  <a:rPr sz="2400" b="0">
                    <a:solidFill>
                      <a:srgbClr val="111827"/>
                    </a:solidFill>
                    <a:latin typeface="Arial"/>
                  </a:rPr>
                  <a:t> is </a:t>
                </a:r>
                <a:r>
                  <a:rPr lang="en-IN" sz="2400">
                    <a:solidFill>
                      <a:srgbClr val="111827"/>
                    </a:solidFill>
                    <a:latin typeface="Cambria Math" panose="02040503050406030204" pitchFamily="18" charset="0"/>
                  </a:rPr>
                  <a:t>$\lambda$</a:t>
                </a:r>
                <a:r>
                  <a:rPr sz="2400" b="0">
                    <a:solidFill>
                      <a:srgbClr val="111827"/>
                    </a:solidFill>
                    <a:latin typeface="Arial"/>
                  </a:rPr>
                  <a:t>. The plane denoted by </a:t>
                </a:r>
                <a:r>
                  <a:rPr lang="en-IN" sz="2400">
                    <a:solidFill>
                      <a:srgbClr val="111827"/>
                    </a:solidFill>
                    <a:latin typeface="Cambria Math" panose="02040503050406030204" pitchFamily="18" charset="0"/>
                  </a:rPr>
                  <a:t>$\Pi_1:\ 4x+7y+4z+81=0$</a:t>
                </a:r>
                <a:r>
                  <a:rPr sz="2400" b="0">
                    <a:solidFill>
                      <a:srgbClr val="111827"/>
                    </a:solidFill>
                    <a:latin typeface="Arial"/>
                  </a:rPr>
                  <a:t> is rotated through a right angle about its line of intersection with the plane </a:t>
                </a:r>
                <a:r>
                  <a:rPr lang="en-IN" sz="2400">
                    <a:solidFill>
                      <a:srgbClr val="111827"/>
                    </a:solidFill>
                    <a:latin typeface="Cambria Math" panose="02040503050406030204" pitchFamily="18" charset="0"/>
                  </a:rPr>
                  <a:t>$\Pi_2:\ 5x+3y+10z=\sqrt\lambda$</a:t>
                </a:r>
                <a:r>
                  <a:rPr sz="2400" b="0">
                    <a:solidFill>
                      <a:srgbClr val="111827"/>
                    </a:solidFill>
                    <a:latin typeface="Arial"/>
                  </a:rPr>
                  <a:t>. If the plane in its new position be denoted by </a:t>
                </a:r>
                <a:r>
                  <a:rPr lang="en-IN" sz="2400">
                    <a:solidFill>
                      <a:srgbClr val="111827"/>
                    </a:solidFill>
                    <a:latin typeface="Cambria Math" panose="02040503050406030204" pitchFamily="18" charset="0"/>
                  </a:rPr>
                  <a:t>$\Pi$</a:t>
                </a:r>
                <a:r>
                  <a:rPr sz="2400" b="0">
                    <a:solidFill>
                      <a:srgbClr val="111827"/>
                    </a:solidFill>
                    <a:latin typeface="Arial"/>
                  </a:rPr>
                  <a:t>, and the distance of this plane from the origin is </a:t>
                </a:r>
                <a:r>
                  <a:rPr lang="en-IN" sz="2400">
                    <a:solidFill>
                      <a:srgbClr val="111827"/>
                    </a:solidFill>
                    <a:latin typeface="Cambria Math" panose="02040503050406030204" pitchFamily="18" charset="0"/>
                  </a:rPr>
                  <a:t>$\sqrt k$</a:t>
                </a:r>
                <a:r>
                  <a:rPr sz="2400" b="0">
                    <a:solidFill>
                      <a:srgbClr val="111827"/>
                    </a:solidFill>
                    <a:latin typeface="Arial"/>
                  </a:rPr>
                  <a:t> where </a:t>
                </a:r>
                <a:r>
                  <a:rPr lang="en-IN" sz="2400">
                    <a:solidFill>
                      <a:srgbClr val="111827"/>
                    </a:solidFill>
                    <a:latin typeface="Cambria Math" panose="02040503050406030204" pitchFamily="18" charset="0"/>
                  </a:rPr>
                  <a:t>$k\in N$</a:t>
                </a:r>
                <a:r>
                  <a:rPr sz="2400" b="0">
                    <a:solidFill>
                      <a:srgbClr val="111827"/>
                    </a:solidFill>
                    <a:latin typeface="Arial"/>
                  </a:rPr>
                  <a:t>, then find </a:t>
                </a:r>
                <a:r>
                  <a:rPr lang="en-IN" sz="2400">
                    <a:solidFill>
                      <a:srgbClr val="111827"/>
                    </a:solidFill>
                    <a:latin typeface="Cambria Math" panose="02040503050406030204" pitchFamily="18" charset="0"/>
                  </a:rPr>
                  <a:t>$k$</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632452"/>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Circles bisecting circumference and AM-GM, Plane through the line of intersection of two planes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common chord passes through the centre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giving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50</m:t>
                    </m:r>
                  </m:oMath>
                </a14:m>
                <a:r>
                  <a:rPr sz="2400" b="0">
                    <a:solidFill>
                      <a:srgbClr val="78350F"/>
                    </a:solidFill>
                    <a:latin typeface="Arial"/>
                  </a:rPr>
                  <a:t>; then AM-GM gives </a:t>
                </a:r>
                <a14:m>
                  <m:oMath xmlns:m="http://schemas.openxmlformats.org/officeDocument/2006/math">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625</m:t>
                    </m:r>
                  </m:oMath>
                </a14:m>
                <a:r>
                  <a:rPr sz="2400" b="0">
                    <a:solidFill>
                      <a:srgbClr val="78350F"/>
                    </a:solidFill>
                    <a:latin typeface="Arial"/>
                  </a:rPr>
                  <a:t>; the rotated plane is </a:t>
                </a:r>
                <a14:m>
                  <m:oMath xmlns:m="http://schemas.openxmlformats.org/officeDocument/2006/math">
                    <m:sSub>
                      <m:e>
                        <m:r>
                          <m:rPr>
                            <m:sty m:val="p"/>
                          </m:rPr>
                          <a:rPr lang="en-IN" sz="2400">
                            <a:solidFill>
                              <a:srgbClr val="78350F"/>
                            </a:solidFill>
                            <a:latin typeface="Cambria Math" panose="02040503050406030204" pitchFamily="18" charset="0"/>
                          </a:rPr>
                          <m:t>Π</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μ</m:t>
                    </m:r>
                    <m:sSub>
                      <m:e>
                        <m:r>
                          <m:rPr>
                            <m:sty m:val="p"/>
                          </m:rPr>
                          <a:rPr lang="en-IN" sz="2400">
                            <a:solidFill>
                              <a:srgbClr val="78350F"/>
                            </a:solidFill>
                            <a:latin typeface="Cambria Math" panose="02040503050406030204" pitchFamily="18" charset="0"/>
                          </a:rPr>
                          <m:t>Π</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μ</m:t>
                    </m:r>
                  </m:oMath>
                </a14:m>
                <a:r>
                  <a:rPr sz="2400" b="0">
                    <a:solidFill>
                      <a:srgbClr val="78350F"/>
                    </a:solidFill>
                    <a:latin typeface="Arial"/>
                  </a:rPr>
                  <a:t> fixed by perpendicularity to </a:t>
                </a:r>
                <a14:m>
                  <m:oMath xmlns:m="http://schemas.openxmlformats.org/officeDocument/2006/math">
                    <m:sSub>
                      <m:e>
                        <m:r>
                          <m:rPr>
                            <m:sty m:val="p"/>
                          </m:rPr>
                          <a:rPr lang="en-IN" sz="2400">
                            <a:solidFill>
                              <a:srgbClr val="78350F"/>
                            </a:solidFill>
                            <a:latin typeface="Cambria Math" panose="02040503050406030204" pitchFamily="18" charset="0"/>
                          </a:rPr>
                          <m:t>Π</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common chord passes through the centre </a:t>
                </a:r>
                <a:r>
                  <a:rPr lang="en-IN" sz="2400">
                    <a:solidFill>
                      <a:srgbClr val="78350F"/>
                    </a:solidFill>
                    <a:latin typeface="Cambria Math" panose="02040503050406030204" pitchFamily="18" charset="0"/>
                  </a:rPr>
                  <a:t>$(1,-4)$</a:t>
                </a:r>
                <a:r>
                  <a:rPr sz="2400" b="0">
                    <a:solidFill>
                      <a:srgbClr val="78350F"/>
                    </a:solidFill>
                    <a:latin typeface="Arial"/>
                  </a:rPr>
                  <a:t> giving </a:t>
                </a:r>
                <a:r>
                  <a:rPr lang="en-IN" sz="2400">
                    <a:solidFill>
                      <a:srgbClr val="78350F"/>
                    </a:solidFill>
                    <a:latin typeface="Cambria Math" panose="02040503050406030204" pitchFamily="18" charset="0"/>
                  </a:rPr>
                  <a:t>$a+b=50$</a:t>
                </a:r>
                <a:r>
                  <a:rPr sz="2400" b="0">
                    <a:solidFill>
                      <a:srgbClr val="78350F"/>
                    </a:solidFill>
                    <a:latin typeface="Arial"/>
                  </a:rPr>
                  <a:t>; then AM-GM gives </a:t>
                </a:r>
                <a:r>
                  <a:rPr lang="en-IN" sz="2400">
                    <a:solidFill>
                      <a:srgbClr val="78350F"/>
                    </a:solidFill>
                    <a:latin typeface="Cambria Math" panose="02040503050406030204" pitchFamily="18" charset="0"/>
                  </a:rPr>
                  <a:t>$ab\le625$</a:t>
                </a:r>
                <a:r>
                  <a:rPr sz="2400" b="0">
                    <a:solidFill>
                      <a:srgbClr val="78350F"/>
                    </a:solidFill>
                    <a:latin typeface="Arial"/>
                  </a:rPr>
                  <a:t>; the rotated plane is </a:t>
                </a:r>
                <a:r>
                  <a:rPr lang="en-IN" sz="2400">
                    <a:solidFill>
                      <a:srgbClr val="78350F"/>
                    </a:solidFill>
                    <a:latin typeface="Cambria Math" panose="02040503050406030204" pitchFamily="18" charset="0"/>
                  </a:rPr>
                  <a:t>$\Pi_1+\mu\Pi_2$</a:t>
                </a:r>
                <a:r>
                  <a:rPr sz="2400" b="0">
                    <a:solidFill>
                      <a:srgbClr val="78350F"/>
                    </a:solidFill>
                    <a:latin typeface="Arial"/>
                  </a:rPr>
                  <a:t> with </a:t>
                </a:r>
                <a:r>
                  <a:rPr lang="en-IN" sz="2400">
                    <a:solidFill>
                      <a:srgbClr val="78350F"/>
                    </a:solidFill>
                    <a:latin typeface="Cambria Math" panose="02040503050406030204" pitchFamily="18" charset="0"/>
                  </a:rPr>
                  <a:t>$\mu$</a:t>
                </a:r>
                <a:r>
                  <a:rPr sz="2400" b="0">
                    <a:solidFill>
                      <a:srgbClr val="78350F"/>
                    </a:solidFill>
                    <a:latin typeface="Arial"/>
                  </a:rPr>
                  <a:t> fixed by perpendicularity to </a:t>
                </a:r>
                <a:r>
                  <a:rPr lang="en-IN" sz="2400">
                    <a:solidFill>
                      <a:srgbClr val="78350F"/>
                    </a:solidFill>
                    <a:latin typeface="Cambria Math" panose="02040503050406030204" pitchFamily="18" charset="0"/>
                  </a:rPr>
                  <a:t>$\Pi_1$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common chord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must pass through the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the second circle: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AM-GM,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e>
                    </m:ra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625</m:t>
                    </m:r>
                  </m:oMath>
                </a14:m>
                <a:r>
                  <a:rPr sz="2400" b="0">
                    <a:solidFill>
                      <a:srgbClr val="111827"/>
                    </a:solidFill>
                    <a:latin typeface="Arial"/>
                  </a:rPr>
                  <a:t>; the maximum is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625</m:t>
                    </m:r>
                  </m:oMath>
                </a14:m>
                <a:r>
                  <a:rPr sz="2400" b="0">
                    <a:solidFill>
                      <a:srgbClr val="111827"/>
                    </a:solidFill>
                    <a:latin typeface="Arial"/>
                  </a:rPr>
                  <a:t> and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λ</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m:rPr>
                            <m:sty m:val="p"/>
                          </m:rPr>
                          <a:rPr lang="en-IN" sz="2400">
                            <a:solidFill>
                              <a:srgbClr val="111827"/>
                            </a:solidFill>
                            <a:latin typeface="Cambria Math" panose="02040503050406030204" pitchFamily="18" charset="0"/>
                          </a:rPr>
                          <m:t>Π</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 plane through the line of intersection: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common chord </a:t>
                </a:r>
                <a:r>
                  <a:rPr lang="en-IN" sz="2400">
                    <a:solidFill>
                      <a:srgbClr val="111827"/>
                    </a:solidFill>
                    <a:latin typeface="Cambria Math" panose="02040503050406030204" pitchFamily="18" charset="0"/>
                  </a:rPr>
                  <a:t>$S_1-S_2=0$</a:t>
                </a:r>
                <a:r>
                  <a:rPr sz="2400" b="0">
                    <a:solidFill>
                      <a:srgbClr val="111827"/>
                    </a:solidFill>
                    <a:latin typeface="Arial"/>
                  </a:rPr>
                  <a:t> is </a:t>
                </a:r>
                <a:r>
                  <a:rPr lang="en-IN" sz="2400">
                    <a:solidFill>
                      <a:srgbClr val="111827"/>
                    </a:solidFill>
                    <a:latin typeface="Cambria Math" panose="02040503050406030204" pitchFamily="18" charset="0"/>
                  </a:rPr>
                  <a:t>$6x+14y+a+b=0$</a:t>
                </a:r>
                <a:r>
                  <a:rPr sz="2400" b="0">
                    <a:solidFill>
                      <a:srgbClr val="111827"/>
                    </a:solidFill>
                    <a:latin typeface="Arial"/>
                  </a:rPr>
                  <a:t> and must pass through the centre </a:t>
                </a:r>
                <a:r>
                  <a:rPr lang="en-IN" sz="2400">
                    <a:solidFill>
                      <a:srgbClr val="111827"/>
                    </a:solidFill>
                    <a:latin typeface="Cambria Math" panose="02040503050406030204" pitchFamily="18" charset="0"/>
                  </a:rPr>
                  <a:t>$(1,-4)$</a:t>
                </a:r>
                <a:r>
                  <a:rPr sz="2400" b="0">
                    <a:solidFill>
                      <a:srgbClr val="111827"/>
                    </a:solidFill>
                    <a:latin typeface="Arial"/>
                  </a:rPr>
                  <a:t> of the second circle: </a:t>
                </a:r>
                <a:r>
                  <a:rPr lang="en-IN" sz="2400">
                    <a:solidFill>
                      <a:srgbClr val="111827"/>
                    </a:solidFill>
                    <a:latin typeface="Cambria Math" panose="02040503050406030204" pitchFamily="18" charset="0"/>
                  </a:rPr>
                  <a:t>$6-56+a+b=0\Rightarrow a+b=50$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AM-GM, </a:t>
                </a:r>
                <a:r>
                  <a:rPr lang="en-IN" sz="2400">
                    <a:solidFill>
                      <a:srgbClr val="111827"/>
                    </a:solidFill>
                    <a:latin typeface="Cambria Math" panose="02040503050406030204" pitchFamily="18" charset="0"/>
                  </a:rPr>
                  <a:t>$\frac{a+b}{2}\ge\sqrt{ab}$</a:t>
                </a:r>
                <a:r>
                  <a:rPr sz="2400" b="0">
                    <a:solidFill>
                      <a:srgbClr val="111827"/>
                    </a:solidFill>
                    <a:latin typeface="Arial"/>
                  </a:rPr>
                  <a:t>, so </a:t>
                </a:r>
                <a:r>
                  <a:rPr lang="en-IN" sz="2400">
                    <a:solidFill>
                      <a:srgbClr val="111827"/>
                    </a:solidFill>
                    <a:latin typeface="Cambria Math" panose="02040503050406030204" pitchFamily="18" charset="0"/>
                  </a:rPr>
                  <a:t>$ab\le25^2=625$</a:t>
                </a:r>
                <a:r>
                  <a:rPr sz="2400" b="0">
                    <a:solidFill>
                      <a:srgbClr val="111827"/>
                    </a:solidFill>
                    <a:latin typeface="Arial"/>
                  </a:rPr>
                  <a:t>; the maximum is </a:t>
                </a:r>
                <a:r>
                  <a:rPr lang="en-IN" sz="2400">
                    <a:solidFill>
                      <a:srgbClr val="111827"/>
                    </a:solidFill>
                    <a:latin typeface="Cambria Math" panose="02040503050406030204" pitchFamily="18" charset="0"/>
                  </a:rPr>
                  <a:t>$\lambda=625$</a:t>
                </a:r>
                <a:r>
                  <a:rPr sz="2400" b="0">
                    <a:solidFill>
                      <a:srgbClr val="111827"/>
                    </a:solidFill>
                    <a:latin typeface="Arial"/>
                  </a:rPr>
                  <a:t> and </a:t>
                </a:r>
                <a:r>
                  <a:rPr lang="en-IN" sz="2400">
                    <a:solidFill>
                      <a:srgbClr val="111827"/>
                    </a:solidFill>
                    <a:latin typeface="Cambria Math" panose="02040503050406030204" pitchFamily="18" charset="0"/>
                  </a:rPr>
                  <a:t>$\sqrt\lambda=25$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$\Pi_2:\ 5x+3y+10z-25=0$</a:t>
                </a:r>
                <a:r>
                  <a:rPr sz="2400" b="0">
                    <a:solidFill>
                      <a:srgbClr val="111827"/>
                    </a:solidFill>
                    <a:latin typeface="Arial"/>
                  </a:rPr>
                  <a:t>. A plane through the line of intersection: </a:t>
                </a:r>
                <a:r>
                  <a:rPr lang="en-IN" sz="2400">
                    <a:solidFill>
                      <a:srgbClr val="111827"/>
                    </a:solidFill>
                    <a:latin typeface="Cambria Math" panose="02040503050406030204" pitchFamily="18" charset="0"/>
                  </a:rPr>
                  <a:t>$(4x+7y+4z+81)+\mu(5x+3y+10z-25)=0$</a:t>
                </a:r>
                <a:r>
                  <a:rPr sz="2400" b="0">
                    <a:solidFill>
                      <a:srgbClr val="111827"/>
                    </a:solidFill>
                    <a:latin typeface="Arial"/>
                  </a:rPr>
                  <a:t>, i.e. </a:t>
                </a:r>
                <a:r>
                  <a:rPr lang="en-IN" sz="2400">
                    <a:solidFill>
                      <a:srgbClr val="111827"/>
                    </a:solidFill>
                    <a:latin typeface="Cambria Math" panose="02040503050406030204" pitchFamily="18" charset="0"/>
                  </a:rPr>
                  <a:t>$(5\mu+4)x+(3\mu+7)y+(10\mu+4)z+81-25\mu=0$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Perpendicular to </a:t>
                </a:r>
                <a14:m>
                  <m:oMath xmlns:m="http://schemas.openxmlformats.org/officeDocument/2006/math">
                    <m:sSub>
                      <m:e>
                        <m:r>
                          <m:rPr>
                            <m:sty m:val="p"/>
                          </m:rPr>
                          <a:rPr lang="en-IN" sz="2400">
                            <a:solidFill>
                              <a:srgbClr val="111827"/>
                            </a:solidFill>
                            <a:latin typeface="Cambria Math" panose="02040503050406030204" pitchFamily="18" charset="0"/>
                          </a:rPr>
                          <m:t>Π</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New plane: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106</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106</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53</m:t>
                            </m:r>
                          </m:e>
                        </m:rad>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106</m:t>
                            </m:r>
                          </m:num>
                          <m:den>
                            <m:r>
                              <a:rPr lang="en-IN" sz="2400" i="1">
                                <a:solidFill>
                                  <a:srgbClr val="111827"/>
                                </a:solidFill>
                                <a:latin typeface="Cambria Math" panose="02040503050406030204" pitchFamily="18" charset="0"/>
                              </a:rPr>
                              <m:t>53</m:t>
                            </m:r>
                          </m:den>
                        </m:f>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212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Perpendicular to </a:t>
                </a:r>
                <a:r>
                  <a:rPr lang="en-IN" sz="2400">
                    <a:solidFill>
                      <a:srgbClr val="111827"/>
                    </a:solidFill>
                    <a:latin typeface="Cambria Math" panose="02040503050406030204" pitchFamily="18" charset="0"/>
                  </a:rPr>
                  <a:t>$\Pi_1$</a:t>
                </a:r>
                <a:r>
                  <a:rPr sz="2400" b="0">
                    <a:solidFill>
                      <a:srgbClr val="111827"/>
                    </a:solidFill>
                    <a:latin typeface="Arial"/>
                  </a:rPr>
                  <a:t>: </a:t>
                </a:r>
                <a:r>
                  <a:rPr lang="en-IN" sz="2400">
                    <a:solidFill>
                      <a:srgbClr val="111827"/>
                    </a:solidFill>
                    <a:latin typeface="Cambria Math" panose="02040503050406030204" pitchFamily="18" charset="0"/>
                  </a:rPr>
                  <a:t>$4(5\mu+4)+7(3\mu+7)+4(10\mu+4)=0\Rightarrow81\mu+81=0\Rightarrow\mu=-1$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New plane: </a:t>
                </a:r>
                <a:r>
                  <a:rPr lang="en-IN" sz="2400">
                    <a:solidFill>
                      <a:srgbClr val="111827"/>
                    </a:solidFill>
                    <a:latin typeface="Cambria Math" panose="02040503050406030204" pitchFamily="18" charset="0"/>
                  </a:rPr>
                  <a:t>$-x+4y-6z+106=0$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from </a:t>
                </a:r>
                <a:r>
                  <a:rPr lang="en-IN" sz="2400">
                    <a:solidFill>
                      <a:srgbClr val="111827"/>
                    </a:solidFill>
                    <a:latin typeface="Cambria Math" panose="02040503050406030204" pitchFamily="18" charset="0"/>
                  </a:rPr>
                  <a:t>$(0,0,0)$</a:t>
                </a:r>
                <a:r>
                  <a:rPr sz="2400" b="0">
                    <a:solidFill>
                      <a:srgbClr val="111827"/>
                    </a:solidFill>
                    <a:latin typeface="Arial"/>
                  </a:rPr>
                  <a:t>: </a:t>
                </a:r>
                <a:r>
                  <a:rPr lang="en-IN" sz="2400">
                    <a:solidFill>
                      <a:srgbClr val="111827"/>
                    </a:solidFill>
                    <a:latin typeface="Cambria Math" panose="02040503050406030204" pitchFamily="18" charset="0"/>
                  </a:rPr>
                  <a:t>$\frac{106}{\sqrt{1+16+36}}=\frac{106}{\sqrt{53}}=\sqrt{\frac{106\times106}{53}}=\sqrt{212}$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$k=212$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212</a:t>
            </a:r>
            <a:endParaRPr sz="2800">
              <a:solidFill>
                <a:srgbClr val="15803D"/>
              </a:solidFill>
            </a:endParaRP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the new plane from its normal: perpendicular to </a:t>
                </a:r>
                <a14:m>
                  <m:oMath xmlns:m="http://schemas.openxmlformats.org/officeDocument/2006/math">
                    <m:sSub>
                      <m:e>
                        <m:r>
                          <m:rPr>
                            <m:sty m:val="p"/>
                          </m:rPr>
                          <a:rPr lang="en-IN" sz="2400">
                            <a:solidFill>
                              <a:srgbClr val="78350F"/>
                            </a:solidFill>
                            <a:latin typeface="Cambria Math" panose="02040503050406030204" pitchFamily="18" charset="0"/>
                          </a:rPr>
                          <m:t>Π</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and containing the line, so its normal is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oMath>
                </a14:m>
                <a:r>
                  <a:rPr sz="2400" b="0">
                    <a:solidFill>
                      <a:srgbClr val="78350F"/>
                    </a:solidFill>
                    <a:latin typeface="Arial"/>
                  </a:rPr>
                  <a:t>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𝑛</m:t>
                            </m:r>
                          </m:e>
                        </m:acc>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the line direction.</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the new plane from its normal: perpendicular to </a:t>
                </a:r>
                <a:r>
                  <a:rPr lang="en-IN" sz="2400">
                    <a:solidFill>
                      <a:srgbClr val="78350F"/>
                    </a:solidFill>
                    <a:latin typeface="Cambria Math" panose="02040503050406030204" pitchFamily="18" charset="0"/>
                  </a:rPr>
                  <a:t>$\Pi_1$</a:t>
                </a:r>
                <a:r>
                  <a:rPr sz="2400" b="0">
                    <a:solidFill>
                      <a:srgbClr val="78350F"/>
                    </a:solidFill>
                    <a:latin typeface="Arial"/>
                  </a:rPr>
                  <a:t> and containing the line, so its normal is </a:t>
                </a:r>
                <a:r>
                  <a:rPr lang="en-IN" sz="2400">
                    <a:solidFill>
                      <a:srgbClr val="78350F"/>
                    </a:solidFill>
                    <a:latin typeface="Cambria Math" panose="02040503050406030204" pitchFamily="18" charset="0"/>
                  </a:rPr>
                  <a:t>$\vec n_1\times\vec d$</a:t>
                </a:r>
                <a:r>
                  <a:rPr sz="2400" b="0">
                    <a:solidFill>
                      <a:srgbClr val="78350F"/>
                    </a:solidFill>
                    <a:latin typeface="Arial"/>
                  </a:rPr>
                  <a:t> with </a:t>
                </a:r>
                <a:r>
                  <a:rPr lang="en-IN" sz="2400">
                    <a:solidFill>
                      <a:srgbClr val="78350F"/>
                    </a:solidFill>
                    <a:latin typeface="Cambria Math" panose="02040503050406030204" pitchFamily="18" charset="0"/>
                  </a:rPr>
                  <a:t>$\vec d=\vec n_1\times\vec n_2$</a:t>
                </a:r>
                <a:r>
                  <a:rPr sz="2400" b="0">
                    <a:solidFill>
                      <a:srgbClr val="78350F"/>
                    </a:solidFill>
                    <a:latin typeface="Arial"/>
                  </a:rPr>
                  <a:t> the line direction.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line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of the rotated plane: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n_1=(4,7,4)$</a:t>
                </a:r>
                <a:r>
                  <a:rPr sz="2400" b="0">
                    <a:solidFill>
                      <a:srgbClr val="111827"/>
                    </a:solidFill>
                    <a:latin typeface="Arial"/>
                  </a:rPr>
                  <a:t>, </a:t>
                </a:r>
                <a:r>
                  <a:rPr lang="en-IN" sz="2400">
                    <a:solidFill>
                      <a:srgbClr val="111827"/>
                    </a:solidFill>
                    <a:latin typeface="Cambria Math" panose="02040503050406030204" pitchFamily="18" charset="0"/>
                  </a:rPr>
                  <a:t>$\vec n_2=(5,3,10)$</a:t>
                </a:r>
                <a:r>
                  <a:rPr sz="2400" b="0">
                    <a:solidFill>
                      <a:srgbClr val="111827"/>
                    </a:solidFill>
                    <a:latin typeface="Arial"/>
                  </a:rPr>
                  <a:t>, line direction </a:t>
                </a:r>
                <a:r>
                  <a:rPr lang="en-IN" sz="2400">
                    <a:solidFill>
                      <a:srgbClr val="111827"/>
                    </a:solidFill>
                    <a:latin typeface="Cambria Math" panose="02040503050406030204" pitchFamily="18" charset="0"/>
                  </a:rPr>
                  <a:t>$\vec d=\vec n_1\times\vec n_2=(58,-20,-23)$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of the rotated plane: </a:t>
                </a:r>
                <a:r>
                  <a:rPr lang="en-IN" sz="2400">
                    <a:solidFill>
                      <a:srgbClr val="111827"/>
                    </a:solidFill>
                    <a:latin typeface="Cambria Math" panose="02040503050406030204" pitchFamily="18" charset="0"/>
                  </a:rPr>
                  <a:t>$\vec n_1\times\vec d=(-81,324,-486)=-81(1,-4,6)$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point on the line (set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505</m:t>
                        </m:r>
                      </m:num>
                      <m:den>
                        <m:r>
                          <a:rPr lang="en-IN" sz="2400" i="1">
                            <a:solidFill>
                              <a:srgbClr val="111827"/>
                            </a:solidFill>
                            <a:latin typeface="Cambria Math" panose="02040503050406030204" pitchFamily="18" charset="0"/>
                          </a:rPr>
                          <m:t>23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418</m:t>
                        </m:r>
                      </m:num>
                      <m:den>
                        <m:r>
                          <a:rPr lang="en-IN" sz="2400" i="1">
                            <a:solidFill>
                              <a:srgbClr val="111827"/>
                            </a:solidFill>
                            <a:latin typeface="Cambria Math" panose="02040503050406030204" pitchFamily="18" charset="0"/>
                          </a:rPr>
                          <m:t>23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2020</m:t>
                        </m:r>
                      </m:num>
                      <m:den>
                        <m:r>
                          <a:rPr lang="en-IN" sz="2400" i="1">
                            <a:solidFill>
                              <a:srgbClr val="111827"/>
                            </a:solidFill>
                            <a:latin typeface="Cambria Math" panose="02040503050406030204" pitchFamily="18" charset="0"/>
                          </a:rPr>
                          <m:t>23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106</m:t>
                    </m:r>
                  </m:oMath>
                </a14:m>
                <a:r>
                  <a:rPr sz="2400" b="0">
                    <a:solidFill>
                      <a:srgbClr val="111827"/>
                    </a:solidFill>
                    <a:latin typeface="Arial"/>
                  </a:rPr>
                  <a:t>; distance from origin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106</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53</m:t>
                            </m:r>
                          </m:e>
                        </m:rad>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212</m:t>
                        </m:r>
                      </m:e>
                    </m:ra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point on the line (set </a:t>
                </a:r>
                <a:r>
                  <a:rPr lang="en-IN" sz="2400">
                    <a:solidFill>
                      <a:srgbClr val="111827"/>
                    </a:solidFill>
                    <a:latin typeface="Cambria Math" panose="02040503050406030204" pitchFamily="18" charset="0"/>
                  </a:rPr>
                  <a:t>$z=0$</a:t>
                </a:r>
                <a:r>
                  <a:rPr sz="2400" b="0">
                    <a:solidFill>
                      <a:srgbClr val="111827"/>
                    </a:solidFill>
                    <a:latin typeface="Arial"/>
                  </a:rPr>
                  <a:t>): </a:t>
                </a:r>
                <a:r>
                  <a:rPr lang="en-IN" sz="2400">
                    <a:solidFill>
                      <a:srgbClr val="111827"/>
                    </a:solidFill>
                    <a:latin typeface="Cambria Math" panose="02040503050406030204" pitchFamily="18" charset="0"/>
                  </a:rPr>
                  <a:t>$4x+7y=-81$</a:t>
                </a:r>
                <a:r>
                  <a:rPr sz="2400" b="0">
                    <a:solidFill>
                      <a:srgbClr val="111827"/>
                    </a:solidFill>
                    <a:latin typeface="Arial"/>
                  </a:rPr>
                  <a:t>, </a:t>
                </a:r>
                <a:r>
                  <a:rPr lang="en-IN" sz="2400">
                    <a:solidFill>
                      <a:srgbClr val="111827"/>
                    </a:solidFill>
                    <a:latin typeface="Cambria Math" panose="02040503050406030204" pitchFamily="18" charset="0"/>
                  </a:rPr>
                  <a:t>$5x+3y=25\Rightarrow y=-\frac{505}{23},\ x=\frac{418}{23}$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Plane: </a:t>
                </a:r>
                <a:r>
                  <a:rPr lang="en-IN" sz="2400">
                    <a:solidFill>
                      <a:srgbClr val="111827"/>
                    </a:solidFill>
                    <a:latin typeface="Cambria Math" panose="02040503050406030204" pitchFamily="18" charset="0"/>
                  </a:rPr>
                  <a:t>$x-4y+6z=\frac{418+2020}{23}=106$</a:t>
                </a:r>
                <a:r>
                  <a:rPr sz="2400" b="0">
                    <a:solidFill>
                      <a:srgbClr val="111827"/>
                    </a:solidFill>
                    <a:latin typeface="Arial"/>
                  </a:rPr>
                  <a:t>; distance from origin </a:t>
                </a:r>
                <a:r>
                  <a:rPr lang="en-IN" sz="2400">
                    <a:solidFill>
                      <a:srgbClr val="111827"/>
                    </a:solidFill>
                    <a:latin typeface="Cambria Math" panose="02040503050406030204" pitchFamily="18" charset="0"/>
                  </a:rPr>
                  <a:t>$=\frac{106}{\sqrt{53}}=\sqrt{212}$</a:t>
                </a:r>
                <a:r>
                  <a:rPr sz="2400" b="0">
                    <a:solidFill>
                      <a:srgbClr val="111827"/>
                    </a:solidFill>
                    <a:latin typeface="Arial"/>
                  </a:rPr>
                  <a:t>, so </a:t>
                </a:r>
                <a:r>
                  <a:rPr lang="en-IN" sz="2400">
                    <a:solidFill>
                      <a:srgbClr val="111827"/>
                    </a:solidFill>
                    <a:latin typeface="Cambria Math" panose="02040503050406030204" pitchFamily="18" charset="0"/>
                  </a:rPr>
                  <a:t>$k=212$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212</a:t>
            </a:r>
            <a:endParaRPr sz="2800">
              <a:solidFill>
                <a:srgbClr val="15803D"/>
              </a:solidFill>
            </a:endParaRP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Any plane through the line of intersection of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imposing perpendicularity to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one linear equation in </a:t>
                </a:r>
                <a14:m>
                  <m:oMath xmlns:m="http://schemas.openxmlformats.org/officeDocument/2006/math">
                    <m:r>
                      <a:rPr lang="en-IN" sz="2400" i="1">
                        <a:solidFill>
                          <a:srgbClr val="111827"/>
                        </a:solidFill>
                        <a:latin typeface="Cambria Math" panose="02040503050406030204" pitchFamily="18" charset="0"/>
                      </a:rPr>
                      <m:t>μ</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through a line perpendicular to a given plane has normal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 direction of the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AM-GM: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𝑆</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Any plane through the line of intersection of </a:t>
                </a:r>
                <a:r>
                  <a:rPr lang="en-IN" sz="2400">
                    <a:solidFill>
                      <a:srgbClr val="111827"/>
                    </a:solidFill>
                    <a:latin typeface="Cambria Math" panose="02040503050406030204" pitchFamily="18" charset="0"/>
                  </a:rPr>
                  <a:t>$P_1=0$</a:t>
                </a:r>
                <a:r>
                  <a:rPr sz="2400" b="0">
                    <a:solidFill>
                      <a:srgbClr val="111827"/>
                    </a:solidFill>
                    <a:latin typeface="Arial"/>
                  </a:rPr>
                  <a:t> and </a:t>
                </a:r>
                <a:r>
                  <a:rPr lang="en-IN" sz="2400">
                    <a:solidFill>
                      <a:srgbClr val="111827"/>
                    </a:solidFill>
                    <a:latin typeface="Cambria Math" panose="02040503050406030204" pitchFamily="18" charset="0"/>
                  </a:rPr>
                  <a:t>$P_2=0$</a:t>
                </a:r>
                <a:r>
                  <a:rPr sz="2400" b="0">
                    <a:solidFill>
                      <a:srgbClr val="111827"/>
                    </a:solidFill>
                    <a:latin typeface="Arial"/>
                  </a:rPr>
                  <a:t> is </a:t>
                </a:r>
                <a:r>
                  <a:rPr lang="en-IN" sz="2400">
                    <a:solidFill>
                      <a:srgbClr val="111827"/>
                    </a:solidFill>
                    <a:latin typeface="Cambria Math" panose="02040503050406030204" pitchFamily="18" charset="0"/>
                  </a:rPr>
                  <a:t>$P_1+\mu P_2=0$</a:t>
                </a:r>
                <a:r>
                  <a:rPr sz="2400" b="0">
                    <a:solidFill>
                      <a:srgbClr val="111827"/>
                    </a:solidFill>
                    <a:latin typeface="Arial"/>
                  </a:rPr>
                  <a:t>; imposing perpendicularity to </a:t>
                </a:r>
                <a:r>
                  <a:rPr lang="en-IN" sz="2400">
                    <a:solidFill>
                      <a:srgbClr val="111827"/>
                    </a:solidFill>
                    <a:latin typeface="Cambria Math" panose="02040503050406030204" pitchFamily="18" charset="0"/>
                  </a:rPr>
                  <a:t>$P_1$</a:t>
                </a:r>
                <a:r>
                  <a:rPr sz="2400" b="0">
                    <a:solidFill>
                      <a:srgbClr val="111827"/>
                    </a:solidFill>
                    <a:latin typeface="Arial"/>
                  </a:rPr>
                  <a:t> is one linear equation in </a:t>
                </a:r>
                <a:r>
                  <a:rPr lang="en-IN" sz="2400">
                    <a:solidFill>
                      <a:srgbClr val="111827"/>
                    </a:solidFill>
                    <a:latin typeface="Cambria Math" panose="02040503050406030204" pitchFamily="18" charset="0"/>
                  </a:rPr>
                  <a:t>$\mu$</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through a line perpendicular to a given plane has normal </a:t>
                </a:r>
                <a:r>
                  <a:rPr lang="en-IN" sz="2400">
                    <a:solidFill>
                      <a:srgbClr val="111827"/>
                    </a:solidFill>
                    <a:latin typeface="Cambria Math" panose="02040503050406030204" pitchFamily="18" charset="0"/>
                  </a:rPr>
                  <a:t>$\vec n_1\times\vec d$</a:t>
                </a:r>
                <a:r>
                  <a:rPr sz="2400" b="0">
                    <a:solidFill>
                      <a:srgbClr val="111827"/>
                    </a:solidFill>
                    <a:latin typeface="Arial"/>
                  </a:rPr>
                  <a:t> (</a:t>
                </a:r>
                <a:r>
                  <a:rPr lang="en-IN" sz="2400">
                    <a:solidFill>
                      <a:srgbClr val="111827"/>
                    </a:solidFill>
                    <a:latin typeface="Cambria Math" panose="02040503050406030204" pitchFamily="18" charset="0"/>
                  </a:rPr>
                  <a:t>$\vec d$</a:t>
                </a:r>
                <a:r>
                  <a:rPr sz="2400" b="0">
                    <a:solidFill>
                      <a:srgbClr val="111827"/>
                    </a:solidFill>
                    <a:latin typeface="Arial"/>
                  </a:rPr>
                  <a:t> = direction of the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AM-GM: </a:t>
                </a:r>
                <a:r>
                  <a:rPr lang="en-IN" sz="2400">
                    <a:solidFill>
                      <a:srgbClr val="111827"/>
                    </a:solidFill>
                    <a:latin typeface="Cambria Math" panose="02040503050406030204" pitchFamily="18" charset="0"/>
                  </a:rPr>
                  <a:t>$a+b=S$</a:t>
                </a:r>
                <a:r>
                  <a:rPr sz="2400" b="0">
                    <a:solidFill>
                      <a:srgbClr val="111827"/>
                    </a:solidFill>
                    <a:latin typeface="Arial"/>
                  </a:rPr>
                  <a:t> with </a:t>
                </a:r>
                <a:r>
                  <a:rPr lang="en-IN" sz="2400">
                    <a:solidFill>
                      <a:srgbClr val="111827"/>
                    </a:solidFill>
                    <a:latin typeface="Cambria Math" panose="02040503050406030204" pitchFamily="18" charset="0"/>
                  </a:rPr>
                  <a:t>$a,b&gt;0$</a:t>
                </a:r>
                <a:r>
                  <a:rPr sz="2400" b="0">
                    <a:solidFill>
                      <a:srgbClr val="111827"/>
                    </a:solidFill>
                    <a:latin typeface="Arial"/>
                  </a:rPr>
                  <a:t> gives </a:t>
                </a:r>
                <a:r>
                  <a:rPr lang="en-IN" sz="2400">
                    <a:solidFill>
                      <a:srgbClr val="111827"/>
                    </a:solidFill>
                    <a:latin typeface="Cambria Math" panose="02040503050406030204" pitchFamily="18" charset="0"/>
                  </a:rPr>
                  <a:t>$ab\le\frac{S^2}{4}$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are mutually perpendicular vectors such that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and a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where magnitude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then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𝑀</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100</m:t>
                        </m:r>
                      </m:den>
                    </m:f>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a,\vec b$</a:t>
                </a:r>
                <a:r>
                  <a:rPr sz="2400" b="0">
                    <a:solidFill>
                      <a:srgbClr val="111827"/>
                    </a:solidFill>
                    <a:latin typeface="Arial"/>
                  </a:rPr>
                  <a:t> and </a:t>
                </a:r>
                <a:r>
                  <a:rPr lang="en-IN" sz="2400">
                    <a:solidFill>
                      <a:srgbClr val="111827"/>
                    </a:solidFill>
                    <a:latin typeface="Cambria Math" panose="02040503050406030204" pitchFamily="18" charset="0"/>
                  </a:rPr>
                  <a:t>$\vec c$</a:t>
                </a:r>
                <a:r>
                  <a:rPr sz="2400" b="0">
                    <a:solidFill>
                      <a:srgbClr val="111827"/>
                    </a:solidFill>
                    <a:latin typeface="Arial"/>
                  </a:rPr>
                  <a:t> are mutually perpendicular vectors such that </a:t>
                </a:r>
                <a:r>
                  <a:rPr lang="en-IN" sz="2400">
                    <a:solidFill>
                      <a:srgbClr val="111827"/>
                    </a:solidFill>
                    <a:latin typeface="Cambria Math" panose="02040503050406030204" pitchFamily="18" charset="0"/>
                  </a:rPr>
                  <a:t>$|\vec a|=\sqrt6$</a:t>
                </a:r>
                <a:r>
                  <a:rPr sz="2400" b="0">
                    <a:solidFill>
                      <a:srgbClr val="111827"/>
                    </a:solidFill>
                    <a:latin typeface="Arial"/>
                  </a:rPr>
                  <a:t>, </a:t>
                </a:r>
                <a:r>
                  <a:rPr lang="en-IN" sz="2400">
                    <a:solidFill>
                      <a:srgbClr val="111827"/>
                    </a:solidFill>
                    <a:latin typeface="Cambria Math" panose="02040503050406030204" pitchFamily="18" charset="0"/>
                  </a:rPr>
                  <a:t>$|\vec b|=\sqrt2$</a:t>
                </a:r>
                <a:r>
                  <a:rPr sz="2400" b="0">
                    <a:solidFill>
                      <a:srgbClr val="111827"/>
                    </a:solidFill>
                    <a:latin typeface="Arial"/>
                  </a:rPr>
                  <a:t>, </a:t>
                </a:r>
                <a:r>
                  <a:rPr lang="en-IN" sz="2400">
                    <a:solidFill>
                      <a:srgbClr val="111827"/>
                    </a:solidFill>
                    <a:latin typeface="Cambria Math" panose="02040503050406030204" pitchFamily="18" charset="0"/>
                  </a:rPr>
                  <a:t>$|\vec c|=\sqrt3$</a:t>
                </a:r>
                <a:r>
                  <a:rPr sz="2400" b="0">
                    <a:solidFill>
                      <a:srgbClr val="111827"/>
                    </a:solidFill>
                    <a:latin typeface="Arial"/>
                  </a:rPr>
                  <a:t> and a vector </a:t>
                </a:r>
                <a:r>
                  <a:rPr lang="en-IN" sz="2400">
                    <a:solidFill>
                      <a:srgbClr val="111827"/>
                    </a:solidFill>
                    <a:latin typeface="Cambria Math" panose="02040503050406030204" pitchFamily="18" charset="0"/>
                  </a:rPr>
                  <a:t>$\vec v=(\vec a\times(\vec a\times\vec b))\times\vec c+(\vec b\times(\vec b\times\vec c))\times\vec a+(\vec c\times(\vec c\times\vec a))\times\vec b$</a:t>
                </a:r>
                <a:r>
                  <a:rPr sz="2400" b="0">
                    <a:solidFill>
                      <a:srgbClr val="111827"/>
                    </a:solidFill>
                    <a:latin typeface="Arial"/>
                  </a:rPr>
                  <a:t> where magnitude of </a:t>
                </a:r>
                <a:r>
                  <a:rPr lang="en-IN" sz="2400">
                    <a:solidFill>
                      <a:srgbClr val="111827"/>
                    </a:solidFill>
                    <a:latin typeface="Cambria Math" panose="02040503050406030204" pitchFamily="18" charset="0"/>
                  </a:rPr>
                  <a:t>$\vec v$</a:t>
                </a:r>
                <a:r>
                  <a:rPr sz="2400" b="0">
                    <a:solidFill>
                      <a:srgbClr val="111827"/>
                    </a:solidFill>
                    <a:latin typeface="Arial"/>
                  </a:rPr>
                  <a:t> is </a:t>
                </a:r>
                <a:r>
                  <a:rPr lang="en-IN" sz="2400">
                    <a:solidFill>
                      <a:srgbClr val="111827"/>
                    </a:solidFill>
                    <a:latin typeface="Cambria Math" panose="02040503050406030204" pitchFamily="18" charset="0"/>
                  </a:rPr>
                  <a:t>$M$</a:t>
                </a:r>
                <a:r>
                  <a:rPr sz="2400" b="0">
                    <a:solidFill>
                      <a:srgbClr val="111827"/>
                    </a:solidFill>
                    <a:latin typeface="Arial"/>
                  </a:rPr>
                  <a:t> then </a:t>
                </a:r>
                <a:r>
                  <a:rPr lang="en-IN" sz="2400">
                    <a:solidFill>
                      <a:srgbClr val="111827"/>
                    </a:solidFill>
                    <a:latin typeface="Cambria Math" panose="02040503050406030204" pitchFamily="18" charset="0"/>
                  </a:rPr>
                  <a:t>$\frac{M^2}{100}$</a:t>
                </a:r>
                <a:r>
                  <a:rPr sz="2400" b="0">
                    <a:solidFill>
                      <a:srgbClr val="111827"/>
                    </a:solidFill>
                    <a:latin typeface="Arial"/>
                  </a:rPr>
                  <a:t> is ________.</a:t>
                </a:r>
                <a:endParaRPr sz="2400">
                  <a:solidFill>
                    <a:srgbClr val="111827"/>
                  </a:solidFill>
                </a:endParaRPr>
              </a:p>
            </p:txBody>
          </p:sp>
        </mc:Fallback>
      </mc:AlternateContent>
      <p:sp>
        <p:nvSpPr>
          <p:cNvPr id="5" name="Rectangle 4"/>
          <p:cNvSpPr/>
          <p:nvPr/>
        </p:nvSpPr>
        <p:spPr>
          <a:xfrm>
            <a:off x="731520" y="437032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triple product of mutually perpendicular vectors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8531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perpendicular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so each term becomes a multiple of a cross product of two of the vectors, and those cross products are mutually perpendicular.</a:t>
                </a:r>
                <a:endParaRPr sz="2400">
                  <a:solidFill>
                    <a:srgbClr val="78350F"/>
                  </a:solidFill>
                </a:endParaRPr>
              </a:p>
            </p:txBody>
          </p:sp>
        </mc:Choice>
        <mc:Fallback>
          <p:sp>
            <p:nvSpPr>
              <p:cNvPr id="4" name="Rounded Rectangle 3"/>
              <p:cNvSpPr/>
              <p:nvPr/>
            </p:nvSpPr>
            <p:spPr>
              <a:xfrm>
                <a:off x="731520" y="1280160"/>
                <a:ext cx="10725912" cy="18531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perpendicular </a:t>
                </a:r>
                <a:r>
                  <a:rPr lang="en-IN" sz="2400">
                    <a:solidFill>
                      <a:srgbClr val="78350F"/>
                    </a:solidFill>
                    <a:latin typeface="Cambria Math" panose="02040503050406030204" pitchFamily="18" charset="0"/>
                  </a:rPr>
                  <a:t>$\vec a,\vec b$</a:t>
                </a:r>
                <a:r>
                  <a:rPr sz="2400" b="0">
                    <a:solidFill>
                      <a:srgbClr val="78350F"/>
                    </a:solidFill>
                    <a:latin typeface="Arial"/>
                  </a:rPr>
                  <a:t>: </a:t>
                </a:r>
                <a:r>
                  <a:rPr lang="en-IN" sz="2400">
                    <a:solidFill>
                      <a:srgbClr val="78350F"/>
                    </a:solidFill>
                    <a:latin typeface="Cambria Math" panose="02040503050406030204" pitchFamily="18" charset="0"/>
                  </a:rPr>
                  <a:t>$\vec a\times(\vec a\times\vec b)=-|\vec a|^2\vec b$</a:t>
                </a:r>
                <a:r>
                  <a:rPr sz="2400" b="0">
                    <a:solidFill>
                      <a:srgbClr val="78350F"/>
                    </a:solidFill>
                    <a:latin typeface="Arial"/>
                  </a:rPr>
                  <a:t>, so each term becomes a multiple of a cross product of two of the vectors, and those cross products are mutually perpendicular.</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270504"/>
                <a:ext cx="10725912" cy="34046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d>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270504"/>
                <a:ext cx="10725912" cy="34046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a\times\vec b))\times\vec c=\left(\left(\vec a\cdot\vec b\right)\vec a-(\vec a\cdot\vec a)\vec b\right)\times\vec c=-|\vec a|^2\,\vec b\times\vec c=-6(\vec b\times\vec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r>
                  <a:rPr lang="en-IN" sz="2400">
                    <a:solidFill>
                      <a:srgbClr val="111827"/>
                    </a:solidFill>
                    <a:latin typeface="Cambria Math" panose="02040503050406030204" pitchFamily="18" charset="0"/>
                  </a:rPr>
                  <a:t>$(\vec b\times(\vec b\times\vec c))\times\vec a=-|\vec b|^2\,\vec c\times\vec a=-2(\vec c\times\vec 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And </a:t>
                </a:r>
                <a:r>
                  <a:rPr lang="en-IN" sz="2400">
                    <a:solidFill>
                      <a:srgbClr val="111827"/>
                    </a:solidFill>
                    <a:latin typeface="Cambria Math" panose="02040503050406030204" pitchFamily="18" charset="0"/>
                  </a:rPr>
                  <a:t>$(\vec c\times(\vec c\times\vec a))\times\vec b=-|\vec c|^2\,\vec a\times\vec b=-3(\vec a\times\vec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v=-\left[3(\vec a\times\vec b)+6(\vec b\times\vec c)+2(\vec c\times\vec a)\right]$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are mutually perpendicular,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are also mutually perpendicular (parallel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396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11</m:t>
                        </m:r>
                      </m:e>
                    </m:rad>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𝑀</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396</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𝑀</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100</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3.96</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$\vec a,\vec b,\vec c$</a:t>
                </a:r>
                <a:r>
                  <a:rPr sz="2400" b="0">
                    <a:solidFill>
                      <a:srgbClr val="111827"/>
                    </a:solidFill>
                    <a:latin typeface="Arial"/>
                  </a:rPr>
                  <a:t> are mutually perpendicular, </a:t>
                </a:r>
                <a:r>
                  <a:rPr lang="en-IN" sz="2400">
                    <a:solidFill>
                      <a:srgbClr val="111827"/>
                    </a:solidFill>
                    <a:latin typeface="Cambria Math" panose="02040503050406030204" pitchFamily="18" charset="0"/>
                  </a:rPr>
                  <a:t>$\vec a\times\vec b,\ \vec b\times\vec c,\ \vec c\times\vec a$</a:t>
                </a:r>
                <a:r>
                  <a:rPr sz="2400" b="0">
                    <a:solidFill>
                      <a:srgbClr val="111827"/>
                    </a:solidFill>
                    <a:latin typeface="Arial"/>
                  </a:rPr>
                  <a:t> are also mutually perpendicular (parallel to </a:t>
                </a:r>
                <a:r>
                  <a:rPr lang="en-IN" sz="2400">
                    <a:solidFill>
                      <a:srgbClr val="111827"/>
                    </a:solidFill>
                    <a:latin typeface="Cambria Math" panose="02040503050406030204" pitchFamily="18" charset="0"/>
                  </a:rPr>
                  <a:t>$\vec c,\vec a,\vec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v|^2=9|\vec a|^2|\vec b|^2+36|\vec b|^2|\vec c|^2+4|\vec c|^2|\vec a|^2=9(12)+36(6)+4(18)=108+216+72=396$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$M=6\sqrt{11}$</a:t>
                </a:r>
                <a:r>
                  <a:rPr sz="2400" b="0">
                    <a:solidFill>
                      <a:srgbClr val="111827"/>
                    </a:solidFill>
                    <a:latin typeface="Arial"/>
                  </a:rPr>
                  <a:t>, </a:t>
                </a:r>
                <a:r>
                  <a:rPr lang="en-IN" sz="2400">
                    <a:solidFill>
                      <a:srgbClr val="111827"/>
                    </a:solidFill>
                    <a:latin typeface="Cambria Math" panose="02040503050406030204" pitchFamily="18" charset="0"/>
                  </a:rPr>
                  <a:t>$M^2=396$</a:t>
                </a:r>
                <a:r>
                  <a:rPr sz="2400" b="0">
                    <a:solidFill>
                      <a:srgbClr val="111827"/>
                    </a:solidFill>
                    <a:latin typeface="Arial"/>
                  </a:rPr>
                  <a:t>, </a:t>
                </a:r>
                <a:r>
                  <a:rPr lang="en-IN" sz="2400">
                    <a:solidFill>
                      <a:srgbClr val="111827"/>
                    </a:solidFill>
                    <a:latin typeface="Cambria Math" panose="02040503050406030204" pitchFamily="18" charset="0"/>
                  </a:rPr>
                  <a:t>$\frac{M^2}{100}=3.96$</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3.96</a:t>
            </a:r>
            <a:endParaRPr sz="2800">
              <a:solidFill>
                <a:srgbClr val="15803D"/>
              </a:solidFill>
            </a:endParaRP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Choose axes along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 and compute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𝑣</m:t>
                        </m:r>
                      </m:e>
                    </m:acc>
                  </m:oMath>
                </a14:m>
                <a:r>
                  <a:rPr sz="2400" b="0">
                    <a:solidFill>
                      <a:srgbClr val="78350F"/>
                    </a:solidFill>
                    <a:latin typeface="Arial"/>
                  </a:rPr>
                  <a:t> in components.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Choose axes along </a:t>
                </a:r>
                <a:r>
                  <a:rPr lang="en-IN" sz="2400">
                    <a:solidFill>
                      <a:srgbClr val="78350F"/>
                    </a:solidFill>
                    <a:latin typeface="Cambria Math" panose="02040503050406030204" pitchFamily="18" charset="0"/>
                  </a:rPr>
                  <a:t>$\vec a,\vec b,\vec c$</a:t>
                </a:r>
                <a:r>
                  <a:rPr sz="2400" b="0">
                    <a:solidFill>
                      <a:srgbClr val="78350F"/>
                    </a:solidFill>
                    <a:latin typeface="Arial"/>
                  </a:rPr>
                  <a:t> and compute </a:t>
                </a:r>
                <a:r>
                  <a:rPr lang="en-IN" sz="2400">
                    <a:solidFill>
                      <a:srgbClr val="78350F"/>
                    </a:solidFill>
                    <a:latin typeface="Cambria Math" panose="02040503050406030204" pitchFamily="18" charset="0"/>
                  </a:rPr>
                  <a:t>$\vec v$</a:t>
                </a:r>
                <a:r>
                  <a:rPr sz="2400" b="0">
                    <a:solidFill>
                      <a:srgbClr val="78350F"/>
                    </a:solidFill>
                    <a:latin typeface="Arial"/>
                  </a:rPr>
                  <a:t> in components.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crossing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crossing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$\vec a=(\sqrt6,0,0)$</a:t>
                </a:r>
                <a:r>
                  <a:rPr sz="2400" b="0">
                    <a:solidFill>
                      <a:srgbClr val="111827"/>
                    </a:solidFill>
                    <a:latin typeface="Arial"/>
                  </a:rPr>
                  <a:t>, </a:t>
                </a:r>
                <a:r>
                  <a:rPr lang="en-IN" sz="2400">
                    <a:solidFill>
                      <a:srgbClr val="111827"/>
                    </a:solidFill>
                    <a:latin typeface="Cambria Math" panose="02040503050406030204" pitchFamily="18" charset="0"/>
                  </a:rPr>
                  <a:t>$\vec b=(0,\sqrt2,0)$</a:t>
                </a:r>
                <a:r>
                  <a:rPr sz="2400" b="0">
                    <a:solidFill>
                      <a:srgbClr val="111827"/>
                    </a:solidFill>
                    <a:latin typeface="Arial"/>
                  </a:rPr>
                  <a:t>, </a:t>
                </a:r>
                <a:r>
                  <a:rPr lang="en-IN" sz="2400">
                    <a:solidFill>
                      <a:srgbClr val="111827"/>
                    </a:solidFill>
                    <a:latin typeface="Cambria Math" panose="02040503050406030204" pitchFamily="18" charset="0"/>
                  </a:rPr>
                  <a:t>$\vec c=(0,0,\sqrt3)$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a\times\vec b)=-6\vec b=(0,-6\sqrt2,0)$</a:t>
                </a:r>
                <a:r>
                  <a:rPr sz="2400" b="0">
                    <a:solidFill>
                      <a:srgbClr val="111827"/>
                    </a:solidFill>
                    <a:latin typeface="Arial"/>
                  </a:rPr>
                  <a:t>, and crossing with </a:t>
                </a:r>
                <a:r>
                  <a:rPr lang="en-IN" sz="2400">
                    <a:solidFill>
                      <a:srgbClr val="111827"/>
                    </a:solidFill>
                    <a:latin typeface="Cambria Math" panose="02040503050406030204" pitchFamily="18" charset="0"/>
                  </a:rPr>
                  <a:t>$\vec c$</a:t>
                </a:r>
                <a:r>
                  <a:rPr sz="2400" b="0">
                    <a:solidFill>
                      <a:srgbClr val="111827"/>
                    </a:solidFill>
                    <a:latin typeface="Arial"/>
                  </a:rPr>
                  <a:t> gives </a:t>
                </a:r>
                <a:r>
                  <a:rPr lang="en-IN" sz="2400">
                    <a:solidFill>
                      <a:srgbClr val="111827"/>
                    </a:solidFill>
                    <a:latin typeface="Cambria Math" panose="02040503050406030204" pitchFamily="18" charset="0"/>
                  </a:rPr>
                  <a:t>$(-6\sqrt2\cdot\sqrt3,0,0)=(-6\sqrt6,0,0)$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b\times(\vec b\times\vec c)=-2\vec c$</a:t>
                </a:r>
                <a:r>
                  <a:rPr sz="2400" b="0">
                    <a:solidFill>
                      <a:srgbClr val="111827"/>
                    </a:solidFill>
                    <a:latin typeface="Arial"/>
                  </a:rPr>
                  <a:t>, crossing with </a:t>
                </a:r>
                <a:r>
                  <a:rPr lang="en-IN" sz="2400">
                    <a:solidFill>
                      <a:srgbClr val="111827"/>
                    </a:solidFill>
                    <a:latin typeface="Cambria Math" panose="02040503050406030204" pitchFamily="18" charset="0"/>
                  </a:rPr>
                  <a:t>$\vec a$</a:t>
                </a:r>
                <a:r>
                  <a:rPr sz="2400" b="0">
                    <a:solidFill>
                      <a:srgbClr val="111827"/>
                    </a:solidFill>
                    <a:latin typeface="Arial"/>
                  </a:rPr>
                  <a:t>: </a:t>
                </a:r>
                <a:r>
                  <a:rPr lang="en-IN" sz="2400">
                    <a:solidFill>
                      <a:srgbClr val="111827"/>
                    </a:solidFill>
                    <a:latin typeface="Cambria Math" panose="02040503050406030204" pitchFamily="18" charset="0"/>
                  </a:rPr>
                  <a:t>$(0,-2\sqrt3\sqrt6,0)=(0,-6\sqrt2,0)$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crossing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396</m:t>
                    </m:r>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𝑀</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100</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3.96</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c\times(\vec c\times\vec a)=-3\vec a$</a:t>
                </a:r>
                <a:r>
                  <a:rPr sz="2400" b="0">
                    <a:solidFill>
                      <a:srgbClr val="111827"/>
                    </a:solidFill>
                    <a:latin typeface="Arial"/>
                  </a:rPr>
                  <a:t>, crossing with </a:t>
                </a:r>
                <a:r>
                  <a:rPr lang="en-IN" sz="2400">
                    <a:solidFill>
                      <a:srgbClr val="111827"/>
                    </a:solidFill>
                    <a:latin typeface="Cambria Math" panose="02040503050406030204" pitchFamily="18" charset="0"/>
                  </a:rPr>
                  <a:t>$\vec b$</a:t>
                </a:r>
                <a:r>
                  <a:rPr sz="2400" b="0">
                    <a:solidFill>
                      <a:srgbClr val="111827"/>
                    </a:solidFill>
                    <a:latin typeface="Arial"/>
                  </a:rPr>
                  <a:t>: </a:t>
                </a:r>
                <a:r>
                  <a:rPr lang="en-IN" sz="2400">
                    <a:solidFill>
                      <a:srgbClr val="111827"/>
                    </a:solidFill>
                    <a:latin typeface="Cambria Math" panose="02040503050406030204" pitchFamily="18" charset="0"/>
                  </a:rPr>
                  <a:t>$(0,0,-3\sqrt6\sqrt2)=(0,0,-6\sqrt3)$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v|^2=216+72+108=396$</a:t>
                </a:r>
                <a:r>
                  <a:rPr sz="2400" b="0">
                    <a:solidFill>
                      <a:srgbClr val="111827"/>
                    </a:solidFill>
                    <a:latin typeface="Arial"/>
                  </a:rPr>
                  <a:t>, so </a:t>
                </a:r>
                <a:r>
                  <a:rPr lang="en-IN" sz="2400">
                    <a:solidFill>
                      <a:srgbClr val="111827"/>
                    </a:solidFill>
                    <a:latin typeface="Cambria Math" panose="02040503050406030204" pitchFamily="18" charset="0"/>
                  </a:rPr>
                  <a:t>$\frac{M^2}{100}=3.96$</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3.96</a:t>
            </a:r>
            <a:endParaRPr sz="2800">
              <a:solidFill>
                <a:srgbClr val="15803D"/>
              </a:solidFill>
            </a:endParaRP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when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(in general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mutually perpendicular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etc.,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the three cross products are mutually perpendicular.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𝑖</m:t>
                        </m:r>
                      </m:sub>
                    </m:sSub>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with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mutually perpendicular then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𝑖</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a\times\vec b)=-|\vec a|^2\vec b$</a:t>
                </a:r>
                <a:r>
                  <a:rPr sz="2400" b="0">
                    <a:solidFill>
                      <a:srgbClr val="111827"/>
                    </a:solidFill>
                    <a:latin typeface="Arial"/>
                  </a:rPr>
                  <a:t> when </a:t>
                </a:r>
                <a:r>
                  <a:rPr lang="en-IN" sz="2400">
                    <a:solidFill>
                      <a:srgbClr val="111827"/>
                    </a:solidFill>
                    <a:latin typeface="Cambria Math" panose="02040503050406030204" pitchFamily="18" charset="0"/>
                  </a:rPr>
                  <a:t>$\vec a\perp\vec b$</a:t>
                </a:r>
                <a:r>
                  <a:rPr sz="2400" b="0">
                    <a:solidFill>
                      <a:srgbClr val="111827"/>
                    </a:solidFill>
                    <a:latin typeface="Arial"/>
                  </a:rPr>
                  <a:t> (in general </a:t>
                </a:r>
                <a:r>
                  <a:rPr lang="en-IN" sz="2400">
                    <a:solidFill>
                      <a:srgbClr val="111827"/>
                    </a:solidFill>
                    <a:latin typeface="Cambria Math" panose="02040503050406030204" pitchFamily="18" charset="0"/>
                  </a:rPr>
                  <a:t>$\vec a(\vec a\cdot\vec b)-|\vec a|^2\vec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mutually perpendicular </a:t>
                </a:r>
                <a:r>
                  <a:rPr lang="en-IN" sz="2400">
                    <a:solidFill>
                      <a:srgbClr val="111827"/>
                    </a:solidFill>
                    <a:latin typeface="Cambria Math" panose="02040503050406030204" pitchFamily="18" charset="0"/>
                  </a:rPr>
                  <a:t>$\vec a,\vec b,\vec c$</a:t>
                </a:r>
                <a:r>
                  <a:rPr sz="2400" b="0">
                    <a:solidFill>
                      <a:srgbClr val="111827"/>
                    </a:solidFill>
                    <a:latin typeface="Arial"/>
                  </a:rPr>
                  <a:t>: </a:t>
                </a:r>
                <a:r>
                  <a:rPr lang="en-IN" sz="2400">
                    <a:solidFill>
                      <a:srgbClr val="111827"/>
                    </a:solidFill>
                    <a:latin typeface="Cambria Math" panose="02040503050406030204" pitchFamily="18" charset="0"/>
                  </a:rPr>
                  <a:t>$\vec a\times\vec b=\pm|\vec a||\vec b|\hat c$</a:t>
                </a:r>
                <a:r>
                  <a:rPr sz="2400" b="0">
                    <a:solidFill>
                      <a:srgbClr val="111827"/>
                    </a:solidFill>
                    <a:latin typeface="Arial"/>
                  </a:rPr>
                  <a:t> etc., so </a:t>
                </a:r>
                <a:r>
                  <a:rPr lang="en-IN" sz="2400">
                    <a:solidFill>
                      <a:srgbClr val="111827"/>
                    </a:solidFill>
                    <a:latin typeface="Cambria Math" panose="02040503050406030204" pitchFamily="18" charset="0"/>
                  </a:rPr>
                  <a:t>$|\vec a\times\vec b|^2=|\vec a|^2|\vec b|^2$</a:t>
                </a:r>
                <a:r>
                  <a:rPr sz="2400" b="0">
                    <a:solidFill>
                      <a:srgbClr val="111827"/>
                    </a:solidFill>
                    <a:latin typeface="Arial"/>
                  </a:rPr>
                  <a:t> and the three cross products are mutually perpendicular.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v=\sum\lambda_i\vec e_i$</a:t>
                </a:r>
                <a:r>
                  <a:rPr sz="2400" b="0">
                    <a:solidFill>
                      <a:srgbClr val="111827"/>
                    </a:solidFill>
                    <a:latin typeface="Arial"/>
                  </a:rPr>
                  <a:t> with </a:t>
                </a:r>
                <a:r>
                  <a:rPr lang="en-IN" sz="2400">
                    <a:solidFill>
                      <a:srgbClr val="111827"/>
                    </a:solidFill>
                    <a:latin typeface="Cambria Math" panose="02040503050406030204" pitchFamily="18" charset="0"/>
                  </a:rPr>
                  <a:t>$\vec e_i$</a:t>
                </a:r>
                <a:r>
                  <a:rPr sz="2400" b="0">
                    <a:solidFill>
                      <a:srgbClr val="111827"/>
                    </a:solidFill>
                    <a:latin typeface="Arial"/>
                  </a:rPr>
                  <a:t> mutually perpendicular then </a:t>
                </a:r>
                <a:r>
                  <a:rPr lang="en-IN" sz="2400">
                    <a:solidFill>
                      <a:srgbClr val="111827"/>
                    </a:solidFill>
                    <a:latin typeface="Cambria Math" panose="02040503050406030204" pitchFamily="18" charset="0"/>
                  </a:rPr>
                  <a:t>$|\vec v|^2=\sum\lambda_i^2|\vec e_i|^2$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a line passing through the point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&amp; having direction ratios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If image of point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w.r.t. given line is </a:t>
                </a:r>
                <a14:m>
                  <m:oMath xmlns:m="http://schemas.openxmlformats.org/officeDocument/2006/math">
                    <m:sSup>
                      <m:e>
                        <m:r>
                          <a:rPr lang="en-IN" sz="2400" i="1">
                            <a:solidFill>
                              <a:srgbClr val="111827"/>
                            </a:solidFill>
                            <a:latin typeface="Cambria Math" panose="02040503050406030204" pitchFamily="18" charset="0"/>
                          </a:rPr>
                          <m:t>𝑄</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then length of median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sSup>
                      <m:e>
                        <m:r>
                          <a:rPr lang="en-IN" sz="2400" i="1">
                            <a:solidFill>
                              <a:srgbClr val="111827"/>
                            </a:solidFill>
                            <a:latin typeface="Cambria Math" panose="02040503050406030204" pitchFamily="18" charset="0"/>
                          </a:rPr>
                          <m:t>𝑄</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through vertex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a line passing through the point </a:t>
                </a:r>
                <a:r>
                  <a:rPr lang="en-IN" sz="2400">
                    <a:solidFill>
                      <a:srgbClr val="111827"/>
                    </a:solidFill>
                    <a:latin typeface="Cambria Math" panose="02040503050406030204" pitchFamily="18" charset="0"/>
                  </a:rPr>
                  <a:t>$P(3,4,5)$</a:t>
                </a:r>
                <a:r>
                  <a:rPr sz="2400" b="0">
                    <a:solidFill>
                      <a:srgbClr val="111827"/>
                    </a:solidFill>
                    <a:latin typeface="Arial"/>
                  </a:rPr>
                  <a:t> &amp; having direction ratios </a:t>
                </a:r>
                <a:r>
                  <a:rPr lang="en-IN" sz="2400">
                    <a:solidFill>
                      <a:srgbClr val="111827"/>
                    </a:solidFill>
                    <a:latin typeface="Cambria Math" panose="02040503050406030204" pitchFamily="18" charset="0"/>
                  </a:rPr>
                  <a:t>$(2,-2,1)$</a:t>
                </a:r>
                <a:r>
                  <a:rPr sz="2400" b="0">
                    <a:solidFill>
                      <a:srgbClr val="111827"/>
                    </a:solidFill>
                    <a:latin typeface="Arial"/>
                  </a:rPr>
                  <a:t>. If image of point </a:t>
                </a:r>
                <a:r>
                  <a:rPr lang="en-IN" sz="2400">
                    <a:solidFill>
                      <a:srgbClr val="111827"/>
                    </a:solidFill>
                    <a:latin typeface="Cambria Math" panose="02040503050406030204" pitchFamily="18" charset="0"/>
                  </a:rPr>
                  <a:t>$Q(1,-1,8)$</a:t>
                </a:r>
                <a:r>
                  <a:rPr sz="2400" b="0">
                    <a:solidFill>
                      <a:srgbClr val="111827"/>
                    </a:solidFill>
                    <a:latin typeface="Arial"/>
                  </a:rPr>
                  <a:t> w.r.t. given line is </a:t>
                </a:r>
                <a:r>
                  <a:rPr lang="en-IN" sz="2400">
                    <a:solidFill>
                      <a:srgbClr val="111827"/>
                    </a:solidFill>
                    <a:latin typeface="Cambria Math" panose="02040503050406030204" pitchFamily="18" charset="0"/>
                  </a:rPr>
                  <a:t>$Q'$</a:t>
                </a:r>
                <a:r>
                  <a:rPr sz="2400" b="0">
                    <a:solidFill>
                      <a:srgbClr val="111827"/>
                    </a:solidFill>
                    <a:latin typeface="Arial"/>
                  </a:rPr>
                  <a:t>, then length of median of </a:t>
                </a:r>
                <a:r>
                  <a:rPr lang="en-IN" sz="2400">
                    <a:solidFill>
                      <a:srgbClr val="111827"/>
                    </a:solidFill>
                    <a:latin typeface="Cambria Math" panose="02040503050406030204" pitchFamily="18" charset="0"/>
                  </a:rPr>
                  <a:t>$\triangle PQQ'$</a:t>
                </a:r>
                <a:r>
                  <a:rPr sz="2400" b="0">
                    <a:solidFill>
                      <a:srgbClr val="111827"/>
                    </a:solidFill>
                    <a:latin typeface="Arial"/>
                  </a:rPr>
                  <a:t> through vertex </a:t>
                </a:r>
                <a:r>
                  <a:rPr lang="en-IN" sz="2400">
                    <a:solidFill>
                      <a:srgbClr val="111827"/>
                    </a:solidFill>
                    <a:latin typeface="Cambria Math" panose="02040503050406030204" pitchFamily="18" charset="0"/>
                  </a:rPr>
                  <a:t>$P$</a:t>
                </a:r>
                <a:r>
                  <a:rPr sz="2400" b="0">
                    <a:solidFill>
                      <a:srgbClr val="111827"/>
                    </a:solidFill>
                    <a:latin typeface="Arial"/>
                  </a:rPr>
                  <a:t> is ________.</a:t>
                </a:r>
                <a:endParaRPr sz="2400">
                  <a:solidFill>
                    <a:srgbClr val="111827"/>
                  </a:solidFill>
                </a:endParaRPr>
              </a:p>
            </p:txBody>
          </p:sp>
        </mc:Fallback>
      </mc:AlternateContent>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Image of a point in a line, Median of a triangle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sSup>
                      <m:e>
                        <m:r>
                          <a:rPr lang="en-IN" sz="2400" i="1">
                            <a:solidFill>
                              <a:srgbClr val="78350F"/>
                            </a:solidFill>
                            <a:latin typeface="Cambria Math" panose="02040503050406030204" pitchFamily="18" charset="0"/>
                          </a:rPr>
                          <m:t>𝑄</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is isosceles with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sSup>
                      <m:e>
                        <m:r>
                          <a:rPr lang="en-IN" sz="2400" i="1">
                            <a:solidFill>
                              <a:srgbClr val="78350F"/>
                            </a:solidFill>
                            <a:latin typeface="Cambria Math" panose="02040503050406030204" pitchFamily="18" charset="0"/>
                          </a:rPr>
                          <m:t>𝑄</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and the median from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is the projection of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e>
                    </m:acc>
                  </m:oMath>
                </a14:m>
                <a:r>
                  <a:rPr sz="2400" b="0">
                    <a:solidFill>
                      <a:srgbClr val="78350F"/>
                    </a:solidFill>
                    <a:latin typeface="Arial"/>
                  </a:rPr>
                  <a:t> on the line.</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$\triangle PQQ'$</a:t>
                </a:r>
                <a:r>
                  <a:rPr sz="2400" b="0">
                    <a:solidFill>
                      <a:srgbClr val="78350F"/>
                    </a:solidFill>
                    <a:latin typeface="Arial"/>
                  </a:rPr>
                  <a:t> is isosceles with </a:t>
                </a:r>
                <a:r>
                  <a:rPr lang="en-IN" sz="2400">
                    <a:solidFill>
                      <a:srgbClr val="78350F"/>
                    </a:solidFill>
                    <a:latin typeface="Cambria Math" panose="02040503050406030204" pitchFamily="18" charset="0"/>
                  </a:rPr>
                  <a:t>$PQ=PQ'$</a:t>
                </a:r>
                <a:r>
                  <a:rPr sz="2400" b="0">
                    <a:solidFill>
                      <a:srgbClr val="78350F"/>
                    </a:solidFill>
                    <a:latin typeface="Arial"/>
                  </a:rPr>
                  <a:t>, and the median from </a:t>
                </a:r>
                <a:r>
                  <a:rPr lang="en-IN" sz="2400">
                    <a:solidFill>
                      <a:srgbClr val="78350F"/>
                    </a:solidFill>
                    <a:latin typeface="Cambria Math" panose="02040503050406030204" pitchFamily="18" charset="0"/>
                  </a:rPr>
                  <a:t>$P$</a:t>
                </a:r>
                <a:r>
                  <a:rPr sz="2400" b="0">
                    <a:solidFill>
                      <a:srgbClr val="78350F"/>
                    </a:solidFill>
                    <a:latin typeface="Arial"/>
                  </a:rPr>
                  <a:t> is the projection of </a:t>
                </a:r>
                <a:r>
                  <a:rPr lang="en-IN" sz="2400">
                    <a:solidFill>
                      <a:srgbClr val="78350F"/>
                    </a:solidFill>
                    <a:latin typeface="Cambria Math" panose="02040503050406030204" pitchFamily="18" charset="0"/>
                  </a:rPr>
                  <a:t>$\overrightarrow{PQ}$</a:t>
                </a:r>
                <a:r>
                  <a:rPr sz="2400" b="0">
                    <a:solidFill>
                      <a:srgbClr val="78350F"/>
                    </a:solidFill>
                    <a:latin typeface="Arial"/>
                  </a:rPr>
                  <a:t> on the line.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image </a:t>
                </a:r>
                <a14:m>
                  <m:oMath xmlns:m="http://schemas.openxmlformats.org/officeDocument/2006/math">
                    <m:sSup>
                      <m:e>
                        <m:r>
                          <a:rPr lang="en-IN" sz="2400" i="1">
                            <a:solidFill>
                              <a:srgbClr val="111827"/>
                            </a:solidFill>
                            <a:latin typeface="Cambria Math" panose="02040503050406030204" pitchFamily="18" charset="0"/>
                          </a:rPr>
                          <m:t>𝑄</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is the reflection of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in the line, so with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the foot of the perpendicular from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(the mid-point of </a:t>
                </a:r>
                <a14:m>
                  <m:oMath xmlns:m="http://schemas.openxmlformats.org/officeDocument/2006/math">
                    <m:r>
                      <a:rPr lang="en-IN" sz="2400" i="1">
                        <a:solidFill>
                          <a:srgbClr val="111827"/>
                        </a:solidFill>
                        <a:latin typeface="Cambria Math" panose="02040503050406030204" pitchFamily="18" charset="0"/>
                      </a:rPr>
                      <m:t>𝑄</m:t>
                    </m:r>
                    <m:sSup>
                      <m:e>
                        <m:r>
                          <a:rPr lang="en-IN" sz="2400" i="1">
                            <a:solidFill>
                              <a:srgbClr val="111827"/>
                            </a:solidFill>
                            <a:latin typeface="Cambria Math" panose="02040503050406030204" pitchFamily="18" charset="0"/>
                          </a:rPr>
                          <m:t>𝑄</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𝑄</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and the median through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PDF writes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𝑃</m:t>
                        </m:r>
                      </m:e>
                    </m:acc>
                  </m:oMath>
                </a14:m>
                <a:r>
                  <a:rPr sz="2400" b="0">
                    <a:solidFill>
                      <a:srgbClr val="111827"/>
                    </a:solidFill>
                    <a:latin typeface="Arial"/>
                  </a:rPr>
                  <a:t>; the length is unaffected).</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oMath>
                </a14:m>
                <a:r>
                  <a:rPr sz="2400" b="0">
                    <a:solidFill>
                      <a:srgbClr val="111827"/>
                    </a:solidFill>
                    <a:latin typeface="Arial"/>
                  </a:rPr>
                  <a:t> is the projection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e>
                    </m:acc>
                  </m:oMath>
                </a14:m>
                <a:r>
                  <a:rPr sz="2400" b="0">
                    <a:solidFill>
                      <a:srgbClr val="111827"/>
                    </a:solidFill>
                    <a:latin typeface="Arial"/>
                  </a:rPr>
                  <a:t> on the direction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unit vector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image </a:t>
                </a:r>
                <a:r>
                  <a:rPr lang="en-IN" sz="2400">
                    <a:solidFill>
                      <a:srgbClr val="111827"/>
                    </a:solidFill>
                    <a:latin typeface="Cambria Math" panose="02040503050406030204" pitchFamily="18" charset="0"/>
                  </a:rPr>
                  <a:t>$Q'$</a:t>
                </a:r>
                <a:r>
                  <a:rPr sz="2400" b="0">
                    <a:solidFill>
                      <a:srgbClr val="111827"/>
                    </a:solidFill>
                    <a:latin typeface="Arial"/>
                  </a:rPr>
                  <a:t> is the reflection of </a:t>
                </a:r>
                <a:r>
                  <a:rPr lang="en-IN" sz="2400">
                    <a:solidFill>
                      <a:srgbClr val="111827"/>
                    </a:solidFill>
                    <a:latin typeface="Cambria Math" panose="02040503050406030204" pitchFamily="18" charset="0"/>
                  </a:rPr>
                  <a:t>$Q$</a:t>
                </a:r>
                <a:r>
                  <a:rPr sz="2400" b="0">
                    <a:solidFill>
                      <a:srgbClr val="111827"/>
                    </a:solidFill>
                    <a:latin typeface="Arial"/>
                  </a:rPr>
                  <a:t> in the line, so with </a:t>
                </a:r>
                <a:r>
                  <a:rPr lang="en-IN" sz="2400">
                    <a:solidFill>
                      <a:srgbClr val="111827"/>
                    </a:solidFill>
                    <a:latin typeface="Cambria Math" panose="02040503050406030204" pitchFamily="18" charset="0"/>
                  </a:rPr>
                  <a:t>$M$</a:t>
                </a:r>
                <a:r>
                  <a:rPr sz="2400" b="0">
                    <a:solidFill>
                      <a:srgbClr val="111827"/>
                    </a:solidFill>
                    <a:latin typeface="Arial"/>
                  </a:rPr>
                  <a:t> the foot of the perpendicular from </a:t>
                </a:r>
                <a:r>
                  <a:rPr lang="en-IN" sz="2400">
                    <a:solidFill>
                      <a:srgbClr val="111827"/>
                    </a:solidFill>
                    <a:latin typeface="Cambria Math" panose="02040503050406030204" pitchFamily="18" charset="0"/>
                  </a:rPr>
                  <a:t>$Q$</a:t>
                </a:r>
                <a:r>
                  <a:rPr sz="2400" b="0">
                    <a:solidFill>
                      <a:srgbClr val="111827"/>
                    </a:solidFill>
                    <a:latin typeface="Arial"/>
                  </a:rPr>
                  <a:t> (the mid-point of </a:t>
                </a:r>
                <a:r>
                  <a:rPr lang="en-IN" sz="2400">
                    <a:solidFill>
                      <a:srgbClr val="111827"/>
                    </a:solidFill>
                    <a:latin typeface="Cambria Math" panose="02040503050406030204" pitchFamily="18" charset="0"/>
                  </a:rPr>
                  <a:t>$QQ'$</a:t>
                </a:r>
                <a:r>
                  <a:rPr sz="2400" b="0">
                    <a:solidFill>
                      <a:srgbClr val="111827"/>
                    </a:solidFill>
                    <a:latin typeface="Arial"/>
                  </a:rPr>
                  <a:t>), </a:t>
                </a:r>
                <a:r>
                  <a:rPr lang="en-IN" sz="2400">
                    <a:solidFill>
                      <a:srgbClr val="111827"/>
                    </a:solidFill>
                    <a:latin typeface="Cambria Math" panose="02040503050406030204" pitchFamily="18" charset="0"/>
                  </a:rPr>
                  <a:t>$PQ=PQ'$</a:t>
                </a:r>
                <a:r>
                  <a:rPr sz="2400" b="0">
                    <a:solidFill>
                      <a:srgbClr val="111827"/>
                    </a:solidFill>
                    <a:latin typeface="Arial"/>
                  </a:rPr>
                  <a:t> and the median through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$PM$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$\overrightarrow{PQ}=(1-3,\,-1-4,\,8-5)=(-2,-5,3)$</a:t>
                </a:r>
                <a:r>
                  <a:rPr sz="2400" b="0">
                    <a:solidFill>
                      <a:srgbClr val="111827"/>
                    </a:solidFill>
                    <a:latin typeface="Arial"/>
                  </a:rPr>
                  <a:t> (the PDF writes </a:t>
                </a:r>
                <a:r>
                  <a:rPr lang="en-IN" sz="2400">
                    <a:solidFill>
                      <a:srgbClr val="111827"/>
                    </a:solidFill>
                    <a:latin typeface="Cambria Math" panose="02040503050406030204" pitchFamily="18" charset="0"/>
                  </a:rPr>
                  <a:t>$\overrightarrow{PQ}=(2,5,-3)$</a:t>
                </a:r>
                <a:r>
                  <a:rPr sz="2400" b="0">
                    <a:solidFill>
                      <a:srgbClr val="111827"/>
                    </a:solidFill>
                    <a:latin typeface="Arial"/>
                  </a:rPr>
                  <a:t>, i.e. </a:t>
                </a:r>
                <a:r>
                  <a:rPr lang="en-IN" sz="2400">
                    <a:solidFill>
                      <a:srgbClr val="111827"/>
                    </a:solidFill>
                    <a:latin typeface="Cambria Math" panose="02040503050406030204" pitchFamily="18" charset="0"/>
                  </a:rPr>
                  <a:t>$\overrightarrow{QP}$</a:t>
                </a:r>
                <a:r>
                  <a:rPr sz="2400" b="0">
                    <a:solidFill>
                      <a:srgbClr val="111827"/>
                    </a:solidFill>
                    <a:latin typeface="Arial"/>
                  </a:rPr>
                  <a:t>; the length is unaffected).</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$PM$</a:t>
                </a:r>
                <a:r>
                  <a:rPr sz="2400" b="0">
                    <a:solidFill>
                      <a:srgbClr val="111827"/>
                    </a:solidFill>
                    <a:latin typeface="Arial"/>
                  </a:rPr>
                  <a:t> is the projection of </a:t>
                </a:r>
                <a:r>
                  <a:rPr lang="en-IN" sz="2400">
                    <a:solidFill>
                      <a:srgbClr val="111827"/>
                    </a:solidFill>
                    <a:latin typeface="Cambria Math" panose="02040503050406030204" pitchFamily="18" charset="0"/>
                  </a:rPr>
                  <a:t>$\overrightarrow{PQ}$</a:t>
                </a:r>
                <a:r>
                  <a:rPr sz="2400" b="0">
                    <a:solidFill>
                      <a:srgbClr val="111827"/>
                    </a:solidFill>
                    <a:latin typeface="Arial"/>
                  </a:rPr>
                  <a:t> on the direction </a:t>
                </a:r>
                <a:r>
                  <a:rPr lang="en-IN" sz="2400">
                    <a:solidFill>
                      <a:srgbClr val="111827"/>
                    </a:solidFill>
                    <a:latin typeface="Cambria Math" panose="02040503050406030204" pitchFamily="18" charset="0"/>
                  </a:rPr>
                  <a:t>$(2,-2,1)$</a:t>
                </a:r>
                <a:r>
                  <a:rPr sz="2400" b="0">
                    <a:solidFill>
                      <a:srgbClr val="111827"/>
                    </a:solidFill>
                    <a:latin typeface="Arial"/>
                  </a:rPr>
                  <a:t>, of unit vector </a:t>
                </a:r>
                <a:r>
                  <a:rPr lang="en-IN" sz="2400">
                    <a:solidFill>
                      <a:srgbClr val="111827"/>
                    </a:solidFill>
                    <a:latin typeface="Cambria Math" panose="02040503050406030204" pitchFamily="18" charset="0"/>
                  </a:rPr>
                  <a:t>$\frac13(2,-2,1)$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required length of the median is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$PM=\left|\frac{(-2)(2)+(-5)(-2)+3(1)}{3}\right|=\left|\frac{-4+10+3}{3}\right|=3$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required length of the median is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3.00</a:t>
            </a:r>
            <a:endParaRPr sz="2800">
              <a:solidFill>
                <a:srgbClr val="15803D"/>
              </a:solidFill>
            </a:endParaRP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Pythagoras in the right triangle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𝑄</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𝑃</m:t>
                    </m:r>
                    <m:sSup>
                      <m:e>
                        <m:r>
                          <a:rPr lang="en-IN" sz="2400" i="1">
                            <a:solidFill>
                              <a:srgbClr val="78350F"/>
                            </a:solidFill>
                            <a:latin typeface="Cambria Math" panose="02040503050406030204" pitchFamily="18" charset="0"/>
                          </a:rPr>
                          <m:t>𝑀</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sSup>
                      <m:e>
                        <m:r>
                          <a:rPr lang="en-IN" sz="2400" i="1">
                            <a:solidFill>
                              <a:srgbClr val="78350F"/>
                            </a:solidFill>
                            <a:latin typeface="Cambria Math" panose="02040503050406030204" pitchFamily="18" charset="0"/>
                          </a:rPr>
                          <m:t>𝑄</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𝑄</m:t>
                    </m:r>
                    <m:sSup>
                      <m:e>
                        <m:r>
                          <a:rPr lang="en-IN" sz="2400" i="1">
                            <a:solidFill>
                              <a:srgbClr val="78350F"/>
                            </a:solidFill>
                            <a:latin typeface="Cambria Math" panose="02040503050406030204" pitchFamily="18" charset="0"/>
                          </a:rPr>
                          <m:t>𝑀</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where </a:t>
                </a:r>
                <a14:m>
                  <m:oMath xmlns:m="http://schemas.openxmlformats.org/officeDocument/2006/math">
                    <m:r>
                      <a:rPr lang="en-IN" sz="2400" i="1">
                        <a:solidFill>
                          <a:srgbClr val="78350F"/>
                        </a:solidFill>
                        <a:latin typeface="Cambria Math" panose="02040503050406030204" pitchFamily="18" charset="0"/>
                      </a:rPr>
                      <m:t>𝑄</m:t>
                    </m:r>
                    <m:r>
                      <a:rPr lang="en-IN" sz="2400" i="1">
                        <a:solidFill>
                          <a:srgbClr val="78350F"/>
                        </a:solidFill>
                        <a:latin typeface="Cambria Math" panose="02040503050406030204" pitchFamily="18" charset="0"/>
                      </a:rPr>
                      <m:t>𝑀</m:t>
                    </m:r>
                  </m:oMath>
                </a14:m>
                <a:r>
                  <a:rPr sz="2400" b="0">
                    <a:solidFill>
                      <a:srgbClr val="78350F"/>
                    </a:solidFill>
                    <a:latin typeface="Arial"/>
                  </a:rPr>
                  <a:t> is the distance of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 from the line.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Pythagoras in the right triangle </a:t>
                </a:r>
                <a:r>
                  <a:rPr lang="en-IN" sz="2400">
                    <a:solidFill>
                      <a:srgbClr val="78350F"/>
                    </a:solidFill>
                    <a:latin typeface="Cambria Math" panose="02040503050406030204" pitchFamily="18" charset="0"/>
                  </a:rPr>
                  <a:t>$PMQ$</a:t>
                </a:r>
                <a:r>
                  <a:rPr sz="2400" b="0">
                    <a:solidFill>
                      <a:srgbClr val="78350F"/>
                    </a:solidFill>
                    <a:latin typeface="Arial"/>
                  </a:rPr>
                  <a:t>: </a:t>
                </a:r>
                <a:r>
                  <a:rPr lang="en-IN" sz="2400">
                    <a:solidFill>
                      <a:srgbClr val="78350F"/>
                    </a:solidFill>
                    <a:latin typeface="Cambria Math" panose="02040503050406030204" pitchFamily="18" charset="0"/>
                  </a:rPr>
                  <a:t>$PM^2=PQ^2-QM^2$</a:t>
                </a:r>
                <a:r>
                  <a:rPr sz="2400" b="0">
                    <a:solidFill>
                      <a:srgbClr val="78350F"/>
                    </a:solidFill>
                    <a:latin typeface="Arial"/>
                  </a:rPr>
                  <a:t>, where </a:t>
                </a:r>
                <a:r>
                  <a:rPr lang="en-IN" sz="2400">
                    <a:solidFill>
                      <a:srgbClr val="78350F"/>
                    </a:solidFill>
                    <a:latin typeface="Cambria Math" panose="02040503050406030204" pitchFamily="18" charset="0"/>
                  </a:rPr>
                  <a:t>$QM$</a:t>
                </a:r>
                <a:r>
                  <a:rPr sz="2400" b="0">
                    <a:solidFill>
                      <a:srgbClr val="78350F"/>
                    </a:solidFill>
                    <a:latin typeface="Arial"/>
                  </a:rPr>
                  <a:t> is the distance of </a:t>
                </a:r>
                <a:r>
                  <a:rPr lang="en-IN" sz="2400">
                    <a:solidFill>
                      <a:srgbClr val="78350F"/>
                    </a:solidFill>
                    <a:latin typeface="Cambria Math" panose="02040503050406030204" pitchFamily="18" charset="0"/>
                  </a:rPr>
                  <a:t>$Q$</a:t>
                </a:r>
                <a:r>
                  <a:rPr sz="2400" b="0">
                    <a:solidFill>
                      <a:srgbClr val="78350F"/>
                    </a:solidFill>
                    <a:latin typeface="Arial"/>
                  </a:rPr>
                  <a:t> from the line.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𝑄</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of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from the line: </a:t>
                </a:r>
                <a14:m>
                  <m:oMath xmlns:m="http://schemas.openxmlformats.org/officeDocument/2006/math">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261</m:t>
                            </m:r>
                          </m:e>
                        </m:rad>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29</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𝑀</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$PQ^2=4+25+9=38$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of </a:t>
                </a:r>
                <a:r>
                  <a:rPr lang="en-IN" sz="2400">
                    <a:solidFill>
                      <a:srgbClr val="111827"/>
                    </a:solidFill>
                    <a:latin typeface="Cambria Math" panose="02040503050406030204" pitchFamily="18" charset="0"/>
                  </a:rPr>
                  <a:t>$Q$</a:t>
                </a:r>
                <a:r>
                  <a:rPr sz="2400" b="0">
                    <a:solidFill>
                      <a:srgbClr val="111827"/>
                    </a:solidFill>
                    <a:latin typeface="Arial"/>
                  </a:rPr>
                  <a:t> from the line: </a:t>
                </a:r>
                <a:r>
                  <a:rPr lang="en-IN" sz="2400">
                    <a:solidFill>
                      <a:srgbClr val="111827"/>
                    </a:solidFill>
                    <a:latin typeface="Cambria Math" panose="02040503050406030204" pitchFamily="18" charset="0"/>
                  </a:rPr>
                  <a:t>$QM=\frac{|\overrightarrow{PQ}\times(2,-2,1)|}{|(2,-2,1)|}=\frac{|(1,8,14)|}{3}=\frac{\sqrt{261}}{3}=\sqrt{29}$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$PM^2=38-29=9\Rightarrow PM=3$</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3.00</a:t>
            </a:r>
            <a:endParaRPr sz="2800">
              <a:solidFill>
                <a:srgbClr val="15803D"/>
              </a:solidFill>
            </a:endParaRP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median of the isosceles triangle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sSup>
                      <m:e>
                        <m:r>
                          <a:rPr lang="en-IN" sz="2400" i="1">
                            <a:solidFill>
                              <a:srgbClr val="111827"/>
                            </a:solidFill>
                            <a:latin typeface="Cambria Math" panose="02040503050406030204" pitchFamily="18" charset="0"/>
                          </a:rPr>
                          <m:t>𝑄</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from the apex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also the altitude: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sSup>
                      <m:e>
                        <m:r>
                          <a:rPr lang="en-IN" sz="2400" i="1">
                            <a:solidFill>
                              <a:srgbClr val="111827"/>
                            </a:solidFill>
                            <a:latin typeface="Cambria Math" panose="02040503050406030204" pitchFamily="18" charset="0"/>
                          </a:rPr>
                          <m:t>𝑄</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is the foot of the perpendicular from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to the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 of the projection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e>
                    </m:acc>
                  </m:oMath>
                </a14:m>
                <a:r>
                  <a:rPr sz="2400" b="0">
                    <a:solidFill>
                      <a:srgbClr val="111827"/>
                    </a:solidFill>
                    <a:latin typeface="Arial"/>
                  </a:rPr>
                  <a:t> on a line with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distance of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from the line: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(they satisfy </a:t>
                </a:r>
                <a14:m>
                  <m:oMath xmlns:m="http://schemas.openxmlformats.org/officeDocument/2006/math">
                    <m:r>
                      <a:rPr lang="en-IN" sz="2400" i="1">
                        <a:solidFill>
                          <a:srgbClr val="111827"/>
                        </a:solidFill>
                        <a:latin typeface="Cambria Math" panose="02040503050406030204" pitchFamily="18" charset="0"/>
                      </a:rPr>
                      <m:t>𝑃</m:t>
                    </m:r>
                    <m:sSup>
                      <m:e>
                        <m:r>
                          <a:rPr lang="en-IN" sz="2400" i="1">
                            <a:solidFill>
                              <a:srgbClr val="111827"/>
                            </a:solidFill>
                            <a:latin typeface="Cambria Math" panose="02040503050406030204" pitchFamily="18" charset="0"/>
                          </a:rPr>
                          <m:t>𝑄</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nor/>
                          </m:rPr>
                          <a:rPr lang="en-IN" sz="2400" i="1">
                            <a:solidFill>
                              <a:srgbClr val="111827"/>
                            </a:solidFill>
                            <a:latin typeface="Cambria Math" panose="02040503050406030204" pitchFamily="18" charset="0"/>
                          </a:rPr>
                          <m:t>𝑝𝑟𝑜𝑗</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nor/>
                          </m:rPr>
                          <a:rPr lang="en-IN" sz="2400" i="1">
                            <a:solidFill>
                              <a:srgbClr val="111827"/>
                            </a:solidFill>
                            <a:latin typeface="Cambria Math" panose="02040503050406030204" pitchFamily="18" charset="0"/>
                          </a:rPr>
                          <m:t>𝑑𝑖𝑠𝑡</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image </a:t>
                </a:r>
                <a14:m>
                  <m:oMath xmlns:m="http://schemas.openxmlformats.org/officeDocument/2006/math">
                    <m:sSup>
                      <m:e>
                        <m:r>
                          <a:rPr lang="en-IN" sz="2400" i="1">
                            <a:solidFill>
                              <a:srgbClr val="111827"/>
                            </a:solidFill>
                            <a:latin typeface="Cambria Math" panose="02040503050406030204" pitchFamily="18" charset="0"/>
                          </a:rPr>
                          <m:t>𝑄</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oMath>
                </a14:m>
                <a:r>
                  <a:rPr sz="2400" b="0">
                    <a:solidFill>
                      <a:srgbClr val="111827"/>
                    </a:solidFill>
                    <a:latin typeface="Arial"/>
                  </a:rPr>
                  <a:t> is not needed here.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median of the isosceles triangle </a:t>
                </a:r>
                <a:r>
                  <a:rPr lang="en-IN" sz="2400">
                    <a:solidFill>
                      <a:srgbClr val="111827"/>
                    </a:solidFill>
                    <a:latin typeface="Cambria Math" panose="02040503050406030204" pitchFamily="18" charset="0"/>
                  </a:rPr>
                  <a:t>$PQQ'$</a:t>
                </a:r>
                <a:r>
                  <a:rPr sz="2400" b="0">
                    <a:solidFill>
                      <a:srgbClr val="111827"/>
                    </a:solidFill>
                    <a:latin typeface="Arial"/>
                  </a:rPr>
                  <a:t> from the apex </a:t>
                </a:r>
                <a:r>
                  <a:rPr lang="en-IN" sz="2400">
                    <a:solidFill>
                      <a:srgbClr val="111827"/>
                    </a:solidFill>
                    <a:latin typeface="Cambria Math" panose="02040503050406030204" pitchFamily="18" charset="0"/>
                  </a:rPr>
                  <a:t>$P$</a:t>
                </a:r>
                <a:r>
                  <a:rPr sz="2400" b="0">
                    <a:solidFill>
                      <a:srgbClr val="111827"/>
                    </a:solidFill>
                    <a:latin typeface="Arial"/>
                  </a:rPr>
                  <a:t> is also the altitude: </a:t>
                </a:r>
                <a:r>
                  <a:rPr lang="en-IN" sz="2400">
                    <a:solidFill>
                      <a:srgbClr val="111827"/>
                    </a:solidFill>
                    <a:latin typeface="Cambria Math" panose="02040503050406030204" pitchFamily="18" charset="0"/>
                  </a:rPr>
                  <a:t>$PM\perp QQ'$</a:t>
                </a:r>
                <a:r>
                  <a:rPr sz="2400" b="0">
                    <a:solidFill>
                      <a:srgbClr val="111827"/>
                    </a:solidFill>
                    <a:latin typeface="Arial"/>
                  </a:rPr>
                  <a:t> and </a:t>
                </a:r>
                <a:r>
                  <a:rPr lang="en-IN" sz="2400">
                    <a:solidFill>
                      <a:srgbClr val="111827"/>
                    </a:solidFill>
                    <a:latin typeface="Cambria Math" panose="02040503050406030204" pitchFamily="18" charset="0"/>
                  </a:rPr>
                  <a:t>$M$</a:t>
                </a:r>
                <a:r>
                  <a:rPr sz="2400" b="0">
                    <a:solidFill>
                      <a:srgbClr val="111827"/>
                    </a:solidFill>
                    <a:latin typeface="Arial"/>
                  </a:rPr>
                  <a:t> is the foot of the perpendicular from </a:t>
                </a:r>
                <a:r>
                  <a:rPr lang="en-IN" sz="2400">
                    <a:solidFill>
                      <a:srgbClr val="111827"/>
                    </a:solidFill>
                    <a:latin typeface="Cambria Math" panose="02040503050406030204" pitchFamily="18" charset="0"/>
                  </a:rPr>
                  <a:t>$Q$</a:t>
                </a:r>
                <a:r>
                  <a:rPr sz="2400" b="0">
                    <a:solidFill>
                      <a:srgbClr val="111827"/>
                    </a:solidFill>
                    <a:latin typeface="Arial"/>
                  </a:rPr>
                  <a:t> to the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 of the projection of </a:t>
                </a:r>
                <a:r>
                  <a:rPr lang="en-IN" sz="2400">
                    <a:solidFill>
                      <a:srgbClr val="111827"/>
                    </a:solidFill>
                    <a:latin typeface="Cambria Math" panose="02040503050406030204" pitchFamily="18" charset="0"/>
                  </a:rPr>
                  <a:t>$\overrightarrow{PQ}$</a:t>
                </a:r>
                <a:r>
                  <a:rPr sz="2400" b="0">
                    <a:solidFill>
                      <a:srgbClr val="111827"/>
                    </a:solidFill>
                    <a:latin typeface="Arial"/>
                  </a:rPr>
                  <a:t> on a line with direction </a:t>
                </a:r>
                <a:r>
                  <a:rPr lang="en-IN" sz="2400">
                    <a:solidFill>
                      <a:srgbClr val="111827"/>
                    </a:solidFill>
                    <a:latin typeface="Cambria Math" panose="02040503050406030204" pitchFamily="18" charset="0"/>
                  </a:rPr>
                  <a:t>$\vec d$</a:t>
                </a:r>
                <a:r>
                  <a:rPr sz="2400" b="0">
                    <a:solidFill>
                      <a:srgbClr val="111827"/>
                    </a:solidFill>
                    <a:latin typeface="Arial"/>
                  </a:rPr>
                  <a:t>: </a:t>
                </a:r>
                <a:r>
                  <a:rPr lang="en-IN" sz="2400">
                    <a:solidFill>
                      <a:srgbClr val="111827"/>
                    </a:solidFill>
                    <a:latin typeface="Cambria Math" panose="02040503050406030204" pitchFamily="18" charset="0"/>
                  </a:rPr>
                  <a:t>$\frac{|\overrightarrow{PQ}\cdot\vec d|}{|\vec d|}$</a:t>
                </a:r>
                <a:r>
                  <a:rPr sz="2400" b="0">
                    <a:solidFill>
                      <a:srgbClr val="111827"/>
                    </a:solidFill>
                    <a:latin typeface="Arial"/>
                  </a:rPr>
                  <a:t>; distance of </a:t>
                </a:r>
                <a:r>
                  <a:rPr lang="en-IN" sz="2400">
                    <a:solidFill>
                      <a:srgbClr val="111827"/>
                    </a:solidFill>
                    <a:latin typeface="Cambria Math" panose="02040503050406030204" pitchFamily="18" charset="0"/>
                  </a:rPr>
                  <a:t>$Q$</a:t>
                </a:r>
                <a:r>
                  <a:rPr sz="2400" b="0">
                    <a:solidFill>
                      <a:srgbClr val="111827"/>
                    </a:solidFill>
                    <a:latin typeface="Arial"/>
                  </a:rPr>
                  <a:t> from the line: </a:t>
                </a:r>
                <a:r>
                  <a:rPr lang="en-IN" sz="2400">
                    <a:solidFill>
                      <a:srgbClr val="111827"/>
                    </a:solidFill>
                    <a:latin typeface="Cambria Math" panose="02040503050406030204" pitchFamily="18" charset="0"/>
                  </a:rPr>
                  <a:t>$\frac{|\overrightarrow{PQ}\times\vec d|}{|\vec d|}$</a:t>
                </a:r>
                <a:r>
                  <a:rPr sz="2400" b="0">
                    <a:solidFill>
                      <a:srgbClr val="111827"/>
                    </a:solidFill>
                    <a:latin typeface="Arial"/>
                  </a:rPr>
                  <a:t> (they satisfy </a:t>
                </a:r>
                <a:r>
                  <a:rPr lang="en-IN" sz="2400">
                    <a:solidFill>
                      <a:srgbClr val="111827"/>
                    </a:solidFill>
                    <a:latin typeface="Cambria Math" panose="02040503050406030204" pitchFamily="18" charset="0"/>
                  </a:rPr>
                  <a:t>$PQ^2=\text{proj}^2+\text{dist}^2$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image </a:t>
                </a:r>
                <a:r>
                  <a:rPr lang="en-IN" sz="2400">
                    <a:solidFill>
                      <a:srgbClr val="111827"/>
                    </a:solidFill>
                    <a:latin typeface="Cambria Math" panose="02040503050406030204" pitchFamily="18" charset="0"/>
                  </a:rPr>
                  <a:t>$Q'=2M-Q$</a:t>
                </a:r>
                <a:r>
                  <a:rPr sz="2400" b="0">
                    <a:solidFill>
                      <a:srgbClr val="111827"/>
                    </a:solidFill>
                    <a:latin typeface="Arial"/>
                  </a:rPr>
                  <a:t> is not needed here.</a:t>
                </a:r>
                <a:endParaRPr sz="2400">
                  <a:solidFill>
                    <a:srgbClr val="111827"/>
                  </a:solidFill>
                </a:endParaRPr>
              </a:p>
            </p:txBody>
          </p:sp>
        </mc:Fallback>
      </mc:AlternateContent>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lines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𝑦</m:t>
                    </m:r>
                  </m:oMath>
                </a14:m>
                <a:r>
                  <a:rPr sz="2400" b="0">
                    <a:solidFill>
                      <a:srgbClr val="111827"/>
                    </a:solidFill>
                    <a:latin typeface="Arial"/>
                  </a:rPr>
                  <a:t> are perpendicular, where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are sides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then minimum value of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𝐵</m:t>
                    </m:r>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lines </a:t>
                </a:r>
                <a:r>
                  <a:rPr lang="en-IN" sz="2400">
                    <a:solidFill>
                      <a:srgbClr val="111827"/>
                    </a:solidFill>
                    <a:latin typeface="Cambria Math" panose="02040503050406030204" pitchFamily="18" charset="0"/>
                  </a:rPr>
                  <a:t>$bx=1-cy,\ bz=1$</a:t>
                </a:r>
                <a:r>
                  <a:rPr sz="2400" b="0">
                    <a:solidFill>
                      <a:srgbClr val="111827"/>
                    </a:solidFill>
                    <a:latin typeface="Arial"/>
                  </a:rPr>
                  <a:t> and </a:t>
                </a:r>
                <a:r>
                  <a:rPr lang="en-IN" sz="2400">
                    <a:solidFill>
                      <a:srgbClr val="111827"/>
                    </a:solidFill>
                    <a:latin typeface="Cambria Math" panose="02040503050406030204" pitchFamily="18" charset="0"/>
                  </a:rPr>
                  <a:t>$bx=2+ay,\ bz=3+cy$</a:t>
                </a:r>
                <a:r>
                  <a:rPr sz="2400" b="0">
                    <a:solidFill>
                      <a:srgbClr val="111827"/>
                    </a:solidFill>
                    <a:latin typeface="Arial"/>
                  </a:rPr>
                  <a:t> are perpendicular, where </a:t>
                </a:r>
                <a:r>
                  <a:rPr lang="en-IN" sz="2400">
                    <a:solidFill>
                      <a:srgbClr val="111827"/>
                    </a:solidFill>
                    <a:latin typeface="Cambria Math" panose="02040503050406030204" pitchFamily="18" charset="0"/>
                  </a:rPr>
                  <a:t>$a,b,c$</a:t>
                </a:r>
                <a:r>
                  <a:rPr sz="2400" b="0">
                    <a:solidFill>
                      <a:srgbClr val="111827"/>
                    </a:solidFill>
                    <a:latin typeface="Arial"/>
                  </a:rPr>
                  <a:t> are sides of </a:t>
                </a:r>
                <a:r>
                  <a:rPr lang="en-IN" sz="2400">
                    <a:solidFill>
                      <a:srgbClr val="111827"/>
                    </a:solidFill>
                    <a:latin typeface="Cambria Math" panose="02040503050406030204" pitchFamily="18" charset="0"/>
                  </a:rPr>
                  <a:t>$\triangle ABC$</a:t>
                </a:r>
                <a:r>
                  <a:rPr sz="2400" b="0">
                    <a:solidFill>
                      <a:srgbClr val="111827"/>
                    </a:solidFill>
                    <a:latin typeface="Arial"/>
                  </a:rPr>
                  <a:t>, then minimum value of </a:t>
                </a:r>
                <a:r>
                  <a:rPr lang="en-IN" sz="2400">
                    <a:solidFill>
                      <a:srgbClr val="111827"/>
                    </a:solidFill>
                    <a:latin typeface="Cambria Math" panose="02040503050406030204" pitchFamily="18" charset="0"/>
                  </a:rPr>
                  <a:t>$\cos B$</a:t>
                </a:r>
                <a:r>
                  <a:rPr sz="2400" b="0">
                    <a:solidFill>
                      <a:srgbClr val="111827"/>
                    </a:solidFill>
                    <a:latin typeface="Arial"/>
                  </a:rPr>
                  <a:t> is ________.</a:t>
                </a:r>
                <a:endParaRPr sz="2400">
                  <a:solidFill>
                    <a:srgbClr val="111827"/>
                  </a:solidFill>
                </a:endParaRPr>
              </a:p>
            </p:txBody>
          </p:sp>
        </mc:Fallback>
      </mc:AlternateContent>
      <p:sp>
        <p:nvSpPr>
          <p:cNvPr id="5" name="Rectangle 4"/>
          <p:cNvSpPr/>
          <p:nvPr/>
        </p:nvSpPr>
        <p:spPr>
          <a:xfrm>
            <a:off x="731520" y="324612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Perpendicular lines in 3D with parameters, Cosine rule and AM-GM</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Perpendicularity gives </a:t>
                </a:r>
                <a14:m>
                  <m:oMath xmlns:m="http://schemas.openxmlformats.org/officeDocument/2006/math">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𝑐</m:t>
                    </m:r>
                  </m:oMath>
                </a14:m>
                <a:r>
                  <a:rPr sz="2400" b="0">
                    <a:solidFill>
                      <a:srgbClr val="78350F"/>
                    </a:solidFill>
                    <a:latin typeface="Arial"/>
                  </a:rPr>
                  <a:t>; then </a:t>
                </a:r>
                <a14:m>
                  <m:oMath xmlns:m="http://schemas.openxmlformats.org/officeDocument/2006/math">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𝑐</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𝑐</m:t>
                        </m:r>
                      </m:num>
                      <m:den>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𝑐</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Perpendicularity gives </a:t>
                </a:r>
                <a:r>
                  <a:rPr lang="en-IN" sz="2400">
                    <a:solidFill>
                      <a:srgbClr val="78350F"/>
                    </a:solidFill>
                    <a:latin typeface="Cambria Math" panose="02040503050406030204" pitchFamily="18" charset="0"/>
                  </a:rPr>
                  <a:t>$b^2=ac$</a:t>
                </a:r>
                <a:r>
                  <a:rPr sz="2400" b="0">
                    <a:solidFill>
                      <a:srgbClr val="78350F"/>
                    </a:solidFill>
                    <a:latin typeface="Arial"/>
                  </a:rPr>
                  <a:t>; then </a:t>
                </a:r>
                <a:r>
                  <a:rPr lang="en-IN" sz="2400">
                    <a:solidFill>
                      <a:srgbClr val="78350F"/>
                    </a:solidFill>
                    <a:latin typeface="Cambria Math" panose="02040503050406030204" pitchFamily="18" charset="0"/>
                  </a:rPr>
                  <a:t>$\cos B=\frac{a^2+c^2-ac}{2ac}\ge\frac12$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1: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𝑏</m:t>
                        </m:r>
                      </m:den>
                    </m:f>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𝑏</m:t>
                        </m:r>
                      </m:den>
                    </m:f>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𝑏</m:t>
                            </m:r>
                          </m:den>
                        </m:f>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𝑏</m:t>
                            </m:r>
                          </m:den>
                        </m:f>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𝑏</m:t>
                            </m:r>
                          </m:den>
                        </m:f>
                      </m:num>
                      <m:den>
                        <m:r>
                          <a:rPr lang="en-IN" sz="2400" i="1">
                            <a:solidFill>
                              <a:srgbClr val="111827"/>
                            </a:solidFill>
                            <a:latin typeface="Cambria Math" panose="02040503050406030204" pitchFamily="18" charset="0"/>
                          </a:rPr>
                          <m:t>0</m:t>
                        </m:r>
                      </m:den>
                    </m:f>
                  </m:oMath>
                </a14:m>
                <a:r>
                  <a:rPr sz="2400" b="0">
                    <a:solidFill>
                      <a:srgbClr val="111827"/>
                    </a:solidFill>
                    <a:latin typeface="Arial"/>
                  </a:rPr>
                  <a:t> (direction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2: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𝑎</m:t>
                            </m:r>
                          </m:den>
                        </m:f>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𝑏</m:t>
                            </m:r>
                          </m:den>
                        </m:f>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𝑐</m:t>
                            </m:r>
                          </m:den>
                        </m:f>
                      </m:num>
                      <m:den>
                        <m:r>
                          <a:rPr lang="en-IN" sz="2400" i="1">
                            <a:solidFill>
                              <a:srgbClr val="111827"/>
                            </a:solidFill>
                            <a:latin typeface="Cambria Math" panose="02040503050406030204" pitchFamily="18" charset="0"/>
                          </a:rPr>
                          <m:t>𝑐</m:t>
                        </m:r>
                      </m:den>
                    </m:f>
                  </m:oMath>
                </a14:m>
                <a:r>
                  <a:rPr sz="2400" b="0">
                    <a:solidFill>
                      <a:srgbClr val="111827"/>
                    </a:solidFill>
                    <a:latin typeface="Arial"/>
                  </a:rPr>
                  <a:t> (as in the PDF; direction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lines are perpendicular: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Line 1: </a:t>
                </a:r>
                <a:r>
                  <a:rPr lang="en-IN" sz="2400">
                    <a:solidFill>
                      <a:srgbClr val="111827"/>
                    </a:solidFill>
                    <a:latin typeface="Cambria Math" panose="02040503050406030204" pitchFamily="18" charset="0"/>
                  </a:rPr>
                  <a:t>$x=\frac1b-\frac cby,\ z=\frac1b$</a:t>
                </a:r>
                <a:r>
                  <a:rPr sz="2400" b="0">
                    <a:solidFill>
                      <a:srgbClr val="111827"/>
                    </a:solidFill>
                    <a:latin typeface="Arial"/>
                  </a:rPr>
                  <a:t>, i.e. </a:t>
                </a:r>
                <a:r>
                  <a:rPr lang="en-IN" sz="2400">
                    <a:solidFill>
                      <a:srgbClr val="111827"/>
                    </a:solidFill>
                    <a:latin typeface="Cambria Math" panose="02040503050406030204" pitchFamily="18" charset="0"/>
                  </a:rPr>
                  <a:t>$\frac{x-\frac1b}{c}=\frac{y-\frac1b}{-b}=\frac{z-\frac1b}{0}$</a:t>
                </a:r>
                <a:r>
                  <a:rPr sz="2400" b="0">
                    <a:solidFill>
                      <a:srgbClr val="111827"/>
                    </a:solidFill>
                    <a:latin typeface="Arial"/>
                  </a:rPr>
                  <a:t> (direction </a:t>
                </a:r>
                <a:r>
                  <a:rPr lang="en-IN" sz="2400">
                    <a:solidFill>
                      <a:srgbClr val="111827"/>
                    </a:solidFill>
                    <a:latin typeface="Cambria Math" panose="02040503050406030204" pitchFamily="18" charset="0"/>
                  </a:rPr>
                  <a:t>$(c,-b,0)$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Line 2: </a:t>
                </a:r>
                <a:r>
                  <a:rPr lang="en-IN" sz="2400">
                    <a:solidFill>
                      <a:srgbClr val="111827"/>
                    </a:solidFill>
                    <a:latin typeface="Cambria Math" panose="02040503050406030204" pitchFamily="18" charset="0"/>
                  </a:rPr>
                  <a:t>$\frac{x-\frac2a}{a}=\frac{y-\frac1b}{b}=\frac{z-\frac3c}{c}$</a:t>
                </a:r>
                <a:r>
                  <a:rPr sz="2400" b="0">
                    <a:solidFill>
                      <a:srgbClr val="111827"/>
                    </a:solidFill>
                    <a:latin typeface="Arial"/>
                  </a:rPr>
                  <a:t> (as in the PDF; direction </a:t>
                </a:r>
                <a:r>
                  <a:rPr lang="en-IN" sz="2400">
                    <a:solidFill>
                      <a:srgbClr val="111827"/>
                    </a:solidFill>
                    <a:latin typeface="Cambria Math" panose="02040503050406030204" pitchFamily="18" charset="0"/>
                  </a:rPr>
                  <a:t>$(a,b,c)$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lines are perpendicular: </a:t>
                </a:r>
                <a:r>
                  <a:rPr lang="en-IN" sz="2400">
                    <a:solidFill>
                      <a:srgbClr val="111827"/>
                    </a:solidFill>
                    <a:latin typeface="Cambria Math" panose="02040503050406030204" pitchFamily="18" charset="0"/>
                  </a:rPr>
                  <a:t>$ac-b^2+0=0\Rightarrow b^2=ac$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Equality holds when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an equilateral triangle), so the minimum value of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𝐵</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$\cos B=\frac{a^2+c^2-b^2}{2ac}=\frac{a^2+c^2-ac}{2ac}=\frac12\left(\frac ac+\frac ca\right)-\frac12$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$\frac ac+\frac ca\ge2$</a:t>
                </a:r>
                <a:r>
                  <a:rPr sz="2400" b="0">
                    <a:solidFill>
                      <a:srgbClr val="111827"/>
                    </a:solidFill>
                    <a:latin typeface="Arial"/>
                  </a:rPr>
                  <a:t> (for </a:t>
                </a:r>
                <a:r>
                  <a:rPr lang="en-IN" sz="2400">
                    <a:solidFill>
                      <a:srgbClr val="111827"/>
                    </a:solidFill>
                    <a:latin typeface="Cambria Math" panose="02040503050406030204" pitchFamily="18" charset="0"/>
                  </a:rPr>
                  <a:t>$a,c&gt;0$</a:t>
                </a:r>
                <a:r>
                  <a:rPr sz="2400" b="0">
                    <a:solidFill>
                      <a:srgbClr val="111827"/>
                    </a:solidFill>
                    <a:latin typeface="Arial"/>
                  </a:rPr>
                  <a:t>), </a:t>
                </a:r>
                <a:r>
                  <a:rPr lang="en-IN" sz="2400">
                    <a:solidFill>
                      <a:srgbClr val="111827"/>
                    </a:solidFill>
                    <a:latin typeface="Cambria Math" panose="02040503050406030204" pitchFamily="18" charset="0"/>
                  </a:rPr>
                  <a:t>$\cos B\ge\frac12(2)-\frac12=\frac12$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Equality holds when </a:t>
                </a:r>
                <a:r>
                  <a:rPr lang="en-IN" sz="2400">
                    <a:solidFill>
                      <a:srgbClr val="111827"/>
                    </a:solidFill>
                    <a:latin typeface="Cambria Math" panose="02040503050406030204" pitchFamily="18" charset="0"/>
                  </a:rPr>
                  <a:t>$a=c$</a:t>
                </a:r>
                <a:r>
                  <a:rPr sz="2400" b="0">
                    <a:solidFill>
                      <a:srgbClr val="111827"/>
                    </a:solidFill>
                    <a:latin typeface="Arial"/>
                  </a:rPr>
                  <a:t> (then </a:t>
                </a:r>
                <a:r>
                  <a:rPr lang="en-IN" sz="2400">
                    <a:solidFill>
                      <a:srgbClr val="111827"/>
                    </a:solidFill>
                    <a:latin typeface="Cambria Math" panose="02040503050406030204" pitchFamily="18" charset="0"/>
                  </a:rPr>
                  <a:t>$b=a$</a:t>
                </a:r>
                <a:r>
                  <a:rPr sz="2400" b="0">
                    <a:solidFill>
                      <a:srgbClr val="111827"/>
                    </a:solidFill>
                    <a:latin typeface="Arial"/>
                  </a:rPr>
                  <a:t>: an equilateral triangle), so the minimum value of </a:t>
                </a:r>
                <a:r>
                  <a:rPr lang="en-IN" sz="2400">
                    <a:solidFill>
                      <a:srgbClr val="111827"/>
                    </a:solidFill>
                    <a:latin typeface="Cambria Math" panose="02040503050406030204" pitchFamily="18" charset="0"/>
                  </a:rPr>
                  <a:t>$\cos B$</a:t>
                </a:r>
                <a:r>
                  <a:rPr sz="2400" b="0">
                    <a:solidFill>
                      <a:srgbClr val="111827"/>
                    </a:solidFill>
                    <a:latin typeface="Arial"/>
                  </a:rPr>
                  <a:t> is </a:t>
                </a:r>
                <a:r>
                  <a:rPr lang="en-IN" sz="2400">
                    <a:solidFill>
                      <a:srgbClr val="111827"/>
                    </a:solidFill>
                    <a:latin typeface="Cambria Math" panose="02040503050406030204" pitchFamily="18" charset="0"/>
                  </a:rPr>
                  <a:t>$\frac12=0.5$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0.5</a:t>
            </a:r>
            <a:endParaRPr sz="2800">
              <a:solidFill>
                <a:srgbClr val="15803D"/>
              </a:solidFill>
            </a:endParaRP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Complete the square in the numerator: </a:t>
                </a:r>
                <a14:m>
                  <m:oMath xmlns:m="http://schemas.openxmlformats.org/officeDocument/2006/math">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𝑐</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𝑐</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Complete the square in the numerator: </a:t>
                </a:r>
                <a:r>
                  <a:rPr lang="en-IN" sz="2400">
                    <a:solidFill>
                      <a:srgbClr val="78350F"/>
                    </a:solidFill>
                    <a:latin typeface="Cambria Math" panose="02040503050406030204" pitchFamily="18" charset="0"/>
                  </a:rPr>
                  <a:t>$a^2+c^2-ac=(a-c)^2+ac$</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second term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iff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hence the minimum of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𝐵</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(equilateral triangle).</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a:t>
                </a:r>
                <a:r>
                  <a:rPr lang="en-IN" sz="2400">
                    <a:solidFill>
                      <a:srgbClr val="111827"/>
                    </a:solidFill>
                    <a:latin typeface="Cambria Math" panose="02040503050406030204" pitchFamily="18" charset="0"/>
                  </a:rPr>
                  <a:t>$b^2=ac$</a:t>
                </a:r>
                <a:r>
                  <a:rPr sz="2400" b="0">
                    <a:solidFill>
                      <a:srgbClr val="111827"/>
                    </a:solidFill>
                    <a:latin typeface="Arial"/>
                  </a:rPr>
                  <a:t>: </a:t>
                </a:r>
                <a:r>
                  <a:rPr lang="en-IN" sz="2400">
                    <a:solidFill>
                      <a:srgbClr val="111827"/>
                    </a:solidFill>
                    <a:latin typeface="Cambria Math" panose="02040503050406030204" pitchFamily="18" charset="0"/>
                  </a:rPr>
                  <a:t>$\cos B=\frac{a^2+c^2-ac}{2ac}$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$a^2+c^2-ac=(a-c)^2+ac$</a:t>
                </a:r>
                <a:r>
                  <a:rPr sz="2400" b="0">
                    <a:solidFill>
                      <a:srgbClr val="111827"/>
                    </a:solidFill>
                    <a:latin typeface="Arial"/>
                  </a:rPr>
                  <a:t>, so </a:t>
                </a:r>
                <a:r>
                  <a:rPr lang="en-IN" sz="2400">
                    <a:solidFill>
                      <a:srgbClr val="111827"/>
                    </a:solidFill>
                    <a:latin typeface="Cambria Math" panose="02040503050406030204" pitchFamily="18" charset="0"/>
                  </a:rPr>
                  <a:t>$\cos B=\frac12+\frac{(a-c)^2}{2ac}$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second term is </a:t>
                </a:r>
                <a:r>
                  <a:rPr lang="en-IN" sz="2400">
                    <a:solidFill>
                      <a:srgbClr val="111827"/>
                    </a:solidFill>
                    <a:latin typeface="Cambria Math" panose="02040503050406030204" pitchFamily="18" charset="0"/>
                  </a:rPr>
                  <a:t>$\ge0$</a:t>
                </a:r>
                <a:r>
                  <a:rPr sz="2400" b="0">
                    <a:solidFill>
                      <a:srgbClr val="111827"/>
                    </a:solidFill>
                    <a:latin typeface="Arial"/>
                  </a:rPr>
                  <a:t> and is </a:t>
                </a:r>
                <a:r>
                  <a:rPr lang="en-IN" sz="2400">
                    <a:solidFill>
                      <a:srgbClr val="111827"/>
                    </a:solidFill>
                    <a:latin typeface="Cambria Math" panose="02040503050406030204" pitchFamily="18" charset="0"/>
                  </a:rPr>
                  <a:t>$0$</a:t>
                </a:r>
                <a:r>
                  <a:rPr sz="2400" b="0">
                    <a:solidFill>
                      <a:srgbClr val="111827"/>
                    </a:solidFill>
                    <a:latin typeface="Arial"/>
                  </a:rPr>
                  <a:t> iff </a:t>
                </a:r>
                <a:r>
                  <a:rPr lang="en-IN" sz="2400">
                    <a:solidFill>
                      <a:srgbClr val="111827"/>
                    </a:solidFill>
                    <a:latin typeface="Cambria Math" panose="02040503050406030204" pitchFamily="18" charset="0"/>
                  </a:rPr>
                  <a:t>$a=c$</a:t>
                </a:r>
                <a:r>
                  <a:rPr sz="2400" b="0">
                    <a:solidFill>
                      <a:srgbClr val="111827"/>
                    </a:solidFill>
                    <a:latin typeface="Arial"/>
                  </a:rPr>
                  <a:t>; hence the minimum of </a:t>
                </a:r>
                <a:r>
                  <a:rPr lang="en-IN" sz="2400">
                    <a:solidFill>
                      <a:srgbClr val="111827"/>
                    </a:solidFill>
                    <a:latin typeface="Cambria Math" panose="02040503050406030204" pitchFamily="18" charset="0"/>
                  </a:rPr>
                  <a:t>$\cos B$</a:t>
                </a:r>
                <a:r>
                  <a:rPr sz="2400" b="0">
                    <a:solidFill>
                      <a:srgbClr val="111827"/>
                    </a:solidFill>
                    <a:latin typeface="Arial"/>
                  </a:rPr>
                  <a:t> is </a:t>
                </a:r>
                <a:r>
                  <a:rPr lang="en-IN" sz="2400">
                    <a:solidFill>
                      <a:srgbClr val="111827"/>
                    </a:solidFill>
                    <a:latin typeface="Cambria Math" panose="02040503050406030204" pitchFamily="18" charset="0"/>
                  </a:rPr>
                  <a:t>$\frac12$</a:t>
                </a:r>
                <a:r>
                  <a:rPr sz="2400" b="0">
                    <a:solidFill>
                      <a:srgbClr val="111827"/>
                    </a:solidFill>
                    <a:latin typeface="Arial"/>
                  </a:rPr>
                  <a:t> (equilateral triangle).</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0.5</a:t>
            </a:r>
            <a:endParaRPr sz="2800">
              <a:solidFill>
                <a:srgbClr val="15803D"/>
              </a:solidFill>
            </a:endParaRP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Direction ratios of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𝑏</m:t>
                        </m:r>
                      </m:den>
                    </m:f>
                  </m:oMath>
                </a14:m>
                <a:r>
                  <a:rPr sz="2400" b="0">
                    <a:solidFill>
                      <a:srgbClr val="111827"/>
                    </a:solidFill>
                    <a:latin typeface="Arial"/>
                  </a:rPr>
                  <a:t> (a line in the plane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𝑏</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direction of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num>
                      <m:den>
                        <m:r>
                          <a:rPr lang="en-IN" sz="2400" i="1">
                            <a:solidFill>
                              <a:srgbClr val="111827"/>
                            </a:solidFill>
                            <a:latin typeface="Cambria Math" panose="02040503050406030204" pitchFamily="18" charset="0"/>
                          </a:rPr>
                          <m:t>𝑐</m:t>
                        </m:r>
                      </m:den>
                    </m:f>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𝑐</m:t>
                    </m:r>
                  </m:oMath>
                </a14:m>
                <a:r>
                  <a:rPr sz="2400" b="0">
                    <a:solidFill>
                      <a:srgbClr val="111827"/>
                    </a:solidFill>
                    <a:latin typeface="Arial"/>
                  </a:rPr>
                  <a:t> (sides in G.P.),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lines with direction vectors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perpendicular iff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(whether or not they intersect).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Direction ratios of </a:t>
                </a:r>
                <a:r>
                  <a:rPr lang="en-IN" sz="2400">
                    <a:solidFill>
                      <a:srgbClr val="111827"/>
                    </a:solidFill>
                    <a:latin typeface="Cambria Math" panose="02040503050406030204" pitchFamily="18" charset="0"/>
                  </a:rPr>
                  <a:t>$bx+cy=1,\ z=\frac1b$</a:t>
                </a:r>
                <a:r>
                  <a:rPr sz="2400" b="0">
                    <a:solidFill>
                      <a:srgbClr val="111827"/>
                    </a:solidFill>
                    <a:latin typeface="Arial"/>
                  </a:rPr>
                  <a:t> (a line in the plane </a:t>
                </a:r>
                <a:r>
                  <a:rPr lang="en-IN" sz="2400">
                    <a:solidFill>
                      <a:srgbClr val="111827"/>
                    </a:solidFill>
                    <a:latin typeface="Cambria Math" panose="02040503050406030204" pitchFamily="18" charset="0"/>
                  </a:rPr>
                  <a:t>$z=\frac1b$</a:t>
                </a:r>
                <a:r>
                  <a:rPr sz="2400" b="0">
                    <a:solidFill>
                      <a:srgbClr val="111827"/>
                    </a:solidFill>
                    <a:latin typeface="Arial"/>
                  </a:rPr>
                  <a:t>): </a:t>
                </a:r>
                <a:r>
                  <a:rPr lang="en-IN" sz="2400">
                    <a:solidFill>
                      <a:srgbClr val="111827"/>
                    </a:solidFill>
                    <a:latin typeface="Cambria Math" panose="02040503050406030204" pitchFamily="18" charset="0"/>
                  </a:rPr>
                  <a:t>$(c,-b,0)$</a:t>
                </a:r>
                <a:r>
                  <a:rPr sz="2400" b="0">
                    <a:solidFill>
                      <a:srgbClr val="111827"/>
                    </a:solidFill>
                    <a:latin typeface="Arial"/>
                  </a:rPr>
                  <a:t>; direction of </a:t>
                </a:r>
                <a:r>
                  <a:rPr lang="en-IN" sz="2400">
                    <a:solidFill>
                      <a:srgbClr val="111827"/>
                    </a:solidFill>
                    <a:latin typeface="Cambria Math" panose="02040503050406030204" pitchFamily="18" charset="0"/>
                  </a:rPr>
                  <a:t>$\frac{x-x_0}{a}=\frac{y-y_0}{b}=\frac{z-z_0}{c}$</a:t>
                </a:r>
                <a:r>
                  <a:rPr sz="2400" b="0">
                    <a:solidFill>
                      <a:srgbClr val="111827"/>
                    </a:solidFill>
                    <a:latin typeface="Arial"/>
                  </a:rPr>
                  <a:t> is </a:t>
                </a:r>
                <a:r>
                  <a:rPr lang="en-IN" sz="2400">
                    <a:solidFill>
                      <a:srgbClr val="111827"/>
                    </a:solidFill>
                    <a:latin typeface="Cambria Math" panose="02040503050406030204" pitchFamily="18" charset="0"/>
                  </a:rPr>
                  <a:t>$(a,b,c)$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$b^2=ac$</a:t>
                </a:r>
                <a:r>
                  <a:rPr sz="2400" b="0">
                    <a:solidFill>
                      <a:srgbClr val="111827"/>
                    </a:solidFill>
                    <a:latin typeface="Arial"/>
                  </a:rPr>
                  <a:t> (sides in G.P.), </a:t>
                </a:r>
                <a:r>
                  <a:rPr lang="en-IN" sz="2400">
                    <a:solidFill>
                      <a:srgbClr val="111827"/>
                    </a:solidFill>
                    <a:latin typeface="Cambria Math" panose="02040503050406030204" pitchFamily="18" charset="0"/>
                  </a:rPr>
                  <a:t>$\cos B=\frac12\left(\frac ac+\frac ca\right)-\frac12\ge\frac12$</a:t>
                </a:r>
                <a:r>
                  <a:rPr sz="2400" b="0">
                    <a:solidFill>
                      <a:srgbClr val="111827"/>
                    </a:solidFill>
                    <a:latin typeface="Arial"/>
                  </a:rPr>
                  <a:t>, i.e. </a:t>
                </a:r>
                <a:r>
                  <a:rPr lang="en-IN" sz="2400">
                    <a:solidFill>
                      <a:srgbClr val="111827"/>
                    </a:solidFill>
                    <a:latin typeface="Cambria Math" panose="02040503050406030204" pitchFamily="18" charset="0"/>
                  </a:rPr>
                  <a:t>$B\le60^\circ$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lines with direction vectors </a:t>
                </a:r>
                <a:r>
                  <a:rPr lang="en-IN" sz="2400">
                    <a:solidFill>
                      <a:srgbClr val="111827"/>
                    </a:solidFill>
                    <a:latin typeface="Cambria Math" panose="02040503050406030204" pitchFamily="18" charset="0"/>
                  </a:rPr>
                  <a:t>$\vec d_1,\vec d_2$</a:t>
                </a:r>
                <a:r>
                  <a:rPr sz="2400" b="0">
                    <a:solidFill>
                      <a:srgbClr val="111827"/>
                    </a:solidFill>
                    <a:latin typeface="Arial"/>
                  </a:rPr>
                  <a:t> are perpendicular iff </a:t>
                </a:r>
                <a:r>
                  <a:rPr lang="en-IN" sz="2400">
                    <a:solidFill>
                      <a:srgbClr val="111827"/>
                    </a:solidFill>
                    <a:latin typeface="Cambria Math" panose="02040503050406030204" pitchFamily="18" charset="0"/>
                  </a:rPr>
                  <a:t>$\vec d_1\cdot\vec d_2=0$</a:t>
                </a:r>
                <a:r>
                  <a:rPr sz="2400" b="0">
                    <a:solidFill>
                      <a:srgbClr val="111827"/>
                    </a:solidFill>
                    <a:latin typeface="Arial"/>
                  </a:rPr>
                  <a:t> (whether or not they intersect).</a:t>
                </a:r>
                <a:endParaRPr sz="2400">
                  <a:solidFill>
                    <a:srgbClr val="111827"/>
                  </a:solidFill>
                </a:endParaRPr>
              </a:p>
            </p:txBody>
          </p:sp>
        </mc:Fallback>
      </mc:AlternateContent>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 If projection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 along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then projection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 along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 a|=4$</a:t>
                </a:r>
                <a:r>
                  <a:rPr sz="2400" b="0">
                    <a:solidFill>
                      <a:srgbClr val="111827"/>
                    </a:solidFill>
                    <a:latin typeface="Arial"/>
                  </a:rPr>
                  <a:t>, </a:t>
                </a:r>
                <a:r>
                  <a:rPr lang="en-IN" sz="2400">
                    <a:solidFill>
                      <a:srgbClr val="111827"/>
                    </a:solidFill>
                    <a:latin typeface="Cambria Math" panose="02040503050406030204" pitchFamily="18" charset="0"/>
                  </a:rPr>
                  <a:t>$|\vec b|=1$</a:t>
                </a:r>
                <a:r>
                  <a:rPr sz="2400" b="0">
                    <a:solidFill>
                      <a:srgbClr val="111827"/>
                    </a:solidFill>
                    <a:latin typeface="Arial"/>
                  </a:rPr>
                  <a:t> and </a:t>
                </a:r>
                <a:r>
                  <a:rPr lang="en-IN" sz="2400">
                    <a:solidFill>
                      <a:srgbClr val="111827"/>
                    </a:solidFill>
                    <a:latin typeface="Cambria Math" panose="02040503050406030204" pitchFamily="18" charset="0"/>
                  </a:rPr>
                  <a:t>$\vec b\times\vec\alpha+\vec a=\vec\alpha$</a:t>
                </a:r>
                <a:r>
                  <a:rPr sz="2400" b="0">
                    <a:solidFill>
                      <a:srgbClr val="111827"/>
                    </a:solidFill>
                    <a:latin typeface="Arial"/>
                  </a:rPr>
                  <a:t>. If projection of </a:t>
                </a:r>
                <a:r>
                  <a:rPr lang="en-IN" sz="2400">
                    <a:solidFill>
                      <a:srgbClr val="111827"/>
                    </a:solidFill>
                    <a:latin typeface="Cambria Math" panose="02040503050406030204" pitchFamily="18" charset="0"/>
                  </a:rPr>
                  <a:t>$\vec\alpha$</a:t>
                </a:r>
                <a:r>
                  <a:rPr sz="2400" b="0">
                    <a:solidFill>
                      <a:srgbClr val="111827"/>
                    </a:solidFill>
                    <a:latin typeface="Arial"/>
                  </a:rPr>
                  <a:t> along </a:t>
                </a:r>
                <a:r>
                  <a:rPr lang="en-IN" sz="2400">
                    <a:solidFill>
                      <a:srgbClr val="111827"/>
                    </a:solidFill>
                    <a:latin typeface="Cambria Math" panose="02040503050406030204" pitchFamily="18" charset="0"/>
                  </a:rPr>
                  <a:t>$\vec b$</a:t>
                </a:r>
                <a:r>
                  <a:rPr sz="2400" b="0">
                    <a:solidFill>
                      <a:srgbClr val="111827"/>
                    </a:solidFill>
                    <a:latin typeface="Arial"/>
                  </a:rPr>
                  <a:t> is </a:t>
                </a:r>
                <a:r>
                  <a:rPr lang="en-IN" sz="2400">
                    <a:solidFill>
                      <a:srgbClr val="111827"/>
                    </a:solidFill>
                    <a:latin typeface="Cambria Math" panose="02040503050406030204" pitchFamily="18" charset="0"/>
                  </a:rPr>
                  <a:t>$3$</a:t>
                </a:r>
                <a:r>
                  <a:rPr sz="2400" b="0">
                    <a:solidFill>
                      <a:srgbClr val="111827"/>
                    </a:solidFill>
                    <a:latin typeface="Arial"/>
                  </a:rPr>
                  <a:t> then projection of </a:t>
                </a:r>
                <a:r>
                  <a:rPr lang="en-IN" sz="2400">
                    <a:solidFill>
                      <a:srgbClr val="111827"/>
                    </a:solidFill>
                    <a:latin typeface="Cambria Math" panose="02040503050406030204" pitchFamily="18" charset="0"/>
                  </a:rPr>
                  <a:t>$\vec\alpha$</a:t>
                </a:r>
                <a:r>
                  <a:rPr sz="2400" b="0">
                    <a:solidFill>
                      <a:srgbClr val="111827"/>
                    </a:solidFill>
                    <a:latin typeface="Arial"/>
                  </a:rPr>
                  <a:t> along </a:t>
                </a:r>
                <a:r>
                  <a:rPr lang="en-IN" sz="2400">
                    <a:solidFill>
                      <a:srgbClr val="111827"/>
                    </a:solidFill>
                    <a:latin typeface="Cambria Math" panose="02040503050406030204" pitchFamily="18" charset="0"/>
                  </a:rPr>
                  <a:t>$\vec a$</a:t>
                </a:r>
                <a:r>
                  <a:rPr sz="2400" b="0">
                    <a:solidFill>
                      <a:srgbClr val="111827"/>
                    </a:solidFill>
                    <a:latin typeface="Arial"/>
                  </a:rPr>
                  <a:t> is ________.</a:t>
                </a:r>
                <a:endParaRPr sz="2400">
                  <a:solidFill>
                    <a:srgbClr val="111827"/>
                  </a:solidFill>
                </a:endParaRPr>
              </a:p>
            </p:txBody>
          </p:sp>
        </mc:Fallback>
      </mc:AlternateContent>
      <p:sp>
        <p:nvSpPr>
          <p:cNvPr id="5" name="Rectangle 4"/>
          <p:cNvSpPr/>
          <p:nvPr/>
        </p:nvSpPr>
        <p:spPr>
          <a:xfrm>
            <a:off x="731520" y="324612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equation with cross product and projections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Dot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gives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 crossing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and eliminating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α</m:t>
                        </m:r>
                      </m:e>
                    </m:acc>
                  </m:oMath>
                </a14:m>
                <a:r>
                  <a:rPr sz="2400" b="0">
                    <a:solidFill>
                      <a:srgbClr val="78350F"/>
                    </a:solidFill>
                    <a:latin typeface="Arial"/>
                  </a:rPr>
                  <a:t> solves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α</m:t>
                        </m:r>
                      </m:e>
                    </m:acc>
                  </m:oMath>
                </a14:m>
                <a:r>
                  <a:rPr sz="2400" b="0">
                    <a:solidFill>
                      <a:srgbClr val="78350F"/>
                    </a:solidFill>
                    <a:latin typeface="Arial"/>
                  </a:rPr>
                  <a:t> completely.</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Dot with </a:t>
                </a:r>
                <a:r>
                  <a:rPr lang="en-IN" sz="2400">
                    <a:solidFill>
                      <a:srgbClr val="78350F"/>
                    </a:solidFill>
                    <a:latin typeface="Cambria Math" panose="02040503050406030204" pitchFamily="18" charset="0"/>
                  </a:rPr>
                  <a:t>$\vec b$</a:t>
                </a:r>
                <a:r>
                  <a:rPr sz="2400" b="0">
                    <a:solidFill>
                      <a:srgbClr val="78350F"/>
                    </a:solidFill>
                    <a:latin typeface="Arial"/>
                  </a:rPr>
                  <a:t> gives </a:t>
                </a:r>
                <a:r>
                  <a:rPr lang="en-IN" sz="2400">
                    <a:solidFill>
                      <a:srgbClr val="78350F"/>
                    </a:solidFill>
                    <a:latin typeface="Cambria Math" panose="02040503050406030204" pitchFamily="18" charset="0"/>
                  </a:rPr>
                  <a:t>$\vec a\cdot\vec b=3$</a:t>
                </a:r>
                <a:r>
                  <a:rPr sz="2400" b="0">
                    <a:solidFill>
                      <a:srgbClr val="78350F"/>
                    </a:solidFill>
                    <a:latin typeface="Arial"/>
                  </a:rPr>
                  <a:t>; crossing with </a:t>
                </a:r>
                <a:r>
                  <a:rPr lang="en-IN" sz="2400">
                    <a:solidFill>
                      <a:srgbClr val="78350F"/>
                    </a:solidFill>
                    <a:latin typeface="Cambria Math" panose="02040503050406030204" pitchFamily="18" charset="0"/>
                  </a:rPr>
                  <a:t>$\vec b$</a:t>
                </a:r>
                <a:r>
                  <a:rPr sz="2400" b="0">
                    <a:solidFill>
                      <a:srgbClr val="78350F"/>
                    </a:solidFill>
                    <a:latin typeface="Arial"/>
                  </a:rPr>
                  <a:t> and eliminating </a:t>
                </a:r>
                <a:r>
                  <a:rPr lang="en-IN" sz="2400">
                    <a:solidFill>
                      <a:srgbClr val="78350F"/>
                    </a:solidFill>
                    <a:latin typeface="Cambria Math" panose="02040503050406030204" pitchFamily="18" charset="0"/>
                  </a:rPr>
                  <a:t>$\vec b\times\vec\alpha$</a:t>
                </a:r>
                <a:r>
                  <a:rPr sz="2400" b="0">
                    <a:solidFill>
                      <a:srgbClr val="78350F"/>
                    </a:solidFill>
                    <a:latin typeface="Arial"/>
                  </a:rPr>
                  <a:t> solves </a:t>
                </a:r>
                <a:r>
                  <a:rPr lang="en-IN" sz="2400">
                    <a:solidFill>
                      <a:srgbClr val="78350F"/>
                    </a:solidFill>
                    <a:latin typeface="Cambria Math" panose="02040503050406030204" pitchFamily="18" charset="0"/>
                  </a:rPr>
                  <a:t>$\vec\alpha$</a:t>
                </a:r>
                <a:r>
                  <a:rPr sz="2400" b="0">
                    <a:solidFill>
                      <a:srgbClr val="78350F"/>
                    </a:solidFill>
                    <a:latin typeface="Arial"/>
                  </a:rPr>
                  <a:t> completely.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Dot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Projection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 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 the relation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on the left: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Dot </a:t>
                </a:r>
                <a:r>
                  <a:rPr lang="en-IN" sz="2400">
                    <a:solidFill>
                      <a:srgbClr val="111827"/>
                    </a:solidFill>
                    <a:latin typeface="Cambria Math" panose="02040503050406030204" pitchFamily="18" charset="0"/>
                  </a:rPr>
                  <a:t>$\vec b\times\vec\alpha+\vec a=\vec\alpha$</a:t>
                </a:r>
                <a:r>
                  <a:rPr sz="2400" b="0">
                    <a:solidFill>
                      <a:srgbClr val="111827"/>
                    </a:solidFill>
                    <a:latin typeface="Arial"/>
                  </a:rPr>
                  <a:t> with </a:t>
                </a:r>
                <a:r>
                  <a:rPr lang="en-IN" sz="2400">
                    <a:solidFill>
                      <a:srgbClr val="111827"/>
                    </a:solidFill>
                    <a:latin typeface="Cambria Math" panose="02040503050406030204" pitchFamily="18" charset="0"/>
                  </a:rPr>
                  <a:t>$\vec b$</a:t>
                </a:r>
                <a:r>
                  <a:rPr sz="2400" b="0">
                    <a:solidFill>
                      <a:srgbClr val="111827"/>
                    </a:solidFill>
                    <a:latin typeface="Arial"/>
                  </a:rPr>
                  <a:t>: </a:t>
                </a:r>
                <a:r>
                  <a:rPr lang="en-IN" sz="2400">
                    <a:solidFill>
                      <a:srgbClr val="111827"/>
                    </a:solidFill>
                    <a:latin typeface="Cambria Math" panose="02040503050406030204" pitchFamily="18" charset="0"/>
                  </a:rPr>
                  <a:t>$\vec a\cdot\vec b=\vec\alpha\cdot\vec b$</a:t>
                </a:r>
                <a:r>
                  <a:rPr sz="2400" b="0">
                    <a:solidFill>
                      <a:srgbClr val="111827"/>
                    </a:solidFill>
                    <a:latin typeface="Arial"/>
                  </a:rPr>
                  <a:t> (as </a:t>
                </a:r>
                <a:r>
                  <a:rPr lang="en-IN" sz="2400">
                    <a:solidFill>
                      <a:srgbClr val="111827"/>
                    </a:solidFill>
                    <a:latin typeface="Cambria Math" panose="02040503050406030204" pitchFamily="18" charset="0"/>
                  </a:rPr>
                  <a:t>$\vec b\cdot(\vec b\times\vec\alpha)=0$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Projection of </a:t>
                </a:r>
                <a:r>
                  <a:rPr lang="en-IN" sz="2400">
                    <a:solidFill>
                      <a:srgbClr val="111827"/>
                    </a:solidFill>
                    <a:latin typeface="Cambria Math" panose="02040503050406030204" pitchFamily="18" charset="0"/>
                  </a:rPr>
                  <a:t>$\vec\alpha$</a:t>
                </a:r>
                <a:r>
                  <a:rPr sz="2400" b="0">
                    <a:solidFill>
                      <a:srgbClr val="111827"/>
                    </a:solidFill>
                    <a:latin typeface="Arial"/>
                  </a:rPr>
                  <a:t> on </a:t>
                </a:r>
                <a:r>
                  <a:rPr lang="en-IN" sz="2400">
                    <a:solidFill>
                      <a:srgbClr val="111827"/>
                    </a:solidFill>
                    <a:latin typeface="Cambria Math" panose="02040503050406030204" pitchFamily="18" charset="0"/>
                  </a:rPr>
                  <a:t>$\vec b$</a:t>
                </a:r>
                <a:r>
                  <a:rPr sz="2400" b="0">
                    <a:solidFill>
                      <a:srgbClr val="111827"/>
                    </a:solidFill>
                    <a:latin typeface="Arial"/>
                  </a:rPr>
                  <a:t> is </a:t>
                </a:r>
                <a:r>
                  <a:rPr lang="en-IN" sz="2400">
                    <a:solidFill>
                      <a:srgbClr val="111827"/>
                    </a:solidFill>
                    <a:latin typeface="Cambria Math" panose="02040503050406030204" pitchFamily="18" charset="0"/>
                  </a:rPr>
                  <a:t>$\vec\alpha\cdot\hat b=\vec\alpha\cdot\vec b=3$</a:t>
                </a:r>
                <a:r>
                  <a:rPr sz="2400" b="0">
                    <a:solidFill>
                      <a:srgbClr val="111827"/>
                    </a:solidFill>
                    <a:latin typeface="Arial"/>
                  </a:rPr>
                  <a:t> (</a:t>
                </a:r>
                <a:r>
                  <a:rPr lang="en-IN" sz="2400">
                    <a:solidFill>
                      <a:srgbClr val="111827"/>
                    </a:solidFill>
                    <a:latin typeface="Cambria Math" panose="02040503050406030204" pitchFamily="18" charset="0"/>
                  </a:rPr>
                  <a:t>$|\vec b|=1$</a:t>
                </a:r>
                <a:r>
                  <a:rPr sz="2400" b="0">
                    <a:solidFill>
                      <a:srgbClr val="111827"/>
                    </a:solidFill>
                    <a:latin typeface="Arial"/>
                  </a:rPr>
                  <a:t>), so </a:t>
                </a:r>
                <a:r>
                  <a:rPr lang="en-IN" sz="2400">
                    <a:solidFill>
                      <a:srgbClr val="111827"/>
                    </a:solidFill>
                    <a:latin typeface="Cambria Math" panose="02040503050406030204" pitchFamily="18" charset="0"/>
                  </a:rPr>
                  <a:t>$\vec\alpha\cdot\vec b=\vec a\cdot\vec b=3$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 the relation with </a:t>
                </a:r>
                <a:r>
                  <a:rPr lang="en-IN" sz="2400">
                    <a:solidFill>
                      <a:srgbClr val="111827"/>
                    </a:solidFill>
                    <a:latin typeface="Cambria Math" panose="02040503050406030204" pitchFamily="18" charset="0"/>
                  </a:rPr>
                  <a:t>$\vec b$</a:t>
                </a:r>
                <a:r>
                  <a:rPr sz="2400" b="0">
                    <a:solidFill>
                      <a:srgbClr val="111827"/>
                    </a:solidFill>
                    <a:latin typeface="Arial"/>
                  </a:rPr>
                  <a:t> on the left: </a:t>
                </a:r>
                <a:r>
                  <a:rPr lang="en-IN" sz="2400">
                    <a:solidFill>
                      <a:srgbClr val="111827"/>
                    </a:solidFill>
                    <a:latin typeface="Cambria Math" panose="02040503050406030204" pitchFamily="18" charset="0"/>
                  </a:rPr>
                  <a:t>$\vec b\times(\vec b\times\vec\alpha)+\vec b\times\vec a=\vec b\times\vec\alpha$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b\cdot\vec\alpha)\vec b-|\vec b|^2\vec\alpha+\vec b\times\vec a=\vec b\times\vec\alpha\Rightarrow3\vec b-\vec\alpha+\vec b\times\vec a=\vec b\times\vec\alpha$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Use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Projection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 along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3.125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Use </a:t>
                </a:r>
                <a:r>
                  <a:rPr lang="en-IN" sz="2400">
                    <a:solidFill>
                      <a:srgbClr val="111827"/>
                    </a:solidFill>
                    <a:latin typeface="Cambria Math" panose="02040503050406030204" pitchFamily="18" charset="0"/>
                  </a:rPr>
                  <a:t>$\vec b\times\vec\alpha=\vec\alpha-\vec a$</a:t>
                </a:r>
                <a:r>
                  <a:rPr sz="2400" b="0">
                    <a:solidFill>
                      <a:srgbClr val="111827"/>
                    </a:solidFill>
                    <a:latin typeface="Arial"/>
                  </a:rPr>
                  <a:t>: </a:t>
                </a:r>
                <a:r>
                  <a:rPr lang="en-IN" sz="2400">
                    <a:solidFill>
                      <a:srgbClr val="111827"/>
                    </a:solidFill>
                    <a:latin typeface="Cambria Math" panose="02040503050406030204" pitchFamily="18" charset="0"/>
                  </a:rPr>
                  <a:t>$3\vec b-\vec\alpha+\vec b\times\vec a=\vec\alpha-\vec 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$\Rightarrow2\vec\alpha=3\vec b+\vec a+\vec b\times\vec a\Rightarrow\vec\alpha=\frac12\left(3\vec b+\vec a+\vec b\times\vec a\right)$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Projection of </a:t>
                </a:r>
                <a:r>
                  <a:rPr lang="en-IN" sz="2400">
                    <a:solidFill>
                      <a:srgbClr val="111827"/>
                    </a:solidFill>
                    <a:latin typeface="Cambria Math" panose="02040503050406030204" pitchFamily="18" charset="0"/>
                  </a:rPr>
                  <a:t>$\vec\alpha$</a:t>
                </a:r>
                <a:r>
                  <a:rPr sz="2400" b="0">
                    <a:solidFill>
                      <a:srgbClr val="111827"/>
                    </a:solidFill>
                    <a:latin typeface="Arial"/>
                  </a:rPr>
                  <a:t> along </a:t>
                </a:r>
                <a:r>
                  <a:rPr lang="en-IN" sz="2400">
                    <a:solidFill>
                      <a:srgbClr val="111827"/>
                    </a:solidFill>
                    <a:latin typeface="Cambria Math" panose="02040503050406030204" pitchFamily="18" charset="0"/>
                  </a:rPr>
                  <a:t>$\vec a$</a:t>
                </a:r>
                <a:r>
                  <a:rPr sz="2400" b="0">
                    <a:solidFill>
                      <a:srgbClr val="111827"/>
                    </a:solidFill>
                    <a:latin typeface="Arial"/>
                  </a:rPr>
                  <a:t>: </a:t>
                </a:r>
                <a:r>
                  <a:rPr lang="en-IN" sz="2400">
                    <a:solidFill>
                      <a:srgbClr val="111827"/>
                    </a:solidFill>
                    <a:latin typeface="Cambria Math" panose="02040503050406030204" pitchFamily="18" charset="0"/>
                  </a:rPr>
                  <a:t>$\vec\alpha\cdot\hat a=\frac{1}{4}\cdot\frac12\left(3\vec b\cdot\vec a+|\vec a|^2+0\right)=\frac18(9+16)=\frac{25}{8}=3.125$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3.12</a:t>
            </a:r>
            <a:endParaRPr sz="2800">
              <a:solidFill>
                <a:srgbClr val="15803D"/>
              </a:solidFill>
            </a:endParaRP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Fix coordinates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𝑘</m:t>
                        </m:r>
                      </m:e>
                    </m:acc>
                  </m:oMath>
                </a14:m>
                <a:r>
                  <a:rPr sz="2400" b="0">
                    <a:solidFill>
                      <a:srgbClr val="78350F"/>
                    </a:solidFill>
                    <a:latin typeface="Arial"/>
                  </a:rPr>
                  <a:t> and write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α</m:t>
                        </m:r>
                      </m:e>
                    </m:acc>
                  </m:oMath>
                </a14:m>
                <a:r>
                  <a:rPr sz="2400" b="0">
                    <a:solidFill>
                      <a:srgbClr val="78350F"/>
                    </a:solidFill>
                    <a:latin typeface="Arial"/>
                  </a:rPr>
                  <a:t> in components.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Fix coordinates with </a:t>
                </a:r>
                <a:r>
                  <a:rPr lang="en-IN" sz="2400">
                    <a:solidFill>
                      <a:srgbClr val="78350F"/>
                    </a:solidFill>
                    <a:latin typeface="Cambria Math" panose="02040503050406030204" pitchFamily="18" charset="0"/>
                  </a:rPr>
                  <a:t>$\vec b=\hat k$</a:t>
                </a:r>
                <a:r>
                  <a:rPr sz="2400" b="0">
                    <a:solidFill>
                      <a:srgbClr val="78350F"/>
                    </a:solidFill>
                    <a:latin typeface="Arial"/>
                  </a:rPr>
                  <a:t> and write </a:t>
                </a:r>
                <a:r>
                  <a:rPr lang="en-IN" sz="2400">
                    <a:solidFill>
                      <a:srgbClr val="78350F"/>
                    </a:solidFill>
                    <a:latin typeface="Cambria Math" panose="02040503050406030204" pitchFamily="18" charset="0"/>
                  </a:rPr>
                  <a:t>$\vec\alpha$</a:t>
                </a:r>
                <a:r>
                  <a:rPr sz="2400" b="0">
                    <a:solidFill>
                      <a:srgbClr val="78350F"/>
                    </a:solidFill>
                    <a:latin typeface="Arial"/>
                  </a:rPr>
                  <a:t> in components.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sSubSup>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(since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relation reads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$\vec b=(0,0,1)$</a:t>
                </a:r>
                <a:r>
                  <a:rPr sz="2400" b="0">
                    <a:solidFill>
                      <a:srgbClr val="111827"/>
                    </a:solidFill>
                    <a:latin typeface="Arial"/>
                  </a:rPr>
                  <a:t> and </a:t>
                </a:r>
                <a:r>
                  <a:rPr lang="en-IN" sz="2400">
                    <a:solidFill>
                      <a:srgbClr val="111827"/>
                    </a:solidFill>
                    <a:latin typeface="Cambria Math" panose="02040503050406030204" pitchFamily="18" charset="0"/>
                  </a:rPr>
                  <a:t>$\vec a=(a_1,a_2,3)$</a:t>
                </a:r>
                <a:r>
                  <a:rPr sz="2400" b="0">
                    <a:solidFill>
                      <a:srgbClr val="111827"/>
                    </a:solidFill>
                    <a:latin typeface="Arial"/>
                  </a:rPr>
                  <a:t> with </a:t>
                </a:r>
                <a:r>
                  <a:rPr lang="en-IN" sz="2400">
                    <a:solidFill>
                      <a:srgbClr val="111827"/>
                    </a:solidFill>
                    <a:latin typeface="Cambria Math" panose="02040503050406030204" pitchFamily="18" charset="0"/>
                  </a:rPr>
                  <a:t>$a_1^2+a_2^2=7$</a:t>
                </a:r>
                <a:r>
                  <a:rPr sz="2400" b="0">
                    <a:solidFill>
                      <a:srgbClr val="111827"/>
                    </a:solidFill>
                    <a:latin typeface="Arial"/>
                  </a:rPr>
                  <a:t> (since </a:t>
                </a:r>
                <a:r>
                  <a:rPr lang="en-IN" sz="2400">
                    <a:solidFill>
                      <a:srgbClr val="111827"/>
                    </a:solidFill>
                    <a:latin typeface="Cambria Math" panose="02040503050406030204" pitchFamily="18" charset="0"/>
                  </a:rPr>
                  <a:t>$\vec a\cdot\vec b=3$</a:t>
                </a:r>
                <a:r>
                  <a:rPr sz="2400" b="0">
                    <a:solidFill>
                      <a:srgbClr val="111827"/>
                    </a:solidFill>
                    <a:latin typeface="Arial"/>
                  </a:rPr>
                  <a:t> and </a:t>
                </a:r>
                <a:r>
                  <a:rPr lang="en-IN" sz="2400">
                    <a:solidFill>
                      <a:srgbClr val="111827"/>
                    </a:solidFill>
                    <a:latin typeface="Cambria Math" panose="02040503050406030204" pitchFamily="18" charset="0"/>
                  </a:rPr>
                  <a:t>$|\vec a|=4$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$\vec\alpha=(x,y,3)$</a:t>
                </a:r>
                <a:r>
                  <a:rPr sz="2400" b="0">
                    <a:solidFill>
                      <a:srgbClr val="111827"/>
                    </a:solidFill>
                    <a:latin typeface="Arial"/>
                  </a:rPr>
                  <a:t>. Then </a:t>
                </a:r>
                <a:r>
                  <a:rPr lang="en-IN" sz="2400">
                    <a:solidFill>
                      <a:srgbClr val="111827"/>
                    </a:solidFill>
                    <a:latin typeface="Cambria Math" panose="02040503050406030204" pitchFamily="18" charset="0"/>
                  </a:rPr>
                  <a:t>$\vec b\times\vec\alpha=(-y,x,0)$</a:t>
                </a:r>
                <a:r>
                  <a:rPr sz="2400" b="0">
                    <a:solidFill>
                      <a:srgbClr val="111827"/>
                    </a:solidFill>
                    <a:latin typeface="Arial"/>
                  </a:rPr>
                  <a:t> and the relation reads </a:t>
                </a:r>
                <a:r>
                  <a:rPr lang="en-IN" sz="2400">
                    <a:solidFill>
                      <a:srgbClr val="111827"/>
                    </a:solidFill>
                    <a:latin typeface="Cambria Math" panose="02040503050406030204" pitchFamily="18" charset="0"/>
                  </a:rPr>
                  <a:t>$(x+y,\ y-x,\ 3)=(a_1,a_2,3)$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Sup>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Projection along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3.125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$x=\frac{a_1-a_2}{2}$</a:t>
                </a:r>
                <a:r>
                  <a:rPr sz="2400" b="0">
                    <a:solidFill>
                      <a:srgbClr val="111827"/>
                    </a:solidFill>
                    <a:latin typeface="Arial"/>
                  </a:rPr>
                  <a:t>, </a:t>
                </a:r>
                <a:r>
                  <a:rPr lang="en-IN" sz="2400">
                    <a:solidFill>
                      <a:srgbClr val="111827"/>
                    </a:solidFill>
                    <a:latin typeface="Cambria Math" panose="02040503050406030204" pitchFamily="18" charset="0"/>
                  </a:rPr>
                  <a:t>$y=\frac{a_1+a_2}{2}$</a:t>
                </a:r>
                <a:r>
                  <a:rPr sz="2400" b="0">
                    <a:solidFill>
                      <a:srgbClr val="111827"/>
                    </a:solidFill>
                    <a:latin typeface="Arial"/>
                  </a:rPr>
                  <a:t> and </a:t>
                </a:r>
                <a:r>
                  <a:rPr lang="en-IN" sz="2400">
                    <a:solidFill>
                      <a:srgbClr val="111827"/>
                    </a:solidFill>
                    <a:latin typeface="Cambria Math" panose="02040503050406030204" pitchFamily="18" charset="0"/>
                  </a:rPr>
                  <a:t>$\vec\alpha\cdot\vec a=xa_1+ya_2+9=\frac{a_1^2+a_2^2}{2}+9=\frac72+9=\frac{25}{2}$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Projection along </a:t>
                </a:r>
                <a:r>
                  <a:rPr lang="en-IN" sz="2400">
                    <a:solidFill>
                      <a:srgbClr val="111827"/>
                    </a:solidFill>
                    <a:latin typeface="Cambria Math" panose="02040503050406030204" pitchFamily="18" charset="0"/>
                  </a:rPr>
                  <a:t>$\vec a$</a:t>
                </a:r>
                <a:r>
                  <a:rPr sz="2400" b="0">
                    <a:solidFill>
                      <a:srgbClr val="111827"/>
                    </a:solidFill>
                    <a:latin typeface="Arial"/>
                  </a:rPr>
                  <a:t>: </a:t>
                </a:r>
                <a:r>
                  <a:rPr lang="en-IN" sz="2400">
                    <a:solidFill>
                      <a:srgbClr val="111827"/>
                    </a:solidFill>
                    <a:latin typeface="Cambria Math" panose="02040503050406030204" pitchFamily="18" charset="0"/>
                  </a:rPr>
                  <a:t>$\frac{25/2}{4}=\frac{25}{8}=3.125$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3.12</a:t>
            </a:r>
            <a:endParaRPr sz="2800">
              <a:solidFill>
                <a:srgbClr val="15803D"/>
              </a:solidFill>
            </a:endParaRP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unit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 crossing an equation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turns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 terms into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oMath>
                </a14:m>
                <a:r>
                  <a:rPr sz="2400" b="0">
                    <a:solidFill>
                      <a:srgbClr val="111827"/>
                    </a:solidFill>
                    <a:latin typeface="Arial"/>
                  </a:rPr>
                  <a:t> terms.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has the solution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α</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d>
                  </m:oMath>
                </a14:m>
                <a:r>
                  <a:rPr sz="2400" b="0">
                    <a:solidFill>
                      <a:srgbClr val="111827"/>
                    </a:solidFill>
                    <a:latin typeface="Arial"/>
                  </a:rPr>
                  <a:t> for a unit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(here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Projection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 along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the PDF key </a:t>
                </a:r>
                <a14:m>
                  <m:oMath xmlns:m="http://schemas.openxmlformats.org/officeDocument/2006/math">
                    <m:r>
                      <a:rPr lang="en-IN" sz="2400" i="1">
                        <a:solidFill>
                          <a:srgbClr val="111827"/>
                        </a:solidFill>
                        <a:latin typeface="Cambria Math" panose="02040503050406030204" pitchFamily="18" charset="0"/>
                      </a:rPr>
                      <m:t>3.12</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3.125</m:t>
                    </m:r>
                  </m:oMath>
                </a14:m>
                <a:r>
                  <a:rPr sz="2400" b="0">
                    <a:solidFill>
                      <a:srgbClr val="111827"/>
                    </a:solidFill>
                    <a:latin typeface="Arial"/>
                  </a:rPr>
                  <a:t> truncated to two decimals.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unit vector </a:t>
                </a:r>
                <a:r>
                  <a:rPr lang="en-IN" sz="2400">
                    <a:solidFill>
                      <a:srgbClr val="111827"/>
                    </a:solidFill>
                    <a:latin typeface="Cambria Math" panose="02040503050406030204" pitchFamily="18" charset="0"/>
                  </a:rPr>
                  <a:t>$\vec b$</a:t>
                </a:r>
                <a:r>
                  <a:rPr sz="2400" b="0">
                    <a:solidFill>
                      <a:srgbClr val="111827"/>
                    </a:solidFill>
                    <a:latin typeface="Arial"/>
                  </a:rPr>
                  <a:t>: </a:t>
                </a:r>
                <a:r>
                  <a:rPr lang="en-IN" sz="2400">
                    <a:solidFill>
                      <a:srgbClr val="111827"/>
                    </a:solidFill>
                    <a:latin typeface="Cambria Math" panose="02040503050406030204" pitchFamily="18" charset="0"/>
                  </a:rPr>
                  <a:t>$\vec b\times(\vec b\times\vec\alpha)=(\vec b\cdot\vec\alpha)\vec b-\vec\alpha$</a:t>
                </a:r>
                <a:r>
                  <a:rPr sz="2400" b="0">
                    <a:solidFill>
                      <a:srgbClr val="111827"/>
                    </a:solidFill>
                    <a:latin typeface="Arial"/>
                  </a:rPr>
                  <a:t>; crossing an equation with </a:t>
                </a:r>
                <a:r>
                  <a:rPr lang="en-IN" sz="2400">
                    <a:solidFill>
                      <a:srgbClr val="111827"/>
                    </a:solidFill>
                    <a:latin typeface="Cambria Math" panose="02040503050406030204" pitchFamily="18" charset="0"/>
                  </a:rPr>
                  <a:t>$\vec b$</a:t>
                </a:r>
                <a:r>
                  <a:rPr sz="2400" b="0">
                    <a:solidFill>
                      <a:srgbClr val="111827"/>
                    </a:solidFill>
                    <a:latin typeface="Arial"/>
                  </a:rPr>
                  <a:t> turns </a:t>
                </a:r>
                <a:r>
                  <a:rPr lang="en-IN" sz="2400">
                    <a:solidFill>
                      <a:srgbClr val="111827"/>
                    </a:solidFill>
                    <a:latin typeface="Cambria Math" panose="02040503050406030204" pitchFamily="18" charset="0"/>
                  </a:rPr>
                  <a:t>$\vec b\times\vec\alpha$</a:t>
                </a:r>
                <a:r>
                  <a:rPr sz="2400" b="0">
                    <a:solidFill>
                      <a:srgbClr val="111827"/>
                    </a:solidFill>
                    <a:latin typeface="Arial"/>
                  </a:rPr>
                  <a:t> terms into </a:t>
                </a:r>
                <a:r>
                  <a:rPr lang="en-IN" sz="2400">
                    <a:solidFill>
                      <a:srgbClr val="111827"/>
                    </a:solidFill>
                    <a:latin typeface="Cambria Math" panose="02040503050406030204" pitchFamily="18" charset="0"/>
                  </a:rPr>
                  <a:t>$\vec\alpha$</a:t>
                </a:r>
                <a:r>
                  <a:rPr sz="2400" b="0">
                    <a:solidFill>
                      <a:srgbClr val="111827"/>
                    </a:solidFill>
                    <a:latin typeface="Arial"/>
                  </a:rPr>
                  <a:t> terms.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$\vec\alpha-\vec b\times\vec\alpha=\vec a$</a:t>
                </a:r>
                <a:r>
                  <a:rPr sz="2400" b="0">
                    <a:solidFill>
                      <a:srgbClr val="111827"/>
                    </a:solidFill>
                    <a:latin typeface="Arial"/>
                  </a:rPr>
                  <a:t> has the solution </a:t>
                </a:r>
                <a:r>
                  <a:rPr lang="en-IN" sz="2400">
                    <a:solidFill>
                      <a:srgbClr val="111827"/>
                    </a:solidFill>
                    <a:latin typeface="Cambria Math" panose="02040503050406030204" pitchFamily="18" charset="0"/>
                  </a:rPr>
                  <a:t>$\vec\alpha=\frac12\left(\vec a+\vec b\times\vec a+(\vec a\cdot\vec b)\vec b\right)$</a:t>
                </a:r>
                <a:r>
                  <a:rPr sz="2400" b="0">
                    <a:solidFill>
                      <a:srgbClr val="111827"/>
                    </a:solidFill>
                    <a:latin typeface="Arial"/>
                  </a:rPr>
                  <a:t> for a unit </a:t>
                </a:r>
                <a:r>
                  <a:rPr lang="en-IN" sz="2400">
                    <a:solidFill>
                      <a:srgbClr val="111827"/>
                    </a:solidFill>
                    <a:latin typeface="Cambria Math" panose="02040503050406030204" pitchFamily="18" charset="0"/>
                  </a:rPr>
                  <a:t>$\vec b$</a:t>
                </a:r>
                <a:r>
                  <a:rPr sz="2400" b="0">
                    <a:solidFill>
                      <a:srgbClr val="111827"/>
                    </a:solidFill>
                    <a:latin typeface="Arial"/>
                  </a:rPr>
                  <a:t> (here </a:t>
                </a:r>
                <a:r>
                  <a:rPr lang="en-IN" sz="2400">
                    <a:solidFill>
                      <a:srgbClr val="111827"/>
                    </a:solidFill>
                    <a:latin typeface="Cambria Math" panose="02040503050406030204" pitchFamily="18" charset="0"/>
                  </a:rPr>
                  <a:t>$\vec a\cdot\vec b=3$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Projection of </a:t>
                </a:r>
                <a:r>
                  <a:rPr lang="en-IN" sz="2400">
                    <a:solidFill>
                      <a:srgbClr val="111827"/>
                    </a:solidFill>
                    <a:latin typeface="Cambria Math" panose="02040503050406030204" pitchFamily="18" charset="0"/>
                  </a:rPr>
                  <a:t>$\vec u$</a:t>
                </a:r>
                <a:r>
                  <a:rPr sz="2400" b="0">
                    <a:solidFill>
                      <a:srgbClr val="111827"/>
                    </a:solidFill>
                    <a:latin typeface="Arial"/>
                  </a:rPr>
                  <a:t> along </a:t>
                </a:r>
                <a:r>
                  <a:rPr lang="en-IN" sz="2400">
                    <a:solidFill>
                      <a:srgbClr val="111827"/>
                    </a:solidFill>
                    <a:latin typeface="Cambria Math" panose="02040503050406030204" pitchFamily="18" charset="0"/>
                  </a:rPr>
                  <a:t>$\vec v$</a:t>
                </a:r>
                <a:r>
                  <a:rPr sz="2400" b="0">
                    <a:solidFill>
                      <a:srgbClr val="111827"/>
                    </a:solidFill>
                    <a:latin typeface="Arial"/>
                  </a:rPr>
                  <a:t> is </a:t>
                </a:r>
                <a:r>
                  <a:rPr lang="en-IN" sz="2400">
                    <a:solidFill>
                      <a:srgbClr val="111827"/>
                    </a:solidFill>
                    <a:latin typeface="Cambria Math" panose="02040503050406030204" pitchFamily="18" charset="0"/>
                  </a:rPr>
                  <a:t>$\frac{\vec u\cdot\vec v}{|\vec v|}$</a:t>
                </a:r>
                <a:r>
                  <a:rPr sz="2400" b="0">
                    <a:solidFill>
                      <a:srgbClr val="111827"/>
                    </a:solidFill>
                    <a:latin typeface="Arial"/>
                  </a:rPr>
                  <a:t>; the PDF key </a:t>
                </a:r>
                <a:r>
                  <a:rPr lang="en-IN" sz="2400">
                    <a:solidFill>
                      <a:srgbClr val="111827"/>
                    </a:solidFill>
                    <a:latin typeface="Cambria Math" panose="02040503050406030204" pitchFamily="18" charset="0"/>
                  </a:rPr>
                  <a:t>$3.12$</a:t>
                </a:r>
                <a:r>
                  <a:rPr sz="2400" b="0">
                    <a:solidFill>
                      <a:srgbClr val="111827"/>
                    </a:solidFill>
                    <a:latin typeface="Arial"/>
                  </a:rPr>
                  <a:t> is </a:t>
                </a:r>
                <a:r>
                  <a:rPr lang="en-IN" sz="2400">
                    <a:solidFill>
                      <a:srgbClr val="111827"/>
                    </a:solidFill>
                    <a:latin typeface="Cambria Math" panose="02040503050406030204" pitchFamily="18" charset="0"/>
                  </a:rPr>
                  <a:t>$3.125$</a:t>
                </a:r>
                <a:r>
                  <a:rPr sz="2400" b="0">
                    <a:solidFill>
                      <a:srgbClr val="111827"/>
                    </a:solidFill>
                    <a:latin typeface="Arial"/>
                  </a:rPr>
                  <a:t> truncated to two decimals.</a:t>
                </a:r>
                <a:endParaRPr sz="2400">
                  <a:solidFill>
                    <a:srgbClr val="111827"/>
                  </a:solidFill>
                </a:endParaRPr>
              </a:p>
            </p:txBody>
          </p:sp>
        </mc:Fallback>
      </mc:AlternateContent>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r>
                      <a:rPr lang="en-IN" sz="2400" i="1">
                        <a:solidFill>
                          <a:srgbClr val="111827"/>
                        </a:solidFill>
                        <a:latin typeface="Cambria Math" panose="02040503050406030204" pitchFamily="18" charset="0"/>
                      </a:rPr>
                      <m:t>𝐹</m:t>
                    </m:r>
                  </m:oMath>
                </a14:m>
                <a:r>
                  <a:rPr sz="2400" b="0">
                    <a:solidFill>
                      <a:srgbClr val="111827"/>
                    </a:solidFill>
                    <a:latin typeface="Arial"/>
                  </a:rPr>
                  <a:t> are such that </a:t>
                </a:r>
                <a14:m>
                  <m:oMath xmlns:m="http://schemas.openxmlformats.org/officeDocument/2006/math">
                    <m:r>
                      <a:rPr lang="en-IN" sz="2400" i="1">
                        <a:solidFill>
                          <a:srgbClr val="111827"/>
                        </a:solidFill>
                        <a:latin typeface="Cambria Math" panose="02040503050406030204" pitchFamily="18" charset="0"/>
                      </a:rPr>
                      <m:t>𝐸</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𝐹</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the mid-point of </a:t>
                </a:r>
                <a14:m>
                  <m:oMath xmlns:m="http://schemas.openxmlformats.org/officeDocument/2006/math">
                    <m:r>
                      <a:rPr lang="en-IN" sz="2400" i="1">
                        <a:solidFill>
                          <a:srgbClr val="111827"/>
                        </a:solidFill>
                        <a:latin typeface="Cambria Math" panose="02040503050406030204" pitchFamily="18" charset="0"/>
                      </a:rPr>
                      <m:t>𝐸</m:t>
                    </m:r>
                    <m:r>
                      <a:rPr lang="en-IN" sz="2400" i="1">
                        <a:solidFill>
                          <a:srgbClr val="111827"/>
                        </a:solidFill>
                        <a:latin typeface="Cambria Math" panose="02040503050406030204" pitchFamily="18" charset="0"/>
                      </a:rPr>
                      <m:t>𝐹</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a:rPr lang="en-IN" sz="2400" i="1">
                        <a:solidFill>
                          <a:srgbClr val="111827"/>
                        </a:solidFill>
                        <a:latin typeface="Cambria Math" panose="02040503050406030204" pitchFamily="18" charset="0"/>
                      </a:rPr>
                      <m:t>𝐹</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33</m:t>
                        </m:r>
                      </m:e>
                    </m:rad>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then the value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𝐹</m:t>
                        </m:r>
                      </m:e>
                    </m:acc>
                  </m:oMath>
                </a14:m>
                <a:r>
                  <a:rPr sz="2400" b="0">
                    <a:solidFill>
                      <a:srgbClr val="111827"/>
                    </a:solidFill>
                    <a:latin typeface="Arial"/>
                  </a:rPr>
                  <a:t> is (given figure).</a:t>
                </a:r>
                <a:endParaRPr sz="2400">
                  <a:solidFill>
                    <a:srgbClr val="111827"/>
                  </a:solidFill>
                </a:endParaRPr>
              </a:p>
            </p:txBody>
          </p:sp>
        </mc:Choice>
        <mc:Fallback>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$\triangle ABC$</a:t>
                </a:r>
                <a:r>
                  <a:rPr sz="2400" b="0">
                    <a:solidFill>
                      <a:srgbClr val="111827"/>
                    </a:solidFill>
                    <a:latin typeface="Arial"/>
                  </a:rPr>
                  <a:t> and </a:t>
                </a:r>
                <a:r>
                  <a:rPr lang="en-IN" sz="2400">
                    <a:solidFill>
                      <a:srgbClr val="111827"/>
                    </a:solidFill>
                    <a:latin typeface="Cambria Math" panose="02040503050406030204" pitchFamily="18" charset="0"/>
                  </a:rPr>
                  <a:t>$\triangle AEF$</a:t>
                </a:r>
                <a:r>
                  <a:rPr sz="2400" b="0">
                    <a:solidFill>
                      <a:srgbClr val="111827"/>
                    </a:solidFill>
                    <a:latin typeface="Arial"/>
                  </a:rPr>
                  <a:t> are such that </a:t>
                </a:r>
                <a:r>
                  <a:rPr lang="en-IN" sz="2400">
                    <a:solidFill>
                      <a:srgbClr val="111827"/>
                    </a:solidFill>
                    <a:latin typeface="Cambria Math" panose="02040503050406030204" pitchFamily="18" charset="0"/>
                  </a:rPr>
                  <a:t>$EB=BF$</a:t>
                </a:r>
                <a:r>
                  <a:rPr sz="2400" b="0">
                    <a:solidFill>
                      <a:srgbClr val="111827"/>
                    </a:solidFill>
                    <a:latin typeface="Arial"/>
                  </a:rPr>
                  <a:t> (</a:t>
                </a:r>
                <a:r>
                  <a:rPr lang="en-IN" sz="2400">
                    <a:solidFill>
                      <a:srgbClr val="111827"/>
                    </a:solidFill>
                    <a:latin typeface="Cambria Math" panose="02040503050406030204" pitchFamily="18" charset="0"/>
                  </a:rPr>
                  <a:t>$B$</a:t>
                </a:r>
                <a:r>
                  <a:rPr sz="2400" b="0">
                    <a:solidFill>
                      <a:srgbClr val="111827"/>
                    </a:solidFill>
                    <a:latin typeface="Arial"/>
                  </a:rPr>
                  <a:t> the mid-point of </a:t>
                </a:r>
                <a:r>
                  <a:rPr lang="en-IN" sz="2400">
                    <a:solidFill>
                      <a:srgbClr val="111827"/>
                    </a:solidFill>
                    <a:latin typeface="Cambria Math" panose="02040503050406030204" pitchFamily="18" charset="0"/>
                  </a:rPr>
                  <a:t>$EF$</a:t>
                </a:r>
                <a:r>
                  <a:rPr sz="2400" b="0">
                    <a:solidFill>
                      <a:srgbClr val="111827"/>
                    </a:solidFill>
                    <a:latin typeface="Arial"/>
                  </a:rPr>
                  <a:t>), </a:t>
                </a:r>
                <a:r>
                  <a:rPr lang="en-IN" sz="2400">
                    <a:solidFill>
                      <a:srgbClr val="111827"/>
                    </a:solidFill>
                    <a:latin typeface="Cambria Math" panose="02040503050406030204" pitchFamily="18" charset="0"/>
                  </a:rPr>
                  <a:t>$AB=EF=1$</a:t>
                </a:r>
                <a:r>
                  <a:rPr sz="2400" b="0">
                    <a:solidFill>
                      <a:srgbClr val="111827"/>
                    </a:solidFill>
                    <a:latin typeface="Arial"/>
                  </a:rPr>
                  <a:t>, </a:t>
                </a:r>
                <a:r>
                  <a:rPr lang="en-IN" sz="2400">
                    <a:solidFill>
                      <a:srgbClr val="111827"/>
                    </a:solidFill>
                    <a:latin typeface="Cambria Math" panose="02040503050406030204" pitchFamily="18" charset="0"/>
                  </a:rPr>
                  <a:t>$BC=6$</a:t>
                </a:r>
                <a:r>
                  <a:rPr sz="2400" b="0">
                    <a:solidFill>
                      <a:srgbClr val="111827"/>
                    </a:solidFill>
                    <a:latin typeface="Arial"/>
                  </a:rPr>
                  <a:t>, </a:t>
                </a:r>
                <a:r>
                  <a:rPr lang="en-IN" sz="2400">
                    <a:solidFill>
                      <a:srgbClr val="111827"/>
                    </a:solidFill>
                    <a:latin typeface="Cambria Math" panose="02040503050406030204" pitchFamily="18" charset="0"/>
                  </a:rPr>
                  <a:t>$AC=\sqrt{33}$</a:t>
                </a:r>
                <a:r>
                  <a:rPr sz="2400" b="0">
                    <a:solidFill>
                      <a:srgbClr val="111827"/>
                    </a:solidFill>
                    <a:latin typeface="Arial"/>
                  </a:rPr>
                  <a:t> and </a:t>
                </a:r>
                <a:r>
                  <a:rPr lang="en-IN" sz="2400">
                    <a:solidFill>
                      <a:srgbClr val="111827"/>
                    </a:solidFill>
                    <a:latin typeface="Cambria Math" panose="02040503050406030204" pitchFamily="18" charset="0"/>
                  </a:rPr>
                  <a:t>$\overrightarrow{AB}\cdot\overrightarrow{AE}+\overrightarrow{AC}\cdot\overrightarrow{AF}=2$</a:t>
                </a:r>
                <a:r>
                  <a:rPr sz="2400" b="0">
                    <a:solidFill>
                      <a:srgbClr val="111827"/>
                    </a:solidFill>
                    <a:latin typeface="Arial"/>
                  </a:rPr>
                  <a:t>, then the value of </a:t>
                </a:r>
                <a:r>
                  <a:rPr lang="en-IN" sz="2400">
                    <a:solidFill>
                      <a:srgbClr val="111827"/>
                    </a:solidFill>
                    <a:latin typeface="Cambria Math" panose="02040503050406030204" pitchFamily="18" charset="0"/>
                  </a:rPr>
                  <a:t>$\overrightarrow{BC}\cdot\overrightarrow{BF}$</a:t>
                </a:r>
                <a:r>
                  <a:rPr sz="2400" b="0">
                    <a:solidFill>
                      <a:srgbClr val="111827"/>
                    </a:solidFill>
                    <a:latin typeface="Arial"/>
                  </a:rPr>
                  <a:t> is (given figure).</a:t>
                </a:r>
                <a:endParaRPr sz="2400">
                  <a:solidFill>
                    <a:srgbClr val="111827"/>
                  </a:solidFill>
                </a:endParaRPr>
              </a:p>
            </p:txBody>
          </p:sp>
        </mc:Fallback>
      </mc:AlternateContent>
      <p:sp>
        <p:nvSpPr>
          <p:cNvPr id="5" name="Rectangle 4"/>
          <p:cNvSpPr/>
          <p:nvPr/>
        </p:nvSpPr>
        <p:spPr>
          <a:xfrm>
            <a:off x="731520" y="3888739"/>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Dot product in triangles with a mid-point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𝐵</m:t>
                    </m:r>
                  </m:oMath>
                </a14:m>
                <a:r>
                  <a:rPr sz="2400" b="0">
                    <a:solidFill>
                      <a:srgbClr val="78350F"/>
                    </a:solidFill>
                    <a:latin typeface="Arial"/>
                  </a:rPr>
                  <a:t> is the mid-point of </a:t>
                </a:r>
                <a14:m>
                  <m:oMath xmlns:m="http://schemas.openxmlformats.org/officeDocument/2006/math">
                    <m:r>
                      <a:rPr lang="en-IN" sz="2400" i="1">
                        <a:solidFill>
                          <a:srgbClr val="78350F"/>
                        </a:solidFill>
                        <a:latin typeface="Cambria Math" panose="02040503050406030204" pitchFamily="18" charset="0"/>
                      </a:rPr>
                      <m:t>𝐸</m:t>
                    </m:r>
                    <m:r>
                      <a:rPr lang="en-IN" sz="2400" i="1">
                        <a:solidFill>
                          <a:srgbClr val="78350F"/>
                        </a:solidFill>
                        <a:latin typeface="Cambria Math" panose="02040503050406030204" pitchFamily="18" charset="0"/>
                      </a:rPr>
                      <m:t>𝐹</m:t>
                    </m:r>
                  </m:oMath>
                </a14:m>
                <a:r>
                  <a:rPr sz="2400" b="0">
                    <a:solidFill>
                      <a:srgbClr val="78350F"/>
                    </a:solidFill>
                    <a:latin typeface="Arial"/>
                  </a:rPr>
                  <a:t>, so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𝐸</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𝐹</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e>
                    </m:acc>
                  </m:oMath>
                </a14:m>
                <a:r>
                  <a:rPr sz="2400" b="0">
                    <a:solidFill>
                      <a:srgbClr val="78350F"/>
                    </a:solidFill>
                    <a:latin typeface="Arial"/>
                  </a:rPr>
                  <a:t>;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𝐶</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𝐶</m:t>
                        </m:r>
                      </m:e>
                    </m:acc>
                  </m:oMath>
                </a14:m>
                <a:r>
                  <a:rPr sz="2400" b="0">
                    <a:solidFill>
                      <a:srgbClr val="78350F"/>
                    </a:solidFill>
                    <a:latin typeface="Arial"/>
                  </a:rPr>
                  <a:t> the given condition becomes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𝐶</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𝐹</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$B$</a:t>
                </a:r>
                <a:r>
                  <a:rPr sz="2400" b="0">
                    <a:solidFill>
                      <a:srgbClr val="78350F"/>
                    </a:solidFill>
                    <a:latin typeface="Arial"/>
                  </a:rPr>
                  <a:t> is the mid-point of </a:t>
                </a:r>
                <a:r>
                  <a:rPr lang="en-IN" sz="2400">
                    <a:solidFill>
                      <a:srgbClr val="78350F"/>
                    </a:solidFill>
                    <a:latin typeface="Cambria Math" panose="02040503050406030204" pitchFamily="18" charset="0"/>
                  </a:rPr>
                  <a:t>$EF$</a:t>
                </a:r>
                <a:r>
                  <a:rPr sz="2400" b="0">
                    <a:solidFill>
                      <a:srgbClr val="78350F"/>
                    </a:solidFill>
                    <a:latin typeface="Arial"/>
                  </a:rPr>
                  <a:t>, so </a:t>
                </a:r>
                <a:r>
                  <a:rPr lang="en-IN" sz="2400">
                    <a:solidFill>
                      <a:srgbClr val="78350F"/>
                    </a:solidFill>
                    <a:latin typeface="Cambria Math" panose="02040503050406030204" pitchFamily="18" charset="0"/>
                  </a:rPr>
                  <a:t>$\overrightarrow{AE}+\overrightarrow{AF}=2\overrightarrow{AB}$</a:t>
                </a:r>
                <a:r>
                  <a:rPr sz="2400" b="0">
                    <a:solidFill>
                      <a:srgbClr val="78350F"/>
                    </a:solidFill>
                    <a:latin typeface="Arial"/>
                  </a:rPr>
                  <a:t>; with </a:t>
                </a:r>
                <a:r>
                  <a:rPr lang="en-IN" sz="2400">
                    <a:solidFill>
                      <a:srgbClr val="78350F"/>
                    </a:solidFill>
                    <a:latin typeface="Cambria Math" panose="02040503050406030204" pitchFamily="18" charset="0"/>
                  </a:rPr>
                  <a:t>$\overrightarrow{AC}=\overrightarrow{AB}+\overrightarrow{BC}$</a:t>
                </a:r>
                <a:r>
                  <a:rPr sz="2400" b="0">
                    <a:solidFill>
                      <a:srgbClr val="78350F"/>
                    </a:solidFill>
                    <a:latin typeface="Arial"/>
                  </a:rPr>
                  <a:t> the given condition becomes </a:t>
                </a:r>
                <a:r>
                  <a:rPr lang="en-IN" sz="2400">
                    <a:solidFill>
                      <a:srgbClr val="78350F"/>
                    </a:solidFill>
                    <a:latin typeface="Cambria Math" panose="02040503050406030204" pitchFamily="18" charset="0"/>
                  </a:rPr>
                  <a:t>$\overrightarrow{BC}\cdot\overrightarrow{AF}=0$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figure is missing; assume </a:t>
                </a:r>
                <a14:m>
                  <m:oMath xmlns:m="http://schemas.openxmlformats.org/officeDocument/2006/math">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𝐹</m:t>
                    </m:r>
                  </m:oMath>
                </a14:m>
                <a:r>
                  <a:rPr sz="2400" b="0">
                    <a:solidFill>
                      <a:srgbClr val="111827"/>
                    </a:solidFill>
                    <a:latin typeface="Arial"/>
                  </a:rPr>
                  <a:t> are collinear with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the mid-point of </a:t>
                </a:r>
                <a14:m>
                  <m:oMath xmlns:m="http://schemas.openxmlformats.org/officeDocument/2006/math">
                    <m:r>
                      <a:rPr lang="en-IN" sz="2400" i="1">
                        <a:solidFill>
                          <a:srgbClr val="111827"/>
                        </a:solidFill>
                        <a:latin typeface="Cambria Math" panose="02040503050406030204" pitchFamily="18" charset="0"/>
                      </a:rPr>
                      <m:t>𝐸</m:t>
                    </m:r>
                    <m:r>
                      <a:rPr lang="en-IN" sz="2400" i="1">
                        <a:solidFill>
                          <a:srgbClr val="111827"/>
                        </a:solidFill>
                        <a:latin typeface="Cambria Math" panose="02040503050406030204" pitchFamily="18" charset="0"/>
                      </a:rPr>
                      <m:t>𝐹</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value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PDF's figure is missing; assume </a:t>
                </a:r>
                <a:r>
                  <a:rPr lang="en-IN" sz="2400">
                    <a:solidFill>
                      <a:srgbClr val="111827"/>
                    </a:solidFill>
                    <a:latin typeface="Cambria Math" panose="02040503050406030204" pitchFamily="18" charset="0"/>
                  </a:rPr>
                  <a:t>$E,B,F$</a:t>
                </a:r>
                <a:r>
                  <a:rPr sz="2400" b="0">
                    <a:solidFill>
                      <a:srgbClr val="111827"/>
                    </a:solidFill>
                    <a:latin typeface="Arial"/>
                  </a:rPr>
                  <a:t> are collinear with </a:t>
                </a:r>
                <a:r>
                  <a:rPr lang="en-IN" sz="2400">
                    <a:solidFill>
                      <a:srgbClr val="111827"/>
                    </a:solidFill>
                    <a:latin typeface="Cambria Math" panose="02040503050406030204" pitchFamily="18" charset="0"/>
                  </a:rPr>
                  <a:t>$B$</a:t>
                </a:r>
                <a:r>
                  <a:rPr sz="2400" b="0">
                    <a:solidFill>
                      <a:srgbClr val="111827"/>
                    </a:solidFill>
                    <a:latin typeface="Arial"/>
                  </a:rPr>
                  <a:t> the mid-point of </a:t>
                </a:r>
                <a:r>
                  <a:rPr lang="en-IN" sz="2400">
                    <a:solidFill>
                      <a:srgbClr val="111827"/>
                    </a:solidFill>
                    <a:latin typeface="Cambria Math" panose="02040503050406030204" pitchFamily="18" charset="0"/>
                  </a:rPr>
                  <a:t>$EF$</a:t>
                </a:r>
                <a:r>
                  <a:rPr sz="2400" b="0">
                    <a:solidFill>
                      <a:srgbClr val="111827"/>
                    </a:solidFill>
                    <a:latin typeface="Arial"/>
                  </a:rPr>
                  <a:t>, so </a:t>
                </a:r>
                <a:r>
                  <a:rPr lang="en-IN" sz="2400">
                    <a:solidFill>
                      <a:srgbClr val="111827"/>
                    </a:solidFill>
                    <a:latin typeface="Cambria Math" panose="02040503050406030204" pitchFamily="18" charset="0"/>
                  </a:rPr>
                  <a:t>$\overrightarrow{AE}+\overrightarrow{AF}=2\overrightarrow{AB}$</a:t>
                </a:r>
                <a:r>
                  <a:rPr sz="2400" b="0">
                    <a:solidFill>
                      <a:srgbClr val="111827"/>
                    </a:solidFill>
                    <a:latin typeface="Arial"/>
                  </a:rPr>
                  <a:t> and </a:t>
                </a:r>
                <a:r>
                  <a:rPr lang="en-IN" sz="2400">
                    <a:solidFill>
                      <a:srgbClr val="111827"/>
                    </a:solidFill>
                    <a:latin typeface="Cambria Math" panose="02040503050406030204" pitchFamily="18" charset="0"/>
                  </a:rPr>
                  <a:t>$|\overrightarrow{BF}|=\frac12$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$\overrightarrow{AC}=\overrightarrow{AB}+\overrightarrow{BC}$</a:t>
                </a:r>
                <a:r>
                  <a:rPr sz="2400" b="0">
                    <a:solidFill>
                      <a:srgbClr val="111827"/>
                    </a:solidFill>
                    <a:latin typeface="Arial"/>
                  </a:rPr>
                  <a:t>, so </a:t>
                </a:r>
                <a:r>
                  <a:rPr lang="en-IN" sz="2400">
                    <a:solidFill>
                      <a:srgbClr val="111827"/>
                    </a:solidFill>
                    <a:latin typeface="Cambria Math" panose="02040503050406030204" pitchFamily="18" charset="0"/>
                  </a:rPr>
                  <a:t>$\overrightarrow{AB}\cdot\overrightarrow{AE}+\overrightarrow{AC}\cdot\overrightarrow{AF}=\overrightarrow{AB}\cdot(\overrightarrow{AE}+\overrightarrow{AF})+\overrightarrow{BC}\cdot\overrightarrow{AF}$</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$=2|\overrightarrow{AB}|^2+\overrightarrow{BC}\cdot\overrightarrow{AF}=2+\overrightarrow{BC}\cdot\overrightarrow{AF}$</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value </a:t>
                </a:r>
                <a:r>
                  <a:rPr lang="en-IN" sz="2400">
                    <a:solidFill>
                      <a:srgbClr val="111827"/>
                    </a:solidFill>
                    <a:latin typeface="Cambria Math" panose="02040503050406030204" pitchFamily="18" charset="0"/>
                  </a:rPr>
                  <a:t>$2$</a:t>
                </a:r>
                <a:r>
                  <a:rPr sz="2400" b="0">
                    <a:solidFill>
                      <a:srgbClr val="111827"/>
                    </a:solidFill>
                    <a:latin typeface="Arial"/>
                  </a:rPr>
                  <a:t> gives </a:t>
                </a:r>
                <a:r>
                  <a:rPr lang="en-IN" sz="2400">
                    <a:solidFill>
                      <a:srgbClr val="111827"/>
                    </a:solidFill>
                    <a:latin typeface="Cambria Math" panose="02040503050406030204" pitchFamily="18" charset="0"/>
                  </a:rPr>
                  <a:t>$\overrightarrow{BC}\cdot\overrightarrow{AF}=0$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33</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$\overrightarrow{BF}=\overrightarrow{AF}-\overrightarrow{AB}$</a:t>
                </a:r>
                <a:r>
                  <a:rPr sz="2400" b="0">
                    <a:solidFill>
                      <a:srgbClr val="111827"/>
                    </a:solidFill>
                    <a:latin typeface="Arial"/>
                  </a:rPr>
                  <a:t>, so </a:t>
                </a:r>
                <a:r>
                  <a:rPr lang="en-IN" sz="2400">
                    <a:solidFill>
                      <a:srgbClr val="111827"/>
                    </a:solidFill>
                    <a:latin typeface="Cambria Math" panose="02040503050406030204" pitchFamily="18" charset="0"/>
                  </a:rPr>
                  <a:t>$\overrightarrow{BC}\cdot\overrightarrow{BF}=0-\overrightarrow{BC}\cdot\overrightarrow{AB}=-\overrightarrow{AB}\cdot\overrightarrow{BC}$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$AC^2=|\overrightarrow{AB}+\overrightarrow{BC}|^2=1+36+2\,\overrightarrow{AB}\cdot\overrightarrow{BC}=33\Rightarrow\overrightarrow{AB}\cdot\overrightarrow{BC}=-2$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$\overrightarrow{BC}\cdot\overrightarrow{BF}=2$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2</a:t>
            </a:r>
            <a:endParaRPr sz="2800">
              <a:solidFill>
                <a:srgbClr val="15803D"/>
              </a:solidFill>
            </a:endParaRPr>
          </a:p>
        </p:txBody>
      </p:sp>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Expand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𝐹</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𝑢</m:t>
                        </m:r>
                      </m:e>
                    </m:acc>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𝐸</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𝑢</m:t>
                        </m:r>
                      </m:e>
                    </m:acc>
                  </m:oMath>
                </a14:m>
                <a:r>
                  <a:rPr sz="2400" b="0">
                    <a:solidFill>
                      <a:srgbClr val="78350F"/>
                    </a:solidFill>
                    <a:latin typeface="Arial"/>
                  </a:rPr>
                  <a:t> without combining terms in advance.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Expand with </a:t>
                </a:r>
                <a:r>
                  <a:rPr lang="en-IN" sz="2400">
                    <a:solidFill>
                      <a:srgbClr val="78350F"/>
                    </a:solidFill>
                    <a:latin typeface="Cambria Math" panose="02040503050406030204" pitchFamily="18" charset="0"/>
                  </a:rPr>
                  <a:t>$\overrightarrow{BF}=\vec u$</a:t>
                </a:r>
                <a:r>
                  <a:rPr sz="2400" b="0">
                    <a:solidFill>
                      <a:srgbClr val="78350F"/>
                    </a:solidFill>
                    <a:latin typeface="Arial"/>
                  </a:rPr>
                  <a:t>, </a:t>
                </a:r>
                <a:r>
                  <a:rPr lang="en-IN" sz="2400">
                    <a:solidFill>
                      <a:srgbClr val="78350F"/>
                    </a:solidFill>
                    <a:latin typeface="Cambria Math" panose="02040503050406030204" pitchFamily="18" charset="0"/>
                  </a:rPr>
                  <a:t>$\overrightarrow{BE}=-\vec u$</a:t>
                </a:r>
                <a:r>
                  <a:rPr sz="2400" b="0">
                    <a:solidFill>
                      <a:srgbClr val="78350F"/>
                    </a:solidFill>
                    <a:latin typeface="Arial"/>
                  </a:rPr>
                  <a:t> without combining terms in advance.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$\overrightarrow{AE}=\overrightarrow{AB}-\vec u$</a:t>
                </a:r>
                <a:r>
                  <a:rPr sz="2400" b="0">
                    <a:solidFill>
                      <a:srgbClr val="111827"/>
                    </a:solidFill>
                    <a:latin typeface="Arial"/>
                  </a:rPr>
                  <a:t> and </a:t>
                </a:r>
                <a:r>
                  <a:rPr lang="en-IN" sz="2400">
                    <a:solidFill>
                      <a:srgbClr val="111827"/>
                    </a:solidFill>
                    <a:latin typeface="Cambria Math" panose="02040503050406030204" pitchFamily="18" charset="0"/>
                  </a:rPr>
                  <a:t>$\overrightarrow{AF}=\overrightarrow{AB}+\vec u$</a:t>
                </a:r>
                <a:r>
                  <a:rPr sz="2400" b="0">
                    <a:solidFill>
                      <a:srgbClr val="111827"/>
                    </a:solidFill>
                    <a:latin typeface="Arial"/>
                  </a:rPr>
                  <a:t> with </a:t>
                </a:r>
                <a:r>
                  <a:rPr lang="en-IN" sz="2400">
                    <a:solidFill>
                      <a:srgbClr val="111827"/>
                    </a:solidFill>
                    <a:latin typeface="Cambria Math" panose="02040503050406030204" pitchFamily="18" charset="0"/>
                  </a:rPr>
                  <a:t>$|\vec u|=\frac12$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$\overrightarrow{AB}\cdot\overrightarrow{AE}=1-\overrightarrow{AB}\cdot\vec u$</a:t>
                </a:r>
                <a:r>
                  <a:rPr sz="2400" b="0">
                    <a:solidFill>
                      <a:srgbClr val="111827"/>
                    </a:solidFill>
                    <a:latin typeface="Arial"/>
                  </a:rPr>
                  <a:t> and </a:t>
                </a:r>
                <a:r>
                  <a:rPr lang="en-IN" sz="2400">
                    <a:solidFill>
                      <a:srgbClr val="111827"/>
                    </a:solidFill>
                    <a:latin typeface="Cambria Math" panose="02040503050406030204" pitchFamily="18" charset="0"/>
                  </a:rPr>
                  <a:t>$\overrightarrow{AC}\cdot\overrightarrow{AF}=(\overrightarrow{AB}+\overrightarrow{BC})\cdot(\overrightarrow{AB}+\vec u)=1+\overrightarrow{AB}\cdot\vec u+\overrightarrow{AB}\cdot\overrightarrow{BC}+\overrightarrow{BC}\cdot\vec u$</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(using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Sum </a:t>
                </a:r>
                <a:r>
                  <a:rPr lang="en-IN" sz="2400">
                    <a:solidFill>
                      <a:srgbClr val="111827"/>
                    </a:solidFill>
                    <a:latin typeface="Cambria Math" panose="02040503050406030204" pitchFamily="18" charset="0"/>
                  </a:rPr>
                  <a:t>$=2+\overrightarrow{AB}\cdot\overrightarrow{BC}+\overrightarrow{BC}\cdot\vec u=2\Rightarrow\overrightarrow{BC}\cdot\vec u=-\overrightarrow{AB}\cdot\overrightarrow{BC}=2$</a:t>
                </a:r>
                <a:r>
                  <a:rPr sz="2400" b="0">
                    <a:solidFill>
                      <a:srgbClr val="111827"/>
                    </a:solidFill>
                    <a:latin typeface="Arial"/>
                  </a:rPr>
                  <a:t> (using </a:t>
                </a:r>
                <a:r>
                  <a:rPr lang="en-IN" sz="2400">
                    <a:solidFill>
                      <a:srgbClr val="111827"/>
                    </a:solidFill>
                    <a:latin typeface="Cambria Math" panose="02040503050406030204" pitchFamily="18" charset="0"/>
                  </a:rPr>
                  <a:t>$\overrightarrow{AB}\cdot\overrightarrow{BC}=-2$</a:t>
                </a:r>
                <a:r>
                  <a:rPr sz="2400" b="0">
                    <a:solidFill>
                      <a:srgbClr val="111827"/>
                    </a:solidFill>
                    <a:latin typeface="Arial"/>
                  </a:rPr>
                  <a:t> from </a:t>
                </a:r>
                <a:r>
                  <a:rPr lang="en-IN" sz="2400">
                    <a:solidFill>
                      <a:srgbClr val="111827"/>
                    </a:solidFill>
                    <a:latin typeface="Cambria Math" panose="02040503050406030204" pitchFamily="18" charset="0"/>
                  </a:rPr>
                  <a:t>$AC^2=33$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$\overrightarrow{BC}\cdot\overrightarrow{BF}=2$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2</a:t>
            </a:r>
            <a:endParaRPr sz="2800">
              <a:solidFill>
                <a:srgbClr val="15803D"/>
              </a:solidFill>
            </a:endParaRPr>
          </a:p>
        </p:txBody>
      </p:sp>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is the mid-point of </a:t>
                </a:r>
                <a14:m>
                  <m:oMath xmlns:m="http://schemas.openxmlformats.org/officeDocument/2006/math">
                    <m:r>
                      <a:rPr lang="en-IN" sz="2400" i="1">
                        <a:solidFill>
                          <a:srgbClr val="111827"/>
                        </a:solidFill>
                        <a:latin typeface="Cambria Math" panose="02040503050406030204" pitchFamily="18" charset="0"/>
                      </a:rPr>
                      <m:t>𝐸</m:t>
                    </m:r>
                    <m:r>
                      <a:rPr lang="en-IN" sz="2400" i="1">
                        <a:solidFill>
                          <a:srgbClr val="111827"/>
                        </a:solidFill>
                        <a:latin typeface="Cambria Math" panose="02040503050406030204" pitchFamily="18" charset="0"/>
                      </a:rPr>
                      <m:t>𝐹</m:t>
                    </m:r>
                  </m:oMath>
                </a14:m>
                <a:r>
                  <a:rPr sz="2400" b="0">
                    <a:solidFill>
                      <a:srgbClr val="111827"/>
                    </a:solidFill>
                    <a:latin typeface="Arial"/>
                  </a:rPr>
                  <a:t> 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𝐸</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𝐹</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oMath>
                </a14:m>
                <a:r>
                  <a:rPr sz="2400" b="0">
                    <a:solidFill>
                      <a:srgbClr val="111827"/>
                    </a:solidFill>
                    <a:latin typeface="Arial"/>
                  </a:rPr>
                  <a:t> for every point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(cosine rule in vector form).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Splitting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oMath>
                </a14:m>
                <a:r>
                  <a:rPr sz="2400" b="0">
                    <a:solidFill>
                      <a:srgbClr val="111827"/>
                    </a:solidFill>
                    <a:latin typeface="Arial"/>
                  </a:rPr>
                  <a:t> often turns a sum of dot products into one involving a single unknown dot product.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$B$</a:t>
                </a:r>
                <a:r>
                  <a:rPr sz="2400" b="0">
                    <a:solidFill>
                      <a:srgbClr val="111827"/>
                    </a:solidFill>
                    <a:latin typeface="Arial"/>
                  </a:rPr>
                  <a:t> is the mid-point of </a:t>
                </a:r>
                <a:r>
                  <a:rPr lang="en-IN" sz="2400">
                    <a:solidFill>
                      <a:srgbClr val="111827"/>
                    </a:solidFill>
                    <a:latin typeface="Cambria Math" panose="02040503050406030204" pitchFamily="18" charset="0"/>
                  </a:rPr>
                  <a:t>$EF$</a:t>
                </a:r>
                <a:r>
                  <a:rPr sz="2400" b="0">
                    <a:solidFill>
                      <a:srgbClr val="111827"/>
                    </a:solidFill>
                    <a:latin typeface="Arial"/>
                  </a:rPr>
                  <a:t> then </a:t>
                </a:r>
                <a:r>
                  <a:rPr lang="en-IN" sz="2400">
                    <a:solidFill>
                      <a:srgbClr val="111827"/>
                    </a:solidFill>
                    <a:latin typeface="Cambria Math" panose="02040503050406030204" pitchFamily="18" charset="0"/>
                  </a:rPr>
                  <a:t>$\overrightarrow{AE}+\overrightarrow{AF}=2\overrightarrow{AB}$</a:t>
                </a:r>
                <a:r>
                  <a:rPr sz="2400" b="0">
                    <a:solidFill>
                      <a:srgbClr val="111827"/>
                    </a:solidFill>
                    <a:latin typeface="Arial"/>
                  </a:rPr>
                  <a:t> for every point </a:t>
                </a:r>
                <a:r>
                  <a:rPr lang="en-IN" sz="2400">
                    <a:solidFill>
                      <a:srgbClr val="111827"/>
                    </a:solidFill>
                    <a:latin typeface="Cambria Math" panose="02040503050406030204" pitchFamily="18" charset="0"/>
                  </a:rPr>
                  <a: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$\overrightarrow{AB}\cdot\overrightarrow{BC}=\frac{AC^2-AB^2-BC^2}{2}$</a:t>
                </a:r>
                <a:r>
                  <a:rPr sz="2400" b="0">
                    <a:solidFill>
                      <a:srgbClr val="111827"/>
                    </a:solidFill>
                    <a:latin typeface="Arial"/>
                  </a:rPr>
                  <a:t> (cosine rule in vector form).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Splitting </a:t>
                </a:r>
                <a:r>
                  <a:rPr lang="en-IN" sz="2400">
                    <a:solidFill>
                      <a:srgbClr val="111827"/>
                    </a:solidFill>
                    <a:latin typeface="Cambria Math" panose="02040503050406030204" pitchFamily="18" charset="0"/>
                  </a:rPr>
                  <a:t>$\overrightarrow{AC}=\overrightarrow{AB}+\overrightarrow{BC}$</a:t>
                </a:r>
                <a:r>
                  <a:rPr sz="2400" b="0">
                    <a:solidFill>
                      <a:srgbClr val="111827"/>
                    </a:solidFill>
                    <a:latin typeface="Arial"/>
                  </a:rPr>
                  <a:t> often turns a sum of dot products into one involving a single unknown dot product.</a:t>
                </a:r>
                <a:endParaRPr sz="2400">
                  <a:solidFill>
                    <a:srgbClr val="111827"/>
                  </a:solidFill>
                </a:endParaRPr>
              </a:p>
            </p:txBody>
          </p:sp>
        </mc:Fallback>
      </mc:AlternateContent>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a tetrahedron </a:t>
                </a:r>
                <a14:m>
                  <m:oMath xmlns:m="http://schemas.openxmlformats.org/officeDocument/2006/math">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𝑂</m:t>
                    </m:r>
                  </m:oMath>
                </a14:m>
                <a:r>
                  <a:rPr sz="2400" b="0">
                    <a:solidFill>
                      <a:srgbClr val="111827"/>
                    </a:solidFill>
                    <a:latin typeface="Arial"/>
                  </a:rPr>
                  <a:t> edges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𝐿</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𝑁</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𝑂</m:t>
                    </m:r>
                  </m:oMath>
                </a14:m>
                <a:r>
                  <a:rPr sz="2400" b="0">
                    <a:solidFill>
                      <a:srgbClr val="111827"/>
                    </a:solidFill>
                    <a:latin typeface="Arial"/>
                  </a:rPr>
                  <a:t> are mutually perpendicular and length of altitudes drawn from </a:t>
                </a:r>
                <a14:m>
                  <m:oMath xmlns:m="http://schemas.openxmlformats.org/officeDocument/2006/math">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𝐿</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to opposite faces are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units, then length of altitude drawn from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to face </a:t>
                </a:r>
                <a14:m>
                  <m:oMath xmlns:m="http://schemas.openxmlformats.org/officeDocument/2006/math">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𝑂</m:t>
                    </m:r>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a tetrahedron </a:t>
                </a:r>
                <a:r>
                  <a:rPr lang="en-IN" sz="2400">
                    <a:solidFill>
                      <a:srgbClr val="111827"/>
                    </a:solidFill>
                    <a:latin typeface="Cambria Math" panose="02040503050406030204" pitchFamily="18" charset="0"/>
                  </a:rPr>
                  <a:t>$LMNO$</a:t>
                </a:r>
                <a:r>
                  <a:rPr sz="2400" b="0">
                    <a:solidFill>
                      <a:srgbClr val="111827"/>
                    </a:solidFill>
                    <a:latin typeface="Arial"/>
                  </a:rPr>
                  <a:t> edges </a:t>
                </a:r>
                <a:r>
                  <a:rPr lang="en-IN" sz="2400">
                    <a:solidFill>
                      <a:srgbClr val="111827"/>
                    </a:solidFill>
                    <a:latin typeface="Cambria Math" panose="02040503050406030204" pitchFamily="18" charset="0"/>
                  </a:rPr>
                  <a:t>$ML$</a:t>
                </a:r>
                <a:r>
                  <a:rPr sz="2400" b="0">
                    <a:solidFill>
                      <a:srgbClr val="111827"/>
                    </a:solidFill>
                    <a:latin typeface="Arial"/>
                  </a:rPr>
                  <a:t>, </a:t>
                </a:r>
                <a:r>
                  <a:rPr lang="en-IN" sz="2400">
                    <a:solidFill>
                      <a:srgbClr val="111827"/>
                    </a:solidFill>
                    <a:latin typeface="Cambria Math" panose="02040503050406030204" pitchFamily="18" charset="0"/>
                  </a:rPr>
                  <a:t>$MN$</a:t>
                </a:r>
                <a:r>
                  <a:rPr sz="2400" b="0">
                    <a:solidFill>
                      <a:srgbClr val="111827"/>
                    </a:solidFill>
                    <a:latin typeface="Arial"/>
                  </a:rPr>
                  <a:t> and </a:t>
                </a:r>
                <a:r>
                  <a:rPr lang="en-IN" sz="2400">
                    <a:solidFill>
                      <a:srgbClr val="111827"/>
                    </a:solidFill>
                    <a:latin typeface="Cambria Math" panose="02040503050406030204" pitchFamily="18" charset="0"/>
                  </a:rPr>
                  <a:t>$MO$</a:t>
                </a:r>
                <a:r>
                  <a:rPr sz="2400" b="0">
                    <a:solidFill>
                      <a:srgbClr val="111827"/>
                    </a:solidFill>
                    <a:latin typeface="Arial"/>
                  </a:rPr>
                  <a:t> are mutually perpendicular and length of altitudes drawn from </a:t>
                </a:r>
                <a:r>
                  <a:rPr lang="en-IN" sz="2400">
                    <a:solidFill>
                      <a:srgbClr val="111827"/>
                    </a:solidFill>
                    <a:latin typeface="Cambria Math" panose="02040503050406030204" pitchFamily="18" charset="0"/>
                  </a:rPr>
                  <a:t>$O,L$</a:t>
                </a:r>
                <a:r>
                  <a:rPr sz="2400" b="0">
                    <a:solidFill>
                      <a:srgbClr val="111827"/>
                    </a:solidFill>
                    <a:latin typeface="Arial"/>
                  </a:rPr>
                  <a:t> and </a:t>
                </a:r>
                <a:r>
                  <a:rPr lang="en-IN" sz="2400">
                    <a:solidFill>
                      <a:srgbClr val="111827"/>
                    </a:solidFill>
                    <a:latin typeface="Cambria Math" panose="02040503050406030204" pitchFamily="18" charset="0"/>
                  </a:rPr>
                  <a:t>$N$</a:t>
                </a:r>
                <a:r>
                  <a:rPr sz="2400" b="0">
                    <a:solidFill>
                      <a:srgbClr val="111827"/>
                    </a:solidFill>
                    <a:latin typeface="Arial"/>
                  </a:rPr>
                  <a:t> to opposite faces are </a:t>
                </a:r>
                <a:r>
                  <a:rPr lang="en-IN" sz="2400">
                    <a:solidFill>
                      <a:srgbClr val="111827"/>
                    </a:solidFill>
                    <a:latin typeface="Cambria Math" panose="02040503050406030204" pitchFamily="18" charset="0"/>
                  </a:rPr>
                  <a:t>$1,2$</a:t>
                </a:r>
                <a:r>
                  <a:rPr sz="2400" b="0">
                    <a:solidFill>
                      <a:srgbClr val="111827"/>
                    </a:solidFill>
                    <a:latin typeface="Arial"/>
                  </a:rPr>
                  <a:t> and </a:t>
                </a:r>
                <a:r>
                  <a:rPr lang="en-IN" sz="2400">
                    <a:solidFill>
                      <a:srgbClr val="111827"/>
                    </a:solidFill>
                    <a:latin typeface="Cambria Math" panose="02040503050406030204" pitchFamily="18" charset="0"/>
                  </a:rPr>
                  <a:t>$3$</a:t>
                </a:r>
                <a:r>
                  <a:rPr sz="2400" b="0">
                    <a:solidFill>
                      <a:srgbClr val="111827"/>
                    </a:solidFill>
                    <a:latin typeface="Arial"/>
                  </a:rPr>
                  <a:t> units, then length of altitude drawn from </a:t>
                </a:r>
                <a:r>
                  <a:rPr lang="en-IN" sz="2400">
                    <a:solidFill>
                      <a:srgbClr val="111827"/>
                    </a:solidFill>
                    <a:latin typeface="Cambria Math" panose="02040503050406030204" pitchFamily="18" charset="0"/>
                  </a:rPr>
                  <a:t>$M$</a:t>
                </a:r>
                <a:r>
                  <a:rPr sz="2400" b="0">
                    <a:solidFill>
                      <a:srgbClr val="111827"/>
                    </a:solidFill>
                    <a:latin typeface="Arial"/>
                  </a:rPr>
                  <a:t> to face </a:t>
                </a:r>
                <a:r>
                  <a:rPr lang="en-IN" sz="2400">
                    <a:solidFill>
                      <a:srgbClr val="111827"/>
                    </a:solidFill>
                    <a:latin typeface="Cambria Math" panose="02040503050406030204" pitchFamily="18" charset="0"/>
                  </a:rPr>
                  <a:t>$LNO$</a:t>
                </a:r>
                <a:r>
                  <a:rPr sz="2400" b="0">
                    <a:solidFill>
                      <a:srgbClr val="111827"/>
                    </a:solidFill>
                    <a:latin typeface="Arial"/>
                  </a:rPr>
                  <a:t> is ________.</a:t>
                </a:r>
                <a:endParaRPr sz="2400">
                  <a:solidFill>
                    <a:srgbClr val="111827"/>
                  </a:solidFill>
                </a:endParaRPr>
              </a:p>
            </p:txBody>
          </p:sp>
        </mc:Fallback>
      </mc:AlternateContent>
      <p:sp>
        <p:nvSpPr>
          <p:cNvPr id="5" name="Rectangle 4"/>
          <p:cNvSpPr/>
          <p:nvPr/>
        </p:nvSpPr>
        <p:spPr>
          <a:xfrm>
            <a:off x="731520" y="3516884"/>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Tetrahedron with mutually perpendicular edges: altitude from the right-angle vertex</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𝐿</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𝑁</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𝑂</m:t>
                    </m:r>
                  </m:oMath>
                </a14:m>
                <a:r>
                  <a:rPr sz="2400" b="0">
                    <a:solidFill>
                      <a:srgbClr val="78350F"/>
                    </a:solidFill>
                    <a:latin typeface="Arial"/>
                  </a:rPr>
                  <a:t> are the altitudes from </a:t>
                </a:r>
                <a14:m>
                  <m:oMath xmlns:m="http://schemas.openxmlformats.org/officeDocument/2006/math">
                    <m:r>
                      <a:rPr lang="en-IN" sz="2400" i="1">
                        <a:solidFill>
                          <a:srgbClr val="78350F"/>
                        </a:solidFill>
                        <a:latin typeface="Cambria Math" panose="02040503050406030204" pitchFamily="18" charset="0"/>
                      </a:rPr>
                      <m:t>𝐿</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𝑁</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𝑂</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𝑀</m:t>
                    </m:r>
                  </m:oMath>
                </a14:m>
                <a:r>
                  <a:rPr sz="2400" b="0">
                    <a:solidFill>
                      <a:srgbClr val="78350F"/>
                    </a:solidFill>
                    <a:latin typeface="Arial"/>
                  </a:rPr>
                  <a:t> as the origin the face </a:t>
                </a:r>
                <a14:m>
                  <m:oMath xmlns:m="http://schemas.openxmlformats.org/officeDocument/2006/math">
                    <m:r>
                      <a:rPr lang="en-IN" sz="2400" i="1">
                        <a:solidFill>
                          <a:srgbClr val="78350F"/>
                        </a:solidFill>
                        <a:latin typeface="Cambria Math" panose="02040503050406030204" pitchFamily="18" charset="0"/>
                      </a:rPr>
                      <m:t>𝐿</m:t>
                    </m:r>
                    <m:r>
                      <a:rPr lang="en-IN" sz="2400" i="1">
                        <a:solidFill>
                          <a:srgbClr val="78350F"/>
                        </a:solidFill>
                        <a:latin typeface="Cambria Math" panose="02040503050406030204" pitchFamily="18" charset="0"/>
                      </a:rPr>
                      <m:t>𝑁</m:t>
                    </m:r>
                    <m:r>
                      <a:rPr lang="en-IN" sz="2400" i="1">
                        <a:solidFill>
                          <a:srgbClr val="78350F"/>
                        </a:solidFill>
                        <a:latin typeface="Cambria Math" panose="02040503050406030204" pitchFamily="18" charset="0"/>
                      </a:rPr>
                      <m:t>𝑂</m:t>
                    </m:r>
                  </m:oMath>
                </a14:m>
                <a:r>
                  <a:rPr sz="2400" b="0">
                    <a:solidFill>
                      <a:srgbClr val="78350F"/>
                    </a:solidFill>
                    <a:latin typeface="Arial"/>
                  </a:rPr>
                  <a:t> has intercepts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$ML,MN,MO$</a:t>
                </a:r>
                <a:r>
                  <a:rPr sz="2400" b="0">
                    <a:solidFill>
                      <a:srgbClr val="78350F"/>
                    </a:solidFill>
                    <a:latin typeface="Arial"/>
                  </a:rPr>
                  <a:t> are the altitudes from </a:t>
                </a:r>
                <a:r>
                  <a:rPr lang="en-IN" sz="2400">
                    <a:solidFill>
                      <a:srgbClr val="78350F"/>
                    </a:solidFill>
                    <a:latin typeface="Cambria Math" panose="02040503050406030204" pitchFamily="18" charset="0"/>
                  </a:rPr>
                  <a:t>$L,N,O$</a:t>
                </a:r>
                <a:r>
                  <a:rPr sz="2400" b="0">
                    <a:solidFill>
                      <a:srgbClr val="78350F"/>
                    </a:solidFill>
                    <a:latin typeface="Arial"/>
                  </a:rPr>
                  <a:t>: with </a:t>
                </a:r>
                <a:r>
                  <a:rPr lang="en-IN" sz="2400">
                    <a:solidFill>
                      <a:srgbClr val="78350F"/>
                    </a:solidFill>
                    <a:latin typeface="Cambria Math" panose="02040503050406030204" pitchFamily="18" charset="0"/>
                  </a:rPr>
                  <a:t>$M$</a:t>
                </a:r>
                <a:r>
                  <a:rPr sz="2400" b="0">
                    <a:solidFill>
                      <a:srgbClr val="78350F"/>
                    </a:solidFill>
                    <a:latin typeface="Arial"/>
                  </a:rPr>
                  <a:t> as the origin the face </a:t>
                </a:r>
                <a:r>
                  <a:rPr lang="en-IN" sz="2400">
                    <a:solidFill>
                      <a:srgbClr val="78350F"/>
                    </a:solidFill>
                    <a:latin typeface="Cambria Math" panose="02040503050406030204" pitchFamily="18" charset="0"/>
                  </a:rPr>
                  <a:t>$LNO$</a:t>
                </a:r>
                <a:r>
                  <a:rPr sz="2400" b="0">
                    <a:solidFill>
                      <a:srgbClr val="78350F"/>
                    </a:solidFill>
                    <a:latin typeface="Arial"/>
                  </a:rPr>
                  <a:t> has intercepts </a:t>
                </a:r>
                <a:r>
                  <a:rPr lang="en-IN" sz="2400">
                    <a:solidFill>
                      <a:srgbClr val="78350F"/>
                    </a:solidFill>
                    <a:latin typeface="Cambria Math" panose="02040503050406030204" pitchFamily="18" charset="0"/>
                  </a:rPr>
                  <a:t>$2,3,1$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as the origin and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𝑂</m:t>
                    </m:r>
                  </m:oMath>
                </a14:m>
                <a:r>
                  <a:rPr sz="2400" b="0">
                    <a:solidFill>
                      <a:srgbClr val="111827"/>
                    </a:solidFill>
                    <a:latin typeface="Arial"/>
                  </a:rPr>
                  <a:t> along the axes. The altitude from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to face </a:t>
                </a:r>
                <a14:m>
                  <m:oMath xmlns:m="http://schemas.openxmlformats.org/officeDocument/2006/math">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𝑁</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to face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𝑂</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to face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𝑂</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𝑀</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face </a:t>
                </a:r>
                <a14:m>
                  <m:oMath xmlns:m="http://schemas.openxmlformats.org/officeDocument/2006/math">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𝑂</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PDF writes it with the intercepts in another order,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which gives the same distance).</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$M$</a:t>
                </a:r>
                <a:r>
                  <a:rPr sz="2400" b="0">
                    <a:solidFill>
                      <a:srgbClr val="111827"/>
                    </a:solidFill>
                    <a:latin typeface="Arial"/>
                  </a:rPr>
                  <a:t> as the origin and </a:t>
                </a:r>
                <a:r>
                  <a:rPr lang="en-IN" sz="2400">
                    <a:solidFill>
                      <a:srgbClr val="111827"/>
                    </a:solidFill>
                    <a:latin typeface="Cambria Math" panose="02040503050406030204" pitchFamily="18" charset="0"/>
                  </a:rPr>
                  <a:t>$ML,MN,MO$</a:t>
                </a:r>
                <a:r>
                  <a:rPr sz="2400" b="0">
                    <a:solidFill>
                      <a:srgbClr val="111827"/>
                    </a:solidFill>
                    <a:latin typeface="Arial"/>
                  </a:rPr>
                  <a:t> along the axes. The altitude from </a:t>
                </a:r>
                <a:r>
                  <a:rPr lang="en-IN" sz="2400">
                    <a:solidFill>
                      <a:srgbClr val="111827"/>
                    </a:solidFill>
                    <a:latin typeface="Cambria Math" panose="02040503050406030204" pitchFamily="18" charset="0"/>
                  </a:rPr>
                  <a:t>$O$</a:t>
                </a:r>
                <a:r>
                  <a:rPr sz="2400" b="0">
                    <a:solidFill>
                      <a:srgbClr val="111827"/>
                    </a:solidFill>
                    <a:latin typeface="Arial"/>
                  </a:rPr>
                  <a:t> to face </a:t>
                </a:r>
                <a:r>
                  <a:rPr lang="en-IN" sz="2400">
                    <a:solidFill>
                      <a:srgbClr val="111827"/>
                    </a:solidFill>
                    <a:latin typeface="Cambria Math" panose="02040503050406030204" pitchFamily="18" charset="0"/>
                  </a:rPr>
                  <a:t>$LMN$</a:t>
                </a:r>
                <a:r>
                  <a:rPr sz="2400" b="0">
                    <a:solidFill>
                      <a:srgbClr val="111827"/>
                    </a:solidFill>
                    <a:latin typeface="Arial"/>
                  </a:rPr>
                  <a:t> is </a:t>
                </a:r>
                <a:r>
                  <a:rPr lang="en-IN" sz="2400">
                    <a:solidFill>
                      <a:srgbClr val="111827"/>
                    </a:solidFill>
                    <a:latin typeface="Cambria Math" panose="02040503050406030204" pitchFamily="18" charset="0"/>
                  </a:rPr>
                  <a:t>$MO=1$</a:t>
                </a:r>
                <a:r>
                  <a:rPr sz="2400" b="0">
                    <a:solidFill>
                      <a:srgbClr val="111827"/>
                    </a:solidFill>
                    <a:latin typeface="Arial"/>
                  </a:rPr>
                  <a:t>; from </a:t>
                </a:r>
                <a:r>
                  <a:rPr lang="en-IN" sz="2400">
                    <a:solidFill>
                      <a:srgbClr val="111827"/>
                    </a:solidFill>
                    <a:latin typeface="Cambria Math" panose="02040503050406030204" pitchFamily="18" charset="0"/>
                  </a:rPr>
                  <a:t>$L$</a:t>
                </a:r>
                <a:r>
                  <a:rPr sz="2400" b="0">
                    <a:solidFill>
                      <a:srgbClr val="111827"/>
                    </a:solidFill>
                    <a:latin typeface="Arial"/>
                  </a:rPr>
                  <a:t> to face </a:t>
                </a:r>
                <a:r>
                  <a:rPr lang="en-IN" sz="2400">
                    <a:solidFill>
                      <a:srgbClr val="111827"/>
                    </a:solidFill>
                    <a:latin typeface="Cambria Math" panose="02040503050406030204" pitchFamily="18" charset="0"/>
                  </a:rPr>
                  <a:t>$MNO$</a:t>
                </a:r>
                <a:r>
                  <a:rPr sz="2400" b="0">
                    <a:solidFill>
                      <a:srgbClr val="111827"/>
                    </a:solidFill>
                    <a:latin typeface="Arial"/>
                  </a:rPr>
                  <a:t> is </a:t>
                </a:r>
                <a:r>
                  <a:rPr lang="en-IN" sz="2400">
                    <a:solidFill>
                      <a:srgbClr val="111827"/>
                    </a:solidFill>
                    <a:latin typeface="Cambria Math" panose="02040503050406030204" pitchFamily="18" charset="0"/>
                  </a:rPr>
                  <a:t>$ML=2$</a:t>
                </a:r>
                <a:r>
                  <a:rPr sz="2400" b="0">
                    <a:solidFill>
                      <a:srgbClr val="111827"/>
                    </a:solidFill>
                    <a:latin typeface="Arial"/>
                  </a:rPr>
                  <a:t>; from </a:t>
                </a:r>
                <a:r>
                  <a:rPr lang="en-IN" sz="2400">
                    <a:solidFill>
                      <a:srgbClr val="111827"/>
                    </a:solidFill>
                    <a:latin typeface="Cambria Math" panose="02040503050406030204" pitchFamily="18" charset="0"/>
                  </a:rPr>
                  <a:t>$N$</a:t>
                </a:r>
                <a:r>
                  <a:rPr sz="2400" b="0">
                    <a:solidFill>
                      <a:srgbClr val="111827"/>
                    </a:solidFill>
                    <a:latin typeface="Arial"/>
                  </a:rPr>
                  <a:t> to face </a:t>
                </a:r>
                <a:r>
                  <a:rPr lang="en-IN" sz="2400">
                    <a:solidFill>
                      <a:srgbClr val="111827"/>
                    </a:solidFill>
                    <a:latin typeface="Cambria Math" panose="02040503050406030204" pitchFamily="18" charset="0"/>
                  </a:rPr>
                  <a:t>$MLO$</a:t>
                </a:r>
                <a:r>
                  <a:rPr sz="2400" b="0">
                    <a:solidFill>
                      <a:srgbClr val="111827"/>
                    </a:solidFill>
                    <a:latin typeface="Arial"/>
                  </a:rPr>
                  <a:t> is </a:t>
                </a:r>
                <a:r>
                  <a:rPr lang="en-IN" sz="2400">
                    <a:solidFill>
                      <a:srgbClr val="111827"/>
                    </a:solidFill>
                    <a:latin typeface="Cambria Math" panose="02040503050406030204" pitchFamily="18" charset="0"/>
                  </a:rPr>
                  <a:t>$MN=3$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$L=(2,0,0)$</a:t>
                </a:r>
                <a:r>
                  <a:rPr sz="2400" b="0">
                    <a:solidFill>
                      <a:srgbClr val="111827"/>
                    </a:solidFill>
                    <a:latin typeface="Arial"/>
                  </a:rPr>
                  <a:t>, </a:t>
                </a:r>
                <a:r>
                  <a:rPr lang="en-IN" sz="2400">
                    <a:solidFill>
                      <a:srgbClr val="111827"/>
                    </a:solidFill>
                    <a:latin typeface="Cambria Math" panose="02040503050406030204" pitchFamily="18" charset="0"/>
                  </a:rPr>
                  <a:t>$N=(0,3,0)$</a:t>
                </a:r>
                <a:r>
                  <a:rPr sz="2400" b="0">
                    <a:solidFill>
                      <a:srgbClr val="111827"/>
                    </a:solidFill>
                    <a:latin typeface="Arial"/>
                  </a:rPr>
                  <a:t>, </a:t>
                </a:r>
                <a:r>
                  <a:rPr lang="en-IN" sz="2400">
                    <a:solidFill>
                      <a:srgbClr val="111827"/>
                    </a:solidFill>
                    <a:latin typeface="Cambria Math" panose="02040503050406030204" pitchFamily="18" charset="0"/>
                  </a:rPr>
                  <a:t>$O=(0,0,1)$</a:t>
                </a:r>
                <a:r>
                  <a:rPr sz="2400" b="0">
                    <a:solidFill>
                      <a:srgbClr val="111827"/>
                    </a:solidFill>
                    <a:latin typeface="Arial"/>
                  </a:rPr>
                  <a:t> and the face </a:t>
                </a:r>
                <a:r>
                  <a:rPr lang="en-IN" sz="2400">
                    <a:solidFill>
                      <a:srgbClr val="111827"/>
                    </a:solidFill>
                    <a:latin typeface="Cambria Math" panose="02040503050406030204" pitchFamily="18" charset="0"/>
                  </a:rPr>
                  <a:t>$LNO$</a:t>
                </a:r>
                <a:r>
                  <a:rPr sz="2400" b="0">
                    <a:solidFill>
                      <a:srgbClr val="111827"/>
                    </a:solidFill>
                    <a:latin typeface="Arial"/>
                  </a:rPr>
                  <a:t> is </a:t>
                </a:r>
                <a:r>
                  <a:rPr lang="en-IN" sz="2400">
                    <a:solidFill>
                      <a:srgbClr val="111827"/>
                    </a:solidFill>
                    <a:latin typeface="Cambria Math" panose="02040503050406030204" pitchFamily="18" charset="0"/>
                  </a:rPr>
                  <a:t>$\frac x2+\frac y3+z=1$</a:t>
                </a:r>
                <a:r>
                  <a:rPr sz="2400" b="0">
                    <a:solidFill>
                      <a:srgbClr val="111827"/>
                    </a:solidFill>
                    <a:latin typeface="Arial"/>
                  </a:rPr>
                  <a:t> (the PDF writes it with the intercepts in another order, </a:t>
                </a:r>
                <a:r>
                  <a:rPr lang="en-IN" sz="2400">
                    <a:solidFill>
                      <a:srgbClr val="111827"/>
                    </a:solidFill>
                    <a:latin typeface="Cambria Math" panose="02040503050406030204" pitchFamily="18" charset="0"/>
                  </a:rPr>
                  <a:t>$x+\frac y2+\frac z3=1$</a:t>
                </a:r>
                <a:r>
                  <a:rPr sz="2400" b="0">
                    <a:solidFill>
                      <a:srgbClr val="111827"/>
                    </a:solidFill>
                    <a:latin typeface="Arial"/>
                  </a:rPr>
                  <a:t>, which gives the same distance).</a:t>
                </a:r>
                <a:endParaRPr sz="2400">
                  <a:solidFill>
                    <a:srgbClr val="111827"/>
                  </a:solidFill>
                </a:endParaRPr>
              </a:p>
            </p:txBody>
          </p:sp>
        </mc:Fallback>
      </mc:AlternateContent>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altitude from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is the distance of the origin from this plane: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49</m:t>
                                </m:r>
                              </m:num>
                              <m:den>
                                <m:r>
                                  <a:rPr lang="en-IN" sz="2400" i="1">
                                    <a:solidFill>
                                      <a:srgbClr val="111827"/>
                                    </a:solidFill>
                                    <a:latin typeface="Cambria Math" panose="02040503050406030204" pitchFamily="18" charset="0"/>
                                  </a:rPr>
                                  <m:t>36</m:t>
                                </m:r>
                              </m:den>
                            </m:f>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0.857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paper's key prints </a:t>
                </a:r>
                <a14:m>
                  <m:oMath xmlns:m="http://schemas.openxmlformats.org/officeDocument/2006/math">
                    <m:r>
                      <a:rPr lang="en-IN" sz="2400" i="1">
                        <a:solidFill>
                          <a:srgbClr val="111827"/>
                        </a:solidFill>
                        <a:latin typeface="Cambria Math" panose="02040503050406030204" pitchFamily="18" charset="0"/>
                      </a:rPr>
                      <m:t>0.85</m:t>
                    </m:r>
                  </m:oMath>
                </a14:m>
                <a:r>
                  <a:rPr sz="2400" b="0">
                    <a:solidFill>
                      <a:srgbClr val="111827"/>
                    </a:solidFill>
                    <a:latin typeface="Arial"/>
                  </a:rPr>
                  <a:t>, the value truncated to two decimals; rounded it would be </a:t>
                </a:r>
                <a14:m>
                  <m:oMath xmlns:m="http://schemas.openxmlformats.org/officeDocument/2006/math">
                    <m:r>
                      <a:rPr lang="en-IN" sz="2400" i="1">
                        <a:solidFill>
                          <a:srgbClr val="111827"/>
                        </a:solidFill>
                        <a:latin typeface="Cambria Math" panose="02040503050406030204" pitchFamily="18" charset="0"/>
                      </a:rPr>
                      <m:t>0.86</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altitude from </a:t>
                </a:r>
                <a:r>
                  <a:rPr lang="en-IN" sz="2400">
                    <a:solidFill>
                      <a:srgbClr val="111827"/>
                    </a:solidFill>
                    <a:latin typeface="Cambria Math" panose="02040503050406030204" pitchFamily="18" charset="0"/>
                  </a:rPr>
                  <a:t>$M$</a:t>
                </a:r>
                <a:r>
                  <a:rPr sz="2400" b="0">
                    <a:solidFill>
                      <a:srgbClr val="111827"/>
                    </a:solidFill>
                    <a:latin typeface="Arial"/>
                  </a:rPr>
                  <a:t> is the distance of the origin from this plane: </a:t>
                </a:r>
                <a:r>
                  <a:rPr lang="en-IN" sz="2400">
                    <a:solidFill>
                      <a:srgbClr val="111827"/>
                    </a:solidFill>
                    <a:latin typeface="Cambria Math" panose="02040503050406030204" pitchFamily="18" charset="0"/>
                  </a:rPr>
                  <a:t>$\frac{1}{\sqrt{\frac14+\frac19+1}}=\frac{1}{\sqrt{\frac{49}{36}}}=\frac67$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$\frac67=0.857\ldots$</a:t>
                </a:r>
                <a:r>
                  <a:rPr sz="2400" b="0">
                    <a:solidFill>
                      <a:srgbClr val="111827"/>
                    </a:solidFill>
                    <a:latin typeface="Arial"/>
                  </a:rPr>
                  <a:t> (the paper's key prints </a:t>
                </a:r>
                <a:r>
                  <a:rPr lang="en-IN" sz="2400">
                    <a:solidFill>
                      <a:srgbClr val="111827"/>
                    </a:solidFill>
                    <a:latin typeface="Cambria Math" panose="02040503050406030204" pitchFamily="18" charset="0"/>
                  </a:rPr>
                  <a:t>$0.85$</a:t>
                </a:r>
                <a:r>
                  <a:rPr sz="2400" b="0">
                    <a:solidFill>
                      <a:srgbClr val="111827"/>
                    </a:solidFill>
                    <a:latin typeface="Arial"/>
                  </a:rPr>
                  <a:t>, the value truncated to two decimals; rounded it would be </a:t>
                </a:r>
                <a:r>
                  <a:rPr lang="en-IN" sz="2400">
                    <a:solidFill>
                      <a:srgbClr val="111827"/>
                    </a:solidFill>
                    <a:latin typeface="Cambria Math" panose="02040503050406030204" pitchFamily="18" charset="0"/>
                  </a:rPr>
                  <a:t>$0.86$</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0.85</a:t>
            </a:r>
            <a:endParaRPr sz="2800">
              <a:solidFill>
                <a:srgbClr val="15803D"/>
              </a:solidFill>
            </a:endParaRPr>
          </a:p>
        </p:txBody>
      </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Volume method: </a:t>
                </a:r>
                <a14:m>
                  <m:oMath xmlns:m="http://schemas.openxmlformats.org/officeDocument/2006/math">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3</m:t>
                        </m:r>
                      </m:den>
                    </m:f>
                    <m:r>
                      <m:rPr>
                        <m:sty m:val="p"/>
                      </m:rPr>
                      <a:rPr lang="en-IN" sz="2400">
                        <a:solidFill>
                          <a:srgbClr val="78350F"/>
                        </a:solidFill>
                        <a:latin typeface="Cambria Math" panose="02040503050406030204" pitchFamily="18" charset="0"/>
                      </a:rPr>
                      <m:t>(</m:t>
                    </m:r>
                    <m:r>
                      <m:rPr>
                        <m:nor/>
                      </m:rPr>
                      <a:rPr lang="en-IN" sz="2400" i="1">
                        <a:solidFill>
                          <a:srgbClr val="78350F"/>
                        </a:solidFill>
                        <a:latin typeface="Cambria Math" panose="02040503050406030204" pitchFamily="18" charset="0"/>
                      </a:rPr>
                      <m:t>𝑎𝑟𝑒𝑎 𝑜𝑓 </m:t>
                    </m:r>
                    <m:r>
                      <a:rPr lang="en-IN" sz="2400" i="1">
                        <a:solidFill>
                          <a:srgbClr val="78350F"/>
                        </a:solidFill>
                        <a:latin typeface="Cambria Math" panose="02040503050406030204" pitchFamily="18" charset="0"/>
                      </a:rPr>
                      <m:t>𝐿</m:t>
                    </m:r>
                    <m:r>
                      <a:rPr lang="en-IN" sz="2400" i="1">
                        <a:solidFill>
                          <a:srgbClr val="78350F"/>
                        </a:solidFill>
                        <a:latin typeface="Cambria Math" panose="02040503050406030204" pitchFamily="18" charset="0"/>
                      </a:rPr>
                      <m:t>𝑁</m:t>
                    </m:r>
                    <m:r>
                      <a:rPr lang="en-IN" sz="2400" i="1">
                        <a:solidFill>
                          <a:srgbClr val="78350F"/>
                        </a:solidFill>
                        <a:latin typeface="Cambria Math" panose="02040503050406030204" pitchFamily="18" charset="0"/>
                      </a:rPr>
                      <m:t>𝑂</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ℎ</m:t>
                        </m:r>
                      </m:e>
                      <m:sub>
                        <m:r>
                          <a:rPr lang="en-IN" sz="2400" i="1">
                            <a:solidFill>
                              <a:srgbClr val="78350F"/>
                            </a:solidFill>
                            <a:latin typeface="Cambria Math" panose="02040503050406030204" pitchFamily="18" charset="0"/>
                          </a:rPr>
                          <m:t>𝑀</m:t>
                        </m:r>
                      </m:sub>
                    </m:sSub>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6</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𝐿</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𝑁</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𝑀</m:t>
                    </m:r>
                    <m:r>
                      <a:rPr lang="en-IN" sz="2400" i="1">
                        <a:solidFill>
                          <a:srgbClr val="78350F"/>
                        </a:solidFill>
                        <a:latin typeface="Cambria Math" panose="02040503050406030204" pitchFamily="18" charset="0"/>
                      </a:rPr>
                      <m:t>𝑂</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Volume method: </a:t>
                </a:r>
                <a:r>
                  <a:rPr lang="en-IN" sz="2400">
                    <a:solidFill>
                      <a:srgbClr val="78350F"/>
                    </a:solidFill>
                    <a:latin typeface="Cambria Math" panose="02040503050406030204" pitchFamily="18" charset="0"/>
                  </a:rPr>
                  <a:t>$V=\frac13(\text{area of }LNO)\cdot h_M$</a:t>
                </a:r>
                <a:r>
                  <a:rPr sz="2400" b="0">
                    <a:solidFill>
                      <a:srgbClr val="78350F"/>
                    </a:solidFill>
                    <a:latin typeface="Arial"/>
                  </a:rPr>
                  <a:t> and </a:t>
                </a:r>
                <a:r>
                  <a:rPr lang="en-IN" sz="2400">
                    <a:solidFill>
                      <a:srgbClr val="78350F"/>
                    </a:solidFill>
                    <a:latin typeface="Cambria Math" panose="02040503050406030204" pitchFamily="18" charset="0"/>
                  </a:rPr>
                  <a:t>$V=\frac16\cdot ML\cdot MN\cdot MO$</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746248"/>
                <a:ext cx="10725912" cy="30419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𝑁</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𝑂</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𝑁</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𝑂</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magnitude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so the 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𝑁</m:t>
                    </m:r>
                    <m:r>
                      <a:rPr lang="en-IN" sz="2400" i="1">
                        <a:solidFill>
                          <a:srgbClr val="111827"/>
                        </a:solidFill>
                        <a:latin typeface="Cambria Math" panose="02040503050406030204" pitchFamily="18" charset="0"/>
                      </a:rPr>
                      <m:t>𝑂</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0.857</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746248"/>
                <a:ext cx="10725912" cy="30419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$V=\frac16(2)(3)(1)=1$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$\overrightarrow{LN}=(-2,3,0)$</a:t>
                </a:r>
                <a:r>
                  <a:rPr sz="2400" b="0">
                    <a:solidFill>
                      <a:srgbClr val="111827"/>
                    </a:solidFill>
                    <a:latin typeface="Arial"/>
                  </a:rPr>
                  <a:t>, </a:t>
                </a:r>
                <a:r>
                  <a:rPr lang="en-IN" sz="2400">
                    <a:solidFill>
                      <a:srgbClr val="111827"/>
                    </a:solidFill>
                    <a:latin typeface="Cambria Math" panose="02040503050406030204" pitchFamily="18" charset="0"/>
                  </a:rPr>
                  <a:t>$\overrightarrow{LO}=(-2,0,1)$</a:t>
                </a:r>
                <a:r>
                  <a:rPr sz="2400" b="0">
                    <a:solidFill>
                      <a:srgbClr val="111827"/>
                    </a:solidFill>
                    <a:latin typeface="Arial"/>
                  </a:rPr>
                  <a:t>: </a:t>
                </a:r>
                <a:r>
                  <a:rPr lang="en-IN" sz="2400">
                    <a:solidFill>
                      <a:srgbClr val="111827"/>
                    </a:solidFill>
                    <a:latin typeface="Cambria Math" panose="02040503050406030204" pitchFamily="18" charset="0"/>
                  </a:rPr>
                  <a:t>$\overrightarrow{LN}\times\overrightarrow{LO}=(3,2,6)$</a:t>
                </a:r>
                <a:r>
                  <a:rPr sz="2400" b="0">
                    <a:solidFill>
                      <a:srgbClr val="111827"/>
                    </a:solidFill>
                    <a:latin typeface="Arial"/>
                  </a:rPr>
                  <a:t>, magnitude </a:t>
                </a:r>
                <a:r>
                  <a:rPr lang="en-IN" sz="2400">
                    <a:solidFill>
                      <a:srgbClr val="111827"/>
                    </a:solidFill>
                    <a:latin typeface="Cambria Math" panose="02040503050406030204" pitchFamily="18" charset="0"/>
                  </a:rPr>
                  <a:t>$7$</a:t>
                </a:r>
                <a:r>
                  <a:rPr sz="2400" b="0">
                    <a:solidFill>
                      <a:srgbClr val="111827"/>
                    </a:solidFill>
                    <a:latin typeface="Arial"/>
                  </a:rPr>
                  <a:t>, so the area of </a:t>
                </a:r>
                <a:r>
                  <a:rPr lang="en-IN" sz="2400">
                    <a:solidFill>
                      <a:srgbClr val="111827"/>
                    </a:solidFill>
                    <a:latin typeface="Cambria Math" panose="02040503050406030204" pitchFamily="18" charset="0"/>
                  </a:rPr>
                  <a:t>$\triangle LNO$</a:t>
                </a:r>
                <a:r>
                  <a:rPr sz="2400" b="0">
                    <a:solidFill>
                      <a:srgbClr val="111827"/>
                    </a:solidFill>
                    <a:latin typeface="Arial"/>
                  </a:rPr>
                  <a:t> is </a:t>
                </a:r>
                <a:r>
                  <a:rPr lang="en-IN" sz="2400">
                    <a:solidFill>
                      <a:srgbClr val="111827"/>
                    </a:solidFill>
                    <a:latin typeface="Cambria Math" panose="02040503050406030204" pitchFamily="18" charset="0"/>
                  </a:rPr>
                  <a:t>$\frac72$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$1=\frac13\cdot\frac72\cdot h\Rightarrow h=\frac{6}{7}\approx0.857$</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0.85</a:t>
            </a:r>
            <a:endParaRPr sz="2800">
              <a:solidFill>
                <a:srgbClr val="15803D"/>
              </a:solidFill>
            </a:endParaRPr>
          </a:p>
        </p:txBody>
      </p:sp>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tetrahedron with mutually perpendicular edges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the altitude from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ℎ</m:t>
                    </m:r>
                  </m:oMath>
                </a14:m>
                <a:r>
                  <a:rPr sz="2400" b="0">
                    <a:solidFill>
                      <a:srgbClr val="111827"/>
                    </a:solidFill>
                    <a:latin typeface="Arial"/>
                  </a:rPr>
                  <a:t> with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49</m:t>
                        </m:r>
                      </m:num>
                      <m:den>
                        <m:r>
                          <a:rPr lang="en-IN" sz="2400" i="1">
                            <a:solidFill>
                              <a:srgbClr val="111827"/>
                            </a:solidFill>
                            <a:latin typeface="Cambria Math" panose="02040503050406030204" pitchFamily="18" charset="0"/>
                          </a:rPr>
                          <m:t>36</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altitude from each of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oMath>
                </a14:m>
                <a:r>
                  <a:rPr sz="2400" b="0">
                    <a:solidFill>
                      <a:srgbClr val="111827"/>
                    </a:solidFill>
                    <a:latin typeface="Arial"/>
                  </a:rPr>
                  <a:t> equals the corresponding perpendicular edge from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tetrahedron with mutually perpendicular edges </a:t>
                </a:r>
                <a:r>
                  <a:rPr lang="en-IN" sz="2400">
                    <a:solidFill>
                      <a:srgbClr val="111827"/>
                    </a:solidFill>
                    <a:latin typeface="Cambria Math" panose="02040503050406030204" pitchFamily="18" charset="0"/>
                  </a:rPr>
                  <a:t>$p,q,r$</a:t>
                </a:r>
                <a:r>
                  <a:rPr sz="2400" b="0">
                    <a:solidFill>
                      <a:srgbClr val="111827"/>
                    </a:solidFill>
                    <a:latin typeface="Arial"/>
                  </a:rPr>
                  <a:t> at </a:t>
                </a:r>
                <a:r>
                  <a:rPr lang="en-IN" sz="2400">
                    <a:solidFill>
                      <a:srgbClr val="111827"/>
                    </a:solidFill>
                    <a:latin typeface="Cambria Math" panose="02040503050406030204" pitchFamily="18" charset="0"/>
                  </a:rPr>
                  <a:t>$M$</a:t>
                </a:r>
                <a:r>
                  <a:rPr sz="2400" b="0">
                    <a:solidFill>
                      <a:srgbClr val="111827"/>
                    </a:solidFill>
                    <a:latin typeface="Arial"/>
                  </a:rPr>
                  <a:t>, the altitude from </a:t>
                </a:r>
                <a:r>
                  <a:rPr lang="en-IN" sz="2400">
                    <a:solidFill>
                      <a:srgbClr val="111827"/>
                    </a:solidFill>
                    <a:latin typeface="Cambria Math" panose="02040503050406030204" pitchFamily="18" charset="0"/>
                  </a:rPr>
                  <a:t>$M$</a:t>
                </a:r>
                <a:r>
                  <a:rPr sz="2400" b="0">
                    <a:solidFill>
                      <a:srgbClr val="111827"/>
                    </a:solidFill>
                    <a:latin typeface="Arial"/>
                  </a:rPr>
                  <a:t> is </a:t>
                </a:r>
                <a:r>
                  <a:rPr lang="en-IN" sz="2400">
                    <a:solidFill>
                      <a:srgbClr val="111827"/>
                    </a:solidFill>
                    <a:latin typeface="Cambria Math" panose="02040503050406030204" pitchFamily="18" charset="0"/>
                  </a:rPr>
                  <a:t>$h$</a:t>
                </a:r>
                <a:r>
                  <a:rPr sz="2400" b="0">
                    <a:solidFill>
                      <a:srgbClr val="111827"/>
                    </a:solidFill>
                    <a:latin typeface="Arial"/>
                  </a:rPr>
                  <a:t> with </a:t>
                </a:r>
                <a:r>
                  <a:rPr lang="en-IN" sz="2400">
                    <a:solidFill>
                      <a:srgbClr val="111827"/>
                    </a:solidFill>
                    <a:latin typeface="Cambria Math" panose="02040503050406030204" pitchFamily="18" charset="0"/>
                  </a:rPr>
                  <a:t>$\frac1{h^2}=\frac1{p^2}+\frac1{q^2}+\frac1{r^2}$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$\frac1{h^2}=\frac14+\frac19+1=\frac{49}{36}$</a:t>
                </a:r>
                <a:r>
                  <a:rPr sz="2400" b="0">
                    <a:solidFill>
                      <a:srgbClr val="111827"/>
                    </a:solidFill>
                    <a:latin typeface="Arial"/>
                  </a:rPr>
                  <a:t>, so </a:t>
                </a:r>
                <a:r>
                  <a:rPr lang="en-IN" sz="2400">
                    <a:solidFill>
                      <a:srgbClr val="111827"/>
                    </a:solidFill>
                    <a:latin typeface="Cambria Math" panose="02040503050406030204" pitchFamily="18" charset="0"/>
                  </a:rPr>
                  <a:t>$h=\frac67$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altitude from each of </a:t>
                </a:r>
                <a:r>
                  <a:rPr lang="en-IN" sz="2400">
                    <a:solidFill>
                      <a:srgbClr val="111827"/>
                    </a:solidFill>
                    <a:latin typeface="Cambria Math" panose="02040503050406030204" pitchFamily="18" charset="0"/>
                  </a:rPr>
                  <a:t>$L,N,O$</a:t>
                </a:r>
                <a:r>
                  <a:rPr sz="2400" b="0">
                    <a:solidFill>
                      <a:srgbClr val="111827"/>
                    </a:solidFill>
                    <a:latin typeface="Arial"/>
                  </a:rPr>
                  <a:t> equals the corresponding perpendicular edge from </a:t>
                </a:r>
                <a:r>
                  <a:rPr lang="en-IN" sz="2400">
                    <a:solidFill>
                      <a:srgbClr val="111827"/>
                    </a:solidFill>
                    <a:latin typeface="Cambria Math" panose="02040503050406030204" pitchFamily="18" charset="0"/>
                  </a:rPr>
                  <a:t>$M$</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12369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e>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e>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e>
                          </m:mr>
                          <m:m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e>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e>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e>
                          </m:mr>
                          <m:m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e>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e>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e>
                          </m:mr>
                        </m:m>
                      </m:e>
                    </m:d>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312369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a_1=a\hat i+b\hat j$</a:t>
                </a:r>
                <a:r>
                  <a:rPr sz="2400" b="0">
                    <a:solidFill>
                      <a:srgbClr val="111827"/>
                    </a:solidFill>
                    <a:latin typeface="Arial"/>
                  </a:rPr>
                  <a:t>, </a:t>
                </a:r>
                <a:r>
                  <a:rPr lang="en-IN" sz="2400">
                    <a:solidFill>
                      <a:srgbClr val="111827"/>
                    </a:solidFill>
                    <a:latin typeface="Cambria Math" panose="02040503050406030204" pitchFamily="18" charset="0"/>
                  </a:rPr>
                  <a:t>$\vec a_2=\vec a_1-(2\hat i+\sqrt5\hat j)$</a:t>
                </a:r>
                <a:r>
                  <a:rPr sz="2400" b="0">
                    <a:solidFill>
                      <a:srgbClr val="111827"/>
                    </a:solidFill>
                    <a:latin typeface="Arial"/>
                  </a:rPr>
                  <a:t> and </a:t>
                </a:r>
                <a:r>
                  <a:rPr lang="en-IN" sz="2400">
                    <a:solidFill>
                      <a:srgbClr val="111827"/>
                    </a:solidFill>
                    <a:latin typeface="Cambria Math" panose="02040503050406030204" pitchFamily="18" charset="0"/>
                  </a:rPr>
                  <a:t>$\vec a_3=\vec a_1+(2\hat i-\sqrt5\hat j)$</a:t>
                </a:r>
                <a:r>
                  <a:rPr sz="2400" b="0">
                    <a:solidFill>
                      <a:srgbClr val="111827"/>
                    </a:solidFill>
                    <a:latin typeface="Arial"/>
                  </a:rPr>
                  <a:t>, then </a:t>
                </a:r>
                <a:r>
                  <a:rPr lang="en-IN" sz="2400">
                    <a:solidFill>
                      <a:srgbClr val="111827"/>
                    </a:solidFill>
                    <a:latin typeface="Cambria Math" panose="02040503050406030204" pitchFamily="18" charset="0"/>
                  </a:rPr>
                  <a:t>$\left|\begin{matrix}1+\vec a_1\cdot\vec a_1&amp;1+\vec a_1\cdot\vec a_2&amp;1+\vec a_1\cdot\vec a_3\\1+\vec a_2\cdot\vec a_1&amp;1+\vec a_2\cdot\vec a_2&amp;1+\vec a_2\cdot\vec a_3\\1+\vec a_3\cdot\vec a_1&amp;1+\vec a_3\cdot\vec a_2&amp;1+\vec a_3\cdot\vec a_3\end{matrix}\right|$</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4632452"/>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Determinant of dot products of vectors and area of a triangle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matrix is </a:t>
                </a:r>
                <a14:m>
                  <m:oMath xmlns:m="http://schemas.openxmlformats.org/officeDocument/2006/math">
                    <m:r>
                      <a:rPr lang="en-IN" sz="2400" i="1">
                        <a:solidFill>
                          <a:srgbClr val="78350F"/>
                        </a:solidFill>
                        <a:latin typeface="Cambria Math" panose="02040503050406030204" pitchFamily="18" charset="0"/>
                      </a:rPr>
                      <m:t>𝑀</m:t>
                    </m:r>
                    <m:sSup>
                      <m:e>
                        <m:r>
                          <a:rPr lang="en-IN" sz="2400" i="1">
                            <a:solidFill>
                              <a:srgbClr val="78350F"/>
                            </a:solidFill>
                            <a:latin typeface="Cambria Math" panose="02040503050406030204" pitchFamily="18" charset="0"/>
                          </a:rPr>
                          <m:t>𝑀</m:t>
                        </m:r>
                      </m:e>
                      <m:sup>
                        <m:r>
                          <a:rPr lang="en-IN" sz="2400" i="1">
                            <a:solidFill>
                              <a:srgbClr val="78350F"/>
                            </a:solidFill>
                            <a:latin typeface="Cambria Math" panose="02040503050406030204" pitchFamily="18" charset="0"/>
                          </a:rPr>
                          <m:t>𝑇</m:t>
                        </m:r>
                      </m:sup>
                    </m:sSup>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𝑀</m:t>
                    </m:r>
                  </m:oMath>
                </a14:m>
                <a:r>
                  <a:rPr sz="2400" b="0">
                    <a:solidFill>
                      <a:srgbClr val="78350F"/>
                    </a:solidFill>
                    <a:latin typeface="Arial"/>
                  </a:rPr>
                  <a:t> the rows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the determinant is </a:t>
                </a:r>
                <a14:m>
                  <m:oMath xmlns:m="http://schemas.openxmlformats.org/officeDocument/2006/math">
                    <m:sSup>
                      <m:e>
                        <m:d>
                          <m:dPr>
                            <m:begChr m:val="("/>
                            <m:sepChr m:val=""/>
                            <m:endChr m:val=")"/>
                            <m:grow/>
                            <m:ctrlPr>
                              <a:rPr lang="en-IN" sz="2400" i="1">
                                <a:solidFill>
                                  <a:srgbClr val="78350F"/>
                                </a:solidFill>
                                <a:latin typeface="Cambria Math" panose="02040503050406030204" pitchFamily="18" charset="0"/>
                              </a:rPr>
                            </m:ctrlPr>
                          </m:dPr>
                          <m:e>
                            <m:r>
                              <m:rPr>
                                <m:sty m:val="p"/>
                              </m:rPr>
                              <a:rPr lang="en-IN" sz="2400">
                                <a:solidFill>
                                  <a:srgbClr val="78350F"/>
                                </a:solidFill>
                                <a:latin typeface="Cambria Math" panose="02040503050406030204" pitchFamily="18" charset="0"/>
                              </a:rPr>
                              <m:t>det</m:t>
                            </m:r>
                            <m:r>
                              <a:rPr lang="en-IN" sz="2400" i="1">
                                <a:solidFill>
                                  <a:srgbClr val="78350F"/>
                                </a:solidFill>
                                <a:latin typeface="Cambria Math" panose="02040503050406030204" pitchFamily="18" charset="0"/>
                              </a:rPr>
                              <m:t>𝑀</m:t>
                            </m:r>
                          </m:e>
                        </m:d>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Δ</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where </a:t>
                </a:r>
                <a14:m>
                  <m:oMath xmlns:m="http://schemas.openxmlformats.org/officeDocument/2006/math">
                    <m:r>
                      <m:rPr>
                        <m:sty m:val="p"/>
                      </m:rPr>
                      <a:rPr lang="en-IN" sz="2400">
                        <a:solidFill>
                          <a:srgbClr val="78350F"/>
                        </a:solidFill>
                        <a:latin typeface="Cambria Math" panose="02040503050406030204" pitchFamily="18" charset="0"/>
                      </a:rPr>
                      <m:t>Δ</m:t>
                    </m:r>
                  </m:oMath>
                </a14:m>
                <a:r>
                  <a:rPr sz="2400" b="0">
                    <a:solidFill>
                      <a:srgbClr val="78350F"/>
                    </a:solidFill>
                    <a:latin typeface="Arial"/>
                  </a:rPr>
                  <a:t> is the area of the triangle with vertices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e>
                      <m:sub>
                        <m:r>
                          <a:rPr lang="en-IN" sz="2400" i="1">
                            <a:solidFill>
                              <a:srgbClr val="78350F"/>
                            </a:solidFill>
                            <a:latin typeface="Cambria Math" panose="02040503050406030204" pitchFamily="18" charset="0"/>
                          </a:rPr>
                          <m:t>3</m:t>
                        </m:r>
                      </m:sub>
                    </m:sSub>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matrix is </a:t>
                </a:r>
                <a:r>
                  <a:rPr lang="en-IN" sz="2400">
                    <a:solidFill>
                      <a:srgbClr val="78350F"/>
                    </a:solidFill>
                    <a:latin typeface="Cambria Math" panose="02040503050406030204" pitchFamily="18" charset="0"/>
                  </a:rPr>
                  <a:t>$MM^T$</a:t>
                </a:r>
                <a:r>
                  <a:rPr sz="2400" b="0">
                    <a:solidFill>
                      <a:srgbClr val="78350F"/>
                    </a:solidFill>
                    <a:latin typeface="Arial"/>
                  </a:rPr>
                  <a:t> with </a:t>
                </a:r>
                <a:r>
                  <a:rPr lang="en-IN" sz="2400">
                    <a:solidFill>
                      <a:srgbClr val="78350F"/>
                    </a:solidFill>
                    <a:latin typeface="Cambria Math" panose="02040503050406030204" pitchFamily="18" charset="0"/>
                  </a:rPr>
                  <a:t>$M$</a:t>
                </a:r>
                <a:r>
                  <a:rPr sz="2400" b="0">
                    <a:solidFill>
                      <a:srgbClr val="78350F"/>
                    </a:solidFill>
                    <a:latin typeface="Arial"/>
                  </a:rPr>
                  <a:t> the rows </a:t>
                </a:r>
                <a:r>
                  <a:rPr lang="en-IN" sz="2400">
                    <a:solidFill>
                      <a:srgbClr val="78350F"/>
                    </a:solidFill>
                    <a:latin typeface="Cambria Math" panose="02040503050406030204" pitchFamily="18" charset="0"/>
                  </a:rPr>
                  <a:t>$(1,\vec a_i)$</a:t>
                </a:r>
                <a:r>
                  <a:rPr sz="2400" b="0">
                    <a:solidFill>
                      <a:srgbClr val="78350F"/>
                    </a:solidFill>
                    <a:latin typeface="Arial"/>
                  </a:rPr>
                  <a:t>, so the determinant is </a:t>
                </a:r>
                <a:r>
                  <a:rPr lang="en-IN" sz="2400">
                    <a:solidFill>
                      <a:srgbClr val="78350F"/>
                    </a:solidFill>
                    <a:latin typeface="Cambria Math" panose="02040503050406030204" pitchFamily="18" charset="0"/>
                  </a:rPr>
                  <a:t>$\left(\det M\right)^2=(2\Delta)^2$</a:t>
                </a:r>
                <a:r>
                  <a:rPr sz="2400" b="0">
                    <a:solidFill>
                      <a:srgbClr val="78350F"/>
                    </a:solidFill>
                    <a:latin typeface="Arial"/>
                  </a:rPr>
                  <a:t> where </a:t>
                </a:r>
                <a:r>
                  <a:rPr lang="en-IN" sz="2400">
                    <a:solidFill>
                      <a:srgbClr val="78350F"/>
                    </a:solidFill>
                    <a:latin typeface="Cambria Math" panose="02040503050406030204" pitchFamily="18" charset="0"/>
                  </a:rPr>
                  <a:t>$\Delta$</a:t>
                </a:r>
                <a:r>
                  <a:rPr sz="2400" b="0">
                    <a:solidFill>
                      <a:srgbClr val="78350F"/>
                    </a:solidFill>
                    <a:latin typeface="Arial"/>
                  </a:rPr>
                  <a:t> is the area of the triangle with vertices </a:t>
                </a:r>
                <a:r>
                  <a:rPr lang="en-IN" sz="2400">
                    <a:solidFill>
                      <a:srgbClr val="78350F"/>
                    </a:solidFill>
                    <a:latin typeface="Cambria Math" panose="02040503050406030204" pitchFamily="18" charset="0"/>
                  </a:rPr>
                  <a:t>$\vec a_1,\vec a_2,\vec a_3$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triangle with these vertices: </a:t>
                </a:r>
                <a14:m>
                  <m:oMath xmlns:m="http://schemas.openxmlformats.org/officeDocument/2006/math">
                    <m:r>
                      <m:rPr>
                        <m:sty m:val="p"/>
                      </m:rPr>
                      <a:rPr lang="en-IN" sz="2400">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𝑎</m:t>
                              </m:r>
                            </m:e>
                            <m:e>
                              <m:r>
                                <a:rPr lang="en-IN" sz="2400" i="1">
                                  <a:solidFill>
                                    <a:srgbClr val="111827"/>
                                  </a:solidFill>
                                  <a:latin typeface="Cambria Math" panose="02040503050406030204" pitchFamily="18" charset="0"/>
                                </a:rPr>
                                <m:t>𝑏</m:t>
                              </m:r>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e>
                          </m:mr>
                        </m:m>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sides are </a:t>
                </a:r>
                <a14:m>
                  <m:oMath xmlns:m="http://schemas.openxmlformats.org/officeDocument/2006/math">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 isosceles triangle with base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and height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a_1=(a,b)$</a:t>
                </a:r>
                <a:r>
                  <a:rPr sz="2400" b="0">
                    <a:solidFill>
                      <a:srgbClr val="111827"/>
                    </a:solidFill>
                    <a:latin typeface="Arial"/>
                  </a:rPr>
                  <a:t>, </a:t>
                </a:r>
                <a:r>
                  <a:rPr lang="en-IN" sz="2400">
                    <a:solidFill>
                      <a:srgbClr val="111827"/>
                    </a:solidFill>
                    <a:latin typeface="Cambria Math" panose="02040503050406030204" pitchFamily="18" charset="0"/>
                  </a:rPr>
                  <a:t>$\vec a_2=(a-2,\ b-\sqrt5)$</a:t>
                </a:r>
                <a:r>
                  <a:rPr sz="2400" b="0">
                    <a:solidFill>
                      <a:srgbClr val="111827"/>
                    </a:solidFill>
                    <a:latin typeface="Arial"/>
                  </a:rPr>
                  <a:t>, </a:t>
                </a:r>
                <a:r>
                  <a:rPr lang="en-IN" sz="2400">
                    <a:solidFill>
                      <a:srgbClr val="111827"/>
                    </a:solidFill>
                    <a:latin typeface="Cambria Math" panose="02040503050406030204" pitchFamily="18" charset="0"/>
                  </a:rPr>
                  <a:t>$\vec a_3=(a+2,\ b-\sqrt5)$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triangle with these vertices: </a:t>
                </a:r>
                <a:r>
                  <a:rPr lang="en-IN" sz="2400">
                    <a:solidFill>
                      <a:srgbClr val="111827"/>
                    </a:solidFill>
                    <a:latin typeface="Cambria Math" panose="02040503050406030204" pitchFamily="18" charset="0"/>
                  </a:rPr>
                  <a:t>$\Delta=\frac12\left|\begin{matrix}1&amp;a&amp;b\\1&amp;a-2&amp;b-\sqrt5\\1&amp;a+2&amp;b-\sqrt5\end{matrix}\right|$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sides are </a:t>
                </a:r>
                <a:r>
                  <a:rPr lang="en-IN" sz="2400">
                    <a:solidFill>
                      <a:srgbClr val="111827"/>
                    </a:solidFill>
                    <a:latin typeface="Cambria Math" panose="02040503050406030204" pitchFamily="18" charset="0"/>
                  </a:rPr>
                  <a:t>$|\vec a_1-\vec a_2|=\sqrt{4+5}=3$</a:t>
                </a:r>
                <a:r>
                  <a:rPr sz="2400" b="0">
                    <a:solidFill>
                      <a:srgbClr val="111827"/>
                    </a:solidFill>
                    <a:latin typeface="Arial"/>
                  </a:rPr>
                  <a:t>, </a:t>
                </a:r>
                <a:r>
                  <a:rPr lang="en-IN" sz="2400">
                    <a:solidFill>
                      <a:srgbClr val="111827"/>
                    </a:solidFill>
                    <a:latin typeface="Cambria Math" panose="02040503050406030204" pitchFamily="18" charset="0"/>
                  </a:rPr>
                  <a:t>$|\vec a_1-\vec a_3|=3$</a:t>
                </a:r>
                <a:r>
                  <a:rPr sz="2400" b="0">
                    <a:solidFill>
                      <a:srgbClr val="111827"/>
                    </a:solidFill>
                    <a:latin typeface="Arial"/>
                  </a:rPr>
                  <a:t>, </a:t>
                </a:r>
                <a:r>
                  <a:rPr lang="en-IN" sz="2400">
                    <a:solidFill>
                      <a:srgbClr val="111827"/>
                    </a:solidFill>
                    <a:latin typeface="Cambria Math" panose="02040503050406030204" pitchFamily="18" charset="0"/>
                  </a:rPr>
                  <a:t>$|\vec a_2-\vec a_3|=4$</a:t>
                </a:r>
                <a:r>
                  <a:rPr sz="2400" b="0">
                    <a:solidFill>
                      <a:srgbClr val="111827"/>
                    </a:solidFill>
                    <a:latin typeface="Arial"/>
                  </a:rPr>
                  <a:t>: an isosceles triangle with base </a:t>
                </a:r>
                <a:r>
                  <a:rPr lang="en-IN" sz="2400">
                    <a:solidFill>
                      <a:srgbClr val="111827"/>
                    </a:solidFill>
                    <a:latin typeface="Cambria Math" panose="02040503050406030204" pitchFamily="18" charset="0"/>
                  </a:rPr>
                  <a:t>$4$</a:t>
                </a:r>
                <a:r>
                  <a:rPr sz="2400" b="0">
                    <a:solidFill>
                      <a:srgbClr val="111827"/>
                    </a:solidFill>
                    <a:latin typeface="Arial"/>
                  </a:rPr>
                  <a:t> and height </a:t>
                </a:r>
                <a:r>
                  <a:rPr lang="en-IN" sz="2400">
                    <a:solidFill>
                      <a:srgbClr val="111827"/>
                    </a:solidFill>
                    <a:latin typeface="Cambria Math" panose="02040503050406030204" pitchFamily="18" charset="0"/>
                  </a:rPr>
                  <a:t>$\sqrt{9-4}=\sqrt5$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determinant equals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𝑎</m:t>
                                  </m:r>
                                </m:e>
                                <m:e>
                                  <m:r>
                                    <a:rPr lang="en-IN" sz="2400" i="1">
                                      <a:solidFill>
                                        <a:srgbClr val="111827"/>
                                      </a:solidFill>
                                      <a:latin typeface="Cambria Math" panose="02040503050406030204" pitchFamily="18" charset="0"/>
                                    </a:rPr>
                                    <m:t>𝑏</m:t>
                                  </m:r>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e>
                              </m:mr>
                            </m:m>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Δ</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because the matrix of entries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𝑗</m:t>
                        </m:r>
                      </m:sub>
                    </m:sSub>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𝑀</m:t>
                    </m:r>
                    <m:sSup>
                      <m:e>
                        <m:r>
                          <a:rPr lang="en-IN" sz="2400" i="1">
                            <a:solidFill>
                              <a:srgbClr val="111827"/>
                            </a:solidFill>
                            <a:latin typeface="Cambria Math" panose="02040503050406030204" pitchFamily="18" charset="0"/>
                          </a:rPr>
                          <m:t>𝑀</m:t>
                        </m:r>
                      </m:e>
                      <m:sup>
                        <m:r>
                          <a:rPr lang="en-IN" sz="2400" i="1">
                            <a:solidFill>
                              <a:srgbClr val="111827"/>
                            </a:solidFill>
                            <a:latin typeface="Cambria Math" panose="02040503050406030204" pitchFamily="18" charset="0"/>
                          </a:rPr>
                          <m:t>𝑇</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Δ</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$\Delta=\frac12\cdot4\cdot\sqrt5=2\sqrt5$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determinant equals </a:t>
                </a:r>
                <a:r>
                  <a:rPr lang="en-IN" sz="2400">
                    <a:solidFill>
                      <a:srgbClr val="111827"/>
                    </a:solidFill>
                    <a:latin typeface="Cambria Math" panose="02040503050406030204" pitchFamily="18" charset="0"/>
                  </a:rPr>
                  <a:t>$\left|\begin{matrix}1&amp;a&amp;b\\1&amp;a-2&amp;b-\sqrt5\\1&amp;a+2&amp;b-\sqrt5\end{matrix}\right|^2=(2\Delta)^2$</a:t>
                </a:r>
                <a:r>
                  <a:rPr sz="2400" b="0">
                    <a:solidFill>
                      <a:srgbClr val="111827"/>
                    </a:solidFill>
                    <a:latin typeface="Arial"/>
                  </a:rPr>
                  <a:t>, because the matrix of entries </a:t>
                </a:r>
                <a:r>
                  <a:rPr lang="en-IN" sz="2400">
                    <a:solidFill>
                      <a:srgbClr val="111827"/>
                    </a:solidFill>
                    <a:latin typeface="Cambria Math" panose="02040503050406030204" pitchFamily="18" charset="0"/>
                  </a:rPr>
                  <a:t>$1+\vec a_i\cdot\vec a_j$</a:t>
                </a:r>
                <a:r>
                  <a:rPr sz="2400" b="0">
                    <a:solidFill>
                      <a:srgbClr val="111827"/>
                    </a:solidFill>
                    <a:latin typeface="Arial"/>
                  </a:rPr>
                  <a:t> is </a:t>
                </a:r>
                <a:r>
                  <a:rPr lang="en-IN" sz="2400">
                    <a:solidFill>
                      <a:srgbClr val="111827"/>
                    </a:solidFill>
                    <a:latin typeface="Cambria Math" panose="02040503050406030204" pitchFamily="18" charset="0"/>
                  </a:rPr>
                  <a:t>$MM^T$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$(2\Delta)^2=4\Delta^2=4\cdot20=80$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80</a:t>
            </a:r>
            <a:endParaRPr sz="2800">
              <a:solidFill>
                <a:srgbClr val="15803D"/>
              </a:solidFill>
            </a:endParaRPr>
          </a:p>
        </p:txBody>
      </p:sp>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determinant does not depend on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(it is a squared area), so take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0</m:t>
                        </m:r>
                      </m:e>
                    </m:acc>
                  </m:oMath>
                </a14:m>
                <a:r>
                  <a:rPr sz="2400" b="0">
                    <a:solidFill>
                      <a:srgbClr val="78350F"/>
                    </a:solidFill>
                    <a:latin typeface="Arial"/>
                  </a:rPr>
                  <a:t> and evaluate the </a:t>
                </a:r>
                <a14:m>
                  <m:oMath xmlns:m="http://schemas.openxmlformats.org/officeDocument/2006/math">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 determinant directly.</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determinant does not depend on </a:t>
                </a:r>
                <a:r>
                  <a:rPr lang="en-IN" sz="2400">
                    <a:solidFill>
                      <a:srgbClr val="78350F"/>
                    </a:solidFill>
                    <a:latin typeface="Cambria Math" panose="02040503050406030204" pitchFamily="18" charset="0"/>
                  </a:rPr>
                  <a:t>$(a,b)$</a:t>
                </a:r>
                <a:r>
                  <a:rPr sz="2400" b="0">
                    <a:solidFill>
                      <a:srgbClr val="78350F"/>
                    </a:solidFill>
                    <a:latin typeface="Arial"/>
                  </a:rPr>
                  <a:t> (it is a squared area), so take </a:t>
                </a:r>
                <a:r>
                  <a:rPr lang="en-IN" sz="2400">
                    <a:solidFill>
                      <a:srgbClr val="78350F"/>
                    </a:solidFill>
                    <a:latin typeface="Cambria Math" panose="02040503050406030204" pitchFamily="18" charset="0"/>
                  </a:rPr>
                  <a:t>$\vec a_1=\vec 0$</a:t>
                </a:r>
                <a:r>
                  <a:rPr sz="2400" b="0">
                    <a:solidFill>
                      <a:srgbClr val="78350F"/>
                    </a:solidFill>
                    <a:latin typeface="Arial"/>
                  </a:rPr>
                  <a:t> and evaluate the </a:t>
                </a:r>
                <a:r>
                  <a:rPr lang="en-IN" sz="2400">
                    <a:solidFill>
                      <a:srgbClr val="78350F"/>
                    </a:solidFill>
                    <a:latin typeface="Cambria Math" panose="02040503050406030204" pitchFamily="18" charset="0"/>
                  </a:rPr>
                  <a:t>$3\times3$</a:t>
                </a:r>
                <a:r>
                  <a:rPr sz="2400" b="0">
                    <a:solidFill>
                      <a:srgbClr val="78350F"/>
                    </a:solidFill>
                    <a:latin typeface="Arial"/>
                  </a:rPr>
                  <a:t> determinant directly.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28895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every dot product with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matrix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10</m:t>
                              </m:r>
                            </m:e>
                            <m:e>
                              <m:r>
                                <a:rPr lang="en-IN" sz="2400" i="1">
                                  <a:solidFill>
                                    <a:srgbClr val="111827"/>
                                  </a:solidFill>
                                  <a:latin typeface="Cambria Math" panose="02040503050406030204" pitchFamily="18" charset="0"/>
                                </a:rPr>
                                <m:t>2</m:t>
                              </m:r>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10</m:t>
                              </m:r>
                            </m:e>
                          </m:mr>
                        </m:m>
                      </m:e>
                    </m:d>
                  </m:oMath>
                </a14:m>
                <a:r>
                  <a:rPr sz="2400" b="0">
                    <a:solidFill>
                      <a:srgbClr val="111827"/>
                    </a:solidFill>
                    <a:latin typeface="Arial"/>
                  </a:rPr>
                  <a:t> with determinant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28895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$a=b=0$</a:t>
                </a:r>
                <a:r>
                  <a:rPr sz="2400" b="0">
                    <a:solidFill>
                      <a:srgbClr val="111827"/>
                    </a:solidFill>
                    <a:latin typeface="Arial"/>
                  </a:rPr>
                  <a:t>: </a:t>
                </a:r>
                <a:r>
                  <a:rPr lang="en-IN" sz="2400">
                    <a:solidFill>
                      <a:srgbClr val="111827"/>
                    </a:solidFill>
                    <a:latin typeface="Cambria Math" panose="02040503050406030204" pitchFamily="18" charset="0"/>
                  </a:rPr>
                  <a:t>$\vec a_1=(0,0)$</a:t>
                </a:r>
                <a:r>
                  <a:rPr sz="2400" b="0">
                    <a:solidFill>
                      <a:srgbClr val="111827"/>
                    </a:solidFill>
                    <a:latin typeface="Arial"/>
                  </a:rPr>
                  <a:t>, </a:t>
                </a:r>
                <a:r>
                  <a:rPr lang="en-IN" sz="2400">
                    <a:solidFill>
                      <a:srgbClr val="111827"/>
                    </a:solidFill>
                    <a:latin typeface="Cambria Math" panose="02040503050406030204" pitchFamily="18" charset="0"/>
                  </a:rPr>
                  <a:t>$\vec a_2=(-2,-\sqrt5)$</a:t>
                </a:r>
                <a:r>
                  <a:rPr sz="2400" b="0">
                    <a:solidFill>
                      <a:srgbClr val="111827"/>
                    </a:solidFill>
                    <a:latin typeface="Arial"/>
                  </a:rPr>
                  <a:t>, </a:t>
                </a:r>
                <a:r>
                  <a:rPr lang="en-IN" sz="2400">
                    <a:solidFill>
                      <a:srgbClr val="111827"/>
                    </a:solidFill>
                    <a:latin typeface="Cambria Math" panose="02040503050406030204" pitchFamily="18" charset="0"/>
                  </a:rPr>
                  <a:t>$\vec a_3=(2,-\sqrt5)$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a_2\cdot\vec a_2=9$</a:t>
                </a:r>
                <a:r>
                  <a:rPr sz="2400" b="0">
                    <a:solidFill>
                      <a:srgbClr val="111827"/>
                    </a:solidFill>
                    <a:latin typeface="Arial"/>
                  </a:rPr>
                  <a:t>, </a:t>
                </a:r>
                <a:r>
                  <a:rPr lang="en-IN" sz="2400">
                    <a:solidFill>
                      <a:srgbClr val="111827"/>
                    </a:solidFill>
                    <a:latin typeface="Cambria Math" panose="02040503050406030204" pitchFamily="18" charset="0"/>
                  </a:rPr>
                  <a:t>$\vec a_3\cdot\vec a_3=9$</a:t>
                </a:r>
                <a:r>
                  <a:rPr sz="2400" b="0">
                    <a:solidFill>
                      <a:srgbClr val="111827"/>
                    </a:solidFill>
                    <a:latin typeface="Arial"/>
                  </a:rPr>
                  <a:t>, </a:t>
                </a:r>
                <a:r>
                  <a:rPr lang="en-IN" sz="2400">
                    <a:solidFill>
                      <a:srgbClr val="111827"/>
                    </a:solidFill>
                    <a:latin typeface="Cambria Math" panose="02040503050406030204" pitchFamily="18" charset="0"/>
                  </a:rPr>
                  <a:t>$\vec a_2\cdot\vec a_3=-4+5=1$</a:t>
                </a:r>
                <a:r>
                  <a:rPr sz="2400" b="0">
                    <a:solidFill>
                      <a:srgbClr val="111827"/>
                    </a:solidFill>
                    <a:latin typeface="Arial"/>
                  </a:rPr>
                  <a:t>, and every dot product with </a:t>
                </a:r>
                <a:r>
                  <a:rPr lang="en-IN" sz="2400">
                    <a:solidFill>
                      <a:srgbClr val="111827"/>
                    </a:solidFill>
                    <a:latin typeface="Cambria Math" panose="02040503050406030204" pitchFamily="18" charset="0"/>
                  </a:rPr>
                  <a:t>$\vec a_1$</a:t>
                </a:r>
                <a:r>
                  <a:rPr sz="2400" b="0">
                    <a:solidFill>
                      <a:srgbClr val="111827"/>
                    </a:solidFill>
                    <a:latin typeface="Arial"/>
                  </a:rPr>
                  <a:t> is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matrix is </a:t>
                </a:r>
                <a:r>
                  <a:rPr lang="en-IN" sz="2400">
                    <a:solidFill>
                      <a:srgbClr val="111827"/>
                    </a:solidFill>
                    <a:latin typeface="Cambria Math" panose="02040503050406030204" pitchFamily="18" charset="0"/>
                  </a:rPr>
                  <a:t>$\left(\begin{matrix}1&amp;1&amp;1\\1&amp;10&amp;2\\1&amp;2&amp;10\end{matrix}\right)$</a:t>
                </a:r>
                <a:r>
                  <a:rPr sz="2400" b="0">
                    <a:solidFill>
                      <a:srgbClr val="111827"/>
                    </a:solidFill>
                    <a:latin typeface="Arial"/>
                  </a:rPr>
                  <a:t> with determinant </a:t>
                </a:r>
                <a:r>
                  <a:rPr lang="en-IN" sz="2400">
                    <a:solidFill>
                      <a:srgbClr val="111827"/>
                    </a:solidFill>
                    <a:latin typeface="Cambria Math" panose="02040503050406030204" pitchFamily="18" charset="0"/>
                  </a:rPr>
                  <a:t>$1(100-4)-1(10-2)+1(2-10)=96-8-8=80$</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80</a:t>
            </a:r>
            <a:endParaRPr sz="2800">
              <a:solidFill>
                <a:srgbClr val="15803D"/>
              </a:solidFill>
            </a:endParaRPr>
          </a:p>
        </p:txBody>
      </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det</m:t>
                    </m:r>
                    <m:sSub>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𝑗</m:t>
                                </m:r>
                              </m:sub>
                            </m:sSub>
                          </m:e>
                        </m:d>
                      </m:e>
                      <m:sub>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det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b>
                                          <m:r>
                                            <a:rPr lang="en-IN" sz="2400" i="1">
                                              <a:solidFill>
                                                <a:srgbClr val="111827"/>
                                              </a:solidFill>
                                              <a:latin typeface="Cambria Math" panose="02040503050406030204" pitchFamily="18" charset="0"/>
                                            </a:rPr>
                                            <m:t>𝑖</m:t>
                                          </m:r>
                                        </m:sub>
                                      </m:sSub>
                                    </m:e>
                                  </m:mr>
                                </m:m>
                              </m:e>
                            </m:d>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m:rPr>
                        <m:nor/>
                      </m:rPr>
                      <a:rPr lang="en-IN" sz="2400" i="1">
                        <a:solidFill>
                          <a:srgbClr val="111827"/>
                        </a:solidFill>
                        <a:latin typeface="Cambria Math" panose="02040503050406030204" pitchFamily="18" charset="0"/>
                      </a:rPr>
                      <m:t>𝐴𝑟𝑒𝑎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Δ</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for points in a plane.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area of a triangle with vertices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det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e>
                                <m:e>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Sub>
                                </m:e>
                              </m:mr>
                            </m:m>
                          </m:e>
                        </m:d>
                      </m:e>
                    </m:d>
                  </m:oMath>
                </a14:m>
                <a:r>
                  <a:rPr sz="2400" b="0">
                    <a:solidFill>
                      <a:srgbClr val="111827"/>
                    </a:solidFill>
                    <a:latin typeface="Arial"/>
                  </a:rPr>
                  <a:t>; a matrix of the form </a:t>
                </a:r>
                <a14:m>
                  <m:oMath xmlns:m="http://schemas.openxmlformats.org/officeDocument/2006/math">
                    <m:r>
                      <a:rPr lang="en-IN" sz="2400" i="1">
                        <a:solidFill>
                          <a:srgbClr val="111827"/>
                        </a:solidFill>
                        <a:latin typeface="Cambria Math" panose="02040503050406030204" pitchFamily="18" charset="0"/>
                      </a:rPr>
                      <m:t>𝑀</m:t>
                    </m:r>
                    <m:sSup>
                      <m:e>
                        <m:r>
                          <a:rPr lang="en-IN" sz="2400" i="1">
                            <a:solidFill>
                              <a:srgbClr val="111827"/>
                            </a:solidFill>
                            <a:latin typeface="Cambria Math" panose="02040503050406030204" pitchFamily="18" charset="0"/>
                          </a:rPr>
                          <m:t>𝑀</m:t>
                        </m:r>
                      </m:e>
                      <m:sup>
                        <m:r>
                          <a:rPr lang="en-IN" sz="2400" i="1">
                            <a:solidFill>
                              <a:srgbClr val="111827"/>
                            </a:solidFill>
                            <a:latin typeface="Cambria Math" panose="02040503050406030204" pitchFamily="18" charset="0"/>
                          </a:rPr>
                          <m:t>𝑇</m:t>
                        </m:r>
                      </m:sup>
                    </m:sSup>
                  </m:oMath>
                </a14:m>
                <a:r>
                  <a:rPr sz="2400" b="0">
                    <a:solidFill>
                      <a:srgbClr val="111827"/>
                    </a:solidFill>
                    <a:latin typeface="Arial"/>
                  </a:rPr>
                  <a:t> has determinant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a:rPr lang="en-IN" sz="2400" i="1">
                        <a:solidFill>
                          <a:srgbClr val="111827"/>
                        </a:solidFill>
                        <a:latin typeface="Cambria Math" panose="02040503050406030204" pitchFamily="18" charset="0"/>
                      </a:rPr>
                      <m:t>𝑀</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translation-invariant quantity can be evaluated by moving one vertex to the origin.</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$\det\left(1+\vec a_i\cdot\vec a_j\right)_{3\times3}=\left(\det\begin{bmatrix}1&amp;\vec a_i\end{bmatrix}\right)^2=(2\,\text{Area})^2=4\Delta^2$</a:t>
                </a:r>
                <a:r>
                  <a:rPr sz="2400" b="0">
                    <a:solidFill>
                      <a:srgbClr val="111827"/>
                    </a:solidFill>
                    <a:latin typeface="Arial"/>
                  </a:rPr>
                  <a:t> for points in a plane.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area of a triangle with vertices </a:t>
                </a:r>
                <a:r>
                  <a:rPr lang="en-IN" sz="2400">
                    <a:solidFill>
                      <a:srgbClr val="111827"/>
                    </a:solidFill>
                    <a:latin typeface="Cambria Math" panose="02040503050406030204" pitchFamily="18" charset="0"/>
                  </a:rPr>
                  <a:t>$(x_i,y_i)$</a:t>
                </a:r>
                <a:r>
                  <a:rPr sz="2400" b="0">
                    <a:solidFill>
                      <a:srgbClr val="111827"/>
                    </a:solidFill>
                    <a:latin typeface="Arial"/>
                  </a:rPr>
                  <a:t> is </a:t>
                </a:r>
                <a:r>
                  <a:rPr lang="en-IN" sz="2400">
                    <a:solidFill>
                      <a:srgbClr val="111827"/>
                    </a:solidFill>
                    <a:latin typeface="Cambria Math" panose="02040503050406030204" pitchFamily="18" charset="0"/>
                  </a:rPr>
                  <a:t>$\frac12\left|\det\begin{bmatrix}1&amp;x_i&amp;y_i\end{bmatrix}\right|$</a:t>
                </a:r>
                <a:r>
                  <a:rPr sz="2400" b="0">
                    <a:solidFill>
                      <a:srgbClr val="111827"/>
                    </a:solidFill>
                    <a:latin typeface="Arial"/>
                  </a:rPr>
                  <a:t>; a matrix of the form </a:t>
                </a:r>
                <a:r>
                  <a:rPr lang="en-IN" sz="2400">
                    <a:solidFill>
                      <a:srgbClr val="111827"/>
                    </a:solidFill>
                    <a:latin typeface="Cambria Math" panose="02040503050406030204" pitchFamily="18" charset="0"/>
                  </a:rPr>
                  <a:t>$MM^T$</a:t>
                </a:r>
                <a:r>
                  <a:rPr sz="2400" b="0">
                    <a:solidFill>
                      <a:srgbClr val="111827"/>
                    </a:solidFill>
                    <a:latin typeface="Arial"/>
                  </a:rPr>
                  <a:t> has determinant </a:t>
                </a:r>
                <a:r>
                  <a:rPr lang="en-IN" sz="2400">
                    <a:solidFill>
                      <a:srgbClr val="111827"/>
                    </a:solidFill>
                    <a:latin typeface="Cambria Math" panose="02040503050406030204" pitchFamily="18" charset="0"/>
                  </a:rPr>
                  <a:t>$(\det M)^2$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translation-invariant quantity can be evaluated by moving one vertex to the origin.</a:t>
                </a:r>
                <a:endParaRPr sz="2400">
                  <a:solidFill>
                    <a:srgbClr val="111827"/>
                  </a:solidFill>
                </a:endParaRPr>
              </a:p>
            </p:txBody>
          </p:sp>
        </mc:Fallback>
      </mc:AlternateContent>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30047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volume of a tetrahedron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formed by the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where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angle between the vector pairs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sSup>
                      <m:e>
                        <m:r>
                          <m:rPr>
                            <m:sty m:val="p"/>
                          </m:rPr>
                          <a:rPr lang="en-IN" sz="2400">
                            <a:solidFill>
                              <a:srgbClr val="111827"/>
                            </a:solidFill>
                            <a:latin typeface="Cambria Math" panose="02040503050406030204" pitchFamily="18" charset="0"/>
                          </a:rPr>
                          <m:t>cos</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sSup>
                      <m:e>
                        <m:r>
                          <m:rPr>
                            <m:sty m:val="p"/>
                          </m:rPr>
                          <a:rPr lang="en-IN" sz="2400">
                            <a:solidFill>
                              <a:srgbClr val="111827"/>
                            </a:solidFill>
                            <a:latin typeface="Cambria Math" panose="02040503050406030204" pitchFamily="18" charset="0"/>
                          </a:rPr>
                          <m:t>cos</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18</m:t>
                            </m:r>
                          </m:den>
                        </m:f>
                      </m:e>
                    </m:d>
                  </m:oMath>
                </a14:m>
                <a:r>
                  <a:rPr sz="2400" b="0">
                    <a:solidFill>
                      <a:srgbClr val="111827"/>
                    </a:solidFill>
                    <a:latin typeface="Arial"/>
                  </a:rPr>
                  <a:t> respectively is </a:t>
                </a:r>
                <a14:m>
                  <m:oMath xmlns:m="http://schemas.openxmlformats.org/officeDocument/2006/math">
                    <m:r>
                      <a:rPr lang="en-IN" sz="2400" i="1">
                        <a:solidFill>
                          <a:srgbClr val="111827"/>
                        </a:solidFill>
                        <a:latin typeface="Cambria Math" panose="02040503050406030204" pitchFamily="18" charset="0"/>
                      </a:rPr>
                      <m:t>𝑉</m:t>
                    </m:r>
                  </m:oMath>
                </a14:m>
                <a:r>
                  <a:rPr sz="2400" b="0">
                    <a:solidFill>
                      <a:srgbClr val="111827"/>
                    </a:solidFill>
                    <a:latin typeface="Arial"/>
                  </a:rPr>
                  <a:t>. If the value of </a:t>
                </a:r>
                <a14:m>
                  <m:oMath xmlns:m="http://schemas.openxmlformats.org/officeDocument/2006/math">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can be written as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num>
                      <m:den>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are prime numbers then evaluate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330047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volume of a tetrahedron </a:t>
                </a:r>
                <a:r>
                  <a:rPr lang="en-IN" sz="2400">
                    <a:solidFill>
                      <a:srgbClr val="111827"/>
                    </a:solidFill>
                    <a:latin typeface="Cambria Math" panose="02040503050406030204" pitchFamily="18" charset="0"/>
                  </a:rPr>
                  <a:t>$OABC$</a:t>
                </a:r>
                <a:r>
                  <a:rPr sz="2400" b="0">
                    <a:solidFill>
                      <a:srgbClr val="111827"/>
                    </a:solidFill>
                    <a:latin typeface="Arial"/>
                  </a:rPr>
                  <a:t> formed by the vectors </a:t>
                </a:r>
                <a:r>
                  <a:rPr lang="en-IN" sz="2400">
                    <a:solidFill>
                      <a:srgbClr val="111827"/>
                    </a:solidFill>
                    <a:latin typeface="Cambria Math" panose="02040503050406030204" pitchFamily="18" charset="0"/>
                  </a:rPr>
                  <a:t>$\overrightarrow{OA}=\vec a$</a:t>
                </a:r>
                <a:r>
                  <a:rPr sz="2400" b="0">
                    <a:solidFill>
                      <a:srgbClr val="111827"/>
                    </a:solidFill>
                    <a:latin typeface="Arial"/>
                  </a:rPr>
                  <a:t>, </a:t>
                </a:r>
                <a:r>
                  <a:rPr lang="en-IN" sz="2400">
                    <a:solidFill>
                      <a:srgbClr val="111827"/>
                    </a:solidFill>
                    <a:latin typeface="Cambria Math" panose="02040503050406030204" pitchFamily="18" charset="0"/>
                  </a:rPr>
                  <a:t>$\overrightarrow{OB}=\vec b$</a:t>
                </a:r>
                <a:r>
                  <a:rPr sz="2400" b="0">
                    <a:solidFill>
                      <a:srgbClr val="111827"/>
                    </a:solidFill>
                    <a:latin typeface="Arial"/>
                  </a:rPr>
                  <a:t> and </a:t>
                </a:r>
                <a:r>
                  <a:rPr lang="en-IN" sz="2400">
                    <a:solidFill>
                      <a:srgbClr val="111827"/>
                    </a:solidFill>
                    <a:latin typeface="Cambria Math" panose="02040503050406030204" pitchFamily="18" charset="0"/>
                  </a:rPr>
                  <a:t>$\overrightarrow{OC}=\vec c$</a:t>
                </a:r>
                <a:r>
                  <a:rPr sz="2400" b="0">
                    <a:solidFill>
                      <a:srgbClr val="111827"/>
                    </a:solidFill>
                    <a:latin typeface="Arial"/>
                  </a:rPr>
                  <a:t> where </a:t>
                </a:r>
                <a:r>
                  <a:rPr lang="en-IN" sz="2400">
                    <a:solidFill>
                      <a:srgbClr val="111827"/>
                    </a:solidFill>
                    <a:latin typeface="Cambria Math" panose="02040503050406030204" pitchFamily="18" charset="0"/>
                  </a:rPr>
                  <a:t>$|\vec a|=3$</a:t>
                </a:r>
                <a:r>
                  <a:rPr sz="2400" b="0">
                    <a:solidFill>
                      <a:srgbClr val="111827"/>
                    </a:solidFill>
                    <a:latin typeface="Arial"/>
                  </a:rPr>
                  <a:t>, </a:t>
                </a:r>
                <a:r>
                  <a:rPr lang="en-IN" sz="2400">
                    <a:solidFill>
                      <a:srgbClr val="111827"/>
                    </a:solidFill>
                    <a:latin typeface="Cambria Math" panose="02040503050406030204" pitchFamily="18" charset="0"/>
                  </a:rPr>
                  <a:t>$|\vec b|=4$</a:t>
                </a:r>
                <a:r>
                  <a:rPr sz="2400" b="0">
                    <a:solidFill>
                      <a:srgbClr val="111827"/>
                    </a:solidFill>
                    <a:latin typeface="Arial"/>
                  </a:rPr>
                  <a:t>, </a:t>
                </a:r>
                <a:r>
                  <a:rPr lang="en-IN" sz="2400">
                    <a:solidFill>
                      <a:srgbClr val="111827"/>
                    </a:solidFill>
                    <a:latin typeface="Cambria Math" panose="02040503050406030204" pitchFamily="18" charset="0"/>
                  </a:rPr>
                  <a:t>$|\vec c|=6$</a:t>
                </a:r>
                <a:r>
                  <a:rPr sz="2400" b="0">
                    <a:solidFill>
                      <a:srgbClr val="111827"/>
                    </a:solidFill>
                    <a:latin typeface="Arial"/>
                  </a:rPr>
                  <a:t>, angle between the vector pairs </a:t>
                </a:r>
                <a:r>
                  <a:rPr lang="en-IN" sz="2400">
                    <a:solidFill>
                      <a:srgbClr val="111827"/>
                    </a:solidFill>
                    <a:latin typeface="Cambria Math" panose="02040503050406030204" pitchFamily="18" charset="0"/>
                  </a:rPr>
                  <a:t>$\{\vec a,\vec b\}$</a:t>
                </a:r>
                <a:r>
                  <a:rPr sz="2400" b="0">
                    <a:solidFill>
                      <a:srgbClr val="111827"/>
                    </a:solidFill>
                    <a:latin typeface="Arial"/>
                  </a:rPr>
                  <a:t>; </a:t>
                </a:r>
                <a:r>
                  <a:rPr lang="en-IN" sz="2400">
                    <a:solidFill>
                      <a:srgbClr val="111827"/>
                    </a:solidFill>
                    <a:latin typeface="Cambria Math" panose="02040503050406030204" pitchFamily="18" charset="0"/>
                  </a:rPr>
                  <a:t>$\{\vec b,\vec c\}$</a:t>
                </a:r>
                <a:r>
                  <a:rPr sz="2400" b="0">
                    <a:solidFill>
                      <a:srgbClr val="111827"/>
                    </a:solidFill>
                    <a:latin typeface="Arial"/>
                  </a:rPr>
                  <a:t> and </a:t>
                </a:r>
                <a:r>
                  <a:rPr lang="en-IN" sz="2400">
                    <a:solidFill>
                      <a:srgbClr val="111827"/>
                    </a:solidFill>
                    <a:latin typeface="Cambria Math" panose="02040503050406030204" pitchFamily="18" charset="0"/>
                  </a:rPr>
                  <a:t>$\{\vec c,\vec a\}$</a:t>
                </a:r>
                <a:r>
                  <a:rPr sz="2400" b="0">
                    <a:solidFill>
                      <a:srgbClr val="111827"/>
                    </a:solidFill>
                    <a:latin typeface="Arial"/>
                  </a:rPr>
                  <a:t> be </a:t>
                </a:r>
                <a:r>
                  <a:rPr lang="en-IN" sz="2400">
                    <a:solidFill>
                      <a:srgbClr val="111827"/>
                    </a:solidFill>
                    <a:latin typeface="Cambria Math" panose="02040503050406030204" pitchFamily="18" charset="0"/>
                  </a:rPr>
                  <a:t>$\frac\pi3$</a:t>
                </a:r>
                <a:r>
                  <a:rPr sz="2400" b="0">
                    <a:solidFill>
                      <a:srgbClr val="111827"/>
                    </a:solidFill>
                    <a:latin typeface="Arial"/>
                  </a:rPr>
                  <a:t>, </a:t>
                </a:r>
                <a:r>
                  <a:rPr lang="en-IN" sz="2400">
                    <a:solidFill>
                      <a:srgbClr val="111827"/>
                    </a:solidFill>
                    <a:latin typeface="Cambria Math" panose="02040503050406030204" pitchFamily="18" charset="0"/>
                  </a:rPr>
                  <a:t>$\cos^{-1}\frac14$</a:t>
                </a:r>
                <a:r>
                  <a:rPr sz="2400" b="0">
                    <a:solidFill>
                      <a:srgbClr val="111827"/>
                    </a:solidFill>
                    <a:latin typeface="Arial"/>
                  </a:rPr>
                  <a:t> and </a:t>
                </a:r>
                <a:r>
                  <a:rPr lang="en-IN" sz="2400">
                    <a:solidFill>
                      <a:srgbClr val="111827"/>
                    </a:solidFill>
                    <a:latin typeface="Cambria Math" panose="02040503050406030204" pitchFamily="18" charset="0"/>
                  </a:rPr>
                  <a:t>$\cos^{-1}\left(\frac{-1}{18}\right)$</a:t>
                </a:r>
                <a:r>
                  <a:rPr sz="2400" b="0">
                    <a:solidFill>
                      <a:srgbClr val="111827"/>
                    </a:solidFill>
                    <a:latin typeface="Arial"/>
                  </a:rPr>
                  <a:t> respectively is </a:t>
                </a:r>
                <a:r>
                  <a:rPr lang="en-IN" sz="2400">
                    <a:solidFill>
                      <a:srgbClr val="111827"/>
                    </a:solidFill>
                    <a:latin typeface="Cambria Math" panose="02040503050406030204" pitchFamily="18" charset="0"/>
                  </a:rPr>
                  <a:t>$V$</a:t>
                </a:r>
                <a:r>
                  <a:rPr sz="2400" b="0">
                    <a:solidFill>
                      <a:srgbClr val="111827"/>
                    </a:solidFill>
                    <a:latin typeface="Arial"/>
                  </a:rPr>
                  <a:t>. If the value of </a:t>
                </a:r>
                <a:r>
                  <a:rPr lang="en-IN" sz="2400">
                    <a:solidFill>
                      <a:srgbClr val="111827"/>
                    </a:solidFill>
                    <a:latin typeface="Cambria Math" panose="02040503050406030204" pitchFamily="18" charset="0"/>
                  </a:rPr>
                  <a:t>$V^2$</a:t>
                </a:r>
                <a:r>
                  <a:rPr sz="2400" b="0">
                    <a:solidFill>
                      <a:srgbClr val="111827"/>
                    </a:solidFill>
                    <a:latin typeface="Arial"/>
                  </a:rPr>
                  <a:t> can be written as </a:t>
                </a:r>
                <a:r>
                  <a:rPr lang="en-IN" sz="2400">
                    <a:solidFill>
                      <a:srgbClr val="111827"/>
                    </a:solidFill>
                    <a:latin typeface="Cambria Math" panose="02040503050406030204" pitchFamily="18" charset="0"/>
                  </a:rPr>
                  <a:t>$\frac{pq}{r^2}$</a:t>
                </a:r>
                <a:r>
                  <a:rPr sz="2400" b="0">
                    <a:solidFill>
                      <a:srgbClr val="111827"/>
                    </a:solidFill>
                    <a:latin typeface="Arial"/>
                  </a:rPr>
                  <a:t> where </a:t>
                </a:r>
                <a:r>
                  <a:rPr lang="en-IN" sz="2400">
                    <a:solidFill>
                      <a:srgbClr val="111827"/>
                    </a:solidFill>
                    <a:latin typeface="Cambria Math" panose="02040503050406030204" pitchFamily="18" charset="0"/>
                  </a:rPr>
                  <a:t>$p,q,r$</a:t>
                </a:r>
                <a:r>
                  <a:rPr sz="2400" b="0">
                    <a:solidFill>
                      <a:srgbClr val="111827"/>
                    </a:solidFill>
                    <a:latin typeface="Arial"/>
                  </a:rPr>
                  <a:t> are prime numbers then evaluate </a:t>
                </a:r>
                <a:r>
                  <a:rPr lang="en-IN" sz="2400">
                    <a:solidFill>
                      <a:srgbClr val="111827"/>
                    </a:solidFill>
                    <a:latin typeface="Cambria Math" panose="02040503050406030204" pitchFamily="18" charset="0"/>
                  </a:rPr>
                  <a:t>$\frac{p+q}{r}$</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Volume of a tetrahedron by the Gram determinant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6</m:t>
                        </m:r>
                      </m:den>
                    </m:f>
                    <m:rad>
                      <m:radPr>
                        <m:degHide m:val="on"/>
                        <m:ctrlPr>
                          <a:rPr lang="en-IN" sz="2400" i="1">
                            <a:solidFill>
                              <a:srgbClr val="78350F"/>
                            </a:solidFill>
                            <a:latin typeface="Cambria Math" panose="02040503050406030204" pitchFamily="18" charset="0"/>
                          </a:rPr>
                        </m:ctrlPr>
                      </m:radPr>
                      <m:deg/>
                      <m:e>
                        <m:r>
                          <m:rPr>
                            <m:sty m:val="p"/>
                          </m:rPr>
                          <a:rPr lang="en-IN" sz="2400">
                            <a:solidFill>
                              <a:srgbClr val="78350F"/>
                            </a:solidFill>
                            <a:latin typeface="Cambria Math" panose="02040503050406030204" pitchFamily="18" charset="0"/>
                          </a:rPr>
                          <m:t>det</m:t>
                        </m:r>
                        <m:r>
                          <m:rPr>
                            <m:sty m:val="p"/>
                          </m:rPr>
                          <a:rPr lang="en-IN" sz="2400">
                            <a:solidFill>
                              <a:srgbClr val="78350F"/>
                            </a:solidFill>
                            <a:latin typeface="Cambria Math" panose="02040503050406030204" pitchFamily="18" charset="0"/>
                          </a:rPr>
                          <m:t>(</m:t>
                        </m:r>
                        <m:r>
                          <m:rPr>
                            <m:nor/>
                          </m:rPr>
                          <a:rPr lang="en-IN" sz="2400" i="1">
                            <a:solidFill>
                              <a:srgbClr val="78350F"/>
                            </a:solidFill>
                            <a:latin typeface="Cambria Math" panose="02040503050406030204" pitchFamily="18" charset="0"/>
                          </a:rPr>
                          <m:t>𝐺𝑟𝑎𝑚 𝑚𝑎𝑡𝑟𝑖𝑥</m:t>
                        </m:r>
                        <m:r>
                          <m:rPr>
                            <m:sty m:val="p"/>
                          </m:rPr>
                          <a:rPr lang="en-IN" sz="2400">
                            <a:solidFill>
                              <a:srgbClr val="78350F"/>
                            </a:solidFill>
                            <a:latin typeface="Cambria Math" panose="02040503050406030204" pitchFamily="18" charset="0"/>
                          </a:rPr>
                          <m:t>)</m:t>
                        </m:r>
                      </m:e>
                    </m:rad>
                  </m:oMath>
                </a14:m>
                <a:r>
                  <a:rPr sz="2400" b="0">
                    <a:solidFill>
                      <a:srgbClr val="78350F"/>
                    </a:solidFill>
                    <a:latin typeface="Arial"/>
                  </a:rPr>
                  <a:t> with entries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m:t>
                    </m:r>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m:t>
                    </m:r>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$V=\frac16\sqrt{\det(\text{Gram matrix})}$</a:t>
                </a:r>
                <a:r>
                  <a:rPr sz="2400" b="0">
                    <a:solidFill>
                      <a:srgbClr val="78350F"/>
                    </a:solidFill>
                    <a:latin typeface="Arial"/>
                  </a:rPr>
                  <a:t> with entries </a:t>
                </a:r>
                <a:r>
                  <a:rPr lang="en-IN" sz="2400">
                    <a:solidFill>
                      <a:srgbClr val="78350F"/>
                    </a:solidFill>
                    <a:latin typeface="Cambria Math" panose="02040503050406030204" pitchFamily="18" charset="0"/>
                  </a:rPr>
                  <a:t>$\vec a\cdot\vec b=6$</a:t>
                </a:r>
                <a:r>
                  <a:rPr sz="2400" b="0">
                    <a:solidFill>
                      <a:srgbClr val="78350F"/>
                    </a:solidFill>
                    <a:latin typeface="Arial"/>
                  </a:rPr>
                  <a:t>, </a:t>
                </a:r>
                <a:r>
                  <a:rPr lang="en-IN" sz="2400">
                    <a:solidFill>
                      <a:srgbClr val="78350F"/>
                    </a:solidFill>
                    <a:latin typeface="Cambria Math" panose="02040503050406030204" pitchFamily="18" charset="0"/>
                  </a:rPr>
                  <a:t>$\vec b\cdot\vec c=6$</a:t>
                </a:r>
                <a:r>
                  <a:rPr sz="2400" b="0">
                    <a:solidFill>
                      <a:srgbClr val="78350F"/>
                    </a:solidFill>
                    <a:latin typeface="Arial"/>
                  </a:rPr>
                  <a:t>, </a:t>
                </a:r>
                <a:r>
                  <a:rPr lang="en-IN" sz="2400">
                    <a:solidFill>
                      <a:srgbClr val="78350F"/>
                    </a:solidFill>
                    <a:latin typeface="Cambria Math" panose="02040503050406030204" pitchFamily="18" charset="0"/>
                  </a:rPr>
                  <a:t>$\vec c\cdot\vec a=-1$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794504"/>
                <a:ext cx="10725912" cy="188061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18</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PDF prints the second pair as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typing slip for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794504"/>
                <a:ext cx="10725912" cy="188061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a\cdot\vec a=9$</a:t>
                </a:r>
                <a:r>
                  <a:rPr sz="2400" b="0">
                    <a:solidFill>
                      <a:srgbClr val="111827"/>
                    </a:solidFill>
                    <a:latin typeface="Arial"/>
                  </a:rPr>
                  <a:t>, </a:t>
                </a:r>
                <a:r>
                  <a:rPr lang="en-IN" sz="2400">
                    <a:solidFill>
                      <a:srgbClr val="111827"/>
                    </a:solidFill>
                    <a:latin typeface="Cambria Math" panose="02040503050406030204" pitchFamily="18" charset="0"/>
                  </a:rPr>
                  <a:t>$\vec b\cdot\vec b=16$</a:t>
                </a:r>
                <a:r>
                  <a:rPr sz="2400" b="0">
                    <a:solidFill>
                      <a:srgbClr val="111827"/>
                    </a:solidFill>
                    <a:latin typeface="Arial"/>
                  </a:rPr>
                  <a:t>, </a:t>
                </a:r>
                <a:r>
                  <a:rPr lang="en-IN" sz="2400">
                    <a:solidFill>
                      <a:srgbClr val="111827"/>
                    </a:solidFill>
                    <a:latin typeface="Cambria Math" panose="02040503050406030204" pitchFamily="18" charset="0"/>
                  </a:rPr>
                  <a:t>$\vec c\cdot\vec c=36$</a:t>
                </a:r>
                <a:r>
                  <a:rPr sz="2400" b="0">
                    <a:solidFill>
                      <a:srgbClr val="111827"/>
                    </a:solidFill>
                    <a:latin typeface="Arial"/>
                  </a:rPr>
                  <a:t>; </a:t>
                </a:r>
                <a:r>
                  <a:rPr lang="en-IN" sz="2400">
                    <a:solidFill>
                      <a:srgbClr val="111827"/>
                    </a:solidFill>
                    <a:latin typeface="Cambria Math" panose="02040503050406030204" pitchFamily="18" charset="0"/>
                  </a:rPr>
                  <a:t>$\vec a\cdot\vec b=3\cdot4\cdot\frac12=6$</a:t>
                </a:r>
                <a:r>
                  <a:rPr sz="2400" b="0">
                    <a:solidFill>
                      <a:srgbClr val="111827"/>
                    </a:solidFill>
                    <a:latin typeface="Arial"/>
                  </a:rPr>
                  <a:t>, </a:t>
                </a:r>
                <a:r>
                  <a:rPr lang="en-IN" sz="2400">
                    <a:solidFill>
                      <a:srgbClr val="111827"/>
                    </a:solidFill>
                    <a:latin typeface="Cambria Math" panose="02040503050406030204" pitchFamily="18" charset="0"/>
                  </a:rPr>
                  <a:t>$\vec b\cdot\vec c=4\cdot6\cdot\frac14=6$</a:t>
                </a:r>
                <a:r>
                  <a:rPr sz="2400" b="0">
                    <a:solidFill>
                      <a:srgbClr val="111827"/>
                    </a:solidFill>
                    <a:latin typeface="Arial"/>
                  </a:rPr>
                  <a:t>, </a:t>
                </a:r>
                <a:r>
                  <a:rPr lang="en-IN" sz="2400">
                    <a:solidFill>
                      <a:srgbClr val="111827"/>
                    </a:solidFill>
                    <a:latin typeface="Cambria Math" panose="02040503050406030204" pitchFamily="18" charset="0"/>
                  </a:rPr>
                  <a:t>$\vec c\cdot\vec a=6\cdot3\cdot\left(-\frac1{18}\right)=-1$</a:t>
                </a:r>
                <a:r>
                  <a:rPr sz="2400" b="0">
                    <a:solidFill>
                      <a:srgbClr val="111827"/>
                    </a:solidFill>
                    <a:latin typeface="Arial"/>
                  </a:rPr>
                  <a:t>. (The PDF prints the second pair as </a:t>
                </a:r>
                <a:r>
                  <a:rPr lang="en-IN" sz="2400">
                    <a:solidFill>
                      <a:srgbClr val="111827"/>
                    </a:solidFill>
                    <a:latin typeface="Cambria Math" panose="02040503050406030204" pitchFamily="18" charset="0"/>
                  </a:rPr>
                  <a:t>$\{\vec b,\vec a\}$</a:t>
                </a:r>
                <a:r>
                  <a:rPr sz="2400" b="0">
                    <a:solidFill>
                      <a:srgbClr val="111827"/>
                    </a:solidFill>
                    <a:latin typeface="Arial"/>
                  </a:rPr>
                  <a:t>, a typing slip for </a:t>
                </a:r>
                <a:r>
                  <a:rPr lang="en-IN" sz="2400">
                    <a:solidFill>
                      <a:srgbClr val="111827"/>
                    </a:solidFill>
                    <a:latin typeface="Cambria Math" panose="02040503050406030204" pitchFamily="18" charset="0"/>
                  </a:rPr>
                  <a:t>$\{\vec b,\vec 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9</m:t>
                              </m:r>
                            </m:e>
                            <m:e>
                              <m:r>
                                <a:rPr lang="en-IN" sz="2400" i="1">
                                  <a:solidFill>
                                    <a:srgbClr val="111827"/>
                                  </a:solidFill>
                                  <a:latin typeface="Cambria Math" panose="02040503050406030204" pitchFamily="18" charset="0"/>
                                </a:rPr>
                                <m:t>6</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6</m:t>
                              </m:r>
                            </m:e>
                            <m:e>
                              <m:r>
                                <a:rPr lang="en-IN" sz="2400" i="1">
                                  <a:solidFill>
                                    <a:srgbClr val="111827"/>
                                  </a:solidFill>
                                  <a:latin typeface="Cambria Math" panose="02040503050406030204" pitchFamily="18" charset="0"/>
                                </a:rPr>
                                <m:t>16</m:t>
                              </m:r>
                            </m:e>
                            <m:e>
                              <m:r>
                                <a:rPr lang="en-IN" sz="2400" i="1">
                                  <a:solidFill>
                                    <a:srgbClr val="111827"/>
                                  </a:solidFill>
                                  <a:latin typeface="Cambria Math" panose="02040503050406030204" pitchFamily="18" charset="0"/>
                                </a:rPr>
                                <m:t>6</m:t>
                              </m:r>
                            </m:e>
                          </m:m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6</m:t>
                              </m:r>
                            </m:e>
                            <m:e>
                              <m:r>
                                <a:rPr lang="en-IN" sz="2400" i="1">
                                  <a:solidFill>
                                    <a:srgbClr val="111827"/>
                                  </a:solidFill>
                                  <a:latin typeface="Cambria Math" panose="02040503050406030204" pitchFamily="18" charset="0"/>
                                </a:rPr>
                                <m:t>36</m:t>
                              </m:r>
                            </m:e>
                          </m:mr>
                        </m:m>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576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4860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1332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3476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of the tetrahedron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3476</m:t>
                        </m:r>
                      </m:num>
                      <m:den>
                        <m:r>
                          <a:rPr lang="en-IN" sz="2400" i="1">
                            <a:solidFill>
                              <a:srgbClr val="111827"/>
                            </a:solidFill>
                            <a:latin typeface="Cambria Math" panose="02040503050406030204" pitchFamily="18" charset="0"/>
                          </a:rPr>
                          <m:t>36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869</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869</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79</m:t>
                        </m:r>
                      </m:num>
                      <m:den>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num>
                      <m:den>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79</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 \vec b\ \vec c]^2=\left|\begin{matrix}9&amp;6&amp;-1\\6&amp;16&amp;6\\-1&amp;6&amp;36\end{matrix}\right|$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$=9(576-36)-6(216+6)+(-1)(36+16)=4860-1332-52=3476$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of the tetrahedron </a:t>
                </a:r>
                <a:r>
                  <a:rPr lang="en-IN" sz="2400">
                    <a:solidFill>
                      <a:srgbClr val="111827"/>
                    </a:solidFill>
                    <a:latin typeface="Cambria Math" panose="02040503050406030204" pitchFamily="18" charset="0"/>
                  </a:rPr>
                  <a:t>$V=\frac16|[\vec a\ \vec b\ \vec c]|$</a:t>
                </a:r>
                <a:r>
                  <a:rPr sz="2400" b="0">
                    <a:solidFill>
                      <a:srgbClr val="111827"/>
                    </a:solidFill>
                    <a:latin typeface="Arial"/>
                  </a:rPr>
                  <a:t>, so </a:t>
                </a:r>
                <a:r>
                  <a:rPr lang="en-IN" sz="2400">
                    <a:solidFill>
                      <a:srgbClr val="111827"/>
                    </a:solidFill>
                    <a:latin typeface="Cambria Math" panose="02040503050406030204" pitchFamily="18" charset="0"/>
                  </a:rPr>
                  <a:t>$V^2=\frac{3476}{36}=\frac{869}{9}$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$\frac{869}{9}=\frac{11\times79}{3^2}=\frac{pq}{r^2}$</a:t>
                </a:r>
                <a:r>
                  <a:rPr sz="2400" b="0">
                    <a:solidFill>
                      <a:srgbClr val="111827"/>
                    </a:solidFill>
                    <a:latin typeface="Arial"/>
                  </a:rPr>
                  <a:t> with </a:t>
                </a:r>
                <a:r>
                  <a:rPr lang="en-IN" sz="2400">
                    <a:solidFill>
                      <a:srgbClr val="111827"/>
                    </a:solidFill>
                    <a:latin typeface="Cambria Math" panose="02040503050406030204" pitchFamily="18" charset="0"/>
                  </a:rPr>
                  <a:t>$p=11,\ q=79,\ r=3$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$\frac{p+q}{r}=\frac{11+79}{3}=30$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30</a:t>
            </a:r>
            <a:endParaRPr sz="2800">
              <a:solidFill>
                <a:srgbClr val="15803D"/>
              </a:solidFill>
            </a:endParaRPr>
          </a:p>
        </p:txBody>
      </p:sp>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closed formula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sSup>
                      <m:e>
                        <m:r>
                          <a:rPr lang="en-IN" sz="2400" i="1">
                            <a:solidFill>
                              <a:srgbClr val="78350F"/>
                            </a:solidFill>
                            <a:latin typeface="Cambria Math" panose="02040503050406030204" pitchFamily="18" charset="0"/>
                          </a:rPr>
                          <m:t>𝑐</m:t>
                        </m:r>
                      </m:e>
                      <m:sup>
                        <m:r>
                          <a:rPr lang="en-IN" sz="2400" i="1">
                            <a:solidFill>
                              <a:srgbClr val="78350F"/>
                            </a:solidFill>
                            <a:latin typeface="Cambria Math" panose="02040503050406030204" pitchFamily="18" charset="0"/>
                          </a:rPr>
                          <m:t>2</m:t>
                        </m:r>
                      </m:sup>
                    </m:sSup>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β</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γ</m:t>
                        </m:r>
                        <m:r>
                          <m:rPr>
                            <m:sty m:val="p"/>
                          </m:rPr>
                          <a:rPr lang="en-IN" sz="2400">
                            <a:solidFill>
                              <a:srgbClr val="78350F"/>
                            </a:solidFill>
                            <a:latin typeface="Cambria Math" panose="02040503050406030204" pitchFamily="18" charset="0"/>
                          </a:rPr>
                          <m:t>−</m:t>
                        </m:r>
                        <m:sSup>
                          <m:e>
                            <m:r>
                              <m:rPr>
                                <m:sty m:val="p"/>
                              </m:rPr>
                              <a:rPr lang="en-IN" sz="2400">
                                <a:solidFill>
                                  <a:srgbClr val="78350F"/>
                                </a:solidFill>
                                <a:latin typeface="Cambria Math" panose="02040503050406030204" pitchFamily="18" charset="0"/>
                              </a:rPr>
                              <m:t>cos</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sSup>
                          <m:e>
                            <m:r>
                              <m:rPr>
                                <m:sty m:val="p"/>
                              </m:rPr>
                              <a:rPr lang="en-IN" sz="2400">
                                <a:solidFill>
                                  <a:srgbClr val="78350F"/>
                                </a:solidFill>
                                <a:latin typeface="Cambria Math" panose="02040503050406030204" pitchFamily="18" charset="0"/>
                              </a:rPr>
                              <m:t>cos</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β</m:t>
                        </m:r>
                        <m:r>
                          <m:rPr>
                            <m:sty m:val="p"/>
                          </m:rPr>
                          <a:rPr lang="en-IN" sz="2400">
                            <a:solidFill>
                              <a:srgbClr val="78350F"/>
                            </a:solidFill>
                            <a:latin typeface="Cambria Math" panose="02040503050406030204" pitchFamily="18" charset="0"/>
                          </a:rPr>
                          <m:t>−</m:t>
                        </m:r>
                        <m:sSup>
                          <m:e>
                            <m:r>
                              <m:rPr>
                                <m:sty m:val="p"/>
                              </m:rPr>
                              <a:rPr lang="en-IN" sz="2400">
                                <a:solidFill>
                                  <a:srgbClr val="78350F"/>
                                </a:solidFill>
                                <a:latin typeface="Cambria Math" panose="02040503050406030204" pitchFamily="18" charset="0"/>
                              </a:rPr>
                              <m:t>cos</m:t>
                            </m:r>
                          </m:e>
                          <m:sup>
                            <m:r>
                              <a:rPr lang="en-IN" sz="2400" i="1">
                                <a:solidFill>
                                  <a:srgbClr val="78350F"/>
                                </a:solidFill>
                                <a:latin typeface="Cambria Math" panose="02040503050406030204" pitchFamily="18" charset="0"/>
                              </a:rPr>
                              <m:t>2</m:t>
                            </m:r>
                          </m:sup>
                        </m:sSup>
                        <m:r>
                          <a:rPr lang="en-IN" sz="2400" i="1">
                            <a:solidFill>
                              <a:srgbClr val="78350F"/>
                            </a:solidFill>
                            <a:latin typeface="Cambria Math" panose="02040503050406030204" pitchFamily="18" charset="0"/>
                          </a:rPr>
                          <m:t>γ</m:t>
                        </m:r>
                      </m:e>
                    </m:d>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closed formula </a:t>
                </a:r>
                <a:r>
                  <a:rPr lang="en-IN" sz="2400">
                    <a:solidFill>
                      <a:srgbClr val="78350F"/>
                    </a:solidFill>
                    <a:latin typeface="Cambria Math" panose="02040503050406030204" pitchFamily="18" charset="0"/>
                  </a:rPr>
                  <a:t>$[\vec a\ \vec b\ \vec c]^2=a^2b^2c^2\left(1+2\cos\alpha\cos\beta\cos\gamma-\cos^2\alpha-\cos^2\beta-\cos^2\gamma\right)$</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18</m:t>
                        </m:r>
                      </m:den>
                    </m:f>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5184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18</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324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1296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1296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869</m:t>
                        </m:r>
                      </m:num>
                      <m:den>
                        <m:r>
                          <a:rPr lang="en-IN" sz="2400" i="1">
                            <a:solidFill>
                              <a:srgbClr val="111827"/>
                            </a:solidFill>
                            <a:latin typeface="Cambria Math" panose="02040503050406030204" pitchFamily="18" charset="0"/>
                          </a:rPr>
                          <m:t>1296</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$\cos\alpha=\frac12$</a:t>
                </a:r>
                <a:r>
                  <a:rPr sz="2400" b="0">
                    <a:solidFill>
                      <a:srgbClr val="111827"/>
                    </a:solidFill>
                    <a:latin typeface="Arial"/>
                  </a:rPr>
                  <a:t>, </a:t>
                </a:r>
                <a:r>
                  <a:rPr lang="en-IN" sz="2400">
                    <a:solidFill>
                      <a:srgbClr val="111827"/>
                    </a:solidFill>
                    <a:latin typeface="Cambria Math" panose="02040503050406030204" pitchFamily="18" charset="0"/>
                  </a:rPr>
                  <a:t>$\cos\beta=\frac14$</a:t>
                </a:r>
                <a:r>
                  <a:rPr sz="2400" b="0">
                    <a:solidFill>
                      <a:srgbClr val="111827"/>
                    </a:solidFill>
                    <a:latin typeface="Arial"/>
                  </a:rPr>
                  <a:t>, </a:t>
                </a:r>
                <a:r>
                  <a:rPr lang="en-IN" sz="2400">
                    <a:solidFill>
                      <a:srgbClr val="111827"/>
                    </a:solidFill>
                    <a:latin typeface="Cambria Math" panose="02040503050406030204" pitchFamily="18" charset="0"/>
                  </a:rPr>
                  <a:t>$\cos\gamma=-\frac1{18}$</a:t>
                </a:r>
                <a:r>
                  <a:rPr sz="2400" b="0">
                    <a:solidFill>
                      <a:srgbClr val="111827"/>
                    </a:solidFill>
                    <a:latin typeface="Arial"/>
                  </a:rPr>
                  <a:t> and </a:t>
                </a:r>
                <a:r>
                  <a:rPr lang="en-IN" sz="2400">
                    <a:solidFill>
                      <a:srgbClr val="111827"/>
                    </a:solidFill>
                    <a:latin typeface="Cambria Math" panose="02040503050406030204" pitchFamily="18" charset="0"/>
                  </a:rPr>
                  <a:t>$a^2b^2c^2=9\cdot16\cdot36=5184$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$1+2\cdot\frac12\cdot\frac14\cdot\left(-\frac1{18}\right)-\frac14-\frac1{16}-\frac1{324}=\frac{1296-18-324-81-4}{1296}=\frac{869}{1296}$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5184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869</m:t>
                        </m:r>
                      </m:num>
                      <m:den>
                        <m:r>
                          <a:rPr lang="en-IN" sz="2400" i="1">
                            <a:solidFill>
                              <a:srgbClr val="111827"/>
                            </a:solidFill>
                            <a:latin typeface="Cambria Math" panose="02040503050406030204" pitchFamily="18" charset="0"/>
                          </a:rPr>
                          <m:t>1296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3476</m:t>
                    </m:r>
                  </m:oMath>
                </a14:m>
                <a:r>
                  <a:rPr sz="2400" b="0">
                    <a:solidFill>
                      <a:srgbClr val="111827"/>
                    </a:solidFill>
                    <a:latin typeface="Arial"/>
                  </a:rPr>
                  <a:t>, the same as before; </a:t>
                </a:r>
                <a14:m>
                  <m:oMath xmlns:m="http://schemas.openxmlformats.org/officeDocument/2006/math">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3476</m:t>
                        </m:r>
                      </m:num>
                      <m:den>
                        <m:r>
                          <a:rPr lang="en-IN" sz="2400" i="1">
                            <a:solidFill>
                              <a:srgbClr val="111827"/>
                            </a:solidFill>
                            <a:latin typeface="Cambria Math" panose="02040503050406030204" pitchFamily="18" charset="0"/>
                          </a:rPr>
                          <m:t>36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869</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79</m:t>
                        </m:r>
                      </m:num>
                      <m:den>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90</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 \vec b\ \vec c]^2=5184\cdot\frac{869}{1296}=3476$</a:t>
                </a:r>
                <a:r>
                  <a:rPr sz="2400" b="0">
                    <a:solidFill>
                      <a:srgbClr val="111827"/>
                    </a:solidFill>
                    <a:latin typeface="Arial"/>
                  </a:rPr>
                  <a:t>, the same as before; </a:t>
                </a:r>
                <a:r>
                  <a:rPr lang="en-IN" sz="2400">
                    <a:solidFill>
                      <a:srgbClr val="111827"/>
                    </a:solidFill>
                    <a:latin typeface="Cambria Math" panose="02040503050406030204" pitchFamily="18" charset="0"/>
                  </a:rPr>
                  <a:t>$V^2=\frac{3476}{36}=\frac{869}{9}=\frac{11\cdot79}{3^2}$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$\frac{p+q}{r}=\frac{90}{3}=30$</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30</a:t>
            </a:r>
            <a:endParaRPr sz="2800">
              <a:solidFill>
                <a:srgbClr val="15803D"/>
              </a:solidFill>
            </a:endParaRPr>
          </a:p>
        </p:txBody>
      </p:sp>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Gram formula: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γ</m:t>
                        </m:r>
                      </m:e>
                    </m:d>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the three pairwise angles.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of tetrahedron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det</m:t>
                        </m:r>
                        <m:r>
                          <a:rPr lang="en-IN" sz="2400" i="1">
                            <a:solidFill>
                              <a:srgbClr val="111827"/>
                            </a:solidFill>
                            <a:latin typeface="Cambria Math" panose="02040503050406030204" pitchFamily="18" charset="0"/>
                          </a:rPr>
                          <m:t>𝐺</m:t>
                        </m:r>
                      </m:num>
                      <m:den>
                        <m:r>
                          <a:rPr lang="en-IN" sz="2400" i="1">
                            <a:solidFill>
                              <a:srgbClr val="111827"/>
                            </a:solidFill>
                            <a:latin typeface="Cambria Math" panose="02040503050406030204" pitchFamily="18" charset="0"/>
                          </a:rPr>
                          <m:t>36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Factor integers into primes before matching a form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num>
                      <m:den>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869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79</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Gram formula: </a:t>
                </a:r>
                <a:r>
                  <a:rPr lang="en-IN" sz="2400">
                    <a:solidFill>
                      <a:srgbClr val="111827"/>
                    </a:solidFill>
                    <a:latin typeface="Cambria Math" panose="02040503050406030204" pitchFamily="18" charset="0"/>
                  </a:rPr>
                  <a:t>$[\vec a\ \vec b\ \vec c]^2=a^2b^2c^2\left(1+2\cos\alpha\cos\beta\cos\gamma-\cos^2\alpha-\cos^2\beta-\cos^2\gamma\right)$</a:t>
                </a:r>
                <a:r>
                  <a:rPr sz="2400" b="0">
                    <a:solidFill>
                      <a:srgbClr val="111827"/>
                    </a:solidFill>
                    <a:latin typeface="Arial"/>
                  </a:rPr>
                  <a:t>, with </a:t>
                </a:r>
                <a:r>
                  <a:rPr lang="en-IN" sz="2400">
                    <a:solidFill>
                      <a:srgbClr val="111827"/>
                    </a:solidFill>
                    <a:latin typeface="Cambria Math" panose="02040503050406030204" pitchFamily="18" charset="0"/>
                  </a:rPr>
                  <a:t>$\alpha,\beta,\gamma$</a:t>
                </a:r>
                <a:r>
                  <a:rPr sz="2400" b="0">
                    <a:solidFill>
                      <a:srgbClr val="111827"/>
                    </a:solidFill>
                    <a:latin typeface="Arial"/>
                  </a:rPr>
                  <a:t> the three pairwise angles.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of tetrahedron </a:t>
                </a:r>
                <a:r>
                  <a:rPr lang="en-IN" sz="2400">
                    <a:solidFill>
                      <a:srgbClr val="111827"/>
                    </a:solidFill>
                    <a:latin typeface="Cambria Math" panose="02040503050406030204" pitchFamily="18" charset="0"/>
                  </a:rPr>
                  <a:t>$OABC=\frac16|[\vec a\ \vec b\ \vec c]|$</a:t>
                </a:r>
                <a:r>
                  <a:rPr sz="2400" b="0">
                    <a:solidFill>
                      <a:srgbClr val="111827"/>
                    </a:solidFill>
                    <a:latin typeface="Arial"/>
                  </a:rPr>
                  <a:t>; </a:t>
                </a:r>
                <a:r>
                  <a:rPr lang="en-IN" sz="2400">
                    <a:solidFill>
                      <a:srgbClr val="111827"/>
                    </a:solidFill>
                    <a:latin typeface="Cambria Math" panose="02040503050406030204" pitchFamily="18" charset="0"/>
                  </a:rPr>
                  <a:t>$V^2=\frac{\det G}{36}$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Factor integers into primes before matching a form </a:t>
                </a:r>
                <a:r>
                  <a:rPr lang="en-IN" sz="2400">
                    <a:solidFill>
                      <a:srgbClr val="111827"/>
                    </a:solidFill>
                    <a:latin typeface="Cambria Math" panose="02040503050406030204" pitchFamily="18" charset="0"/>
                  </a:rPr>
                  <a:t>$\frac{pq}{r^2}$</a:t>
                </a:r>
                <a:r>
                  <a:rPr sz="2400" b="0">
                    <a:solidFill>
                      <a:srgbClr val="111827"/>
                    </a:solidFill>
                    <a:latin typeface="Arial"/>
                  </a:rPr>
                  <a:t>: </a:t>
                </a:r>
                <a:r>
                  <a:rPr lang="en-IN" sz="2400">
                    <a:solidFill>
                      <a:srgbClr val="111827"/>
                    </a:solidFill>
                    <a:latin typeface="Cambria Math" panose="02040503050406030204" pitchFamily="18" charset="0"/>
                  </a:rPr>
                  <a:t>$869=11\cdot79$</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sphere is inscribed in a tetrahedron whose vertices are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If the radius of sphere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𝑛</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are relatively prime), then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sphere is inscribed in a tetrahedron whose vertices are </a:t>
                </a:r>
                <a:r>
                  <a:rPr lang="en-IN" sz="2400">
                    <a:solidFill>
                      <a:srgbClr val="111827"/>
                    </a:solidFill>
                    <a:latin typeface="Cambria Math" panose="02040503050406030204" pitchFamily="18" charset="0"/>
                  </a:rPr>
                  <a:t>$A=(6,0,0)$</a:t>
                </a:r>
                <a:r>
                  <a:rPr sz="2400" b="0">
                    <a:solidFill>
                      <a:srgbClr val="111827"/>
                    </a:solidFill>
                    <a:latin typeface="Arial"/>
                  </a:rPr>
                  <a:t>, </a:t>
                </a:r>
                <a:r>
                  <a:rPr lang="en-IN" sz="2400">
                    <a:solidFill>
                      <a:srgbClr val="111827"/>
                    </a:solidFill>
                    <a:latin typeface="Cambria Math" panose="02040503050406030204" pitchFamily="18" charset="0"/>
                  </a:rPr>
                  <a:t>$B=(0,4,0)$</a:t>
                </a:r>
                <a:r>
                  <a:rPr sz="2400" b="0">
                    <a:solidFill>
                      <a:srgbClr val="111827"/>
                    </a:solidFill>
                    <a:latin typeface="Arial"/>
                  </a:rPr>
                  <a:t>, </a:t>
                </a:r>
                <a:r>
                  <a:rPr lang="en-IN" sz="2400">
                    <a:solidFill>
                      <a:srgbClr val="111827"/>
                    </a:solidFill>
                    <a:latin typeface="Cambria Math" panose="02040503050406030204" pitchFamily="18" charset="0"/>
                  </a:rPr>
                  <a:t>$C=(0,0,2)$</a:t>
                </a:r>
                <a:r>
                  <a:rPr sz="2400" b="0">
                    <a:solidFill>
                      <a:srgbClr val="111827"/>
                    </a:solidFill>
                    <a:latin typeface="Arial"/>
                  </a:rPr>
                  <a:t> and </a:t>
                </a:r>
                <a:r>
                  <a:rPr lang="en-IN" sz="2400">
                    <a:solidFill>
                      <a:srgbClr val="111827"/>
                    </a:solidFill>
                    <a:latin typeface="Cambria Math" panose="02040503050406030204" pitchFamily="18" charset="0"/>
                  </a:rPr>
                  <a:t>$D=(0,0,0)$</a:t>
                </a:r>
                <a:r>
                  <a:rPr sz="2400" b="0">
                    <a:solidFill>
                      <a:srgbClr val="111827"/>
                    </a:solidFill>
                    <a:latin typeface="Arial"/>
                  </a:rPr>
                  <a:t>. If the radius of sphere is </a:t>
                </a:r>
                <a:r>
                  <a:rPr lang="en-IN" sz="2400">
                    <a:solidFill>
                      <a:srgbClr val="111827"/>
                    </a:solidFill>
                    <a:latin typeface="Cambria Math" panose="02040503050406030204" pitchFamily="18" charset="0"/>
                  </a:rPr>
                  <a:t>$\frac mn$</a:t>
                </a:r>
                <a:r>
                  <a:rPr sz="2400" b="0">
                    <a:solidFill>
                      <a:srgbClr val="111827"/>
                    </a:solidFill>
                    <a:latin typeface="Arial"/>
                  </a:rPr>
                  <a:t> (where </a:t>
                </a:r>
                <a:r>
                  <a:rPr lang="en-IN" sz="2400">
                    <a:solidFill>
                      <a:srgbClr val="111827"/>
                    </a:solidFill>
                    <a:latin typeface="Cambria Math" panose="02040503050406030204" pitchFamily="18" charset="0"/>
                  </a:rPr>
                  <a:t>$m$</a:t>
                </a:r>
                <a:r>
                  <a:rPr sz="2400" b="0">
                    <a:solidFill>
                      <a:srgbClr val="111827"/>
                    </a:solidFill>
                    <a:latin typeface="Arial"/>
                  </a:rPr>
                  <a:t> and </a:t>
                </a:r>
                <a:r>
                  <a:rPr lang="en-IN" sz="2400">
                    <a:solidFill>
                      <a:srgbClr val="111827"/>
                    </a:solidFill>
                    <a:latin typeface="Cambria Math" panose="02040503050406030204" pitchFamily="18" charset="0"/>
                  </a:rPr>
                  <a:t>$n$</a:t>
                </a:r>
                <a:r>
                  <a:rPr sz="2400" b="0">
                    <a:solidFill>
                      <a:srgbClr val="111827"/>
                    </a:solidFill>
                    <a:latin typeface="Arial"/>
                  </a:rPr>
                  <a:t> are relatively prime), then </a:t>
                </a:r>
                <a:r>
                  <a:rPr lang="en-IN" sz="2400">
                    <a:solidFill>
                      <a:srgbClr val="111827"/>
                    </a:solidFill>
                    <a:latin typeface="Cambria Math" panose="02040503050406030204" pitchFamily="18" charset="0"/>
                  </a:rPr>
                  <a:t>$(m+n)$</a:t>
                </a:r>
                <a:r>
                  <a:rPr sz="2400" b="0">
                    <a:solidFill>
                      <a:srgbClr val="111827"/>
                    </a:solidFill>
                    <a:latin typeface="Arial"/>
                  </a:rPr>
                  <a:t> is ________.</a:t>
                </a:r>
                <a:endParaRPr sz="2400">
                  <a:solidFill>
                    <a:srgbClr val="111827"/>
                  </a:solidFill>
                </a:endParaRPr>
              </a:p>
            </p:txBody>
          </p:sp>
        </mc:Fallback>
      </mc:AlternateContent>
      <p:sp>
        <p:nvSpPr>
          <p:cNvPr id="5" name="Rectangle 4"/>
          <p:cNvSpPr/>
          <p:nvPr/>
        </p:nvSpPr>
        <p:spPr>
          <a:xfrm>
            <a:off x="731520" y="3626611"/>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Inscribed sphere of a tetrahedron (volume and face areas)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3</m:t>
                        </m:r>
                      </m:den>
                    </m:f>
                    <m:r>
                      <a:rPr lang="en-IN" sz="2400" i="1">
                        <a:solidFill>
                          <a:srgbClr val="78350F"/>
                        </a:solidFill>
                        <a:latin typeface="Cambria Math" panose="02040503050406030204" pitchFamily="18" charset="0"/>
                      </a:rPr>
                      <m:t>𝑟</m:t>
                    </m:r>
                    <m:r>
                      <a:rPr lang="en-IN" sz="2400" i="1">
                        <a:solidFill>
                          <a:srgbClr val="78350F"/>
                        </a:solidFill>
                        <a:latin typeface="Cambria Math" panose="02040503050406030204" pitchFamily="18" charset="0"/>
                      </a:rPr>
                      <m:t> </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4</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𝑉</m:t>
                        </m:r>
                      </m:num>
                      <m:den>
                        <m:r>
                          <m:rPr>
                            <m:nor/>
                          </m:rPr>
                          <a:rPr lang="en-IN" sz="2400" i="1">
                            <a:solidFill>
                              <a:srgbClr val="78350F"/>
                            </a:solidFill>
                            <a:latin typeface="Cambria Math" panose="02040503050406030204" pitchFamily="18" charset="0"/>
                          </a:rPr>
                          <m:t>𝑡𝑜𝑡𝑎𝑙 𝑠𝑢𝑟𝑓𝑎𝑐𝑒 𝑎𝑟𝑒𝑎</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$V=\frac13 r\,(S_1+S_2+S_3+S_4)$</a:t>
                </a:r>
                <a:r>
                  <a:rPr sz="2400" b="0">
                    <a:solidFill>
                      <a:srgbClr val="78350F"/>
                    </a:solidFill>
                    <a:latin typeface="Arial"/>
                  </a:rPr>
                  <a:t>, so </a:t>
                </a:r>
                <a:r>
                  <a:rPr lang="en-IN" sz="2400">
                    <a:solidFill>
                      <a:srgbClr val="78350F"/>
                    </a:solidFill>
                    <a:latin typeface="Cambria Math" panose="02040503050406030204" pitchFamily="18" charset="0"/>
                  </a:rPr>
                  <a:t>$r=\frac{3V}{\text{total surface area}}$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4</m:t>
                        </m:r>
                      </m:sub>
                    </m:sSub>
                  </m:oMath>
                </a14:m>
                <a:r>
                  <a:rPr sz="2400" b="0">
                    <a:solidFill>
                      <a:srgbClr val="111827"/>
                    </a:solidFill>
                    <a:latin typeface="Arial"/>
                  </a:rPr>
                  <a:t> are the areas of the four faces, then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oMath>
                </a14:m>
                <a:r>
                  <a:rPr sz="2400" b="0">
                    <a:solidFill>
                      <a:srgbClr val="111827"/>
                    </a:solidFill>
                    <a:latin typeface="Arial"/>
                  </a:rPr>
                  <a:t> (the tetrahedron splits into four pyramids of height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with the centre as apex).</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𝑉</m:t>
                        </m:r>
                      </m:num>
                      <m:den>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4</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Faces: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𝐷</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𝐷</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𝐷</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$S_1,S_2,S_3,S_4$</a:t>
                </a:r>
                <a:r>
                  <a:rPr sz="2400" b="0">
                    <a:solidFill>
                      <a:srgbClr val="111827"/>
                    </a:solidFill>
                    <a:latin typeface="Arial"/>
                  </a:rPr>
                  <a:t> are the areas of the four faces, then </a:t>
                </a:r>
                <a:r>
                  <a:rPr lang="en-IN" sz="2400">
                    <a:solidFill>
                      <a:srgbClr val="111827"/>
                    </a:solidFill>
                    <a:latin typeface="Cambria Math" panose="02040503050406030204" pitchFamily="18" charset="0"/>
                  </a:rPr>
                  <a:t>$\frac13r(S_1+S_2+S_3+S_4)=V$</a:t>
                </a:r>
                <a:r>
                  <a:rPr sz="2400" b="0">
                    <a:solidFill>
                      <a:srgbClr val="111827"/>
                    </a:solidFill>
                    <a:latin typeface="Arial"/>
                  </a:rPr>
                  <a:t> (the tetrahedron splits into four pyramids of height </a:t>
                </a:r>
                <a:r>
                  <a:rPr lang="en-IN" sz="2400">
                    <a:solidFill>
                      <a:srgbClr val="111827"/>
                    </a:solidFill>
                    <a:latin typeface="Cambria Math" panose="02040503050406030204" pitchFamily="18" charset="0"/>
                  </a:rPr>
                  <a:t>$r$</a:t>
                </a:r>
                <a:r>
                  <a:rPr sz="2400" b="0">
                    <a:solidFill>
                      <a:srgbClr val="111827"/>
                    </a:solidFill>
                    <a:latin typeface="Arial"/>
                  </a:rPr>
                  <a:t> with the centre as apex).</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$r=\frac{3V}{S_1+S_2+S_3+S_4}$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Faces: </a:t>
                </a:r>
                <a:r>
                  <a:rPr lang="en-IN" sz="2400">
                    <a:solidFill>
                      <a:srgbClr val="111827"/>
                    </a:solidFill>
                    <a:latin typeface="Cambria Math" panose="02040503050406030204" pitchFamily="18" charset="0"/>
                  </a:rPr>
                  <a:t>$S_1=\frac12\cdot6\cdot4=12$</a:t>
                </a:r>
                <a:r>
                  <a:rPr sz="2400" b="0">
                    <a:solidFill>
                      <a:srgbClr val="111827"/>
                    </a:solidFill>
                    <a:latin typeface="Arial"/>
                  </a:rPr>
                  <a:t> (</a:t>
                </a:r>
                <a:r>
                  <a:rPr lang="en-IN" sz="2400">
                    <a:solidFill>
                      <a:srgbClr val="111827"/>
                    </a:solidFill>
                    <a:latin typeface="Cambria Math" panose="02040503050406030204" pitchFamily="18" charset="0"/>
                  </a:rPr>
                  <a:t>$DAB$</a:t>
                </a:r>
                <a:r>
                  <a:rPr sz="2400" b="0">
                    <a:solidFill>
                      <a:srgbClr val="111827"/>
                    </a:solidFill>
                    <a:latin typeface="Arial"/>
                  </a:rPr>
                  <a:t>), </a:t>
                </a:r>
                <a:r>
                  <a:rPr lang="en-IN" sz="2400">
                    <a:solidFill>
                      <a:srgbClr val="111827"/>
                    </a:solidFill>
                    <a:latin typeface="Cambria Math" panose="02040503050406030204" pitchFamily="18" charset="0"/>
                  </a:rPr>
                  <a:t>$S_2=\frac12\cdot4\cdot2=4$</a:t>
                </a:r>
                <a:r>
                  <a:rPr sz="2400" b="0">
                    <a:solidFill>
                      <a:srgbClr val="111827"/>
                    </a:solidFill>
                    <a:latin typeface="Arial"/>
                  </a:rPr>
                  <a:t> (</a:t>
                </a:r>
                <a:r>
                  <a:rPr lang="en-IN" sz="2400">
                    <a:solidFill>
                      <a:srgbClr val="111827"/>
                    </a:solidFill>
                    <a:latin typeface="Cambria Math" panose="02040503050406030204" pitchFamily="18" charset="0"/>
                  </a:rPr>
                  <a:t>$DBC$</a:t>
                </a:r>
                <a:r>
                  <a:rPr sz="2400" b="0">
                    <a:solidFill>
                      <a:srgbClr val="111827"/>
                    </a:solidFill>
                    <a:latin typeface="Arial"/>
                  </a:rPr>
                  <a:t>), </a:t>
                </a:r>
                <a:r>
                  <a:rPr lang="en-IN" sz="2400">
                    <a:solidFill>
                      <a:srgbClr val="111827"/>
                    </a:solidFill>
                    <a:latin typeface="Cambria Math" panose="02040503050406030204" pitchFamily="18" charset="0"/>
                  </a:rPr>
                  <a:t>$S_3=\frac12\cdot6\cdot2=6$</a:t>
                </a:r>
                <a:r>
                  <a:rPr sz="2400" b="0">
                    <a:solidFill>
                      <a:srgbClr val="111827"/>
                    </a:solidFill>
                    <a:latin typeface="Arial"/>
                  </a:rPr>
                  <a:t> (</a:t>
                </a:r>
                <a:r>
                  <a:rPr lang="en-IN" sz="2400">
                    <a:solidFill>
                      <a:srgbClr val="111827"/>
                    </a:solidFill>
                    <a:latin typeface="Cambria Math" panose="02040503050406030204" pitchFamily="18" charset="0"/>
                  </a:rPr>
                  <a:t>$DAC$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magnitude </a:t>
                </a:r>
                <a14:m>
                  <m:oMath xmlns:m="http://schemas.openxmlformats.org/officeDocument/2006/math">
                    <m:r>
                      <a:rPr lang="en-IN" sz="2400" i="1">
                        <a:solidFill>
                          <a:srgbClr val="111827"/>
                        </a:solidFill>
                        <a:latin typeface="Cambria Math" panose="02040503050406030204" pitchFamily="18" charset="0"/>
                      </a:rPr>
                      <m:t>28</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24</m:t>
                        </m:r>
                      </m:num>
                      <m:den>
                        <m:r>
                          <a:rPr lang="en-IN" sz="2400" i="1">
                            <a:solidFill>
                              <a:srgbClr val="111827"/>
                            </a:solidFill>
                            <a:latin typeface="Cambria Math" panose="02040503050406030204" pitchFamily="18" charset="0"/>
                          </a:rPr>
                          <m:t>36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$\overrightarrow{AB}\times\overrightarrow{AC}=(-6,4,0)\times(-6,0,2)=(8,12,24)$</a:t>
                </a:r>
                <a:r>
                  <a:rPr sz="2400" b="0">
                    <a:solidFill>
                      <a:srgbClr val="111827"/>
                    </a:solidFill>
                    <a:latin typeface="Arial"/>
                  </a:rPr>
                  <a:t>, of magnitude </a:t>
                </a:r>
                <a:r>
                  <a:rPr lang="en-IN" sz="2400">
                    <a:solidFill>
                      <a:srgbClr val="111827"/>
                    </a:solidFill>
                    <a:latin typeface="Cambria Math" panose="02040503050406030204" pitchFamily="18" charset="0"/>
                  </a:rPr>
                  <a:t>$28$</a:t>
                </a:r>
                <a:r>
                  <a:rPr sz="2400" b="0">
                    <a:solidFill>
                      <a:srgbClr val="111827"/>
                    </a:solidFill>
                    <a:latin typeface="Arial"/>
                  </a:rPr>
                  <a:t>, so </a:t>
                </a:r>
                <a:r>
                  <a:rPr lang="en-IN" sz="2400">
                    <a:solidFill>
                      <a:srgbClr val="111827"/>
                    </a:solidFill>
                    <a:latin typeface="Cambria Math" panose="02040503050406030204" pitchFamily="18" charset="0"/>
                  </a:rPr>
                  <a:t>$S_4=\frac12\cdot28=14$</a:t>
                </a:r>
                <a:r>
                  <a:rPr sz="2400" b="0">
                    <a:solidFill>
                      <a:srgbClr val="111827"/>
                    </a:solidFill>
                    <a:latin typeface="Arial"/>
                  </a:rPr>
                  <a:t> (</a:t>
                </a:r>
                <a:r>
                  <a:rPr lang="en-IN" sz="2400">
                    <a:solidFill>
                      <a:srgbClr val="111827"/>
                    </a:solidFill>
                    <a:latin typeface="Cambria Math" panose="02040503050406030204" pitchFamily="18" charset="0"/>
                  </a:rPr>
                  <a:t>$ABC$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$V=\frac16\cdot6\cdot4\cdot2=8$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$r=\frac{3\cdot8}{12+4+6+14}=\frac{24}{36}=\frac23$</a:t>
                </a:r>
                <a:r>
                  <a:rPr sz="2400" b="0">
                    <a:solidFill>
                      <a:srgbClr val="111827"/>
                    </a:solidFill>
                    <a:latin typeface="Arial"/>
                  </a:rPr>
                  <a:t>, so </a:t>
                </a:r>
                <a:r>
                  <a:rPr lang="en-IN" sz="2400">
                    <a:solidFill>
                      <a:srgbClr val="111827"/>
                    </a:solidFill>
                    <a:latin typeface="Cambria Math" panose="02040503050406030204" pitchFamily="18" charset="0"/>
                  </a:rPr>
                  <a:t>$m+n=2+3=5$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5</a:t>
            </a:r>
            <a:endParaRPr sz="2800">
              <a:solidFill>
                <a:srgbClr val="15803D"/>
              </a:solidFill>
            </a:endParaRPr>
          </a:p>
        </p:txBody>
      </p:sp>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incentre is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(equidistant from the three coordinate planes); make its distance to the slanted face also </a:t>
                </a:r>
                <a14:m>
                  <m:oMath xmlns:m="http://schemas.openxmlformats.org/officeDocument/2006/math">
                    <m:r>
                      <a:rPr lang="en-IN" sz="2400" i="1">
                        <a:solidFill>
                          <a:srgbClr val="78350F"/>
                        </a:solidFill>
                        <a:latin typeface="Cambria Math" panose="02040503050406030204" pitchFamily="18" charset="0"/>
                      </a:rPr>
                      <m:t>𝑟</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incentre is </a:t>
                </a:r>
                <a:r>
                  <a:rPr lang="en-IN" sz="2400">
                    <a:solidFill>
                      <a:srgbClr val="78350F"/>
                    </a:solidFill>
                    <a:latin typeface="Cambria Math" panose="02040503050406030204" pitchFamily="18" charset="0"/>
                  </a:rPr>
                  <a:t>$(r,r,r)$</a:t>
                </a:r>
                <a:r>
                  <a:rPr sz="2400" b="0">
                    <a:solidFill>
                      <a:srgbClr val="78350F"/>
                    </a:solidFill>
                    <a:latin typeface="Arial"/>
                  </a:rPr>
                  <a:t> (equidistant from the three coordinate planes); make its distance to the slanted face also </a:t>
                </a:r>
                <a:r>
                  <a:rPr lang="en-IN" sz="2400">
                    <a:solidFill>
                      <a:srgbClr val="78350F"/>
                    </a:solidFill>
                    <a:latin typeface="Cambria Math" panose="02040503050406030204" pitchFamily="18" charset="0"/>
                  </a:rPr>
                  <a:t>$r$</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face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incentre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inside, so the distance to this face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𝑟</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a:rPr lang="en-IN" sz="2400" i="1">
                            <a:solidFill>
                              <a:srgbClr val="111827"/>
                            </a:solidFill>
                            <a:latin typeface="Cambria Math" panose="02040503050406030204" pitchFamily="18" charset="0"/>
                          </a:rPr>
                          <m:t>𝑟</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Setting this equal to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18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face </a:t>
                </a:r>
                <a:r>
                  <a:rPr lang="en-IN" sz="2400">
                    <a:solidFill>
                      <a:srgbClr val="111827"/>
                    </a:solidFill>
                    <a:latin typeface="Cambria Math" panose="02040503050406030204" pitchFamily="18" charset="0"/>
                  </a:rPr>
                  <a:t>$ABC$</a:t>
                </a:r>
                <a:r>
                  <a:rPr sz="2400" b="0">
                    <a:solidFill>
                      <a:srgbClr val="111827"/>
                    </a:solidFill>
                    <a:latin typeface="Arial"/>
                  </a:rPr>
                  <a:t> is </a:t>
                </a:r>
                <a:r>
                  <a:rPr lang="en-IN" sz="2400">
                    <a:solidFill>
                      <a:srgbClr val="111827"/>
                    </a:solidFill>
                    <a:latin typeface="Cambria Math" panose="02040503050406030204" pitchFamily="18" charset="0"/>
                  </a:rPr>
                  <a:t>$\frac x6+\frac y4+\frac z2=1$</a:t>
                </a:r>
                <a:r>
                  <a:rPr sz="2400" b="0">
                    <a:solidFill>
                      <a:srgbClr val="111827"/>
                    </a:solidFill>
                    <a:latin typeface="Arial"/>
                  </a:rPr>
                  <a:t>, i.e. </a:t>
                </a:r>
                <a:r>
                  <a:rPr lang="en-IN" sz="2400">
                    <a:solidFill>
                      <a:srgbClr val="111827"/>
                    </a:solidFill>
                    <a:latin typeface="Cambria Math" panose="02040503050406030204" pitchFamily="18" charset="0"/>
                  </a:rPr>
                  <a:t>$2x+3y+6z=12$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incentre </a:t>
                </a:r>
                <a:r>
                  <a:rPr lang="en-IN" sz="2400">
                    <a:solidFill>
                      <a:srgbClr val="111827"/>
                    </a:solidFill>
                    <a:latin typeface="Cambria Math" panose="02040503050406030204" pitchFamily="18" charset="0"/>
                  </a:rPr>
                  <a:t>$(r,r,r)$</a:t>
                </a:r>
                <a:r>
                  <a:rPr sz="2400" b="0">
                    <a:solidFill>
                      <a:srgbClr val="111827"/>
                    </a:solidFill>
                    <a:latin typeface="Arial"/>
                  </a:rPr>
                  <a:t> is inside, so the distance to this face is </a:t>
                </a:r>
                <a:r>
                  <a:rPr lang="en-IN" sz="2400">
                    <a:solidFill>
                      <a:srgbClr val="111827"/>
                    </a:solidFill>
                    <a:latin typeface="Cambria Math" panose="02040503050406030204" pitchFamily="18" charset="0"/>
                  </a:rPr>
                  <a:t>$\frac{12-2r-3r-6r}{\sqrt{4+9+36}}=\frac{12-11r}{7}$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Setting this equal to </a:t>
                </a:r>
                <a:r>
                  <a:rPr lang="en-IN" sz="2400">
                    <a:solidFill>
                      <a:srgbClr val="111827"/>
                    </a:solidFill>
                    <a:latin typeface="Cambria Math" panose="02040503050406030204" pitchFamily="18" charset="0"/>
                  </a:rPr>
                  <a:t>$r$</a:t>
                </a:r>
                <a:r>
                  <a:rPr sz="2400" b="0">
                    <a:solidFill>
                      <a:srgbClr val="111827"/>
                    </a:solidFill>
                    <a:latin typeface="Arial"/>
                  </a:rPr>
                  <a:t>: </a:t>
                </a:r>
                <a:r>
                  <a:rPr lang="en-IN" sz="2400">
                    <a:solidFill>
                      <a:srgbClr val="111827"/>
                    </a:solidFill>
                    <a:latin typeface="Cambria Math" panose="02040503050406030204" pitchFamily="18" charset="0"/>
                  </a:rPr>
                  <a:t>$12-11r=7r\Rightarrow r=\frac{12}{18}=\frac23$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$m+n=5$</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5</a:t>
            </a:r>
            <a:endParaRPr sz="2800">
              <a:solidFill>
                <a:srgbClr val="15803D"/>
              </a:solidFill>
            </a:endParaRP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Inradius of a tetrahedron: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𝑉</m:t>
                        </m:r>
                      </m:num>
                      <m:den>
                        <m:r>
                          <a:rPr lang="en-IN" sz="2400" i="1">
                            <a:solidFill>
                              <a:srgbClr val="111827"/>
                            </a:solidFill>
                            <a:latin typeface="Cambria Math" panose="02040503050406030204" pitchFamily="18" charset="0"/>
                          </a:rPr>
                          <m:t>𝑆</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is the total surface area (the 3D analogue of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Δ</m:t>
                        </m:r>
                      </m:num>
                      <m:den>
                        <m:r>
                          <a:rPr lang="en-IN" sz="2400" i="1">
                            <a:solidFill>
                              <a:srgbClr val="111827"/>
                            </a:solidFill>
                            <a:latin typeface="Cambria Math" panose="02040503050406030204" pitchFamily="18" charset="0"/>
                          </a:rPr>
                          <m:t>𝑠</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right-corner tetrahedron with legs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e>
                        </m:rad>
                      </m:den>
                    </m:f>
                  </m:oMath>
                </a14:m>
                <a:r>
                  <a:rPr sz="2400" b="0">
                    <a:solidFill>
                      <a:srgbClr val="111827"/>
                    </a:solidFill>
                    <a:latin typeface="Arial"/>
                  </a:rPr>
                  <a:t>; here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48</m:t>
                        </m:r>
                      </m:num>
                      <m:den>
                        <m:r>
                          <a:rPr lang="en-IN" sz="2400" i="1">
                            <a:solidFill>
                              <a:srgbClr val="111827"/>
                            </a:solidFill>
                            <a:latin typeface="Cambria Math" panose="02040503050406030204" pitchFamily="18" charset="0"/>
                          </a:rPr>
                          <m:t>44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incentre of such a tetrahedron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because it is equidistant from the three coordinate planes.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Inradius of a tetrahedron: </a:t>
                </a:r>
                <a:r>
                  <a:rPr lang="en-IN" sz="2400">
                    <a:solidFill>
                      <a:srgbClr val="111827"/>
                    </a:solidFill>
                    <a:latin typeface="Cambria Math" panose="02040503050406030204" pitchFamily="18" charset="0"/>
                  </a:rPr>
                  <a:t>$r=\frac{3V}{S}$</a:t>
                </a:r>
                <a:r>
                  <a:rPr sz="2400" b="0">
                    <a:solidFill>
                      <a:srgbClr val="111827"/>
                    </a:solidFill>
                    <a:latin typeface="Arial"/>
                  </a:rPr>
                  <a:t> where </a:t>
                </a:r>
                <a:r>
                  <a:rPr lang="en-IN" sz="2400">
                    <a:solidFill>
                      <a:srgbClr val="111827"/>
                    </a:solidFill>
                    <a:latin typeface="Cambria Math" panose="02040503050406030204" pitchFamily="18" charset="0"/>
                  </a:rPr>
                  <a:t>$S$</a:t>
                </a:r>
                <a:r>
                  <a:rPr sz="2400" b="0">
                    <a:solidFill>
                      <a:srgbClr val="111827"/>
                    </a:solidFill>
                    <a:latin typeface="Arial"/>
                  </a:rPr>
                  <a:t> is the total surface area (the 3D analogue of </a:t>
                </a:r>
                <a:r>
                  <a:rPr lang="en-IN" sz="2400">
                    <a:solidFill>
                      <a:srgbClr val="111827"/>
                    </a:solidFill>
                    <a:latin typeface="Cambria Math" panose="02040503050406030204" pitchFamily="18" charset="0"/>
                  </a:rPr>
                  <a:t>$r=\frac{\Delta}{s}$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right-corner tetrahedron with legs </a:t>
                </a:r>
                <a:r>
                  <a:rPr lang="en-IN" sz="2400">
                    <a:solidFill>
                      <a:srgbClr val="111827"/>
                    </a:solidFill>
                    <a:latin typeface="Cambria Math" panose="02040503050406030204" pitchFamily="18" charset="0"/>
                  </a:rPr>
                  <a:t>$a,b,c$</a:t>
                </a:r>
                <a:r>
                  <a:rPr sz="2400" b="0">
                    <a:solidFill>
                      <a:srgbClr val="111827"/>
                    </a:solidFill>
                    <a:latin typeface="Arial"/>
                  </a:rPr>
                  <a:t>: </a:t>
                </a:r>
                <a:r>
                  <a:rPr lang="en-IN" sz="2400">
                    <a:solidFill>
                      <a:srgbClr val="111827"/>
                    </a:solidFill>
                    <a:latin typeface="Cambria Math" panose="02040503050406030204" pitchFamily="18" charset="0"/>
                  </a:rPr>
                  <a:t>$r=\frac{abc}{ab+bc+ca+\sqrt{a^2b^2+b^2c^2+c^2a^2}}$</a:t>
                </a:r>
                <a:r>
                  <a:rPr sz="2400" b="0">
                    <a:solidFill>
                      <a:srgbClr val="111827"/>
                    </a:solidFill>
                    <a:latin typeface="Arial"/>
                  </a:rPr>
                  <a:t>; here </a:t>
                </a:r>
                <a:r>
                  <a:rPr lang="en-IN" sz="2400">
                    <a:solidFill>
                      <a:srgbClr val="111827"/>
                    </a:solidFill>
                    <a:latin typeface="Cambria Math" panose="02040503050406030204" pitchFamily="18" charset="0"/>
                  </a:rPr>
                  <a:t>$\frac{48}{44+28}=\frac23$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incentre of such a tetrahedron is </a:t>
                </a:r>
                <a:r>
                  <a:rPr lang="en-IN" sz="2400">
                    <a:solidFill>
                      <a:srgbClr val="111827"/>
                    </a:solidFill>
                    <a:latin typeface="Cambria Math" panose="02040503050406030204" pitchFamily="18" charset="0"/>
                  </a:rPr>
                  <a:t>$(r,r,r)$</a:t>
                </a:r>
                <a:r>
                  <a:rPr sz="2400" b="0">
                    <a:solidFill>
                      <a:srgbClr val="111827"/>
                    </a:solidFill>
                    <a:latin typeface="Arial"/>
                  </a:rPr>
                  <a:t> because it is equidistant from the three coordinate planes.</a:t>
                </a:r>
                <a:endParaRPr sz="2400">
                  <a:solidFill>
                    <a:srgbClr val="111827"/>
                  </a:solidFill>
                </a:endParaRPr>
              </a:p>
            </p:txBody>
          </p:sp>
        </mc:Fallback>
      </mc:AlternateContent>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&amp;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are non-zero real numbers such that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β</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γ</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the value of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𝑥</m:t>
                            </m:r>
                          </m:den>
                        </m:f>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γ</m:t>
                            </m:r>
                            <m:r>
                              <a:rPr lang="en-IN" sz="2400" i="1">
                                <a:solidFill>
                                  <a:srgbClr val="111827"/>
                                </a:solidFill>
                                <a:latin typeface="Cambria Math" panose="02040503050406030204" pitchFamily="18" charset="0"/>
                              </a:rPr>
                              <m:t>𝑦</m:t>
                            </m:r>
                          </m:den>
                        </m:f>
                      </m:e>
                    </m:rad>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$\alpha,\beta,\gamma$</a:t>
                </a:r>
                <a:r>
                  <a:rPr sz="2400" b="0">
                    <a:solidFill>
                      <a:srgbClr val="111827"/>
                    </a:solidFill>
                    <a:latin typeface="Arial"/>
                  </a:rPr>
                  <a:t> &amp; </a:t>
                </a:r>
                <a:r>
                  <a:rPr lang="en-IN" sz="2400">
                    <a:solidFill>
                      <a:srgbClr val="111827"/>
                    </a:solidFill>
                    <a:latin typeface="Cambria Math" panose="02040503050406030204" pitchFamily="18" charset="0"/>
                  </a:rPr>
                  <a:t>$x,y,z$</a:t>
                </a:r>
                <a:r>
                  <a:rPr sz="2400" b="0">
                    <a:solidFill>
                      <a:srgbClr val="111827"/>
                    </a:solidFill>
                    <a:latin typeface="Arial"/>
                  </a:rPr>
                  <a:t> are non-zero real numbers such that </a:t>
                </a:r>
                <a:r>
                  <a:rPr lang="en-IN" sz="2400">
                    <a:solidFill>
                      <a:srgbClr val="111827"/>
                    </a:solidFill>
                    <a:latin typeface="Cambria Math" panose="02040503050406030204" pitchFamily="18" charset="0"/>
                  </a:rPr>
                  <a:t>$(\alpha x+\beta y+\gamma z)+\sqrt{(\alpha^2+\beta^2+\gamma^2)(x^2+y^2+z^2)}=0$</a:t>
                </a:r>
                <a:r>
                  <a:rPr sz="2400" b="0">
                    <a:solidFill>
                      <a:srgbClr val="111827"/>
                    </a:solidFill>
                    <a:latin typeface="Arial"/>
                  </a:rPr>
                  <a:t>, then the value of </a:t>
                </a:r>
                <a:r>
                  <a:rPr lang="en-IN" sz="2400">
                    <a:solidFill>
                      <a:srgbClr val="111827"/>
                    </a:solidFill>
                    <a:latin typeface="Cambria Math" panose="02040503050406030204" pitchFamily="18" charset="0"/>
                  </a:rPr>
                  <a:t>$\sqrt{\frac{\alpha y}{\beta x}}+\sqrt{\frac{\beta z}{\gamma y}}$</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4108196"/>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Cauchy-Schwarz equality case for vectors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condition says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γ</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the vectors are anti-parallel.</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condition says </a:t>
                </a:r>
                <a:r>
                  <a:rPr lang="en-IN" sz="2400">
                    <a:solidFill>
                      <a:srgbClr val="78350F"/>
                    </a:solidFill>
                    <a:latin typeface="Cambria Math" panose="02040503050406030204" pitchFamily="18" charset="0"/>
                  </a:rPr>
                  <a:t>$\vec p\cdot\vec q=-|\vec p||\vec q|$</a:t>
                </a:r>
                <a:r>
                  <a:rPr sz="2400" b="0">
                    <a:solidFill>
                      <a:srgbClr val="78350F"/>
                    </a:solidFill>
                    <a:latin typeface="Arial"/>
                  </a:rPr>
                  <a:t> with </a:t>
                </a:r>
                <a:r>
                  <a:rPr lang="en-IN" sz="2400">
                    <a:solidFill>
                      <a:srgbClr val="78350F"/>
                    </a:solidFill>
                    <a:latin typeface="Cambria Math" panose="02040503050406030204" pitchFamily="18" charset="0"/>
                  </a:rPr>
                  <a:t>$\vec p=(\alpha,\beta,\gamma)$</a:t>
                </a:r>
                <a:r>
                  <a:rPr sz="2400" b="0">
                    <a:solidFill>
                      <a:srgbClr val="78350F"/>
                    </a:solidFill>
                    <a:latin typeface="Arial"/>
                  </a:rPr>
                  <a:t>, </a:t>
                </a:r>
                <a:r>
                  <a:rPr lang="en-IN" sz="2400">
                    <a:solidFill>
                      <a:srgbClr val="78350F"/>
                    </a:solidFill>
                    <a:latin typeface="Cambria Math" panose="02040503050406030204" pitchFamily="18" charset="0"/>
                  </a:rPr>
                  <a:t>$\vec q=(x,y,z)$</a:t>
                </a:r>
                <a:r>
                  <a:rPr sz="2400" b="0">
                    <a:solidFill>
                      <a:srgbClr val="78350F"/>
                    </a:solidFill>
                    <a:latin typeface="Arial"/>
                  </a:rPr>
                  <a:t>: the vectors are anti-parallel.</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condition is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are anti-parallel.</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 p=\alpha\hat i+\beta\hat j+\gamma\hat k$</a:t>
                </a:r>
                <a:r>
                  <a:rPr sz="2400" b="0">
                    <a:solidFill>
                      <a:srgbClr val="111827"/>
                    </a:solidFill>
                    <a:latin typeface="Arial"/>
                  </a:rPr>
                  <a:t> and </a:t>
                </a:r>
                <a:r>
                  <a:rPr lang="en-IN" sz="2400">
                    <a:solidFill>
                      <a:srgbClr val="111827"/>
                    </a:solidFill>
                    <a:latin typeface="Cambria Math" panose="02040503050406030204" pitchFamily="18" charset="0"/>
                  </a:rPr>
                  <a:t>$\vec q=x\hat i+y\hat j+z\hat 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condition is </a:t>
                </a:r>
                <a:r>
                  <a:rPr lang="en-IN" sz="2400">
                    <a:solidFill>
                      <a:srgbClr val="111827"/>
                    </a:solidFill>
                    <a:latin typeface="Cambria Math" panose="02040503050406030204" pitchFamily="18" charset="0"/>
                  </a:rPr>
                  <a:t>$\vec p\cdot\vec q+|\vec p||\vec q|=0$</a:t>
                </a:r>
                <a:r>
                  <a:rPr sz="2400" b="0">
                    <a:solidFill>
                      <a:srgbClr val="111827"/>
                    </a:solidFill>
                    <a:latin typeface="Arial"/>
                  </a:rPr>
                  <a:t>, i.e. </a:t>
                </a:r>
                <a:r>
                  <a:rPr lang="en-IN" sz="2400">
                    <a:solidFill>
                      <a:srgbClr val="111827"/>
                    </a:solidFill>
                    <a:latin typeface="Cambria Math" panose="02040503050406030204" pitchFamily="18" charset="0"/>
                  </a:rPr>
                  <a:t>$\vec p\cdot\vec q=-|\vec p||\vec q|$</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$\cos\theta=-1\Rightarrow\theta=\pi$</a:t>
                </a:r>
                <a:r>
                  <a:rPr sz="2400" b="0">
                    <a:solidFill>
                      <a:srgbClr val="111827"/>
                    </a:solidFill>
                    <a:latin typeface="Arial"/>
                  </a:rPr>
                  <a:t>: </a:t>
                </a:r>
                <a:r>
                  <a:rPr lang="en-IN" sz="2400">
                    <a:solidFill>
                      <a:srgbClr val="111827"/>
                    </a:solidFill>
                    <a:latin typeface="Cambria Math" panose="02040503050406030204" pitchFamily="18" charset="0"/>
                  </a:rPr>
                  <a:t>$\vec p$</a:t>
                </a:r>
                <a:r>
                  <a:rPr sz="2400" b="0">
                    <a:solidFill>
                      <a:srgbClr val="111827"/>
                    </a:solidFill>
                    <a:latin typeface="Arial"/>
                  </a:rPr>
                  <a:t> and </a:t>
                </a:r>
                <a:r>
                  <a:rPr lang="en-IN" sz="2400">
                    <a:solidFill>
                      <a:srgbClr val="111827"/>
                    </a:solidFill>
                    <a:latin typeface="Cambria Math" panose="02040503050406030204" pitchFamily="18" charset="0"/>
                  </a:rPr>
                  <a:t>$\vec q$</a:t>
                </a:r>
                <a:r>
                  <a:rPr sz="2400" b="0">
                    <a:solidFill>
                      <a:srgbClr val="111827"/>
                    </a:solidFill>
                    <a:latin typeface="Arial"/>
                  </a:rPr>
                  <a:t> are anti-parallel.</a:t>
                </a:r>
                <a:endParaRPr sz="2400">
                  <a:solidFill>
                    <a:srgbClr val="111827"/>
                  </a:solidFill>
                </a:endParaRPr>
              </a:p>
            </p:txBody>
          </p:sp>
        </mc:Fallback>
      </mc:AlternateContent>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β</m:t>
                        </m:r>
                      </m:num>
                      <m:den>
                        <m:r>
                          <a:rPr lang="en-IN" sz="2400" i="1">
                            <a:solidFill>
                              <a:srgbClr val="111827"/>
                            </a:solidFill>
                            <a:latin typeface="Cambria Math" panose="02040503050406030204" pitchFamily="18" charset="0"/>
                          </a:rPr>
                          <m:t>𝑦</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γ</m:t>
                        </m:r>
                      </m:num>
                      <m:den>
                        <m:r>
                          <a:rPr lang="en-IN" sz="2400" i="1">
                            <a:solidFill>
                              <a:srgbClr val="111827"/>
                            </a:solidFill>
                            <a:latin typeface="Cambria Math" panose="02040503050406030204" pitchFamily="18" charset="0"/>
                          </a:rPr>
                          <m:t>𝑧</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(say), i.e.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𝑧</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γ</m:t>
                        </m:r>
                        <m:r>
                          <a:rPr lang="en-IN" sz="2400" i="1">
                            <a:solidFill>
                              <a:srgbClr val="111827"/>
                            </a:solidFill>
                            <a:latin typeface="Cambria Math" panose="02040503050406030204" pitchFamily="18" charset="0"/>
                          </a:rPr>
                          <m:t>𝑦</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𝑧</m:t>
                        </m:r>
                        <m:r>
                          <a:rPr lang="en-IN" sz="2400" i="1">
                            <a:solidFill>
                              <a:srgbClr val="111827"/>
                            </a:solidFill>
                            <a:latin typeface="Cambria Math" panose="02040503050406030204" pitchFamily="18" charset="0"/>
                          </a:rPr>
                          <m:t>𝑦</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$\frac\alpha x=\frac\beta y=\frac\gamma z=k$</a:t>
                </a:r>
                <a:r>
                  <a:rPr sz="2400" b="0">
                    <a:solidFill>
                      <a:srgbClr val="111827"/>
                    </a:solidFill>
                    <a:latin typeface="Arial"/>
                  </a:rPr>
                  <a:t> (say), i.e. </a:t>
                </a:r>
                <a:r>
                  <a:rPr lang="en-IN" sz="2400">
                    <a:solidFill>
                      <a:srgbClr val="111827"/>
                    </a:solidFill>
                    <a:latin typeface="Cambria Math" panose="02040503050406030204" pitchFamily="18" charset="0"/>
                  </a:rPr>
                  <a:t>$\alpha=kx,\ \beta=ky,\ \gamma=kz$</a:t>
                </a:r>
                <a:r>
                  <a:rPr sz="2400" b="0">
                    <a:solidFill>
                      <a:srgbClr val="111827"/>
                    </a:solidFill>
                    <a:latin typeface="Arial"/>
                  </a:rPr>
                  <a:t> (with </a:t>
                </a:r>
                <a:r>
                  <a:rPr lang="en-IN" sz="2400">
                    <a:solidFill>
                      <a:srgbClr val="111827"/>
                    </a:solidFill>
                    <a:latin typeface="Cambria Math" panose="02040503050406030204" pitchFamily="18" charset="0"/>
                  </a:rPr>
                  <a:t>$k&lt;0$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$\frac{\alpha y}{\beta x}=\frac{kxy}{kyx}=1$</a:t>
                </a:r>
                <a:r>
                  <a:rPr sz="2400" b="0">
                    <a:solidFill>
                      <a:srgbClr val="111827"/>
                    </a:solidFill>
                    <a:latin typeface="Arial"/>
                  </a:rPr>
                  <a:t> and </a:t>
                </a:r>
                <a:r>
                  <a:rPr lang="en-IN" sz="2400">
                    <a:solidFill>
                      <a:srgbClr val="111827"/>
                    </a:solidFill>
                    <a:latin typeface="Cambria Math" panose="02040503050406030204" pitchFamily="18" charset="0"/>
                  </a:rPr>
                  <a:t>$\frac{\beta z}{\gamma y}=\frac{kyz}{kzy}=1$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$\sqrt1+\sqrt1=2$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2</a:t>
            </a:r>
            <a:endParaRPr sz="2800">
              <a:solidFill>
                <a:srgbClr val="15803D"/>
              </a:solidFill>
            </a:endParaRPr>
          </a:p>
        </p:txBody>
      </p:sp>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Square the condition and use Lagrange's identity: the sum of three squares must vanish.</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condition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β</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γ</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Lagrange's identity: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β</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γ</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condition gives </a:t>
                </a:r>
                <a:r>
                  <a:rPr lang="en-IN" sz="2400">
                    <a:solidFill>
                      <a:srgbClr val="111827"/>
                    </a:solidFill>
                    <a:latin typeface="Cambria Math" panose="02040503050406030204" pitchFamily="18" charset="0"/>
                  </a:rPr>
                  <a:t>$(\alpha x+\beta y+\gamma z)^2=(\alpha^2+\beta^2+\gamma^2)(x^2+y^2+z^2)$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Lagrange's identity: </a:t>
                </a:r>
                <a:r>
                  <a:rPr lang="en-IN" sz="2400">
                    <a:solidFill>
                      <a:srgbClr val="111827"/>
                    </a:solidFill>
                    <a:latin typeface="Cambria Math" panose="02040503050406030204" pitchFamily="18" charset="0"/>
                  </a:rPr>
                  <a:t>$(\alpha^2+\beta^2+\gamma^2)(x^2+y^2+z^2)-(\alpha x+\beta y+\gamma z)^2=(\alpha y-\beta x)^2+(\beta z-\gamma y)^2+(\gamma x-\alpha z)^2$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γ</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𝑧</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γ</m:t>
                        </m:r>
                        <m:r>
                          <a:rPr lang="en-IN" sz="2400" i="1">
                            <a:solidFill>
                              <a:srgbClr val="111827"/>
                            </a:solidFill>
                            <a:latin typeface="Cambria Math" panose="02040503050406030204" pitchFamily="18" charset="0"/>
                          </a:rPr>
                          <m:t>𝑦</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the value is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$\alpha y=\beta x$</a:t>
                </a:r>
                <a:r>
                  <a:rPr sz="2400" b="0">
                    <a:solidFill>
                      <a:srgbClr val="111827"/>
                    </a:solidFill>
                    <a:latin typeface="Arial"/>
                  </a:rPr>
                  <a:t>, </a:t>
                </a:r>
                <a:r>
                  <a:rPr lang="en-IN" sz="2400">
                    <a:solidFill>
                      <a:srgbClr val="111827"/>
                    </a:solidFill>
                    <a:latin typeface="Cambria Math" panose="02040503050406030204" pitchFamily="18" charset="0"/>
                  </a:rPr>
                  <a:t>$\beta z=\gamma y$</a:t>
                </a:r>
                <a:r>
                  <a:rPr sz="2400" b="0">
                    <a:solidFill>
                      <a:srgbClr val="111827"/>
                    </a:solidFill>
                    <a:latin typeface="Arial"/>
                  </a:rPr>
                  <a:t>, </a:t>
                </a:r>
                <a:r>
                  <a:rPr lang="en-IN" sz="2400">
                    <a:solidFill>
                      <a:srgbClr val="111827"/>
                    </a:solidFill>
                    <a:latin typeface="Cambria Math" panose="02040503050406030204" pitchFamily="18" charset="0"/>
                  </a:rPr>
                  <a:t>$\gamma x=\alpha 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$\frac{\alpha y}{\beta x}=1$</a:t>
                </a:r>
                <a:r>
                  <a:rPr sz="2400" b="0">
                    <a:solidFill>
                      <a:srgbClr val="111827"/>
                    </a:solidFill>
                    <a:latin typeface="Arial"/>
                  </a:rPr>
                  <a:t> and </a:t>
                </a:r>
                <a:r>
                  <a:rPr lang="en-IN" sz="2400">
                    <a:solidFill>
                      <a:srgbClr val="111827"/>
                    </a:solidFill>
                    <a:latin typeface="Cambria Math" panose="02040503050406030204" pitchFamily="18" charset="0"/>
                  </a:rPr>
                  <a:t>$\frac{\beta z}{\gamma y}=1$</a:t>
                </a:r>
                <a:r>
                  <a:rPr sz="2400" b="0">
                    <a:solidFill>
                      <a:srgbClr val="111827"/>
                    </a:solidFill>
                    <a:latin typeface="Arial"/>
                  </a:rPr>
                  <a:t>, and the value is </a:t>
                </a:r>
                <a:r>
                  <a:rPr lang="en-IN" sz="2400">
                    <a:solidFill>
                      <a:srgbClr val="111827"/>
                    </a:solidFill>
                    <a:latin typeface="Cambria Math" panose="02040503050406030204" pitchFamily="18" charset="0"/>
                  </a:rPr>
                  <a:t>$1+1=2$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2</a:t>
            </a:r>
            <a:endParaRPr sz="2800">
              <a:solidFill>
                <a:srgbClr val="15803D"/>
              </a:solidFill>
            </a:endParaRPr>
          </a:p>
        </p:txBody>
      </p:sp>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iff parallel (same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iff anti-parallel; the corresponding component ratios are all equal.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Lagrange's identity: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Cauchy-Schwarz equality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𝑦</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𝑧</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p\cdot\vec q=|\vec p||\vec q|$</a:t>
                </a:r>
                <a:r>
                  <a:rPr sz="2400" b="0">
                    <a:solidFill>
                      <a:srgbClr val="111827"/>
                    </a:solidFill>
                    <a:latin typeface="Arial"/>
                  </a:rPr>
                  <a:t> iff parallel (same direction); </a:t>
                </a:r>
                <a:r>
                  <a:rPr lang="en-IN" sz="2400">
                    <a:solidFill>
                      <a:srgbClr val="111827"/>
                    </a:solidFill>
                    <a:latin typeface="Cambria Math" panose="02040503050406030204" pitchFamily="18" charset="0"/>
                  </a:rPr>
                  <a:t>$\vec p\cdot\vec q=-|\vec p||\vec q|$</a:t>
                </a:r>
                <a:r>
                  <a:rPr sz="2400" b="0">
                    <a:solidFill>
                      <a:srgbClr val="111827"/>
                    </a:solidFill>
                    <a:latin typeface="Arial"/>
                  </a:rPr>
                  <a:t> iff anti-parallel; the corresponding component ratios are all equal.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Lagrange's identity: </a:t>
                </a:r>
                <a:r>
                  <a:rPr lang="en-IN" sz="2400">
                    <a:solidFill>
                      <a:srgbClr val="111827"/>
                    </a:solidFill>
                    <a:latin typeface="Cambria Math" panose="02040503050406030204" pitchFamily="18" charset="0"/>
                  </a:rPr>
                  <a:t>$(a^2+b^2+c^2)(x^2+y^2+z^2)-(ax+by+cz)^2=(ay-bx)^2+(bz-cy)^2+(cx-az)^2$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Cauchy-Schwarz equality </a:t>
                </a:r>
                <a:r>
                  <a:rPr lang="en-IN" sz="2400">
                    <a:solidFill>
                      <a:srgbClr val="111827"/>
                    </a:solidFill>
                    <a:latin typeface="Cambria Math" panose="02040503050406030204" pitchFamily="18" charset="0"/>
                  </a:rPr>
                  <a:t>$\iff\frac ax=\frac by=\frac cz$</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1907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be the projection line of a line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on the plane </a:t>
                </a:r>
                <a14:m>
                  <m:oMath xmlns:m="http://schemas.openxmlformats.org/officeDocument/2006/math">
                    <m:r>
                      <m:rPr>
                        <m:sty m:val="p"/>
                      </m:rPr>
                      <a:rPr lang="en-IN" sz="2400">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are the points on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corresponding to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the line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which divides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externally in the ratio </a:t>
                </a:r>
                <a14:m>
                  <m:oMath xmlns:m="http://schemas.openxmlformats.org/officeDocument/2006/math">
                    <m:r>
                      <a:rPr lang="en-IN" sz="2400" i="1">
                        <a:solidFill>
                          <a:srgbClr val="111827"/>
                        </a:solidFill>
                        <a:latin typeface="Cambria Math" panose="02040503050406030204" pitchFamily="18" charset="0"/>
                      </a:rPr>
                      <m:t>31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then 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e>
                    </m:rad>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Find the least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31907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$L_1$</a:t>
                </a:r>
                <a:r>
                  <a:rPr sz="2400" b="0">
                    <a:solidFill>
                      <a:srgbClr val="111827"/>
                    </a:solidFill>
                    <a:latin typeface="Arial"/>
                  </a:rPr>
                  <a:t> be the projection line of a line </a:t>
                </a:r>
                <a:r>
                  <a:rPr lang="en-IN" sz="2400">
                    <a:solidFill>
                      <a:srgbClr val="111827"/>
                    </a:solidFill>
                    <a:latin typeface="Cambria Math" panose="02040503050406030204" pitchFamily="18" charset="0"/>
                  </a:rPr>
                  <a:t>$L:\ \frac{x-1}{4}=\frac{y+1}{1}=\frac z3$</a:t>
                </a:r>
                <a:r>
                  <a:rPr sz="2400" b="0">
                    <a:solidFill>
                      <a:srgbClr val="111827"/>
                    </a:solidFill>
                    <a:latin typeface="Arial"/>
                  </a:rPr>
                  <a:t> on the plane </a:t>
                </a:r>
                <a:r>
                  <a:rPr lang="en-IN" sz="2400">
                    <a:solidFill>
                      <a:srgbClr val="111827"/>
                    </a:solidFill>
                    <a:latin typeface="Cambria Math" panose="02040503050406030204" pitchFamily="18" charset="0"/>
                  </a:rPr>
                  <a:t>$\Pi:\ 3x-4z-2=0$</a:t>
                </a:r>
                <a:r>
                  <a:rPr sz="2400" b="0">
                    <a:solidFill>
                      <a:srgbClr val="111827"/>
                    </a:solidFill>
                    <a:latin typeface="Arial"/>
                  </a:rPr>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are the points on </a:t>
                </a:r>
                <a:r>
                  <a:rPr lang="en-IN" sz="2400">
                    <a:solidFill>
                      <a:srgbClr val="111827"/>
                    </a:solidFill>
                    <a:latin typeface="Cambria Math" panose="02040503050406030204" pitchFamily="18" charset="0"/>
                  </a:rPr>
                  <a:t>$L_1$</a:t>
                </a:r>
                <a:r>
                  <a:rPr sz="2400" b="0">
                    <a:solidFill>
                      <a:srgbClr val="111827"/>
                    </a:solidFill>
                    <a:latin typeface="Arial"/>
                  </a:rPr>
                  <a:t> corresponding to </a:t>
                </a:r>
                <a:r>
                  <a:rPr lang="en-IN" sz="2400">
                    <a:solidFill>
                      <a:srgbClr val="111827"/>
                    </a:solidFill>
                    <a:latin typeface="Cambria Math" panose="02040503050406030204" pitchFamily="18" charset="0"/>
                  </a:rPr>
                  <a:t>$A=(1,-1,0)$</a:t>
                </a:r>
                <a:r>
                  <a:rPr sz="2400" b="0">
                    <a:solidFill>
                      <a:srgbClr val="111827"/>
                    </a:solidFill>
                    <a:latin typeface="Arial"/>
                  </a:rPr>
                  <a:t> and </a:t>
                </a:r>
                <a:r>
                  <a:rPr lang="en-IN" sz="2400">
                    <a:solidFill>
                      <a:srgbClr val="111827"/>
                    </a:solidFill>
                    <a:latin typeface="Cambria Math" panose="02040503050406030204" pitchFamily="18" charset="0"/>
                  </a:rPr>
                  <a:t>$B=(5,0,3)$</a:t>
                </a:r>
                <a:r>
                  <a:rPr sz="2400" b="0">
                    <a:solidFill>
                      <a:srgbClr val="111827"/>
                    </a:solidFill>
                    <a:latin typeface="Arial"/>
                  </a:rPr>
                  <a:t> on the line </a:t>
                </a:r>
                <a:r>
                  <a:rPr lang="en-IN" sz="2400">
                    <a:solidFill>
                      <a:srgbClr val="111827"/>
                    </a:solidFill>
                    <a:latin typeface="Cambria Math" panose="02040503050406030204" pitchFamily="18" charset="0"/>
                  </a:rPr>
                  <a:t>$L$</a:t>
                </a:r>
                <a:r>
                  <a:rPr sz="2400" b="0">
                    <a:solidFill>
                      <a:srgbClr val="111827"/>
                    </a:solidFill>
                    <a:latin typeface="Arial"/>
                  </a:rPr>
                  <a:t> which divides </a:t>
                </a:r>
                <a:r>
                  <a:rPr lang="en-IN" sz="2400">
                    <a:solidFill>
                      <a:srgbClr val="111827"/>
                    </a:solidFill>
                    <a:latin typeface="Cambria Math" panose="02040503050406030204" pitchFamily="18" charset="0"/>
                  </a:rPr>
                  <a:t>$AB$</a:t>
                </a:r>
                <a:r>
                  <a:rPr sz="2400" b="0">
                    <a:solidFill>
                      <a:srgbClr val="111827"/>
                    </a:solidFill>
                    <a:latin typeface="Arial"/>
                  </a:rPr>
                  <a:t> externally in the ratio </a:t>
                </a:r>
                <a:r>
                  <a:rPr lang="en-IN" sz="2400">
                    <a:solidFill>
                      <a:srgbClr val="111827"/>
                    </a:solidFill>
                    <a:latin typeface="Cambria Math" panose="02040503050406030204" pitchFamily="18" charset="0"/>
                  </a:rPr>
                  <a:t>$31:5$</a:t>
                </a:r>
                <a:r>
                  <a:rPr sz="2400" b="0">
                    <a:solidFill>
                      <a:srgbClr val="111827"/>
                    </a:solidFill>
                    <a:latin typeface="Arial"/>
                  </a:rPr>
                  <a:t> then area of </a:t>
                </a:r>
                <a:r>
                  <a:rPr lang="en-IN" sz="2400">
                    <a:solidFill>
                      <a:srgbClr val="111827"/>
                    </a:solidFill>
                    <a:latin typeface="Cambria Math" panose="02040503050406030204" pitchFamily="18" charset="0"/>
                  </a:rPr>
                  <a:t>$\triangle PQR=\sqrt{\frac pq}$</a:t>
                </a:r>
                <a:r>
                  <a:rPr sz="2400" b="0">
                    <a:solidFill>
                      <a:srgbClr val="111827"/>
                    </a:solidFill>
                    <a:latin typeface="Arial"/>
                  </a:rPr>
                  <a:t> where </a:t>
                </a:r>
                <a:r>
                  <a:rPr lang="en-IN" sz="2400">
                    <a:solidFill>
                      <a:srgbClr val="111827"/>
                    </a:solidFill>
                    <a:latin typeface="Cambria Math" panose="02040503050406030204" pitchFamily="18" charset="0"/>
                  </a:rPr>
                  <a:t>$p,q\in N$</a:t>
                </a:r>
                <a:r>
                  <a:rPr sz="2400" b="0">
                    <a:solidFill>
                      <a:srgbClr val="111827"/>
                    </a:solidFill>
                    <a:latin typeface="Arial"/>
                  </a:rPr>
                  <a:t>. Find the least value of </a:t>
                </a:r>
                <a:r>
                  <a:rPr lang="en-IN" sz="2400">
                    <a:solidFill>
                      <a:srgbClr val="111827"/>
                    </a:solidFill>
                    <a:latin typeface="Cambria Math" panose="02040503050406030204" pitchFamily="18" charset="0"/>
                  </a:rPr>
                  <a:t>$|4p-q|$</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699508"/>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Projection of a line on a plane, Area of a triangle in 3D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𝐿</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Π</m:t>
                    </m:r>
                  </m:oMath>
                </a14:m>
                <a:r>
                  <a:rPr sz="2400" b="0">
                    <a:solidFill>
                      <a:srgbClr val="78350F"/>
                    </a:solidFill>
                    <a:latin typeface="Arial"/>
                  </a:rPr>
                  <a:t> (since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so </a:t>
                </a:r>
                <a14:m>
                  <m:oMath xmlns:m="http://schemas.openxmlformats.org/officeDocument/2006/math">
                    <m:sSub>
                      <m:e>
                        <m:r>
                          <a:rPr lang="en-IN" sz="2400" i="1">
                            <a:solidFill>
                              <a:srgbClr val="78350F"/>
                            </a:solidFill>
                            <a:latin typeface="Cambria Math" panose="02040503050406030204" pitchFamily="18" charset="0"/>
                          </a:rPr>
                          <m:t>𝐿</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𝐿</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and every point </a:t>
                </a:r>
                <a14:m>
                  <m:oMath xmlns:m="http://schemas.openxmlformats.org/officeDocument/2006/math">
                    <m:r>
                      <a:rPr lang="en-IN" sz="2400" i="1">
                        <a:solidFill>
                          <a:srgbClr val="78350F"/>
                        </a:solidFill>
                        <a:latin typeface="Cambria Math" panose="02040503050406030204" pitchFamily="18" charset="0"/>
                      </a:rPr>
                      <m:t>𝑅</m:t>
                    </m:r>
                  </m:oMath>
                </a14:m>
                <a:r>
                  <a:rPr sz="2400" b="0">
                    <a:solidFill>
                      <a:srgbClr val="78350F"/>
                    </a:solidFill>
                    <a:latin typeface="Arial"/>
                  </a:rPr>
                  <a:t> of </a:t>
                </a:r>
                <a14:m>
                  <m:oMath xmlns:m="http://schemas.openxmlformats.org/officeDocument/2006/math">
                    <m:r>
                      <a:rPr lang="en-IN" sz="2400" i="1">
                        <a:solidFill>
                          <a:srgbClr val="78350F"/>
                        </a:solidFill>
                        <a:latin typeface="Cambria Math" panose="02040503050406030204" pitchFamily="18" charset="0"/>
                      </a:rPr>
                      <m:t>𝐿</m:t>
                    </m:r>
                  </m:oMath>
                </a14:m>
                <a:r>
                  <a:rPr sz="2400" b="0">
                    <a:solidFill>
                      <a:srgbClr val="78350F"/>
                    </a:solidFill>
                    <a:latin typeface="Arial"/>
                  </a:rPr>
                  <a:t> is at the same distance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5</m:t>
                        </m:r>
                      </m:den>
                    </m:f>
                  </m:oMath>
                </a14:m>
                <a:r>
                  <a:rPr sz="2400" b="0">
                    <a:solidFill>
                      <a:srgbClr val="78350F"/>
                    </a:solidFill>
                    <a:latin typeface="Arial"/>
                  </a:rPr>
                  <a:t> from the plane.</a:t>
                </a:r>
                <a:endParaRPr sz="2400">
                  <a:solidFill>
                    <a:srgbClr val="78350F"/>
                  </a:solidFill>
                </a:endParaRPr>
              </a:p>
            </p:txBody>
          </p:sp>
        </mc:Choice>
        <mc:Fallback>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$L\parallel\Pi$</a:t>
                </a:r>
                <a:r>
                  <a:rPr sz="2400" b="0">
                    <a:solidFill>
                      <a:srgbClr val="78350F"/>
                    </a:solidFill>
                    <a:latin typeface="Arial"/>
                  </a:rPr>
                  <a:t> (since </a:t>
                </a:r>
                <a:r>
                  <a:rPr lang="en-IN" sz="2400">
                    <a:solidFill>
                      <a:srgbClr val="78350F"/>
                    </a:solidFill>
                    <a:latin typeface="Cambria Math" panose="02040503050406030204" pitchFamily="18" charset="0"/>
                  </a:rPr>
                  <a:t>$(4,1,3)\cdot(3,0,-4)=0$</a:t>
                </a:r>
                <a:r>
                  <a:rPr sz="2400" b="0">
                    <a:solidFill>
                      <a:srgbClr val="78350F"/>
                    </a:solidFill>
                    <a:latin typeface="Arial"/>
                  </a:rPr>
                  <a:t>), so </a:t>
                </a:r>
                <a:r>
                  <a:rPr lang="en-IN" sz="2400">
                    <a:solidFill>
                      <a:srgbClr val="78350F"/>
                    </a:solidFill>
                    <a:latin typeface="Cambria Math" panose="02040503050406030204" pitchFamily="18" charset="0"/>
                  </a:rPr>
                  <a:t>$L_1\parallel L$</a:t>
                </a:r>
                <a:r>
                  <a:rPr sz="2400" b="0">
                    <a:solidFill>
                      <a:srgbClr val="78350F"/>
                    </a:solidFill>
                    <a:latin typeface="Arial"/>
                  </a:rPr>
                  <a:t>, </a:t>
                </a:r>
                <a:r>
                  <a:rPr lang="en-IN" sz="2400">
                    <a:solidFill>
                      <a:srgbClr val="78350F"/>
                    </a:solidFill>
                    <a:latin typeface="Cambria Math" panose="02040503050406030204" pitchFamily="18" charset="0"/>
                  </a:rPr>
                  <a:t>$PQ=AB$</a:t>
                </a:r>
                <a:r>
                  <a:rPr sz="2400" b="0">
                    <a:solidFill>
                      <a:srgbClr val="78350F"/>
                    </a:solidFill>
                    <a:latin typeface="Arial"/>
                  </a:rPr>
                  <a:t>, and every point </a:t>
                </a:r>
                <a:r>
                  <a:rPr lang="en-IN" sz="2400">
                    <a:solidFill>
                      <a:srgbClr val="78350F"/>
                    </a:solidFill>
                    <a:latin typeface="Cambria Math" panose="02040503050406030204" pitchFamily="18" charset="0"/>
                  </a:rPr>
                  <a:t>$R$</a:t>
                </a:r>
                <a:r>
                  <a:rPr sz="2400" b="0">
                    <a:solidFill>
                      <a:srgbClr val="78350F"/>
                    </a:solidFill>
                    <a:latin typeface="Arial"/>
                  </a:rPr>
                  <a:t> of </a:t>
                </a:r>
                <a:r>
                  <a:rPr lang="en-IN" sz="2400">
                    <a:solidFill>
                      <a:srgbClr val="78350F"/>
                    </a:solidFill>
                    <a:latin typeface="Cambria Math" panose="02040503050406030204" pitchFamily="18" charset="0"/>
                  </a:rPr>
                  <a:t>$L$</a:t>
                </a:r>
                <a:r>
                  <a:rPr sz="2400" b="0">
                    <a:solidFill>
                      <a:srgbClr val="78350F"/>
                    </a:solidFill>
                    <a:latin typeface="Arial"/>
                  </a:rPr>
                  <a:t> is at the same distance </a:t>
                </a:r>
                <a:r>
                  <a:rPr lang="en-IN" sz="2400">
                    <a:solidFill>
                      <a:srgbClr val="78350F"/>
                    </a:solidFill>
                    <a:latin typeface="Cambria Math" panose="02040503050406030204" pitchFamily="18" charset="0"/>
                  </a:rPr>
                  <a:t>$\frac15$</a:t>
                </a:r>
                <a:r>
                  <a:rPr sz="2400" b="0">
                    <a:solidFill>
                      <a:srgbClr val="78350F"/>
                    </a:solidFill>
                    <a:latin typeface="Arial"/>
                  </a:rPr>
                  <a:t> from the plane.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Direction of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normal of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Hence the projection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parallel to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oMath>
                </a14:m>
                <a:r>
                  <a:rPr sz="2400" b="0">
                    <a:solidFill>
                      <a:srgbClr val="111827"/>
                    </a:solidFill>
                    <a:latin typeface="Arial"/>
                  </a:rPr>
                  <a:t> (the feet of the perpendiculars from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satisfy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Direction of </a:t>
                </a:r>
                <a:r>
                  <a:rPr lang="en-IN" sz="2400">
                    <a:solidFill>
                      <a:srgbClr val="111827"/>
                    </a:solidFill>
                    <a:latin typeface="Cambria Math" panose="02040503050406030204" pitchFamily="18" charset="0"/>
                  </a:rPr>
                  <a:t>$L$</a:t>
                </a:r>
                <a:r>
                  <a:rPr sz="2400" b="0">
                    <a:solidFill>
                      <a:srgbClr val="111827"/>
                    </a:solidFill>
                    <a:latin typeface="Arial"/>
                  </a:rPr>
                  <a:t> is </a:t>
                </a:r>
                <a:r>
                  <a:rPr lang="en-IN" sz="2400">
                    <a:solidFill>
                      <a:srgbClr val="111827"/>
                    </a:solidFill>
                    <a:latin typeface="Cambria Math" panose="02040503050406030204" pitchFamily="18" charset="0"/>
                  </a:rPr>
                  <a:t>$(4,1,3)$</a:t>
                </a:r>
                <a:r>
                  <a:rPr sz="2400" b="0">
                    <a:solidFill>
                      <a:srgbClr val="111827"/>
                    </a:solidFill>
                    <a:latin typeface="Arial"/>
                  </a:rPr>
                  <a:t> and the normal of </a:t>
                </a:r>
                <a:r>
                  <a:rPr lang="en-IN" sz="2400">
                    <a:solidFill>
                      <a:srgbClr val="111827"/>
                    </a:solidFill>
                    <a:latin typeface="Cambria Math" panose="02040503050406030204" pitchFamily="18" charset="0"/>
                  </a:rPr>
                  <a:t>$\Pi$</a:t>
                </a:r>
                <a:r>
                  <a:rPr sz="2400" b="0">
                    <a:solidFill>
                      <a:srgbClr val="111827"/>
                    </a:solidFill>
                    <a:latin typeface="Arial"/>
                  </a:rPr>
                  <a:t> is </a:t>
                </a:r>
                <a:r>
                  <a:rPr lang="en-IN" sz="2400">
                    <a:solidFill>
                      <a:srgbClr val="111827"/>
                    </a:solidFill>
                    <a:latin typeface="Cambria Math" panose="02040503050406030204" pitchFamily="18" charset="0"/>
                  </a:rPr>
                  <a:t>$(3,0,-4)$</a:t>
                </a:r>
                <a:r>
                  <a:rPr sz="2400" b="0">
                    <a:solidFill>
                      <a:srgbClr val="111827"/>
                    </a:solidFill>
                    <a:latin typeface="Arial"/>
                  </a:rPr>
                  <a:t>: </a:t>
                </a:r>
                <a:r>
                  <a:rPr lang="en-IN" sz="2400">
                    <a:solidFill>
                      <a:srgbClr val="111827"/>
                    </a:solidFill>
                    <a:latin typeface="Cambria Math" panose="02040503050406030204" pitchFamily="18" charset="0"/>
                  </a:rPr>
                  <a:t>$12+0-12=0$</a:t>
                </a:r>
                <a:r>
                  <a:rPr sz="2400" b="0">
                    <a:solidFill>
                      <a:srgbClr val="111827"/>
                    </a:solidFill>
                    <a:latin typeface="Arial"/>
                  </a:rPr>
                  <a:t>, so </a:t>
                </a:r>
                <a:r>
                  <a:rPr lang="en-IN" sz="2400">
                    <a:solidFill>
                      <a:srgbClr val="111827"/>
                    </a:solidFill>
                    <a:latin typeface="Cambria Math" panose="02040503050406030204" pitchFamily="18" charset="0"/>
                  </a:rPr>
                  <a:t>$L\parallel\Pi$</a:t>
                </a:r>
                <a:r>
                  <a:rPr sz="2400" b="0">
                    <a:solidFill>
                      <a:srgbClr val="111827"/>
                    </a:solidFill>
                    <a:latin typeface="Arial"/>
                  </a:rPr>
                  <a:t>. Hence the projection </a:t>
                </a:r>
                <a:r>
                  <a:rPr lang="en-IN" sz="2400">
                    <a:solidFill>
                      <a:srgbClr val="111827"/>
                    </a:solidFill>
                    <a:latin typeface="Cambria Math" panose="02040503050406030204" pitchFamily="18" charset="0"/>
                  </a:rPr>
                  <a:t>$L_1$</a:t>
                </a:r>
                <a:r>
                  <a:rPr sz="2400" b="0">
                    <a:solidFill>
                      <a:srgbClr val="111827"/>
                    </a:solidFill>
                    <a:latin typeface="Arial"/>
                  </a:rPr>
                  <a:t> is parallel to </a:t>
                </a:r>
                <a:r>
                  <a:rPr lang="en-IN" sz="2400">
                    <a:solidFill>
                      <a:srgbClr val="111827"/>
                    </a:solidFill>
                    <a:latin typeface="Cambria Math" panose="02040503050406030204" pitchFamily="18" charset="0"/>
                  </a:rPr>
                  <a:t>$L$</a:t>
                </a:r>
                <a:r>
                  <a:rPr sz="2400" b="0">
                    <a:solidFill>
                      <a:srgbClr val="111827"/>
                    </a:solidFill>
                    <a:latin typeface="Arial"/>
                  </a:rPr>
                  <a:t>, and </a:t>
                </a:r>
                <a:r>
                  <a:rPr lang="en-IN" sz="2400">
                    <a:solidFill>
                      <a:srgbClr val="111827"/>
                    </a:solidFill>
                    <a:latin typeface="Cambria Math" panose="02040503050406030204" pitchFamily="18" charset="0"/>
                  </a:rPr>
                  <a:t>$P,Q$</a:t>
                </a:r>
                <a:r>
                  <a:rPr sz="2400" b="0">
                    <a:solidFill>
                      <a:srgbClr val="111827"/>
                    </a:solidFill>
                    <a:latin typeface="Arial"/>
                  </a:rPr>
                  <a:t> (the feet of the perpendiculars from </a:t>
                </a:r>
                <a:r>
                  <a:rPr lang="en-IN" sz="2400">
                    <a:solidFill>
                      <a:srgbClr val="111827"/>
                    </a:solidFill>
                    <a:latin typeface="Cambria Math" panose="02040503050406030204" pitchFamily="18" charset="0"/>
                  </a:rPr>
                  <a:t>$A,B$</a:t>
                </a:r>
                <a:r>
                  <a:rPr sz="2400" b="0">
                    <a:solidFill>
                      <a:srgbClr val="111827"/>
                    </a:solidFill>
                    <a:latin typeface="Arial"/>
                  </a:rPr>
                  <a:t>) satisfy </a:t>
                </a:r>
                <a:r>
                  <a:rPr lang="en-IN" sz="2400">
                    <a:solidFill>
                      <a:srgbClr val="111827"/>
                    </a:solidFill>
                    <a:latin typeface="Cambria Math" panose="02040503050406030204" pitchFamily="18" charset="0"/>
                  </a:rPr>
                  <a:t>$PQ=AB$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$AB=|(4,1,3)|=\sqrt{26}$</a:t>
                </a:r>
                <a:r>
                  <a:rPr sz="2400" b="0">
                    <a:solidFill>
                      <a:srgbClr val="111827"/>
                    </a:solidFill>
                    <a:latin typeface="Arial"/>
                  </a:rPr>
                  <a:t>, so </a:t>
                </a:r>
                <a:r>
                  <a:rPr lang="en-IN" sz="2400">
                    <a:solidFill>
                      <a:srgbClr val="111827"/>
                    </a:solidFill>
                    <a:latin typeface="Cambria Math" panose="02040503050406030204" pitchFamily="18" charset="0"/>
                  </a:rPr>
                  <a:t>$PQ=\sqrt{26}$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is a point on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(it divides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externally in </a:t>
                </a:r>
                <a14:m>
                  <m:oMath xmlns:m="http://schemas.openxmlformats.org/officeDocument/2006/math">
                    <m:r>
                      <a:rPr lang="en-IN" sz="2400" i="1">
                        <a:solidFill>
                          <a:srgbClr val="111827"/>
                        </a:solidFill>
                        <a:latin typeface="Cambria Math" panose="02040503050406030204" pitchFamily="18" charset="0"/>
                      </a:rPr>
                      <m:t>31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All points of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are at the same distance from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foot of the perpendicular from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to </a:t>
                </a:r>
                <a14:m>
                  <m:oMath xmlns:m="http://schemas.openxmlformats.org/officeDocument/2006/math">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lies on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so the distance of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from the line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a:t>
                </a:r>
                <a:r>
                  <a:rPr sz="2400" b="0">
                    <a:solidFill>
                      <a:srgbClr val="111827"/>
                    </a:solidFill>
                    <a:latin typeface="Arial"/>
                  </a:rPr>
                  <a:t> is a point on </a:t>
                </a:r>
                <a:r>
                  <a:rPr lang="en-IN" sz="2400">
                    <a:solidFill>
                      <a:srgbClr val="111827"/>
                    </a:solidFill>
                    <a:latin typeface="Cambria Math" panose="02040503050406030204" pitchFamily="18" charset="0"/>
                  </a:rPr>
                  <a:t>$L$</a:t>
                </a:r>
                <a:r>
                  <a:rPr sz="2400" b="0">
                    <a:solidFill>
                      <a:srgbClr val="111827"/>
                    </a:solidFill>
                    <a:latin typeface="Arial"/>
                  </a:rPr>
                  <a:t> (it divides </a:t>
                </a:r>
                <a:r>
                  <a:rPr lang="en-IN" sz="2400">
                    <a:solidFill>
                      <a:srgbClr val="111827"/>
                    </a:solidFill>
                    <a:latin typeface="Cambria Math" panose="02040503050406030204" pitchFamily="18" charset="0"/>
                  </a:rPr>
                  <a:t>$AB$</a:t>
                </a:r>
                <a:r>
                  <a:rPr sz="2400" b="0">
                    <a:solidFill>
                      <a:srgbClr val="111827"/>
                    </a:solidFill>
                    <a:latin typeface="Arial"/>
                  </a:rPr>
                  <a:t> externally in </a:t>
                </a:r>
                <a:r>
                  <a:rPr lang="en-IN" sz="2400">
                    <a:solidFill>
                      <a:srgbClr val="111827"/>
                    </a:solidFill>
                    <a:latin typeface="Cambria Math" panose="02040503050406030204" pitchFamily="18" charset="0"/>
                  </a:rPr>
                  <a:t>$31:5$</a:t>
                </a:r>
                <a:r>
                  <a:rPr sz="2400" b="0">
                    <a:solidFill>
                      <a:srgbClr val="111827"/>
                    </a:solidFill>
                    <a:latin typeface="Arial"/>
                  </a:rPr>
                  <a:t>). All points of </a:t>
                </a:r>
                <a:r>
                  <a:rPr lang="en-IN" sz="2400">
                    <a:solidFill>
                      <a:srgbClr val="111827"/>
                    </a:solidFill>
                    <a:latin typeface="Cambria Math" panose="02040503050406030204" pitchFamily="18" charset="0"/>
                  </a:rPr>
                  <a:t>$L$</a:t>
                </a:r>
                <a:r>
                  <a:rPr sz="2400" b="0">
                    <a:solidFill>
                      <a:srgbClr val="111827"/>
                    </a:solidFill>
                    <a:latin typeface="Arial"/>
                  </a:rPr>
                  <a:t> are at the same distance from </a:t>
                </a:r>
                <a:r>
                  <a:rPr lang="en-IN" sz="2400">
                    <a:solidFill>
                      <a:srgbClr val="111827"/>
                    </a:solidFill>
                    <a:latin typeface="Cambria Math" panose="02040503050406030204" pitchFamily="18" charset="0"/>
                  </a:rPr>
                  <a:t>$\Pi$</a:t>
                </a:r>
                <a:r>
                  <a:rPr sz="2400" b="0">
                    <a:solidFill>
                      <a:srgbClr val="111827"/>
                    </a:solidFill>
                    <a:latin typeface="Arial"/>
                  </a:rPr>
                  <a:t>: </a:t>
                </a:r>
                <a:r>
                  <a:rPr lang="en-IN" sz="2400">
                    <a:solidFill>
                      <a:srgbClr val="111827"/>
                    </a:solidFill>
                    <a:latin typeface="Cambria Math" panose="02040503050406030204" pitchFamily="18" charset="0"/>
                  </a:rPr>
                  <a:t>$AP=\frac{|3(1)-4(0)-2|}{\sqrt{9+16}}=\frac15$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foot of the perpendicular from </a:t>
                </a:r>
                <a:r>
                  <a:rPr lang="en-IN" sz="2400">
                    <a:solidFill>
                      <a:srgbClr val="111827"/>
                    </a:solidFill>
                    <a:latin typeface="Cambria Math" panose="02040503050406030204" pitchFamily="18" charset="0"/>
                  </a:rPr>
                  <a:t>$R$</a:t>
                </a:r>
                <a:r>
                  <a:rPr sz="2400" b="0">
                    <a:solidFill>
                      <a:srgbClr val="111827"/>
                    </a:solidFill>
                    <a:latin typeface="Arial"/>
                  </a:rPr>
                  <a:t> to </a:t>
                </a:r>
                <a:r>
                  <a:rPr lang="en-IN" sz="2400">
                    <a:solidFill>
                      <a:srgbClr val="111827"/>
                    </a:solidFill>
                    <a:latin typeface="Cambria Math" panose="02040503050406030204" pitchFamily="18" charset="0"/>
                  </a:rPr>
                  <a:t>$\Pi$</a:t>
                </a:r>
                <a:r>
                  <a:rPr sz="2400" b="0">
                    <a:solidFill>
                      <a:srgbClr val="111827"/>
                    </a:solidFill>
                    <a:latin typeface="Arial"/>
                  </a:rPr>
                  <a:t> lies on </a:t>
                </a:r>
                <a:r>
                  <a:rPr lang="en-IN" sz="2400">
                    <a:solidFill>
                      <a:srgbClr val="111827"/>
                    </a:solidFill>
                    <a:latin typeface="Cambria Math" panose="02040503050406030204" pitchFamily="18" charset="0"/>
                  </a:rPr>
                  <a:t>$L_1$</a:t>
                </a:r>
                <a:r>
                  <a:rPr sz="2400" b="0">
                    <a:solidFill>
                      <a:srgbClr val="111827"/>
                    </a:solidFill>
                    <a:latin typeface="Arial"/>
                  </a:rPr>
                  <a:t>, so the distance of </a:t>
                </a:r>
                <a:r>
                  <a:rPr lang="en-IN" sz="2400">
                    <a:solidFill>
                      <a:srgbClr val="111827"/>
                    </a:solidFill>
                    <a:latin typeface="Cambria Math" panose="02040503050406030204" pitchFamily="18" charset="0"/>
                  </a:rPr>
                  <a:t>$R$</a:t>
                </a:r>
                <a:r>
                  <a:rPr sz="2400" b="0">
                    <a:solidFill>
                      <a:srgbClr val="111827"/>
                    </a:solidFill>
                    <a:latin typeface="Arial"/>
                  </a:rPr>
                  <a:t> from the line </a:t>
                </a:r>
                <a:r>
                  <a:rPr lang="en-IN" sz="2400">
                    <a:solidFill>
                      <a:srgbClr val="111827"/>
                    </a:solidFill>
                    <a:latin typeface="Cambria Math" panose="02040503050406030204" pitchFamily="18" charset="0"/>
                  </a:rPr>
                  <a:t>$PQ$</a:t>
                </a:r>
                <a:r>
                  <a:rPr sz="2400" b="0">
                    <a:solidFill>
                      <a:srgbClr val="111827"/>
                    </a:solidFill>
                    <a:latin typeface="Arial"/>
                  </a:rPr>
                  <a:t> is </a:t>
                </a:r>
                <a:r>
                  <a:rPr lang="en-IN" sz="2400">
                    <a:solidFill>
                      <a:srgbClr val="111827"/>
                    </a:solidFill>
                    <a:latin typeface="Cambria Math" panose="02040503050406030204" pitchFamily="18" charset="0"/>
                  </a:rPr>
                  <a:t>$\frac15$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num>
                      <m:den>
                        <m:r>
                          <a:rPr lang="en-IN" sz="2400" i="1">
                            <a:solidFill>
                              <a:srgbClr val="111827"/>
                            </a:solidFill>
                            <a:latin typeface="Cambria Math" panose="02040503050406030204" pitchFamily="18" charset="0"/>
                          </a:rPr>
                          <m:t>10</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26</m:t>
                            </m:r>
                          </m:num>
                          <m:den>
                            <m:r>
                              <a:rPr lang="en-IN" sz="2400" i="1">
                                <a:solidFill>
                                  <a:srgbClr val="111827"/>
                                </a:solidFill>
                                <a:latin typeface="Cambria Math" panose="02040503050406030204" pitchFamily="18" charset="0"/>
                              </a:rPr>
                              <m:t>100</m:t>
                            </m:r>
                          </m:den>
                        </m:f>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50</m:t>
                            </m:r>
                          </m:den>
                        </m:f>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50</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a:rPr lang="en-IN" sz="2400" i="1">
                        <a:solidFill>
                          <a:srgbClr val="111827"/>
                        </a:solidFill>
                        <a:latin typeface="Cambria Math" panose="02040503050406030204" pitchFamily="18" charset="0"/>
                      </a:rPr>
                      <m:t>𝑘</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oMath>
                </a14:m>
                <a:r>
                  <a:rPr sz="2400" b="0">
                    <a:solidFill>
                      <a:srgbClr val="111827"/>
                    </a:solidFill>
                    <a:latin typeface="Arial"/>
                  </a:rPr>
                  <a:t>, whose least value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of </a:t>
                </a:r>
                <a:r>
                  <a:rPr lang="en-IN" sz="2400">
                    <a:solidFill>
                      <a:srgbClr val="111827"/>
                    </a:solidFill>
                    <a:latin typeface="Cambria Math" panose="02040503050406030204" pitchFamily="18" charset="0"/>
                  </a:rPr>
                  <a:t>$\triangle PQR=\frac12\cdot PQ\cdot\frac15=\frac12\cdot\sqrt{26}\cdot\frac15=\frac{\sqrt{26}}{10}=\sqrt{\frac{26}{100}}=\sqrt{\frac{13}{50}}$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 pq=\frac{13}{50}$</a:t>
                </a:r>
                <a:r>
                  <a:rPr sz="2400" b="0">
                    <a:solidFill>
                      <a:srgbClr val="111827"/>
                    </a:solidFill>
                    <a:latin typeface="Arial"/>
                  </a:rPr>
                  <a:t>, i.e. </a:t>
                </a:r>
                <a:r>
                  <a:rPr lang="en-IN" sz="2400">
                    <a:solidFill>
                      <a:srgbClr val="111827"/>
                    </a:solidFill>
                    <a:latin typeface="Cambria Math" panose="02040503050406030204" pitchFamily="18" charset="0"/>
                  </a:rPr>
                  <a:t>$p=13k,\ q=50k$</a:t>
                </a:r>
                <a:r>
                  <a:rPr sz="2400" b="0">
                    <a:solidFill>
                      <a:srgbClr val="111827"/>
                    </a:solidFill>
                    <a:latin typeface="Arial"/>
                  </a:rPr>
                  <a:t> for </a:t>
                </a:r>
                <a:r>
                  <a:rPr lang="en-IN" sz="2400">
                    <a:solidFill>
                      <a:srgbClr val="111827"/>
                    </a:solidFill>
                    <a:latin typeface="Cambria Math" panose="02040503050406030204" pitchFamily="18" charset="0"/>
                  </a:rPr>
                  <a:t>$k\in N$</a:t>
                </a:r>
                <a:r>
                  <a:rPr sz="2400" b="0">
                    <a:solidFill>
                      <a:srgbClr val="111827"/>
                    </a:solidFill>
                    <a:latin typeface="Arial"/>
                  </a:rPr>
                  <a:t>, so </a:t>
                </a:r>
                <a:r>
                  <a:rPr lang="en-IN" sz="2400">
                    <a:solidFill>
                      <a:srgbClr val="111827"/>
                    </a:solidFill>
                    <a:latin typeface="Cambria Math" panose="02040503050406030204" pitchFamily="18" charset="0"/>
                  </a:rPr>
                  <a:t>$|4p-q|=|52k-50k|=2k$</a:t>
                </a:r>
                <a:r>
                  <a:rPr sz="2400" b="0">
                    <a:solidFill>
                      <a:srgbClr val="111827"/>
                    </a:solidFill>
                    <a:latin typeface="Arial"/>
                  </a:rPr>
                  <a:t>, whose least value is </a:t>
                </a:r>
                <a:r>
                  <a:rPr lang="en-IN" sz="2400">
                    <a:solidFill>
                      <a:srgbClr val="111827"/>
                    </a:solidFill>
                    <a:latin typeface="Cambria Math" panose="02040503050406030204" pitchFamily="18" charset="0"/>
                  </a:rPr>
                  <a:t>$2$</a:t>
                </a:r>
                <a:r>
                  <a:rPr sz="2400" b="0">
                    <a:solidFill>
                      <a:srgbClr val="111827"/>
                    </a:solidFill>
                    <a:latin typeface="Arial"/>
                  </a:rPr>
                  <a:t> (for </a:t>
                </a:r>
                <a:r>
                  <a:rPr lang="en-IN" sz="2400">
                    <a:solidFill>
                      <a:srgbClr val="111827"/>
                    </a:solidFill>
                    <a:latin typeface="Cambria Math" panose="02040503050406030204" pitchFamily="18" charset="0"/>
                  </a:rPr>
                  <a:t>$k=1$</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2</a:t>
            </a:r>
            <a:endParaRPr sz="2800">
              <a:solidFill>
                <a:srgbClr val="15803D"/>
              </a:solidFill>
            </a:endParaRPr>
          </a:p>
        </p:txBody>
      </p:sp>
    </p:spTree>
  </p:cSld>
  <p:clrMapOvr>
    <a:masterClrMapping/>
  </p:clrMapOvr>
</p:sld>
</file>

<file path=ppt/slides/slide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Compute the area with coordinates: find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 as feet of perpendiculars and take </a:t>
                </a:r>
                <a14:m>
                  <m:oMath xmlns:m="http://schemas.openxmlformats.org/officeDocument/2006/math">
                    <m:r>
                      <a:rPr lang="en-IN" sz="2400" i="1">
                        <a:solidFill>
                          <a:srgbClr val="78350F"/>
                        </a:solidFill>
                        <a:latin typeface="Cambria Math" panose="02040503050406030204" pitchFamily="18" charset="0"/>
                      </a:rPr>
                      <m:t>𝑅</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𝐴</m:t>
                    </m:r>
                  </m:oMath>
                </a14:m>
                <a:r>
                  <a:rPr sz="2400" b="0">
                    <a:solidFill>
                      <a:srgbClr val="78350F"/>
                    </a:solidFill>
                    <a:latin typeface="Arial"/>
                  </a:rPr>
                  <a:t> (any point of </a:t>
                </a:r>
                <a14:m>
                  <m:oMath xmlns:m="http://schemas.openxmlformats.org/officeDocument/2006/math">
                    <m:r>
                      <a:rPr lang="en-IN" sz="2400" i="1">
                        <a:solidFill>
                          <a:srgbClr val="78350F"/>
                        </a:solidFill>
                        <a:latin typeface="Cambria Math" panose="02040503050406030204" pitchFamily="18" charset="0"/>
                      </a:rPr>
                      <m:t>𝐿</m:t>
                    </m:r>
                  </m:oMath>
                </a14:m>
                <a:r>
                  <a:rPr sz="2400" b="0">
                    <a:solidFill>
                      <a:srgbClr val="78350F"/>
                    </a:solidFill>
                    <a:latin typeface="Arial"/>
                  </a:rPr>
                  <a:t> gives the same area).</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Compute the area with coordinates: find </a:t>
                </a:r>
                <a:r>
                  <a:rPr lang="en-IN" sz="2400">
                    <a:solidFill>
                      <a:srgbClr val="78350F"/>
                    </a:solidFill>
                    <a:latin typeface="Cambria Math" panose="02040503050406030204" pitchFamily="18" charset="0"/>
                  </a:rPr>
                  <a:t>$P$</a:t>
                </a:r>
                <a:r>
                  <a:rPr sz="2400" b="0">
                    <a:solidFill>
                      <a:srgbClr val="78350F"/>
                    </a:solidFill>
                    <a:latin typeface="Arial"/>
                  </a:rPr>
                  <a:t> and </a:t>
                </a:r>
                <a:r>
                  <a:rPr lang="en-IN" sz="2400">
                    <a:solidFill>
                      <a:srgbClr val="78350F"/>
                    </a:solidFill>
                    <a:latin typeface="Cambria Math" panose="02040503050406030204" pitchFamily="18" charset="0"/>
                  </a:rPr>
                  <a:t>$Q$</a:t>
                </a:r>
                <a:r>
                  <a:rPr sz="2400" b="0">
                    <a:solidFill>
                      <a:srgbClr val="78350F"/>
                    </a:solidFill>
                    <a:latin typeface="Arial"/>
                  </a:rPr>
                  <a:t> as feet of perpendiculars and take </a:t>
                </a:r>
                <a:r>
                  <a:rPr lang="en-IN" sz="2400">
                    <a:solidFill>
                      <a:srgbClr val="78350F"/>
                    </a:solidFill>
                    <a:latin typeface="Cambria Math" panose="02040503050406030204" pitchFamily="18" charset="0"/>
                  </a:rPr>
                  <a:t>$R=A$</a:t>
                </a:r>
                <a:r>
                  <a:rPr sz="2400" b="0">
                    <a:solidFill>
                      <a:srgbClr val="78350F"/>
                    </a:solidFill>
                    <a:latin typeface="Arial"/>
                  </a:rPr>
                  <a:t> (any point of </a:t>
                </a:r>
                <a:r>
                  <a:rPr lang="en-IN" sz="2400">
                    <a:solidFill>
                      <a:srgbClr val="78350F"/>
                    </a:solidFill>
                    <a:latin typeface="Cambria Math" panose="02040503050406030204" pitchFamily="18" charset="0"/>
                  </a:rPr>
                  <a:t>$L$</a:t>
                </a:r>
                <a:r>
                  <a:rPr sz="2400" b="0">
                    <a:solidFill>
                      <a:srgbClr val="78350F"/>
                    </a:solidFill>
                    <a:latin typeface="Arial"/>
                  </a:rPr>
                  <a:t> gives the same area).</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22</m:t>
                            </m:r>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25</m:t>
                            </m:r>
                          </m:den>
                        </m:f>
                      </m:e>
                    </m:d>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25</m:t>
                            </m:r>
                          </m:den>
                        </m:f>
                      </m:e>
                    </m:d>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Π</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a translate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$P=A-\frac{3\cdot1-4\cdot0-2}{25}(3,0,-4)=\left(\frac{22}{25},-1,\frac{4}{25}\right)$</a:t>
                </a:r>
                <a:r>
                  <a:rPr sz="2400" b="0">
                    <a:solidFill>
                      <a:srgbClr val="111827"/>
                    </a:solidFill>
                    <a:latin typeface="Arial"/>
                  </a:rPr>
                  <a:t>, so </a:t>
                </a:r>
                <a:r>
                  <a:rPr lang="en-IN" sz="2400">
                    <a:solidFill>
                      <a:srgbClr val="111827"/>
                    </a:solidFill>
                    <a:latin typeface="Cambria Math" panose="02040503050406030204" pitchFamily="18" charset="0"/>
                  </a:rPr>
                  <a:t>$\overrightarrow{AP}=\left(-\frac3{25},0,\frac4{25}\right)$</a:t>
                </a:r>
                <a:r>
                  <a:rPr sz="2400" b="0">
                    <a:solidFill>
                      <a:srgbClr val="111827"/>
                    </a:solidFill>
                    <a:latin typeface="Arial"/>
                  </a:rPr>
                  <a:t> and </a:t>
                </a:r>
                <a:r>
                  <a:rPr lang="en-IN" sz="2400">
                    <a:solidFill>
                      <a:srgbClr val="111827"/>
                    </a:solidFill>
                    <a:latin typeface="Cambria Math" panose="02040503050406030204" pitchFamily="18" charset="0"/>
                  </a:rPr>
                  <a:t>$|AP|=\frac15$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$\overrightarrow{PQ}=\overrightarrow{AB}=(4,1,3)$</a:t>
                </a:r>
                <a:r>
                  <a:rPr sz="2400" b="0">
                    <a:solidFill>
                      <a:srgbClr val="111827"/>
                    </a:solidFill>
                    <a:latin typeface="Arial"/>
                  </a:rPr>
                  <a:t> (since </a:t>
                </a:r>
                <a:r>
                  <a:rPr lang="en-IN" sz="2400">
                    <a:solidFill>
                      <a:srgbClr val="111827"/>
                    </a:solidFill>
                    <a:latin typeface="Cambria Math" panose="02040503050406030204" pitchFamily="18" charset="0"/>
                  </a:rPr>
                  <a:t>$L\parallel\Pi$</a:t>
                </a:r>
                <a:r>
                  <a:rPr sz="2400" b="0">
                    <a:solidFill>
                      <a:srgbClr val="111827"/>
                    </a:solidFill>
                    <a:latin typeface="Arial"/>
                  </a:rPr>
                  <a:t>, </a:t>
                </a:r>
                <a:r>
                  <a:rPr lang="en-IN" sz="2400">
                    <a:solidFill>
                      <a:srgbClr val="111827"/>
                    </a:solidFill>
                    <a:latin typeface="Cambria Math" panose="02040503050406030204" pitchFamily="18" charset="0"/>
                  </a:rPr>
                  <a:t>$PQ$</a:t>
                </a:r>
                <a:r>
                  <a:rPr sz="2400" b="0">
                    <a:solidFill>
                      <a:srgbClr val="111827"/>
                    </a:solidFill>
                    <a:latin typeface="Arial"/>
                  </a:rPr>
                  <a:t> is a translate of </a:t>
                </a:r>
                <a:r>
                  <a:rPr lang="en-IN" sz="2400">
                    <a:solidFill>
                      <a:srgbClr val="111827"/>
                    </a:solidFill>
                    <a:latin typeface="Cambria Math" panose="02040503050406030204" pitchFamily="18" charset="0"/>
                  </a:rPr>
                  <a:t>$AB$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𝐴</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25</m:t>
                            </m:r>
                          </m:den>
                        </m:f>
                      </m:e>
                    </m:d>
                  </m:oMath>
                </a14:m>
                <a:r>
                  <a:rPr sz="2400" b="0">
                    <a:solidFill>
                      <a:srgbClr val="111827"/>
                    </a:solidFill>
                    <a:latin typeface="Arial"/>
                  </a:rPr>
                  <a:t> has magnitude </a:t>
                </a:r>
                <a14:m>
                  <m:oMath xmlns:m="http://schemas.openxmlformats.org/officeDocument/2006/math">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26</m:t>
                            </m:r>
                          </m:e>
                        </m:rad>
                      </m:num>
                      <m:den>
                        <m:r>
                          <a:rPr lang="en-IN" sz="2400" i="1">
                            <a:solidFill>
                              <a:srgbClr val="111827"/>
                            </a:solidFill>
                            <a:latin typeface="Cambria Math" panose="02040503050406030204" pitchFamily="18" charset="0"/>
                          </a:rPr>
                          <m:t>10</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50</m:t>
                            </m:r>
                          </m:den>
                        </m:f>
                      </m:e>
                    </m:ra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oMath>
                </a14:m>
                <a:r>
                  <a:rPr sz="2400" b="0">
                    <a:solidFill>
                      <a:srgbClr val="111827"/>
                    </a:solidFill>
                    <a:latin typeface="Arial"/>
                  </a:rPr>
                  <a:t> and the least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$R=A$</a:t>
                </a:r>
                <a:r>
                  <a:rPr sz="2400" b="0">
                    <a:solidFill>
                      <a:srgbClr val="111827"/>
                    </a:solidFill>
                    <a:latin typeface="Arial"/>
                  </a:rPr>
                  <a:t>: </a:t>
                </a:r>
                <a:r>
                  <a:rPr lang="en-IN" sz="2400">
                    <a:solidFill>
                      <a:srgbClr val="111827"/>
                    </a:solidFill>
                    <a:latin typeface="Cambria Math" panose="02040503050406030204" pitchFamily="18" charset="0"/>
                  </a:rPr>
                  <a:t>$\overrightarrow{PQ}\times\overrightarrow{PA}=(4,1,3)\times\left(\frac3{25},0,-\frac4{25}\right)$</a:t>
                </a:r>
                <a:r>
                  <a:rPr sz="2400" b="0">
                    <a:solidFill>
                      <a:srgbClr val="111827"/>
                    </a:solidFill>
                    <a:latin typeface="Arial"/>
                  </a:rPr>
                  <a:t> has magnitude </a:t>
                </a:r>
                <a:r>
                  <a:rPr lang="en-IN" sz="2400">
                    <a:solidFill>
                      <a:srgbClr val="111827"/>
                    </a:solidFill>
                    <a:latin typeface="Cambria Math" panose="02040503050406030204" pitchFamily="18" charset="0"/>
                  </a:rPr>
                  <a:t>$\frac{\sqrt{26}}{5}$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$=\frac12\cdot\frac{\sqrt{26}}5=\frac{\sqrt{26}}{10}=\sqrt{\frac{13}{50}}$</a:t>
                </a:r>
                <a:r>
                  <a:rPr sz="2400" b="0">
                    <a:solidFill>
                      <a:srgbClr val="111827"/>
                    </a:solidFill>
                    <a:latin typeface="Arial"/>
                  </a:rPr>
                  <a:t>, so </a:t>
                </a:r>
                <a:r>
                  <a:rPr lang="en-IN" sz="2400">
                    <a:solidFill>
                      <a:srgbClr val="111827"/>
                    </a:solidFill>
                    <a:latin typeface="Cambria Math" panose="02040503050406030204" pitchFamily="18" charset="0"/>
                  </a:rPr>
                  <a:t>$p:q=13:50$</a:t>
                </a:r>
                <a:r>
                  <a:rPr sz="2400" b="0">
                    <a:solidFill>
                      <a:srgbClr val="111827"/>
                    </a:solidFill>
                    <a:latin typeface="Arial"/>
                  </a:rPr>
                  <a:t> and the least </a:t>
                </a:r>
                <a:r>
                  <a:rPr lang="en-IN" sz="2400">
                    <a:solidFill>
                      <a:srgbClr val="111827"/>
                    </a:solidFill>
                    <a:latin typeface="Cambria Math" panose="02040503050406030204" pitchFamily="18" charset="0"/>
                  </a:rPr>
                  <a:t>$|4p-q|=2$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2</a:t>
            </a:r>
            <a:endParaRPr sz="2800">
              <a:solidFill>
                <a:srgbClr val="15803D"/>
              </a:solidFill>
            </a:endParaRPr>
          </a:p>
        </p:txBody>
      </p:sp>
    </p:spTree>
  </p:cSld>
  <p:clrMapOvr>
    <a:masterClrMapping/>
  </p:clrMapOvr>
</p:sld>
</file>

<file path=ppt/slides/slide3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line parallel to a plane projects onto a parallel line of the same length; every point of the line is at the same distance from the plane (check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formed by a segment of the line, its projection and a point of the line has area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𝑙𝑒𝑛𝑔𝑡ℎ 𝑜𝑓 𝑡ℎ𝑒 𝑠𝑒𝑔𝑚𝑒𝑛𝑡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𝑑𝑖𝑠𝑡𝑎𝑛𝑐𝑒 𝑜𝑓 𝑡ℎ𝑒 𝑙𝑖𝑛𝑒 𝑓𝑟𝑜𝑚 𝑡ℎ𝑒 𝑝𝑙𝑎𝑛𝑒</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right-angle trapezoid/triangle relation).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e>
                    </m:rad>
                  </m:oMath>
                </a14:m>
                <a:r>
                  <a:rPr sz="2400" b="0">
                    <a:solidFill>
                      <a:srgbClr val="111827"/>
                    </a:solidFill>
                    <a:latin typeface="Arial"/>
                  </a:rPr>
                  <a:t> with unreduced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a:rPr lang="en-IN" sz="2400" i="1">
                        <a:solidFill>
                          <a:srgbClr val="111827"/>
                        </a:solidFill>
                        <a:latin typeface="Cambria Math" panose="02040503050406030204" pitchFamily="18" charset="0"/>
                      </a:rPr>
                      <m:t>𝑘</m:t>
                    </m:r>
                  </m:oMath>
                </a14:m>
                <a:r>
                  <a:rPr sz="2400" b="0">
                    <a:solidFill>
                      <a:srgbClr val="111827"/>
                    </a:solidFill>
                    <a:latin typeface="Arial"/>
                  </a:rPr>
                  <a:t> are all allowed; then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oMath>
                </a14:m>
                <a:r>
                  <a:rPr sz="2400" b="0">
                    <a:solidFill>
                      <a:srgbClr val="111827"/>
                    </a:solidFill>
                    <a:latin typeface="Arial"/>
                  </a:rPr>
                  <a:t> is minimised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line parallel to a plane projects onto a parallel line of the same length; every point of the line is at the same distance from the plane (check </a:t>
                </a:r>
                <a:r>
                  <a:rPr lang="en-IN" sz="2400">
                    <a:solidFill>
                      <a:srgbClr val="111827"/>
                    </a:solidFill>
                    <a:latin typeface="Cambria Math" panose="02040503050406030204" pitchFamily="18" charset="0"/>
                  </a:rPr>
                  <a:t>$\vec d\cdot\vec n=0$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formed by a segment of the line, its projection and a point of the line has area </a:t>
                </a:r>
                <a:r>
                  <a:rPr lang="en-IN" sz="2400">
                    <a:solidFill>
                      <a:srgbClr val="111827"/>
                    </a:solidFill>
                    <a:latin typeface="Cambria Math" panose="02040503050406030204" pitchFamily="18" charset="0"/>
                  </a:rPr>
                  <a:t>$\frac12(\text{length of the segment})(\text{distance of the line from the plane})$</a:t>
                </a:r>
                <a:r>
                  <a:rPr sz="2400" b="0">
                    <a:solidFill>
                      <a:srgbClr val="111827"/>
                    </a:solidFill>
                    <a:latin typeface="Arial"/>
                  </a:rPr>
                  <a:t> (a right-angle trapezoid/triangle relation).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$\sqrt{p/q}$</a:t>
                </a:r>
                <a:r>
                  <a:rPr sz="2400" b="0">
                    <a:solidFill>
                      <a:srgbClr val="111827"/>
                    </a:solidFill>
                    <a:latin typeface="Arial"/>
                  </a:rPr>
                  <a:t> with unreduced </a:t>
                </a:r>
                <a:r>
                  <a:rPr lang="en-IN" sz="2400">
                    <a:solidFill>
                      <a:srgbClr val="111827"/>
                    </a:solidFill>
                    <a:latin typeface="Cambria Math" panose="02040503050406030204" pitchFamily="18" charset="0"/>
                  </a:rPr>
                  <a:t>$p,q$</a:t>
                </a:r>
                <a:r>
                  <a:rPr sz="2400" b="0">
                    <a:solidFill>
                      <a:srgbClr val="111827"/>
                    </a:solidFill>
                    <a:latin typeface="Arial"/>
                  </a:rPr>
                  <a:t>, </a:t>
                </a:r>
                <a:r>
                  <a:rPr lang="en-IN" sz="2400">
                    <a:solidFill>
                      <a:srgbClr val="111827"/>
                    </a:solidFill>
                    <a:latin typeface="Cambria Math" panose="02040503050406030204" pitchFamily="18" charset="0"/>
                  </a:rPr>
                  <a:t>$p=13k,\ q=50k$</a:t>
                </a:r>
                <a:r>
                  <a:rPr sz="2400" b="0">
                    <a:solidFill>
                      <a:srgbClr val="111827"/>
                    </a:solidFill>
                    <a:latin typeface="Arial"/>
                  </a:rPr>
                  <a:t> are all allowed; then </a:t>
                </a:r>
                <a:r>
                  <a:rPr lang="en-IN" sz="2400">
                    <a:solidFill>
                      <a:srgbClr val="111827"/>
                    </a:solidFill>
                    <a:latin typeface="Cambria Math" panose="02040503050406030204" pitchFamily="18" charset="0"/>
                  </a:rPr>
                  <a:t>$|4p-q|=2k$</a:t>
                </a:r>
                <a:r>
                  <a:rPr sz="2400" b="0">
                    <a:solidFill>
                      <a:srgbClr val="111827"/>
                    </a:solidFill>
                    <a:latin typeface="Arial"/>
                  </a:rPr>
                  <a:t> is minimised at </a:t>
                </a:r>
                <a:r>
                  <a:rPr lang="en-IN" sz="2400">
                    <a:solidFill>
                      <a:srgbClr val="111827"/>
                    </a:solidFill>
                    <a:latin typeface="Cambria Math" panose="02040503050406030204" pitchFamily="18" charset="0"/>
                  </a:rPr>
                  <a:t>$k=1$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4599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Number of points having positive integral co-ordinate lying on the plane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then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174599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Number of points having positive integral co-ordinate lying on the plane </a:t>
                </a:r>
                <a:r>
                  <a:rPr lang="en-IN" sz="2400">
                    <a:solidFill>
                      <a:srgbClr val="111827"/>
                    </a:solidFill>
                    <a:latin typeface="Cambria Math" panose="02040503050406030204" pitchFamily="18" charset="0"/>
                  </a:rPr>
                  <a:t>$x+2y+3z=15$</a:t>
                </a:r>
                <a:r>
                  <a:rPr sz="2400" b="0">
                    <a:solidFill>
                      <a:srgbClr val="111827"/>
                    </a:solidFill>
                    <a:latin typeface="Arial"/>
                  </a:rPr>
                  <a:t> is </a:t>
                </a:r>
                <a:r>
                  <a:rPr lang="en-IN" sz="2400">
                    <a:solidFill>
                      <a:srgbClr val="111827"/>
                    </a:solidFill>
                    <a:latin typeface="Cambria Math" panose="02040503050406030204" pitchFamily="18" charset="0"/>
                  </a:rPr>
                  <a:t>$n$</a:t>
                </a:r>
                <a:r>
                  <a:rPr sz="2400" b="0">
                    <a:solidFill>
                      <a:srgbClr val="111827"/>
                    </a:solidFill>
                    <a:latin typeface="Arial"/>
                  </a:rPr>
                  <a:t>, then </a:t>
                </a:r>
                <a:r>
                  <a:rPr lang="en-IN" sz="2400">
                    <a:solidFill>
                      <a:srgbClr val="111827"/>
                    </a:solidFill>
                    <a:latin typeface="Cambria Math" panose="02040503050406030204" pitchFamily="18" charset="0"/>
                  </a:rPr>
                  <a:t>$\frac n2$</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3254755"/>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Counting positive integer solutions of a linear equation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Fix </a:t>
                </a:r>
                <a14:m>
                  <m:oMath xmlns:m="http://schemas.openxmlformats.org/officeDocument/2006/math">
                    <m:r>
                      <a:rPr lang="en-IN" sz="2400" i="1">
                        <a:solidFill>
                          <a:srgbClr val="78350F"/>
                        </a:solidFill>
                        <a:latin typeface="Cambria Math" panose="02040503050406030204" pitchFamily="18" charset="0"/>
                      </a:rPr>
                      <m:t>𝑧</m:t>
                    </m:r>
                  </m:oMath>
                </a14:m>
                <a:r>
                  <a:rPr sz="2400" b="0">
                    <a:solidFill>
                      <a:srgbClr val="78350F"/>
                    </a:solidFill>
                    <a:latin typeface="Arial"/>
                  </a:rPr>
                  <a:t> and count the positive solutions of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15</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𝑧</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Fix </a:t>
                </a:r>
                <a:r>
                  <a:rPr lang="en-IN" sz="2400">
                    <a:solidFill>
                      <a:srgbClr val="78350F"/>
                    </a:solidFill>
                    <a:latin typeface="Cambria Math" panose="02040503050406030204" pitchFamily="18" charset="0"/>
                  </a:rPr>
                  <a:t>$z$</a:t>
                </a:r>
                <a:r>
                  <a:rPr sz="2400" b="0">
                    <a:solidFill>
                      <a:srgbClr val="78350F"/>
                    </a:solidFill>
                    <a:latin typeface="Arial"/>
                  </a:rPr>
                  <a:t> and count the positive solutions of </a:t>
                </a:r>
                <a:r>
                  <a:rPr lang="en-IN" sz="2400">
                    <a:solidFill>
                      <a:srgbClr val="78350F"/>
                    </a:solidFill>
                    <a:latin typeface="Cambria Math" panose="02040503050406030204" pitchFamily="18" charset="0"/>
                  </a:rPr>
                  <a:t>$x+2y=15-3z$</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Put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- 5 points.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- 4 points.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- 2 points.</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$x+2y+3z=15$</a:t>
                </a:r>
                <a:r>
                  <a:rPr sz="2400" b="0">
                    <a:solidFill>
                      <a:srgbClr val="111827"/>
                    </a:solidFill>
                    <a:latin typeface="Arial"/>
                  </a:rPr>
                  <a:t> with </a:t>
                </a:r>
                <a:r>
                  <a:rPr lang="en-IN" sz="2400">
                    <a:solidFill>
                      <a:srgbClr val="111827"/>
                    </a:solidFill>
                    <a:latin typeface="Cambria Math" panose="02040503050406030204" pitchFamily="18" charset="0"/>
                  </a:rPr>
                  <a:t>$x,y,z\ge1$</a:t>
                </a:r>
                <a:r>
                  <a:rPr sz="2400" b="0">
                    <a:solidFill>
                      <a:srgbClr val="111827"/>
                    </a:solidFill>
                    <a:latin typeface="Arial"/>
                  </a:rPr>
                  <a:t>. Put </a:t>
                </a:r>
                <a:r>
                  <a:rPr lang="en-IN" sz="2400">
                    <a:solidFill>
                      <a:srgbClr val="111827"/>
                    </a:solidFill>
                    <a:latin typeface="Cambria Math" panose="02040503050406030204" pitchFamily="18" charset="0"/>
                  </a:rPr>
                  <a:t>$z=1$</a:t>
                </a:r>
                <a:r>
                  <a:rPr sz="2400" b="0">
                    <a:solidFill>
                      <a:srgbClr val="111827"/>
                    </a:solidFill>
                    <a:latin typeface="Arial"/>
                  </a:rPr>
                  <a:t>: </a:t>
                </a:r>
                <a:r>
                  <a:rPr lang="en-IN" sz="2400">
                    <a:solidFill>
                      <a:srgbClr val="111827"/>
                    </a:solidFill>
                    <a:latin typeface="Cambria Math" panose="02040503050406030204" pitchFamily="18" charset="0"/>
                  </a:rPr>
                  <a:t>$x+2y=12$</a:t>
                </a:r>
                <a:r>
                  <a:rPr sz="2400" b="0">
                    <a:solidFill>
                      <a:srgbClr val="111827"/>
                    </a:solidFill>
                    <a:latin typeface="Arial"/>
                  </a:rPr>
                  <a:t> gives </a:t>
                </a:r>
                <a:r>
                  <a:rPr lang="en-IN" sz="2400">
                    <a:solidFill>
                      <a:srgbClr val="111827"/>
                    </a:solidFill>
                    <a:latin typeface="Cambria Math" panose="02040503050406030204" pitchFamily="18" charset="0"/>
                  </a:rPr>
                  <a:t>$(10,1),(8,2),(6,3),(4,4),(2,5)$</a:t>
                </a:r>
                <a:r>
                  <a:rPr sz="2400" b="0">
                    <a:solidFill>
                      <a:srgbClr val="111827"/>
                    </a:solidFill>
                    <a:latin typeface="Arial"/>
                  </a:rPr>
                  <a:t> - 5 points.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$z=2$</a:t>
                </a:r>
                <a:r>
                  <a:rPr sz="2400" b="0">
                    <a:solidFill>
                      <a:srgbClr val="111827"/>
                    </a:solidFill>
                    <a:latin typeface="Arial"/>
                  </a:rPr>
                  <a:t>: </a:t>
                </a:r>
                <a:r>
                  <a:rPr lang="en-IN" sz="2400">
                    <a:solidFill>
                      <a:srgbClr val="111827"/>
                    </a:solidFill>
                    <a:latin typeface="Cambria Math" panose="02040503050406030204" pitchFamily="18" charset="0"/>
                  </a:rPr>
                  <a:t>$x+2y=9$</a:t>
                </a:r>
                <a:r>
                  <a:rPr sz="2400" b="0">
                    <a:solidFill>
                      <a:srgbClr val="111827"/>
                    </a:solidFill>
                    <a:latin typeface="Arial"/>
                  </a:rPr>
                  <a:t> gives </a:t>
                </a:r>
                <a:r>
                  <a:rPr lang="en-IN" sz="2400">
                    <a:solidFill>
                      <a:srgbClr val="111827"/>
                    </a:solidFill>
                    <a:latin typeface="Cambria Math" panose="02040503050406030204" pitchFamily="18" charset="0"/>
                  </a:rPr>
                  <a:t>$(7,1),(5,2),(3,3),(1,4)$</a:t>
                </a:r>
                <a:r>
                  <a:rPr sz="2400" b="0">
                    <a:solidFill>
                      <a:srgbClr val="111827"/>
                    </a:solidFill>
                    <a:latin typeface="Arial"/>
                  </a:rPr>
                  <a:t> - 4 points.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$z=3$</a:t>
                </a:r>
                <a:r>
                  <a:rPr sz="2400" b="0">
                    <a:solidFill>
                      <a:srgbClr val="111827"/>
                    </a:solidFill>
                    <a:latin typeface="Arial"/>
                  </a:rPr>
                  <a:t>: </a:t>
                </a:r>
                <a:r>
                  <a:rPr lang="en-IN" sz="2400">
                    <a:solidFill>
                      <a:srgbClr val="111827"/>
                    </a:solidFill>
                    <a:latin typeface="Cambria Math" panose="02040503050406030204" pitchFamily="18" charset="0"/>
                  </a:rPr>
                  <a:t>$x+2y=6$</a:t>
                </a:r>
                <a:r>
                  <a:rPr sz="2400" b="0">
                    <a:solidFill>
                      <a:srgbClr val="111827"/>
                    </a:solidFill>
                    <a:latin typeface="Arial"/>
                  </a:rPr>
                  <a:t> gives </a:t>
                </a:r>
                <a:r>
                  <a:rPr lang="en-IN" sz="2400">
                    <a:solidFill>
                      <a:srgbClr val="111827"/>
                    </a:solidFill>
                    <a:latin typeface="Cambria Math" panose="02040503050406030204" pitchFamily="18" charset="0"/>
                  </a:rPr>
                  <a:t>$(4,1),(2,2)$</a:t>
                </a:r>
                <a:r>
                  <a:rPr sz="2400" b="0">
                    <a:solidFill>
                      <a:srgbClr val="111827"/>
                    </a:solidFill>
                    <a:latin typeface="Arial"/>
                  </a:rPr>
                  <a:t> - 2 points.</a:t>
                </a:r>
                <a:endParaRPr sz="2400">
                  <a:solidFill>
                    <a:srgbClr val="111827"/>
                  </a:solidFill>
                </a:endParaRPr>
              </a:p>
            </p:txBody>
          </p:sp>
        </mc:Fallback>
      </mc:AlternateContent>
    </p:spTree>
  </p:cSld>
  <p:clrMapOvr>
    <a:masterClrMapping/>
  </p:clrMapOvr>
</p:sld>
</file>

<file path=ppt/slides/slide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- 1 point.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impossible.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$z=4$</a:t>
                </a:r>
                <a:r>
                  <a:rPr sz="2400" b="0">
                    <a:solidFill>
                      <a:srgbClr val="111827"/>
                    </a:solidFill>
                    <a:latin typeface="Arial"/>
                  </a:rPr>
                  <a:t>: </a:t>
                </a:r>
                <a:r>
                  <a:rPr lang="en-IN" sz="2400">
                    <a:solidFill>
                      <a:srgbClr val="111827"/>
                    </a:solidFill>
                    <a:latin typeface="Cambria Math" panose="02040503050406030204" pitchFamily="18" charset="0"/>
                  </a:rPr>
                  <a:t>$x+2y=3$</a:t>
                </a:r>
                <a:r>
                  <a:rPr sz="2400" b="0">
                    <a:solidFill>
                      <a:srgbClr val="111827"/>
                    </a:solidFill>
                    <a:latin typeface="Arial"/>
                  </a:rPr>
                  <a:t> gives </a:t>
                </a:r>
                <a:r>
                  <a:rPr lang="en-IN" sz="2400">
                    <a:solidFill>
                      <a:srgbClr val="111827"/>
                    </a:solidFill>
                    <a:latin typeface="Cambria Math" panose="02040503050406030204" pitchFamily="18" charset="0"/>
                  </a:rPr>
                  <a:t>$(1,1)$</a:t>
                </a:r>
                <a:r>
                  <a:rPr sz="2400" b="0">
                    <a:solidFill>
                      <a:srgbClr val="111827"/>
                    </a:solidFill>
                    <a:latin typeface="Arial"/>
                  </a:rPr>
                  <a:t> - 1 point.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$z\ge5$</a:t>
                </a:r>
                <a:r>
                  <a:rPr sz="2400" b="0">
                    <a:solidFill>
                      <a:srgbClr val="111827"/>
                    </a:solidFill>
                    <a:latin typeface="Arial"/>
                  </a:rPr>
                  <a:t> gives </a:t>
                </a:r>
                <a:r>
                  <a:rPr lang="en-IN" sz="2400">
                    <a:solidFill>
                      <a:srgbClr val="111827"/>
                    </a:solidFill>
                    <a:latin typeface="Cambria Math" panose="02040503050406030204" pitchFamily="18" charset="0"/>
                  </a:rPr>
                  <a:t>$x+2y\le0$</a:t>
                </a:r>
                <a:r>
                  <a:rPr sz="2400" b="0">
                    <a:solidFill>
                      <a:srgbClr val="111827"/>
                    </a:solidFill>
                    <a:latin typeface="Arial"/>
                  </a:rPr>
                  <a:t>: impossible.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$n=5+4+2+1=12$</a:t>
                </a:r>
                <a:r>
                  <a:rPr sz="2400" b="0">
                    <a:solidFill>
                      <a:srgbClr val="111827"/>
                    </a:solidFill>
                    <a:latin typeface="Arial"/>
                  </a:rPr>
                  <a:t>, so </a:t>
                </a:r>
                <a:r>
                  <a:rPr lang="en-IN" sz="2400">
                    <a:solidFill>
                      <a:srgbClr val="111827"/>
                    </a:solidFill>
                    <a:latin typeface="Cambria Math" panose="02040503050406030204" pitchFamily="18" charset="0"/>
                  </a:rPr>
                  <a:t>$\frac n2=6$</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6</a:t>
            </a:r>
            <a:endParaRPr sz="2800">
              <a:solidFill>
                <a:srgbClr val="15803D"/>
              </a:solidFill>
            </a:endParaRPr>
          </a:p>
        </p:txBody>
      </p:sp>
    </p:spTree>
  </p:cSld>
  <p:clrMapOvr>
    <a:masterClrMapping/>
  </p:clrMapOvr>
</p:sld>
</file>

<file path=ppt/slides/slide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Shift to non-negative variables and count partitions: positive solutions of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15</m:t>
                    </m:r>
                  </m:oMath>
                </a14:m>
                <a:r>
                  <a:rPr sz="2400" b="0">
                    <a:solidFill>
                      <a:srgbClr val="78350F"/>
                    </a:solidFill>
                    <a:latin typeface="Arial"/>
                  </a:rPr>
                  <a:t> correspond to partitions of </a:t>
                </a:r>
                <a14:m>
                  <m:oMath xmlns:m="http://schemas.openxmlformats.org/officeDocument/2006/math">
                    <m:r>
                      <a:rPr lang="en-IN" sz="2400" i="1">
                        <a:solidFill>
                          <a:srgbClr val="78350F"/>
                        </a:solidFill>
                        <a:latin typeface="Cambria Math" panose="02040503050406030204" pitchFamily="18" charset="0"/>
                      </a:rPr>
                      <m:t>9</m:t>
                    </m:r>
                  </m:oMath>
                </a14:m>
                <a:r>
                  <a:rPr sz="2400" b="0">
                    <a:solidFill>
                      <a:srgbClr val="78350F"/>
                    </a:solidFill>
                    <a:latin typeface="Arial"/>
                  </a:rPr>
                  <a:t> into parts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Shift to non-negative variables and count partitions: positive solutions of </a:t>
                </a:r>
                <a:r>
                  <a:rPr lang="en-IN" sz="2400">
                    <a:solidFill>
                      <a:srgbClr val="78350F"/>
                    </a:solidFill>
                    <a:latin typeface="Cambria Math" panose="02040503050406030204" pitchFamily="18" charset="0"/>
                  </a:rPr>
                  <a:t>$x+2y+3z=15$</a:t>
                </a:r>
                <a:r>
                  <a:rPr sz="2400" b="0">
                    <a:solidFill>
                      <a:srgbClr val="78350F"/>
                    </a:solidFill>
                    <a:latin typeface="Arial"/>
                  </a:rPr>
                  <a:t> correspond to partitions of </a:t>
                </a:r>
                <a:r>
                  <a:rPr lang="en-IN" sz="2400">
                    <a:solidFill>
                      <a:srgbClr val="78350F"/>
                    </a:solidFill>
                    <a:latin typeface="Cambria Math" panose="02040503050406030204" pitchFamily="18" charset="0"/>
                  </a:rPr>
                  <a:t>$9$</a:t>
                </a:r>
                <a:r>
                  <a:rPr sz="2400" b="0">
                    <a:solidFill>
                      <a:srgbClr val="78350F"/>
                    </a:solidFill>
                    <a:latin typeface="Arial"/>
                  </a:rPr>
                  <a:t> into parts </a:t>
                </a:r>
                <a:r>
                  <a:rPr lang="en-IN" sz="2400">
                    <a:solidFill>
                      <a:srgbClr val="78350F"/>
                    </a:solidFill>
                    <a:latin typeface="Cambria Math" panose="02040503050406030204" pitchFamily="18" charset="0"/>
                  </a:rPr>
                  <a:t>$1,2,3$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a:t>
                </a:r>
                <a14:m>
                  <m:oMath xmlns:m="http://schemas.openxmlformats.org/officeDocument/2006/math">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non-negative solutions of </a:t>
                </a:r>
                <a14:m>
                  <m:oMath xmlns:m="http://schemas.openxmlformats.org/officeDocument/2006/math">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equals the number of partitions of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into parts of size at most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threes, </a:t>
                </a:r>
                <a14:m>
                  <m:oMath xmlns:m="http://schemas.openxmlformats.org/officeDocument/2006/math">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twos, </a:t>
                </a:r>
                <a14:m>
                  <m:oMath xmlns:m="http://schemas.openxmlformats.org/officeDocument/2006/math">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ones).</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$x=x'+1,\ y=y'+1,\ z=z'+1$</a:t>
                </a:r>
                <a:r>
                  <a:rPr sz="2400" b="0">
                    <a:solidFill>
                      <a:srgbClr val="111827"/>
                    </a:solidFill>
                    <a:latin typeface="Arial"/>
                  </a:rPr>
                  <a:t> with </a:t>
                </a:r>
                <a:r>
                  <a:rPr lang="en-IN" sz="2400">
                    <a:solidFill>
                      <a:srgbClr val="111827"/>
                    </a:solidFill>
                    <a:latin typeface="Cambria Math" panose="02040503050406030204" pitchFamily="18" charset="0"/>
                  </a:rPr>
                  <a:t>$x',y',z'\ge0$</a:t>
                </a:r>
                <a:r>
                  <a:rPr sz="2400" b="0">
                    <a:solidFill>
                      <a:srgbClr val="111827"/>
                    </a:solidFill>
                    <a:latin typeface="Arial"/>
                  </a:rPr>
                  <a:t>: </a:t>
                </a:r>
                <a:r>
                  <a:rPr lang="en-IN" sz="2400">
                    <a:solidFill>
                      <a:srgbClr val="111827"/>
                    </a:solidFill>
                    <a:latin typeface="Cambria Math" panose="02040503050406030204" pitchFamily="18" charset="0"/>
                  </a:rPr>
                  <a:t>$x'+2y'+3z'=15-6=9$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non-negative solutions of </a:t>
                </a:r>
                <a:r>
                  <a:rPr lang="en-IN" sz="2400">
                    <a:solidFill>
                      <a:srgbClr val="111827"/>
                    </a:solidFill>
                    <a:latin typeface="Cambria Math" panose="02040503050406030204" pitchFamily="18" charset="0"/>
                  </a:rPr>
                  <a:t>$x'+2y'+3z'=9$</a:t>
                </a:r>
                <a:r>
                  <a:rPr sz="2400" b="0">
                    <a:solidFill>
                      <a:srgbClr val="111827"/>
                    </a:solidFill>
                    <a:latin typeface="Arial"/>
                  </a:rPr>
                  <a:t> equals the number of partitions of </a:t>
                </a:r>
                <a:r>
                  <a:rPr lang="en-IN" sz="2400">
                    <a:solidFill>
                      <a:srgbClr val="111827"/>
                    </a:solidFill>
                    <a:latin typeface="Cambria Math" panose="02040503050406030204" pitchFamily="18" charset="0"/>
                  </a:rPr>
                  <a:t>$9$</a:t>
                </a:r>
                <a:r>
                  <a:rPr sz="2400" b="0">
                    <a:solidFill>
                      <a:srgbClr val="111827"/>
                    </a:solidFill>
                    <a:latin typeface="Arial"/>
                  </a:rPr>
                  <a:t> into parts of size at most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$z'$</a:t>
                </a:r>
                <a:r>
                  <a:rPr sz="2400" b="0">
                    <a:solidFill>
                      <a:srgbClr val="111827"/>
                    </a:solidFill>
                    <a:latin typeface="Arial"/>
                  </a:rPr>
                  <a:t> threes, </a:t>
                </a:r>
                <a:r>
                  <a:rPr lang="en-IN" sz="2400">
                    <a:solidFill>
                      <a:srgbClr val="111827"/>
                    </a:solidFill>
                    <a:latin typeface="Cambria Math" panose="02040503050406030204" pitchFamily="18" charset="0"/>
                  </a:rPr>
                  <a:t>$y'$</a:t>
                </a:r>
                <a:r>
                  <a:rPr sz="2400" b="0">
                    <a:solidFill>
                      <a:srgbClr val="111827"/>
                    </a:solidFill>
                    <a:latin typeface="Arial"/>
                  </a:rPr>
                  <a:t> twos, </a:t>
                </a:r>
                <a:r>
                  <a:rPr lang="en-IN" sz="2400">
                    <a:solidFill>
                      <a:srgbClr val="111827"/>
                    </a:solidFill>
                    <a:latin typeface="Cambria Math" panose="02040503050406030204" pitchFamily="18" charset="0"/>
                  </a:rPr>
                  <a:t>$x'$</a:t>
                </a:r>
                <a:r>
                  <a:rPr sz="2400" b="0">
                    <a:solidFill>
                      <a:srgbClr val="111827"/>
                    </a:solidFill>
                    <a:latin typeface="Arial"/>
                  </a:rPr>
                  <a:t> ones).</a:t>
                </a:r>
                <a:endParaRPr sz="2400">
                  <a:solidFill>
                    <a:srgbClr val="111827"/>
                  </a:solidFill>
                </a:endParaRPr>
              </a:p>
            </p:txBody>
          </p:sp>
        </mc:Fallback>
      </mc:AlternateContent>
    </p:spTree>
  </p:cSld>
  <p:clrMapOvr>
    <a:masterClrMapping/>
  </p:clrMapOvr>
</p:sld>
</file>

<file path=ppt/slides/slide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Count by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(5 solutions),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(4),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(2),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(1): </a:t>
                </a: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(also the coefficient of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9</m:t>
                        </m:r>
                      </m:sup>
                    </m:sSup>
                  </m:oMath>
                </a14:m>
                <a:r>
                  <a:rPr sz="2400" b="0">
                    <a:solidFill>
                      <a:srgbClr val="111827"/>
                    </a:solidFill>
                    <a:latin typeface="Arial"/>
                  </a:rPr>
                  <a:t> in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12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Count by </a:t>
                </a:r>
                <a:r>
                  <a:rPr lang="en-IN" sz="2400">
                    <a:solidFill>
                      <a:srgbClr val="111827"/>
                    </a:solidFill>
                    <a:latin typeface="Cambria Math" panose="02040503050406030204" pitchFamily="18" charset="0"/>
                  </a:rPr>
                  <a:t>$z'$</a:t>
                </a:r>
                <a:r>
                  <a:rPr sz="2400" b="0">
                    <a:solidFill>
                      <a:srgbClr val="111827"/>
                    </a:solidFill>
                    <a:latin typeface="Arial"/>
                  </a:rPr>
                  <a:t>: </a:t>
                </a:r>
                <a:r>
                  <a:rPr lang="en-IN" sz="2400">
                    <a:solidFill>
                      <a:srgbClr val="111827"/>
                    </a:solidFill>
                    <a:latin typeface="Cambria Math" panose="02040503050406030204" pitchFamily="18" charset="0"/>
                  </a:rPr>
                  <a:t>$z'=0$</a:t>
                </a:r>
                <a:r>
                  <a:rPr sz="2400" b="0">
                    <a:solidFill>
                      <a:srgbClr val="111827"/>
                    </a:solidFill>
                    <a:latin typeface="Arial"/>
                  </a:rPr>
                  <a:t> gives </a:t>
                </a:r>
                <a:r>
                  <a:rPr lang="en-IN" sz="2400">
                    <a:solidFill>
                      <a:srgbClr val="111827"/>
                    </a:solidFill>
                    <a:latin typeface="Cambria Math" panose="02040503050406030204" pitchFamily="18" charset="0"/>
                  </a:rPr>
                  <a:t>$x'+2y'=9$</a:t>
                </a:r>
                <a:r>
                  <a:rPr sz="2400" b="0">
                    <a:solidFill>
                      <a:srgbClr val="111827"/>
                    </a:solidFill>
                    <a:latin typeface="Arial"/>
                  </a:rPr>
                  <a:t> (5 solutions), </a:t>
                </a:r>
                <a:r>
                  <a:rPr lang="en-IN" sz="2400">
                    <a:solidFill>
                      <a:srgbClr val="111827"/>
                    </a:solidFill>
                    <a:latin typeface="Cambria Math" panose="02040503050406030204" pitchFamily="18" charset="0"/>
                  </a:rPr>
                  <a:t>$z'=1$</a:t>
                </a:r>
                <a:r>
                  <a:rPr sz="2400" b="0">
                    <a:solidFill>
                      <a:srgbClr val="111827"/>
                    </a:solidFill>
                    <a:latin typeface="Arial"/>
                  </a:rPr>
                  <a:t> gives </a:t>
                </a:r>
                <a:r>
                  <a:rPr lang="en-IN" sz="2400">
                    <a:solidFill>
                      <a:srgbClr val="111827"/>
                    </a:solidFill>
                    <a:latin typeface="Cambria Math" panose="02040503050406030204" pitchFamily="18" charset="0"/>
                  </a:rPr>
                  <a:t>$6$</a:t>
                </a:r>
                <a:r>
                  <a:rPr sz="2400" b="0">
                    <a:solidFill>
                      <a:srgbClr val="111827"/>
                    </a:solidFill>
                    <a:latin typeface="Arial"/>
                  </a:rPr>
                  <a:t> (4), </a:t>
                </a:r>
                <a:r>
                  <a:rPr lang="en-IN" sz="2400">
                    <a:solidFill>
                      <a:srgbClr val="111827"/>
                    </a:solidFill>
                    <a:latin typeface="Cambria Math" panose="02040503050406030204" pitchFamily="18" charset="0"/>
                  </a:rPr>
                  <a:t>$z'=2$</a:t>
                </a:r>
                <a:r>
                  <a:rPr sz="2400" b="0">
                    <a:solidFill>
                      <a:srgbClr val="111827"/>
                    </a:solidFill>
                    <a:latin typeface="Arial"/>
                  </a:rPr>
                  <a:t> gives </a:t>
                </a:r>
                <a:r>
                  <a:rPr lang="en-IN" sz="2400">
                    <a:solidFill>
                      <a:srgbClr val="111827"/>
                    </a:solidFill>
                    <a:latin typeface="Cambria Math" panose="02040503050406030204" pitchFamily="18" charset="0"/>
                  </a:rPr>
                  <a:t>$3$</a:t>
                </a:r>
                <a:r>
                  <a:rPr sz="2400" b="0">
                    <a:solidFill>
                      <a:srgbClr val="111827"/>
                    </a:solidFill>
                    <a:latin typeface="Arial"/>
                  </a:rPr>
                  <a:t> (2), </a:t>
                </a:r>
                <a:r>
                  <a:rPr lang="en-IN" sz="2400">
                    <a:solidFill>
                      <a:srgbClr val="111827"/>
                    </a:solidFill>
                    <a:latin typeface="Cambria Math" panose="02040503050406030204" pitchFamily="18" charset="0"/>
                  </a:rPr>
                  <a:t>$z'=3$</a:t>
                </a:r>
                <a:r>
                  <a:rPr sz="2400" b="0">
                    <a:solidFill>
                      <a:srgbClr val="111827"/>
                    </a:solidFill>
                    <a:latin typeface="Arial"/>
                  </a:rPr>
                  <a:t> gives </a:t>
                </a:r>
                <a:r>
                  <a:rPr lang="en-IN" sz="2400">
                    <a:solidFill>
                      <a:srgbClr val="111827"/>
                    </a:solidFill>
                    <a:latin typeface="Cambria Math" panose="02040503050406030204" pitchFamily="18" charset="0"/>
                  </a:rPr>
                  <a:t>$0$</a:t>
                </a:r>
                <a:r>
                  <a:rPr sz="2400" b="0">
                    <a:solidFill>
                      <a:srgbClr val="111827"/>
                    </a:solidFill>
                    <a:latin typeface="Arial"/>
                  </a:rPr>
                  <a:t> (1): </a:t>
                </a:r>
                <a:r>
                  <a:rPr lang="en-IN" sz="2400">
                    <a:solidFill>
                      <a:srgbClr val="111827"/>
                    </a:solidFill>
                    <a:latin typeface="Cambria Math" panose="02040503050406030204" pitchFamily="18" charset="0"/>
                  </a:rPr>
                  <a:t>$5+4+2+1=12$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$n=12$</a:t>
                </a:r>
                <a:r>
                  <a:rPr sz="2400" b="0">
                    <a:solidFill>
                      <a:srgbClr val="111827"/>
                    </a:solidFill>
                    <a:latin typeface="Arial"/>
                  </a:rPr>
                  <a:t>, </a:t>
                </a:r>
                <a:r>
                  <a:rPr lang="en-IN" sz="2400">
                    <a:solidFill>
                      <a:srgbClr val="111827"/>
                    </a:solidFill>
                    <a:latin typeface="Cambria Math" panose="02040503050406030204" pitchFamily="18" charset="0"/>
                  </a:rPr>
                  <a:t>$\frac n2=6$</a:t>
                </a:r>
                <a:r>
                  <a:rPr sz="2400" b="0">
                    <a:solidFill>
                      <a:srgbClr val="111827"/>
                    </a:solidFill>
                    <a:latin typeface="Arial"/>
                  </a:rPr>
                  <a:t> (also the coefficient of </a:t>
                </a:r>
                <a:r>
                  <a:rPr lang="en-IN" sz="2400">
                    <a:solidFill>
                      <a:srgbClr val="111827"/>
                    </a:solidFill>
                    <a:latin typeface="Cambria Math" panose="02040503050406030204" pitchFamily="18" charset="0"/>
                  </a:rPr>
                  <a:t>$t^9$</a:t>
                </a:r>
                <a:r>
                  <a:rPr sz="2400" b="0">
                    <a:solidFill>
                      <a:srgbClr val="111827"/>
                    </a:solidFill>
                    <a:latin typeface="Arial"/>
                  </a:rPr>
                  <a:t> in </a:t>
                </a:r>
                <a:r>
                  <a:rPr lang="en-IN" sz="2400">
                    <a:solidFill>
                      <a:srgbClr val="111827"/>
                    </a:solidFill>
                    <a:latin typeface="Cambria Math" panose="02040503050406030204" pitchFamily="18" charset="0"/>
                  </a:rPr>
                  <a:t>$\frac{1}{(1-t)(1-t^2)(1-t^3)}$</a:t>
                </a:r>
                <a:r>
                  <a:rPr sz="2400" b="0">
                    <a:solidFill>
                      <a:srgbClr val="111827"/>
                    </a:solidFill>
                    <a:latin typeface="Arial"/>
                  </a:rPr>
                  <a:t> is </a:t>
                </a:r>
                <a:r>
                  <a:rPr lang="en-IN" sz="2400">
                    <a:solidFill>
                      <a:srgbClr val="111827"/>
                    </a:solidFill>
                    <a:latin typeface="Cambria Math" panose="02040503050406030204" pitchFamily="18" charset="0"/>
                  </a:rPr>
                  <a:t>$12$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6</a:t>
            </a:r>
            <a:endParaRPr sz="2800">
              <a:solidFill>
                <a:srgbClr val="15803D"/>
              </a:solidFill>
            </a:endParaRPr>
          </a:p>
        </p:txBody>
      </p:sp>
    </p:spTree>
  </p:cSld>
  <p:clrMapOvr>
    <a:masterClrMapping/>
  </p:clrMapOvr>
</p:sld>
</file>

<file path=ppt/slides/slide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number of non-negative solutions of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is the number of partitions of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into parts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the coefficient of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in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(nearest integer to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positive-integer solutions first subtract the minimum: </a:t>
                </a:r>
                <a14:m>
                  <m:oMath xmlns:m="http://schemas.openxmlformats.org/officeDocument/2006/math">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12</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matching the count.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number of non-negative solutions of </a:t>
                </a:r>
                <a:r>
                  <a:rPr lang="en-IN" sz="2400">
                    <a:solidFill>
                      <a:srgbClr val="111827"/>
                    </a:solidFill>
                    <a:latin typeface="Cambria Math" panose="02040503050406030204" pitchFamily="18" charset="0"/>
                  </a:rPr>
                  <a:t>$x_1+2x_2+3x_3=m$</a:t>
                </a:r>
                <a:r>
                  <a:rPr sz="2400" b="0">
                    <a:solidFill>
                      <a:srgbClr val="111827"/>
                    </a:solidFill>
                    <a:latin typeface="Arial"/>
                  </a:rPr>
                  <a:t> is the number of partitions of </a:t>
                </a:r>
                <a:r>
                  <a:rPr lang="en-IN" sz="2400">
                    <a:solidFill>
                      <a:srgbClr val="111827"/>
                    </a:solidFill>
                    <a:latin typeface="Cambria Math" panose="02040503050406030204" pitchFamily="18" charset="0"/>
                  </a:rPr>
                  <a:t>$m$</a:t>
                </a:r>
                <a:r>
                  <a:rPr sz="2400" b="0">
                    <a:solidFill>
                      <a:srgbClr val="111827"/>
                    </a:solidFill>
                    <a:latin typeface="Arial"/>
                  </a:rPr>
                  <a:t> into parts </a:t>
                </a:r>
                <a:r>
                  <a:rPr lang="en-IN" sz="2400">
                    <a:solidFill>
                      <a:srgbClr val="111827"/>
                    </a:solidFill>
                    <a:latin typeface="Cambria Math" panose="02040503050406030204" pitchFamily="18" charset="0"/>
                  </a:rPr>
                  <a:t>$\le3$</a:t>
                </a:r>
                <a:r>
                  <a:rPr sz="2400" b="0">
                    <a:solidFill>
                      <a:srgbClr val="111827"/>
                    </a:solidFill>
                    <a:latin typeface="Arial"/>
                  </a:rPr>
                  <a:t>, the coefficient of </a:t>
                </a:r>
                <a:r>
                  <a:rPr lang="en-IN" sz="2400">
                    <a:solidFill>
                      <a:srgbClr val="111827"/>
                    </a:solidFill>
                    <a:latin typeface="Cambria Math" panose="02040503050406030204" pitchFamily="18" charset="0"/>
                  </a:rPr>
                  <a:t>$t^m$</a:t>
                </a:r>
                <a:r>
                  <a:rPr sz="2400" b="0">
                    <a:solidFill>
                      <a:srgbClr val="111827"/>
                    </a:solidFill>
                    <a:latin typeface="Arial"/>
                  </a:rPr>
                  <a:t> in </a:t>
                </a:r>
                <a:r>
                  <a:rPr lang="en-IN" sz="2400">
                    <a:solidFill>
                      <a:srgbClr val="111827"/>
                    </a:solidFill>
                    <a:latin typeface="Cambria Math" panose="02040503050406030204" pitchFamily="18" charset="0"/>
                  </a:rPr>
                  <a:t>$\frac1{(1-t)(1-t^2)(1-t^3)}$</a:t>
                </a:r>
                <a:r>
                  <a:rPr sz="2400" b="0">
                    <a:solidFill>
                      <a:srgbClr val="111827"/>
                    </a:solidFill>
                    <a:latin typeface="Arial"/>
                  </a:rPr>
                  <a:t> (nearest integer to </a:t>
                </a:r>
                <a:r>
                  <a:rPr lang="en-IN" sz="2400">
                    <a:solidFill>
                      <a:srgbClr val="111827"/>
                    </a:solidFill>
                    <a:latin typeface="Cambria Math" panose="02040503050406030204" pitchFamily="18" charset="0"/>
                  </a:rPr>
                  <a:t>$\frac{(m+3)^2}{12}$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positive-integer solutions first subtract the minimum: </a:t>
                </a:r>
                <a:r>
                  <a:rPr lang="en-IN" sz="2400">
                    <a:solidFill>
                      <a:srgbClr val="111827"/>
                    </a:solidFill>
                    <a:latin typeface="Cambria Math" panose="02040503050406030204" pitchFamily="18" charset="0"/>
                  </a:rPr>
                  <a:t>$x'+2y'+3z'=15-6=9$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$m=9$</a:t>
                </a:r>
                <a:r>
                  <a:rPr sz="2400" b="0">
                    <a:solidFill>
                      <a:srgbClr val="111827"/>
                    </a:solidFill>
                    <a:latin typeface="Arial"/>
                  </a:rPr>
                  <a:t>: </a:t>
                </a:r>
                <a:r>
                  <a:rPr lang="en-IN" sz="2400">
                    <a:solidFill>
                      <a:srgbClr val="111827"/>
                    </a:solidFill>
                    <a:latin typeface="Cambria Math" panose="02040503050406030204" pitchFamily="18" charset="0"/>
                  </a:rPr>
                  <a:t>$\left(\frac{12^2}{12}\right)=12$</a:t>
                </a:r>
                <a:r>
                  <a:rPr sz="2400" b="0">
                    <a:solidFill>
                      <a:srgbClr val="111827"/>
                    </a:solidFill>
                    <a:latin typeface="Arial"/>
                  </a:rPr>
                  <a:t>, matching the count.</a:t>
                </a:r>
                <a:endParaRPr sz="2400">
                  <a:solidFill>
                    <a:srgbClr val="111827"/>
                  </a:solidFill>
                </a:endParaRPr>
              </a:p>
            </p:txBody>
          </p:sp>
        </mc:Fallback>
      </mc:AlternateContent>
    </p:spTree>
  </p:cSld>
  <p:clrMapOvr>
    <a:masterClrMapping/>
  </p:clrMapOvr>
</p:sld>
</file>

<file path=ppt/slides/slide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9286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oMath>
                </a14:m>
                <a:r>
                  <a:rPr sz="2400" b="0">
                    <a:solidFill>
                      <a:srgbClr val="111827"/>
                    </a:solidFill>
                    <a:latin typeface="Arial"/>
                  </a:rPr>
                  <a:t> be coterminous edges of a cuboid. If </a:t>
                </a:r>
                <a14:m>
                  <m:oMath xmlns:m="http://schemas.openxmlformats.org/officeDocument/2006/math">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be the shortest distances between the sides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oMath>
                </a14:m>
                <a:r>
                  <a:rPr sz="2400" b="0">
                    <a:solidFill>
                      <a:srgbClr val="111827"/>
                    </a:solidFill>
                    <a:latin typeface="Arial"/>
                  </a:rPr>
                  <a:t> and their respective skew body diagonals to them, respectively, then find </a:t>
                </a:r>
                <a14:m>
                  <m:oMath xmlns:m="http://schemas.openxmlformats.org/officeDocument/2006/math">
                    <m:f>
                      <m:fPr>
                        <m:type m:val="bar"/>
                        <m:ctrlPr>
                          <a:rPr lang="en-IN" sz="2400" i="1">
                            <a:solidFill>
                              <a:srgbClr val="111827"/>
                            </a:solidFill>
                            <a:latin typeface="Cambria Math" panose="02040503050406030204" pitchFamily="18" charset="0"/>
                          </a:rPr>
                        </m:ctrlPr>
                      </m:fPr>
                      <m:num>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den>
                            </m:f>
                          </m:e>
                        </m:d>
                      </m:num>
                      <m:den>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𝐶</m:t>
                                    </m:r>
                                  </m:e>
                                  <m:sup>
                                    <m:r>
                                      <a:rPr lang="en-IN" sz="2400" i="1">
                                        <a:solidFill>
                                          <a:srgbClr val="111827"/>
                                        </a:solidFill>
                                        <a:latin typeface="Cambria Math" panose="02040503050406030204" pitchFamily="18" charset="0"/>
                                      </a:rPr>
                                      <m:t>2</m:t>
                                    </m:r>
                                  </m:sup>
                                </m:sSup>
                              </m:den>
                            </m:f>
                          </m:e>
                        </m:d>
                      </m:den>
                    </m:f>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9286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$OA,OB,OC$</a:t>
                </a:r>
                <a:r>
                  <a:rPr sz="2400" b="0">
                    <a:solidFill>
                      <a:srgbClr val="111827"/>
                    </a:solidFill>
                    <a:latin typeface="Arial"/>
                  </a:rPr>
                  <a:t> be coterminous edges of a cuboid. If </a:t>
                </a:r>
                <a:r>
                  <a:rPr lang="en-IN" sz="2400">
                    <a:solidFill>
                      <a:srgbClr val="111827"/>
                    </a:solidFill>
                    <a:latin typeface="Cambria Math" panose="02040503050406030204" pitchFamily="18" charset="0"/>
                  </a:rPr>
                  <a:t>$l,m,n$</a:t>
                </a:r>
                <a:r>
                  <a:rPr sz="2400" b="0">
                    <a:solidFill>
                      <a:srgbClr val="111827"/>
                    </a:solidFill>
                    <a:latin typeface="Arial"/>
                  </a:rPr>
                  <a:t> be the shortest distances between the sides </a:t>
                </a:r>
                <a:r>
                  <a:rPr lang="en-IN" sz="2400">
                    <a:solidFill>
                      <a:srgbClr val="111827"/>
                    </a:solidFill>
                    <a:latin typeface="Cambria Math" panose="02040503050406030204" pitchFamily="18" charset="0"/>
                  </a:rPr>
                  <a:t>$OA,OB,OC$</a:t>
                </a:r>
                <a:r>
                  <a:rPr sz="2400" b="0">
                    <a:solidFill>
                      <a:srgbClr val="111827"/>
                    </a:solidFill>
                    <a:latin typeface="Arial"/>
                  </a:rPr>
                  <a:t> and their respective skew body diagonals to them, respectively, then find </a:t>
                </a:r>
                <a:r>
                  <a:rPr lang="en-IN" sz="2400">
                    <a:solidFill>
                      <a:srgbClr val="111827"/>
                    </a:solidFill>
                    <a:latin typeface="Cambria Math" panose="02040503050406030204" pitchFamily="18" charset="0"/>
                  </a:rPr>
                  <a:t>$\frac{\left(\frac1{l^2}+\frac1{m^2}+\frac1{n^2}\right)}{\left(\frac1{OA^2}+\frac1{OB^2}+\frac1{OC^2}\right)}$</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43738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Shortest distance between skew lines in a cuboid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the edge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𝐴</m:t>
                    </m:r>
                  </m:oMath>
                </a14:m>
                <a:r>
                  <a:rPr sz="2400" b="0">
                    <a:solidFill>
                      <a:srgbClr val="78350F"/>
                    </a:solidFill>
                    <a:latin typeface="Arial"/>
                  </a:rPr>
                  <a:t> (the </a:t>
                </a:r>
                <a14:m>
                  <m:oMath xmlns:m="http://schemas.openxmlformats.org/officeDocument/2006/math">
                    <m:r>
                      <a:rPr lang="en-IN" sz="2400" i="1">
                        <a:solidFill>
                          <a:srgbClr val="78350F"/>
                        </a:solidFill>
                        <a:latin typeface="Cambria Math" panose="02040503050406030204" pitchFamily="18" charset="0"/>
                      </a:rPr>
                      <m:t>𝑥</m:t>
                    </m:r>
                  </m:oMath>
                </a14:m>
                <a:r>
                  <a:rPr sz="2400" b="0">
                    <a:solidFill>
                      <a:srgbClr val="78350F"/>
                    </a:solidFill>
                    <a:latin typeface="Arial"/>
                  </a:rPr>
                  <a:t>-axis) and a skew body diagonal, the distance is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𝑏</m:t>
                        </m:r>
                        <m:r>
                          <a:rPr lang="en-IN" sz="2400" i="1">
                            <a:solidFill>
                              <a:srgbClr val="78350F"/>
                            </a:solidFill>
                            <a:latin typeface="Cambria Math" panose="02040503050406030204" pitchFamily="18" charset="0"/>
                          </a:rPr>
                          <m:t>𝑐</m:t>
                        </m:r>
                      </m:num>
                      <m:den>
                        <m:rad>
                          <m:radPr>
                            <m:degHide m:val="on"/>
                            <m:ctrlPr>
                              <a:rPr lang="en-IN" sz="2400" i="1">
                                <a:solidFill>
                                  <a:srgbClr val="78350F"/>
                                </a:solidFill>
                                <a:latin typeface="Cambria Math" panose="02040503050406030204" pitchFamily="18" charset="0"/>
                              </a:rPr>
                            </m:ctrlPr>
                          </m:radPr>
                          <m:deg/>
                          <m:e>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𝑐</m:t>
                                </m:r>
                              </m:e>
                              <m:sup>
                                <m:r>
                                  <a:rPr lang="en-IN" sz="2400" i="1">
                                    <a:solidFill>
                                      <a:srgbClr val="78350F"/>
                                    </a:solidFill>
                                    <a:latin typeface="Cambria Math" panose="02040503050406030204" pitchFamily="18" charset="0"/>
                                  </a:rPr>
                                  <m:t>2</m:t>
                                </m:r>
                              </m:sup>
                            </m:sSup>
                          </m:e>
                        </m:rad>
                      </m:den>
                    </m:f>
                  </m:oMath>
                </a14:m>
                <a:r>
                  <a:rPr sz="2400" b="0">
                    <a:solidFill>
                      <a:srgbClr val="78350F"/>
                    </a:solidFill>
                    <a:latin typeface="Arial"/>
                  </a:rPr>
                  <a:t>, so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sSup>
                          <m:e>
                            <m:r>
                              <a:rPr lang="en-IN" sz="2400" i="1">
                                <a:solidFill>
                                  <a:srgbClr val="78350F"/>
                                </a:solidFill>
                                <a:latin typeface="Cambria Math" panose="02040503050406030204" pitchFamily="18" charset="0"/>
                              </a:rPr>
                              <m:t>𝑙</m:t>
                            </m:r>
                          </m:e>
                          <m:sup>
                            <m:r>
                              <a:rPr lang="en-IN" sz="2400" i="1">
                                <a:solidFill>
                                  <a:srgbClr val="78350F"/>
                                </a:solidFill>
                                <a:latin typeface="Cambria Math" panose="02040503050406030204" pitchFamily="18" charset="0"/>
                              </a:rPr>
                              <m:t>2</m:t>
                            </m:r>
                          </m:sup>
                        </m:sSup>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sSup>
                          <m:e>
                            <m:r>
                              <a:rPr lang="en-IN" sz="2400" i="1">
                                <a:solidFill>
                                  <a:srgbClr val="78350F"/>
                                </a:solidFill>
                                <a:latin typeface="Cambria Math" panose="02040503050406030204" pitchFamily="18" charset="0"/>
                              </a:rPr>
                              <m:t>𝑏</m:t>
                            </m:r>
                          </m:e>
                          <m:sup>
                            <m:r>
                              <a:rPr lang="en-IN" sz="2400" i="1">
                                <a:solidFill>
                                  <a:srgbClr val="78350F"/>
                                </a:solidFill>
                                <a:latin typeface="Cambria Math" panose="02040503050406030204" pitchFamily="18" charset="0"/>
                              </a:rPr>
                              <m:t>2</m:t>
                            </m:r>
                          </m:sup>
                        </m:sSup>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sSup>
                          <m:e>
                            <m:r>
                              <a:rPr lang="en-IN" sz="2400" i="1">
                                <a:solidFill>
                                  <a:srgbClr val="78350F"/>
                                </a:solidFill>
                                <a:latin typeface="Cambria Math" panose="02040503050406030204" pitchFamily="18" charset="0"/>
                              </a:rPr>
                              <m:t>𝑐</m:t>
                            </m:r>
                          </m:e>
                          <m:sup>
                            <m:r>
                              <a:rPr lang="en-IN" sz="2400" i="1">
                                <a:solidFill>
                                  <a:srgbClr val="78350F"/>
                                </a:solidFill>
                                <a:latin typeface="Cambria Math" panose="02040503050406030204" pitchFamily="18" charset="0"/>
                              </a:rPr>
                              <m:t>2</m:t>
                            </m:r>
                          </m:sup>
                        </m:sSup>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the edge </a:t>
                </a:r>
                <a:r>
                  <a:rPr lang="en-IN" sz="2400">
                    <a:solidFill>
                      <a:srgbClr val="78350F"/>
                    </a:solidFill>
                    <a:latin typeface="Cambria Math" panose="02040503050406030204" pitchFamily="18" charset="0"/>
                  </a:rPr>
                  <a:t>$OA$</a:t>
                </a:r>
                <a:r>
                  <a:rPr sz="2400" b="0">
                    <a:solidFill>
                      <a:srgbClr val="78350F"/>
                    </a:solidFill>
                    <a:latin typeface="Arial"/>
                  </a:rPr>
                  <a:t> (the </a:t>
                </a:r>
                <a:r>
                  <a:rPr lang="en-IN" sz="2400">
                    <a:solidFill>
                      <a:srgbClr val="78350F"/>
                    </a:solidFill>
                    <a:latin typeface="Cambria Math" panose="02040503050406030204" pitchFamily="18" charset="0"/>
                  </a:rPr>
                  <a:t>$x$</a:t>
                </a:r>
                <a:r>
                  <a:rPr sz="2400" b="0">
                    <a:solidFill>
                      <a:srgbClr val="78350F"/>
                    </a:solidFill>
                    <a:latin typeface="Arial"/>
                  </a:rPr>
                  <a:t>-axis) and a skew body diagonal, the distance is </a:t>
                </a:r>
                <a:r>
                  <a:rPr lang="en-IN" sz="2400">
                    <a:solidFill>
                      <a:srgbClr val="78350F"/>
                    </a:solidFill>
                    <a:latin typeface="Cambria Math" panose="02040503050406030204" pitchFamily="18" charset="0"/>
                  </a:rPr>
                  <a:t>$\frac{bc}{\sqrt{b^2+c^2}}$</a:t>
                </a:r>
                <a:r>
                  <a:rPr sz="2400" b="0">
                    <a:solidFill>
                      <a:srgbClr val="78350F"/>
                    </a:solidFill>
                    <a:latin typeface="Arial"/>
                  </a:rPr>
                  <a:t>, so </a:t>
                </a:r>
                <a:r>
                  <a:rPr lang="en-IN" sz="2400">
                    <a:solidFill>
                      <a:srgbClr val="78350F"/>
                    </a:solidFill>
                    <a:latin typeface="Cambria Math" panose="02040503050406030204" pitchFamily="18" charset="0"/>
                  </a:rPr>
                  <a:t>$\frac1{l^2}=\frac1{b^2}+\frac1{c^2}$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cuboid have </a:t>
                </a:r>
                <a14:m>
                  <m:oMath xmlns:m="http://schemas.openxmlformats.org/officeDocument/2006/math">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body diagonals skew to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oMath>
                </a14:m>
                <a:r>
                  <a:rPr sz="2400" b="0">
                    <a:solidFill>
                      <a:srgbClr val="111827"/>
                    </a:solidFill>
                    <a:latin typeface="Arial"/>
                  </a:rPr>
                  <a:t>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the diagonal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direction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common perpendicular to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oMath>
                </a14:m>
                <a:r>
                  <a:rPr sz="2400" b="0">
                    <a:solidFill>
                      <a:srgbClr val="111827"/>
                    </a:solidFill>
                    <a:latin typeface="Arial"/>
                  </a:rPr>
                  <a:t> is along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𝑙</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e>
                        </m:rad>
                      </m:den>
                    </m:f>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cuboid have </a:t>
                </a:r>
                <a:r>
                  <a:rPr lang="en-IN" sz="2400">
                    <a:solidFill>
                      <a:srgbClr val="111827"/>
                    </a:solidFill>
                    <a:latin typeface="Cambria Math" panose="02040503050406030204" pitchFamily="18" charset="0"/>
                  </a:rPr>
                  <a:t>$O=(0,0,0)$</a:t>
                </a:r>
                <a:r>
                  <a:rPr sz="2400" b="0">
                    <a:solidFill>
                      <a:srgbClr val="111827"/>
                    </a:solidFill>
                    <a:latin typeface="Arial"/>
                  </a:rPr>
                  <a:t>, </a:t>
                </a:r>
                <a:r>
                  <a:rPr lang="en-IN" sz="2400">
                    <a:solidFill>
                      <a:srgbClr val="111827"/>
                    </a:solidFill>
                    <a:latin typeface="Cambria Math" panose="02040503050406030204" pitchFamily="18" charset="0"/>
                  </a:rPr>
                  <a:t>$A=(a,0,0)$</a:t>
                </a:r>
                <a:r>
                  <a:rPr sz="2400" b="0">
                    <a:solidFill>
                      <a:srgbClr val="111827"/>
                    </a:solidFill>
                    <a:latin typeface="Arial"/>
                  </a:rPr>
                  <a:t>, </a:t>
                </a:r>
                <a:r>
                  <a:rPr lang="en-IN" sz="2400">
                    <a:solidFill>
                      <a:srgbClr val="111827"/>
                    </a:solidFill>
                    <a:latin typeface="Cambria Math" panose="02040503050406030204" pitchFamily="18" charset="0"/>
                  </a:rPr>
                  <a:t>$B=(0,b,0)$</a:t>
                </a:r>
                <a:r>
                  <a:rPr sz="2400" b="0">
                    <a:solidFill>
                      <a:srgbClr val="111827"/>
                    </a:solidFill>
                    <a:latin typeface="Arial"/>
                  </a:rPr>
                  <a:t>, </a:t>
                </a:r>
                <a:r>
                  <a:rPr lang="en-IN" sz="2400">
                    <a:solidFill>
                      <a:srgbClr val="111827"/>
                    </a:solidFill>
                    <a:latin typeface="Cambria Math" panose="02040503050406030204" pitchFamily="18" charset="0"/>
                  </a:rPr>
                  <a:t>$C=(0,0,c)$</a:t>
                </a:r>
                <a:r>
                  <a:rPr sz="2400" b="0">
                    <a:solidFill>
                      <a:srgbClr val="111827"/>
                    </a:solidFill>
                    <a:latin typeface="Arial"/>
                  </a:rPr>
                  <a:t>. The body diagonals skew to </a:t>
                </a:r>
                <a:r>
                  <a:rPr lang="en-IN" sz="2400">
                    <a:solidFill>
                      <a:srgbClr val="111827"/>
                    </a:solidFill>
                    <a:latin typeface="Cambria Math" panose="02040503050406030204" pitchFamily="18" charset="0"/>
                  </a:rPr>
                  <a:t>$OA$</a:t>
                </a:r>
                <a:r>
                  <a:rPr sz="2400" b="0">
                    <a:solidFill>
                      <a:srgbClr val="111827"/>
                    </a:solidFill>
                    <a:latin typeface="Arial"/>
                  </a:rPr>
                  <a:t> are </a:t>
                </a:r>
                <a:r>
                  <a:rPr lang="en-IN" sz="2400">
                    <a:solidFill>
                      <a:srgbClr val="111827"/>
                    </a:solidFill>
                    <a:latin typeface="Cambria Math" panose="02040503050406030204" pitchFamily="18" charset="0"/>
                  </a:rPr>
                  <a:t>$(0,b,0)\to(a,0,c)$</a:t>
                </a:r>
                <a:r>
                  <a:rPr sz="2400" b="0">
                    <a:solidFill>
                      <a:srgbClr val="111827"/>
                    </a:solidFill>
                    <a:latin typeface="Arial"/>
                  </a:rPr>
                  <a:t> and </a:t>
                </a:r>
                <a:r>
                  <a:rPr lang="en-IN" sz="2400">
                    <a:solidFill>
                      <a:srgbClr val="111827"/>
                    </a:solidFill>
                    <a:latin typeface="Cambria Math" panose="02040503050406030204" pitchFamily="18" charset="0"/>
                  </a:rPr>
                  <a:t>$(0,0,c)\to(a,b,0)$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the diagonal through </a:t>
                </a:r>
                <a:r>
                  <a:rPr lang="en-IN" sz="2400">
                    <a:solidFill>
                      <a:srgbClr val="111827"/>
                    </a:solidFill>
                    <a:latin typeface="Cambria Math" panose="02040503050406030204" pitchFamily="18" charset="0"/>
                  </a:rPr>
                  <a:t>$(0,b,0)$</a:t>
                </a:r>
                <a:r>
                  <a:rPr sz="2400" b="0">
                    <a:solidFill>
                      <a:srgbClr val="111827"/>
                    </a:solidFill>
                    <a:latin typeface="Arial"/>
                  </a:rPr>
                  <a:t> with direction </a:t>
                </a:r>
                <a:r>
                  <a:rPr lang="en-IN" sz="2400">
                    <a:solidFill>
                      <a:srgbClr val="111827"/>
                    </a:solidFill>
                    <a:latin typeface="Cambria Math" panose="02040503050406030204" pitchFamily="18" charset="0"/>
                  </a:rPr>
                  <a:t>$(a,-b,c)$</a:t>
                </a:r>
                <a:r>
                  <a:rPr sz="2400" b="0">
                    <a:solidFill>
                      <a:srgbClr val="111827"/>
                    </a:solidFill>
                    <a:latin typeface="Arial"/>
                  </a:rPr>
                  <a:t>. The common perpendicular to </a:t>
                </a:r>
                <a:r>
                  <a:rPr lang="en-IN" sz="2400">
                    <a:solidFill>
                      <a:srgbClr val="111827"/>
                    </a:solidFill>
                    <a:latin typeface="Cambria Math" panose="02040503050406030204" pitchFamily="18" charset="0"/>
                  </a:rPr>
                  <a:t>$OA$</a:t>
                </a:r>
                <a:r>
                  <a:rPr sz="2400" b="0">
                    <a:solidFill>
                      <a:srgbClr val="111827"/>
                    </a:solidFill>
                    <a:latin typeface="Arial"/>
                  </a:rPr>
                  <a:t> is along </a:t>
                </a:r>
                <a:r>
                  <a:rPr lang="en-IN" sz="2400">
                    <a:solidFill>
                      <a:srgbClr val="111827"/>
                    </a:solidFill>
                    <a:latin typeface="Cambria Math" panose="02040503050406030204" pitchFamily="18" charset="0"/>
                  </a:rPr>
                  <a:t>$\hat i\times(a,-b,c)=(0,-c,-b)$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$l=\frac{|(0,b,0)\cdot(0,-c,-b)|}{\sqrt{b^2+c^2}}=\frac{bc}{\sqrt{b^2+c^2}}$</a:t>
                </a:r>
                <a:r>
                  <a:rPr sz="2400" b="0">
                    <a:solidFill>
                      <a:srgbClr val="111827"/>
                    </a:solidFill>
                    <a:latin typeface="Arial"/>
                  </a:rPr>
                  <a:t>, so </a:t>
                </a:r>
                <a:r>
                  <a:rPr lang="en-IN" sz="2400">
                    <a:solidFill>
                      <a:srgbClr val="111827"/>
                    </a:solidFill>
                    <a:latin typeface="Cambria Math" panose="02040503050406030204" pitchFamily="18" charset="0"/>
                  </a:rPr>
                  <a:t>$\frac1{l^2}=\frac{b^2+c^2}{b^2c^2}=\frac1{b^2}+\frac1{c^2}$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Similarly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required ratio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e>
                        </m:d>
                      </m:num>
                      <m:den>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Similarly </a:t>
                </a:r>
                <a:r>
                  <a:rPr lang="en-IN" sz="2400">
                    <a:solidFill>
                      <a:srgbClr val="111827"/>
                    </a:solidFill>
                    <a:latin typeface="Cambria Math" panose="02040503050406030204" pitchFamily="18" charset="0"/>
                  </a:rPr>
                  <a:t>$\frac1{m^2}=\frac1{c^2}+\frac1{a^2}$</a:t>
                </a:r>
                <a:r>
                  <a:rPr sz="2400" b="0">
                    <a:solidFill>
                      <a:srgbClr val="111827"/>
                    </a:solidFill>
                    <a:latin typeface="Arial"/>
                  </a:rPr>
                  <a:t> and </a:t>
                </a:r>
                <a:r>
                  <a:rPr lang="en-IN" sz="2400">
                    <a:solidFill>
                      <a:srgbClr val="111827"/>
                    </a:solidFill>
                    <a:latin typeface="Cambria Math" panose="02040503050406030204" pitchFamily="18" charset="0"/>
                  </a:rPr>
                  <a:t>$\frac1{n^2}=\frac1{a^2}+\frac1{b^2}$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$\frac1{l^2}+\frac1{m^2}+\frac1{n^2}=2\left(\frac1{a^2}+\frac1{b^2}+\frac1{c^2}\right)$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required ratio is </a:t>
                </a:r>
                <a:r>
                  <a:rPr lang="en-IN" sz="2400">
                    <a:solidFill>
                      <a:srgbClr val="111827"/>
                    </a:solidFill>
                    <a:latin typeface="Cambria Math" panose="02040503050406030204" pitchFamily="18" charset="0"/>
                  </a:rPr>
                  <a:t>$\frac{2\left(\frac1{a^2}+\frac1{b^2}+\frac1{c^2}\right)}{\frac1{a^2}+\frac1{b^2}+\frac1{c^2}}=2$</a:t>
                </a:r>
                <a:r>
                  <a:rPr sz="2400" b="0">
                    <a:solidFill>
                      <a:srgbClr val="111827"/>
                    </a:solidFill>
                    <a:latin typeface="Arial"/>
                  </a:rPr>
                  <a:t> (with </a:t>
                </a:r>
                <a:r>
                  <a:rPr lang="en-IN" sz="2400">
                    <a:solidFill>
                      <a:srgbClr val="111827"/>
                    </a:solidFill>
                    <a:latin typeface="Cambria Math" panose="02040503050406030204" pitchFamily="18" charset="0"/>
                  </a:rPr>
                  <a:t>$OA=a,\ OB=b,\ OC=c$</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2</a:t>
            </a:r>
            <a:endParaRPr sz="2800">
              <a:solidFill>
                <a:srgbClr val="15803D"/>
              </a:solidFill>
            </a:endParaRPr>
          </a:p>
        </p:txBody>
      </p:sp>
    </p:spTree>
  </p:cSld>
  <p:clrMapOvr>
    <a:masterClrMapping/>
  </p:clrMapOvr>
</p:sld>
</file>

<file path=ppt/slides/slide3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Project along the edge: the distance between the line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𝐴</m:t>
                    </m:r>
                  </m:oMath>
                </a14:m>
                <a:r>
                  <a:rPr sz="2400" b="0">
                    <a:solidFill>
                      <a:srgbClr val="78350F"/>
                    </a:solidFill>
                    <a:latin typeface="Arial"/>
                  </a:rPr>
                  <a:t> and a skew line is the distance, in the plane perpendicular to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𝐴</m:t>
                    </m:r>
                  </m:oMath>
                </a14:m>
                <a:r>
                  <a:rPr sz="2400" b="0">
                    <a:solidFill>
                      <a:srgbClr val="78350F"/>
                    </a:solidFill>
                    <a:latin typeface="Arial"/>
                  </a:rPr>
                  <a:t>, between the point </a:t>
                </a:r>
                <a14:m>
                  <m:oMath xmlns:m="http://schemas.openxmlformats.org/officeDocument/2006/math">
                    <m:r>
                      <a:rPr lang="en-IN" sz="2400" i="1">
                        <a:solidFill>
                          <a:srgbClr val="78350F"/>
                        </a:solidFill>
                        <a:latin typeface="Cambria Math" panose="02040503050406030204" pitchFamily="18" charset="0"/>
                      </a:rPr>
                      <m:t>𝑂</m:t>
                    </m:r>
                  </m:oMath>
                </a14:m>
                <a:r>
                  <a:rPr sz="2400" b="0">
                    <a:solidFill>
                      <a:srgbClr val="78350F"/>
                    </a:solidFill>
                    <a:latin typeface="Arial"/>
                  </a:rPr>
                  <a:t> and the projection of the diagonal.</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Project along the edge: the distance between the line </a:t>
                </a:r>
                <a:r>
                  <a:rPr lang="en-IN" sz="2400">
                    <a:solidFill>
                      <a:srgbClr val="78350F"/>
                    </a:solidFill>
                    <a:latin typeface="Cambria Math" panose="02040503050406030204" pitchFamily="18" charset="0"/>
                  </a:rPr>
                  <a:t>$OA$</a:t>
                </a:r>
                <a:r>
                  <a:rPr sz="2400" b="0">
                    <a:solidFill>
                      <a:srgbClr val="78350F"/>
                    </a:solidFill>
                    <a:latin typeface="Arial"/>
                  </a:rPr>
                  <a:t> and a skew line is the distance, in the plane perpendicular to </a:t>
                </a:r>
                <a:r>
                  <a:rPr lang="en-IN" sz="2400">
                    <a:solidFill>
                      <a:srgbClr val="78350F"/>
                    </a:solidFill>
                    <a:latin typeface="Cambria Math" panose="02040503050406030204" pitchFamily="18" charset="0"/>
                  </a:rPr>
                  <a:t>$OA$</a:t>
                </a:r>
                <a:r>
                  <a:rPr sz="2400" b="0">
                    <a:solidFill>
                      <a:srgbClr val="78350F"/>
                    </a:solidFill>
                    <a:latin typeface="Arial"/>
                  </a:rPr>
                  <a:t>, between the point </a:t>
                </a:r>
                <a:r>
                  <a:rPr lang="en-IN" sz="2400">
                    <a:solidFill>
                      <a:srgbClr val="78350F"/>
                    </a:solidFill>
                    <a:latin typeface="Cambria Math" panose="02040503050406030204" pitchFamily="18" charset="0"/>
                  </a:rPr>
                  <a:t>$O$</a:t>
                </a:r>
                <a:r>
                  <a:rPr sz="2400" b="0">
                    <a:solidFill>
                      <a:srgbClr val="78350F"/>
                    </a:solidFill>
                    <a:latin typeface="Arial"/>
                  </a:rPr>
                  <a:t> and the projection of the diagonal.</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edge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oMath>
                </a14:m>
                <a:r>
                  <a:rPr sz="2400" b="0">
                    <a:solidFill>
                      <a:srgbClr val="111827"/>
                    </a:solidFill>
                    <a:latin typeface="Arial"/>
                  </a:rPr>
                  <a:t> is parallel to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so project everything on the </a:t>
                </a:r>
                <a14:m>
                  <m:oMath xmlns:m="http://schemas.openxmlformats.org/officeDocument/2006/math">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𝑧</m:t>
                    </m:r>
                  </m:oMath>
                </a14:m>
                <a:r>
                  <a:rPr sz="2400" b="0">
                    <a:solidFill>
                      <a:srgbClr val="111827"/>
                    </a:solidFill>
                    <a:latin typeface="Arial"/>
                  </a:rPr>
                  <a:t>-plane: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oMath>
                </a14:m>
                <a:r>
                  <a:rPr sz="2400" b="0">
                    <a:solidFill>
                      <a:srgbClr val="111827"/>
                    </a:solidFill>
                    <a:latin typeface="Arial"/>
                  </a:rPr>
                  <a:t> becomes the single point </a:t>
                </a:r>
                <a14:m>
                  <m:oMath xmlns:m="http://schemas.openxmlformats.org/officeDocument/2006/math">
                    <m:sSup>
                      <m:e>
                        <m:r>
                          <a:rPr lang="en-IN" sz="2400" i="1">
                            <a:solidFill>
                              <a:srgbClr val="111827"/>
                            </a:solidFill>
                            <a:latin typeface="Cambria Math" panose="02040503050406030204" pitchFamily="18" charset="0"/>
                          </a:rPr>
                          <m:t>𝑂</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diagonal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projects to the line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in the </a:t>
                </a:r>
                <a14:m>
                  <m:oMath xmlns:m="http://schemas.openxmlformats.org/officeDocument/2006/math">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𝑧</m:t>
                    </m:r>
                  </m:oMath>
                </a14:m>
                <a:r>
                  <a:rPr sz="2400" b="0">
                    <a:solidFill>
                      <a:srgbClr val="111827"/>
                    </a:solidFill>
                    <a:latin typeface="Arial"/>
                  </a:rPr>
                  <a:t>-plane.</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edge </a:t>
                </a:r>
                <a:r>
                  <a:rPr lang="en-IN" sz="2400">
                    <a:solidFill>
                      <a:srgbClr val="111827"/>
                    </a:solidFill>
                    <a:latin typeface="Cambria Math" panose="02040503050406030204" pitchFamily="18" charset="0"/>
                  </a:rPr>
                  <a:t>$OA$</a:t>
                </a:r>
                <a:r>
                  <a:rPr sz="2400" b="0">
                    <a:solidFill>
                      <a:srgbClr val="111827"/>
                    </a:solidFill>
                    <a:latin typeface="Arial"/>
                  </a:rPr>
                  <a:t> is parallel to the </a:t>
                </a:r>
                <a:r>
                  <a:rPr lang="en-IN" sz="2400">
                    <a:solidFill>
                      <a:srgbClr val="111827"/>
                    </a:solidFill>
                    <a:latin typeface="Cambria Math" panose="02040503050406030204" pitchFamily="18" charset="0"/>
                  </a:rPr>
                  <a:t>$x$</a:t>
                </a:r>
                <a:r>
                  <a:rPr sz="2400" b="0">
                    <a:solidFill>
                      <a:srgbClr val="111827"/>
                    </a:solidFill>
                    <a:latin typeface="Arial"/>
                  </a:rPr>
                  <a:t>-axis, so project everything on the </a:t>
                </a:r>
                <a:r>
                  <a:rPr lang="en-IN" sz="2400">
                    <a:solidFill>
                      <a:srgbClr val="111827"/>
                    </a:solidFill>
                    <a:latin typeface="Cambria Math" panose="02040503050406030204" pitchFamily="18" charset="0"/>
                  </a:rPr>
                  <a:t>$yz$</a:t>
                </a:r>
                <a:r>
                  <a:rPr sz="2400" b="0">
                    <a:solidFill>
                      <a:srgbClr val="111827"/>
                    </a:solidFill>
                    <a:latin typeface="Arial"/>
                  </a:rPr>
                  <a:t>-plane: </a:t>
                </a:r>
                <a:r>
                  <a:rPr lang="en-IN" sz="2400">
                    <a:solidFill>
                      <a:srgbClr val="111827"/>
                    </a:solidFill>
                    <a:latin typeface="Cambria Math" panose="02040503050406030204" pitchFamily="18" charset="0"/>
                  </a:rPr>
                  <a:t>$OA$</a:t>
                </a:r>
                <a:r>
                  <a:rPr sz="2400" b="0">
                    <a:solidFill>
                      <a:srgbClr val="111827"/>
                    </a:solidFill>
                    <a:latin typeface="Arial"/>
                  </a:rPr>
                  <a:t> becomes the single point </a:t>
                </a:r>
                <a:r>
                  <a:rPr lang="en-IN" sz="2400">
                    <a:solidFill>
                      <a:srgbClr val="111827"/>
                    </a:solidFill>
                    <a:latin typeface="Cambria Math" panose="02040503050406030204" pitchFamily="18" charset="0"/>
                  </a:rPr>
                  <a:t>$O'=(0,0)$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diagonal from </a:t>
                </a:r>
                <a:r>
                  <a:rPr lang="en-IN" sz="2400">
                    <a:solidFill>
                      <a:srgbClr val="111827"/>
                    </a:solidFill>
                    <a:latin typeface="Cambria Math" panose="02040503050406030204" pitchFamily="18" charset="0"/>
                  </a:rPr>
                  <a:t>$(0,b,0)$</a:t>
                </a:r>
                <a:r>
                  <a:rPr sz="2400" b="0">
                    <a:solidFill>
                      <a:srgbClr val="111827"/>
                    </a:solidFill>
                    <a:latin typeface="Arial"/>
                  </a:rPr>
                  <a:t> to </a:t>
                </a:r>
                <a:r>
                  <a:rPr lang="en-IN" sz="2400">
                    <a:solidFill>
                      <a:srgbClr val="111827"/>
                    </a:solidFill>
                    <a:latin typeface="Cambria Math" panose="02040503050406030204" pitchFamily="18" charset="0"/>
                  </a:rPr>
                  <a:t>$(a,0,c)$</a:t>
                </a:r>
                <a:r>
                  <a:rPr sz="2400" b="0">
                    <a:solidFill>
                      <a:srgbClr val="111827"/>
                    </a:solidFill>
                    <a:latin typeface="Arial"/>
                  </a:rPr>
                  <a:t> projects to the line through </a:t>
                </a:r>
                <a:r>
                  <a:rPr lang="en-IN" sz="2400">
                    <a:solidFill>
                      <a:srgbClr val="111827"/>
                    </a:solidFill>
                    <a:latin typeface="Cambria Math" panose="02040503050406030204" pitchFamily="18" charset="0"/>
                  </a:rPr>
                  <a:t>$(b,0)$</a:t>
                </a:r>
                <a:r>
                  <a:rPr sz="2400" b="0">
                    <a:solidFill>
                      <a:srgbClr val="111827"/>
                    </a:solidFill>
                    <a:latin typeface="Arial"/>
                  </a:rPr>
                  <a:t> and </a:t>
                </a:r>
                <a:r>
                  <a:rPr lang="en-IN" sz="2400">
                    <a:solidFill>
                      <a:srgbClr val="111827"/>
                    </a:solidFill>
                    <a:latin typeface="Cambria Math" panose="02040503050406030204" pitchFamily="18" charset="0"/>
                  </a:rPr>
                  <a:t>$(0,c)$</a:t>
                </a:r>
                <a:r>
                  <a:rPr sz="2400" b="0">
                    <a:solidFill>
                      <a:srgbClr val="111827"/>
                    </a:solidFill>
                    <a:latin typeface="Arial"/>
                  </a:rPr>
                  <a:t>: </a:t>
                </a:r>
                <a:r>
                  <a:rPr lang="en-IN" sz="2400">
                    <a:solidFill>
                      <a:srgbClr val="111827"/>
                    </a:solidFill>
                    <a:latin typeface="Cambria Math" panose="02040503050406030204" pitchFamily="18" charset="0"/>
                  </a:rPr>
                  <a:t>$\frac yb+\frac zc=1$</a:t>
                </a:r>
                <a:r>
                  <a:rPr sz="2400" b="0">
                    <a:solidFill>
                      <a:srgbClr val="111827"/>
                    </a:solidFill>
                    <a:latin typeface="Arial"/>
                  </a:rPr>
                  <a:t> in the </a:t>
                </a:r>
                <a:r>
                  <a:rPr lang="en-IN" sz="2400">
                    <a:solidFill>
                      <a:srgbClr val="111827"/>
                    </a:solidFill>
                    <a:latin typeface="Cambria Math" panose="02040503050406030204" pitchFamily="18" charset="0"/>
                  </a:rPr>
                  <a:t>$yz$</a:t>
                </a:r>
                <a:r>
                  <a:rPr sz="2400" b="0">
                    <a:solidFill>
                      <a:srgbClr val="111827"/>
                    </a:solidFill>
                    <a:latin typeface="Arial"/>
                  </a:rPr>
                  <a:t>-plane.</a:t>
                </a:r>
                <a:endParaRPr sz="2400">
                  <a:solidFill>
                    <a:srgbClr val="111827"/>
                  </a:solidFill>
                </a:endParaRPr>
              </a:p>
            </p:txBody>
          </p:sp>
        </mc:Fallback>
      </mc:AlternateContent>
    </p:spTree>
  </p:cSld>
  <p:clrMapOvr>
    <a:masterClrMapping/>
  </p:clrMapOvr>
</p:sld>
</file>

<file path=ppt/slides/slide3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distance from the origin to this line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𝑙</m:t>
                    </m:r>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Cyclically, the sum is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and the ratio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distance from the origin to this line is </a:t>
                </a:r>
                <a:r>
                  <a:rPr lang="en-IN" sz="2400">
                    <a:solidFill>
                      <a:srgbClr val="111827"/>
                    </a:solidFill>
                    <a:latin typeface="Cambria Math" panose="02040503050406030204" pitchFamily="18" charset="0"/>
                  </a:rPr>
                  <a:t>$\frac{1}{\sqrt{\frac1{b^2}+\frac1{c^2}}}=l$</a:t>
                </a:r>
                <a:r>
                  <a:rPr sz="2400" b="0">
                    <a:solidFill>
                      <a:srgbClr val="111827"/>
                    </a:solidFill>
                    <a:latin typeface="Arial"/>
                  </a:rPr>
                  <a:t>, so </a:t>
                </a:r>
                <a:r>
                  <a:rPr lang="en-IN" sz="2400">
                    <a:solidFill>
                      <a:srgbClr val="111827"/>
                    </a:solidFill>
                    <a:latin typeface="Cambria Math" panose="02040503050406030204" pitchFamily="18" charset="0"/>
                  </a:rPr>
                  <a:t>$\frac1{l^2}=\frac1{b^2}+\frac1{c^2}$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Cyclically, the sum is </a:t>
                </a:r>
                <a:r>
                  <a:rPr lang="en-IN" sz="2400">
                    <a:solidFill>
                      <a:srgbClr val="111827"/>
                    </a:solidFill>
                    <a:latin typeface="Cambria Math" panose="02040503050406030204" pitchFamily="18" charset="0"/>
                  </a:rPr>
                  <a:t>$2\sum\frac1{a^2}$</a:t>
                </a:r>
                <a:r>
                  <a:rPr sz="2400" b="0">
                    <a:solidFill>
                      <a:srgbClr val="111827"/>
                    </a:solidFill>
                    <a:latin typeface="Arial"/>
                  </a:rPr>
                  <a:t> and the ratio is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2</a:t>
            </a:r>
            <a:endParaRPr sz="2800">
              <a:solidFill>
                <a:srgbClr val="15803D"/>
              </a:solidFill>
            </a:endParaRPr>
          </a:p>
        </p:txBody>
      </p:sp>
    </p:spTree>
  </p:cSld>
  <p:clrMapOvr>
    <a:masterClrMapping/>
  </p:clrMapOvr>
</p:sld>
</file>

<file path=ppt/slides/slide3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shortest distance between an edge of a rectangular box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and a skew face/body diagonal not meeting it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num>
                      <m:den>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e>
                        </m:rad>
                      </m:den>
                    </m:f>
                  </m:oMath>
                </a14:m>
                <a:r>
                  <a:rPr sz="2400" b="0">
                    <a:solidFill>
                      <a:srgbClr val="111827"/>
                    </a:solidFill>
                    <a:latin typeface="Arial"/>
                  </a:rPr>
                  <a:t> (product over the other two edges divided by the diagonal of their face);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𝑙</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between a line parallel to an axis and a skew line = distance in the projection along that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Intercept form: the distance from the origin to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den>
                            </m:f>
                          </m:e>
                        </m:d>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shortest distance between an edge of a rectangular box (</a:t>
                </a:r>
                <a:r>
                  <a:rPr lang="en-IN" sz="2400">
                    <a:solidFill>
                      <a:srgbClr val="111827"/>
                    </a:solidFill>
                    <a:latin typeface="Cambria Math" panose="02040503050406030204" pitchFamily="18" charset="0"/>
                  </a:rPr>
                  <a:t>$a\times b\times c$</a:t>
                </a:r>
                <a:r>
                  <a:rPr sz="2400" b="0">
                    <a:solidFill>
                      <a:srgbClr val="111827"/>
                    </a:solidFill>
                    <a:latin typeface="Arial"/>
                  </a:rPr>
                  <a:t>) and a skew face/body diagonal not meeting it is </a:t>
                </a:r>
                <a:r>
                  <a:rPr lang="en-IN" sz="2400">
                    <a:solidFill>
                      <a:srgbClr val="111827"/>
                    </a:solidFill>
                    <a:latin typeface="Cambria Math" panose="02040503050406030204" pitchFamily="18" charset="0"/>
                  </a:rPr>
                  <a:t>$\frac{bc}{\sqrt{b^2+c^2}}$</a:t>
                </a:r>
                <a:r>
                  <a:rPr sz="2400" b="0">
                    <a:solidFill>
                      <a:srgbClr val="111827"/>
                    </a:solidFill>
                    <a:latin typeface="Arial"/>
                  </a:rPr>
                  <a:t> (product over the other two edges divided by the diagonal of their face); </a:t>
                </a:r>
                <a:r>
                  <a:rPr lang="en-IN" sz="2400">
                    <a:solidFill>
                      <a:srgbClr val="111827"/>
                    </a:solidFill>
                    <a:latin typeface="Cambria Math" panose="02040503050406030204" pitchFamily="18" charset="0"/>
                  </a:rPr>
                  <a:t>$\frac{1}{l^2}=\frac1{b^2}+\frac1{c^2}$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between a line parallel to an axis and a skew line = distance in the projection along that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Intercept form: the distance from the origin to </a:t>
                </a:r>
                <a:r>
                  <a:rPr lang="en-IN" sz="2400">
                    <a:solidFill>
                      <a:srgbClr val="111827"/>
                    </a:solidFill>
                    <a:latin typeface="Cambria Math" panose="02040503050406030204" pitchFamily="18" charset="0"/>
                  </a:rPr>
                  <a:t>$\frac yb+\frac zc=1$</a:t>
                </a:r>
                <a:r>
                  <a:rPr sz="2400" b="0">
                    <a:solidFill>
                      <a:srgbClr val="111827"/>
                    </a:solidFill>
                    <a:latin typeface="Arial"/>
                  </a:rPr>
                  <a:t> is </a:t>
                </a:r>
                <a:r>
                  <a:rPr lang="en-IN" sz="2400">
                    <a:solidFill>
                      <a:srgbClr val="111827"/>
                    </a:solidFill>
                    <a:latin typeface="Cambria Math" panose="02040503050406030204" pitchFamily="18" charset="0"/>
                  </a:rPr>
                  <a:t>$\left(\frac1{b^2}+\frac1{c^2}\right)^{-1/2}$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is the number of non zero vectors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which are perpendicular to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Then sum of digits of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V_1=\hat i+\hat j+\hat k$</a:t>
                </a:r>
                <a:r>
                  <a:rPr sz="2400" b="0">
                    <a:solidFill>
                      <a:srgbClr val="111827"/>
                    </a:solidFill>
                    <a:latin typeface="Arial"/>
                  </a:rPr>
                  <a:t>, </a:t>
                </a:r>
                <a:r>
                  <a:rPr lang="en-IN" sz="2400">
                    <a:solidFill>
                      <a:srgbClr val="111827"/>
                    </a:solidFill>
                    <a:latin typeface="Cambria Math" panose="02040503050406030204" pitchFamily="18" charset="0"/>
                  </a:rPr>
                  <a:t>$\vec V_2=a\hat i+b\hat j+c\hat k$</a:t>
                </a:r>
                <a:r>
                  <a:rPr sz="2400" b="0">
                    <a:solidFill>
                      <a:srgbClr val="111827"/>
                    </a:solidFill>
                    <a:latin typeface="Arial"/>
                  </a:rPr>
                  <a:t> where </a:t>
                </a:r>
                <a:r>
                  <a:rPr lang="en-IN" sz="2400">
                    <a:solidFill>
                      <a:srgbClr val="111827"/>
                    </a:solidFill>
                    <a:latin typeface="Cambria Math" panose="02040503050406030204" pitchFamily="18" charset="0"/>
                  </a:rPr>
                  <a:t>$a,b,c\in\{-2,-1,0,1,2\}$</a:t>
                </a:r>
                <a:r>
                  <a:rPr sz="2400" b="0">
                    <a:solidFill>
                      <a:srgbClr val="111827"/>
                    </a:solidFill>
                    <a:latin typeface="Arial"/>
                  </a:rPr>
                  <a:t>. If </a:t>
                </a:r>
                <a:r>
                  <a:rPr lang="en-IN" sz="2400">
                    <a:solidFill>
                      <a:srgbClr val="111827"/>
                    </a:solidFill>
                    <a:latin typeface="Cambria Math" panose="02040503050406030204" pitchFamily="18" charset="0"/>
                  </a:rPr>
                  <a:t>$p$</a:t>
                </a:r>
                <a:r>
                  <a:rPr sz="2400" b="0">
                    <a:solidFill>
                      <a:srgbClr val="111827"/>
                    </a:solidFill>
                    <a:latin typeface="Arial"/>
                  </a:rPr>
                  <a:t> is the number of non zero vectors </a:t>
                </a:r>
                <a:r>
                  <a:rPr lang="en-IN" sz="2400">
                    <a:solidFill>
                      <a:srgbClr val="111827"/>
                    </a:solidFill>
                    <a:latin typeface="Cambria Math" panose="02040503050406030204" pitchFamily="18" charset="0"/>
                  </a:rPr>
                  <a:t>$\vec V_2$</a:t>
                </a:r>
                <a:r>
                  <a:rPr sz="2400" b="0">
                    <a:solidFill>
                      <a:srgbClr val="111827"/>
                    </a:solidFill>
                    <a:latin typeface="Arial"/>
                  </a:rPr>
                  <a:t> which are perpendicular to </a:t>
                </a:r>
                <a:r>
                  <a:rPr lang="en-IN" sz="2400">
                    <a:solidFill>
                      <a:srgbClr val="111827"/>
                    </a:solidFill>
                    <a:latin typeface="Cambria Math" panose="02040503050406030204" pitchFamily="18" charset="0"/>
                  </a:rPr>
                  <a:t>$\vec V_1$</a:t>
                </a:r>
                <a:r>
                  <a:rPr sz="2400" b="0">
                    <a:solidFill>
                      <a:srgbClr val="111827"/>
                    </a:solidFill>
                    <a:latin typeface="Arial"/>
                  </a:rPr>
                  <a:t>. Then sum of digits of </a:t>
                </a:r>
                <a:r>
                  <a:rPr lang="en-IN" sz="2400">
                    <a:solidFill>
                      <a:srgbClr val="111827"/>
                    </a:solidFill>
                    <a:latin typeface="Cambria Math" panose="02040503050406030204" pitchFamily="18" charset="0"/>
                  </a:rPr>
                  <a:t>$p$</a:t>
                </a:r>
                <a:r>
                  <a:rPr sz="2400" b="0">
                    <a:solidFill>
                      <a:srgbClr val="111827"/>
                    </a:solidFill>
                    <a:latin typeface="Arial"/>
                  </a:rPr>
                  <a:t> is ________.</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Counting solutions of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with bounded integers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Choice>
        <mc:Fallback>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Counting solutions of </a:t>
                </a:r>
                <a:r>
                  <a:rPr lang="en-IN" sz="2400">
                    <a:solidFill>
                      <a:srgbClr val="111827"/>
                    </a:solidFill>
                    <a:latin typeface="Cambria Math" panose="02040503050406030204" pitchFamily="18" charset="0"/>
                  </a:rPr>
                  <a:t>$a+b+c=0$</a:t>
                </a:r>
                <a:r>
                  <a:rPr sz="2400" b="0">
                    <a:solidFill>
                      <a:srgbClr val="111827"/>
                    </a:solidFill>
                    <a:latin typeface="Arial"/>
                  </a:rPr>
                  <a:t> with bounded integers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Fallback>
      </mc:AlternateContent>
    </p:spTree>
  </p:cSld>
  <p:clrMapOvr>
    <a:masterClrMapping/>
  </p:clrMapOvr>
</p:sld>
</file>

<file path=ppt/slides/slide3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𝑉</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𝑉</m:t>
                            </m:r>
                          </m:e>
                        </m:acc>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means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count the non-zero ordered triples from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$\vec V_1\cdot\vec V_2=0$</a:t>
                </a:r>
                <a:r>
                  <a:rPr sz="2400" b="0">
                    <a:solidFill>
                      <a:srgbClr val="78350F"/>
                    </a:solidFill>
                    <a:latin typeface="Arial"/>
                  </a:rPr>
                  <a:t> means </a:t>
                </a:r>
                <a:r>
                  <a:rPr lang="en-IN" sz="2400">
                    <a:solidFill>
                      <a:srgbClr val="78350F"/>
                    </a:solidFill>
                    <a:latin typeface="Cambria Math" panose="02040503050406030204" pitchFamily="18" charset="0"/>
                  </a:rPr>
                  <a:t>$a+b+c=0$</a:t>
                </a:r>
                <a:r>
                  <a:rPr sz="2400" b="0">
                    <a:solidFill>
                      <a:srgbClr val="78350F"/>
                    </a:solidFill>
                    <a:latin typeface="Arial"/>
                  </a:rPr>
                  <a:t>; count the non-zero ordered triples from </a:t>
                </a:r>
                <a:r>
                  <a:rPr lang="en-IN" sz="2400">
                    <a:solidFill>
                      <a:srgbClr val="78350F"/>
                    </a:solidFill>
                    <a:latin typeface="Cambria Math" panose="02040503050406030204" pitchFamily="18" charset="0"/>
                  </a:rPr>
                  <a:t>$\{-2,\dots,2\}$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all three different,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(ii)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all three different,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vectors.</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V_1\cdot\vec V_2=a+b+c=0$</a:t>
                </a:r>
                <a:r>
                  <a:rPr sz="2400" b="0">
                    <a:solidFill>
                      <a:srgbClr val="111827"/>
                    </a:solidFill>
                    <a:latin typeface="Arial"/>
                  </a:rPr>
                  <a:t> with </a:t>
                </a:r>
                <a:r>
                  <a:rPr lang="en-IN" sz="2400">
                    <a:solidFill>
                      <a:srgbClr val="111827"/>
                    </a:solidFill>
                    <a:latin typeface="Cambria Math" panose="02040503050406030204" pitchFamily="18" charset="0"/>
                  </a:rPr>
                  <a:t>$a,b,c\in\{-2,-1,0,1,2\}$</a:t>
                </a:r>
                <a:r>
                  <a:rPr sz="2400" b="0">
                    <a:solidFill>
                      <a:srgbClr val="111827"/>
                    </a:solidFill>
                    <a:latin typeface="Arial"/>
                  </a:rPr>
                  <a:t> and </a:t>
                </a:r>
                <a:r>
                  <a:rPr lang="en-IN" sz="2400">
                    <a:solidFill>
                      <a:srgbClr val="111827"/>
                    </a:solidFill>
                    <a:latin typeface="Cambria Math" panose="02040503050406030204" pitchFamily="18" charset="0"/>
                  </a:rPr>
                  <a:t>$\vec V_2\ne\vec 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 </a:t>
                </a:r>
                <a:r>
                  <a:rPr lang="en-IN" sz="2400">
                    <a:solidFill>
                      <a:srgbClr val="111827"/>
                    </a:solidFill>
                    <a:latin typeface="Cambria Math" panose="02040503050406030204" pitchFamily="18" charset="0"/>
                  </a:rPr>
                  <a:t>$\{1,-1,0\}$</a:t>
                </a:r>
                <a:r>
                  <a:rPr sz="2400" b="0">
                    <a:solidFill>
                      <a:srgbClr val="111827"/>
                    </a:solidFill>
                    <a:latin typeface="Arial"/>
                  </a:rPr>
                  <a:t>: all three different, </a:t>
                </a:r>
                <a:r>
                  <a:rPr lang="en-IN" sz="2400">
                    <a:solidFill>
                      <a:srgbClr val="111827"/>
                    </a:solidFill>
                    <a:latin typeface="Cambria Math" panose="02040503050406030204" pitchFamily="18" charset="0"/>
                  </a:rPr>
                  <a:t>$3!=6$</a:t>
                </a:r>
                <a:r>
                  <a:rPr sz="2400" b="0">
                    <a:solidFill>
                      <a:srgbClr val="111827"/>
                    </a:solidFill>
                    <a:latin typeface="Arial"/>
                  </a:rPr>
                  <a:t>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(ii) </a:t>
                </a:r>
                <a:r>
                  <a:rPr lang="en-IN" sz="2400">
                    <a:solidFill>
                      <a:srgbClr val="111827"/>
                    </a:solidFill>
                    <a:latin typeface="Cambria Math" panose="02040503050406030204" pitchFamily="18" charset="0"/>
                  </a:rPr>
                  <a:t>$\{2,-2,0\}$</a:t>
                </a:r>
                <a:r>
                  <a:rPr sz="2400" b="0">
                    <a:solidFill>
                      <a:srgbClr val="111827"/>
                    </a:solidFill>
                    <a:latin typeface="Arial"/>
                  </a:rPr>
                  <a:t>: all three different, </a:t>
                </a:r>
                <a:r>
                  <a:rPr lang="en-IN" sz="2400">
                    <a:solidFill>
                      <a:srgbClr val="111827"/>
                    </a:solidFill>
                    <a:latin typeface="Cambria Math" panose="02040503050406030204" pitchFamily="18" charset="0"/>
                  </a:rPr>
                  <a:t>$3!=6$</a:t>
                </a:r>
                <a:r>
                  <a:rPr sz="2400" b="0">
                    <a:solidFill>
                      <a:srgbClr val="111827"/>
                    </a:solidFill>
                    <a:latin typeface="Arial"/>
                  </a:rPr>
                  <a:t> vectors.</a:t>
                </a:r>
                <a:endParaRPr sz="2400">
                  <a:solidFill>
                    <a:srgbClr val="111827"/>
                  </a:solidFill>
                </a:endParaRPr>
              </a:p>
            </p:txBody>
          </p:sp>
        </mc:Fallback>
      </mc:AlternateContent>
    </p:spTree>
  </p:cSld>
  <p:clrMapOvr>
    <a:masterClrMapping/>
  </p:clrMapOvr>
</p:sld>
</file>

<file path=ppt/slides/slide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(iii)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two equal,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(iv)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two equal,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 whose digits sum to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(iii) </a:t>
                </a:r>
                <a:r>
                  <a:rPr lang="en-IN" sz="2400">
                    <a:solidFill>
                      <a:srgbClr val="111827"/>
                    </a:solidFill>
                    <a:latin typeface="Cambria Math" panose="02040503050406030204" pitchFamily="18" charset="0"/>
                  </a:rPr>
                  <a:t>$\{1,1,-2\}$</a:t>
                </a:r>
                <a:r>
                  <a:rPr sz="2400" b="0">
                    <a:solidFill>
                      <a:srgbClr val="111827"/>
                    </a:solidFill>
                    <a:latin typeface="Arial"/>
                  </a:rPr>
                  <a:t>: two equal, </a:t>
                </a:r>
                <a:r>
                  <a:rPr lang="en-IN" sz="2400">
                    <a:solidFill>
                      <a:srgbClr val="111827"/>
                    </a:solidFill>
                    <a:latin typeface="Cambria Math" panose="02040503050406030204" pitchFamily="18" charset="0"/>
                  </a:rPr>
                  <a:t>$\frac{3!}{2!}=3$</a:t>
                </a:r>
                <a:r>
                  <a:rPr sz="2400" b="0">
                    <a:solidFill>
                      <a:srgbClr val="111827"/>
                    </a:solidFill>
                    <a:latin typeface="Arial"/>
                  </a:rPr>
                  <a:t>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(iv) </a:t>
                </a:r>
                <a:r>
                  <a:rPr lang="en-IN" sz="2400">
                    <a:solidFill>
                      <a:srgbClr val="111827"/>
                    </a:solidFill>
                    <a:latin typeface="Cambria Math" panose="02040503050406030204" pitchFamily="18" charset="0"/>
                  </a:rPr>
                  <a:t>$\{-1,-1,2\}$</a:t>
                </a:r>
                <a:r>
                  <a:rPr sz="2400" b="0">
                    <a:solidFill>
                      <a:srgbClr val="111827"/>
                    </a:solidFill>
                    <a:latin typeface="Arial"/>
                  </a:rPr>
                  <a:t>: two equal, </a:t>
                </a:r>
                <a:r>
                  <a:rPr lang="en-IN" sz="2400">
                    <a:solidFill>
                      <a:srgbClr val="111827"/>
                    </a:solidFill>
                    <a:latin typeface="Cambria Math" panose="02040503050406030204" pitchFamily="18" charset="0"/>
                  </a:rPr>
                  <a:t>$\frac{3!}{2!}=3$</a:t>
                </a:r>
                <a:r>
                  <a:rPr sz="2400" b="0">
                    <a:solidFill>
                      <a:srgbClr val="111827"/>
                    </a:solidFill>
                    <a:latin typeface="Arial"/>
                  </a:rPr>
                  <a:t>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$p=6+6+3+3=18$</a:t>
                </a:r>
                <a:r>
                  <a:rPr sz="2400" b="0">
                    <a:solidFill>
                      <a:srgbClr val="111827"/>
                    </a:solidFill>
                    <a:latin typeface="Arial"/>
                  </a:rPr>
                  <a:t>, whose digits sum to </a:t>
                </a:r>
                <a:r>
                  <a:rPr lang="en-IN" sz="2400">
                    <a:solidFill>
                      <a:srgbClr val="111827"/>
                    </a:solidFill>
                    <a:latin typeface="Cambria Math" panose="02040503050406030204" pitchFamily="18" charset="0"/>
                  </a:rPr>
                  <a:t>$1+8=9$</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9</a:t>
            </a:r>
            <a:endParaRPr sz="2800">
              <a:solidFill>
                <a:srgbClr val="15803D"/>
              </a:solidFill>
            </a:endParaRPr>
          </a:p>
        </p:txBody>
      </p:sp>
    </p:spTree>
  </p:cSld>
  <p:clrMapOvr>
    <a:masterClrMapping/>
  </p:clrMapOvr>
</p:sld>
</file>

<file path=ppt/slides/slide3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Stars and bars with inclusion-exclusion: shift by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 so that </a:t>
                </a:r>
                <a14:m>
                  <m:oMath xmlns:m="http://schemas.openxmlformats.org/officeDocument/2006/math">
                    <m:sSup>
                      <m:e>
                        <m:r>
                          <a:rPr lang="en-IN" sz="2400" i="1">
                            <a:solidFill>
                              <a:srgbClr val="78350F"/>
                            </a:solidFill>
                            <a:latin typeface="Cambria Math" panose="02040503050406030204" pitchFamily="18" charset="0"/>
                          </a:rPr>
                          <m:t>𝑎</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𝑐</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𝑏</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𝑐</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Stars and bars with inclusion-exclusion: shift by </a:t>
                </a:r>
                <a:r>
                  <a:rPr lang="en-IN" sz="2400">
                    <a:solidFill>
                      <a:srgbClr val="78350F"/>
                    </a:solidFill>
                    <a:latin typeface="Cambria Math" panose="02040503050406030204" pitchFamily="18" charset="0"/>
                  </a:rPr>
                  <a:t>$2$</a:t>
                </a:r>
                <a:r>
                  <a:rPr sz="2400" b="0">
                    <a:solidFill>
                      <a:srgbClr val="78350F"/>
                    </a:solidFill>
                    <a:latin typeface="Arial"/>
                  </a:rPr>
                  <a:t> so that </a:t>
                </a:r>
                <a:r>
                  <a:rPr lang="en-IN" sz="2400">
                    <a:solidFill>
                      <a:srgbClr val="78350F"/>
                    </a:solidFill>
                    <a:latin typeface="Cambria Math" panose="02040503050406030204" pitchFamily="18" charset="0"/>
                  </a:rPr>
                  <a:t>$a'+b'+c'=6$</a:t>
                </a:r>
                <a:r>
                  <a:rPr sz="2400" b="0">
                    <a:solidFill>
                      <a:srgbClr val="78350F"/>
                    </a:solidFill>
                    <a:latin typeface="Arial"/>
                  </a:rPr>
                  <a:t> with </a:t>
                </a:r>
                <a:r>
                  <a:rPr lang="en-IN" sz="2400">
                    <a:solidFill>
                      <a:srgbClr val="78350F"/>
                    </a:solidFill>
                    <a:latin typeface="Cambria Math" panose="02040503050406030204" pitchFamily="18" charset="0"/>
                  </a:rPr>
                  <a:t>$0\le a',b',c'\le4$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etc.: </a:t>
                </a:r>
                <a14:m>
                  <m:oMath xmlns:m="http://schemas.openxmlformats.org/officeDocument/2006/math">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Without the upper bound: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Subtract the cases where some variable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(two variables cannot both be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Valid triples: </a:t>
                </a:r>
                <a14:m>
                  <m:oMath xmlns:m="http://schemas.openxmlformats.org/officeDocument/2006/math">
                    <m:r>
                      <a:rPr lang="en-IN" sz="2400" i="1">
                        <a:solidFill>
                          <a:srgbClr val="111827"/>
                        </a:solidFill>
                        <a:latin typeface="Cambria Math" panose="02040503050406030204" pitchFamily="18" charset="0"/>
                      </a:rPr>
                      <m:t>28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oMath>
                </a14:m>
                <a:r>
                  <a:rPr sz="2400" b="0">
                    <a:solidFill>
                      <a:srgbClr val="111827"/>
                    </a:solidFill>
                    <a:latin typeface="Arial"/>
                  </a:rPr>
                  <a:t>; remove the zero vector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 and the digit sum is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$a'=a+2$</a:t>
                </a:r>
                <a:r>
                  <a:rPr sz="2400" b="0">
                    <a:solidFill>
                      <a:srgbClr val="111827"/>
                    </a:solidFill>
                    <a:latin typeface="Arial"/>
                  </a:rPr>
                  <a:t> etc.: </a:t>
                </a:r>
                <a:r>
                  <a:rPr lang="en-IN" sz="2400">
                    <a:solidFill>
                      <a:srgbClr val="111827"/>
                    </a:solidFill>
                    <a:latin typeface="Cambria Math" panose="02040503050406030204" pitchFamily="18" charset="0"/>
                  </a:rPr>
                  <a:t>$a'+b'+c'=6$</a:t>
                </a:r>
                <a:r>
                  <a:rPr sz="2400" b="0">
                    <a:solidFill>
                      <a:srgbClr val="111827"/>
                    </a:solidFill>
                    <a:latin typeface="Arial"/>
                  </a:rPr>
                  <a:t>, </a:t>
                </a:r>
                <a:r>
                  <a:rPr lang="en-IN" sz="2400">
                    <a:solidFill>
                      <a:srgbClr val="111827"/>
                    </a:solidFill>
                    <a:latin typeface="Cambria Math" panose="02040503050406030204" pitchFamily="18" charset="0"/>
                  </a:rPr>
                  <a:t>$0\le a',b',c'\le4$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Without the upper bound: </a:t>
                </a:r>
                <a:r>
                  <a:rPr lang="en-IN" sz="2400">
                    <a:solidFill>
                      <a:srgbClr val="111827"/>
                    </a:solidFill>
                    <a:latin typeface="Cambria Math" panose="02040503050406030204" pitchFamily="18" charset="0"/>
                  </a:rPr>
                  <a:t>$\binom{8}{2}=28$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Subtract the cases where some variable is </a:t>
                </a:r>
                <a:r>
                  <a:rPr lang="en-IN" sz="2400">
                    <a:solidFill>
                      <a:srgbClr val="111827"/>
                    </a:solidFill>
                    <a:latin typeface="Cambria Math" panose="02040503050406030204" pitchFamily="18" charset="0"/>
                  </a:rPr>
                  <a:t>$\ge5$</a:t>
                </a:r>
                <a:r>
                  <a:rPr sz="2400" b="0">
                    <a:solidFill>
                      <a:srgbClr val="111827"/>
                    </a:solidFill>
                    <a:latin typeface="Arial"/>
                  </a:rPr>
                  <a:t>: </a:t>
                </a:r>
                <a:r>
                  <a:rPr lang="en-IN" sz="2400">
                    <a:solidFill>
                      <a:srgbClr val="111827"/>
                    </a:solidFill>
                    <a:latin typeface="Cambria Math" panose="02040503050406030204" pitchFamily="18" charset="0"/>
                  </a:rPr>
                  <a:t>$3\times\binom{3}{2}=9$</a:t>
                </a:r>
                <a:r>
                  <a:rPr sz="2400" b="0">
                    <a:solidFill>
                      <a:srgbClr val="111827"/>
                    </a:solidFill>
                    <a:latin typeface="Arial"/>
                  </a:rPr>
                  <a:t> (two variables cannot both be </a:t>
                </a:r>
                <a:r>
                  <a:rPr lang="en-IN" sz="2400">
                    <a:solidFill>
                      <a:srgbClr val="111827"/>
                    </a:solidFill>
                    <a:latin typeface="Cambria Math" panose="02040503050406030204" pitchFamily="18" charset="0"/>
                  </a:rPr>
                  <a:t>$\ge5$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Valid triples: </a:t>
                </a:r>
                <a:r>
                  <a:rPr lang="en-IN" sz="2400">
                    <a:solidFill>
                      <a:srgbClr val="111827"/>
                    </a:solidFill>
                    <a:latin typeface="Cambria Math" panose="02040503050406030204" pitchFamily="18" charset="0"/>
                  </a:rPr>
                  <a:t>$28-9=19$</a:t>
                </a:r>
                <a:r>
                  <a:rPr sz="2400" b="0">
                    <a:solidFill>
                      <a:srgbClr val="111827"/>
                    </a:solidFill>
                    <a:latin typeface="Arial"/>
                  </a:rPr>
                  <a:t>; remove the zero vector </a:t>
                </a:r>
                <a:r>
                  <a:rPr lang="en-IN" sz="2400">
                    <a:solidFill>
                      <a:srgbClr val="111827"/>
                    </a:solidFill>
                    <a:latin typeface="Cambria Math" panose="02040503050406030204" pitchFamily="18" charset="0"/>
                  </a:rPr>
                  <a:t>$(a',b',c')=(2,2,2)$</a:t>
                </a:r>
                <a:r>
                  <a:rPr sz="2400" b="0">
                    <a:solidFill>
                      <a:srgbClr val="111827"/>
                    </a:solidFill>
                    <a:latin typeface="Arial"/>
                  </a:rPr>
                  <a:t>: </a:t>
                </a:r>
                <a:r>
                  <a:rPr lang="en-IN" sz="2400">
                    <a:solidFill>
                      <a:srgbClr val="111827"/>
                    </a:solidFill>
                    <a:latin typeface="Cambria Math" panose="02040503050406030204" pitchFamily="18" charset="0"/>
                  </a:rPr>
                  <a:t>$19-1=18$</a:t>
                </a:r>
                <a:r>
                  <a:rPr sz="2400" b="0">
                    <a:solidFill>
                      <a:srgbClr val="111827"/>
                    </a:solidFill>
                    <a:latin typeface="Arial"/>
                  </a:rPr>
                  <a:t>. So </a:t>
                </a:r>
                <a:r>
                  <a:rPr lang="en-IN" sz="2400">
                    <a:solidFill>
                      <a:srgbClr val="111827"/>
                    </a:solidFill>
                    <a:latin typeface="Cambria Math" panose="02040503050406030204" pitchFamily="18" charset="0"/>
                  </a:rPr>
                  <a:t>$p=18$</a:t>
                </a:r>
                <a:r>
                  <a:rPr sz="2400" b="0">
                    <a:solidFill>
                      <a:srgbClr val="111827"/>
                    </a:solidFill>
                    <a:latin typeface="Arial"/>
                  </a:rPr>
                  <a:t> and the digit sum is </a:t>
                </a:r>
                <a:r>
                  <a:rPr lang="en-IN" sz="2400">
                    <a:solidFill>
                      <a:srgbClr val="111827"/>
                    </a:solidFill>
                    <a:latin typeface="Cambria Math" panose="02040503050406030204" pitchFamily="18" charset="0"/>
                  </a:rPr>
                  <a:t>$9$</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9</a:t>
            </a:r>
            <a:endParaRPr sz="2800">
              <a:solidFill>
                <a:srgbClr val="15803D"/>
              </a:solidFill>
            </a:endParaRPr>
          </a:p>
        </p:txBody>
      </p:sp>
    </p:spTree>
  </p:cSld>
  <p:clrMapOvr>
    <a:masterClrMapping/>
  </p:clrMapOvr>
</p:sld>
</file>

<file path=ppt/slides/slide3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Perpendicular to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means component sum zero; count with stars and bars after shifting the range to start at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Inclusion-exclusion for bounded variables: subtract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-type terms for each variable exceeding its bound.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 not forget to exclude the zero vector.</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Perpendicular to </a:t>
                </a:r>
                <a:r>
                  <a:rPr lang="en-IN" sz="2400">
                    <a:solidFill>
                      <a:srgbClr val="111827"/>
                    </a:solidFill>
                    <a:latin typeface="Cambria Math" panose="02040503050406030204" pitchFamily="18" charset="0"/>
                  </a:rPr>
                  <a:t>$\hat i+\hat j+\hat k$</a:t>
                </a:r>
                <a:r>
                  <a:rPr sz="2400" b="0">
                    <a:solidFill>
                      <a:srgbClr val="111827"/>
                    </a:solidFill>
                    <a:latin typeface="Arial"/>
                  </a:rPr>
                  <a:t> means component sum zero; count with stars and bars after shifting the range to start at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Inclusion-exclusion for bounded variables: subtract </a:t>
                </a:r>
                <a:r>
                  <a:rPr lang="en-IN" sz="2400">
                    <a:solidFill>
                      <a:srgbClr val="111827"/>
                    </a:solidFill>
                    <a:latin typeface="Cambria Math" panose="02040503050406030204" pitchFamily="18" charset="0"/>
                  </a:rPr>
                  <a:t>$\binom{n-(m+1)+2}{2}$</a:t>
                </a:r>
                <a:r>
                  <a:rPr sz="2400" b="0">
                    <a:solidFill>
                      <a:srgbClr val="111827"/>
                    </a:solidFill>
                    <a:latin typeface="Arial"/>
                  </a:rPr>
                  <a:t>-type terms for each variable exceeding its bound.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 not forget to exclude the zero vector.</a:t>
                </a:r>
                <a:endParaRPr sz="2400">
                  <a:solidFill>
                    <a:srgbClr val="111827"/>
                  </a:solidFill>
                </a:endParaRPr>
              </a:p>
            </p:txBody>
          </p:sp>
        </mc:Fallback>
      </mc:AlternateContent>
    </p:spTree>
  </p:cSld>
  <p:clrMapOvr>
    <a:masterClrMapping/>
  </p:clrMapOvr>
</p:sld>
</file>

<file path=ppt/slides/slide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be two points in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oMath>
                </a14:m>
                <a:r>
                  <a:rPr sz="2400" b="0">
                    <a:solidFill>
                      <a:srgbClr val="111827"/>
                    </a:solidFill>
                    <a:latin typeface="Arial"/>
                  </a:rPr>
                  <a:t>-plane on the curve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such that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the magnitude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𝑀</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origin) then find the value of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________.</a:t>
                </a:r>
                <a:endParaRPr sz="2400">
                  <a:solidFill>
                    <a:srgbClr val="111827"/>
                  </a:solidFill>
                </a:endParaRPr>
              </a:p>
            </p:txBody>
          </p:sp>
        </mc:Choice>
        <mc:Fallback>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be two points in </a:t>
                </a:r>
                <a:r>
                  <a:rPr lang="en-IN" sz="2400">
                    <a:solidFill>
                      <a:srgbClr val="111827"/>
                    </a:solidFill>
                    <a:latin typeface="Cambria Math" panose="02040503050406030204" pitchFamily="18" charset="0"/>
                  </a:rPr>
                  <a:t>$xy$</a:t>
                </a:r>
                <a:r>
                  <a:rPr sz="2400" b="0">
                    <a:solidFill>
                      <a:srgbClr val="111827"/>
                    </a:solidFill>
                    <a:latin typeface="Arial"/>
                  </a:rPr>
                  <a:t>-plane on the curve </a:t>
                </a:r>
                <a:r>
                  <a:rPr lang="en-IN" sz="2400">
                    <a:solidFill>
                      <a:srgbClr val="111827"/>
                    </a:solidFill>
                    <a:latin typeface="Cambria Math" panose="02040503050406030204" pitchFamily="18" charset="0"/>
                  </a:rPr>
                  <a:t>$y=x^7-2x^5+5x^3+8x+5$</a:t>
                </a:r>
                <a:r>
                  <a:rPr sz="2400" b="0">
                    <a:solidFill>
                      <a:srgbClr val="111827"/>
                    </a:solidFill>
                    <a:latin typeface="Arial"/>
                  </a:rPr>
                  <a:t> such that </a:t>
                </a:r>
                <a:r>
                  <a:rPr lang="en-IN" sz="2400">
                    <a:solidFill>
                      <a:srgbClr val="111827"/>
                    </a:solidFill>
                    <a:latin typeface="Cambria Math" panose="02040503050406030204" pitchFamily="18" charset="0"/>
                  </a:rPr>
                  <a:t>$\overrightarrow{OP}\cdot\hat i=2$</a:t>
                </a:r>
                <a:r>
                  <a:rPr sz="2400" b="0">
                    <a:solidFill>
                      <a:srgbClr val="111827"/>
                    </a:solidFill>
                    <a:latin typeface="Arial"/>
                  </a:rPr>
                  <a:t> and </a:t>
                </a:r>
                <a:r>
                  <a:rPr lang="en-IN" sz="2400">
                    <a:solidFill>
                      <a:srgbClr val="111827"/>
                    </a:solidFill>
                    <a:latin typeface="Cambria Math" panose="02040503050406030204" pitchFamily="18" charset="0"/>
                  </a:rPr>
                  <a:t>$\overrightarrow{OQ}\cdot\hat i=-2$</a:t>
                </a:r>
                <a:r>
                  <a:rPr sz="2400" b="0">
                    <a:solidFill>
                      <a:srgbClr val="111827"/>
                    </a:solidFill>
                    <a:latin typeface="Arial"/>
                  </a:rPr>
                  <a:t> and the magnitude of </a:t>
                </a:r>
                <a:r>
                  <a:rPr lang="en-IN" sz="2400">
                    <a:solidFill>
                      <a:srgbClr val="111827"/>
                    </a:solidFill>
                    <a:latin typeface="Cambria Math" panose="02040503050406030204" pitchFamily="18" charset="0"/>
                  </a:rPr>
                  <a:t>$\overrightarrow{OP}+\overrightarrow{OQ}=2M$</a:t>
                </a:r>
                <a:r>
                  <a:rPr sz="2400" b="0">
                    <a:solidFill>
                      <a:srgbClr val="111827"/>
                    </a:solidFill>
                    <a:latin typeface="Arial"/>
                  </a:rPr>
                  <a:t>, (where </a:t>
                </a:r>
                <a:r>
                  <a:rPr lang="en-IN" sz="2400">
                    <a:solidFill>
                      <a:srgbClr val="111827"/>
                    </a:solidFill>
                    <a:latin typeface="Cambria Math" panose="02040503050406030204" pitchFamily="18" charset="0"/>
                  </a:rPr>
                  <a:t>$O$</a:t>
                </a:r>
                <a:r>
                  <a:rPr sz="2400" b="0">
                    <a:solidFill>
                      <a:srgbClr val="111827"/>
                    </a:solidFill>
                    <a:latin typeface="Arial"/>
                  </a:rPr>
                  <a:t> is origin) then find the value of </a:t>
                </a:r>
                <a:r>
                  <a:rPr lang="en-IN" sz="2400">
                    <a:solidFill>
                      <a:srgbClr val="111827"/>
                    </a:solidFill>
                    <a:latin typeface="Cambria Math" panose="02040503050406030204" pitchFamily="18" charset="0"/>
                  </a:rPr>
                  <a:t>$M$</a:t>
                </a:r>
                <a:r>
                  <a:rPr sz="2400" b="0">
                    <a:solidFill>
                      <a:srgbClr val="111827"/>
                    </a:solidFill>
                    <a:latin typeface="Arial"/>
                  </a:rPr>
                  <a:t> ________.</a:t>
                </a:r>
                <a:endParaRPr sz="2400">
                  <a:solidFill>
                    <a:srgbClr val="111827"/>
                  </a:solidFill>
                </a:endParaRPr>
              </a:p>
            </p:txBody>
          </p:sp>
        </mc:Fallback>
      </mc:AlternateContent>
      <p:sp>
        <p:nvSpPr>
          <p:cNvPr id="5" name="Rectangle 4"/>
          <p:cNvSpPr/>
          <p:nvPr/>
        </p:nvSpPr>
        <p:spPr>
          <a:xfrm>
            <a:off x="731520" y="3888739"/>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Odd function property of a polynomial, Vector sum and magnitude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3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𝑓</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7</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5</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3</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𝑔</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𝑔</m:t>
                    </m:r>
                  </m:oMath>
                </a14:m>
                <a:r>
                  <a:rPr sz="2400" b="0">
                    <a:solidFill>
                      <a:srgbClr val="78350F"/>
                    </a:solidFill>
                    <a:latin typeface="Arial"/>
                  </a:rPr>
                  <a:t> odd, so </a:t>
                </a:r>
                <a14:m>
                  <m:oMath xmlns:m="http://schemas.openxmlformats.org/officeDocument/2006/math">
                    <m:r>
                      <a:rPr lang="en-IN" sz="2400" i="1">
                        <a:solidFill>
                          <a:srgbClr val="78350F"/>
                        </a:solidFill>
                        <a:latin typeface="Cambria Math" panose="02040503050406030204" pitchFamily="18" charset="0"/>
                      </a:rPr>
                      <m:t>𝑓</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𝑓</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10</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$f(x)=x^7-2x^5+5x^3+8x+5=g(x)+5$</a:t>
                </a:r>
                <a:r>
                  <a:rPr sz="2400" b="0">
                    <a:solidFill>
                      <a:srgbClr val="78350F"/>
                    </a:solidFill>
                    <a:latin typeface="Arial"/>
                  </a:rPr>
                  <a:t> with </a:t>
                </a:r>
                <a:r>
                  <a:rPr lang="en-IN" sz="2400">
                    <a:solidFill>
                      <a:srgbClr val="78350F"/>
                    </a:solidFill>
                    <a:latin typeface="Cambria Math" panose="02040503050406030204" pitchFamily="18" charset="0"/>
                  </a:rPr>
                  <a:t>$g$</a:t>
                </a:r>
                <a:r>
                  <a:rPr sz="2400" b="0">
                    <a:solidFill>
                      <a:srgbClr val="78350F"/>
                    </a:solidFill>
                    <a:latin typeface="Arial"/>
                  </a:rPr>
                  <a:t> odd, so </a:t>
                </a:r>
                <a:r>
                  <a:rPr lang="en-IN" sz="2400">
                    <a:solidFill>
                      <a:srgbClr val="78350F"/>
                    </a:solidFill>
                    <a:latin typeface="Cambria Math" panose="02040503050406030204" pitchFamily="18" charset="0"/>
                  </a:rPr>
                  <a:t>$f(2)+f(-2)=10$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is an odd function, so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$P=(x_1,y_1)$</a:t>
                </a:r>
                <a:r>
                  <a:rPr sz="2400" b="0">
                    <a:solidFill>
                      <a:srgbClr val="111827"/>
                    </a:solidFill>
                    <a:latin typeface="Arial"/>
                  </a:rPr>
                  <a:t> and </a:t>
                </a:r>
                <a:r>
                  <a:rPr lang="en-IN" sz="2400">
                    <a:solidFill>
                      <a:srgbClr val="111827"/>
                    </a:solidFill>
                    <a:latin typeface="Cambria Math" panose="02040503050406030204" pitchFamily="18" charset="0"/>
                  </a:rPr>
                  <a:t>$Q=(x_2,y_2)$</a:t>
                </a:r>
                <a:r>
                  <a:rPr sz="2400" b="0">
                    <a:solidFill>
                      <a:srgbClr val="111827"/>
                    </a:solidFill>
                    <a:latin typeface="Arial"/>
                  </a:rPr>
                  <a:t>. </a:t>
                </a:r>
                <a:r>
                  <a:rPr lang="en-IN" sz="2400">
                    <a:solidFill>
                      <a:srgbClr val="111827"/>
                    </a:solidFill>
                    <a:latin typeface="Cambria Math" panose="02040503050406030204" pitchFamily="18" charset="0"/>
                  </a:rPr>
                  <a:t>$\overrightarrow{OP}\cdot\hat i=x_1=2$</a:t>
                </a:r>
                <a:r>
                  <a:rPr sz="2400" b="0">
                    <a:solidFill>
                      <a:srgbClr val="111827"/>
                    </a:solidFill>
                    <a:latin typeface="Arial"/>
                  </a:rPr>
                  <a:t> and </a:t>
                </a:r>
                <a:r>
                  <a:rPr lang="en-IN" sz="2400">
                    <a:solidFill>
                      <a:srgbClr val="111827"/>
                    </a:solidFill>
                    <a:latin typeface="Cambria Math" panose="02040503050406030204" pitchFamily="18" charset="0"/>
                  </a:rPr>
                  <a:t>$\overrightarrow{OQ}\cdot\hat i=x_2=-2$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$y=f(x)=x^7-2x^5+5x^3+8x+5$</a:t>
                </a:r>
                <a:r>
                  <a:rPr sz="2400" b="0">
                    <a:solidFill>
                      <a:srgbClr val="111827"/>
                    </a:solidFill>
                    <a:latin typeface="Arial"/>
                  </a:rPr>
                  <a:t>, so </a:t>
                </a:r>
                <a:r>
                  <a:rPr lang="en-IN" sz="2400">
                    <a:solidFill>
                      <a:srgbClr val="111827"/>
                    </a:solidFill>
                    <a:latin typeface="Cambria Math" panose="02040503050406030204" pitchFamily="18" charset="0"/>
                  </a:rPr>
                  <a:t>$y_1=f(2)$</a:t>
                </a:r>
                <a:r>
                  <a:rPr sz="2400" b="0">
                    <a:solidFill>
                      <a:srgbClr val="111827"/>
                    </a:solidFill>
                    <a:latin typeface="Arial"/>
                  </a:rPr>
                  <a:t> and </a:t>
                </a:r>
                <a:r>
                  <a:rPr lang="en-IN" sz="2400">
                    <a:solidFill>
                      <a:srgbClr val="111827"/>
                    </a:solidFill>
                    <a:latin typeface="Cambria Math" panose="02040503050406030204" pitchFamily="18" charset="0"/>
                  </a:rPr>
                  <a:t>$y_2=f(-2)$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$\overrightarrow{OP}+\overrightarrow{OQ}=(x_1+x_2)\hat i+(y_1+y_2)\hat j=(f(2)+f(-2))\hat j$</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$f(x)-5=x^7-2x^5+5x^3+8x$</a:t>
                </a:r>
                <a:r>
                  <a:rPr sz="2400" b="0">
                    <a:solidFill>
                      <a:srgbClr val="111827"/>
                    </a:solidFill>
                    <a:latin typeface="Arial"/>
                  </a:rPr>
                  <a:t> is an odd function, so </a:t>
                </a:r>
                <a:r>
                  <a:rPr lang="en-IN" sz="2400">
                    <a:solidFill>
                      <a:srgbClr val="111827"/>
                    </a:solidFill>
                    <a:latin typeface="Cambria Math" panose="02040503050406030204" pitchFamily="18" charset="0"/>
                  </a:rPr>
                  <a:t>$f(2)+f(-2)=10$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$|\overrightarrow{OP}+\overrightarrow{OQ}|=10=2M\Rightarrow M=5$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5</a:t>
            </a:r>
            <a:endParaRPr sz="2800">
              <a:solidFill>
                <a:srgbClr val="15803D"/>
              </a:solidFill>
            </a:endParaRPr>
          </a:p>
        </p:txBody>
      </p:sp>
    </p:spTree>
  </p:cSld>
  <p:clrMapOvr>
    <a:masterClrMapping/>
  </p:clrMapOvr>
</p:sld>
</file>

<file path=ppt/slides/slide3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73761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Evaluate the polynomial directly at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73761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Evaluate the polynomial directly at </a:t>
                </a:r>
                <a:r>
                  <a:rPr lang="en-IN" sz="2400">
                    <a:solidFill>
                      <a:srgbClr val="78350F"/>
                    </a:solidFill>
                    <a:latin typeface="Cambria Math" panose="02040503050406030204" pitchFamily="18" charset="0"/>
                  </a:rPr>
                  <a:t>$\pm2$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154936"/>
                <a:ext cx="10725912" cy="36332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154936"/>
                <a:ext cx="10725912" cy="36332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$f(2)=128-64+40+16+5=125$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$f(-2)=-128+64-40-16+5=-115$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$f(2)+f(-2)=10$</a:t>
                </a:r>
                <a:r>
                  <a:rPr sz="2400" b="0">
                    <a:solidFill>
                      <a:srgbClr val="111827"/>
                    </a:solidFill>
                    <a:latin typeface="Arial"/>
                  </a:rPr>
                  <a:t>, so </a:t>
                </a:r>
                <a:r>
                  <a:rPr lang="en-IN" sz="2400">
                    <a:solidFill>
                      <a:srgbClr val="111827"/>
                    </a:solidFill>
                    <a:latin typeface="Cambria Math" panose="02040503050406030204" pitchFamily="18" charset="0"/>
                  </a:rPr>
                  <a:t>$\overrightarrow{OP}+\overrightarrow{OQ}=10\hat j$</a:t>
                </a:r>
                <a:r>
                  <a:rPr sz="2400" b="0">
                    <a:solidFill>
                      <a:srgbClr val="111827"/>
                    </a:solidFill>
                    <a:latin typeface="Arial"/>
                  </a:rPr>
                  <a:t> and </a:t>
                </a:r>
                <a:r>
                  <a:rPr lang="en-IN" sz="2400">
                    <a:solidFill>
                      <a:srgbClr val="111827"/>
                    </a:solidFill>
                    <a:latin typeface="Cambria Math" panose="02040503050406030204" pitchFamily="18" charset="0"/>
                  </a:rPr>
                  <a:t>$2M=10$</a:t>
                </a:r>
                <a:r>
                  <a:rPr sz="2400" b="0">
                    <a:solidFill>
                      <a:srgbClr val="111827"/>
                    </a:solidFill>
                    <a:latin typeface="Arial"/>
                  </a:rPr>
                  <a:t>, </a:t>
                </a:r>
                <a:r>
                  <a:rPr lang="en-IN" sz="2400">
                    <a:solidFill>
                      <a:srgbClr val="111827"/>
                    </a:solidFill>
                    <a:latin typeface="Cambria Math" panose="02040503050406030204" pitchFamily="18" charset="0"/>
                  </a:rPr>
                  <a:t>$M=5$</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5</a:t>
            </a:r>
            <a:endParaRPr sz="2800">
              <a:solidFill>
                <a:srgbClr val="15803D"/>
              </a:solidFill>
            </a:endParaRPr>
          </a:p>
        </p:txBody>
      </p:sp>
    </p:spTree>
  </p:cSld>
  <p:clrMapOvr>
    <a:masterClrMapping/>
  </p:clrMapOvr>
</p:sld>
</file>

<file path=ppt/slides/slide3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polynomial with an odd part and a constant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oMath>
                </a14:m>
                <a:r>
                  <a:rPr sz="2400" b="0">
                    <a:solidFill>
                      <a:srgbClr val="111827"/>
                    </a:solidFill>
                    <a:latin typeface="Arial"/>
                  </a:rPr>
                  <a:t> (the odd terms cancel).</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is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-coordinate; sums of position vectors add coordinates.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Symmetry about a point: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𝑔</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𝑔</m:t>
                    </m:r>
                  </m:oMath>
                </a14:m>
                <a:r>
                  <a:rPr sz="2400" b="0">
                    <a:solidFill>
                      <a:srgbClr val="111827"/>
                    </a:solidFill>
                    <a:latin typeface="Arial"/>
                  </a:rPr>
                  <a:t> odd is symmetric about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polynomial with an odd part and a constant </a:t>
                </a:r>
                <a:r>
                  <a:rPr lang="en-IN" sz="2400">
                    <a:solidFill>
                      <a:srgbClr val="111827"/>
                    </a:solidFill>
                    <a:latin typeface="Cambria Math" panose="02040503050406030204" pitchFamily="18" charset="0"/>
                  </a:rPr>
                  <a:t>$c$</a:t>
                </a:r>
                <a:r>
                  <a:rPr sz="2400" b="0">
                    <a:solidFill>
                      <a:srgbClr val="111827"/>
                    </a:solidFill>
                    <a:latin typeface="Arial"/>
                  </a:rPr>
                  <a:t>, </a:t>
                </a:r>
                <a:r>
                  <a:rPr lang="en-IN" sz="2400">
                    <a:solidFill>
                      <a:srgbClr val="111827"/>
                    </a:solidFill>
                    <a:latin typeface="Cambria Math" panose="02040503050406030204" pitchFamily="18" charset="0"/>
                  </a:rPr>
                  <a:t>$f(x)+f(-x)=2c$</a:t>
                </a:r>
                <a:r>
                  <a:rPr sz="2400" b="0">
                    <a:solidFill>
                      <a:srgbClr val="111827"/>
                    </a:solidFill>
                    <a:latin typeface="Arial"/>
                  </a:rPr>
                  <a:t> (the odd terms cancel).</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$\overrightarrow{OP}\cdot\hat i$</a:t>
                </a:r>
                <a:r>
                  <a:rPr sz="2400" b="0">
                    <a:solidFill>
                      <a:srgbClr val="111827"/>
                    </a:solidFill>
                    <a:latin typeface="Arial"/>
                  </a:rPr>
                  <a:t> is the </a:t>
                </a:r>
                <a:r>
                  <a:rPr lang="en-IN" sz="2400">
                    <a:solidFill>
                      <a:srgbClr val="111827"/>
                    </a:solidFill>
                    <a:latin typeface="Cambria Math" panose="02040503050406030204" pitchFamily="18" charset="0"/>
                  </a:rPr>
                  <a:t>$x$</a:t>
                </a:r>
                <a:r>
                  <a:rPr sz="2400" b="0">
                    <a:solidFill>
                      <a:srgbClr val="111827"/>
                    </a:solidFill>
                    <a:latin typeface="Arial"/>
                  </a:rPr>
                  <a:t>-coordinate; sums of position vectors add coordinates.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Symmetry about a point: </a:t>
                </a:r>
                <a:r>
                  <a:rPr lang="en-IN" sz="2400">
                    <a:solidFill>
                      <a:srgbClr val="111827"/>
                    </a:solidFill>
                    <a:latin typeface="Cambria Math" panose="02040503050406030204" pitchFamily="18" charset="0"/>
                  </a:rPr>
                  <a:t>$y=g(x)+c$</a:t>
                </a:r>
                <a:r>
                  <a:rPr sz="2400" b="0">
                    <a:solidFill>
                      <a:srgbClr val="111827"/>
                    </a:solidFill>
                    <a:latin typeface="Arial"/>
                  </a:rPr>
                  <a:t> with </a:t>
                </a:r>
                <a:r>
                  <a:rPr lang="en-IN" sz="2400">
                    <a:solidFill>
                      <a:srgbClr val="111827"/>
                    </a:solidFill>
                    <a:latin typeface="Cambria Math" panose="02040503050406030204" pitchFamily="18" charset="0"/>
                  </a:rPr>
                  <a:t>$g$</a:t>
                </a:r>
                <a:r>
                  <a:rPr sz="2400" b="0">
                    <a:solidFill>
                      <a:srgbClr val="111827"/>
                    </a:solidFill>
                    <a:latin typeface="Arial"/>
                  </a:rPr>
                  <a:t> odd is symmetric about </a:t>
                </a:r>
                <a:r>
                  <a:rPr lang="en-IN" sz="2400">
                    <a:solidFill>
                      <a:srgbClr val="111827"/>
                    </a:solidFill>
                    <a:latin typeface="Cambria Math" panose="02040503050406030204" pitchFamily="18" charset="0"/>
                  </a:rPr>
                  <a:t>$(0,c)$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area of a triangular face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of a regular tetrahedron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sq. units, then find area of a triangle whose two sides are represented by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e>
                    </m:acc>
                  </m:oMath>
                </a14:m>
                <a:r>
                  <a:rPr sz="2400" b="0">
                    <a:solidFill>
                      <a:srgbClr val="111827"/>
                    </a:solidFill>
                    <a:latin typeface="Arial"/>
                  </a:rPr>
                  <a:t> ________.</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area of a triangular face </a:t>
                </a:r>
                <a:r>
                  <a:rPr lang="en-IN" sz="2400">
                    <a:solidFill>
                      <a:srgbClr val="111827"/>
                    </a:solidFill>
                    <a:latin typeface="Cambria Math" panose="02040503050406030204" pitchFamily="18" charset="0"/>
                  </a:rPr>
                  <a:t>$BCD$</a:t>
                </a:r>
                <a:r>
                  <a:rPr sz="2400" b="0">
                    <a:solidFill>
                      <a:srgbClr val="111827"/>
                    </a:solidFill>
                    <a:latin typeface="Arial"/>
                  </a:rPr>
                  <a:t> of a regular tetrahedron </a:t>
                </a:r>
                <a:r>
                  <a:rPr lang="en-IN" sz="2400">
                    <a:solidFill>
                      <a:srgbClr val="111827"/>
                    </a:solidFill>
                    <a:latin typeface="Cambria Math" panose="02040503050406030204" pitchFamily="18" charset="0"/>
                  </a:rPr>
                  <a:t>$ABCD$</a:t>
                </a:r>
                <a:r>
                  <a:rPr sz="2400" b="0">
                    <a:solidFill>
                      <a:srgbClr val="111827"/>
                    </a:solidFill>
                    <a:latin typeface="Arial"/>
                  </a:rPr>
                  <a:t> is </a:t>
                </a:r>
                <a:r>
                  <a:rPr lang="en-IN" sz="2400">
                    <a:solidFill>
                      <a:srgbClr val="111827"/>
                    </a:solidFill>
                    <a:latin typeface="Cambria Math" panose="02040503050406030204" pitchFamily="18" charset="0"/>
                  </a:rPr>
                  <a:t>$4\sqrt3$</a:t>
                </a:r>
                <a:r>
                  <a:rPr sz="2400" b="0">
                    <a:solidFill>
                      <a:srgbClr val="111827"/>
                    </a:solidFill>
                    <a:latin typeface="Arial"/>
                  </a:rPr>
                  <a:t> sq. units, then find area of a triangle whose two sides are represented by vectors </a:t>
                </a:r>
                <a:r>
                  <a:rPr lang="en-IN" sz="2400">
                    <a:solidFill>
                      <a:srgbClr val="111827"/>
                    </a:solidFill>
                    <a:latin typeface="Cambria Math" panose="02040503050406030204" pitchFamily="18" charset="0"/>
                  </a:rPr>
                  <a:t>$\overrightarrow{AB}$</a:t>
                </a:r>
                <a:r>
                  <a:rPr sz="2400" b="0">
                    <a:solidFill>
                      <a:srgbClr val="111827"/>
                    </a:solidFill>
                    <a:latin typeface="Arial"/>
                  </a:rPr>
                  <a:t> and </a:t>
                </a:r>
                <a:r>
                  <a:rPr lang="en-IN" sz="2400">
                    <a:solidFill>
                      <a:srgbClr val="111827"/>
                    </a:solidFill>
                    <a:latin typeface="Cambria Math" panose="02040503050406030204" pitchFamily="18" charset="0"/>
                  </a:rPr>
                  <a:t>$\overrightarrow{CD}$</a:t>
                </a:r>
                <a:r>
                  <a:rPr sz="2400" b="0">
                    <a:solidFill>
                      <a:srgbClr val="111827"/>
                    </a:solidFill>
                    <a:latin typeface="Arial"/>
                  </a:rPr>
                  <a:t> ________.</a:t>
                </a:r>
                <a:endParaRPr sz="2400">
                  <a:solidFill>
                    <a:srgbClr val="111827"/>
                  </a:solidFill>
                </a:endParaRPr>
              </a:p>
            </p:txBody>
          </p:sp>
        </mc:Fallback>
      </mc:AlternateContent>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Regular tetrahedron: opposite edges are perpendicular, Area of a triangle from vectors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In a regular tetrahedron opposite edges are perpendicular, so the triangle on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e>
                    </m:acc>
                  </m:oMath>
                </a14:m>
                <a:r>
                  <a:rPr sz="2400" b="0">
                    <a:solidFill>
                      <a:srgbClr val="78350F"/>
                    </a:solidFill>
                    <a:latin typeface="Arial"/>
                  </a:rPr>
                  <a:t> and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𝐷</m:t>
                        </m:r>
                      </m:e>
                    </m:acc>
                  </m:oMath>
                </a14:m>
                <a:r>
                  <a:rPr sz="2400" b="0">
                    <a:solidFill>
                      <a:srgbClr val="78350F"/>
                    </a:solidFill>
                    <a:latin typeface="Arial"/>
                  </a:rPr>
                  <a:t> is right-angled with legs equal to the edge.</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In a regular tetrahedron opposite edges are perpendicular, so the triangle on </a:t>
                </a:r>
                <a:r>
                  <a:rPr lang="en-IN" sz="2400">
                    <a:solidFill>
                      <a:srgbClr val="78350F"/>
                    </a:solidFill>
                    <a:latin typeface="Cambria Math" panose="02040503050406030204" pitchFamily="18" charset="0"/>
                  </a:rPr>
                  <a:t>$\overrightarrow{AB}$</a:t>
                </a:r>
                <a:r>
                  <a:rPr sz="2400" b="0">
                    <a:solidFill>
                      <a:srgbClr val="78350F"/>
                    </a:solidFill>
                    <a:latin typeface="Arial"/>
                  </a:rPr>
                  <a:t> and </a:t>
                </a:r>
                <a:r>
                  <a:rPr lang="en-IN" sz="2400">
                    <a:solidFill>
                      <a:srgbClr val="78350F"/>
                    </a:solidFill>
                    <a:latin typeface="Cambria Math" panose="02040503050406030204" pitchFamily="18" charset="0"/>
                  </a:rPr>
                  <a:t>$\overrightarrow{CD}$</a:t>
                </a:r>
                <a:r>
                  <a:rPr sz="2400" b="0">
                    <a:solidFill>
                      <a:srgbClr val="78350F"/>
                    </a:solidFill>
                    <a:latin typeface="Arial"/>
                  </a:rPr>
                  <a:t> is right-angled with legs equal to the edge.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edge be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A face is an equilateral triangle: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sin</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(the PDF prints the right-hand side as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 but the next line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is what follows from </a:t>
                </a:r>
                <a14:m>
                  <m:oMath xmlns:m="http://schemas.openxmlformats.org/officeDocument/2006/math">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edge be </a:t>
                </a:r>
                <a:r>
                  <a:rPr lang="en-IN" sz="2400">
                    <a:solidFill>
                      <a:srgbClr val="111827"/>
                    </a:solidFill>
                    <a:latin typeface="Cambria Math" panose="02040503050406030204" pitchFamily="18" charset="0"/>
                  </a:rPr>
                  <a:t>$a$</a:t>
                </a:r>
                <a:r>
                  <a:rPr sz="2400" b="0">
                    <a:solidFill>
                      <a:srgbClr val="111827"/>
                    </a:solidFill>
                    <a:latin typeface="Arial"/>
                  </a:rPr>
                  <a:t>. A face is an equilateral triangle: </a:t>
                </a:r>
                <a:r>
                  <a:rPr lang="en-IN" sz="2400">
                    <a:solidFill>
                      <a:srgbClr val="111827"/>
                    </a:solidFill>
                    <a:latin typeface="Cambria Math" panose="02040503050406030204" pitchFamily="18" charset="0"/>
                  </a:rPr>
                  <a:t>$\frac12a^2\sin60^\circ=4\sqrt3$</a:t>
                </a:r>
                <a:r>
                  <a:rPr sz="2400" b="0">
                    <a:solidFill>
                      <a:srgbClr val="111827"/>
                    </a:solidFill>
                    <a:latin typeface="Arial"/>
                  </a:rPr>
                  <a:t> (the PDF prints the right-hand side as </a:t>
                </a:r>
                <a:r>
                  <a:rPr lang="en-IN" sz="2400">
                    <a:solidFill>
                      <a:srgbClr val="111827"/>
                    </a:solidFill>
                    <a:latin typeface="Cambria Math" panose="02040503050406030204" pitchFamily="18" charset="0"/>
                  </a:rPr>
                  <a:t>$\frac{4\sqrt3}{2}$</a:t>
                </a:r>
                <a:r>
                  <a:rPr sz="2400" b="0">
                    <a:solidFill>
                      <a:srgbClr val="111827"/>
                    </a:solidFill>
                    <a:latin typeface="Arial"/>
                  </a:rPr>
                  <a:t>, but the next line </a:t>
                </a:r>
                <a:r>
                  <a:rPr lang="en-IN" sz="2400">
                    <a:solidFill>
                      <a:srgbClr val="111827"/>
                    </a:solidFill>
                    <a:latin typeface="Cambria Math" panose="02040503050406030204" pitchFamily="18" charset="0"/>
                  </a:rPr>
                  <a:t>$a^2=16$</a:t>
                </a:r>
                <a:r>
                  <a:rPr sz="2400" b="0">
                    <a:solidFill>
                      <a:srgbClr val="111827"/>
                    </a:solidFill>
                    <a:latin typeface="Arial"/>
                  </a:rPr>
                  <a:t> is what follows from </a:t>
                </a:r>
                <a:r>
                  <a:rPr lang="en-IN" sz="2400">
                    <a:solidFill>
                      <a:srgbClr val="111827"/>
                    </a:solidFill>
                    <a:latin typeface="Cambria Math" panose="02040503050406030204" pitchFamily="18" charset="0"/>
                  </a:rPr>
                  <a:t>$4\sqrt3$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$\frac{\sqrt3}{4}a^2=4\sqrt3\Rightarrow a^2=16$</a:t>
                </a:r>
                <a:r>
                  <a:rPr sz="2400" b="0">
                    <a:solidFill>
                      <a:srgbClr val="111827"/>
                    </a:solidFill>
                    <a:latin typeface="Arial"/>
                  </a:rPr>
                  <a:t>, so </a:t>
                </a:r>
                <a:r>
                  <a:rPr lang="en-IN" sz="2400">
                    <a:solidFill>
                      <a:srgbClr val="111827"/>
                    </a:solidFill>
                    <a:latin typeface="Cambria Math" panose="02040503050406030204" pitchFamily="18" charset="0"/>
                  </a:rPr>
                  <a:t>$a=4$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regular tetrahedron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e>
                    </m:acc>
                  </m:oMath>
                </a14:m>
                <a:r>
                  <a:rPr sz="2400" b="0">
                    <a:solidFill>
                      <a:srgbClr val="111827"/>
                    </a:solidFill>
                    <a:latin typeface="Arial"/>
                  </a:rPr>
                  <a:t> has a right angle: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sin</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regular tetrahedron </a:t>
                </a:r>
                <a:r>
                  <a:rPr lang="en-IN" sz="2400">
                    <a:solidFill>
                      <a:srgbClr val="111827"/>
                    </a:solidFill>
                    <a:latin typeface="Cambria Math" panose="02040503050406030204" pitchFamily="18" charset="0"/>
                  </a:rPr>
                  <a:t>$\overrightarrow{AB}\cdot\overrightarrow{CD}=0$</a:t>
                </a:r>
                <a:r>
                  <a:rPr sz="2400" b="0">
                    <a:solidFill>
                      <a:srgbClr val="111827"/>
                    </a:solidFill>
                    <a:latin typeface="Arial"/>
                  </a:rPr>
                  <a:t>: </a:t>
                </a:r>
                <a:r>
                  <a:rPr lang="en-IN" sz="2400">
                    <a:solidFill>
                      <a:srgbClr val="111827"/>
                    </a:solidFill>
                    <a:latin typeface="Cambria Math" panose="02040503050406030204" pitchFamily="18" charset="0"/>
                  </a:rPr>
                  <a:t>$\overrightarrow{AB}\cdot(\overrightarrow{AD}-\overrightarrow{AC})=a^2\cos60^\circ-a^2\cos60^\circ=0$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on </a:t>
                </a:r>
                <a:r>
                  <a:rPr lang="en-IN" sz="2400">
                    <a:solidFill>
                      <a:srgbClr val="111827"/>
                    </a:solidFill>
                    <a:latin typeface="Cambria Math" panose="02040503050406030204" pitchFamily="18" charset="0"/>
                  </a:rPr>
                  <a:t>$\overrightarrow{AB}$</a:t>
                </a:r>
                <a:r>
                  <a:rPr sz="2400" b="0">
                    <a:solidFill>
                      <a:srgbClr val="111827"/>
                    </a:solidFill>
                    <a:latin typeface="Arial"/>
                  </a:rPr>
                  <a:t> and </a:t>
                </a:r>
                <a:r>
                  <a:rPr lang="en-IN" sz="2400">
                    <a:solidFill>
                      <a:srgbClr val="111827"/>
                    </a:solidFill>
                    <a:latin typeface="Cambria Math" panose="02040503050406030204" pitchFamily="18" charset="0"/>
                  </a:rPr>
                  <a:t>$\overrightarrow{CD}$</a:t>
                </a:r>
                <a:r>
                  <a:rPr sz="2400" b="0">
                    <a:solidFill>
                      <a:srgbClr val="111827"/>
                    </a:solidFill>
                    <a:latin typeface="Arial"/>
                  </a:rPr>
                  <a:t> has a right angle: area </a:t>
                </a:r>
                <a:r>
                  <a:rPr lang="en-IN" sz="2400">
                    <a:solidFill>
                      <a:srgbClr val="111827"/>
                    </a:solidFill>
                    <a:latin typeface="Cambria Math" panose="02040503050406030204" pitchFamily="18" charset="0"/>
                  </a:rPr>
                  <a:t>$=\frac12a^2\sin90^\circ=\frac{a^2}{2}=8$</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8</a:t>
            </a:r>
            <a:endParaRPr sz="2800">
              <a:solidFill>
                <a:srgbClr val="15803D"/>
              </a:solidFill>
            </a:endParaRPr>
          </a:p>
        </p:txBody>
      </p:sp>
    </p:spTree>
  </p:cSld>
  <p:clrMapOvr>
    <a:masterClrMapping/>
  </p:clrMapOvr>
</p:sld>
</file>

<file path=ppt/slides/slide3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Embed the regular tetrahedron in a cube: its edges are face diagonals, and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𝐷</m:t>
                    </m:r>
                  </m:oMath>
                </a14:m>
                <a:r>
                  <a:rPr sz="2400" b="0">
                    <a:solidFill>
                      <a:srgbClr val="78350F"/>
                    </a:solidFill>
                    <a:latin typeface="Arial"/>
                  </a:rPr>
                  <a:t> are diagonals of opposite faces, which are perpendicular.</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Embed the regular tetrahedron in a cube: its edges are face diagonals, and </a:t>
                </a:r>
                <a:r>
                  <a:rPr lang="en-IN" sz="2400">
                    <a:solidFill>
                      <a:srgbClr val="78350F"/>
                    </a:solidFill>
                    <a:latin typeface="Cambria Math" panose="02040503050406030204" pitchFamily="18" charset="0"/>
                  </a:rPr>
                  <a:t>$AB,CD$</a:t>
                </a:r>
                <a:r>
                  <a:rPr sz="2400" b="0">
                    <a:solidFill>
                      <a:srgbClr val="78350F"/>
                    </a:solidFill>
                    <a:latin typeface="Arial"/>
                  </a:rPr>
                  <a:t> are diagonals of opposite faces, which are perpendicular.</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regular tetrahedron of edge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has vertices at alternate corners of a cube of side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face area is </a:t>
                </a:r>
                <a14:m>
                  <m:oMath xmlns:m="http://schemas.openxmlformats.org/officeDocument/2006/math">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𝑠</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regular tetrahedron of edge </a:t>
                </a:r>
                <a:r>
                  <a:rPr lang="en-IN" sz="2400">
                    <a:solidFill>
                      <a:srgbClr val="111827"/>
                    </a:solidFill>
                    <a:latin typeface="Cambria Math" panose="02040503050406030204" pitchFamily="18" charset="0"/>
                  </a:rPr>
                  <a:t>$a$</a:t>
                </a:r>
                <a:r>
                  <a:rPr sz="2400" b="0">
                    <a:solidFill>
                      <a:srgbClr val="111827"/>
                    </a:solidFill>
                    <a:latin typeface="Arial"/>
                  </a:rPr>
                  <a:t> has vertices at alternate corners of a cube of side </a:t>
                </a:r>
                <a:r>
                  <a:rPr lang="en-IN" sz="2400">
                    <a:solidFill>
                      <a:srgbClr val="111827"/>
                    </a:solidFill>
                    <a:latin typeface="Cambria Math" panose="02040503050406030204" pitchFamily="18" charset="0"/>
                  </a:rPr>
                  <a:t>$s$</a:t>
                </a:r>
                <a:r>
                  <a:rPr sz="2400" b="0">
                    <a:solidFill>
                      <a:srgbClr val="111827"/>
                    </a:solidFill>
                    <a:latin typeface="Arial"/>
                  </a:rPr>
                  <a:t>, with </a:t>
                </a:r>
                <a:r>
                  <a:rPr lang="en-IN" sz="2400">
                    <a:solidFill>
                      <a:srgbClr val="111827"/>
                    </a:solidFill>
                    <a:latin typeface="Cambria Math" panose="02040503050406030204" pitchFamily="18" charset="0"/>
                  </a:rPr>
                  <a:t>$a=s\sqrt2$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face area is </a:t>
                </a:r>
                <a:r>
                  <a:rPr lang="en-IN" sz="2400">
                    <a:solidFill>
                      <a:srgbClr val="111827"/>
                    </a:solidFill>
                    <a:latin typeface="Cambria Math" panose="02040503050406030204" pitchFamily="18" charset="0"/>
                  </a:rPr>
                  <a:t>$\frac{\sqrt3}{4}a^2=4\sqrt3\Rightarrow a^2=16\Rightarrow s^2=8$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are the diagonals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-type in opposite (parallel) faces: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they are perpendicular.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a:t>
                </a:r>
                <a:r>
                  <a:rPr sz="2400" b="0">
                    <a:solidFill>
                      <a:srgbClr val="111827"/>
                    </a:solidFill>
                    <a:latin typeface="Arial"/>
                  </a:rPr>
                  <a:t> and </a:t>
                </a:r>
                <a:r>
                  <a:rPr lang="en-IN" sz="2400">
                    <a:solidFill>
                      <a:srgbClr val="111827"/>
                    </a:solidFill>
                    <a:latin typeface="Cambria Math" panose="02040503050406030204" pitchFamily="18" charset="0"/>
                  </a:rPr>
                  <a:t>$CD$</a:t>
                </a:r>
                <a:r>
                  <a:rPr sz="2400" b="0">
                    <a:solidFill>
                      <a:srgbClr val="111827"/>
                    </a:solidFill>
                    <a:latin typeface="Arial"/>
                  </a:rPr>
                  <a:t> are the diagonals </a:t>
                </a:r>
                <a:r>
                  <a:rPr lang="en-IN" sz="2400">
                    <a:solidFill>
                      <a:srgbClr val="111827"/>
                    </a:solidFill>
                    <a:latin typeface="Cambria Math" panose="02040503050406030204" pitchFamily="18" charset="0"/>
                  </a:rPr>
                  <a:t>$(s,s,0)$</a:t>
                </a:r>
                <a:r>
                  <a:rPr sz="2400" b="0">
                    <a:solidFill>
                      <a:srgbClr val="111827"/>
                    </a:solidFill>
                    <a:latin typeface="Arial"/>
                  </a:rPr>
                  <a:t> and </a:t>
                </a:r>
                <a:r>
                  <a:rPr lang="en-IN" sz="2400">
                    <a:solidFill>
                      <a:srgbClr val="111827"/>
                    </a:solidFill>
                    <a:latin typeface="Cambria Math" panose="02040503050406030204" pitchFamily="18" charset="0"/>
                  </a:rPr>
                  <a:t>$(s,-s,0)$</a:t>
                </a:r>
                <a:r>
                  <a:rPr sz="2400" b="0">
                    <a:solidFill>
                      <a:srgbClr val="111827"/>
                    </a:solidFill>
                    <a:latin typeface="Arial"/>
                  </a:rPr>
                  <a:t>-type in opposite (parallel) faces: </a:t>
                </a:r>
                <a:r>
                  <a:rPr lang="en-IN" sz="2400">
                    <a:solidFill>
                      <a:srgbClr val="111827"/>
                    </a:solidFill>
                    <a:latin typeface="Cambria Math" panose="02040503050406030204" pitchFamily="18" charset="0"/>
                  </a:rPr>
                  <a:t>$(1,1,0)\cdot(1,-1,0)=0$</a:t>
                </a:r>
                <a:r>
                  <a:rPr sz="2400" b="0">
                    <a:solidFill>
                      <a:srgbClr val="111827"/>
                    </a:solidFill>
                    <a:latin typeface="Arial"/>
                  </a:rPr>
                  <a:t>, so they are perpendicular.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$=\frac12|AB||CD|=\frac12\cdot4\cdot4=8$</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8</a:t>
            </a:r>
            <a:endParaRPr sz="2800">
              <a:solidFill>
                <a:srgbClr val="15803D"/>
              </a:solidFill>
            </a:endParaRPr>
          </a:p>
        </p:txBody>
      </p:sp>
    </p:spTree>
  </p:cSld>
  <p:clrMapOvr>
    <a:masterClrMapping/>
  </p:clrMapOvr>
</p:sld>
</file>

<file path=ppt/slides/slide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regular tetrahedron every pair of opposite edges is perpendicular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also true in any 'orthocentric' tetrahedron.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Equilateral triangle of side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has area </a:t>
                </a:r>
                <a14:m>
                  <m:oMath xmlns:m="http://schemas.openxmlformats.org/officeDocument/2006/math">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 right triangle with legs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has area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regular tetrahedron is inscribed in a cube of side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its volume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of the cube's.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regular tetrahedron every pair of opposite edges is perpendicular (</a:t>
                </a:r>
                <a:r>
                  <a:rPr lang="en-IN" sz="2400">
                    <a:solidFill>
                      <a:srgbClr val="111827"/>
                    </a:solidFill>
                    <a:latin typeface="Cambria Math" panose="02040503050406030204" pitchFamily="18" charset="0"/>
                  </a:rPr>
                  <a:t>$\overrightarrow{AB}\cdot\overrightarrow{CD}=0$</a:t>
                </a:r>
                <a:r>
                  <a:rPr sz="2400" b="0">
                    <a:solidFill>
                      <a:srgbClr val="111827"/>
                    </a:solidFill>
                    <a:latin typeface="Arial"/>
                  </a:rPr>
                  <a:t>); also true in any 'orthocentric' tetrahedron.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Equilateral triangle of side </a:t>
                </a:r>
                <a:r>
                  <a:rPr lang="en-IN" sz="2400">
                    <a:solidFill>
                      <a:srgbClr val="111827"/>
                    </a:solidFill>
                    <a:latin typeface="Cambria Math" panose="02040503050406030204" pitchFamily="18" charset="0"/>
                  </a:rPr>
                  <a:t>$a$</a:t>
                </a:r>
                <a:r>
                  <a:rPr sz="2400" b="0">
                    <a:solidFill>
                      <a:srgbClr val="111827"/>
                    </a:solidFill>
                    <a:latin typeface="Arial"/>
                  </a:rPr>
                  <a:t> has area </a:t>
                </a:r>
                <a:r>
                  <a:rPr lang="en-IN" sz="2400">
                    <a:solidFill>
                      <a:srgbClr val="111827"/>
                    </a:solidFill>
                    <a:latin typeface="Cambria Math" panose="02040503050406030204" pitchFamily="18" charset="0"/>
                  </a:rPr>
                  <a:t>$\frac{\sqrt3}{4}a^2$</a:t>
                </a:r>
                <a:r>
                  <a:rPr sz="2400" b="0">
                    <a:solidFill>
                      <a:srgbClr val="111827"/>
                    </a:solidFill>
                    <a:latin typeface="Arial"/>
                  </a:rPr>
                  <a:t>; a right triangle with legs </a:t>
                </a:r>
                <a:r>
                  <a:rPr lang="en-IN" sz="2400">
                    <a:solidFill>
                      <a:srgbClr val="111827"/>
                    </a:solidFill>
                    <a:latin typeface="Cambria Math" panose="02040503050406030204" pitchFamily="18" charset="0"/>
                  </a:rPr>
                  <a:t>$a,a$</a:t>
                </a:r>
                <a:r>
                  <a:rPr sz="2400" b="0">
                    <a:solidFill>
                      <a:srgbClr val="111827"/>
                    </a:solidFill>
                    <a:latin typeface="Arial"/>
                  </a:rPr>
                  <a:t> has area </a:t>
                </a:r>
                <a:r>
                  <a:rPr lang="en-IN" sz="2400">
                    <a:solidFill>
                      <a:srgbClr val="111827"/>
                    </a:solidFill>
                    <a:latin typeface="Cambria Math" panose="02040503050406030204" pitchFamily="18" charset="0"/>
                  </a:rPr>
                  <a:t>$\frac{a^2}{2}$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regular tetrahedron is inscribed in a cube of side </a:t>
                </a:r>
                <a:r>
                  <a:rPr lang="en-IN" sz="2400">
                    <a:solidFill>
                      <a:srgbClr val="111827"/>
                    </a:solidFill>
                    <a:latin typeface="Cambria Math" panose="02040503050406030204" pitchFamily="18" charset="0"/>
                  </a:rPr>
                  <a:t>$\frac{a}{\sqrt2}$</a:t>
                </a:r>
                <a:r>
                  <a:rPr sz="2400" b="0">
                    <a:solidFill>
                      <a:srgbClr val="111827"/>
                    </a:solidFill>
                    <a:latin typeface="Arial"/>
                  </a:rPr>
                  <a:t>; its volume is </a:t>
                </a:r>
                <a:r>
                  <a:rPr lang="en-IN" sz="2400">
                    <a:solidFill>
                      <a:srgbClr val="111827"/>
                    </a:solidFill>
                    <a:latin typeface="Cambria Math" panose="02040503050406030204" pitchFamily="18" charset="0"/>
                  </a:rPr>
                  <a:t>$\frac13$</a:t>
                </a:r>
                <a:r>
                  <a:rPr sz="2400" b="0">
                    <a:solidFill>
                      <a:srgbClr val="111827"/>
                    </a:solidFill>
                    <a:latin typeface="Arial"/>
                  </a:rPr>
                  <a:t> of the cube's.</a:t>
                </a:r>
                <a:endParaRPr sz="2400">
                  <a:solidFill>
                    <a:srgbClr val="111827"/>
                  </a:solidFill>
                </a:endParaRPr>
              </a:p>
            </p:txBody>
          </p:sp>
        </mc:Fallback>
      </mc:AlternateContent>
    </p:spTree>
  </p:cSld>
  <p:clrMapOvr>
    <a:masterClrMapping/>
  </p:clrMapOvr>
</p:sld>
</file>

<file path=ppt/slides/slide3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are two unit vectors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is such that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then the maximum value of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oMath>
                </a14:m>
                <a:r>
                  <a:rPr sz="2400" b="0">
                    <a:solidFill>
                      <a:srgbClr val="111827"/>
                    </a:solidFill>
                    <a:latin typeface="Arial"/>
                  </a:rPr>
                  <a:t> are co-prime natural numbers, then find the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________.</a:t>
                </a:r>
                <a:endParaRPr sz="2400">
                  <a:solidFill>
                    <a:srgbClr val="111827"/>
                  </a:solidFill>
                </a:endParaRPr>
              </a:p>
            </p:txBody>
          </p:sp>
        </mc:Choice>
        <mc:Fallback>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a,\vec b$</a:t>
                </a:r>
                <a:r>
                  <a:rPr sz="2400" b="0">
                    <a:solidFill>
                      <a:srgbClr val="111827"/>
                    </a:solidFill>
                    <a:latin typeface="Arial"/>
                  </a:rPr>
                  <a:t> are two unit vectors and </a:t>
                </a:r>
                <a:r>
                  <a:rPr lang="en-IN" sz="2400">
                    <a:solidFill>
                      <a:srgbClr val="111827"/>
                    </a:solidFill>
                    <a:latin typeface="Cambria Math" panose="02040503050406030204" pitchFamily="18" charset="0"/>
                  </a:rPr>
                  <a:t>$\vec c$</a:t>
                </a:r>
                <a:r>
                  <a:rPr sz="2400" b="0">
                    <a:solidFill>
                      <a:srgbClr val="111827"/>
                    </a:solidFill>
                    <a:latin typeface="Arial"/>
                  </a:rPr>
                  <a:t> is such that </a:t>
                </a:r>
                <a:r>
                  <a:rPr lang="en-IN" sz="2400">
                    <a:solidFill>
                      <a:srgbClr val="111827"/>
                    </a:solidFill>
                    <a:latin typeface="Cambria Math" panose="02040503050406030204" pitchFamily="18" charset="0"/>
                  </a:rPr>
                  <a:t>$\vec c=\vec a\times\vec c+\vec b$</a:t>
                </a:r>
                <a:r>
                  <a:rPr sz="2400" b="0">
                    <a:solidFill>
                      <a:srgbClr val="111827"/>
                    </a:solidFill>
                    <a:latin typeface="Arial"/>
                  </a:rPr>
                  <a:t>, then the maximum value of </a:t>
                </a:r>
                <a:r>
                  <a:rPr lang="en-IN" sz="2400">
                    <a:solidFill>
                      <a:srgbClr val="111827"/>
                    </a:solidFill>
                    <a:latin typeface="Cambria Math" panose="02040503050406030204" pitchFamily="18" charset="0"/>
                  </a:rPr>
                  <a:t>$[\vec a\ \vec b\ \vec c]$</a:t>
                </a:r>
                <a:r>
                  <a:rPr sz="2400" b="0">
                    <a:solidFill>
                      <a:srgbClr val="111827"/>
                    </a:solidFill>
                    <a:latin typeface="Arial"/>
                  </a:rPr>
                  <a:t> is </a:t>
                </a:r>
                <a:r>
                  <a:rPr lang="en-IN" sz="2400">
                    <a:solidFill>
                      <a:srgbClr val="111827"/>
                    </a:solidFill>
                    <a:latin typeface="Cambria Math" panose="02040503050406030204" pitchFamily="18" charset="0"/>
                  </a:rPr>
                  <a:t>$\frac pq$</a:t>
                </a:r>
                <a:r>
                  <a:rPr sz="2400" b="0">
                    <a:solidFill>
                      <a:srgbClr val="111827"/>
                    </a:solidFill>
                    <a:latin typeface="Arial"/>
                  </a:rPr>
                  <a:t> where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are co-prime natural numbers, then find the value of </a:t>
                </a:r>
                <a:r>
                  <a:rPr lang="en-IN" sz="2400">
                    <a:solidFill>
                      <a:srgbClr val="111827"/>
                    </a:solidFill>
                    <a:latin typeface="Cambria Math" panose="02040503050406030204" pitchFamily="18" charset="0"/>
                  </a:rPr>
                  <a:t>$(p+q)$</a:t>
                </a:r>
                <a:r>
                  <a:rPr sz="2400" b="0">
                    <a:solidFill>
                      <a:srgbClr val="111827"/>
                    </a:solidFill>
                    <a:latin typeface="Arial"/>
                  </a:rPr>
                  <a:t> ________.</a:t>
                </a:r>
                <a:endParaRPr sz="2400">
                  <a:solidFill>
                    <a:srgbClr val="111827"/>
                  </a:solidFill>
                </a:endParaRPr>
              </a:p>
            </p:txBody>
          </p:sp>
        </mc:Fallback>
      </mc:AlternateContent>
      <p:sp>
        <p:nvSpPr>
          <p:cNvPr id="5" name="Rectangle 4"/>
          <p:cNvSpPr/>
          <p:nvPr/>
        </p:nvSpPr>
        <p:spPr>
          <a:xfrm>
            <a:off x="731520" y="3998467"/>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Maximum of a scalar triple product under a vector condition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 square it and use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to bound the triple product.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$\vec c-\vec b=\vec a\times\vec c$</a:t>
                </a:r>
                <a:r>
                  <a:rPr sz="2400" b="0">
                    <a:solidFill>
                      <a:srgbClr val="78350F"/>
                    </a:solidFill>
                    <a:latin typeface="Arial"/>
                  </a:rPr>
                  <a:t>; square it and use </a:t>
                </a:r>
                <a:r>
                  <a:rPr lang="en-IN" sz="2400">
                    <a:solidFill>
                      <a:srgbClr val="78350F"/>
                    </a:solidFill>
                    <a:latin typeface="Cambria Math" panose="02040503050406030204" pitchFamily="18" charset="0"/>
                  </a:rPr>
                  <a:t>$\vec b\cdot\vec c=1-[\vec a\ \vec b\ \vec c]$</a:t>
                </a:r>
                <a:r>
                  <a:rPr sz="2400" b="0">
                    <a:solidFill>
                      <a:srgbClr val="78350F"/>
                    </a:solidFill>
                    <a:latin typeface="Arial"/>
                  </a:rPr>
                  <a:t> to bound the triple product.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c=\vec a\times\vec c+\vec b\Rightarrow\vec c-\vec b=\vec a\times\vec c$</a:t>
                </a:r>
                <a:r>
                  <a:rPr sz="2400" b="0">
                    <a:solidFill>
                      <a:srgbClr val="111827"/>
                    </a:solidFill>
                    <a:latin typeface="Arial"/>
                  </a:rPr>
                  <a:t>, so </a:t>
                </a:r>
                <a:r>
                  <a:rPr lang="en-IN" sz="2400">
                    <a:solidFill>
                      <a:srgbClr val="111827"/>
                    </a:solidFill>
                    <a:latin typeface="Cambria Math" panose="02040503050406030204" pitchFamily="18" charset="0"/>
                  </a:rPr>
                  <a:t>$|\vec c-\vec b|^2=|\vec a\times\vec c|^2$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$\theta=\vec a\wedge\vec c$</a:t>
                </a:r>
                <a:r>
                  <a:rPr sz="2400" b="0">
                    <a:solidFill>
                      <a:srgbClr val="111827"/>
                    </a:solidFill>
                    <a:latin typeface="Arial"/>
                  </a:rPr>
                  <a:t>: </a:t>
                </a:r>
                <a:r>
                  <a:rPr lang="en-IN" sz="2400">
                    <a:solidFill>
                      <a:srgbClr val="111827"/>
                    </a:solidFill>
                    <a:latin typeface="Cambria Math" panose="02040503050406030204" pitchFamily="18" charset="0"/>
                  </a:rPr>
                  <a:t>$c^2+1-2\vec b\cdot\vec c=c^2\sin^2\theta$</a:t>
                </a:r>
                <a:r>
                  <a:rPr sz="2400" b="0">
                    <a:solidFill>
                      <a:srgbClr val="111827"/>
                    </a:solidFill>
                    <a:latin typeface="Arial"/>
                  </a:rPr>
                  <a:t>, so </a:t>
                </a:r>
                <a:r>
                  <a:rPr lang="en-IN" sz="2400">
                    <a:solidFill>
                      <a:srgbClr val="111827"/>
                    </a:solidFill>
                    <a:latin typeface="Cambria Math" panose="02040503050406030204" pitchFamily="18" charset="0"/>
                  </a:rPr>
                  <a:t>$2\,\vec b\cdot\vec c=c^2\cos^2\theta+1$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Also </a:t>
                </a:r>
                <a:r>
                  <a:rPr lang="en-IN" sz="2400">
                    <a:solidFill>
                      <a:srgbClr val="111827"/>
                    </a:solidFill>
                    <a:latin typeface="Cambria Math" panose="02040503050406030204" pitchFamily="18" charset="0"/>
                  </a:rPr>
                  <a:t>$\vec b\cdot\vec c=\vec b\cdot(\vec a\times\vec c+\vec b)=[\vec b\ \vec a\ \vec c]+1=1-[\vec a\ \vec b\ \vec 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with equality when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(take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has unit length, so the value is attained).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maximum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$2-2[\vec a\ \vec b\ \vec c]=c^2\cos^2\theta+1\Rightarrow2[\vec a\ \vec b\ \vec c]=1-c^2\cos^2\theta\le1$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 \vec b\ \vec c]\le\frac12$</a:t>
                </a:r>
                <a:r>
                  <a:rPr sz="2400" b="0">
                    <a:solidFill>
                      <a:srgbClr val="111827"/>
                    </a:solidFill>
                    <a:latin typeface="Arial"/>
                  </a:rPr>
                  <a:t>, with equality when </a:t>
                </a:r>
                <a:r>
                  <a:rPr lang="en-IN" sz="2400">
                    <a:solidFill>
                      <a:srgbClr val="111827"/>
                    </a:solidFill>
                    <a:latin typeface="Cambria Math" panose="02040503050406030204" pitchFamily="18" charset="0"/>
                  </a:rPr>
                  <a:t>$\vec a\perp\vec c$</a:t>
                </a:r>
                <a:r>
                  <a:rPr sz="2400" b="0">
                    <a:solidFill>
                      <a:srgbClr val="111827"/>
                    </a:solidFill>
                    <a:latin typeface="Arial"/>
                  </a:rPr>
                  <a:t> (take </a:t>
                </a:r>
                <a:r>
                  <a:rPr lang="en-IN" sz="2400">
                    <a:solidFill>
                      <a:srgbClr val="111827"/>
                    </a:solidFill>
                    <a:latin typeface="Cambria Math" panose="02040503050406030204" pitchFamily="18" charset="0"/>
                  </a:rPr>
                  <a:t>$|\vec c|=\frac1{\sqrt2}$</a:t>
                </a:r>
                <a:r>
                  <a:rPr sz="2400" b="0">
                    <a:solidFill>
                      <a:srgbClr val="111827"/>
                    </a:solidFill>
                    <a:latin typeface="Arial"/>
                  </a:rPr>
                  <a:t>, </a:t>
                </a:r>
                <a:r>
                  <a:rPr lang="en-IN" sz="2400">
                    <a:solidFill>
                      <a:srgbClr val="111827"/>
                    </a:solidFill>
                    <a:latin typeface="Cambria Math" panose="02040503050406030204" pitchFamily="18" charset="0"/>
                  </a:rPr>
                  <a:t>$\vec b=\vec c-\vec a\times\vec c$</a:t>
                </a:r>
                <a:r>
                  <a:rPr sz="2400" b="0">
                    <a:solidFill>
                      <a:srgbClr val="111827"/>
                    </a:solidFill>
                    <a:latin typeface="Arial"/>
                  </a:rPr>
                  <a:t> has unit length, so the value is attained).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maximum is </a:t>
                </a:r>
                <a:r>
                  <a:rPr lang="en-IN" sz="2400">
                    <a:solidFill>
                      <a:srgbClr val="111827"/>
                    </a:solidFill>
                    <a:latin typeface="Cambria Math" panose="02040503050406030204" pitchFamily="18" charset="0"/>
                  </a:rPr>
                  <a:t>$\frac12$</a:t>
                </a:r>
                <a:r>
                  <a:rPr sz="2400" b="0">
                    <a:solidFill>
                      <a:srgbClr val="111827"/>
                    </a:solidFill>
                    <a:latin typeface="Arial"/>
                  </a:rPr>
                  <a:t>, so </a:t>
                </a:r>
                <a:r>
                  <a:rPr lang="en-IN" sz="2400">
                    <a:solidFill>
                      <a:srgbClr val="111827"/>
                    </a:solidFill>
                    <a:latin typeface="Cambria Math" panose="02040503050406030204" pitchFamily="18" charset="0"/>
                  </a:rPr>
                  <a:t>$p=1,\ q=2$</a:t>
                </a:r>
                <a:r>
                  <a:rPr sz="2400" b="0">
                    <a:solidFill>
                      <a:srgbClr val="111827"/>
                    </a:solidFill>
                    <a:latin typeface="Arial"/>
                  </a:rPr>
                  <a:t> and </a:t>
                </a:r>
                <a:r>
                  <a:rPr lang="en-IN" sz="2400">
                    <a:solidFill>
                      <a:srgbClr val="111827"/>
                    </a:solidFill>
                    <a:latin typeface="Cambria Math" panose="02040503050406030204" pitchFamily="18" charset="0"/>
                  </a:rPr>
                  <a:t>$p+q=3$</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3</a:t>
            </a:r>
            <a:endParaRPr sz="2800">
              <a:solidFill>
                <a:srgbClr val="15803D"/>
              </a:solidFill>
            </a:endParaRPr>
          </a:p>
        </p:txBody>
      </p:sp>
    </p:spTree>
  </p:cSld>
  <p:clrMapOvr>
    <a:masterClrMapping/>
  </p:clrMapOvr>
</p:sld>
</file>

<file path=ppt/slides/slide3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coordinates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𝑘</m:t>
                        </m:r>
                      </m:e>
                    </m:acc>
                  </m:oMath>
                </a14:m>
                <a:r>
                  <a:rPr sz="2400" b="0">
                    <a:solidFill>
                      <a:srgbClr val="78350F"/>
                    </a:solidFill>
                    <a:latin typeface="Arial"/>
                  </a:rPr>
                  <a:t> and solve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for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coordinates with </a:t>
                </a:r>
                <a:r>
                  <a:rPr lang="en-IN" sz="2400">
                    <a:solidFill>
                      <a:srgbClr val="78350F"/>
                    </a:solidFill>
                    <a:latin typeface="Cambria Math" panose="02040503050406030204" pitchFamily="18" charset="0"/>
                  </a:rPr>
                  <a:t>$\vec a=\hat k$</a:t>
                </a:r>
                <a:r>
                  <a:rPr sz="2400" b="0">
                    <a:solidFill>
                      <a:srgbClr val="78350F"/>
                    </a:solidFill>
                    <a:latin typeface="Arial"/>
                  </a:rPr>
                  <a:t> and solve </a:t>
                </a:r>
                <a:r>
                  <a:rPr lang="en-IN" sz="2400">
                    <a:solidFill>
                      <a:srgbClr val="78350F"/>
                    </a:solidFill>
                    <a:latin typeface="Cambria Math" panose="02040503050406030204" pitchFamily="18" charset="0"/>
                  </a:rPr>
                  <a:t>$\vec c=\vec a\times\vec c+\vec b$</a:t>
                </a:r>
                <a:r>
                  <a:rPr sz="2400" b="0">
                    <a:solidFill>
                      <a:srgbClr val="78350F"/>
                    </a:solidFill>
                    <a:latin typeface="Arial"/>
                  </a:rPr>
                  <a:t> for </a:t>
                </a:r>
                <a:r>
                  <a:rPr lang="en-IN" sz="2400">
                    <a:solidFill>
                      <a:srgbClr val="78350F"/>
                    </a:solidFill>
                    <a:latin typeface="Cambria Math" panose="02040503050406030204" pitchFamily="18" charset="0"/>
                  </a:rPr>
                  <a:t>$\vec 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$\vec a=(0,0,1)$</a:t>
                </a:r>
                <a:r>
                  <a:rPr sz="2400" b="0">
                    <a:solidFill>
                      <a:srgbClr val="111827"/>
                    </a:solidFill>
                    <a:latin typeface="Arial"/>
                  </a:rPr>
                  <a:t> and </a:t>
                </a:r>
                <a:r>
                  <a:rPr lang="en-IN" sz="2400">
                    <a:solidFill>
                      <a:srgbClr val="111827"/>
                    </a:solidFill>
                    <a:latin typeface="Cambria Math" panose="02040503050406030204" pitchFamily="18" charset="0"/>
                  </a:rPr>
                  <a:t>$\vec c=(x,y,z)$</a:t>
                </a:r>
                <a:r>
                  <a:rPr sz="2400" b="0">
                    <a:solidFill>
                      <a:srgbClr val="111827"/>
                    </a:solidFill>
                    <a:latin typeface="Arial"/>
                  </a:rPr>
                  <a:t>: </a:t>
                </a:r>
                <a:r>
                  <a:rPr lang="en-IN" sz="2400">
                    <a:solidFill>
                      <a:srgbClr val="111827"/>
                    </a:solidFill>
                    <a:latin typeface="Cambria Math" panose="02040503050406030204" pitchFamily="18" charset="0"/>
                  </a:rPr>
                  <a:t>$\vec a\times\vec c=(-y,x,0)$</a:t>
                </a:r>
                <a:r>
                  <a:rPr sz="2400" b="0">
                    <a:solidFill>
                      <a:srgbClr val="111827"/>
                    </a:solidFill>
                    <a:latin typeface="Arial"/>
                  </a:rPr>
                  <a:t>, so </a:t>
                </a:r>
                <a:r>
                  <a:rPr lang="en-IN" sz="2400">
                    <a:solidFill>
                      <a:srgbClr val="111827"/>
                    </a:solidFill>
                    <a:latin typeface="Cambria Math" panose="02040503050406030204" pitchFamily="18" charset="0"/>
                  </a:rPr>
                  <a:t>$\vec b=\vec c-\vec a\times\vec c=(x+y,\ y-x,\ 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b|=1$</a:t>
                </a:r>
                <a:r>
                  <a:rPr sz="2400" b="0">
                    <a:solidFill>
                      <a:srgbClr val="111827"/>
                    </a:solidFill>
                    <a:latin typeface="Arial"/>
                  </a:rPr>
                  <a:t>: </a:t>
                </a:r>
                <a:r>
                  <a:rPr lang="en-IN" sz="2400">
                    <a:solidFill>
                      <a:srgbClr val="111827"/>
                    </a:solidFill>
                    <a:latin typeface="Cambria Math" panose="02040503050406030204" pitchFamily="18" charset="0"/>
                  </a:rPr>
                  <a:t>$(x+y)^2+(y-x)^2+z^2=1\Rightarrow2x^2+2y^2+z^2=1$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𝑥</m:t>
                        </m:r>
                      </m:sub>
                    </m:sSub>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𝑦</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𝑦</m:t>
                        </m:r>
                      </m:sub>
                    </m:sSub>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𝑥</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(equality when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the maximum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 \vec b\ \vec c]=\vec a\cdot(\vec b\times\vec c)=(b_xc_y-b_yc_x)=(x+y)y-(y-x)x=x^2+y^2$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t>
                </a:r>
                <a:r>
                  <a:rPr lang="en-IN" sz="2400">
                    <a:solidFill>
                      <a:srgbClr val="111827"/>
                    </a:solidFill>
                    <a:latin typeface="Cambria Math" panose="02040503050406030204" pitchFamily="18" charset="0"/>
                  </a:rPr>
                  <a:t>$2(x^2+y^2)+z^2=1$</a:t>
                </a:r>
                <a:r>
                  <a:rPr sz="2400" b="0">
                    <a:solidFill>
                      <a:srgbClr val="111827"/>
                    </a:solidFill>
                    <a:latin typeface="Arial"/>
                  </a:rPr>
                  <a:t>: </a:t>
                </a:r>
                <a:r>
                  <a:rPr lang="en-IN" sz="2400">
                    <a:solidFill>
                      <a:srgbClr val="111827"/>
                    </a:solidFill>
                    <a:latin typeface="Cambria Math" panose="02040503050406030204" pitchFamily="18" charset="0"/>
                  </a:rPr>
                  <a:t>$x^2+y^2\le\frac12$</a:t>
                </a:r>
                <a:r>
                  <a:rPr sz="2400" b="0">
                    <a:solidFill>
                      <a:srgbClr val="111827"/>
                    </a:solidFill>
                    <a:latin typeface="Arial"/>
                  </a:rPr>
                  <a:t> (equality when </a:t>
                </a:r>
                <a:r>
                  <a:rPr lang="en-IN" sz="2400">
                    <a:solidFill>
                      <a:srgbClr val="111827"/>
                    </a:solidFill>
                    <a:latin typeface="Cambria Math" panose="02040503050406030204" pitchFamily="18" charset="0"/>
                  </a:rPr>
                  <a:t>$z=0$</a:t>
                </a:r>
                <a:r>
                  <a:rPr sz="2400" b="0">
                    <a:solidFill>
                      <a:srgbClr val="111827"/>
                    </a:solidFill>
                    <a:latin typeface="Arial"/>
                  </a:rPr>
                  <a:t>). So the maximum is </a:t>
                </a:r>
                <a:r>
                  <a:rPr lang="en-IN" sz="2400">
                    <a:solidFill>
                      <a:srgbClr val="111827"/>
                    </a:solidFill>
                    <a:latin typeface="Cambria Math" panose="02040503050406030204" pitchFamily="18" charset="0"/>
                  </a:rPr>
                  <a:t>$\frac12$</a:t>
                </a:r>
                <a:r>
                  <a:rPr sz="2400" b="0">
                    <a:solidFill>
                      <a:srgbClr val="111827"/>
                    </a:solidFill>
                    <a:latin typeface="Arial"/>
                  </a:rPr>
                  <a:t> and </a:t>
                </a:r>
                <a:r>
                  <a:rPr lang="en-IN" sz="2400">
                    <a:solidFill>
                      <a:srgbClr val="111827"/>
                    </a:solidFill>
                    <a:latin typeface="Cambria Math" panose="02040503050406030204" pitchFamily="18" charset="0"/>
                  </a:rPr>
                  <a:t>$p+q=3$</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3</a:t>
            </a:r>
            <a:endParaRPr sz="2800">
              <a:solidFill>
                <a:srgbClr val="15803D"/>
              </a:solidFill>
            </a:endParaRPr>
          </a:p>
        </p:txBody>
      </p:sp>
    </p:spTree>
  </p:cSld>
  <p:clrMapOvr>
    <a:masterClrMapping/>
  </p:clrMapOvr>
</p:sld>
</file>

<file path=ppt/slides/slide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the unknown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can be parametrised by components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equals the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-component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when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Maximise a quantity by writing it as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𝑎 𝑛𝑜𝑛-𝑛𝑒𝑔𝑎𝑡𝑖𝑣𝑒 𝑡𝑒𝑟𝑚</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c=\vec a\times\vec c+\vec b\Rightarrow\vec b=\vec c-\vec a\times\vec c$</a:t>
                </a:r>
                <a:r>
                  <a:rPr sz="2400" b="0">
                    <a:solidFill>
                      <a:srgbClr val="111827"/>
                    </a:solidFill>
                    <a:latin typeface="Arial"/>
                  </a:rPr>
                  <a:t>: the unknown </a:t>
                </a:r>
                <a:r>
                  <a:rPr lang="en-IN" sz="2400">
                    <a:solidFill>
                      <a:srgbClr val="111827"/>
                    </a:solidFill>
                    <a:latin typeface="Cambria Math" panose="02040503050406030204" pitchFamily="18" charset="0"/>
                  </a:rPr>
                  <a:t>$\vec c$</a:t>
                </a:r>
                <a:r>
                  <a:rPr sz="2400" b="0">
                    <a:solidFill>
                      <a:srgbClr val="111827"/>
                    </a:solidFill>
                    <a:latin typeface="Arial"/>
                  </a:rPr>
                  <a:t> can be parametrised by components with </a:t>
                </a:r>
                <a:r>
                  <a:rPr lang="en-IN" sz="2400">
                    <a:solidFill>
                      <a:srgbClr val="111827"/>
                    </a:solidFill>
                    <a:latin typeface="Cambria Math" panose="02040503050406030204" pitchFamily="18" charset="0"/>
                  </a:rPr>
                  <a:t>$\vec a=\hat 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 \vec b\ \vec c]=\vec a\cdot(\vec b\times\vec c)$</a:t>
                </a:r>
                <a:r>
                  <a:rPr sz="2400" b="0">
                    <a:solidFill>
                      <a:srgbClr val="111827"/>
                    </a:solidFill>
                    <a:latin typeface="Arial"/>
                  </a:rPr>
                  <a:t> equals the </a:t>
                </a:r>
                <a:r>
                  <a:rPr lang="en-IN" sz="2400">
                    <a:solidFill>
                      <a:srgbClr val="111827"/>
                    </a:solidFill>
                    <a:latin typeface="Cambria Math" panose="02040503050406030204" pitchFamily="18" charset="0"/>
                  </a:rPr>
                  <a:t>$z$</a:t>
                </a:r>
                <a:r>
                  <a:rPr sz="2400" b="0">
                    <a:solidFill>
                      <a:srgbClr val="111827"/>
                    </a:solidFill>
                    <a:latin typeface="Arial"/>
                  </a:rPr>
                  <a:t>-component of </a:t>
                </a:r>
                <a:r>
                  <a:rPr lang="en-IN" sz="2400">
                    <a:solidFill>
                      <a:srgbClr val="111827"/>
                    </a:solidFill>
                    <a:latin typeface="Cambria Math" panose="02040503050406030204" pitchFamily="18" charset="0"/>
                  </a:rPr>
                  <a:t>$\vec b\times\vec c$</a:t>
                </a:r>
                <a:r>
                  <a:rPr sz="2400" b="0">
                    <a:solidFill>
                      <a:srgbClr val="111827"/>
                    </a:solidFill>
                    <a:latin typeface="Arial"/>
                  </a:rPr>
                  <a:t> when </a:t>
                </a:r>
                <a:r>
                  <a:rPr lang="en-IN" sz="2400">
                    <a:solidFill>
                      <a:srgbClr val="111827"/>
                    </a:solidFill>
                    <a:latin typeface="Cambria Math" panose="02040503050406030204" pitchFamily="18" charset="0"/>
                  </a:rPr>
                  <a:t>$\vec a=\hat 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Maximise a quantity by writing it as </a:t>
                </a:r>
                <a:r>
                  <a:rPr lang="en-IN" sz="2400">
                    <a:solidFill>
                      <a:srgbClr val="111827"/>
                    </a:solidFill>
                    <a:latin typeface="Cambria Math" panose="02040503050406030204" pitchFamily="18" charset="0"/>
                  </a:rPr>
                  <a:t>$\frac12(1-\text{a non-negative term})$</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is unit vector then find the value of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 ________.</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 \vec b\ \vec c]=2$</a:t>
                </a:r>
                <a:r>
                  <a:rPr sz="2400" b="0">
                    <a:solidFill>
                      <a:srgbClr val="111827"/>
                    </a:solidFill>
                    <a:latin typeface="Arial"/>
                  </a:rPr>
                  <a:t>, and </a:t>
                </a:r>
                <a:r>
                  <a:rPr lang="en-IN" sz="2400">
                    <a:solidFill>
                      <a:srgbClr val="111827"/>
                    </a:solidFill>
                    <a:latin typeface="Cambria Math" panose="02040503050406030204" pitchFamily="18" charset="0"/>
                  </a:rPr>
                  <a:t>$\vec d$</a:t>
                </a:r>
                <a:r>
                  <a:rPr sz="2400" b="0">
                    <a:solidFill>
                      <a:srgbClr val="111827"/>
                    </a:solidFill>
                    <a:latin typeface="Arial"/>
                  </a:rPr>
                  <a:t> is unit vector then find the value of </a:t>
                </a:r>
                <a:r>
                  <a:rPr lang="en-IN" sz="2400">
                    <a:solidFill>
                      <a:srgbClr val="111827"/>
                    </a:solidFill>
                    <a:latin typeface="Cambria Math" panose="02040503050406030204" pitchFamily="18" charset="0"/>
                  </a:rPr>
                  <a:t>$\left|(\vec a\times\vec b)\times(\vec c\times\vec d)+(\vec b\times\vec c)\times(\vec a\times\vec d)+(\vec c\times\vec a)\times(\vec b\times\vec d)\right|$</a:t>
                </a:r>
                <a:r>
                  <a:rPr sz="2400" b="0">
                    <a:solidFill>
                      <a:srgbClr val="111827"/>
                    </a:solidFill>
                    <a:latin typeface="Arial"/>
                  </a:rPr>
                  <a:t> ________.</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products of four vectors (identity for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Choice>
        <mc:Fallback>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products of four vectors (identity for </a:t>
                </a:r>
                <a:r>
                  <a:rPr lang="en-IN" sz="2400">
                    <a:solidFill>
                      <a:srgbClr val="111827"/>
                    </a:solidFill>
                    <a:latin typeface="Cambria Math" panose="02040503050406030204" pitchFamily="18" charset="0"/>
                  </a:rPr>
                  <a:t>$(a\times b)\times(c\times d)$</a:t>
                </a:r>
                <a:r>
                  <a:rPr sz="2400" b="0">
                    <a:solidFill>
                      <a:srgbClr val="111827"/>
                    </a:solidFill>
                    <a:latin typeface="Arial"/>
                  </a:rPr>
                  <a: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Fallback>
      </mc:AlternateContent>
    </p:spTree>
  </p:cSld>
  <p:clrMapOvr>
    <a:masterClrMapping/>
  </p:clrMapOvr>
</p:sld>
</file>

<file path=ppt/slides/slide3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Use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𝑠</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𝑠</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𝑠</m:t>
                        </m:r>
                      </m:e>
                    </m:acc>
                  </m:oMath>
                </a14:m>
                <a:r>
                  <a:rPr sz="2400" b="0">
                    <a:solidFill>
                      <a:srgbClr val="78350F"/>
                    </a:solidFill>
                    <a:latin typeface="Arial"/>
                  </a:rPr>
                  <a:t> for each term; the three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pieces combine to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Use </a:t>
                </a:r>
                <a:r>
                  <a:rPr lang="en-IN" sz="2400">
                    <a:solidFill>
                      <a:srgbClr val="78350F"/>
                    </a:solidFill>
                    <a:latin typeface="Cambria Math" panose="02040503050406030204" pitchFamily="18" charset="0"/>
                  </a:rPr>
                  <a:t>$(\vec p\times\vec q)\times(\vec r\times\vec s)=[\vec p\ \vec q\ \vec s]\vec r-[\vec p\ \vec q\ \vec r]\vec s$</a:t>
                </a:r>
                <a:r>
                  <a:rPr sz="2400" b="0">
                    <a:solidFill>
                      <a:srgbClr val="78350F"/>
                    </a:solidFill>
                    <a:latin typeface="Arial"/>
                  </a:rPr>
                  <a:t> for each term; the three </a:t>
                </a:r>
                <a:r>
                  <a:rPr lang="en-IN" sz="2400">
                    <a:solidFill>
                      <a:srgbClr val="78350F"/>
                    </a:solidFill>
                    <a:latin typeface="Cambria Math" panose="02040503050406030204" pitchFamily="18" charset="0"/>
                  </a:rPr>
                  <a:t>$[\cdot\cdot\vec d]$</a:t>
                </a:r>
                <a:r>
                  <a:rPr sz="2400" b="0">
                    <a:solidFill>
                      <a:srgbClr val="78350F"/>
                    </a:solidFill>
                    <a:latin typeface="Arial"/>
                  </a:rPr>
                  <a:t> pieces combine to </a:t>
                </a:r>
                <a:r>
                  <a:rPr lang="en-IN" sz="2400">
                    <a:solidFill>
                      <a:srgbClr val="78350F"/>
                    </a:solidFill>
                    <a:latin typeface="Cambria Math" panose="02040503050406030204" pitchFamily="18" charset="0"/>
                  </a:rPr>
                  <a:t>$[\vec a\ \vec b\ \vec c]\vec d$</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α</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γ</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$\vec d=\alpha\vec a+\beta\vec b+\gamma\vec c$</a:t>
                </a:r>
                <a:r>
                  <a:rPr sz="2400" b="0">
                    <a:solidFill>
                      <a:srgbClr val="111827"/>
                    </a:solidFill>
                    <a:latin typeface="Arial"/>
                  </a:rPr>
                  <a:t>. Then </a:t>
                </a:r>
                <a:r>
                  <a:rPr lang="en-IN" sz="2400">
                    <a:solidFill>
                      <a:srgbClr val="111827"/>
                    </a:solidFill>
                    <a:latin typeface="Cambria Math" panose="02040503050406030204" pitchFamily="18" charset="0"/>
                  </a:rPr>
                  <a:t>$\vec d\cdot(\vec b\times\vec c)=2\alpha$</a:t>
                </a:r>
                <a:r>
                  <a:rPr sz="2400" b="0">
                    <a:solidFill>
                      <a:srgbClr val="111827"/>
                    </a:solidFill>
                    <a:latin typeface="Arial"/>
                  </a:rPr>
                  <a:t>, </a:t>
                </a:r>
                <a:r>
                  <a:rPr lang="en-IN" sz="2400">
                    <a:solidFill>
                      <a:srgbClr val="111827"/>
                    </a:solidFill>
                    <a:latin typeface="Cambria Math" panose="02040503050406030204" pitchFamily="18" charset="0"/>
                  </a:rPr>
                  <a:t>$\vec d\cdot(\vec c\times\vec a)=2\beta$</a:t>
                </a:r>
                <a:r>
                  <a:rPr sz="2400" b="0">
                    <a:solidFill>
                      <a:srgbClr val="111827"/>
                    </a:solidFill>
                    <a:latin typeface="Arial"/>
                  </a:rPr>
                  <a:t>, </a:t>
                </a:r>
                <a:r>
                  <a:rPr lang="en-IN" sz="2400">
                    <a:solidFill>
                      <a:srgbClr val="111827"/>
                    </a:solidFill>
                    <a:latin typeface="Cambria Math" panose="02040503050406030204" pitchFamily="18" charset="0"/>
                  </a:rPr>
                  <a:t>$\vec d\cdot(\vec a\times\vec b)=2\gamma$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$[\vec d\ \vec b\ \vec c]\vec a+[\vec d\ \vec c\ \vec a]\vec b+[\vec d\ \vec a\ \vec b]\vec c=2(\alpha\vec a+\beta\vec b+\gamma\vec c)=2\vec 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b)\times(\vec c\times\vec d)=[\vec a\ \vec b\ \vec d]\vec c-[\vec a\ \vec b\ \vec c]\vec d=[\vec a\ \vec b\ \vec d]\vec c-2\vec 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b\times\vec c)\times(\vec a\times\vec d)=[\vec b\ \vec c\ \vec d]\vec a-[\vec b\ \vec c\ \vec a]\vec d=[\vec b\ \vec c\ \vec d]\vec a-2\vec d$</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since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is a unit vector.</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c\times\vec a)\times(\vec b\times\vec d)=[\vec c\ \vec a\ \vec d]\vec b-[\vec c\ \vec a\ \vec b]\vec d=[\vec c\ \vec a\ \vec d]\vec b-2\vec 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r>
                  <a:rPr lang="en-IN" sz="2400">
                    <a:solidFill>
                      <a:srgbClr val="111827"/>
                    </a:solidFill>
                    <a:latin typeface="Cambria Math" panose="02040503050406030204" pitchFamily="18" charset="0"/>
                  </a:rPr>
                  <a:t>$\left([\vec a\ \vec b\ \vec d]\vec c+[\vec b\ \vec c\ \vec d]\vec a+[\vec c\ \vec a\ \vec d]\vec b\right)-6\vec d=2\vec d-6\vec d=-4\vec 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$|-4\vec d|=4$</a:t>
                </a:r>
                <a:r>
                  <a:rPr sz="2400" b="0">
                    <a:solidFill>
                      <a:srgbClr val="111827"/>
                    </a:solidFill>
                    <a:latin typeface="Arial"/>
                  </a:rPr>
                  <a:t> since </a:t>
                </a:r>
                <a:r>
                  <a:rPr lang="en-IN" sz="2400">
                    <a:solidFill>
                      <a:srgbClr val="111827"/>
                    </a:solidFill>
                    <a:latin typeface="Cambria Math" panose="02040503050406030204" pitchFamily="18" charset="0"/>
                  </a:rPr>
                  <a:t>$\vec d$</a:t>
                </a:r>
                <a:r>
                  <a:rPr sz="2400" b="0">
                    <a:solidFill>
                      <a:srgbClr val="111827"/>
                    </a:solidFill>
                    <a:latin typeface="Arial"/>
                  </a:rPr>
                  <a:t> is a unit vector.</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4</a:t>
            </a:r>
            <a:endParaRPr sz="2800">
              <a:solidFill>
                <a:srgbClr val="15803D"/>
              </a:solidFill>
            </a:endParaRPr>
          </a:p>
        </p:txBody>
      </p:sp>
    </p:spTree>
  </p:cSld>
  <p:clrMapOvr>
    <a:masterClrMapping/>
  </p:clrMapOvr>
</p:sld>
</file>

<file path=ppt/slides/slide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value does not depend on the particular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oMath>
                </a14:m>
                <a:r>
                  <a:rPr sz="2400" b="0">
                    <a:solidFill>
                      <a:srgbClr val="78350F"/>
                    </a:solidFill>
                    <a:latin typeface="Arial"/>
                  </a:rPr>
                  <a:t>: take them along the axes with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and a general unit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value does not depend on the particular </a:t>
                </a:r>
                <a:r>
                  <a:rPr lang="en-IN" sz="2400">
                    <a:solidFill>
                      <a:srgbClr val="78350F"/>
                    </a:solidFill>
                    <a:latin typeface="Cambria Math" panose="02040503050406030204" pitchFamily="18" charset="0"/>
                  </a:rPr>
                  <a:t>$\vec a,\vec b,\vec c$</a:t>
                </a:r>
                <a:r>
                  <a:rPr sz="2400" b="0">
                    <a:solidFill>
                      <a:srgbClr val="78350F"/>
                    </a:solidFill>
                    <a:latin typeface="Arial"/>
                  </a:rPr>
                  <a:t>: take them along the axes with </a:t>
                </a:r>
                <a:r>
                  <a:rPr lang="en-IN" sz="2400">
                    <a:solidFill>
                      <a:srgbClr val="78350F"/>
                    </a:solidFill>
                    <a:latin typeface="Cambria Math" panose="02040503050406030204" pitchFamily="18" charset="0"/>
                  </a:rPr>
                  <a:t>$[\vec a\ \vec b\ \vec c]=2$</a:t>
                </a:r>
                <a:r>
                  <a:rPr sz="2400" b="0">
                    <a:solidFill>
                      <a:srgbClr val="78350F"/>
                    </a:solidFill>
                    <a:latin typeface="Arial"/>
                  </a:rPr>
                  <a:t> and a general unit </a:t>
                </a:r>
                <a:r>
                  <a:rPr lang="en-IN" sz="2400">
                    <a:solidFill>
                      <a:srgbClr val="78350F"/>
                    </a:solidFill>
                    <a:latin typeface="Cambria Math" panose="02040503050406030204" pitchFamily="18" charset="0"/>
                  </a:rPr>
                  <a:t>$\vec d$</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28895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of magnitude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28895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 a=2\hat i,\ \vec b=\hat j,\ \vec c=\hat k$</a:t>
                </a:r>
                <a:r>
                  <a:rPr sz="2400" b="0">
                    <a:solidFill>
                      <a:srgbClr val="111827"/>
                    </a:solidFill>
                    <a:latin typeface="Arial"/>
                  </a:rPr>
                  <a:t> (</a:t>
                </a:r>
                <a:r>
                  <a:rPr lang="en-IN" sz="2400">
                    <a:solidFill>
                      <a:srgbClr val="111827"/>
                    </a:solidFill>
                    <a:latin typeface="Cambria Math" panose="02040503050406030204" pitchFamily="18" charset="0"/>
                  </a:rPr>
                  <a:t>$[\vec a\ \vec b\ \vec c]=2$</a:t>
                </a:r>
                <a:r>
                  <a:rPr sz="2400" b="0">
                    <a:solidFill>
                      <a:srgbClr val="111827"/>
                    </a:solidFill>
                    <a:latin typeface="Arial"/>
                  </a:rPr>
                  <a:t>) and </a:t>
                </a:r>
                <a:r>
                  <a:rPr lang="en-IN" sz="2400">
                    <a:solidFill>
                      <a:srgbClr val="111827"/>
                    </a:solidFill>
                    <a:latin typeface="Cambria Math" panose="02040503050406030204" pitchFamily="18" charset="0"/>
                  </a:rPr>
                  <a:t>$\vec d=(x,y,z)$</a:t>
                </a:r>
                <a:r>
                  <a:rPr sz="2400" b="0">
                    <a:solidFill>
                      <a:srgbClr val="111827"/>
                    </a:solidFill>
                    <a:latin typeface="Arial"/>
                  </a:rPr>
                  <a:t> with </a:t>
                </a:r>
                <a:r>
                  <a:rPr lang="en-IN" sz="2400">
                    <a:solidFill>
                      <a:srgbClr val="111827"/>
                    </a:solidFill>
                    <a:latin typeface="Cambria Math" panose="02040503050406030204" pitchFamily="18" charset="0"/>
                  </a:rPr>
                  <a:t>$x^2+y^2+z^2=1$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a\times\vec b)\times(\vec c\times\vec d)=2\hat k\times(-y,x,0)=(-2x,-2y,0)$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b\times\vec c)\times(\vec a\times\vec d)=\hat i\times(0,-2z,2y)=(0,-2y,-2z)$</a:t>
                </a:r>
                <a:r>
                  <a:rPr sz="2400" b="0">
                    <a:solidFill>
                      <a:srgbClr val="111827"/>
                    </a:solidFill>
                    <a:latin typeface="Arial"/>
                  </a:rPr>
                  <a:t>; </a:t>
                </a:r>
                <a:r>
                  <a:rPr lang="en-IN" sz="2400">
                    <a:solidFill>
                      <a:srgbClr val="111827"/>
                    </a:solidFill>
                    <a:latin typeface="Cambria Math" panose="02040503050406030204" pitchFamily="18" charset="0"/>
                  </a:rPr>
                  <a:t>$\ (\vec c\times\vec a)\times(\vec b\times\vec d)=2\hat j\times(z,0,-x)=(-2x,0,-2z)$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a:t>
                </a:r>
                <a:r>
                  <a:rPr lang="en-IN" sz="2400">
                    <a:solidFill>
                      <a:srgbClr val="111827"/>
                    </a:solidFill>
                    <a:latin typeface="Cambria Math" panose="02040503050406030204" pitchFamily="18" charset="0"/>
                  </a:rPr>
                  <a:t>$=(-4x,-4y,-4z)=-4\vec d$</a:t>
                </a:r>
                <a:r>
                  <a:rPr sz="2400" b="0">
                    <a:solidFill>
                      <a:srgbClr val="111827"/>
                    </a:solidFill>
                    <a:latin typeface="Arial"/>
                  </a:rPr>
                  <a:t>, of magnitude </a:t>
                </a:r>
                <a:r>
                  <a:rPr lang="en-IN" sz="2400">
                    <a:solidFill>
                      <a:srgbClr val="111827"/>
                    </a:solidFill>
                    <a:latin typeface="Cambria Math" panose="02040503050406030204" pitchFamily="18" charset="0"/>
                  </a:rPr>
                  <a:t>$4$</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4</a:t>
            </a:r>
            <a:endParaRPr sz="2800">
              <a:solidFill>
                <a:srgbClr val="15803D"/>
              </a:solidFill>
            </a:endParaRPr>
          </a:p>
        </p:txBody>
      </p:sp>
    </p:spTree>
  </p:cSld>
  <p:clrMapOvr>
    <a:masterClrMapping/>
  </p:clrMapOvr>
</p:sld>
</file>

<file path=ppt/slides/slide3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𝑠</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Any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(resolution in a non-coplanar basis).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Summing a cyclic expression in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this type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p\times\vec q)\times(\vec r\times\vec s)=[\vec p\ \vec q\ \vec s]\vec r-[\vec p\ \vec q\ \vec r]\vec 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Any </a:t>
                </a:r>
                <a:r>
                  <a:rPr lang="en-IN" sz="2400">
                    <a:solidFill>
                      <a:srgbClr val="111827"/>
                    </a:solidFill>
                    <a:latin typeface="Cambria Math" panose="02040503050406030204" pitchFamily="18" charset="0"/>
                  </a:rPr>
                  <a:t>$\vec d=\frac{[\vec d\ \vec b\ \vec c]\vec a+[\vec d\ \vec c\ \vec a]\vec b+[\vec d\ \vec a\ \vec b]\vec c}{[\vec a\ \vec b\ \vec c]}$</a:t>
                </a:r>
                <a:r>
                  <a:rPr sz="2400" b="0">
                    <a:solidFill>
                      <a:srgbClr val="111827"/>
                    </a:solidFill>
                    <a:latin typeface="Arial"/>
                  </a:rPr>
                  <a:t> (resolution in a non-coplanar basis).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Summing a cyclic expression in </a:t>
                </a:r>
                <a:r>
                  <a:rPr lang="en-IN" sz="2400">
                    <a:solidFill>
                      <a:srgbClr val="111827"/>
                    </a:solidFill>
                    <a:latin typeface="Cambria Math" panose="02040503050406030204" pitchFamily="18" charset="0"/>
                  </a:rPr>
                  <a:t>$(\vec a,\vec b,\vec c)$</a:t>
                </a:r>
                <a:r>
                  <a:rPr sz="2400" b="0">
                    <a:solidFill>
                      <a:srgbClr val="111827"/>
                    </a:solidFill>
                    <a:latin typeface="Arial"/>
                  </a:rPr>
                  <a:t> of this type gives </a:t>
                </a:r>
                <a:r>
                  <a:rPr lang="en-IN" sz="2400">
                    <a:solidFill>
                      <a:srgbClr val="111827"/>
                    </a:solidFill>
                    <a:latin typeface="Cambria Math" panose="02040503050406030204" pitchFamily="18" charset="0"/>
                  </a:rPr>
                  <a:t>$-2[\vec a\ \vec b\ \vec c]\vec d$</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be two vectors such that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If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𝐼</m:t>
                    </m:r>
                    <m:r>
                      <m:rPr>
                        <m:sty m:val="p"/>
                      </m:rPr>
                      <a:rPr lang="en-IN" sz="2400">
                        <a:solidFill>
                          <a:srgbClr val="111827"/>
                        </a:solidFill>
                        <a:latin typeface="Cambria Math" panose="02040503050406030204" pitchFamily="18" charset="0"/>
                      </a:rPr>
                      <m:t>=</m:t>
                    </m:r>
                    <m:nary>
                      <m:naryPr>
                        <m:chr m:val="∫"/>
                        <m:limLoc m:val="subSup"/>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e>
                        <m:r>
                          <m:rPr>
                            <m:sty m:val="p"/>
                          </m:rPr>
                          <a:rPr lang="en-IN" sz="2400">
                            <a:solidFill>
                              <a:srgbClr val="111827"/>
                            </a:solidFill>
                            <a:latin typeface="Cambria Math" panose="02040503050406030204" pitchFamily="18" charset="0"/>
                          </a:rPr>
                          <m:t>(</m:t>
                        </m:r>
                      </m:e>
                    </m:nary>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oMath>
                </a14:m>
                <a:r>
                  <a:rPr sz="2400" b="0">
                    <a:solidFill>
                      <a:srgbClr val="111827"/>
                    </a:solidFill>
                    <a:latin typeface="Arial"/>
                  </a:rPr>
                  <a:t>, then find the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________. [Note: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denotes greatest integer function less than or equal to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 a=x^2\hat i-3\hat j+(x+3)\hat k$</a:t>
                </a:r>
                <a:r>
                  <a:rPr sz="2400" b="0">
                    <a:solidFill>
                      <a:srgbClr val="111827"/>
                    </a:solidFill>
                    <a:latin typeface="Arial"/>
                  </a:rPr>
                  <a:t> and </a:t>
                </a:r>
                <a:r>
                  <a:rPr lang="en-IN" sz="2400">
                    <a:solidFill>
                      <a:srgbClr val="111827"/>
                    </a:solidFill>
                    <a:latin typeface="Cambria Math" panose="02040503050406030204" pitchFamily="18" charset="0"/>
                  </a:rPr>
                  <a:t>$\vec b=\hat i+3\hat j-(x-3)\hat k$</a:t>
                </a:r>
                <a:r>
                  <a:rPr sz="2400" b="0">
                    <a:solidFill>
                      <a:srgbClr val="111827"/>
                    </a:solidFill>
                    <a:latin typeface="Arial"/>
                  </a:rPr>
                  <a:t> be two vectors such that </a:t>
                </a:r>
                <a:r>
                  <a:rPr lang="en-IN" sz="2400">
                    <a:solidFill>
                      <a:srgbClr val="111827"/>
                    </a:solidFill>
                    <a:latin typeface="Cambria Math" panose="02040503050406030204" pitchFamily="18" charset="0"/>
                  </a:rPr>
                  <a:t>$|\vec a|=|\vec b|$</a:t>
                </a:r>
                <a:r>
                  <a:rPr sz="2400" b="0">
                    <a:solidFill>
                      <a:srgbClr val="111827"/>
                    </a:solidFill>
                    <a:latin typeface="Arial"/>
                  </a:rPr>
                  <a:t>. If </a:t>
                </a:r>
                <a:r>
                  <a:rPr lang="en-IN" sz="2400">
                    <a:solidFill>
                      <a:srgbClr val="111827"/>
                    </a:solidFill>
                    <a:latin typeface="Cambria Math" panose="02040503050406030204" pitchFamily="18" charset="0"/>
                  </a:rPr>
                  <a:t>$\vec v_1=2\vec a+3\vec b$</a:t>
                </a:r>
                <a:r>
                  <a:rPr sz="2400" b="0">
                    <a:solidFill>
                      <a:srgbClr val="111827"/>
                    </a:solidFill>
                    <a:latin typeface="Arial"/>
                  </a:rPr>
                  <a:t> and </a:t>
                </a:r>
                <a:r>
                  <a:rPr lang="en-IN" sz="2400">
                    <a:solidFill>
                      <a:srgbClr val="111827"/>
                    </a:solidFill>
                    <a:latin typeface="Cambria Math" panose="02040503050406030204" pitchFamily="18" charset="0"/>
                  </a:rPr>
                  <a:t>$\vec v_2=3\vec a-2\vec b$</a:t>
                </a:r>
                <a:r>
                  <a:rPr sz="2400" b="0">
                    <a:solidFill>
                      <a:srgbClr val="111827"/>
                    </a:solidFill>
                    <a:latin typeface="Arial"/>
                  </a:rPr>
                  <a:t> and </a:t>
                </a:r>
                <a:r>
                  <a:rPr lang="en-IN" sz="2400">
                    <a:solidFill>
                      <a:srgbClr val="111827"/>
                    </a:solidFill>
                    <a:latin typeface="Cambria Math" panose="02040503050406030204" pitchFamily="18" charset="0"/>
                  </a:rPr>
                  <a:t>$I=\int_1^3(\vec v_1\wedge\vec v_2)\,dx$</a:t>
                </a:r>
                <a:r>
                  <a:rPr sz="2400" b="0">
                    <a:solidFill>
                      <a:srgbClr val="111827"/>
                    </a:solidFill>
                    <a:latin typeface="Arial"/>
                  </a:rPr>
                  <a:t>, then find the value of </a:t>
                </a:r>
                <a:r>
                  <a:rPr lang="en-IN" sz="2400">
                    <a:solidFill>
                      <a:srgbClr val="111827"/>
                    </a:solidFill>
                    <a:latin typeface="Cambria Math" panose="02040503050406030204" pitchFamily="18" charset="0"/>
                  </a:rPr>
                  <a:t>$[I]$</a:t>
                </a:r>
                <a:r>
                  <a:rPr sz="2400" b="0">
                    <a:solidFill>
                      <a:srgbClr val="111827"/>
                    </a:solidFill>
                    <a:latin typeface="Arial"/>
                  </a:rPr>
                  <a:t> ________. [Note: </a:t>
                </a:r>
                <a:r>
                  <a:rPr lang="en-IN" sz="2400">
                    <a:solidFill>
                      <a:srgbClr val="111827"/>
                    </a:solidFill>
                    <a:latin typeface="Cambria Math" panose="02040503050406030204" pitchFamily="18" charset="0"/>
                  </a:rPr>
                  <a:t>$[k]$</a:t>
                </a:r>
                <a:r>
                  <a:rPr sz="2400" b="0">
                    <a:solidFill>
                      <a:srgbClr val="111827"/>
                    </a:solidFill>
                    <a:latin typeface="Arial"/>
                  </a:rPr>
                  <a:t> denotes greatest integer function less than or equal to </a:t>
                </a:r>
                <a:r>
                  <a:rPr lang="en-IN" sz="2400">
                    <a:solidFill>
                      <a:srgbClr val="111827"/>
                    </a:solidFill>
                    <a:latin typeface="Cambria Math" panose="02040503050406030204" pitchFamily="18" charset="0"/>
                  </a:rPr>
                  <a:t>$k$</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260596"/>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Angle between vectors and definite integration, Greatest integer function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3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and (as given)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𝑣</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𝑣</m:t>
                            </m:r>
                          </m:e>
                        </m:acc>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and the angle is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π</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throughout.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$\vec a\cdot\vec b=0$</a:t>
                </a:r>
                <a:r>
                  <a:rPr sz="2400" b="0">
                    <a:solidFill>
                      <a:srgbClr val="78350F"/>
                    </a:solidFill>
                    <a:latin typeface="Arial"/>
                  </a:rPr>
                  <a:t> and (as given) </a:t>
                </a:r>
                <a:r>
                  <a:rPr lang="en-IN" sz="2400">
                    <a:solidFill>
                      <a:srgbClr val="78350F"/>
                    </a:solidFill>
                    <a:latin typeface="Cambria Math" panose="02040503050406030204" pitchFamily="18" charset="0"/>
                  </a:rPr>
                  <a:t>$|\vec a|=|\vec b|$</a:t>
                </a:r>
                <a:r>
                  <a:rPr sz="2400" b="0">
                    <a:solidFill>
                      <a:srgbClr val="78350F"/>
                    </a:solidFill>
                    <a:latin typeface="Arial"/>
                  </a:rPr>
                  <a:t>, so </a:t>
                </a:r>
                <a:r>
                  <a:rPr lang="en-IN" sz="2400">
                    <a:solidFill>
                      <a:srgbClr val="78350F"/>
                    </a:solidFill>
                    <a:latin typeface="Cambria Math" panose="02040503050406030204" pitchFamily="18" charset="0"/>
                  </a:rPr>
                  <a:t>$\vec v_1\cdot\vec v_2=6|\vec a|^2-6|\vec b|^2=0$</a:t>
                </a:r>
                <a:r>
                  <a:rPr sz="2400" b="0">
                    <a:solidFill>
                      <a:srgbClr val="78350F"/>
                    </a:solidFill>
                    <a:latin typeface="Arial"/>
                  </a:rPr>
                  <a:t> and the angle is </a:t>
                </a:r>
                <a:r>
                  <a:rPr lang="en-IN" sz="2400">
                    <a:solidFill>
                      <a:srgbClr val="78350F"/>
                    </a:solidFill>
                    <a:latin typeface="Cambria Math" panose="02040503050406030204" pitchFamily="18" charset="0"/>
                  </a:rPr>
                  <a:t>$\frac\pi2$</a:t>
                </a:r>
                <a:r>
                  <a:rPr sz="2400" b="0">
                    <a:solidFill>
                      <a:srgbClr val="78350F"/>
                    </a:solidFill>
                    <a:latin typeface="Arial"/>
                  </a:rPr>
                  <a:t> throughout.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(the PDF writes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which is a typing slip).</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the given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a\cdot\vec b=x^2-9-(x+3)(x-3)=x^2-9-(x^2-9)=0$</a:t>
                </a:r>
                <a:r>
                  <a:rPr sz="2400" b="0">
                    <a:solidFill>
                      <a:srgbClr val="111827"/>
                    </a:solidFill>
                    <a:latin typeface="Arial"/>
                  </a:rPr>
                  <a:t>, so </a:t>
                </a:r>
                <a:r>
                  <a:rPr lang="en-IN" sz="2400">
                    <a:solidFill>
                      <a:srgbClr val="111827"/>
                    </a:solidFill>
                    <a:latin typeface="Cambria Math" panose="02040503050406030204" pitchFamily="18" charset="0"/>
                  </a:rPr>
                  <a:t>$\vec a\perp\vec b$</a:t>
                </a:r>
                <a:r>
                  <a:rPr sz="2400" b="0">
                    <a:solidFill>
                      <a:srgbClr val="111827"/>
                    </a:solidFill>
                    <a:latin typeface="Arial"/>
                  </a:rPr>
                  <a:t> (the PDF writes '</a:t>
                </a:r>
                <a:r>
                  <a:rPr lang="en-IN" sz="2400">
                    <a:solidFill>
                      <a:srgbClr val="111827"/>
                    </a:solidFill>
                    <a:latin typeface="Cambria Math" panose="02040503050406030204" pitchFamily="18" charset="0"/>
                  </a:rPr>
                  <a:t>$|\vec a|\perp|\vec b|$</a:t>
                </a:r>
                <a:r>
                  <a:rPr sz="2400" b="0">
                    <a:solidFill>
                      <a:srgbClr val="111827"/>
                    </a:solidFill>
                    <a:latin typeface="Arial"/>
                  </a:rPr>
                  <a:t>', which is a typing slip).</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v_1\cdot\vec v_2=(2\vec a+3\vec b)\cdot(3\vec a-2\vec b)=6|\vec a|^2-6|\vec b|^2-4\,\vec a\cdot\vec b+9\,\vec b\cdot\vec a=6\left(|\vec a|^2-|\vec b|^2\right)+5\,\vec a\cdot\vec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$\vec a\cdot\vec b=0$</a:t>
                </a:r>
                <a:r>
                  <a:rPr sz="2400" b="0">
                    <a:solidFill>
                      <a:srgbClr val="111827"/>
                    </a:solidFill>
                    <a:latin typeface="Arial"/>
                  </a:rPr>
                  <a:t> and the given </a:t>
                </a:r>
                <a:r>
                  <a:rPr lang="en-IN" sz="2400">
                    <a:solidFill>
                      <a:srgbClr val="111827"/>
                    </a:solidFill>
                    <a:latin typeface="Cambria Math" panose="02040503050406030204" pitchFamily="18" charset="0"/>
                  </a:rPr>
                  <a:t>$|\vec a|=|\vec b|$</a:t>
                </a:r>
                <a:r>
                  <a:rPr sz="2400" b="0">
                    <a:solidFill>
                      <a:srgbClr val="111827"/>
                    </a:solidFill>
                    <a:latin typeface="Arial"/>
                  </a:rPr>
                  <a:t>: </a:t>
                </a:r>
                <a:r>
                  <a:rPr lang="en-IN" sz="2400">
                    <a:solidFill>
                      <a:srgbClr val="111827"/>
                    </a:solidFill>
                    <a:latin typeface="Cambria Math" panose="02040503050406030204" pitchFamily="18" charset="0"/>
                  </a:rPr>
                  <a:t>$\vec v_1\cdot\vec v_2=0$</a:t>
                </a:r>
                <a:r>
                  <a:rPr sz="2400" b="0">
                    <a:solidFill>
                      <a:srgbClr val="111827"/>
                    </a:solidFill>
                    <a:latin typeface="Arial"/>
                  </a:rPr>
                  <a:t>, so </a:t>
                </a:r>
                <a:r>
                  <a:rPr lang="en-IN" sz="2400">
                    <a:solidFill>
                      <a:srgbClr val="111827"/>
                    </a:solidFill>
                    <a:latin typeface="Cambria Math" panose="02040503050406030204" pitchFamily="18" charset="0"/>
                  </a:rPr>
                  <a:t>$\vec v_1\wedge\vec v_2=\frac\pi2$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𝐼</m:t>
                    </m:r>
                    <m:r>
                      <m:rPr>
                        <m:sty m:val="p"/>
                      </m:rPr>
                      <a:rPr lang="en-IN" sz="2400">
                        <a:solidFill>
                          <a:srgbClr val="111827"/>
                        </a:solidFill>
                        <a:latin typeface="Cambria Math" panose="02040503050406030204" pitchFamily="18" charset="0"/>
                      </a:rPr>
                      <m:t>=</m:t>
                    </m:r>
                    <m:nary>
                      <m:naryPr>
                        <m:chr m:val="∫"/>
                        <m:limLoc m:val="subSup"/>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e>
                    </m:nary>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(Remark: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literally holds only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0.08</m:t>
                    </m:r>
                  </m:oMath>
                </a14:m>
                <a:r>
                  <a:rPr sz="2400" b="0">
                    <a:solidFill>
                      <a:srgbClr val="111827"/>
                    </a:solidFill>
                    <a:latin typeface="Arial"/>
                  </a:rPr>
                  <a:t>, outside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question intends it to hold throughout.)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$I=\int_1^3\frac\pi2\,dx=\frac\pi2(3-1)=\pi$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$[I]=[\pi]=3$</a:t>
                </a:r>
                <a:r>
                  <a:rPr sz="2400" b="0">
                    <a:solidFill>
                      <a:srgbClr val="111827"/>
                    </a:solidFill>
                    <a:latin typeface="Arial"/>
                  </a:rPr>
                  <a:t>. (Remark: </a:t>
                </a:r>
                <a:r>
                  <a:rPr lang="en-IN" sz="2400">
                    <a:solidFill>
                      <a:srgbClr val="111827"/>
                    </a:solidFill>
                    <a:latin typeface="Cambria Math" panose="02040503050406030204" pitchFamily="18" charset="0"/>
                  </a:rPr>
                  <a:t>$|\vec a|=|\vec b|$</a:t>
                </a:r>
                <a:r>
                  <a:rPr sz="2400" b="0">
                    <a:solidFill>
                      <a:srgbClr val="111827"/>
                    </a:solidFill>
                    <a:latin typeface="Arial"/>
                  </a:rPr>
                  <a:t> literally holds only at </a:t>
                </a:r>
                <a:r>
                  <a:rPr lang="en-IN" sz="2400">
                    <a:solidFill>
                      <a:srgbClr val="111827"/>
                    </a:solidFill>
                    <a:latin typeface="Cambria Math" panose="02040503050406030204" pitchFamily="18" charset="0"/>
                  </a:rPr>
                  <a:t>$x^4+12x-1=0$</a:t>
                </a:r>
                <a:r>
                  <a:rPr sz="2400" b="0">
                    <a:solidFill>
                      <a:srgbClr val="111827"/>
                    </a:solidFill>
                    <a:latin typeface="Arial"/>
                  </a:rPr>
                  <a:t>, i.e. </a:t>
                </a:r>
                <a:r>
                  <a:rPr lang="en-IN" sz="2400">
                    <a:solidFill>
                      <a:srgbClr val="111827"/>
                    </a:solidFill>
                    <a:latin typeface="Cambria Math" panose="02040503050406030204" pitchFamily="18" charset="0"/>
                  </a:rPr>
                  <a:t>$x\approx0.08$</a:t>
                </a:r>
                <a:r>
                  <a:rPr sz="2400" b="0">
                    <a:solidFill>
                      <a:srgbClr val="111827"/>
                    </a:solidFill>
                    <a:latin typeface="Arial"/>
                  </a:rPr>
                  <a:t>, outside </a:t>
                </a:r>
                <a:r>
                  <a:rPr lang="en-IN" sz="2400">
                    <a:solidFill>
                      <a:srgbClr val="111827"/>
                    </a:solidFill>
                    <a:latin typeface="Cambria Math" panose="02040503050406030204" pitchFamily="18" charset="0"/>
                  </a:rPr>
                  <a:t>$[1,3]$</a:t>
                </a:r>
                <a:r>
                  <a:rPr sz="2400" b="0">
                    <a:solidFill>
                      <a:srgbClr val="111827"/>
                    </a:solidFill>
                    <a:latin typeface="Arial"/>
                  </a:rPr>
                  <a:t>; the question intends it to hold throughout.)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3</a:t>
            </a:r>
            <a:endParaRPr sz="2800">
              <a:solidFill>
                <a:srgbClr val="15803D"/>
              </a:solidFill>
            </a:endParaRPr>
          </a:p>
        </p:txBody>
      </p:sp>
    </p:spTree>
  </p:cSld>
  <p:clrMapOvr>
    <a:masterClrMapping/>
  </p:clrMapOvr>
</p:sld>
</file>

<file path=ppt/slides/slide3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Picture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oMath>
                </a14:m>
                <a:r>
                  <a:rPr sz="2400" b="0">
                    <a:solidFill>
                      <a:srgbClr val="78350F"/>
                    </a:solidFill>
                    <a:latin typeface="Arial"/>
                  </a:rPr>
                  <a:t> with equal lengths as a </a:t>
                </a:r>
                <a14:m>
                  <m:oMath xmlns:m="http://schemas.openxmlformats.org/officeDocument/2006/math">
                    <m:sSup>
                      <m:e>
                        <m:r>
                          <a:rPr lang="en-IN" sz="2400" i="1">
                            <a:solidFill>
                              <a:srgbClr val="78350F"/>
                            </a:solidFill>
                            <a:latin typeface="Cambria Math" panose="02040503050406030204" pitchFamily="18" charset="0"/>
                          </a:rPr>
                          <m:t>90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rotation: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𝑣</m:t>
                            </m:r>
                          </m:e>
                        </m:acc>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is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𝑣</m:t>
                            </m:r>
                          </m:e>
                        </m:acc>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rotated by a right angle.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Picture </a:t>
                </a:r>
                <a:r>
                  <a:rPr lang="en-IN" sz="2400">
                    <a:solidFill>
                      <a:srgbClr val="78350F"/>
                    </a:solidFill>
                    <a:latin typeface="Cambria Math" panose="02040503050406030204" pitchFamily="18" charset="0"/>
                  </a:rPr>
                  <a:t>$\vec a\perp\vec b$</a:t>
                </a:r>
                <a:r>
                  <a:rPr sz="2400" b="0">
                    <a:solidFill>
                      <a:srgbClr val="78350F"/>
                    </a:solidFill>
                    <a:latin typeface="Arial"/>
                  </a:rPr>
                  <a:t> with equal lengths as a </a:t>
                </a:r>
                <a:r>
                  <a:rPr lang="en-IN" sz="2400">
                    <a:solidFill>
                      <a:srgbClr val="78350F"/>
                    </a:solidFill>
                    <a:latin typeface="Cambria Math" panose="02040503050406030204" pitchFamily="18" charset="0"/>
                  </a:rPr>
                  <a:t>$90^\circ$</a:t>
                </a:r>
                <a:r>
                  <a:rPr sz="2400" b="0">
                    <a:solidFill>
                      <a:srgbClr val="78350F"/>
                    </a:solidFill>
                    <a:latin typeface="Arial"/>
                  </a:rPr>
                  <a:t> rotation: </a:t>
                </a:r>
                <a:r>
                  <a:rPr lang="en-IN" sz="2400">
                    <a:solidFill>
                      <a:srgbClr val="78350F"/>
                    </a:solidFill>
                    <a:latin typeface="Cambria Math" panose="02040503050406030204" pitchFamily="18" charset="0"/>
                  </a:rPr>
                  <a:t>$\vec v_2$</a:t>
                </a:r>
                <a:r>
                  <a:rPr sz="2400" b="0">
                    <a:solidFill>
                      <a:srgbClr val="78350F"/>
                    </a:solidFill>
                    <a:latin typeface="Arial"/>
                  </a:rPr>
                  <a:t> is </a:t>
                </a:r>
                <a:r>
                  <a:rPr lang="en-IN" sz="2400">
                    <a:solidFill>
                      <a:srgbClr val="78350F"/>
                    </a:solidFill>
                    <a:latin typeface="Cambria Math" panose="02040503050406030204" pitchFamily="18" charset="0"/>
                  </a:rPr>
                  <a:t>$\vec v_1$</a:t>
                </a:r>
                <a:r>
                  <a:rPr sz="2400" b="0">
                    <a:solidFill>
                      <a:srgbClr val="78350F"/>
                    </a:solidFill>
                    <a:latin typeface="Arial"/>
                  </a:rPr>
                  <a:t> rotated by a right angle.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in a plane (perpendicular, equal length):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rotated by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for every such pair, the integrand is the constant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$\vec a\to1$</a:t>
                </a:r>
                <a:r>
                  <a:rPr sz="2400" b="0">
                    <a:solidFill>
                      <a:srgbClr val="111827"/>
                    </a:solidFill>
                    <a:latin typeface="Arial"/>
                  </a:rPr>
                  <a:t>, </a:t>
                </a:r>
                <a:r>
                  <a:rPr lang="en-IN" sz="2400">
                    <a:solidFill>
                      <a:srgbClr val="111827"/>
                    </a:solidFill>
                    <a:latin typeface="Cambria Math" panose="02040503050406030204" pitchFamily="18" charset="0"/>
                  </a:rPr>
                  <a:t>$\vec b\to i$</a:t>
                </a:r>
                <a:r>
                  <a:rPr sz="2400" b="0">
                    <a:solidFill>
                      <a:srgbClr val="111827"/>
                    </a:solidFill>
                    <a:latin typeface="Arial"/>
                  </a:rPr>
                  <a:t> in a plane (perpendicular, equal length): </a:t>
                </a:r>
                <a:r>
                  <a:rPr lang="en-IN" sz="2400">
                    <a:solidFill>
                      <a:srgbClr val="111827"/>
                    </a:solidFill>
                    <a:latin typeface="Cambria Math" panose="02040503050406030204" pitchFamily="18" charset="0"/>
                  </a:rPr>
                  <a:t>$\vec v_1=2+3i$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v_2=3\vec a-2\vec b\to3-2i=-i(2+3i)$</a:t>
                </a:r>
                <a:r>
                  <a:rPr sz="2400" b="0">
                    <a:solidFill>
                      <a:srgbClr val="111827"/>
                    </a:solidFill>
                    <a:latin typeface="Arial"/>
                  </a:rPr>
                  <a:t>, i.e. </a:t>
                </a:r>
                <a:r>
                  <a:rPr lang="en-IN" sz="2400">
                    <a:solidFill>
                      <a:srgbClr val="111827"/>
                    </a:solidFill>
                    <a:latin typeface="Cambria Math" panose="02040503050406030204" pitchFamily="18" charset="0"/>
                  </a:rPr>
                  <a:t>$\vec v_2$</a:t>
                </a:r>
                <a:r>
                  <a:rPr sz="2400" b="0">
                    <a:solidFill>
                      <a:srgbClr val="111827"/>
                    </a:solidFill>
                    <a:latin typeface="Arial"/>
                  </a:rPr>
                  <a:t> is </a:t>
                </a:r>
                <a:r>
                  <a:rPr lang="en-IN" sz="2400">
                    <a:solidFill>
                      <a:srgbClr val="111827"/>
                    </a:solidFill>
                    <a:latin typeface="Cambria Math" panose="02040503050406030204" pitchFamily="18" charset="0"/>
                  </a:rPr>
                  <a:t>$\vec v_1$</a:t>
                </a:r>
                <a:r>
                  <a:rPr sz="2400" b="0">
                    <a:solidFill>
                      <a:srgbClr val="111827"/>
                    </a:solidFill>
                    <a:latin typeface="Arial"/>
                  </a:rPr>
                  <a:t> rotated by </a:t>
                </a:r>
                <a:r>
                  <a:rPr lang="en-IN" sz="2400">
                    <a:solidFill>
                      <a:srgbClr val="111827"/>
                    </a:solidFill>
                    <a:latin typeface="Cambria Math" panose="02040503050406030204" pitchFamily="18" charset="0"/>
                  </a:rPr>
                  <a:t>$-90^\circ$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$\vec v_1\wedge\vec v_2=\frac\pi2$</a:t>
                </a:r>
                <a:r>
                  <a:rPr sz="2400" b="0">
                    <a:solidFill>
                      <a:srgbClr val="111827"/>
                    </a:solidFill>
                    <a:latin typeface="Arial"/>
                  </a:rPr>
                  <a:t> for every such pair, the integrand is the constant </a:t>
                </a:r>
                <a:r>
                  <a:rPr lang="en-IN" sz="2400">
                    <a:solidFill>
                      <a:srgbClr val="111827"/>
                    </a:solidFill>
                    <a:latin typeface="Cambria Math" panose="02040503050406030204" pitchFamily="18" charset="0"/>
                  </a:rPr>
                  <a:t>$\frac\pi2$</a:t>
                </a:r>
                <a:r>
                  <a:rPr sz="2400" b="0">
                    <a:solidFill>
                      <a:srgbClr val="111827"/>
                    </a:solidFill>
                    <a:latin typeface="Arial"/>
                  </a:rPr>
                  <a:t>, </a:t>
                </a:r>
                <a:r>
                  <a:rPr lang="en-IN" sz="2400">
                    <a:solidFill>
                      <a:srgbClr val="111827"/>
                    </a:solidFill>
                    <a:latin typeface="Cambria Math" panose="02040503050406030204" pitchFamily="18" charset="0"/>
                  </a:rPr>
                  <a:t>$I=\pi$</a:t>
                </a:r>
                <a:r>
                  <a:rPr sz="2400" b="0">
                    <a:solidFill>
                      <a:srgbClr val="111827"/>
                    </a:solidFill>
                    <a:latin typeface="Arial"/>
                  </a:rPr>
                  <a:t> and </a:t>
                </a:r>
                <a:r>
                  <a:rPr lang="en-IN" sz="2400">
                    <a:solidFill>
                      <a:srgbClr val="111827"/>
                    </a:solidFill>
                    <a:latin typeface="Cambria Math" panose="02040503050406030204" pitchFamily="18" charset="0"/>
                  </a:rPr>
                  <a:t>$[I]=3$</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3</a:t>
            </a:r>
            <a:endParaRPr sz="2800">
              <a:solidFill>
                <a:srgbClr val="15803D"/>
              </a:solidFill>
            </a:endParaRPr>
          </a:p>
        </p:txBody>
      </p:sp>
    </p:spTree>
  </p:cSld>
  <p:clrMapOvr>
    <a:masterClrMapping/>
  </p:clrMapOvr>
</p:sld>
</file>

<file path=ppt/slides/slide3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perpendicular vectors of equal length, </a:t>
                </a:r>
                <a14:m>
                  <m:oMath xmlns:m="http://schemas.openxmlformats.org/officeDocument/2006/math">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3</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are perpendicular too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oMath>
                </a14:m>
                <a:r>
                  <a:rPr sz="2400" b="0">
                    <a:solidFill>
                      <a:srgbClr val="111827"/>
                    </a:solidFill>
                    <a:latin typeface="Arial"/>
                  </a:rPr>
                  <a:t> in complex form).</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𝑛</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it vanishes when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greatest integer function of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perpendicular vectors of equal length, </a:t>
                </a:r>
                <a:r>
                  <a:rPr lang="en-IN" sz="2400">
                    <a:solidFill>
                      <a:srgbClr val="111827"/>
                    </a:solidFill>
                    <a:latin typeface="Cambria Math" panose="02040503050406030204" pitchFamily="18" charset="0"/>
                  </a:rPr>
                  <a:t>$2\vec a+3\vec b$</a:t>
                </a:r>
                <a:r>
                  <a:rPr sz="2400" b="0">
                    <a:solidFill>
                      <a:srgbClr val="111827"/>
                    </a:solidFill>
                    <a:latin typeface="Arial"/>
                  </a:rPr>
                  <a:t> and </a:t>
                </a:r>
                <a:r>
                  <a:rPr lang="en-IN" sz="2400">
                    <a:solidFill>
                      <a:srgbClr val="111827"/>
                    </a:solidFill>
                    <a:latin typeface="Cambria Math" panose="02040503050406030204" pitchFamily="18" charset="0"/>
                  </a:rPr>
                  <a:t>$3\vec a-2\vec b$</a:t>
                </a:r>
                <a:r>
                  <a:rPr sz="2400" b="0">
                    <a:solidFill>
                      <a:srgbClr val="111827"/>
                    </a:solidFill>
                    <a:latin typeface="Arial"/>
                  </a:rPr>
                  <a:t> are perpendicular too (</a:t>
                </a:r>
                <a:r>
                  <a:rPr lang="en-IN" sz="2400">
                    <a:solidFill>
                      <a:srgbClr val="111827"/>
                    </a:solidFill>
                    <a:latin typeface="Cambria Math" panose="02040503050406030204" pitchFamily="18" charset="0"/>
                  </a:rPr>
                  <a:t>$(2+3i)\cdot(-i)=3-2i$</a:t>
                </a:r>
                <a:r>
                  <a:rPr sz="2400" b="0">
                    <a:solidFill>
                      <a:srgbClr val="111827"/>
                    </a:solidFill>
                    <a:latin typeface="Arial"/>
                  </a:rPr>
                  <a:t> in complex form).</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$(m\vec a+n\vec b)\cdot(n\vec a-m\vec b)=mn\left(|\vec a|^2-|\vec b|^2\right)+(n^2-m^2)\,\vec a\cdot\vec b$</a:t>
                </a:r>
                <a:r>
                  <a:rPr sz="2400" b="0">
                    <a:solidFill>
                      <a:srgbClr val="111827"/>
                    </a:solidFill>
                    <a:latin typeface="Arial"/>
                  </a:rPr>
                  <a:t>: it vanishes when </a:t>
                </a:r>
                <a:r>
                  <a:rPr lang="en-IN" sz="2400">
                    <a:solidFill>
                      <a:srgbClr val="111827"/>
                    </a:solidFill>
                    <a:latin typeface="Cambria Math" panose="02040503050406030204" pitchFamily="18" charset="0"/>
                  </a:rPr>
                  <a:t>$|\vec a|=|\vec b|$</a:t>
                </a:r>
                <a:r>
                  <a:rPr sz="2400" b="0">
                    <a:solidFill>
                      <a:srgbClr val="111827"/>
                    </a:solidFill>
                    <a:latin typeface="Arial"/>
                  </a:rPr>
                  <a:t> and </a:t>
                </a:r>
                <a:r>
                  <a:rPr lang="en-IN" sz="2400">
                    <a:solidFill>
                      <a:srgbClr val="111827"/>
                    </a:solidFill>
                    <a:latin typeface="Cambria Math" panose="02040503050406030204" pitchFamily="18" charset="0"/>
                  </a:rPr>
                  <a:t>$\vec a\perp\vec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$[\pi]=3$</a:t>
                </a:r>
                <a:r>
                  <a:rPr sz="2400" b="0">
                    <a:solidFill>
                      <a:srgbClr val="111827"/>
                    </a:solidFill>
                    <a:latin typeface="Arial"/>
                  </a:rPr>
                  <a:t>; greatest integer function of </a:t>
                </a:r>
                <a:r>
                  <a:rPr lang="en-IN" sz="2400">
                    <a:solidFill>
                      <a:srgbClr val="111827"/>
                    </a:solidFill>
                    <a:latin typeface="Cambria Math" panose="02040503050406030204" pitchFamily="18" charset="0"/>
                  </a:rPr>
                  <a:t>$\pi$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sup>
                        </m:sSup>
                      </m:e>
                    </m: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sup>
                        </m:sSup>
                      </m:e>
                    </m: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If sum of all values of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which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oMath>
                </a14:m>
                <a:r>
                  <a:rPr sz="2400" b="0">
                    <a:solidFill>
                      <a:srgbClr val="111827"/>
                    </a:solidFill>
                    <a:latin typeface="Arial"/>
                  </a:rPr>
                  <a:t> is minimum is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then find the value of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𝑆</m:t>
                            </m:r>
                          </m:num>
                          <m:den>
                            <m:r>
                              <a:rPr lang="en-IN" sz="2400" i="1">
                                <a:solidFill>
                                  <a:srgbClr val="111827"/>
                                </a:solidFill>
                                <a:latin typeface="Cambria Math" panose="02040503050406030204" pitchFamily="18" charset="0"/>
                              </a:rPr>
                              <m:t>255</m:t>
                            </m:r>
                            <m:r>
                              <a:rPr lang="en-IN" sz="2400" i="1">
                                <a:solidFill>
                                  <a:srgbClr val="111827"/>
                                </a:solidFill>
                                <a:latin typeface="Cambria Math" panose="02040503050406030204" pitchFamily="18" charset="0"/>
                              </a:rPr>
                              <m:t>π</m:t>
                            </m:r>
                          </m:den>
                        </m:f>
                      </m:e>
                    </m:d>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$\vec p=3^{(\sin x+\tan x)}\hat i+3^{(\tan x-1)}\hat j-3^{\sin x}\hat k$</a:t>
                </a:r>
                <a:r>
                  <a:rPr sz="2400" b="0">
                    <a:solidFill>
                      <a:srgbClr val="111827"/>
                    </a:solidFill>
                    <a:latin typeface="Arial"/>
                  </a:rPr>
                  <a:t> and </a:t>
                </a:r>
                <a:r>
                  <a:rPr lang="en-IN" sz="2400">
                    <a:solidFill>
                      <a:srgbClr val="111827"/>
                    </a:solidFill>
                    <a:latin typeface="Cambria Math" panose="02040503050406030204" pitchFamily="18" charset="0"/>
                  </a:rPr>
                  <a:t>$\vec q=3^{(\sin x-1)}\hat i+\left(3^{\sin x+\tan x}\right)\hat j+\left(3^{\tan x}\right)\hat k$</a:t>
                </a:r>
                <a:r>
                  <a:rPr sz="2400" b="0">
                    <a:solidFill>
                      <a:srgbClr val="111827"/>
                    </a:solidFill>
                    <a:latin typeface="Arial"/>
                  </a:rPr>
                  <a:t>. If sum of all values of </a:t>
                </a:r>
                <a:r>
                  <a:rPr lang="en-IN" sz="2400">
                    <a:solidFill>
                      <a:srgbClr val="111827"/>
                    </a:solidFill>
                    <a:latin typeface="Cambria Math" panose="02040503050406030204" pitchFamily="18" charset="0"/>
                  </a:rPr>
                  <a:t>$x$</a:t>
                </a:r>
                <a:r>
                  <a:rPr sz="2400" b="0">
                    <a:solidFill>
                      <a:srgbClr val="111827"/>
                    </a:solidFill>
                    <a:latin typeface="Arial"/>
                  </a:rPr>
                  <a:t> in </a:t>
                </a:r>
                <a:r>
                  <a:rPr lang="en-IN" sz="2400">
                    <a:solidFill>
                      <a:srgbClr val="111827"/>
                    </a:solidFill>
                    <a:latin typeface="Cambria Math" panose="02040503050406030204" pitchFamily="18" charset="0"/>
                  </a:rPr>
                  <a:t>$[0,50\pi]$</a:t>
                </a:r>
                <a:r>
                  <a:rPr sz="2400" b="0">
                    <a:solidFill>
                      <a:srgbClr val="111827"/>
                    </a:solidFill>
                    <a:latin typeface="Arial"/>
                  </a:rPr>
                  <a:t> for which </a:t>
                </a:r>
                <a:r>
                  <a:rPr lang="en-IN" sz="2400">
                    <a:solidFill>
                      <a:srgbClr val="111827"/>
                    </a:solidFill>
                    <a:latin typeface="Cambria Math" panose="02040503050406030204" pitchFamily="18" charset="0"/>
                  </a:rPr>
                  <a:t>$\vec p\cdot\vec q$</a:t>
                </a:r>
                <a:r>
                  <a:rPr sz="2400" b="0">
                    <a:solidFill>
                      <a:srgbClr val="111827"/>
                    </a:solidFill>
                    <a:latin typeface="Arial"/>
                  </a:rPr>
                  <a:t> is minimum is </a:t>
                </a:r>
                <a:r>
                  <a:rPr lang="en-IN" sz="2400">
                    <a:solidFill>
                      <a:srgbClr val="111827"/>
                    </a:solidFill>
                    <a:latin typeface="Cambria Math" panose="02040503050406030204" pitchFamily="18" charset="0"/>
                  </a:rPr>
                  <a:t>$S$</a:t>
                </a:r>
                <a:r>
                  <a:rPr sz="2400" b="0">
                    <a:solidFill>
                      <a:srgbClr val="111827"/>
                    </a:solidFill>
                    <a:latin typeface="Arial"/>
                  </a:rPr>
                  <a:t>, then find the value of </a:t>
                </a:r>
                <a:r>
                  <a:rPr lang="en-IN" sz="2400">
                    <a:solidFill>
                      <a:srgbClr val="111827"/>
                    </a:solidFill>
                    <a:latin typeface="Cambria Math" panose="02040503050406030204" pitchFamily="18" charset="0"/>
                  </a:rPr>
                  <a:t>$\left(\frac{S}{255\pi}\right)$</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437032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Dot product of exponential vectors and inequality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oMath>
                </a14:m>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Choice>
        <mc:Fallback>
          <p:sp>
            <p:nvSpPr>
              <p:cNvPr id="5" name="Rectangle 4"/>
              <p:cNvSpPr/>
              <p:nvPr/>
            </p:nvSpPr>
            <p:spPr>
              <a:xfrm>
                <a:off x="731520" y="437032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Dot product of exponential vectors and inequality </a:t>
                </a:r>
                <a:r>
                  <a:rPr lang="en-IN" sz="2400">
                    <a:solidFill>
                      <a:srgbClr val="111827"/>
                    </a:solidFill>
                    <a:latin typeface="Cambria Math" panose="02040503050406030204" pitchFamily="18" charset="0"/>
                  </a:rPr>
                  <a:t>$a^3+b^3+c^3\ge3abc$</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Fallback>
      </mc:AlternateContent>
    </p:spTree>
  </p:cSld>
  <p:clrMapOvr>
    <a:masterClrMapping/>
  </p:clrMapOvr>
</p:sld>
</file>

<file path=ppt/slides/slide3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𝑝</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𝑞</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𝐴</m:t>
                        </m:r>
                      </m:e>
                      <m:sup>
                        <m:r>
                          <a:rPr lang="en-IN" sz="2400" i="1">
                            <a:solidFill>
                              <a:srgbClr val="78350F"/>
                            </a:solidFill>
                            <a:latin typeface="Cambria Math" panose="02040503050406030204" pitchFamily="18" charset="0"/>
                          </a:rPr>
                          <m:t>3</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𝐵</m:t>
                        </m:r>
                      </m:e>
                      <m:sup>
                        <m:r>
                          <a:rPr lang="en-IN" sz="2400" i="1">
                            <a:solidFill>
                              <a:srgbClr val="78350F"/>
                            </a:solidFill>
                            <a:latin typeface="Cambria Math" panose="02040503050406030204" pitchFamily="18" charset="0"/>
                          </a:rPr>
                          <m:t>3</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3</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sup>
                    </m:sSup>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3</m:t>
                        </m:r>
                      </m:e>
                      <m: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sup>
                    </m:sSup>
                  </m:oMath>
                </a14:m>
                <a:r>
                  <a:rPr sz="2400" b="0">
                    <a:solidFill>
                      <a:srgbClr val="78350F"/>
                    </a:solidFill>
                    <a:latin typeface="Arial"/>
                  </a:rPr>
                  <a:t>, which is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with equality iff </a:t>
                </a:r>
                <a14:m>
                  <m:oMath xmlns:m="http://schemas.openxmlformats.org/officeDocument/2006/math">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$3\,\vec p\cdot\vec q+1=A^3+B^3+1-3AB$</a:t>
                </a:r>
                <a:r>
                  <a:rPr sz="2400" b="0">
                    <a:solidFill>
                      <a:srgbClr val="78350F"/>
                    </a:solidFill>
                    <a:latin typeface="Arial"/>
                  </a:rPr>
                  <a:t> with </a:t>
                </a:r>
                <a:r>
                  <a:rPr lang="en-IN" sz="2400">
                    <a:solidFill>
                      <a:srgbClr val="78350F"/>
                    </a:solidFill>
                    <a:latin typeface="Cambria Math" panose="02040503050406030204" pitchFamily="18" charset="0"/>
                  </a:rPr>
                  <a:t>$A=3^{(2\sin x+\tan x)/3}$</a:t>
                </a:r>
                <a:r>
                  <a:rPr sz="2400" b="0">
                    <a:solidFill>
                      <a:srgbClr val="78350F"/>
                    </a:solidFill>
                    <a:latin typeface="Arial"/>
                  </a:rPr>
                  <a:t>, </a:t>
                </a:r>
                <a:r>
                  <a:rPr lang="en-IN" sz="2400">
                    <a:solidFill>
                      <a:srgbClr val="78350F"/>
                    </a:solidFill>
                    <a:latin typeface="Cambria Math" panose="02040503050406030204" pitchFamily="18" charset="0"/>
                  </a:rPr>
                  <a:t>$B=3^{(\sin x+2\tan x)/3}$</a:t>
                </a:r>
                <a:r>
                  <a:rPr sz="2400" b="0">
                    <a:solidFill>
                      <a:srgbClr val="78350F"/>
                    </a:solidFill>
                    <a:latin typeface="Arial"/>
                  </a:rPr>
                  <a:t>, which is </a:t>
                </a:r>
                <a:r>
                  <a:rPr lang="en-IN" sz="2400">
                    <a:solidFill>
                      <a:srgbClr val="78350F"/>
                    </a:solidFill>
                    <a:latin typeface="Cambria Math" panose="02040503050406030204" pitchFamily="18" charset="0"/>
                  </a:rPr>
                  <a:t>$\ge0$</a:t>
                </a:r>
                <a:r>
                  <a:rPr sz="2400" b="0">
                    <a:solidFill>
                      <a:srgbClr val="78350F"/>
                    </a:solidFill>
                    <a:latin typeface="Arial"/>
                  </a:rPr>
                  <a:t> with equality iff </a:t>
                </a:r>
                <a:r>
                  <a:rPr lang="en-IN" sz="2400">
                    <a:solidFill>
                      <a:srgbClr val="78350F"/>
                    </a:solidFill>
                    <a:latin typeface="Cambria Math" panose="02040503050406030204" pitchFamily="18" charset="0"/>
                  </a:rPr>
                  <a:t>$A=B=1$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3</m:t>
                                </m:r>
                              </m:e>
                              <m: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sup>
                            </m:sSup>
                          </m:e>
                        </m:d>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3</m:t>
                                </m:r>
                              </m:e>
                              <m:sup>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sup>
                            </m:sSup>
                          </m:e>
                        </m:d>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3</m:t>
                            </m:r>
                          </m:e>
                          <m: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sup>
                        </m:sSup>
                      </m:e>
                    </m:d>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3</m:t>
                            </m:r>
                          </m:e>
                          <m:sup>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sup>
                        </m:sSup>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positive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with equality iff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with equality iff </a:t>
                </a:r>
                <a14:m>
                  <m:oMath xmlns:m="http://schemas.openxmlformats.org/officeDocument/2006/math">
                    <m:sSup>
                      <m:e>
                        <m:r>
                          <a:rPr lang="en-IN" sz="2400" i="1">
                            <a:solidFill>
                              <a:srgbClr val="111827"/>
                            </a:solidFill>
                            <a:latin typeface="Cambria Math" panose="02040503050406030204" pitchFamily="18" charset="0"/>
                          </a:rPr>
                          <m:t>3</m:t>
                        </m:r>
                      </m:e>
                      <m: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p\cdot\vec q=3^{2\sin x+\tan x}+3^{\sin x+2\tan x-1}-3^{\sin x+\tan 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$3\,\vec p\cdot\vec q=3^{2\sin x+\tan x}+3^{\sin x+2\tan x}-3\cdot3^{\sin x+\tan 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$3\,\vec p\cdot\vec q+1=\left(3^{\frac{2\sin x+\tan x}{3}}\right)^3+\left(3^{\frac{\sin x+2\tan x}{3}}\right)^3+1^3-3\left(3^{\frac{2\sin x+\tan x}{3}}\right)\left(3^{\frac{\sin x+2\tan x}{3}}\right)\cdot1$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positive </a:t>
                </a:r>
                <a:r>
                  <a:rPr lang="en-IN" sz="2400">
                    <a:solidFill>
                      <a:srgbClr val="111827"/>
                    </a:solidFill>
                    <a:latin typeface="Cambria Math" panose="02040503050406030204" pitchFamily="18" charset="0"/>
                  </a:rPr>
                  <a:t>$a,b,c$</a:t>
                </a:r>
                <a:r>
                  <a:rPr sz="2400" b="0">
                    <a:solidFill>
                      <a:srgbClr val="111827"/>
                    </a:solidFill>
                    <a:latin typeface="Arial"/>
                  </a:rPr>
                  <a:t>: </a:t>
                </a:r>
                <a:r>
                  <a:rPr lang="en-IN" sz="2400">
                    <a:solidFill>
                      <a:srgbClr val="111827"/>
                    </a:solidFill>
                    <a:latin typeface="Cambria Math" panose="02040503050406030204" pitchFamily="18" charset="0"/>
                  </a:rPr>
                  <a:t>$a^3+b^3+c^3-3abc\ge0$</a:t>
                </a:r>
                <a:r>
                  <a:rPr sz="2400" b="0">
                    <a:solidFill>
                      <a:srgbClr val="111827"/>
                    </a:solidFill>
                    <a:latin typeface="Arial"/>
                  </a:rPr>
                  <a:t> with equality iff </a:t>
                </a:r>
                <a:r>
                  <a:rPr lang="en-IN" sz="2400">
                    <a:solidFill>
                      <a:srgbClr val="111827"/>
                    </a:solidFill>
                    <a:latin typeface="Cambria Math" panose="02040503050406030204" pitchFamily="18" charset="0"/>
                  </a:rPr>
                  <a:t>$a=b=c$</a:t>
                </a:r>
                <a:r>
                  <a:rPr sz="2400" b="0">
                    <a:solidFill>
                      <a:srgbClr val="111827"/>
                    </a:solidFill>
                    <a:latin typeface="Arial"/>
                  </a:rPr>
                  <a:t>. So </a:t>
                </a:r>
                <a:r>
                  <a:rPr lang="en-IN" sz="2400">
                    <a:solidFill>
                      <a:srgbClr val="111827"/>
                    </a:solidFill>
                    <a:latin typeface="Cambria Math" panose="02040503050406030204" pitchFamily="18" charset="0"/>
                  </a:rPr>
                  <a:t>$3\,\vec p\cdot\vec q+1\ge0$</a:t>
                </a:r>
                <a:r>
                  <a:rPr sz="2400" b="0">
                    <a:solidFill>
                      <a:srgbClr val="111827"/>
                    </a:solidFill>
                    <a:latin typeface="Arial"/>
                  </a:rPr>
                  <a:t>, with equality iff </a:t>
                </a:r>
                <a:r>
                  <a:rPr lang="en-IN" sz="2400">
                    <a:solidFill>
                      <a:srgbClr val="111827"/>
                    </a:solidFill>
                    <a:latin typeface="Cambria Math" panose="02040503050406030204" pitchFamily="18" charset="0"/>
                  </a:rPr>
                  <a:t>$3^{\frac{2\sin x+\tan x}{3}}=3^{\frac{\sin x+2\tan x}{3}}=1$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That requires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π</m:t>
                    </m:r>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1275</m:t>
                    </m:r>
                    <m:r>
                      <a:rPr lang="en-IN" sz="2400" i="1">
                        <a:solidFill>
                          <a:srgbClr val="111827"/>
                        </a:solidFill>
                        <a:latin typeface="Cambria Math" panose="02040503050406030204" pitchFamily="18" charset="0"/>
                      </a:rPr>
                      <m:t>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𝑆</m:t>
                        </m:r>
                      </m:num>
                      <m:den>
                        <m:r>
                          <a:rPr lang="en-IN" sz="2400" i="1">
                            <a:solidFill>
                              <a:srgbClr val="111827"/>
                            </a:solidFill>
                            <a:latin typeface="Cambria Math" panose="02040503050406030204" pitchFamily="18" charset="0"/>
                          </a:rPr>
                          <m:t>255</m:t>
                        </m:r>
                        <m:r>
                          <a:rPr lang="en-IN" sz="2400" i="1">
                            <a:solidFill>
                              <a:srgbClr val="111827"/>
                            </a:solidFill>
                            <a:latin typeface="Cambria Math" panose="02040503050406030204" pitchFamily="18" charset="0"/>
                          </a:rPr>
                          <m:t>π</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1275</m:t>
                        </m:r>
                      </m:num>
                      <m:den>
                        <m:r>
                          <a:rPr lang="en-IN" sz="2400" i="1">
                            <a:solidFill>
                              <a:srgbClr val="111827"/>
                            </a:solidFill>
                            <a:latin typeface="Cambria Math" panose="02040503050406030204" pitchFamily="18" charset="0"/>
                          </a:rPr>
                          <m:t>255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That requires </a:t>
                </a:r>
                <a:r>
                  <a:rPr lang="en-IN" sz="2400">
                    <a:solidFill>
                      <a:srgbClr val="111827"/>
                    </a:solidFill>
                    <a:latin typeface="Cambria Math" panose="02040503050406030204" pitchFamily="18" charset="0"/>
                  </a:rPr>
                  <a:t>$2\sin x+\tan x=0$</a:t>
                </a:r>
                <a:r>
                  <a:rPr sz="2400" b="0">
                    <a:solidFill>
                      <a:srgbClr val="111827"/>
                    </a:solidFill>
                    <a:latin typeface="Arial"/>
                  </a:rPr>
                  <a:t> and </a:t>
                </a:r>
                <a:r>
                  <a:rPr lang="en-IN" sz="2400">
                    <a:solidFill>
                      <a:srgbClr val="111827"/>
                    </a:solidFill>
                    <a:latin typeface="Cambria Math" panose="02040503050406030204" pitchFamily="18" charset="0"/>
                  </a:rPr>
                  <a:t>$\sin x+2\tan x=0$</a:t>
                </a:r>
                <a:r>
                  <a:rPr sz="2400" b="0">
                    <a:solidFill>
                      <a:srgbClr val="111827"/>
                    </a:solidFill>
                    <a:latin typeface="Arial"/>
                  </a:rPr>
                  <a:t>, i.e. </a:t>
                </a:r>
                <a:r>
                  <a:rPr lang="en-IN" sz="2400">
                    <a:solidFill>
                      <a:srgbClr val="111827"/>
                    </a:solidFill>
                    <a:latin typeface="Cambria Math" panose="02040503050406030204" pitchFamily="18" charset="0"/>
                  </a:rPr>
                  <a:t>$\sin x=\tan x=0\Rightarrow x=n\pi$</a:t>
                </a:r>
                <a:r>
                  <a:rPr sz="2400" b="0">
                    <a:solidFill>
                      <a:srgbClr val="111827"/>
                    </a:solidFill>
                    <a:latin typeface="Arial"/>
                  </a:rPr>
                  <a:t> (in </a:t>
                </a:r>
                <a:r>
                  <a:rPr lang="en-IN" sz="2400">
                    <a:solidFill>
                      <a:srgbClr val="111827"/>
                    </a:solidFill>
                    <a:latin typeface="Cambria Math" panose="02040503050406030204" pitchFamily="18" charset="0"/>
                  </a:rPr>
                  <a:t>$[0,50\pi]$</a:t>
                </a:r>
                <a:r>
                  <a:rPr sz="2400" b="0">
                    <a:solidFill>
                      <a:srgbClr val="111827"/>
                    </a:solidFill>
                    <a:latin typeface="Arial"/>
                  </a:rPr>
                  <a:t>: </a:t>
                </a:r>
                <a:r>
                  <a:rPr lang="en-IN" sz="2400">
                    <a:solidFill>
                      <a:srgbClr val="111827"/>
                    </a:solidFill>
                    <a:latin typeface="Cambria Math" panose="02040503050406030204" pitchFamily="18" charset="0"/>
                  </a:rPr>
                  <a:t>$n=0,1,\dots,50$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$S=0+\pi+2\pi+\dots+50\pi=\frac{\pi(50)(51)}{2}=1275\pi$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$\frac{S}{255\pi}=\frac{1275}{255}=5$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5</a:t>
            </a:r>
            <a:endParaRPr sz="2800">
              <a:solidFill>
                <a:srgbClr val="15803D"/>
              </a:solidFill>
            </a:endParaRPr>
          </a:p>
        </p:txBody>
      </p:sp>
    </p:spTree>
  </p:cSld>
  <p:clrMapOvr>
    <a:masterClrMapping/>
  </p:clrMapOvr>
</p:sld>
</file>

<file path=ppt/slides/slide3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Treat </a:t>
                </a:r>
                <a14:m>
                  <m:oMath xmlns:m="http://schemas.openxmlformats.org/officeDocument/2006/math">
                    <m:r>
                      <a:rPr lang="en-IN" sz="2400" i="1">
                        <a:solidFill>
                          <a:srgbClr val="78350F"/>
                        </a:solidFill>
                        <a:latin typeface="Cambria Math" panose="02040503050406030204" pitchFamily="18" charset="0"/>
                      </a:rPr>
                      <m:t>𝑢</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3</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sup>
                    </m:sSup>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𝑣</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3</m:t>
                        </m:r>
                      </m:e>
                      <m: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sup>
                    </m:sSup>
                  </m:oMath>
                </a14:m>
                <a:r>
                  <a:rPr sz="2400" b="0">
                    <a:solidFill>
                      <a:srgbClr val="78350F"/>
                    </a:solidFill>
                    <a:latin typeface="Arial"/>
                  </a:rPr>
                  <a:t> as free positive variables and minimise </a:t>
                </a:r>
                <a14:m>
                  <m:oMath xmlns:m="http://schemas.openxmlformats.org/officeDocument/2006/math">
                    <m:r>
                      <a:rPr lang="en-IN" sz="2400" i="1">
                        <a:solidFill>
                          <a:srgbClr val="78350F"/>
                        </a:solidFill>
                        <a:latin typeface="Cambria Math" panose="02040503050406030204" pitchFamily="18" charset="0"/>
                      </a:rPr>
                      <m:t>𝑓</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𝑢</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𝑣</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𝑢</m:t>
                            </m:r>
                          </m:e>
                          <m:sup>
                            <m:r>
                              <a:rPr lang="en-IN" sz="2400" i="1">
                                <a:solidFill>
                                  <a:srgbClr val="78350F"/>
                                </a:solidFill>
                                <a:latin typeface="Cambria Math" panose="02040503050406030204" pitchFamily="18" charset="0"/>
                              </a:rPr>
                              <m:t>3</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𝑣</m:t>
                            </m:r>
                          </m:e>
                          <m:sup>
                            <m:r>
                              <a:rPr lang="en-IN" sz="2400" i="1">
                                <a:solidFill>
                                  <a:srgbClr val="78350F"/>
                                </a:solidFill>
                                <a:latin typeface="Cambria Math" panose="02040503050406030204" pitchFamily="18" charset="0"/>
                              </a:rPr>
                              <m:t>3</m:t>
                            </m:r>
                          </m:sup>
                        </m:sSup>
                      </m:num>
                      <m:den>
                        <m:r>
                          <a:rPr lang="en-IN" sz="2400" i="1">
                            <a:solidFill>
                              <a:srgbClr val="78350F"/>
                            </a:solidFill>
                            <a:latin typeface="Cambria Math" panose="02040503050406030204" pitchFamily="18" charset="0"/>
                          </a:rPr>
                          <m:t>3</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𝑢</m:t>
                    </m:r>
                    <m:r>
                      <a:rPr lang="en-IN" sz="2400" i="1">
                        <a:solidFill>
                          <a:srgbClr val="78350F"/>
                        </a:solidFill>
                        <a:latin typeface="Cambria Math" panose="02040503050406030204" pitchFamily="18" charset="0"/>
                      </a:rPr>
                      <m:t>𝑣</m:t>
                    </m:r>
                  </m:oMath>
                </a14:m>
                <a:r>
                  <a:rPr sz="2400" b="0">
                    <a:solidFill>
                      <a:srgbClr val="78350F"/>
                    </a:solidFill>
                    <a:latin typeface="Arial"/>
                  </a:rPr>
                  <a:t> by calculus.</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Treat </a:t>
                </a:r>
                <a:r>
                  <a:rPr lang="en-IN" sz="2400">
                    <a:solidFill>
                      <a:srgbClr val="78350F"/>
                    </a:solidFill>
                    <a:latin typeface="Cambria Math" panose="02040503050406030204" pitchFamily="18" charset="0"/>
                  </a:rPr>
                  <a:t>$u=3^{(2\sin x+\tan x)/3}$</a:t>
                </a:r>
                <a:r>
                  <a:rPr sz="2400" b="0">
                    <a:solidFill>
                      <a:srgbClr val="78350F"/>
                    </a:solidFill>
                    <a:latin typeface="Arial"/>
                  </a:rPr>
                  <a:t> and </a:t>
                </a:r>
                <a:r>
                  <a:rPr lang="en-IN" sz="2400">
                    <a:solidFill>
                      <a:srgbClr val="78350F"/>
                    </a:solidFill>
                    <a:latin typeface="Cambria Math" panose="02040503050406030204" pitchFamily="18" charset="0"/>
                  </a:rPr>
                  <a:t>$v=3^{(\sin x+2\tan x)/3}$</a:t>
                </a:r>
                <a:r>
                  <a:rPr sz="2400" b="0">
                    <a:solidFill>
                      <a:srgbClr val="78350F"/>
                    </a:solidFill>
                    <a:latin typeface="Arial"/>
                  </a:rPr>
                  <a:t> as free positive variables and minimise </a:t>
                </a:r>
                <a:r>
                  <a:rPr lang="en-IN" sz="2400">
                    <a:solidFill>
                      <a:srgbClr val="78350F"/>
                    </a:solidFill>
                    <a:latin typeface="Cambria Math" panose="02040503050406030204" pitchFamily="18" charset="0"/>
                  </a:rPr>
                  <a:t>$f(u,v)=\frac{u^3+v^3}{3}-uv$</a:t>
                </a:r>
                <a:r>
                  <a:rPr sz="2400" b="0">
                    <a:solidFill>
                      <a:srgbClr val="78350F"/>
                    </a:solidFill>
                    <a:latin typeface="Arial"/>
                  </a:rPr>
                  <a:t> by calculus.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3</m:t>
                            </m:r>
                          </m:den>
                        </m:f>
                      </m:sup>
                    </m:sSup>
                  </m:oMath>
                </a14:m>
                <a:r>
                  <a:rPr sz="2400" b="0">
                    <a:solidFill>
                      <a:srgbClr val="111827"/>
                    </a:solidFill>
                    <a:latin typeface="Arial"/>
                  </a:rPr>
                  <a:t> the dot product is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𝑣</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a:rPr lang="en-IN" sz="2400" i="1">
                        <a:solidFill>
                          <a:srgbClr val="111827"/>
                        </a:solidFill>
                        <a:latin typeface="Cambria Math" panose="02040503050406030204" pitchFamily="18" charset="0"/>
                      </a:rPr>
                      <m:t>𝑣</m:t>
                    </m:r>
                  </m:oMath>
                </a14:m>
                <a:r>
                  <a:rPr sz="2400" b="0">
                    <a:solidFill>
                      <a:srgbClr val="111827"/>
                    </a:solidFill>
                    <a:latin typeface="Arial"/>
                  </a:rPr>
                  <a:t> (note </a:t>
                </a:r>
                <a14:m>
                  <m:oMath xmlns:m="http://schemas.openxmlformats.org/officeDocument/2006/math">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a:rPr lang="en-IN" sz="2400" i="1">
                        <a:solidFill>
                          <a:srgbClr val="111827"/>
                        </a:solidFill>
                        <a:latin typeface="Cambria Math" panose="02040503050406030204" pitchFamily="18" charset="0"/>
                      </a:rPr>
                      <m:t>𝑣</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𝑣</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 </a:t>
                </a:r>
                <a14:m>
                  <m:oMath xmlns:m="http://schemas.openxmlformats.org/officeDocument/2006/math">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$u=3^{\frac{2\sin x+\tan x}{3}}$</a:t>
                </a:r>
                <a:r>
                  <a:rPr sz="2400" b="0">
                    <a:solidFill>
                      <a:srgbClr val="111827"/>
                    </a:solidFill>
                    <a:latin typeface="Arial"/>
                  </a:rPr>
                  <a:t> and </a:t>
                </a:r>
                <a:r>
                  <a:rPr lang="en-IN" sz="2400">
                    <a:solidFill>
                      <a:srgbClr val="111827"/>
                    </a:solidFill>
                    <a:latin typeface="Cambria Math" panose="02040503050406030204" pitchFamily="18" charset="0"/>
                  </a:rPr>
                  <a:t>$v=3^{\frac{\sin x+2\tan x}{3}}$</a:t>
                </a:r>
                <a:r>
                  <a:rPr sz="2400" b="0">
                    <a:solidFill>
                      <a:srgbClr val="111827"/>
                    </a:solidFill>
                    <a:latin typeface="Arial"/>
                  </a:rPr>
                  <a:t> the dot product is </a:t>
                </a:r>
                <a:r>
                  <a:rPr lang="en-IN" sz="2400">
                    <a:solidFill>
                      <a:srgbClr val="111827"/>
                    </a:solidFill>
                    <a:latin typeface="Cambria Math" panose="02040503050406030204" pitchFamily="18" charset="0"/>
                  </a:rPr>
                  <a:t>$\vec p\cdot\vec q=\frac{u^3+v^3}{3}-uv$</a:t>
                </a:r>
                <a:r>
                  <a:rPr sz="2400" b="0">
                    <a:solidFill>
                      <a:srgbClr val="111827"/>
                    </a:solidFill>
                    <a:latin typeface="Arial"/>
                  </a:rPr>
                  <a:t> (note </a:t>
                </a:r>
                <a:r>
                  <a:rPr lang="en-IN" sz="2400">
                    <a:solidFill>
                      <a:srgbClr val="111827"/>
                    </a:solidFill>
                    <a:latin typeface="Cambria Math" panose="02040503050406030204" pitchFamily="18" charset="0"/>
                  </a:rPr>
                  <a:t>$3^{\sin x+\tan x}=uv$</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$\frac{\partial f}{\partial u}=u^2-v=0$</a:t>
                </a:r>
                <a:r>
                  <a:rPr sz="2400" b="0">
                    <a:solidFill>
                      <a:srgbClr val="111827"/>
                    </a:solidFill>
                    <a:latin typeface="Arial"/>
                  </a:rPr>
                  <a:t> and </a:t>
                </a:r>
                <a:r>
                  <a:rPr lang="en-IN" sz="2400">
                    <a:solidFill>
                      <a:srgbClr val="111827"/>
                    </a:solidFill>
                    <a:latin typeface="Cambria Math" panose="02040503050406030204" pitchFamily="18" charset="0"/>
                  </a:rPr>
                  <a:t>$\frac{\partial f}{\partial v}=v^2-u=0$</a:t>
                </a:r>
                <a:r>
                  <a:rPr sz="2400" b="0">
                    <a:solidFill>
                      <a:srgbClr val="111827"/>
                    </a:solidFill>
                    <a:latin typeface="Arial"/>
                  </a:rPr>
                  <a:t> give </a:t>
                </a:r>
                <a:r>
                  <a:rPr lang="en-IN" sz="2400">
                    <a:solidFill>
                      <a:srgbClr val="111827"/>
                    </a:solidFill>
                    <a:latin typeface="Cambria Math" panose="02040503050406030204" pitchFamily="18" charset="0"/>
                  </a:rPr>
                  <a:t>$u^4=u$</a:t>
                </a:r>
                <a:r>
                  <a:rPr sz="2400" b="0">
                    <a:solidFill>
                      <a:srgbClr val="111827"/>
                    </a:solidFill>
                    <a:latin typeface="Arial"/>
                  </a:rPr>
                  <a:t>, so </a:t>
                </a:r>
                <a:r>
                  <a:rPr lang="en-IN" sz="2400">
                    <a:solidFill>
                      <a:srgbClr val="111827"/>
                    </a:solidFill>
                    <a:latin typeface="Cambria Math" panose="02040503050406030204" pitchFamily="18" charset="0"/>
                  </a:rPr>
                  <a:t>$u=v=1$</a:t>
                </a:r>
                <a:r>
                  <a:rPr sz="2400" b="0">
                    <a:solidFill>
                      <a:srgbClr val="111827"/>
                    </a:solidFill>
                    <a:latin typeface="Arial"/>
                  </a:rPr>
                  <a:t> for </a:t>
                </a:r>
                <a:r>
                  <a:rPr lang="en-IN" sz="2400">
                    <a:solidFill>
                      <a:srgbClr val="111827"/>
                    </a:solidFill>
                    <a:latin typeface="Cambria Math" panose="02040503050406030204" pitchFamily="18" charset="0"/>
                  </a:rPr>
                  <a:t>$u,v&gt;0$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means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π</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oMath>
                </a14:m>
                <a:r>
                  <a:rPr sz="2400" b="0">
                    <a:solidFill>
                      <a:srgbClr val="111827"/>
                    </a:solidFill>
                    <a:latin typeface="Arial"/>
                  </a:rPr>
                  <a:t>) with minimum value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1275</m:t>
                    </m:r>
                    <m:r>
                      <a:rPr lang="en-IN" sz="2400" i="1">
                        <a:solidFill>
                          <a:srgbClr val="111827"/>
                        </a:solidFill>
                        <a:latin typeface="Cambria Math" panose="02040503050406030204" pitchFamily="18" charset="0"/>
                      </a:rPr>
                      <m:t>π</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𝑆</m:t>
                        </m:r>
                      </m:num>
                      <m:den>
                        <m:r>
                          <a:rPr lang="en-IN" sz="2400" i="1">
                            <a:solidFill>
                              <a:srgbClr val="111827"/>
                            </a:solidFill>
                            <a:latin typeface="Cambria Math" panose="02040503050406030204" pitchFamily="18" charset="0"/>
                          </a:rPr>
                          <m:t>255</m:t>
                        </m:r>
                        <m:r>
                          <a:rPr lang="en-IN" sz="2400" i="1">
                            <a:solidFill>
                              <a:srgbClr val="111827"/>
                            </a:solidFill>
                            <a:latin typeface="Cambria Math" panose="02040503050406030204" pitchFamily="18" charset="0"/>
                          </a:rPr>
                          <m:t>π</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$u=v=1$</a:t>
                </a:r>
                <a:r>
                  <a:rPr sz="2400" b="0">
                    <a:solidFill>
                      <a:srgbClr val="111827"/>
                    </a:solidFill>
                    <a:latin typeface="Arial"/>
                  </a:rPr>
                  <a:t> means </a:t>
                </a:r>
                <a:r>
                  <a:rPr lang="en-IN" sz="2400">
                    <a:solidFill>
                      <a:srgbClr val="111827"/>
                    </a:solidFill>
                    <a:latin typeface="Cambria Math" panose="02040503050406030204" pitchFamily="18" charset="0"/>
                  </a:rPr>
                  <a:t>$2\sin x+\tan x=0$</a:t>
                </a:r>
                <a:r>
                  <a:rPr sz="2400" b="0">
                    <a:solidFill>
                      <a:srgbClr val="111827"/>
                    </a:solidFill>
                    <a:latin typeface="Arial"/>
                  </a:rPr>
                  <a:t> and </a:t>
                </a:r>
                <a:r>
                  <a:rPr lang="en-IN" sz="2400">
                    <a:solidFill>
                      <a:srgbClr val="111827"/>
                    </a:solidFill>
                    <a:latin typeface="Cambria Math" panose="02040503050406030204" pitchFamily="18" charset="0"/>
                  </a:rPr>
                  <a:t>$\sin x+2\tan x=0$</a:t>
                </a:r>
                <a:r>
                  <a:rPr sz="2400" b="0">
                    <a:solidFill>
                      <a:srgbClr val="111827"/>
                    </a:solidFill>
                    <a:latin typeface="Arial"/>
                  </a:rPr>
                  <a:t>, i.e. </a:t>
                </a:r>
                <a:r>
                  <a:rPr lang="en-IN" sz="2400">
                    <a:solidFill>
                      <a:srgbClr val="111827"/>
                    </a:solidFill>
                    <a:latin typeface="Cambria Math" panose="02040503050406030204" pitchFamily="18" charset="0"/>
                  </a:rPr>
                  <a:t>$\sin x=\tan x=0$</a:t>
                </a:r>
                <a:r>
                  <a:rPr sz="2400" b="0">
                    <a:solidFill>
                      <a:srgbClr val="111827"/>
                    </a:solidFill>
                    <a:latin typeface="Arial"/>
                  </a:rPr>
                  <a:t>, </a:t>
                </a:r>
                <a:r>
                  <a:rPr lang="en-IN" sz="2400">
                    <a:solidFill>
                      <a:srgbClr val="111827"/>
                    </a:solidFill>
                    <a:latin typeface="Cambria Math" panose="02040503050406030204" pitchFamily="18" charset="0"/>
                  </a:rPr>
                  <a:t>$x=n\pi$</a:t>
                </a:r>
                <a:r>
                  <a:rPr sz="2400" b="0">
                    <a:solidFill>
                      <a:srgbClr val="111827"/>
                    </a:solidFill>
                    <a:latin typeface="Arial"/>
                  </a:rPr>
                  <a:t> (</a:t>
                </a:r>
                <a:r>
                  <a:rPr lang="en-IN" sz="2400">
                    <a:solidFill>
                      <a:srgbClr val="111827"/>
                    </a:solidFill>
                    <a:latin typeface="Cambria Math" panose="02040503050406030204" pitchFamily="18" charset="0"/>
                  </a:rPr>
                  <a:t>$n=0,\dots,50$</a:t>
                </a:r>
                <a:r>
                  <a:rPr sz="2400" b="0">
                    <a:solidFill>
                      <a:srgbClr val="111827"/>
                    </a:solidFill>
                    <a:latin typeface="Arial"/>
                  </a:rPr>
                  <a:t>) with minimum value </a:t>
                </a:r>
                <a:r>
                  <a:rPr lang="en-IN" sz="2400">
                    <a:solidFill>
                      <a:srgbClr val="111827"/>
                    </a:solidFill>
                    <a:latin typeface="Cambria Math" panose="02040503050406030204" pitchFamily="18" charset="0"/>
                  </a:rPr>
                  <a:t>$\frac23-1=-\frac13$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$S=1275\pi$</a:t>
                </a:r>
                <a:r>
                  <a:rPr sz="2400" b="0">
                    <a:solidFill>
                      <a:srgbClr val="111827"/>
                    </a:solidFill>
                    <a:latin typeface="Arial"/>
                  </a:rPr>
                  <a:t> and </a:t>
                </a:r>
                <a:r>
                  <a:rPr lang="en-IN" sz="2400">
                    <a:solidFill>
                      <a:srgbClr val="111827"/>
                    </a:solidFill>
                    <a:latin typeface="Cambria Math" panose="02040503050406030204" pitchFamily="18" charset="0"/>
                  </a:rPr>
                  <a:t>$\frac{S}{255\pi}=5$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5</a:t>
            </a:r>
            <a:endParaRPr sz="2800">
              <a:solidFill>
                <a:srgbClr val="15803D"/>
              </a:solidFill>
            </a:endParaRPr>
          </a:p>
        </p:txBody>
      </p:sp>
    </p:spTree>
  </p:cSld>
  <p:clrMapOvr>
    <a:masterClrMapping/>
  </p:clrMapOvr>
</p:sld>
</file>

<file path=ppt/slides/slide3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with equality iff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 expression of the form </a:t>
                </a:r>
                <a14:m>
                  <m:oMath xmlns:m="http://schemas.openxmlformats.org/officeDocument/2006/math">
                    <m:sSup>
                      <m:e>
                        <m:r>
                          <a:rPr lang="en-IN" sz="2400" i="1">
                            <a:solidFill>
                              <a:srgbClr val="111827"/>
                            </a:solidFill>
                            <a:latin typeface="Cambria Math" panose="02040503050406030204" pitchFamily="18" charset="0"/>
                          </a:rPr>
                          <m:t>𝑋</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𝑌</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𝑌</m:t>
                    </m:r>
                  </m:oMath>
                </a14:m>
                <a:r>
                  <a:rPr sz="2400" b="0">
                    <a:solidFill>
                      <a:srgbClr val="111827"/>
                    </a:solidFill>
                    <a:latin typeface="Arial"/>
                  </a:rPr>
                  <a:t> is the signal for this inequality (here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the multiples </a:t>
                </a:r>
                <a14:m>
                  <m:oMath xmlns:m="http://schemas.openxmlformats.org/officeDocument/2006/math">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π</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π</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$a^3+b^3+c^3-3abc=\frac12(a+b+c)\left[(a-b)^2+(b-c)^2+(c-a)^2\right]\ge0$</a:t>
                </a:r>
                <a:r>
                  <a:rPr sz="2400" b="0">
                    <a:solidFill>
                      <a:srgbClr val="111827"/>
                    </a:solidFill>
                    <a:latin typeface="Arial"/>
                  </a:rPr>
                  <a:t> for </a:t>
                </a:r>
                <a:r>
                  <a:rPr lang="en-IN" sz="2400">
                    <a:solidFill>
                      <a:srgbClr val="111827"/>
                    </a:solidFill>
                    <a:latin typeface="Cambria Math" panose="02040503050406030204" pitchFamily="18" charset="0"/>
                  </a:rPr>
                  <a:t>$a,b,c&gt;0$</a:t>
                </a:r>
                <a:r>
                  <a:rPr sz="2400" b="0">
                    <a:solidFill>
                      <a:srgbClr val="111827"/>
                    </a:solidFill>
                    <a:latin typeface="Arial"/>
                  </a:rPr>
                  <a:t>, with equality iff </a:t>
                </a:r>
                <a:r>
                  <a:rPr lang="en-IN" sz="2400">
                    <a:solidFill>
                      <a:srgbClr val="111827"/>
                    </a:solidFill>
                    <a:latin typeface="Cambria Math" panose="02040503050406030204" pitchFamily="18" charset="0"/>
                  </a:rPr>
                  <a:t>$a=b=c$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 expression of the form </a:t>
                </a:r>
                <a:r>
                  <a:rPr lang="en-IN" sz="2400">
                    <a:solidFill>
                      <a:srgbClr val="111827"/>
                    </a:solidFill>
                    <a:latin typeface="Cambria Math" panose="02040503050406030204" pitchFamily="18" charset="0"/>
                  </a:rPr>
                  <a:t>$X^3+Y^3+1-3XY$</a:t>
                </a:r>
                <a:r>
                  <a:rPr sz="2400" b="0">
                    <a:solidFill>
                      <a:srgbClr val="111827"/>
                    </a:solidFill>
                    <a:latin typeface="Arial"/>
                  </a:rPr>
                  <a:t> is the signal for this inequality (here </a:t>
                </a:r>
                <a:r>
                  <a:rPr lang="en-IN" sz="2400">
                    <a:solidFill>
                      <a:srgbClr val="111827"/>
                    </a:solidFill>
                    <a:latin typeface="Cambria Math" panose="02040503050406030204" pitchFamily="18" charset="0"/>
                  </a:rPr>
                  <a:t>$X\cdot Y\cdot1$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the multiples </a:t>
                </a:r>
                <a:r>
                  <a:rPr lang="en-IN" sz="2400">
                    <a:solidFill>
                      <a:srgbClr val="111827"/>
                    </a:solidFill>
                    <a:latin typeface="Cambria Math" panose="02040503050406030204" pitchFamily="18" charset="0"/>
                  </a:rPr>
                  <a:t>$n\pi$</a:t>
                </a:r>
                <a:r>
                  <a:rPr sz="2400" b="0">
                    <a:solidFill>
                      <a:srgbClr val="111827"/>
                    </a:solidFill>
                    <a:latin typeface="Arial"/>
                  </a:rPr>
                  <a:t> for </a:t>
                </a:r>
                <a:r>
                  <a:rPr lang="en-IN" sz="2400">
                    <a:solidFill>
                      <a:srgbClr val="111827"/>
                    </a:solidFill>
                    <a:latin typeface="Cambria Math" panose="02040503050406030204" pitchFamily="18" charset="0"/>
                  </a:rPr>
                  <a:t>$n=0..N$</a:t>
                </a:r>
                <a:r>
                  <a:rPr sz="2400" b="0">
                    <a:solidFill>
                      <a:srgbClr val="111827"/>
                    </a:solidFill>
                    <a:latin typeface="Arial"/>
                  </a:rPr>
                  <a:t> is </a:t>
                </a:r>
                <a:r>
                  <a:rPr lang="en-IN" sz="2400">
                    <a:solidFill>
                      <a:srgbClr val="111827"/>
                    </a:solidFill>
                    <a:latin typeface="Cambria Math" panose="02040503050406030204" pitchFamily="18" charset="0"/>
                  </a:rPr>
                  <a:t>$\pi\frac{N(N+1)}{2}$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3431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 vector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𝑃</m:t>
                        </m:r>
                      </m:e>
                    </m:acc>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is origin and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Vector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rotated about origin by an angle of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in a plane which is perpendicular to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𝑍</m:t>
                    </m:r>
                  </m:oMath>
                </a14:m>
                <a:r>
                  <a:rPr sz="2400" b="0">
                    <a:solidFill>
                      <a:srgbClr val="111827"/>
                    </a:solidFill>
                    <a:latin typeface="Arial"/>
                  </a:rPr>
                  <a:t> plane to get vector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where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Again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rotated about origin by right angle in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𝑍</m:t>
                    </m:r>
                  </m:oMath>
                </a14:m>
                <a:r>
                  <a:rPr sz="2400" b="0">
                    <a:solidFill>
                      <a:srgbClr val="111827"/>
                    </a:solidFill>
                    <a:latin typeface="Arial"/>
                  </a:rPr>
                  <a:t> plane to get vector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𝑉</m:t>
                    </m:r>
                  </m:oMath>
                </a14:m>
                <a:r>
                  <a:rPr sz="2400" b="0">
                    <a:solidFill>
                      <a:srgbClr val="111827"/>
                    </a:solidFill>
                    <a:latin typeface="Arial"/>
                  </a:rPr>
                  <a:t> is volume of tetrahedron whose coterminous edges are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then value of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𝑉</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den>
                    </m:f>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33431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 vector </a:t>
                </a:r>
                <a:r>
                  <a:rPr lang="en-IN" sz="2400">
                    <a:solidFill>
                      <a:srgbClr val="111827"/>
                    </a:solidFill>
                    <a:latin typeface="Cambria Math" panose="02040503050406030204" pitchFamily="18" charset="0"/>
                  </a:rPr>
                  <a:t>$\vec V_1=\overrightarrow{OP}$</a:t>
                </a:r>
                <a:r>
                  <a:rPr sz="2400" b="0">
                    <a:solidFill>
                      <a:srgbClr val="111827"/>
                    </a:solidFill>
                    <a:latin typeface="Arial"/>
                  </a:rPr>
                  <a:t>, where </a:t>
                </a:r>
                <a:r>
                  <a:rPr lang="en-IN" sz="2400">
                    <a:solidFill>
                      <a:srgbClr val="111827"/>
                    </a:solidFill>
                    <a:latin typeface="Cambria Math" panose="02040503050406030204" pitchFamily="18" charset="0"/>
                  </a:rPr>
                  <a:t>$O$</a:t>
                </a:r>
                <a:r>
                  <a:rPr sz="2400" b="0">
                    <a:solidFill>
                      <a:srgbClr val="111827"/>
                    </a:solidFill>
                    <a:latin typeface="Arial"/>
                  </a:rPr>
                  <a:t> is origin and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$(2,0,2)$</a:t>
                </a:r>
                <a:r>
                  <a:rPr sz="2400" b="0">
                    <a:solidFill>
                      <a:srgbClr val="111827"/>
                    </a:solidFill>
                    <a:latin typeface="Arial"/>
                  </a:rPr>
                  <a:t>. Vector </a:t>
                </a:r>
                <a:r>
                  <a:rPr lang="en-IN" sz="2400">
                    <a:solidFill>
                      <a:srgbClr val="111827"/>
                    </a:solidFill>
                    <a:latin typeface="Cambria Math" panose="02040503050406030204" pitchFamily="18" charset="0"/>
                  </a:rPr>
                  <a:t>$\vec V_1$</a:t>
                </a:r>
                <a:r>
                  <a:rPr sz="2400" b="0">
                    <a:solidFill>
                      <a:srgbClr val="111827"/>
                    </a:solidFill>
                    <a:latin typeface="Arial"/>
                  </a:rPr>
                  <a:t> is rotated about origin by an angle of </a:t>
                </a:r>
                <a:r>
                  <a:rPr lang="en-IN" sz="2400">
                    <a:solidFill>
                      <a:srgbClr val="111827"/>
                    </a:solidFill>
                    <a:latin typeface="Cambria Math" panose="02040503050406030204" pitchFamily="18" charset="0"/>
                  </a:rPr>
                  <a:t>$\frac\pi3$</a:t>
                </a:r>
                <a:r>
                  <a:rPr sz="2400" b="0">
                    <a:solidFill>
                      <a:srgbClr val="111827"/>
                    </a:solidFill>
                    <a:latin typeface="Arial"/>
                  </a:rPr>
                  <a:t> in a plane which is perpendicular to </a:t>
                </a:r>
                <a:r>
                  <a:rPr lang="en-IN" sz="2400">
                    <a:solidFill>
                      <a:srgbClr val="111827"/>
                    </a:solidFill>
                    <a:latin typeface="Cambria Math" panose="02040503050406030204" pitchFamily="18" charset="0"/>
                  </a:rPr>
                  <a:t>$XOZ$</a:t>
                </a:r>
                <a:r>
                  <a:rPr sz="2400" b="0">
                    <a:solidFill>
                      <a:srgbClr val="111827"/>
                    </a:solidFill>
                    <a:latin typeface="Arial"/>
                  </a:rPr>
                  <a:t> plane to get vector </a:t>
                </a:r>
                <a:r>
                  <a:rPr lang="en-IN" sz="2400">
                    <a:solidFill>
                      <a:srgbClr val="111827"/>
                    </a:solidFill>
                    <a:latin typeface="Cambria Math" panose="02040503050406030204" pitchFamily="18" charset="0"/>
                  </a:rPr>
                  <a:t>$\vec V_2$</a:t>
                </a:r>
                <a:r>
                  <a:rPr sz="2400" b="0">
                    <a:solidFill>
                      <a:srgbClr val="111827"/>
                    </a:solidFill>
                    <a:latin typeface="Arial"/>
                  </a:rPr>
                  <a:t>, where </a:t>
                </a:r>
                <a:r>
                  <a:rPr lang="en-IN" sz="2400">
                    <a:solidFill>
                      <a:srgbClr val="111827"/>
                    </a:solidFill>
                    <a:latin typeface="Cambria Math" panose="02040503050406030204" pitchFamily="18" charset="0"/>
                  </a:rPr>
                  <a:t>$\vec V_2\cdot\hat j&gt;0$</a:t>
                </a:r>
                <a:r>
                  <a:rPr sz="2400" b="0">
                    <a:solidFill>
                      <a:srgbClr val="111827"/>
                    </a:solidFill>
                    <a:latin typeface="Arial"/>
                  </a:rPr>
                  <a:t>. Again </a:t>
                </a:r>
                <a:r>
                  <a:rPr lang="en-IN" sz="2400">
                    <a:solidFill>
                      <a:srgbClr val="111827"/>
                    </a:solidFill>
                    <a:latin typeface="Cambria Math" panose="02040503050406030204" pitchFamily="18" charset="0"/>
                  </a:rPr>
                  <a:t>$\vec V_1$</a:t>
                </a:r>
                <a:r>
                  <a:rPr sz="2400" b="0">
                    <a:solidFill>
                      <a:srgbClr val="111827"/>
                    </a:solidFill>
                    <a:latin typeface="Arial"/>
                  </a:rPr>
                  <a:t> is rotated about origin by right angle in </a:t>
                </a:r>
                <a:r>
                  <a:rPr lang="en-IN" sz="2400">
                    <a:solidFill>
                      <a:srgbClr val="111827"/>
                    </a:solidFill>
                    <a:latin typeface="Cambria Math" panose="02040503050406030204" pitchFamily="18" charset="0"/>
                  </a:rPr>
                  <a:t>$XOZ$</a:t>
                </a:r>
                <a:r>
                  <a:rPr sz="2400" b="0">
                    <a:solidFill>
                      <a:srgbClr val="111827"/>
                    </a:solidFill>
                    <a:latin typeface="Arial"/>
                  </a:rPr>
                  <a:t> plane to get vector </a:t>
                </a:r>
                <a:r>
                  <a:rPr lang="en-IN" sz="2400">
                    <a:solidFill>
                      <a:srgbClr val="111827"/>
                    </a:solidFill>
                    <a:latin typeface="Cambria Math" panose="02040503050406030204" pitchFamily="18" charset="0"/>
                  </a:rPr>
                  <a:t>$\vec V_3$</a:t>
                </a:r>
                <a:r>
                  <a:rPr sz="2400" b="0">
                    <a:solidFill>
                      <a:srgbClr val="111827"/>
                    </a:solidFill>
                    <a:latin typeface="Arial"/>
                  </a:rPr>
                  <a:t>. If </a:t>
                </a:r>
                <a:r>
                  <a:rPr lang="en-IN" sz="2400">
                    <a:solidFill>
                      <a:srgbClr val="111827"/>
                    </a:solidFill>
                    <a:latin typeface="Cambria Math" panose="02040503050406030204" pitchFamily="18" charset="0"/>
                  </a:rPr>
                  <a:t>$V$</a:t>
                </a:r>
                <a:r>
                  <a:rPr sz="2400" b="0">
                    <a:solidFill>
                      <a:srgbClr val="111827"/>
                    </a:solidFill>
                    <a:latin typeface="Arial"/>
                  </a:rPr>
                  <a:t> is volume of tetrahedron whose coterminous edges are </a:t>
                </a:r>
                <a:r>
                  <a:rPr lang="en-IN" sz="2400">
                    <a:solidFill>
                      <a:srgbClr val="111827"/>
                    </a:solidFill>
                    <a:latin typeface="Cambria Math" panose="02040503050406030204" pitchFamily="18" charset="0"/>
                  </a:rPr>
                  <a:t>$\vec V_1,\vec V_2$</a:t>
                </a:r>
                <a:r>
                  <a:rPr sz="2400" b="0">
                    <a:solidFill>
                      <a:srgbClr val="111827"/>
                    </a:solidFill>
                    <a:latin typeface="Arial"/>
                  </a:rPr>
                  <a:t> and </a:t>
                </a:r>
                <a:r>
                  <a:rPr lang="en-IN" sz="2400">
                    <a:solidFill>
                      <a:srgbClr val="111827"/>
                    </a:solidFill>
                    <a:latin typeface="Cambria Math" panose="02040503050406030204" pitchFamily="18" charset="0"/>
                  </a:rPr>
                  <a:t>$\vec V_3$</a:t>
                </a:r>
                <a:r>
                  <a:rPr sz="2400" b="0">
                    <a:solidFill>
                      <a:srgbClr val="111827"/>
                    </a:solidFill>
                    <a:latin typeface="Arial"/>
                  </a:rPr>
                  <a:t> then value of </a:t>
                </a:r>
                <a:r>
                  <a:rPr lang="en-IN" sz="2400">
                    <a:solidFill>
                      <a:srgbClr val="111827"/>
                    </a:solidFill>
                    <a:latin typeface="Cambria Math" panose="02040503050406030204" pitchFamily="18" charset="0"/>
                  </a:rPr>
                  <a:t>$\frac{3V}{\sqrt6}$</a:t>
                </a:r>
                <a:r>
                  <a:rPr sz="2400" b="0">
                    <a:solidFill>
                      <a:srgbClr val="111827"/>
                    </a:solidFill>
                    <a:latin typeface="Arial"/>
                  </a:rPr>
                  <a:t> is ________.</a:t>
                </a:r>
                <a:endParaRPr sz="2400">
                  <a:solidFill>
                    <a:srgbClr val="111827"/>
                  </a:solidFill>
                </a:endParaRPr>
              </a:p>
            </p:txBody>
          </p:sp>
        </mc:Fallback>
      </mc:AlternateContent>
    </p:spTree>
  </p:cSld>
  <p:clrMapOvr>
    <a:masterClrMapping/>
  </p:clrMapOvr>
</p:sld>
</file>

<file path=ppt/slides/slide3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Rotation of a vector in a plane, Volume of a tetrahedron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𝑉</m:t>
                            </m:r>
                          </m:e>
                        </m:acc>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lies in the plane through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𝑉</m:t>
                            </m:r>
                          </m:e>
                        </m:acc>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and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𝑗</m:t>
                        </m:r>
                      </m:e>
                    </m:acc>
                  </m:oMath>
                </a14:m>
                <a:r>
                  <a:rPr sz="2400" b="0">
                    <a:solidFill>
                      <a:srgbClr val="78350F"/>
                    </a:solidFill>
                    <a:latin typeface="Arial"/>
                  </a:rPr>
                  <a:t> (the plane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oMath>
                </a14:m>
                <a:r>
                  <a:rPr sz="2400" b="0">
                    <a:solidFill>
                      <a:srgbClr val="78350F"/>
                    </a:solidFill>
                    <a:latin typeface="Arial"/>
                  </a:rPr>
                  <a:t>, perpendicular to </a:t>
                </a:r>
                <a14:m>
                  <m:oMath xmlns:m="http://schemas.openxmlformats.org/officeDocument/2006/math">
                    <m:r>
                      <a:rPr lang="en-IN" sz="2400" i="1">
                        <a:solidFill>
                          <a:srgbClr val="78350F"/>
                        </a:solidFill>
                        <a:latin typeface="Cambria Math" panose="02040503050406030204" pitchFamily="18" charset="0"/>
                      </a:rPr>
                      <m:t>𝑋</m:t>
                    </m:r>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𝑍</m:t>
                    </m:r>
                  </m:oMath>
                </a14:m>
                <a:r>
                  <a:rPr sz="2400" b="0">
                    <a:solidFill>
                      <a:srgbClr val="78350F"/>
                    </a:solidFill>
                    <a:latin typeface="Arial"/>
                  </a:rPr>
                  <a:t>); fix it from </a:t>
                </a:r>
                <a14:m>
                  <m:oMath xmlns:m="http://schemas.openxmlformats.org/officeDocument/2006/math">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𝑉</m:t>
                            </m:r>
                          </m:e>
                        </m:acc>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𝑉</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𝑉</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𝑉</m:t>
                            </m:r>
                          </m:e>
                        </m:acc>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𝑉</m:t>
                            </m:r>
                          </m:e>
                        </m:acc>
                      </m:e>
                      <m:sub>
                        <m:r>
                          <a:rPr lang="en-IN" sz="2400" i="1">
                            <a:solidFill>
                              <a:srgbClr val="78350F"/>
                            </a:solidFill>
                            <a:latin typeface="Cambria Math" panose="02040503050406030204" pitchFamily="18" charset="0"/>
                          </a:rPr>
                          <m:t>1</m:t>
                        </m:r>
                      </m:sub>
                    </m:sSub>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cos</m:t>
                    </m:r>
                    <m:sSup>
                      <m:e>
                        <m:r>
                          <a:rPr lang="en-IN" sz="2400" i="1">
                            <a:solidFill>
                              <a:srgbClr val="78350F"/>
                            </a:solidFill>
                            <a:latin typeface="Cambria Math" panose="02040503050406030204" pitchFamily="18" charset="0"/>
                          </a:rPr>
                          <m:t>60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$\vec V_2$</a:t>
                </a:r>
                <a:r>
                  <a:rPr sz="2400" b="0">
                    <a:solidFill>
                      <a:srgbClr val="78350F"/>
                    </a:solidFill>
                    <a:latin typeface="Arial"/>
                  </a:rPr>
                  <a:t> lies in the plane through </a:t>
                </a:r>
                <a:r>
                  <a:rPr lang="en-IN" sz="2400">
                    <a:solidFill>
                      <a:srgbClr val="78350F"/>
                    </a:solidFill>
                    <a:latin typeface="Cambria Math" panose="02040503050406030204" pitchFamily="18" charset="0"/>
                  </a:rPr>
                  <a:t>$\vec V_1$</a:t>
                </a:r>
                <a:r>
                  <a:rPr sz="2400" b="0">
                    <a:solidFill>
                      <a:srgbClr val="78350F"/>
                    </a:solidFill>
                    <a:latin typeface="Arial"/>
                  </a:rPr>
                  <a:t> and </a:t>
                </a:r>
                <a:r>
                  <a:rPr lang="en-IN" sz="2400">
                    <a:solidFill>
                      <a:srgbClr val="78350F"/>
                    </a:solidFill>
                    <a:latin typeface="Cambria Math" panose="02040503050406030204" pitchFamily="18" charset="0"/>
                  </a:rPr>
                  <a:t>$\hat j$</a:t>
                </a:r>
                <a:r>
                  <a:rPr sz="2400" b="0">
                    <a:solidFill>
                      <a:srgbClr val="78350F"/>
                    </a:solidFill>
                    <a:latin typeface="Arial"/>
                  </a:rPr>
                  <a:t> (the plane </a:t>
                </a:r>
                <a:r>
                  <a:rPr lang="en-IN" sz="2400">
                    <a:solidFill>
                      <a:srgbClr val="78350F"/>
                    </a:solidFill>
                    <a:latin typeface="Cambria Math" panose="02040503050406030204" pitchFamily="18" charset="0"/>
                  </a:rPr>
                  <a:t>$x=z$</a:t>
                </a:r>
                <a:r>
                  <a:rPr sz="2400" b="0">
                    <a:solidFill>
                      <a:srgbClr val="78350F"/>
                    </a:solidFill>
                    <a:latin typeface="Arial"/>
                  </a:rPr>
                  <a:t>, perpendicular to </a:t>
                </a:r>
                <a:r>
                  <a:rPr lang="en-IN" sz="2400">
                    <a:solidFill>
                      <a:srgbClr val="78350F"/>
                    </a:solidFill>
                    <a:latin typeface="Cambria Math" panose="02040503050406030204" pitchFamily="18" charset="0"/>
                  </a:rPr>
                  <a:t>$XOZ$</a:t>
                </a:r>
                <a:r>
                  <a:rPr sz="2400" b="0">
                    <a:solidFill>
                      <a:srgbClr val="78350F"/>
                    </a:solidFill>
                    <a:latin typeface="Arial"/>
                  </a:rPr>
                  <a:t>); fix it from </a:t>
                </a:r>
                <a:r>
                  <a:rPr lang="en-IN" sz="2400">
                    <a:solidFill>
                      <a:srgbClr val="78350F"/>
                    </a:solidFill>
                    <a:latin typeface="Cambria Math" panose="02040503050406030204" pitchFamily="18" charset="0"/>
                  </a:rPr>
                  <a:t>$|\vec V_2|=|\vec V_1|$</a:t>
                </a:r>
                <a:r>
                  <a:rPr sz="2400" b="0">
                    <a:solidFill>
                      <a:srgbClr val="78350F"/>
                    </a:solidFill>
                    <a:latin typeface="Arial"/>
                  </a:rPr>
                  <a:t> and </a:t>
                </a:r>
                <a:r>
                  <a:rPr lang="en-IN" sz="2400">
                    <a:solidFill>
                      <a:srgbClr val="78350F"/>
                    </a:solidFill>
                    <a:latin typeface="Cambria Math" panose="02040503050406030204" pitchFamily="18" charset="0"/>
                  </a:rPr>
                  <a:t>$\vec V_1\cdot\vec V_2=|\vec V_1|^2\cos60^\circ$</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plane perpendicular to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𝑍</m:t>
                    </m:r>
                  </m:oMath>
                </a14:m>
                <a:r>
                  <a:rPr sz="2400" b="0">
                    <a:solidFill>
                      <a:srgbClr val="111827"/>
                    </a:solidFill>
                    <a:latin typeface="Arial"/>
                  </a:rPr>
                  <a:t> containing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coplanar with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plane perpendicular to </a:t>
                </a:r>
                <a:r>
                  <a:rPr lang="en-IN" sz="2400">
                    <a:solidFill>
                      <a:srgbClr val="111827"/>
                    </a:solidFill>
                    <a:latin typeface="Cambria Math" panose="02040503050406030204" pitchFamily="18" charset="0"/>
                  </a:rPr>
                  <a:t>$XOZ$</a:t>
                </a:r>
                <a:r>
                  <a:rPr sz="2400" b="0">
                    <a:solidFill>
                      <a:srgbClr val="111827"/>
                    </a:solidFill>
                    <a:latin typeface="Arial"/>
                  </a:rPr>
                  <a:t> containing </a:t>
                </a:r>
                <a:r>
                  <a:rPr lang="en-IN" sz="2400">
                    <a:solidFill>
                      <a:srgbClr val="111827"/>
                    </a:solidFill>
                    <a:latin typeface="Cambria Math" panose="02040503050406030204" pitchFamily="18" charset="0"/>
                  </a:rPr>
                  <a:t>$O$</a:t>
                </a:r>
                <a:r>
                  <a:rPr sz="2400" b="0">
                    <a:solidFill>
                      <a:srgbClr val="111827"/>
                    </a:solidFill>
                    <a:latin typeface="Arial"/>
                  </a:rPr>
                  <a:t> and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$x-z=0$</a:t>
                </a:r>
                <a:r>
                  <a:rPr sz="2400" b="0">
                    <a:solidFill>
                      <a:srgbClr val="111827"/>
                    </a:solidFill>
                    <a:latin typeface="Arial"/>
                  </a:rPr>
                  <a:t>. </a:t>
                </a:r>
                <a:r>
                  <a:rPr lang="en-IN" sz="2400">
                    <a:solidFill>
                      <a:srgbClr val="111827"/>
                    </a:solidFill>
                    <a:latin typeface="Cambria Math" panose="02040503050406030204" pitchFamily="18" charset="0"/>
                  </a:rPr>
                  <a:t>$\vec V_2$</a:t>
                </a:r>
                <a:r>
                  <a:rPr sz="2400" b="0">
                    <a:solidFill>
                      <a:srgbClr val="111827"/>
                    </a:solidFill>
                    <a:latin typeface="Arial"/>
                  </a:rPr>
                  <a:t> is coplanar with </a:t>
                </a:r>
                <a:r>
                  <a:rPr lang="en-IN" sz="2400">
                    <a:solidFill>
                      <a:srgbClr val="111827"/>
                    </a:solidFill>
                    <a:latin typeface="Cambria Math" panose="02040503050406030204" pitchFamily="18" charset="0"/>
                  </a:rPr>
                  <a:t>$\vec V_1$</a:t>
                </a:r>
                <a:r>
                  <a:rPr sz="2400" b="0">
                    <a:solidFill>
                      <a:srgbClr val="111827"/>
                    </a:solidFill>
                    <a:latin typeface="Arial"/>
                  </a:rPr>
                  <a:t> and </a:t>
                </a:r>
                <a:r>
                  <a:rPr lang="en-IN" sz="2400">
                    <a:solidFill>
                      <a:srgbClr val="111827"/>
                    </a:solidFill>
                    <a:latin typeface="Cambria Math" panose="02040503050406030204" pitchFamily="18" charset="0"/>
                  </a:rPr>
                  <a:t>$\hat j$</a:t>
                </a:r>
                <a:r>
                  <a:rPr sz="2400" b="0">
                    <a:solidFill>
                      <a:srgbClr val="111827"/>
                    </a:solidFill>
                    <a:latin typeface="Arial"/>
                  </a:rPr>
                  <a:t>: </a:t>
                </a:r>
                <a:r>
                  <a:rPr lang="en-IN" sz="2400">
                    <a:solidFill>
                      <a:srgbClr val="111827"/>
                    </a:solidFill>
                    <a:latin typeface="Cambria Math" panose="02040503050406030204" pitchFamily="18" charset="0"/>
                  </a:rPr>
                  <a:t>$\vec V_2=x\vec V_1+y\hat j=x(2\hat i+2\hat k)+y\hat j$</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(1) gives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oMath>
                </a14:m>
                <a:r>
                  <a:rPr sz="2400" b="0">
                    <a:solidFill>
                      <a:srgbClr val="111827"/>
                    </a:solidFill>
                    <a:latin typeface="Arial"/>
                  </a:rPr>
                  <a:t> and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V_2|=|\vec V_1|=2\sqrt2\Rightarrow4x^2+y^2+4x^2=8$</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V_2\cdot\vec V_1=|\vec V_2||\vec V_1|\cos\frac\pi3=4\Rightarrow4=x(2\hat i+2\hat k)\cdot(2\hat i+2\hat k)=8x\Rightarrow x=\frac12$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(1) gives </a:t>
                </a:r>
                <a:r>
                  <a:rPr lang="en-IN" sz="2400">
                    <a:solidFill>
                      <a:srgbClr val="111827"/>
                    </a:solidFill>
                    <a:latin typeface="Cambria Math" panose="02040503050406030204" pitchFamily="18" charset="0"/>
                  </a:rPr>
                  <a:t>$y=\pm\sqrt6$</a:t>
                </a:r>
                <a:r>
                  <a:rPr sz="2400" b="0">
                    <a:solidFill>
                      <a:srgbClr val="111827"/>
                    </a:solidFill>
                    <a:latin typeface="Arial"/>
                  </a:rPr>
                  <a:t>; </a:t>
                </a:r>
                <a:r>
                  <a:rPr lang="en-IN" sz="2400">
                    <a:solidFill>
                      <a:srgbClr val="111827"/>
                    </a:solidFill>
                    <a:latin typeface="Cambria Math" panose="02040503050406030204" pitchFamily="18" charset="0"/>
                  </a:rPr>
                  <a:t>$\vec V_2\cdot\hat j&gt;0$</a:t>
                </a:r>
                <a:r>
                  <a:rPr sz="2400" b="0">
                    <a:solidFill>
                      <a:srgbClr val="111827"/>
                    </a:solidFill>
                    <a:latin typeface="Arial"/>
                  </a:rPr>
                  <a:t> gives </a:t>
                </a:r>
                <a:r>
                  <a:rPr lang="en-IN" sz="2400">
                    <a:solidFill>
                      <a:srgbClr val="111827"/>
                    </a:solidFill>
                    <a:latin typeface="Cambria Math" panose="02040503050406030204" pitchFamily="18" charset="0"/>
                  </a:rPr>
                  <a:t>$y=\sqrt6$</a:t>
                </a:r>
                <a:r>
                  <a:rPr sz="2400" b="0">
                    <a:solidFill>
                      <a:srgbClr val="111827"/>
                    </a:solidFill>
                    <a:latin typeface="Arial"/>
                  </a:rPr>
                  <a:t> and </a:t>
                </a:r>
                <a:r>
                  <a:rPr lang="en-IN" sz="2400">
                    <a:solidFill>
                      <a:srgbClr val="111827"/>
                    </a:solidFill>
                    <a:latin typeface="Cambria Math" panose="02040503050406030204" pitchFamily="18" charset="0"/>
                  </a:rPr>
                  <a:t>$\vec V_2=\hat i+\sqrt6\hat j+\hat k$</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rotated by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in the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𝑍</m:t>
                    </m:r>
                  </m:oMath>
                </a14:m>
                <a:r>
                  <a:rPr sz="2400" b="0">
                    <a:solidFill>
                      <a:srgbClr val="111827"/>
                    </a:solidFill>
                    <a:latin typeface="Arial"/>
                  </a:rPr>
                  <a:t> plane: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oMath>
                </a14:m>
                <a:r>
                  <a:rPr sz="2400" b="0">
                    <a:solidFill>
                      <a:srgbClr val="111827"/>
                    </a:solidFill>
                    <a:latin typeface="Arial"/>
                  </a:rPr>
                  <a:t> with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so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0</m:t>
                              </m:r>
                            </m:e>
                            <m:e>
                              <m:r>
                                <a:rPr lang="en-IN" sz="2400" i="1">
                                  <a:solidFill>
                                    <a:srgbClr val="111827"/>
                                  </a:solidFill>
                                  <a:latin typeface="Cambria Math" panose="02040503050406030204" pitchFamily="18" charset="0"/>
                                </a:rPr>
                                <m:t>2</m:t>
                              </m:r>
                            </m:e>
                          </m:mr>
                          <m:mr>
                            <m:e>
                              <m:r>
                                <a:rPr lang="en-IN" sz="2400" i="1">
                                  <a:solidFill>
                                    <a:srgbClr val="111827"/>
                                  </a:solidFill>
                                  <a:latin typeface="Cambria Math" panose="02040503050406030204" pitchFamily="18" charset="0"/>
                                </a:rPr>
                                <m:t>1</m:t>
                              </m:r>
                            </m:e>
                            <m:e>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e>
                            <m:e>
                              <m:r>
                                <a:rPr lang="en-IN" sz="2400" i="1">
                                  <a:solidFill>
                                    <a:srgbClr val="111827"/>
                                  </a:solidFill>
                                  <a:latin typeface="Cambria Math" panose="02040503050406030204" pitchFamily="18" charset="0"/>
                                </a:rPr>
                                <m:t>1</m:t>
                              </m:r>
                            </m:e>
                          </m:m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e>
                            <m:e>
                              <m:r>
                                <a:rPr lang="en-IN" sz="2400" i="1">
                                  <a:solidFill>
                                    <a:srgbClr val="111827"/>
                                  </a:solidFill>
                                  <a:latin typeface="Cambria Math" panose="02040503050406030204" pitchFamily="18" charset="0"/>
                                </a:rPr>
                                <m:t>0</m:t>
                              </m:r>
                            </m:e>
                            <m:e>
                              <m:r>
                                <a:rPr lang="en-IN" sz="2400" i="1">
                                  <a:solidFill>
                                    <a:srgbClr val="111827"/>
                                  </a:solidFill>
                                  <a:latin typeface="Cambria Math" panose="02040503050406030204" pitchFamily="18" charset="0"/>
                                </a:rPr>
                                <m:t>2</m:t>
                              </m:r>
                            </m:e>
                          </m:mr>
                        </m:m>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𝑉</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V_3$</a:t>
                </a:r>
                <a:r>
                  <a:rPr sz="2400" b="0">
                    <a:solidFill>
                      <a:srgbClr val="111827"/>
                    </a:solidFill>
                    <a:latin typeface="Arial"/>
                  </a:rPr>
                  <a:t> is </a:t>
                </a:r>
                <a:r>
                  <a:rPr lang="en-IN" sz="2400">
                    <a:solidFill>
                      <a:srgbClr val="111827"/>
                    </a:solidFill>
                    <a:latin typeface="Cambria Math" panose="02040503050406030204" pitchFamily="18" charset="0"/>
                  </a:rPr>
                  <a:t>$\vec V_1$</a:t>
                </a:r>
                <a:r>
                  <a:rPr sz="2400" b="0">
                    <a:solidFill>
                      <a:srgbClr val="111827"/>
                    </a:solidFill>
                    <a:latin typeface="Arial"/>
                  </a:rPr>
                  <a:t> rotated by </a:t>
                </a:r>
                <a:r>
                  <a:rPr lang="en-IN" sz="2400">
                    <a:solidFill>
                      <a:srgbClr val="111827"/>
                    </a:solidFill>
                    <a:latin typeface="Cambria Math" panose="02040503050406030204" pitchFamily="18" charset="0"/>
                  </a:rPr>
                  <a:t>$90^\circ$</a:t>
                </a:r>
                <a:r>
                  <a:rPr sz="2400" b="0">
                    <a:solidFill>
                      <a:srgbClr val="111827"/>
                    </a:solidFill>
                    <a:latin typeface="Arial"/>
                  </a:rPr>
                  <a:t> in the </a:t>
                </a:r>
                <a:r>
                  <a:rPr lang="en-IN" sz="2400">
                    <a:solidFill>
                      <a:srgbClr val="111827"/>
                    </a:solidFill>
                    <a:latin typeface="Cambria Math" panose="02040503050406030204" pitchFamily="18" charset="0"/>
                  </a:rPr>
                  <a:t>$XOZ$</a:t>
                </a:r>
                <a:r>
                  <a:rPr sz="2400" b="0">
                    <a:solidFill>
                      <a:srgbClr val="111827"/>
                    </a:solidFill>
                    <a:latin typeface="Arial"/>
                  </a:rPr>
                  <a:t> plane: </a:t>
                </a:r>
                <a:r>
                  <a:rPr lang="en-IN" sz="2400">
                    <a:solidFill>
                      <a:srgbClr val="111827"/>
                    </a:solidFill>
                    <a:latin typeface="Cambria Math" panose="02040503050406030204" pitchFamily="18" charset="0"/>
                  </a:rPr>
                  <a:t>$\vec V_3=\vec V_1+x\hat i$</a:t>
                </a:r>
                <a:r>
                  <a:rPr sz="2400" b="0">
                    <a:solidFill>
                      <a:srgbClr val="111827"/>
                    </a:solidFill>
                    <a:latin typeface="Arial"/>
                  </a:rPr>
                  <a:t> with </a:t>
                </a:r>
                <a:r>
                  <a:rPr lang="en-IN" sz="2400">
                    <a:solidFill>
                      <a:srgbClr val="111827"/>
                    </a:solidFill>
                    <a:latin typeface="Cambria Math" panose="02040503050406030204" pitchFamily="18" charset="0"/>
                  </a:rPr>
                  <a:t>$\vec V_3\cdot\vec V_1=0\Rightarrow8+2x=0\Rightarrow x=-4$</a:t>
                </a:r>
                <a:r>
                  <a:rPr sz="2400" b="0">
                    <a:solidFill>
                      <a:srgbClr val="111827"/>
                    </a:solidFill>
                    <a:latin typeface="Arial"/>
                  </a:rPr>
                  <a:t>, so </a:t>
                </a:r>
                <a:r>
                  <a:rPr lang="en-IN" sz="2400">
                    <a:solidFill>
                      <a:srgbClr val="111827"/>
                    </a:solidFill>
                    <a:latin typeface="Cambria Math" panose="02040503050406030204" pitchFamily="18" charset="0"/>
                  </a:rPr>
                  <a:t>$\vec V_3=-2\hat i+2\hat 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$V=\frac16\left|\begin{matrix}2&amp;0&amp;2\\1&amp;\sqrt6&amp;1\\-2&amp;0&amp;2\end{matrix}\right|=\frac16\cdot8\sqrt6$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$\frac{3V}{\sqrt6}=\frac{3}{\sqrt6}\cdot\frac{8\sqrt6}{6}=4$</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4</a:t>
            </a:r>
            <a:endParaRPr sz="2800">
              <a:solidFill>
                <a:srgbClr val="15803D"/>
              </a:solidFill>
            </a:endParaRPr>
          </a:p>
        </p:txBody>
      </p:sp>
    </p:spTree>
  </p:cSld>
  <p:clrMapOvr>
    <a:masterClrMapping/>
  </p:clrMapOvr>
</p:sld>
</file>

<file path=ppt/slides/slide3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an orthonormal frame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𝑒</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𝑖</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𝑘</m:t>
                            </m:r>
                          </m:e>
                        </m:acc>
                      </m:num>
                      <m:den>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den>
                    </m:f>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𝑗</m:t>
                        </m:r>
                      </m:e>
                    </m:acc>
                  </m:oMath>
                </a14:m>
                <a:r>
                  <a:rPr sz="2400" b="0">
                    <a:solidFill>
                      <a:srgbClr val="78350F"/>
                    </a:solidFill>
                    <a:latin typeface="Arial"/>
                  </a:rPr>
                  <a:t>, </a:t>
                </a:r>
                <a14:m>
                  <m:oMath xmlns:m="http://schemas.openxmlformats.org/officeDocument/2006/math">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𝑒</m:t>
                            </m:r>
                          </m:e>
                        </m:acc>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𝑖</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𝑘</m:t>
                            </m:r>
                          </m:e>
                        </m:acc>
                      </m:num>
                      <m:den>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den>
                    </m:f>
                  </m:oMath>
                </a14:m>
                <a:r>
                  <a:rPr sz="2400" b="0">
                    <a:solidFill>
                      <a:srgbClr val="78350F"/>
                    </a:solidFill>
                    <a:latin typeface="Arial"/>
                  </a:rPr>
                  <a:t> in which the three vectors are simple.</a:t>
                </a:r>
                <a:endParaRPr sz="2400">
                  <a:solidFill>
                    <a:srgbClr val="78350F"/>
                  </a:solidFill>
                </a:endParaRPr>
              </a:p>
            </p:txBody>
          </p:sp>
        </mc:Choice>
        <mc:Fallback>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an orthonormal frame </a:t>
                </a:r>
                <a:r>
                  <a:rPr lang="en-IN" sz="2400">
                    <a:solidFill>
                      <a:srgbClr val="78350F"/>
                    </a:solidFill>
                    <a:latin typeface="Cambria Math" panose="02040503050406030204" pitchFamily="18" charset="0"/>
                  </a:rPr>
                  <a:t>$\hat e_1=\frac{\hat i+\hat k}{\sqrt2}$</a:t>
                </a:r>
                <a:r>
                  <a:rPr sz="2400" b="0">
                    <a:solidFill>
                      <a:srgbClr val="78350F"/>
                    </a:solidFill>
                    <a:latin typeface="Arial"/>
                  </a:rPr>
                  <a:t>, </a:t>
                </a:r>
                <a:r>
                  <a:rPr lang="en-IN" sz="2400">
                    <a:solidFill>
                      <a:srgbClr val="78350F"/>
                    </a:solidFill>
                    <a:latin typeface="Cambria Math" panose="02040503050406030204" pitchFamily="18" charset="0"/>
                  </a:rPr>
                  <a:t>$\hat j$</a:t>
                </a:r>
                <a:r>
                  <a:rPr sz="2400" b="0">
                    <a:solidFill>
                      <a:srgbClr val="78350F"/>
                    </a:solidFill>
                    <a:latin typeface="Arial"/>
                  </a:rPr>
                  <a:t>, </a:t>
                </a:r>
                <a:r>
                  <a:rPr lang="en-IN" sz="2400">
                    <a:solidFill>
                      <a:srgbClr val="78350F"/>
                    </a:solidFill>
                    <a:latin typeface="Cambria Math" panose="02040503050406030204" pitchFamily="18" charset="0"/>
                  </a:rPr>
                  <a:t>$\hat e_2=\frac{-\hat i+\hat k}{\sqrt2}$</a:t>
                </a:r>
                <a:r>
                  <a:rPr sz="2400" b="0">
                    <a:solidFill>
                      <a:srgbClr val="78350F"/>
                    </a:solidFill>
                    <a:latin typeface="Arial"/>
                  </a:rPr>
                  <a:t> in which the three vectors are simple.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(rotation by </a:t>
                </a:r>
                <a14:m>
                  <m:oMath xmlns:m="http://schemas.openxmlformats.org/officeDocument/2006/math">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in the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𝑍</m:t>
                    </m:r>
                  </m:oMath>
                </a14:m>
                <a:r>
                  <a:rPr sz="2400" b="0">
                    <a:solidFill>
                      <a:srgbClr val="111827"/>
                    </a:solidFill>
                    <a:latin typeface="Arial"/>
                  </a:rPr>
                  <a:t> plane).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rotated by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towards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e>
                    </m: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V_1=2\sqrt2\,\hat e_1$</a:t>
                </a:r>
                <a:r>
                  <a:rPr sz="2400" b="0">
                    <a:solidFill>
                      <a:srgbClr val="111827"/>
                    </a:solidFill>
                    <a:latin typeface="Arial"/>
                  </a:rPr>
                  <a:t> and </a:t>
                </a:r>
                <a:r>
                  <a:rPr lang="en-IN" sz="2400">
                    <a:solidFill>
                      <a:srgbClr val="111827"/>
                    </a:solidFill>
                    <a:latin typeface="Cambria Math" panose="02040503050406030204" pitchFamily="18" charset="0"/>
                  </a:rPr>
                  <a:t>$\vec V_3=2\sqrt2\,\hat e_2$</a:t>
                </a:r>
                <a:r>
                  <a:rPr sz="2400" b="0">
                    <a:solidFill>
                      <a:srgbClr val="111827"/>
                    </a:solidFill>
                    <a:latin typeface="Arial"/>
                  </a:rPr>
                  <a:t> (rotation by </a:t>
                </a:r>
                <a:r>
                  <a:rPr lang="en-IN" sz="2400">
                    <a:solidFill>
                      <a:srgbClr val="111827"/>
                    </a:solidFill>
                    <a:latin typeface="Cambria Math" panose="02040503050406030204" pitchFamily="18" charset="0"/>
                  </a:rPr>
                  <a:t>$90^\circ$</a:t>
                </a:r>
                <a:r>
                  <a:rPr sz="2400" b="0">
                    <a:solidFill>
                      <a:srgbClr val="111827"/>
                    </a:solidFill>
                    <a:latin typeface="Arial"/>
                  </a:rPr>
                  <a:t> in the </a:t>
                </a:r>
                <a:r>
                  <a:rPr lang="en-IN" sz="2400">
                    <a:solidFill>
                      <a:srgbClr val="111827"/>
                    </a:solidFill>
                    <a:latin typeface="Cambria Math" panose="02040503050406030204" pitchFamily="18" charset="0"/>
                  </a:rPr>
                  <a:t>$XOZ$</a:t>
                </a:r>
                <a:r>
                  <a:rPr sz="2400" b="0">
                    <a:solidFill>
                      <a:srgbClr val="111827"/>
                    </a:solidFill>
                    <a:latin typeface="Arial"/>
                  </a:rPr>
                  <a:t> plane).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V_2$</a:t>
                </a:r>
                <a:r>
                  <a:rPr sz="2400" b="0">
                    <a:solidFill>
                      <a:srgbClr val="111827"/>
                    </a:solidFill>
                    <a:latin typeface="Arial"/>
                  </a:rPr>
                  <a:t> is </a:t>
                </a:r>
                <a:r>
                  <a:rPr lang="en-IN" sz="2400">
                    <a:solidFill>
                      <a:srgbClr val="111827"/>
                    </a:solidFill>
                    <a:latin typeface="Cambria Math" panose="02040503050406030204" pitchFamily="18" charset="0"/>
                  </a:rPr>
                  <a:t>$\vec V_1$</a:t>
                </a:r>
                <a:r>
                  <a:rPr sz="2400" b="0">
                    <a:solidFill>
                      <a:srgbClr val="111827"/>
                    </a:solidFill>
                    <a:latin typeface="Arial"/>
                  </a:rPr>
                  <a:t> rotated by </a:t>
                </a:r>
                <a:r>
                  <a:rPr lang="en-IN" sz="2400">
                    <a:solidFill>
                      <a:srgbClr val="111827"/>
                    </a:solidFill>
                    <a:latin typeface="Cambria Math" panose="02040503050406030204" pitchFamily="18" charset="0"/>
                  </a:rPr>
                  <a:t>$60^\circ$</a:t>
                </a:r>
                <a:r>
                  <a:rPr sz="2400" b="0">
                    <a:solidFill>
                      <a:srgbClr val="111827"/>
                    </a:solidFill>
                    <a:latin typeface="Arial"/>
                  </a:rPr>
                  <a:t> towards </a:t>
                </a:r>
                <a:r>
                  <a:rPr lang="en-IN" sz="2400">
                    <a:solidFill>
                      <a:srgbClr val="111827"/>
                    </a:solidFill>
                    <a:latin typeface="Cambria Math" panose="02040503050406030204" pitchFamily="18" charset="0"/>
                  </a:rPr>
                  <a:t>$\hat j$</a:t>
                </a:r>
                <a:r>
                  <a:rPr sz="2400" b="0">
                    <a:solidFill>
                      <a:srgbClr val="111827"/>
                    </a:solidFill>
                    <a:latin typeface="Arial"/>
                  </a:rPr>
                  <a:t>: </a:t>
                </a:r>
                <a:r>
                  <a:rPr lang="en-IN" sz="2400">
                    <a:solidFill>
                      <a:srgbClr val="111827"/>
                    </a:solidFill>
                    <a:latin typeface="Cambria Math" panose="02040503050406030204" pitchFamily="18" charset="0"/>
                  </a:rPr>
                  <a:t>$\vec V_2=2\sqrt2\left(\cos60^\circ\hat e_1+\sin60^\circ\hat j\right)=\sqrt2\,\hat e_1+\sqrt6\,\hat j$</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orthonormal, so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𝑉</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num>
                      <m:den>
                        <m:r>
                          <a:rPr lang="en-IN" sz="2400" i="1">
                            <a:solidFill>
                              <a:srgbClr val="111827"/>
                            </a:solidFill>
                            <a:latin typeface="Cambria Math" panose="02040503050406030204" pitchFamily="18" charset="0"/>
                          </a:rPr>
                          <m:t>6</m:t>
                        </m:r>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𝑉</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$\hat e_1,\hat j,\hat e_2$</a:t>
                </a:r>
                <a:r>
                  <a:rPr sz="2400" b="0">
                    <a:solidFill>
                      <a:srgbClr val="111827"/>
                    </a:solidFill>
                    <a:latin typeface="Arial"/>
                  </a:rPr>
                  <a:t> are orthonormal, so </a:t>
                </a:r>
                <a:r>
                  <a:rPr lang="en-IN" sz="2400">
                    <a:solidFill>
                      <a:srgbClr val="111827"/>
                    </a:solidFill>
                    <a:latin typeface="Cambria Math" panose="02040503050406030204" pitchFamily="18" charset="0"/>
                  </a:rPr>
                  <a:t>$|[\vec V_1\ \vec V_2\ \vec V_3]|=(2\sqrt2)(\sqrt6)(2\sqrt2)=8\sqrt6$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$V=\frac{8\sqrt6}{6}$</a:t>
                </a:r>
                <a:r>
                  <a:rPr sz="2400" b="0">
                    <a:solidFill>
                      <a:srgbClr val="111827"/>
                    </a:solidFill>
                    <a:latin typeface="Arial"/>
                  </a:rPr>
                  <a:t> and </a:t>
                </a:r>
                <a:r>
                  <a:rPr lang="en-IN" sz="2400">
                    <a:solidFill>
                      <a:srgbClr val="111827"/>
                    </a:solidFill>
                    <a:latin typeface="Cambria Math" panose="02040503050406030204" pitchFamily="18" charset="0"/>
                  </a:rPr>
                  <a:t>$\frac{3V}{\sqrt6}=4$</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4</a:t>
            </a:r>
            <a:endParaRPr sz="2800">
              <a:solidFill>
                <a:srgbClr val="15803D"/>
              </a:solidFill>
            </a:endParaRPr>
          </a:p>
        </p:txBody>
      </p:sp>
    </p:spTree>
  </p:cSld>
  <p:clrMapOvr>
    <a:masterClrMapping/>
  </p:clrMapOvr>
</p:sld>
</file>

<file path=ppt/slides/slide3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Rotating a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 by angle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in the plane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 and a perpendicular unit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triple product of vectors along an orthonormal frame with lengths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𝑟</m:t>
                    </m:r>
                  </m:oMath>
                </a14:m>
                <a:r>
                  <a:rPr sz="2400" b="0">
                    <a:solidFill>
                      <a:srgbClr val="111827"/>
                    </a:solidFill>
                    <a:latin typeface="Arial"/>
                  </a:rPr>
                  <a:t>; choose a frame adapted to the problem.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Plane perpendicular to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𝑍</m:t>
                    </m:r>
                  </m:oMath>
                </a14:m>
                <a:r>
                  <a:rPr sz="2400" b="0">
                    <a:solidFill>
                      <a:srgbClr val="111827"/>
                    </a:solidFill>
                    <a:latin typeface="Arial"/>
                  </a:rPr>
                  <a:t> through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direction: it contains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and the vector in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𝑍</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Rotating a vector </a:t>
                </a:r>
                <a:r>
                  <a:rPr lang="en-IN" sz="2400">
                    <a:solidFill>
                      <a:srgbClr val="111827"/>
                    </a:solidFill>
                    <a:latin typeface="Cambria Math" panose="02040503050406030204" pitchFamily="18" charset="0"/>
                  </a:rPr>
                  <a:t>$\vec u$</a:t>
                </a:r>
                <a:r>
                  <a:rPr sz="2400" b="0">
                    <a:solidFill>
                      <a:srgbClr val="111827"/>
                    </a:solidFill>
                    <a:latin typeface="Arial"/>
                  </a:rPr>
                  <a:t> by angle </a:t>
                </a:r>
                <a:r>
                  <a:rPr lang="en-IN" sz="2400">
                    <a:solidFill>
                      <a:srgbClr val="111827"/>
                    </a:solidFill>
                    <a:latin typeface="Cambria Math" panose="02040503050406030204" pitchFamily="18" charset="0"/>
                  </a:rPr>
                  <a:t>$\varphi$</a:t>
                </a:r>
                <a:r>
                  <a:rPr sz="2400" b="0">
                    <a:solidFill>
                      <a:srgbClr val="111827"/>
                    </a:solidFill>
                    <a:latin typeface="Arial"/>
                  </a:rPr>
                  <a:t> in the plane of </a:t>
                </a:r>
                <a:r>
                  <a:rPr lang="en-IN" sz="2400">
                    <a:solidFill>
                      <a:srgbClr val="111827"/>
                    </a:solidFill>
                    <a:latin typeface="Cambria Math" panose="02040503050406030204" pitchFamily="18" charset="0"/>
                  </a:rPr>
                  <a:t>$\vec u$</a:t>
                </a:r>
                <a:r>
                  <a:rPr sz="2400" b="0">
                    <a:solidFill>
                      <a:srgbClr val="111827"/>
                    </a:solidFill>
                    <a:latin typeface="Arial"/>
                  </a:rPr>
                  <a:t> and a perpendicular unit vector </a:t>
                </a:r>
                <a:r>
                  <a:rPr lang="en-IN" sz="2400">
                    <a:solidFill>
                      <a:srgbClr val="111827"/>
                    </a:solidFill>
                    <a:latin typeface="Cambria Math" panose="02040503050406030204" pitchFamily="18" charset="0"/>
                  </a:rPr>
                  <a:t>$\hat n$</a:t>
                </a:r>
                <a:r>
                  <a:rPr sz="2400" b="0">
                    <a:solidFill>
                      <a:srgbClr val="111827"/>
                    </a:solidFill>
                    <a:latin typeface="Arial"/>
                  </a:rPr>
                  <a:t> gives </a:t>
                </a:r>
                <a:r>
                  <a:rPr lang="en-IN" sz="2400">
                    <a:solidFill>
                      <a:srgbClr val="111827"/>
                    </a:solidFill>
                    <a:latin typeface="Cambria Math" panose="02040503050406030204" pitchFamily="18" charset="0"/>
                  </a:rPr>
                  <a:t>$\vec u\cos\varphi+|\vec u|\hat n\sin\varphi$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triple product of vectors along an orthonormal frame with lengths </a:t>
                </a:r>
                <a:r>
                  <a:rPr lang="en-IN" sz="2400">
                    <a:solidFill>
                      <a:srgbClr val="111827"/>
                    </a:solidFill>
                    <a:latin typeface="Cambria Math" panose="02040503050406030204" pitchFamily="18" charset="0"/>
                  </a:rPr>
                  <a:t>$p,q,r$</a:t>
                </a:r>
                <a:r>
                  <a:rPr sz="2400" b="0">
                    <a:solidFill>
                      <a:srgbClr val="111827"/>
                    </a:solidFill>
                    <a:latin typeface="Arial"/>
                  </a:rPr>
                  <a:t> is </a:t>
                </a:r>
                <a:r>
                  <a:rPr lang="en-IN" sz="2400">
                    <a:solidFill>
                      <a:srgbClr val="111827"/>
                    </a:solidFill>
                    <a:latin typeface="Cambria Math" panose="02040503050406030204" pitchFamily="18" charset="0"/>
                  </a:rPr>
                  <a:t>$\pm pqr$</a:t>
                </a:r>
                <a:r>
                  <a:rPr sz="2400" b="0">
                    <a:solidFill>
                      <a:srgbClr val="111827"/>
                    </a:solidFill>
                    <a:latin typeface="Arial"/>
                  </a:rPr>
                  <a:t>; choose a frame adapted to the problem.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Plane perpendicular to </a:t>
                </a:r>
                <a:r>
                  <a:rPr lang="en-IN" sz="2400">
                    <a:solidFill>
                      <a:srgbClr val="111827"/>
                    </a:solidFill>
                    <a:latin typeface="Cambria Math" panose="02040503050406030204" pitchFamily="18" charset="0"/>
                  </a:rPr>
                  <a:t>$XOZ$</a:t>
                </a:r>
                <a:r>
                  <a:rPr sz="2400" b="0">
                    <a:solidFill>
                      <a:srgbClr val="111827"/>
                    </a:solidFill>
                    <a:latin typeface="Arial"/>
                  </a:rPr>
                  <a:t> through the </a:t>
                </a:r>
                <a:r>
                  <a:rPr lang="en-IN" sz="2400">
                    <a:solidFill>
                      <a:srgbClr val="111827"/>
                    </a:solidFill>
                    <a:latin typeface="Cambria Math" panose="02040503050406030204" pitchFamily="18" charset="0"/>
                  </a:rPr>
                  <a:t>$y$</a:t>
                </a:r>
                <a:r>
                  <a:rPr sz="2400" b="0">
                    <a:solidFill>
                      <a:srgbClr val="111827"/>
                    </a:solidFill>
                    <a:latin typeface="Arial"/>
                  </a:rPr>
                  <a:t>-axis direction: it contains </a:t>
                </a:r>
                <a:r>
                  <a:rPr lang="en-IN" sz="2400">
                    <a:solidFill>
                      <a:srgbClr val="111827"/>
                    </a:solidFill>
                    <a:latin typeface="Cambria Math" panose="02040503050406030204" pitchFamily="18" charset="0"/>
                  </a:rPr>
                  <a:t>$\hat j$</a:t>
                </a:r>
                <a:r>
                  <a:rPr sz="2400" b="0">
                    <a:solidFill>
                      <a:srgbClr val="111827"/>
                    </a:solidFill>
                    <a:latin typeface="Arial"/>
                  </a:rPr>
                  <a:t> and the vector in </a:t>
                </a:r>
                <a:r>
                  <a:rPr lang="en-IN" sz="2400">
                    <a:solidFill>
                      <a:srgbClr val="111827"/>
                    </a:solidFill>
                    <a:latin typeface="Cambria Math" panose="02040503050406030204" pitchFamily="18" charset="0"/>
                  </a:rPr>
                  <a:t>$XOZ$</a:t>
                </a:r>
                <a:r>
                  <a:rPr sz="2400" b="0">
                    <a:solidFill>
                      <a:srgbClr val="111827"/>
                    </a:solidFill>
                    <a:latin typeface="Arial"/>
                  </a:rPr>
                  <a:t> (here </a:t>
                </a:r>
                <a:r>
                  <a:rPr lang="en-IN" sz="2400">
                    <a:solidFill>
                      <a:srgbClr val="111827"/>
                    </a:solidFill>
                    <a:latin typeface="Cambria Math" panose="02040503050406030204" pitchFamily="18" charset="0"/>
                  </a:rPr>
                  <a:t>$x=z$</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represents the number of lattice points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all being integers) inside the tetrahedron (not on the surface) having vertices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the value of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7</m:t>
                            </m:r>
                          </m:den>
                        </m:f>
                      </m:e>
                    </m:d>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$n$</a:t>
                </a:r>
                <a:r>
                  <a:rPr sz="2400" b="0">
                    <a:solidFill>
                      <a:srgbClr val="111827"/>
                    </a:solidFill>
                    <a:latin typeface="Arial"/>
                  </a:rPr>
                  <a:t> represents the number of lattice points (</a:t>
                </a:r>
                <a:r>
                  <a:rPr lang="en-IN" sz="2400">
                    <a:solidFill>
                      <a:srgbClr val="111827"/>
                    </a:solidFill>
                    <a:latin typeface="Cambria Math" panose="02040503050406030204" pitchFamily="18" charset="0"/>
                  </a:rPr>
                  <a:t>$x,y,z$</a:t>
                </a:r>
                <a:r>
                  <a:rPr sz="2400" b="0">
                    <a:solidFill>
                      <a:srgbClr val="111827"/>
                    </a:solidFill>
                    <a:latin typeface="Arial"/>
                  </a:rPr>
                  <a:t> all being integers) inside the tetrahedron (not on the surface) having vertices </a:t>
                </a:r>
                <a:r>
                  <a:rPr lang="en-IN" sz="2400">
                    <a:solidFill>
                      <a:srgbClr val="111827"/>
                    </a:solidFill>
                    <a:latin typeface="Cambria Math" panose="02040503050406030204" pitchFamily="18" charset="0"/>
                  </a:rPr>
                  <a:t>$(0,0,0)$</a:t>
                </a:r>
                <a:r>
                  <a:rPr sz="2400" b="0">
                    <a:solidFill>
                      <a:srgbClr val="111827"/>
                    </a:solidFill>
                    <a:latin typeface="Arial"/>
                  </a:rPr>
                  <a:t>, </a:t>
                </a:r>
                <a:r>
                  <a:rPr lang="en-IN" sz="2400">
                    <a:solidFill>
                      <a:srgbClr val="111827"/>
                    </a:solidFill>
                    <a:latin typeface="Cambria Math" panose="02040503050406030204" pitchFamily="18" charset="0"/>
                  </a:rPr>
                  <a:t>$(8,0,0)$</a:t>
                </a:r>
                <a:r>
                  <a:rPr sz="2400" b="0">
                    <a:solidFill>
                      <a:srgbClr val="111827"/>
                    </a:solidFill>
                    <a:latin typeface="Arial"/>
                  </a:rPr>
                  <a:t>, </a:t>
                </a:r>
                <a:r>
                  <a:rPr lang="en-IN" sz="2400">
                    <a:solidFill>
                      <a:srgbClr val="111827"/>
                    </a:solidFill>
                    <a:latin typeface="Cambria Math" panose="02040503050406030204" pitchFamily="18" charset="0"/>
                  </a:rPr>
                  <a:t>$(0,8,0)$</a:t>
                </a:r>
                <a:r>
                  <a:rPr sz="2400" b="0">
                    <a:solidFill>
                      <a:srgbClr val="111827"/>
                    </a:solidFill>
                    <a:latin typeface="Arial"/>
                  </a:rPr>
                  <a:t> and </a:t>
                </a:r>
                <a:r>
                  <a:rPr lang="en-IN" sz="2400">
                    <a:solidFill>
                      <a:srgbClr val="111827"/>
                    </a:solidFill>
                    <a:latin typeface="Cambria Math" panose="02040503050406030204" pitchFamily="18" charset="0"/>
                  </a:rPr>
                  <a:t>$(0,0,8)$</a:t>
                </a:r>
                <a:r>
                  <a:rPr sz="2400" b="0">
                    <a:solidFill>
                      <a:srgbClr val="111827"/>
                    </a:solidFill>
                    <a:latin typeface="Arial"/>
                  </a:rPr>
                  <a:t> then the value of </a:t>
                </a:r>
                <a:r>
                  <a:rPr lang="en-IN" sz="2400">
                    <a:solidFill>
                      <a:srgbClr val="111827"/>
                    </a:solidFill>
                    <a:latin typeface="Cambria Math" panose="02040503050406030204" pitchFamily="18" charset="0"/>
                  </a:rPr>
                  <a:t>$\left(\frac n7\right)$</a:t>
                </a:r>
                <a:r>
                  <a:rPr sz="2400" b="0">
                    <a:solidFill>
                      <a:srgbClr val="111827"/>
                    </a:solidFill>
                    <a:latin typeface="Arial"/>
                  </a:rPr>
                  <a:t> is ________.</a:t>
                </a:r>
                <a:endParaRPr sz="2400">
                  <a:solidFill>
                    <a:srgbClr val="111827"/>
                  </a:solidFill>
                </a:endParaRPr>
              </a:p>
            </p:txBody>
          </p:sp>
        </mc:Fallback>
      </mc:AlternateContent>
      <p:sp>
        <p:nvSpPr>
          <p:cNvPr id="5" name="Rectangle 4"/>
          <p:cNvSpPr/>
          <p:nvPr/>
        </p:nvSpPr>
        <p:spPr>
          <a:xfrm>
            <a:off x="731520" y="3626611"/>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Counting lattice points inside a tetrahedron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Interior points have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&lt;</m:t>
                    </m:r>
                    <m:r>
                      <a:rPr lang="en-IN" sz="2400" i="1">
                        <a:solidFill>
                          <a:srgbClr val="78350F"/>
                        </a:solidFill>
                        <a:latin typeface="Cambria Math" panose="02040503050406030204" pitchFamily="18" charset="0"/>
                      </a:rPr>
                      <m:t>8</m:t>
                    </m:r>
                  </m:oMath>
                </a14:m>
                <a:r>
                  <a:rPr sz="2400" b="0">
                    <a:solidFill>
                      <a:srgbClr val="78350F"/>
                    </a:solidFill>
                    <a:latin typeface="Arial"/>
                  </a:rPr>
                  <a:t>; add a slack variable </a:t>
                </a:r>
                <a14:m>
                  <m:oMath xmlns:m="http://schemas.openxmlformats.org/officeDocument/2006/math">
                    <m:r>
                      <a:rPr lang="en-IN" sz="2400" i="1">
                        <a:solidFill>
                          <a:srgbClr val="78350F"/>
                        </a:solidFill>
                        <a:latin typeface="Cambria Math" panose="02040503050406030204" pitchFamily="18" charset="0"/>
                      </a:rPr>
                      <m:t>𝑤</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𝑤</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m:t>
                    </m:r>
                  </m:oMath>
                </a14:m>
                <a:r>
                  <a:rPr sz="2400" b="0">
                    <a:solidFill>
                      <a:srgbClr val="78350F"/>
                    </a:solidFill>
                    <a:latin typeface="Arial"/>
                  </a:rPr>
                  <a:t> and use stars and bars.</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Interior points have </a:t>
                </a:r>
                <a:r>
                  <a:rPr lang="en-IN" sz="2400">
                    <a:solidFill>
                      <a:srgbClr val="78350F"/>
                    </a:solidFill>
                    <a:latin typeface="Cambria Math" panose="02040503050406030204" pitchFamily="18" charset="0"/>
                  </a:rPr>
                  <a:t>$x,y,z\ge1$</a:t>
                </a:r>
                <a:r>
                  <a:rPr sz="2400" b="0">
                    <a:solidFill>
                      <a:srgbClr val="78350F"/>
                    </a:solidFill>
                    <a:latin typeface="Arial"/>
                  </a:rPr>
                  <a:t> and </a:t>
                </a:r>
                <a:r>
                  <a:rPr lang="en-IN" sz="2400">
                    <a:solidFill>
                      <a:srgbClr val="78350F"/>
                    </a:solidFill>
                    <a:latin typeface="Cambria Math" panose="02040503050406030204" pitchFamily="18" charset="0"/>
                  </a:rPr>
                  <a:t>$x+y+z&lt;8$</a:t>
                </a:r>
                <a:r>
                  <a:rPr sz="2400" b="0">
                    <a:solidFill>
                      <a:srgbClr val="78350F"/>
                    </a:solidFill>
                    <a:latin typeface="Arial"/>
                  </a:rPr>
                  <a:t>; add a slack variable </a:t>
                </a:r>
                <a:r>
                  <a:rPr lang="en-IN" sz="2400">
                    <a:solidFill>
                      <a:srgbClr val="78350F"/>
                    </a:solidFill>
                    <a:latin typeface="Cambria Math" panose="02040503050406030204" pitchFamily="18" charset="0"/>
                  </a:rPr>
                  <a:t>$w\ge1$</a:t>
                </a:r>
                <a:r>
                  <a:rPr sz="2400" b="0">
                    <a:solidFill>
                      <a:srgbClr val="78350F"/>
                    </a:solidFill>
                    <a:latin typeface="Arial"/>
                  </a:rPr>
                  <a:t> with </a:t>
                </a:r>
                <a:r>
                  <a:rPr lang="en-IN" sz="2400">
                    <a:solidFill>
                      <a:srgbClr val="78350F"/>
                    </a:solidFill>
                    <a:latin typeface="Cambria Math" panose="02040503050406030204" pitchFamily="18" charset="0"/>
                  </a:rPr>
                  <a:t>$x+y+z+w=8$</a:t>
                </a:r>
                <a:r>
                  <a:rPr sz="2400" b="0">
                    <a:solidFill>
                      <a:srgbClr val="78350F"/>
                    </a:solidFill>
                    <a:latin typeface="Arial"/>
                  </a:rPr>
                  <a:t> and use stars and bars.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tetrahedron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an interior lattice point has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Introduce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solutions in positive integers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tetrahedron is </a:t>
                </a:r>
                <a:r>
                  <a:rPr lang="en-IN" sz="2400">
                    <a:solidFill>
                      <a:srgbClr val="111827"/>
                    </a:solidFill>
                    <a:latin typeface="Cambria Math" panose="02040503050406030204" pitchFamily="18" charset="0"/>
                  </a:rPr>
                  <a:t>$x\ge0,\ y\ge0,\ z\ge0,\ x+y+z\le8$</a:t>
                </a:r>
                <a:r>
                  <a:rPr sz="2400" b="0">
                    <a:solidFill>
                      <a:srgbClr val="111827"/>
                    </a:solidFill>
                    <a:latin typeface="Arial"/>
                  </a:rPr>
                  <a:t>; an interior lattice point has </a:t>
                </a:r>
                <a:r>
                  <a:rPr lang="en-IN" sz="2400">
                    <a:solidFill>
                      <a:srgbClr val="111827"/>
                    </a:solidFill>
                    <a:latin typeface="Cambria Math" panose="02040503050406030204" pitchFamily="18" charset="0"/>
                  </a:rPr>
                  <a:t>$x,y,z\ge1$</a:t>
                </a:r>
                <a:r>
                  <a:rPr sz="2400" b="0">
                    <a:solidFill>
                      <a:srgbClr val="111827"/>
                    </a:solidFill>
                    <a:latin typeface="Arial"/>
                  </a:rPr>
                  <a:t> and </a:t>
                </a:r>
                <a:r>
                  <a:rPr lang="en-IN" sz="2400">
                    <a:solidFill>
                      <a:srgbClr val="111827"/>
                    </a:solidFill>
                    <a:latin typeface="Cambria Math" panose="02040503050406030204" pitchFamily="18" charset="0"/>
                  </a:rPr>
                  <a:t>$x+y+z&lt;8$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Introduce </a:t>
                </a:r>
                <a:r>
                  <a:rPr lang="en-IN" sz="2400">
                    <a:solidFill>
                      <a:srgbClr val="111827"/>
                    </a:solidFill>
                    <a:latin typeface="Cambria Math" panose="02040503050406030204" pitchFamily="18" charset="0"/>
                  </a:rPr>
                  <a:t>$w=8-(x+y+z)\ge1$</a:t>
                </a:r>
                <a:r>
                  <a:rPr sz="2400" b="0">
                    <a:solidFill>
                      <a:srgbClr val="111827"/>
                    </a:solidFill>
                    <a:latin typeface="Arial"/>
                  </a:rPr>
                  <a:t>: </a:t>
                </a:r>
                <a:r>
                  <a:rPr lang="en-IN" sz="2400">
                    <a:solidFill>
                      <a:srgbClr val="111827"/>
                    </a:solidFill>
                    <a:latin typeface="Cambria Math" panose="02040503050406030204" pitchFamily="18" charset="0"/>
                  </a:rPr>
                  <a:t>$x+y+z+w=8$</a:t>
                </a:r>
                <a:r>
                  <a:rPr sz="2400" b="0">
                    <a:solidFill>
                      <a:srgbClr val="111827"/>
                    </a:solidFill>
                    <a:latin typeface="Arial"/>
                  </a:rPr>
                  <a:t> with </a:t>
                </a:r>
                <a:r>
                  <a:rPr lang="en-IN" sz="2400">
                    <a:solidFill>
                      <a:srgbClr val="111827"/>
                    </a:solidFill>
                    <a:latin typeface="Cambria Math" panose="02040503050406030204" pitchFamily="18" charset="0"/>
                  </a:rPr>
                  <a:t>$x,y,z,w\ge1$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solutions in positive integers is </a:t>
                </a:r>
                <a:r>
                  <a:rPr lang="en-IN" sz="2400">
                    <a:solidFill>
                      <a:srgbClr val="111827"/>
                    </a:solidFill>
                    <a:latin typeface="Cambria Math" panose="02040503050406030204" pitchFamily="18" charset="0"/>
                  </a:rPr>
                  <a:t>$\binom{8-1}{4-1}=\binom73=35$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$n=35$</a:t>
                </a:r>
                <a:r>
                  <a:rPr sz="2400" b="0">
                    <a:solidFill>
                      <a:srgbClr val="111827"/>
                    </a:solidFill>
                    <a:latin typeface="Arial"/>
                  </a:rPr>
                  <a:t>, so </a:t>
                </a:r>
                <a:r>
                  <a:rPr lang="en-IN" sz="2400">
                    <a:solidFill>
                      <a:srgbClr val="111827"/>
                    </a:solidFill>
                    <a:latin typeface="Cambria Math" panose="02040503050406030204" pitchFamily="18" charset="0"/>
                  </a:rPr>
                  <a:t>$\frac n7=5$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5</a:t>
            </a:r>
            <a:endParaRPr sz="2800">
              <a:solidFill>
                <a:srgbClr val="15803D"/>
              </a:solidFill>
            </a:endParaRPr>
          </a:p>
        </p:txBody>
      </p:sp>
    </p:spTree>
  </p:cSld>
  <p:clrMapOvr>
    <a:masterClrMapping/>
  </p:clrMapOvr>
</p:sld>
</file>

<file path=ppt/slides/slide4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layer by layer in </a:t>
                </a:r>
                <a14:m>
                  <m:oMath xmlns:m="http://schemas.openxmlformats.org/officeDocument/2006/math">
                    <m:r>
                      <a:rPr lang="en-IN" sz="2400" i="1">
                        <a:solidFill>
                          <a:srgbClr val="78350F"/>
                        </a:solidFill>
                        <a:latin typeface="Cambria Math" panose="02040503050406030204" pitchFamily="18" charset="0"/>
                      </a:rPr>
                      <m:t>𝑠</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oMath>
                </a14:m>
                <a:r>
                  <a:rPr sz="2400" b="0">
                    <a:solidFill>
                      <a:srgbClr val="78350F"/>
                    </a:solidFill>
                    <a:latin typeface="Arial"/>
                  </a:rPr>
                  <a:t> and add with the hockey-stick identity.</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layer by layer in </a:t>
                </a:r>
                <a:r>
                  <a:rPr lang="en-IN" sz="2400">
                    <a:solidFill>
                      <a:srgbClr val="78350F"/>
                    </a:solidFill>
                    <a:latin typeface="Cambria Math" panose="02040503050406030204" pitchFamily="18" charset="0"/>
                  </a:rPr>
                  <a:t>$s=x+y+z$</a:t>
                </a:r>
                <a:r>
                  <a:rPr sz="2400" b="0">
                    <a:solidFill>
                      <a:srgbClr val="78350F"/>
                    </a:solidFill>
                    <a:latin typeface="Arial"/>
                  </a:rPr>
                  <a:t> and add with the hockey-stick identity.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fixed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the number of positive solutions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runs from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the hockey-stick identity this equals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fixed </a:t>
                </a:r>
                <a:r>
                  <a:rPr lang="en-IN" sz="2400">
                    <a:solidFill>
                      <a:srgbClr val="111827"/>
                    </a:solidFill>
                    <a:latin typeface="Cambria Math" panose="02040503050406030204" pitchFamily="18" charset="0"/>
                  </a:rPr>
                  <a:t>$s=x+y+z$</a:t>
                </a:r>
                <a:r>
                  <a:rPr sz="2400" b="0">
                    <a:solidFill>
                      <a:srgbClr val="111827"/>
                    </a:solidFill>
                    <a:latin typeface="Arial"/>
                  </a:rPr>
                  <a:t> the number of positive solutions is </a:t>
                </a:r>
                <a:r>
                  <a:rPr lang="en-IN" sz="2400">
                    <a:solidFill>
                      <a:srgbClr val="111827"/>
                    </a:solidFill>
                    <a:latin typeface="Cambria Math" panose="02040503050406030204" pitchFamily="18" charset="0"/>
                  </a:rPr>
                  <a:t>$\binom{s-1}{2}$</a:t>
                </a:r>
                <a:r>
                  <a:rPr sz="2400" b="0">
                    <a:solidFill>
                      <a:srgbClr val="111827"/>
                    </a:solidFill>
                    <a:latin typeface="Arial"/>
                  </a:rPr>
                  <a:t>, and </a:t>
                </a:r>
                <a:r>
                  <a:rPr lang="en-IN" sz="2400">
                    <a:solidFill>
                      <a:srgbClr val="111827"/>
                    </a:solidFill>
                    <a:latin typeface="Cambria Math" panose="02040503050406030204" pitchFamily="18" charset="0"/>
                  </a:rPr>
                  <a:t>$s$</a:t>
                </a:r>
                <a:r>
                  <a:rPr sz="2400" b="0">
                    <a:solidFill>
                      <a:srgbClr val="111827"/>
                    </a:solidFill>
                    <a:latin typeface="Arial"/>
                  </a:rPr>
                  <a:t> runs from </a:t>
                </a:r>
                <a:r>
                  <a:rPr lang="en-IN" sz="2400">
                    <a:solidFill>
                      <a:srgbClr val="111827"/>
                    </a:solidFill>
                    <a:latin typeface="Cambria Math" panose="02040503050406030204" pitchFamily="18" charset="0"/>
                  </a:rPr>
                  <a:t>$3$</a:t>
                </a:r>
                <a:r>
                  <a:rPr sz="2400" b="0">
                    <a:solidFill>
                      <a:srgbClr val="111827"/>
                    </a:solidFill>
                    <a:latin typeface="Arial"/>
                  </a:rPr>
                  <a:t> to </a:t>
                </a:r>
                <a:r>
                  <a:rPr lang="en-IN" sz="2400">
                    <a:solidFill>
                      <a:srgbClr val="111827"/>
                    </a:solidFill>
                    <a:latin typeface="Cambria Math" panose="02040503050406030204" pitchFamily="18" charset="0"/>
                  </a:rPr>
                  <a:t>$7$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$\binom22+\binom32+\binom42+\binom52+\binom62=1+3+6+10+15=35$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the hockey-stick identity this equals </a:t>
                </a:r>
                <a:r>
                  <a:rPr lang="en-IN" sz="2400">
                    <a:solidFill>
                      <a:srgbClr val="111827"/>
                    </a:solidFill>
                    <a:latin typeface="Cambria Math" panose="02040503050406030204" pitchFamily="18" charset="0"/>
                  </a:rPr>
                  <a:t>$\binom73=35$</a:t>
                </a:r>
                <a:r>
                  <a:rPr sz="2400" b="0">
                    <a:solidFill>
                      <a:srgbClr val="111827"/>
                    </a:solidFill>
                    <a:latin typeface="Arial"/>
                  </a:rPr>
                  <a:t>, so </a:t>
                </a:r>
                <a:r>
                  <a:rPr lang="en-IN" sz="2400">
                    <a:solidFill>
                      <a:srgbClr val="111827"/>
                    </a:solidFill>
                    <a:latin typeface="Cambria Math" panose="02040503050406030204" pitchFamily="18" charset="0"/>
                  </a:rPr>
                  <a:t>$n=35$</a:t>
                </a:r>
                <a:r>
                  <a:rPr sz="2400" b="0">
                    <a:solidFill>
                      <a:srgbClr val="111827"/>
                    </a:solidFill>
                    <a:latin typeface="Arial"/>
                  </a:rPr>
                  <a:t> and </a:t>
                </a:r>
                <a:r>
                  <a:rPr lang="en-IN" sz="2400">
                    <a:solidFill>
                      <a:srgbClr val="111827"/>
                    </a:solidFill>
                    <a:latin typeface="Cambria Math" panose="02040503050406030204" pitchFamily="18" charset="0"/>
                  </a:rPr>
                  <a:t>$\frac n7=5$</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5</a:t>
            </a:r>
            <a:endParaRPr sz="2800">
              <a:solidFill>
                <a:srgbClr val="15803D"/>
              </a:solidFill>
            </a:endParaRPr>
          </a:p>
        </p:txBody>
      </p:sp>
    </p:spTree>
  </p:cSld>
  <p:clrMapOvr>
    <a:masterClrMapping/>
  </p:clrMapOvr>
</p:sld>
</file>

<file path=ppt/slides/slide4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Positive integer solutions of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oMath>
                </a14:m>
                <a:r>
                  <a:rPr sz="2400" b="0">
                    <a:solidFill>
                      <a:srgbClr val="111827"/>
                    </a:solidFill>
                    <a:latin typeface="Arial"/>
                  </a:rPr>
                  <a:t>; non-negative: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Lattice points strictly inside the simplex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𝑁</m:t>
                    </m:r>
                  </m:oMath>
                </a14:m>
                <a:r>
                  <a:rPr sz="2400" b="0">
                    <a:solidFill>
                      <a:srgbClr val="111827"/>
                    </a:solidFill>
                    <a:latin typeface="Arial"/>
                  </a:rPr>
                  <a:t> number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strict inequality is turned into an equation by a positive slack variable.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Positive integer solutions of </a:t>
                </a:r>
                <a:r>
                  <a:rPr lang="en-IN" sz="2400">
                    <a:solidFill>
                      <a:srgbClr val="111827"/>
                    </a:solidFill>
                    <a:latin typeface="Cambria Math" panose="02040503050406030204" pitchFamily="18" charset="0"/>
                  </a:rPr>
                  <a:t>$x_1+\dots+x_k=N$</a:t>
                </a:r>
                <a:r>
                  <a:rPr sz="2400" b="0">
                    <a:solidFill>
                      <a:srgbClr val="111827"/>
                    </a:solidFill>
                    <a:latin typeface="Arial"/>
                  </a:rPr>
                  <a:t>: </a:t>
                </a:r>
                <a:r>
                  <a:rPr lang="en-IN" sz="2400">
                    <a:solidFill>
                      <a:srgbClr val="111827"/>
                    </a:solidFill>
                    <a:latin typeface="Cambria Math" panose="02040503050406030204" pitchFamily="18" charset="0"/>
                  </a:rPr>
                  <a:t>$\binom{N-1}{k-1}$</a:t>
                </a:r>
                <a:r>
                  <a:rPr sz="2400" b="0">
                    <a:solidFill>
                      <a:srgbClr val="111827"/>
                    </a:solidFill>
                    <a:latin typeface="Arial"/>
                  </a:rPr>
                  <a:t>; non-negative: </a:t>
                </a:r>
                <a:r>
                  <a:rPr lang="en-IN" sz="2400">
                    <a:solidFill>
                      <a:srgbClr val="111827"/>
                    </a:solidFill>
                    <a:latin typeface="Cambria Math" panose="02040503050406030204" pitchFamily="18" charset="0"/>
                  </a:rPr>
                  <a:t>$\binom{N+k-1}{k-1}$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Lattice points strictly inside the simplex </a:t>
                </a:r>
                <a:r>
                  <a:rPr lang="en-IN" sz="2400">
                    <a:solidFill>
                      <a:srgbClr val="111827"/>
                    </a:solidFill>
                    <a:latin typeface="Cambria Math" panose="02040503050406030204" pitchFamily="18" charset="0"/>
                  </a:rPr>
                  <a:t>$x,y,z&gt;0,\ x+y+z&lt;N$</a:t>
                </a:r>
                <a:r>
                  <a:rPr sz="2400" b="0">
                    <a:solidFill>
                      <a:srgbClr val="111827"/>
                    </a:solidFill>
                    <a:latin typeface="Arial"/>
                  </a:rPr>
                  <a:t> number </a:t>
                </a:r>
                <a:r>
                  <a:rPr lang="en-IN" sz="2400">
                    <a:solidFill>
                      <a:srgbClr val="111827"/>
                    </a:solidFill>
                    <a:latin typeface="Cambria Math" panose="02040503050406030204" pitchFamily="18" charset="0"/>
                  </a:rPr>
                  <a:t>$\binom{N-1}{3}$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strict inequality is turned into an equation by a positive slack variable.</a:t>
                </a:r>
                <a:endParaRPr sz="2400">
                  <a:solidFill>
                    <a:srgbClr val="111827"/>
                  </a:solidFill>
                </a:endParaRPr>
              </a:p>
            </p:txBody>
          </p:sp>
        </mc:Fallback>
      </mc:AlternateContent>
    </p:spTree>
  </p:cSld>
  <p:clrMapOvr>
    <a:masterClrMapping/>
  </p:clrMapOvr>
</p:sld>
</file>

<file path=ppt/slides/slide4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9286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two straight lines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oMath>
                </a14:m>
                <a:r>
                  <a:rPr sz="2400" b="0">
                    <a:solidFill>
                      <a:srgbClr val="111827"/>
                    </a:solidFill>
                    <a:latin typeface="Arial"/>
                  </a:rPr>
                  <a:t>. Let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be the variable on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respectively and point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divides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in the ratio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internally. If point </a:t>
                </a: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moves in a plane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then value of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29286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two straight lines </a:t>
                </a:r>
                <a:r>
                  <a:rPr lang="en-IN" sz="2400">
                    <a:solidFill>
                      <a:srgbClr val="111827"/>
                    </a:solidFill>
                    <a:latin typeface="Cambria Math" panose="02040503050406030204" pitchFamily="18" charset="0"/>
                  </a:rPr>
                  <a:t>$L_1:\ \frac{x-2}{-1}=\frac{y-2}{1}=\frac{z-4}{2}$</a:t>
                </a:r>
                <a:r>
                  <a:rPr sz="2400" b="0">
                    <a:solidFill>
                      <a:srgbClr val="111827"/>
                    </a:solidFill>
                    <a:latin typeface="Arial"/>
                  </a:rPr>
                  <a:t> and </a:t>
                </a:r>
                <a:r>
                  <a:rPr lang="en-IN" sz="2400">
                    <a:solidFill>
                      <a:srgbClr val="111827"/>
                    </a:solidFill>
                    <a:latin typeface="Cambria Math" panose="02040503050406030204" pitchFamily="18" charset="0"/>
                  </a:rPr>
                  <a:t>$L_2:\ \frac{x-0}{1}=\frac{y+1}{2}=\frac{z-3}{-2}$</a:t>
                </a:r>
                <a:r>
                  <a:rPr sz="2400" b="0">
                    <a:solidFill>
                      <a:srgbClr val="111827"/>
                    </a:solidFill>
                    <a:latin typeface="Arial"/>
                  </a:rPr>
                  <a:t>. Let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be the variable on </a:t>
                </a:r>
                <a:r>
                  <a:rPr lang="en-IN" sz="2400">
                    <a:solidFill>
                      <a:srgbClr val="111827"/>
                    </a:solidFill>
                    <a:latin typeface="Cambria Math" panose="02040503050406030204" pitchFamily="18" charset="0"/>
                  </a:rPr>
                  <a:t>$L_1$</a:t>
                </a:r>
                <a:r>
                  <a:rPr sz="2400" b="0">
                    <a:solidFill>
                      <a:srgbClr val="111827"/>
                    </a:solidFill>
                    <a:latin typeface="Arial"/>
                  </a:rPr>
                  <a:t> and </a:t>
                </a:r>
                <a:r>
                  <a:rPr lang="en-IN" sz="2400">
                    <a:solidFill>
                      <a:srgbClr val="111827"/>
                    </a:solidFill>
                    <a:latin typeface="Cambria Math" panose="02040503050406030204" pitchFamily="18" charset="0"/>
                  </a:rPr>
                  <a:t>$L_2$</a:t>
                </a:r>
                <a:r>
                  <a:rPr sz="2400" b="0">
                    <a:solidFill>
                      <a:srgbClr val="111827"/>
                    </a:solidFill>
                    <a:latin typeface="Arial"/>
                  </a:rPr>
                  <a:t> respectively and point </a:t>
                </a:r>
                <a:r>
                  <a:rPr lang="en-IN" sz="2400">
                    <a:solidFill>
                      <a:srgbClr val="111827"/>
                    </a:solidFill>
                    <a:latin typeface="Cambria Math" panose="02040503050406030204" pitchFamily="18" charset="0"/>
                  </a:rPr>
                  <a:t>$M$</a:t>
                </a:r>
                <a:r>
                  <a:rPr sz="2400" b="0">
                    <a:solidFill>
                      <a:srgbClr val="111827"/>
                    </a:solidFill>
                    <a:latin typeface="Arial"/>
                  </a:rPr>
                  <a:t> divides </a:t>
                </a:r>
                <a:r>
                  <a:rPr lang="en-IN" sz="2400">
                    <a:solidFill>
                      <a:srgbClr val="111827"/>
                    </a:solidFill>
                    <a:latin typeface="Cambria Math" panose="02040503050406030204" pitchFamily="18" charset="0"/>
                  </a:rPr>
                  <a:t>$PQ$</a:t>
                </a:r>
                <a:r>
                  <a:rPr sz="2400" b="0">
                    <a:solidFill>
                      <a:srgbClr val="111827"/>
                    </a:solidFill>
                    <a:latin typeface="Arial"/>
                  </a:rPr>
                  <a:t> in the ratio </a:t>
                </a:r>
                <a:r>
                  <a:rPr lang="en-IN" sz="2400">
                    <a:solidFill>
                      <a:srgbClr val="111827"/>
                    </a:solidFill>
                    <a:latin typeface="Cambria Math" panose="02040503050406030204" pitchFamily="18" charset="0"/>
                  </a:rPr>
                  <a:t>$2:3$</a:t>
                </a:r>
                <a:r>
                  <a:rPr sz="2400" b="0">
                    <a:solidFill>
                      <a:srgbClr val="111827"/>
                    </a:solidFill>
                    <a:latin typeface="Arial"/>
                  </a:rPr>
                  <a:t> internally. If point </a:t>
                </a:r>
                <a:r>
                  <a:rPr lang="en-IN" sz="2400">
                    <a:solidFill>
                      <a:srgbClr val="111827"/>
                    </a:solidFill>
                    <a:latin typeface="Cambria Math" panose="02040503050406030204" pitchFamily="18" charset="0"/>
                  </a:rPr>
                  <a:t>$M$</a:t>
                </a:r>
                <a:r>
                  <a:rPr sz="2400" b="0">
                    <a:solidFill>
                      <a:srgbClr val="111827"/>
                    </a:solidFill>
                    <a:latin typeface="Arial"/>
                  </a:rPr>
                  <a:t> moves in a plane </a:t>
                </a:r>
                <a:r>
                  <a:rPr lang="en-IN" sz="2400">
                    <a:solidFill>
                      <a:srgbClr val="111827"/>
                    </a:solidFill>
                    <a:latin typeface="Cambria Math" panose="02040503050406030204" pitchFamily="18" charset="0"/>
                  </a:rPr>
                  <a:t>$ax+bz=6$</a:t>
                </a:r>
                <a:r>
                  <a:rPr sz="2400" b="0">
                    <a:solidFill>
                      <a:srgbClr val="111827"/>
                    </a:solidFill>
                    <a:latin typeface="Arial"/>
                  </a:rPr>
                  <a:t>, then value of </a:t>
                </a:r>
                <a:r>
                  <a:rPr lang="en-IN" sz="2400">
                    <a:solidFill>
                      <a:srgbClr val="111827"/>
                    </a:solidFill>
                    <a:latin typeface="Cambria Math" panose="02040503050406030204" pitchFamily="18" charset="0"/>
                  </a:rPr>
                  <a:t>$a+b$</a:t>
                </a:r>
                <a:r>
                  <a:rPr sz="2400" b="0">
                    <a:solidFill>
                      <a:srgbClr val="111827"/>
                    </a:solidFill>
                    <a:latin typeface="Arial"/>
                  </a:rPr>
                  <a:t> is ________.</a:t>
                </a:r>
                <a:endParaRPr sz="2400">
                  <a:solidFill>
                    <a:srgbClr val="111827"/>
                  </a:solidFill>
                </a:endParaRPr>
              </a:p>
            </p:txBody>
          </p:sp>
        </mc:Fallback>
      </mc:AlternateContent>
      <p:sp>
        <p:nvSpPr>
          <p:cNvPr id="5" name="Rectangle 4"/>
          <p:cNvSpPr/>
          <p:nvPr/>
        </p:nvSpPr>
        <p:spPr>
          <a:xfrm>
            <a:off x="731520" y="443738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Locus of a point dividing a segment between two lines, Equation of a plane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𝑀</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𝑄</m:t>
                        </m:r>
                      </m:num>
                      <m:den>
                        <m:r>
                          <a:rPr lang="en-IN" sz="2400" i="1">
                            <a:solidFill>
                              <a:srgbClr val="78350F"/>
                            </a:solidFill>
                            <a:latin typeface="Cambria Math" panose="02040503050406030204" pitchFamily="18" charset="0"/>
                          </a:rPr>
                          <m:t>5</m:t>
                        </m:r>
                      </m:den>
                    </m:f>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𝑄</m:t>
                    </m:r>
                  </m:oMath>
                </a14:m>
                <a:r>
                  <a:rPr sz="2400" b="0">
                    <a:solidFill>
                      <a:srgbClr val="78350F"/>
                    </a:solidFill>
                    <a:latin typeface="Arial"/>
                  </a:rPr>
                  <a:t> on two lines is a point of the plane through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sSub>
                          <m:e>
                            <m:r>
                              <a:rPr lang="en-IN" sz="2400" i="1">
                                <a:solidFill>
                                  <a:srgbClr val="78350F"/>
                                </a:solidFill>
                                <a:latin typeface="Cambria Math" panose="02040503050406030204" pitchFamily="18" charset="0"/>
                              </a:rPr>
                              <m:t>𝑃</m:t>
                            </m:r>
                          </m:e>
                          <m:sub>
                            <m:r>
                              <a:rPr lang="en-IN" sz="2400" i="1">
                                <a:solidFill>
                                  <a:srgbClr val="78350F"/>
                                </a:solidFill>
                                <a:latin typeface="Cambria Math" panose="02040503050406030204" pitchFamily="18" charset="0"/>
                              </a:rPr>
                              <m:t>0</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Sub>
                          <m:e>
                            <m:r>
                              <a:rPr lang="en-IN" sz="2400" i="1">
                                <a:solidFill>
                                  <a:srgbClr val="78350F"/>
                                </a:solidFill>
                                <a:latin typeface="Cambria Math" panose="02040503050406030204" pitchFamily="18" charset="0"/>
                              </a:rPr>
                              <m:t>𝑄</m:t>
                            </m:r>
                          </m:e>
                          <m:sub>
                            <m:r>
                              <a:rPr lang="en-IN" sz="2400" i="1">
                                <a:solidFill>
                                  <a:srgbClr val="78350F"/>
                                </a:solidFill>
                                <a:latin typeface="Cambria Math" panose="02040503050406030204" pitchFamily="18" charset="0"/>
                              </a:rPr>
                              <m:t>0</m:t>
                            </m:r>
                          </m:sub>
                        </m:sSub>
                      </m:num>
                      <m:den>
                        <m:r>
                          <a:rPr lang="en-IN" sz="2400" i="1">
                            <a:solidFill>
                              <a:srgbClr val="78350F"/>
                            </a:solidFill>
                            <a:latin typeface="Cambria Math" panose="02040503050406030204" pitchFamily="18" charset="0"/>
                          </a:rPr>
                          <m:t>5</m:t>
                        </m:r>
                      </m:den>
                    </m:f>
                  </m:oMath>
                </a14:m>
                <a:r>
                  <a:rPr sz="2400" b="0">
                    <a:solidFill>
                      <a:srgbClr val="78350F"/>
                    </a:solidFill>
                    <a:latin typeface="Arial"/>
                  </a:rPr>
                  <a:t> spanned by the two directions.</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$M=\frac{3P+2Q}{5}$</a:t>
                </a:r>
                <a:r>
                  <a:rPr sz="2400" b="0">
                    <a:solidFill>
                      <a:srgbClr val="78350F"/>
                    </a:solidFill>
                    <a:latin typeface="Arial"/>
                  </a:rPr>
                  <a:t> with </a:t>
                </a:r>
                <a:r>
                  <a:rPr lang="en-IN" sz="2400">
                    <a:solidFill>
                      <a:srgbClr val="78350F"/>
                    </a:solidFill>
                    <a:latin typeface="Cambria Math" panose="02040503050406030204" pitchFamily="18" charset="0"/>
                  </a:rPr>
                  <a:t>$P,Q$</a:t>
                </a:r>
                <a:r>
                  <a:rPr sz="2400" b="0">
                    <a:solidFill>
                      <a:srgbClr val="78350F"/>
                    </a:solidFill>
                    <a:latin typeface="Arial"/>
                  </a:rPr>
                  <a:t> on two lines is a point of the plane through </a:t>
                </a:r>
                <a:r>
                  <a:rPr lang="en-IN" sz="2400">
                    <a:solidFill>
                      <a:srgbClr val="78350F"/>
                    </a:solidFill>
                    <a:latin typeface="Cambria Math" panose="02040503050406030204" pitchFamily="18" charset="0"/>
                  </a:rPr>
                  <a:t>$\frac{3P_0+2Q_0}{5}$</a:t>
                </a:r>
                <a:r>
                  <a:rPr sz="2400" b="0">
                    <a:solidFill>
                      <a:srgbClr val="78350F"/>
                    </a:solidFill>
                    <a:latin typeface="Arial"/>
                  </a:rPr>
                  <a:t> spanned by the two directions.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a:t>
                </a:r>
                <a14:m>
                  <m:oMath xmlns:m="http://schemas.openxmlformats.org/officeDocument/2006/math">
                    <m:sSub>
                      <m:e>
                        <m:r>
                          <a:rPr lang="en-IN" sz="2400" i="1">
                            <a:solidFill>
                              <a:srgbClr val="111827"/>
                            </a:solidFill>
                            <a:latin typeface="Cambria Math" panose="02040503050406030204" pitchFamily="18" charset="0"/>
                          </a:rPr>
                          <m:t>𝐿</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𝑀</m:t>
                    </m:r>
                  </m:oMath>
                </a14:m>
                <a:r>
                  <a:rPr sz="2400" b="0">
                    <a:solidFill>
                      <a:srgbClr val="111827"/>
                    </a:solidFill>
                    <a:latin typeface="Arial"/>
                  </a:rPr>
                  <a:t> divides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𝑄</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μ</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μ</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μ</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Eliminate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μ</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$P=(2-\lambda,\ 2+\lambda,\ 4+2\lambda)$</a:t>
                </a:r>
                <a:r>
                  <a:rPr sz="2400" b="0">
                    <a:solidFill>
                      <a:srgbClr val="111827"/>
                    </a:solidFill>
                    <a:latin typeface="Arial"/>
                  </a:rPr>
                  <a:t> on </a:t>
                </a:r>
                <a:r>
                  <a:rPr lang="en-IN" sz="2400">
                    <a:solidFill>
                      <a:srgbClr val="111827"/>
                    </a:solidFill>
                    <a:latin typeface="Cambria Math" panose="02040503050406030204" pitchFamily="18" charset="0"/>
                  </a:rPr>
                  <a:t>$L_1$</a:t>
                </a:r>
                <a:r>
                  <a:rPr sz="2400" b="0">
                    <a:solidFill>
                      <a:srgbClr val="111827"/>
                    </a:solidFill>
                    <a:latin typeface="Arial"/>
                  </a:rPr>
                  <a:t> and </a:t>
                </a:r>
                <a:r>
                  <a:rPr lang="en-IN" sz="2400">
                    <a:solidFill>
                      <a:srgbClr val="111827"/>
                    </a:solidFill>
                    <a:latin typeface="Cambria Math" panose="02040503050406030204" pitchFamily="18" charset="0"/>
                  </a:rPr>
                  <a:t>$Q=(\mu,\ -1+2\mu,\ 3-2\mu)$</a:t>
                </a:r>
                <a:r>
                  <a:rPr sz="2400" b="0">
                    <a:solidFill>
                      <a:srgbClr val="111827"/>
                    </a:solidFill>
                    <a:latin typeface="Arial"/>
                  </a:rPr>
                  <a:t> on </a:t>
                </a:r>
                <a:r>
                  <a:rPr lang="en-IN" sz="2400">
                    <a:solidFill>
                      <a:srgbClr val="111827"/>
                    </a:solidFill>
                    <a:latin typeface="Cambria Math" panose="02040503050406030204" pitchFamily="18" charset="0"/>
                  </a:rPr>
                  <a:t>$L_2$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a:t>
                </a:r>
                <a:r>
                  <a:rPr sz="2400" b="0">
                    <a:solidFill>
                      <a:srgbClr val="111827"/>
                    </a:solidFill>
                    <a:latin typeface="Arial"/>
                  </a:rPr>
                  <a:t> divides </a:t>
                </a:r>
                <a:r>
                  <a:rPr lang="en-IN" sz="2400">
                    <a:solidFill>
                      <a:srgbClr val="111827"/>
                    </a:solidFill>
                    <a:latin typeface="Cambria Math" panose="02040503050406030204" pitchFamily="18" charset="0"/>
                  </a:rPr>
                  <a:t>$PQ$</a:t>
                </a:r>
                <a:r>
                  <a:rPr sz="2400" b="0">
                    <a:solidFill>
                      <a:srgbClr val="111827"/>
                    </a:solidFill>
                    <a:latin typeface="Arial"/>
                  </a:rPr>
                  <a:t> in </a:t>
                </a:r>
                <a:r>
                  <a:rPr lang="en-IN" sz="2400">
                    <a:solidFill>
                      <a:srgbClr val="111827"/>
                    </a:solidFill>
                    <a:latin typeface="Cambria Math" panose="02040503050406030204" pitchFamily="18" charset="0"/>
                  </a:rPr>
                  <a:t>$2:3$</a:t>
                </a:r>
                <a:r>
                  <a:rPr sz="2400" b="0">
                    <a:solidFill>
                      <a:srgbClr val="111827"/>
                    </a:solidFill>
                    <a:latin typeface="Arial"/>
                  </a:rPr>
                  <a:t>: </a:t>
                </a:r>
                <a:r>
                  <a:rPr lang="en-IN" sz="2400">
                    <a:solidFill>
                      <a:srgbClr val="111827"/>
                    </a:solidFill>
                    <a:latin typeface="Cambria Math" panose="02040503050406030204" pitchFamily="18" charset="0"/>
                  </a:rPr>
                  <a:t>$M=\frac{3P+2Q}{5}=(u,v,w)$</a:t>
                </a:r>
                <a:r>
                  <a:rPr sz="2400" b="0">
                    <a:solidFill>
                      <a:srgbClr val="111827"/>
                    </a:solidFill>
                    <a:latin typeface="Arial"/>
                  </a:rPr>
                  <a:t> with </a:t>
                </a:r>
                <a:r>
                  <a:rPr lang="en-IN" sz="2400">
                    <a:solidFill>
                      <a:srgbClr val="111827"/>
                    </a:solidFill>
                    <a:latin typeface="Cambria Math" panose="02040503050406030204" pitchFamily="18" charset="0"/>
                  </a:rPr>
                  <a:t>$5u=6-3\lambda+2\mu$</a:t>
                </a:r>
                <a:r>
                  <a:rPr sz="2400" b="0">
                    <a:solidFill>
                      <a:srgbClr val="111827"/>
                    </a:solidFill>
                    <a:latin typeface="Arial"/>
                  </a:rPr>
                  <a:t>, </a:t>
                </a:r>
                <a:r>
                  <a:rPr lang="en-IN" sz="2400">
                    <a:solidFill>
                      <a:srgbClr val="111827"/>
                    </a:solidFill>
                    <a:latin typeface="Cambria Math" panose="02040503050406030204" pitchFamily="18" charset="0"/>
                  </a:rPr>
                  <a:t>$\ 5v=4+3\lambda+4\mu$</a:t>
                </a:r>
                <a:r>
                  <a:rPr sz="2400" b="0">
                    <a:solidFill>
                      <a:srgbClr val="111827"/>
                    </a:solidFill>
                    <a:latin typeface="Arial"/>
                  </a:rPr>
                  <a:t>, </a:t>
                </a:r>
                <a:r>
                  <a:rPr lang="en-IN" sz="2400">
                    <a:solidFill>
                      <a:srgbClr val="111827"/>
                    </a:solidFill>
                    <a:latin typeface="Cambria Math" panose="02040503050406030204" pitchFamily="18" charset="0"/>
                  </a:rPr>
                  <a:t>$\ 5w=18+6\lambda-4\mu$</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Eliminate </a:t>
                </a:r>
                <a:r>
                  <a:rPr lang="en-IN" sz="2400">
                    <a:solidFill>
                      <a:srgbClr val="111827"/>
                    </a:solidFill>
                    <a:latin typeface="Cambria Math" panose="02040503050406030204" pitchFamily="18" charset="0"/>
                  </a:rPr>
                  <a:t>$\lambda$</a:t>
                </a:r>
                <a:r>
                  <a:rPr sz="2400" b="0">
                    <a:solidFill>
                      <a:srgbClr val="111827"/>
                    </a:solidFill>
                    <a:latin typeface="Arial"/>
                  </a:rPr>
                  <a:t> and </a:t>
                </a:r>
                <a:r>
                  <a:rPr lang="en-IN" sz="2400">
                    <a:solidFill>
                      <a:srgbClr val="111827"/>
                    </a:solidFill>
                    <a:latin typeface="Cambria Math" panose="02040503050406030204" pitchFamily="18" charset="0"/>
                  </a:rPr>
                  <a:t>$\mu$</a:t>
                </a:r>
                <a:r>
                  <a:rPr sz="2400" b="0">
                    <a:solidFill>
                      <a:srgbClr val="111827"/>
                    </a:solidFill>
                    <a:latin typeface="Arial"/>
                  </a:rPr>
                  <a:t>: </a:t>
                </a:r>
                <a:r>
                  <a:rPr lang="en-IN" sz="2400">
                    <a:solidFill>
                      <a:srgbClr val="111827"/>
                    </a:solidFill>
                    <a:latin typeface="Cambria Math" panose="02040503050406030204" pitchFamily="18" charset="0"/>
                  </a:rPr>
                  <a:t>$2(5u)+5w=12-6\lambda+4\mu+18+6\lambda-4\mu=30$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moves on the plane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(the PDF's last line misprints this as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with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$10u+5w=30\Rightarrow2u+w=6$</a:t>
                </a:r>
                <a:r>
                  <a:rPr sz="2400" b="0">
                    <a:solidFill>
                      <a:srgbClr val="111827"/>
                    </a:solidFill>
                    <a:latin typeface="Arial"/>
                  </a:rPr>
                  <a:t>: </a:t>
                </a:r>
                <a:r>
                  <a:rPr lang="en-IN" sz="2400">
                    <a:solidFill>
                      <a:srgbClr val="111827"/>
                    </a:solidFill>
                    <a:latin typeface="Cambria Math" panose="02040503050406030204" pitchFamily="18" charset="0"/>
                  </a:rPr>
                  <a:t>$M(u,v,w)$</a:t>
                </a:r>
                <a:r>
                  <a:rPr sz="2400" b="0">
                    <a:solidFill>
                      <a:srgbClr val="111827"/>
                    </a:solidFill>
                    <a:latin typeface="Arial"/>
                  </a:rPr>
                  <a:t> moves on the plane </a:t>
                </a:r>
                <a:r>
                  <a:rPr lang="en-IN" sz="2400">
                    <a:solidFill>
                      <a:srgbClr val="111827"/>
                    </a:solidFill>
                    <a:latin typeface="Cambria Math" panose="02040503050406030204" pitchFamily="18" charset="0"/>
                  </a:rPr>
                  <a:t>$2x+z=6$</a:t>
                </a:r>
                <a:r>
                  <a:rPr sz="2400" b="0">
                    <a:solidFill>
                      <a:srgbClr val="111827"/>
                    </a:solidFill>
                    <a:latin typeface="Arial"/>
                  </a:rPr>
                  <a:t> (the PDF's last line misprints this as </a:t>
                </a:r>
                <a:r>
                  <a:rPr lang="en-IN" sz="2400">
                    <a:solidFill>
                      <a:srgbClr val="111827"/>
                    </a:solidFill>
                    <a:latin typeface="Cambria Math" panose="02040503050406030204" pitchFamily="18" charset="0"/>
                  </a:rPr>
                  <a:t>$w+2\mu=6$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with </a:t>
                </a:r>
                <a:r>
                  <a:rPr lang="en-IN" sz="2400">
                    <a:solidFill>
                      <a:srgbClr val="111827"/>
                    </a:solidFill>
                    <a:latin typeface="Cambria Math" panose="02040503050406030204" pitchFamily="18" charset="0"/>
                  </a:rPr>
                  <a:t>$ax+bz=6$</a:t>
                </a:r>
                <a:r>
                  <a:rPr sz="2400" b="0">
                    <a:solidFill>
                      <a:srgbClr val="111827"/>
                    </a:solidFill>
                    <a:latin typeface="Arial"/>
                  </a:rPr>
                  <a:t>: </a:t>
                </a:r>
                <a:r>
                  <a:rPr lang="en-IN" sz="2400">
                    <a:solidFill>
                      <a:srgbClr val="111827"/>
                    </a:solidFill>
                    <a:latin typeface="Cambria Math" panose="02040503050406030204" pitchFamily="18" charset="0"/>
                  </a:rPr>
                  <a:t>$a=2,\ b=1$</a:t>
                </a:r>
                <a:r>
                  <a:rPr sz="2400" b="0">
                    <a:solidFill>
                      <a:srgbClr val="111827"/>
                    </a:solidFill>
                    <a:latin typeface="Arial"/>
                  </a:rPr>
                  <a:t>, so </a:t>
                </a:r>
                <a:r>
                  <a:rPr lang="en-IN" sz="2400">
                    <a:solidFill>
                      <a:srgbClr val="111827"/>
                    </a:solidFill>
                    <a:latin typeface="Cambria Math" panose="02040503050406030204" pitchFamily="18" charset="0"/>
                  </a:rPr>
                  <a:t>$a+b=3$</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3</a:t>
            </a:r>
            <a:endParaRPr sz="2800">
              <a:solidFill>
                <a:srgbClr val="15803D"/>
              </a:solidFill>
            </a:endParaRPr>
          </a:p>
        </p:txBody>
      </p:sp>
    </p:spTree>
  </p:cSld>
  <p:clrMapOvr>
    <a:masterClrMapping/>
  </p:clrMapOvr>
</p:sld>
</file>

<file path=ppt/slides/slide4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locus of </a:t>
                </a:r>
                <a14:m>
                  <m:oMath xmlns:m="http://schemas.openxmlformats.org/officeDocument/2006/math">
                    <m:r>
                      <a:rPr lang="en-IN" sz="2400" i="1">
                        <a:solidFill>
                          <a:srgbClr val="78350F"/>
                        </a:solidFill>
                        <a:latin typeface="Cambria Math" panose="02040503050406030204" pitchFamily="18" charset="0"/>
                      </a:rPr>
                      <m:t>𝑀</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𝑄</m:t>
                        </m:r>
                      </m:num>
                      <m:den>
                        <m:r>
                          <a:rPr lang="en-IN" sz="2400" i="1">
                            <a:solidFill>
                              <a:srgbClr val="78350F"/>
                            </a:solidFill>
                            <a:latin typeface="Cambria Math" panose="02040503050406030204" pitchFamily="18" charset="0"/>
                          </a:rPr>
                          <m:t>5</m:t>
                        </m:r>
                      </m:den>
                    </m:f>
                  </m:oMath>
                </a14:m>
                <a:r>
                  <a:rPr sz="2400" b="0">
                    <a:solidFill>
                      <a:srgbClr val="78350F"/>
                    </a:solidFill>
                    <a:latin typeface="Arial"/>
                  </a:rPr>
                  <a:t> is the plane through the point </a:t>
                </a:r>
                <a14:m>
                  <m:oMath xmlns:m="http://schemas.openxmlformats.org/officeDocument/2006/math">
                    <m:sSub>
                      <m:e>
                        <m:r>
                          <a:rPr lang="en-IN" sz="2400" i="1">
                            <a:solidFill>
                              <a:srgbClr val="78350F"/>
                            </a:solidFill>
                            <a:latin typeface="Cambria Math" panose="02040503050406030204" pitchFamily="18" charset="0"/>
                          </a:rPr>
                          <m:t>𝑀</m:t>
                        </m:r>
                      </m:e>
                      <m:sub>
                        <m:r>
                          <a:rPr lang="en-IN" sz="2400" i="1">
                            <a:solidFill>
                              <a:srgbClr val="78350F"/>
                            </a:solidFill>
                            <a:latin typeface="Cambria Math" panose="02040503050406030204" pitchFamily="18" charset="0"/>
                          </a:rPr>
                          <m:t>0</m:t>
                        </m:r>
                      </m:sub>
                    </m:sSub>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sSub>
                          <m:e>
                            <m:r>
                              <a:rPr lang="en-IN" sz="2400" i="1">
                                <a:solidFill>
                                  <a:srgbClr val="78350F"/>
                                </a:solidFill>
                                <a:latin typeface="Cambria Math" panose="02040503050406030204" pitchFamily="18" charset="0"/>
                              </a:rPr>
                              <m:t>𝑃</m:t>
                            </m:r>
                          </m:e>
                          <m:sub>
                            <m:r>
                              <a:rPr lang="en-IN" sz="2400" i="1">
                                <a:solidFill>
                                  <a:srgbClr val="78350F"/>
                                </a:solidFill>
                                <a:latin typeface="Cambria Math" panose="02040503050406030204" pitchFamily="18" charset="0"/>
                              </a:rPr>
                              <m:t>0</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Sub>
                          <m:e>
                            <m:r>
                              <a:rPr lang="en-IN" sz="2400" i="1">
                                <a:solidFill>
                                  <a:srgbClr val="78350F"/>
                                </a:solidFill>
                                <a:latin typeface="Cambria Math" panose="02040503050406030204" pitchFamily="18" charset="0"/>
                              </a:rPr>
                              <m:t>𝑄</m:t>
                            </m:r>
                          </m:e>
                          <m:sub>
                            <m:r>
                              <a:rPr lang="en-IN" sz="2400" i="1">
                                <a:solidFill>
                                  <a:srgbClr val="78350F"/>
                                </a:solidFill>
                                <a:latin typeface="Cambria Math" panose="02040503050406030204" pitchFamily="18" charset="0"/>
                              </a:rPr>
                              <m:t>0</m:t>
                            </m:r>
                          </m:sub>
                        </m:sSub>
                      </m:num>
                      <m:den>
                        <m:r>
                          <a:rPr lang="en-IN" sz="2400" i="1">
                            <a:solidFill>
                              <a:srgbClr val="78350F"/>
                            </a:solidFill>
                            <a:latin typeface="Cambria Math" panose="02040503050406030204" pitchFamily="18" charset="0"/>
                          </a:rPr>
                          <m:t>5</m:t>
                        </m:r>
                      </m:den>
                    </m:f>
                  </m:oMath>
                </a14:m>
                <a:r>
                  <a:rPr sz="2400" b="0">
                    <a:solidFill>
                      <a:srgbClr val="78350F"/>
                    </a:solidFill>
                    <a:latin typeface="Arial"/>
                  </a:rPr>
                  <a:t> spanned by the direction vectors of the two lines.</a:t>
                </a:r>
                <a:endParaRPr sz="2400">
                  <a:solidFill>
                    <a:srgbClr val="78350F"/>
                  </a:solidFill>
                </a:endParaRPr>
              </a:p>
            </p:txBody>
          </p:sp>
        </mc:Choice>
        <mc:Fallback>
          <p:sp>
            <p:nvSpPr>
              <p:cNvPr id="5" name="Rounded Rectangle 4"/>
              <p:cNvSpPr/>
              <p:nvPr/>
            </p:nvSpPr>
            <p:spPr>
              <a:xfrm>
                <a:off x="731520" y="128016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locus of </a:t>
                </a:r>
                <a:r>
                  <a:rPr lang="en-IN" sz="2400">
                    <a:solidFill>
                      <a:srgbClr val="78350F"/>
                    </a:solidFill>
                    <a:latin typeface="Cambria Math" panose="02040503050406030204" pitchFamily="18" charset="0"/>
                  </a:rPr>
                  <a:t>$M=\frac{3P+2Q}{5}$</a:t>
                </a:r>
                <a:r>
                  <a:rPr sz="2400" b="0">
                    <a:solidFill>
                      <a:srgbClr val="78350F"/>
                    </a:solidFill>
                    <a:latin typeface="Arial"/>
                  </a:rPr>
                  <a:t> is the plane through the point </a:t>
                </a:r>
                <a:r>
                  <a:rPr lang="en-IN" sz="2400">
                    <a:solidFill>
                      <a:srgbClr val="78350F"/>
                    </a:solidFill>
                    <a:latin typeface="Cambria Math" panose="02040503050406030204" pitchFamily="18" charset="0"/>
                  </a:rPr>
                  <a:t>$M_0=\frac{3P_0+2Q_0}{5}$</a:t>
                </a:r>
                <a:r>
                  <a:rPr sz="2400" b="0">
                    <a:solidFill>
                      <a:srgbClr val="78350F"/>
                    </a:solidFill>
                    <a:latin typeface="Arial"/>
                  </a:rPr>
                  <a:t> spanned by the direction vectors of the two lines.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118103"/>
                <a:ext cx="10725912" cy="35570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𝑄</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m:t>
                            </m:r>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Directions: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normal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118103"/>
                <a:ext cx="10725912" cy="35570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$P_0=(2,2,4)$</a:t>
                </a:r>
                <a:r>
                  <a:rPr sz="2400" b="0">
                    <a:solidFill>
                      <a:srgbClr val="111827"/>
                    </a:solidFill>
                    <a:latin typeface="Arial"/>
                  </a:rPr>
                  <a:t>, </a:t>
                </a:r>
                <a:r>
                  <a:rPr lang="en-IN" sz="2400">
                    <a:solidFill>
                      <a:srgbClr val="111827"/>
                    </a:solidFill>
                    <a:latin typeface="Cambria Math" panose="02040503050406030204" pitchFamily="18" charset="0"/>
                  </a:rPr>
                  <a:t>$Q_0=(0,-1,3)$</a:t>
                </a:r>
                <a:r>
                  <a:rPr sz="2400" b="0">
                    <a:solidFill>
                      <a:srgbClr val="111827"/>
                    </a:solidFill>
                    <a:latin typeface="Arial"/>
                  </a:rPr>
                  <a:t>, so </a:t>
                </a:r>
                <a:r>
                  <a:rPr lang="en-IN" sz="2400">
                    <a:solidFill>
                      <a:srgbClr val="111827"/>
                    </a:solidFill>
                    <a:latin typeface="Cambria Math" panose="02040503050406030204" pitchFamily="18" charset="0"/>
                  </a:rPr>
                  <a:t>$M_0=\frac{3(2,2,4)+2(0,-1,3)}{5}=\left(\frac65,\frac45,\frac{18}{5}\right)$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Directions: </a:t>
                </a:r>
                <a:r>
                  <a:rPr lang="en-IN" sz="2400">
                    <a:solidFill>
                      <a:srgbClr val="111827"/>
                    </a:solidFill>
                    <a:latin typeface="Cambria Math" panose="02040503050406030204" pitchFamily="18" charset="0"/>
                  </a:rPr>
                  <a:t>$\vec d_1=(-1,1,2)$</a:t>
                </a:r>
                <a:r>
                  <a:rPr sz="2400" b="0">
                    <a:solidFill>
                      <a:srgbClr val="111827"/>
                    </a:solidFill>
                    <a:latin typeface="Arial"/>
                  </a:rPr>
                  <a:t> and </a:t>
                </a:r>
                <a:r>
                  <a:rPr lang="en-IN" sz="2400">
                    <a:solidFill>
                      <a:srgbClr val="111827"/>
                    </a:solidFill>
                    <a:latin typeface="Cambria Math" panose="02040503050406030204" pitchFamily="18" charset="0"/>
                  </a:rPr>
                  <a:t>$\vec d_2=(1,2,-2)$</a:t>
                </a:r>
                <a:r>
                  <a:rPr sz="2400" b="0">
                    <a:solidFill>
                      <a:srgbClr val="111827"/>
                    </a:solidFill>
                    <a:latin typeface="Arial"/>
                  </a:rPr>
                  <a:t>, normal </a:t>
                </a:r>
                <a:r>
                  <a:rPr lang="en-IN" sz="2400">
                    <a:solidFill>
                      <a:srgbClr val="111827"/>
                    </a:solidFill>
                    <a:latin typeface="Cambria Math" panose="02040503050406030204" pitchFamily="18" charset="0"/>
                  </a:rPr>
                  <a:t>$\vec d_1\times\vec d_2=(-6,0,-3)\parallel(2,0,1)$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Plane: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Plane: </a:t>
                </a:r>
                <a:r>
                  <a:rPr lang="en-IN" sz="2400">
                    <a:solidFill>
                      <a:srgbClr val="111827"/>
                    </a:solidFill>
                    <a:latin typeface="Cambria Math" panose="02040503050406030204" pitchFamily="18" charset="0"/>
                  </a:rPr>
                  <a:t>$2x+z=2\cdot\frac65+\frac{18}{5}=6$</a:t>
                </a:r>
                <a:r>
                  <a:rPr sz="2400" b="0">
                    <a:solidFill>
                      <a:srgbClr val="111827"/>
                    </a:solidFill>
                    <a:latin typeface="Arial"/>
                  </a:rPr>
                  <a:t>, i.e. </a:t>
                </a:r>
                <a:r>
                  <a:rPr lang="en-IN" sz="2400">
                    <a:solidFill>
                      <a:srgbClr val="111827"/>
                    </a:solidFill>
                    <a:latin typeface="Cambria Math" panose="02040503050406030204" pitchFamily="18" charset="0"/>
                  </a:rPr>
                  <a:t>$ax+bz=6$</a:t>
                </a:r>
                <a:r>
                  <a:rPr sz="2400" b="0">
                    <a:solidFill>
                      <a:srgbClr val="111827"/>
                    </a:solidFill>
                    <a:latin typeface="Arial"/>
                  </a:rPr>
                  <a:t> with </a:t>
                </a:r>
                <a:r>
                  <a:rPr lang="en-IN" sz="2400">
                    <a:solidFill>
                      <a:srgbClr val="111827"/>
                    </a:solidFill>
                    <a:latin typeface="Cambria Math" panose="02040503050406030204" pitchFamily="18" charset="0"/>
                  </a:rPr>
                  <a:t>$a=2,b=1$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$a+b=3$</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3</a:t>
            </a:r>
            <a:endParaRPr sz="2800">
              <a:solidFill>
                <a:srgbClr val="15803D"/>
              </a:solidFill>
            </a:endParaRPr>
          </a:p>
        </p:txBody>
      </p:sp>
    </p:spTree>
  </p:cSld>
  <p:clrMapOvr>
    <a:masterClrMapping/>
  </p:clrMapOvr>
</p:sld>
</file>

<file path=ppt/slides/slide4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runs over a line with direction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over a line with direction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then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𝑃</m:t>
                        </m:r>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den>
                    </m:f>
                  </m:oMath>
                </a14:m>
                <a:r>
                  <a:rPr sz="2400" b="0">
                    <a:solidFill>
                      <a:srgbClr val="111827"/>
                    </a:solidFill>
                    <a:latin typeface="Arial"/>
                  </a:rPr>
                  <a:t> runs over the plane through the weighted point of the base points with directions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of that plane is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whatever the ratio; only the constant term depends on the ratio.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the locus plane is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(no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 the normal has zero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-component: a check on the computation.</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$P$</a:t>
                </a:r>
                <a:r>
                  <a:rPr sz="2400" b="0">
                    <a:solidFill>
                      <a:srgbClr val="111827"/>
                    </a:solidFill>
                    <a:latin typeface="Arial"/>
                  </a:rPr>
                  <a:t> runs over a line with direction </a:t>
                </a:r>
                <a:r>
                  <a:rPr lang="en-IN" sz="2400">
                    <a:solidFill>
                      <a:srgbClr val="111827"/>
                    </a:solidFill>
                    <a:latin typeface="Cambria Math" panose="02040503050406030204" pitchFamily="18" charset="0"/>
                  </a:rPr>
                  <a:t>$\vec d_1$</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over a line with direction </a:t>
                </a:r>
                <a:r>
                  <a:rPr lang="en-IN" sz="2400">
                    <a:solidFill>
                      <a:srgbClr val="111827"/>
                    </a:solidFill>
                    <a:latin typeface="Cambria Math" panose="02040503050406030204" pitchFamily="18" charset="0"/>
                  </a:rPr>
                  <a:t>$\vec d_2$</a:t>
                </a:r>
                <a:r>
                  <a:rPr sz="2400" b="0">
                    <a:solidFill>
                      <a:srgbClr val="111827"/>
                    </a:solidFill>
                    <a:latin typeface="Arial"/>
                  </a:rPr>
                  <a:t>, then </a:t>
                </a:r>
                <a:r>
                  <a:rPr lang="en-IN" sz="2400">
                    <a:solidFill>
                      <a:srgbClr val="111827"/>
                    </a:solidFill>
                    <a:latin typeface="Cambria Math" panose="02040503050406030204" pitchFamily="18" charset="0"/>
                  </a:rPr>
                  <a:t>$\frac{mQ+nP}{m+n}$</a:t>
                </a:r>
                <a:r>
                  <a:rPr sz="2400" b="0">
                    <a:solidFill>
                      <a:srgbClr val="111827"/>
                    </a:solidFill>
                    <a:latin typeface="Arial"/>
                  </a:rPr>
                  <a:t> runs over the plane through the weighted point of the base points with directions </a:t>
                </a:r>
                <a:r>
                  <a:rPr lang="en-IN" sz="2400">
                    <a:solidFill>
                      <a:srgbClr val="111827"/>
                    </a:solidFill>
                    <a:latin typeface="Cambria Math" panose="02040503050406030204" pitchFamily="18" charset="0"/>
                  </a:rPr>
                  <a:t>$\vec d_1,\vec d_2$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normal of that plane is </a:t>
                </a:r>
                <a:r>
                  <a:rPr lang="en-IN" sz="2400">
                    <a:solidFill>
                      <a:srgbClr val="111827"/>
                    </a:solidFill>
                    <a:latin typeface="Cambria Math" panose="02040503050406030204" pitchFamily="18" charset="0"/>
                  </a:rPr>
                  <a:t>$\vec d_1\times\vec d_2$</a:t>
                </a:r>
                <a:r>
                  <a:rPr sz="2400" b="0">
                    <a:solidFill>
                      <a:srgbClr val="111827"/>
                    </a:solidFill>
                    <a:latin typeface="Arial"/>
                  </a:rPr>
                  <a:t> whatever the ratio; only the constant term depends on the ratio.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the locus plane is </a:t>
                </a:r>
                <a:r>
                  <a:rPr lang="en-IN" sz="2400">
                    <a:solidFill>
                      <a:srgbClr val="111827"/>
                    </a:solidFill>
                    <a:latin typeface="Cambria Math" panose="02040503050406030204" pitchFamily="18" charset="0"/>
                  </a:rPr>
                  <a:t>$ax+bz=6$</a:t>
                </a:r>
                <a:r>
                  <a:rPr sz="2400" b="0">
                    <a:solidFill>
                      <a:srgbClr val="111827"/>
                    </a:solidFill>
                    <a:latin typeface="Arial"/>
                  </a:rPr>
                  <a:t> (no </a:t>
                </a:r>
                <a:r>
                  <a:rPr lang="en-IN" sz="2400">
                    <a:solidFill>
                      <a:srgbClr val="111827"/>
                    </a:solidFill>
                    <a:latin typeface="Cambria Math" panose="02040503050406030204" pitchFamily="18" charset="0"/>
                  </a:rPr>
                  <a:t>$y$</a:t>
                </a:r>
                <a:r>
                  <a:rPr sz="2400" b="0">
                    <a:solidFill>
                      <a:srgbClr val="111827"/>
                    </a:solidFill>
                    <a:latin typeface="Arial"/>
                  </a:rPr>
                  <a:t>), the normal has zero </a:t>
                </a:r>
                <a:r>
                  <a:rPr lang="en-IN" sz="2400">
                    <a:solidFill>
                      <a:srgbClr val="111827"/>
                    </a:solidFill>
                    <a:latin typeface="Cambria Math" panose="02040503050406030204" pitchFamily="18" charset="0"/>
                  </a:rPr>
                  <a:t>$y$</a:t>
                </a:r>
                <a:r>
                  <a:rPr sz="2400" b="0">
                    <a:solidFill>
                      <a:srgbClr val="111827"/>
                    </a:solidFill>
                    <a:latin typeface="Arial"/>
                  </a:rPr>
                  <a:t>-component: a check on the computation.</a:t>
                </a:r>
                <a:endParaRPr sz="2400">
                  <a:solidFill>
                    <a:srgbClr val="111827"/>
                  </a:solidFill>
                </a:endParaRPr>
              </a:p>
            </p:txBody>
          </p:sp>
        </mc:Fallback>
      </mc:AlternateContent>
    </p:spTree>
  </p:cSld>
  <p:clrMapOvr>
    <a:masterClrMapping/>
  </p:clrMapOvr>
</p:sld>
</file>

<file path=ppt/slides/slide4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4955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be three non-coplanar unit vectors such that the angle between every pair of them is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If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are scalars satisfying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2</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3</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3</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then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e>
                            <m:e>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1</m:t>
                                  </m:r>
                                </m:sub>
                              </m:sSub>
                            </m:e>
                            <m:e>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e>
                          </m:mr>
                          <m:mr>
                            <m:e>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e>
                            <m:e>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2</m:t>
                                  </m:r>
                                </m:sub>
                              </m:sSub>
                            </m:e>
                            <m:e>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e>
                          </m:mr>
                          <m:mr>
                            <m:e>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3</m:t>
                                  </m:r>
                                </m:sub>
                              </m:sSub>
                            </m:e>
                            <m:e>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3</m:t>
                                  </m:r>
                                </m:sub>
                              </m:sSub>
                            </m:e>
                            <m:e>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e>
                          </m:mr>
                        </m:m>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1</m:t>
                                  </m:r>
                                </m:sub>
                              </m:sSub>
                            </m:e>
                            <m:e>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1</m:t>
                                  </m:r>
                                </m:sub>
                              </m:sSub>
                            </m:e>
                            <m:e>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e>
                          </m:mr>
                          <m:mr>
                            <m:e>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e>
                            <m:e>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2</m:t>
                                  </m:r>
                                </m:sub>
                              </m:sSub>
                            </m:e>
                            <m:e>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e>
                          </m:mr>
                          <m:mr>
                            <m:e>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3</m:t>
                                  </m:r>
                                </m:sub>
                              </m:sSub>
                            </m:e>
                            <m:e>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3</m:t>
                                  </m:r>
                                </m:sub>
                              </m:sSub>
                            </m:e>
                            <m:e>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e>
                          </m:mr>
                        </m:m>
                      </m:e>
                    </m:d>
                  </m:oMath>
                </a14:m>
                <a:r>
                  <a:rPr sz="2400" b="0">
                    <a:solidFill>
                      <a:srgbClr val="111827"/>
                    </a:solidFill>
                    <a:latin typeface="Arial"/>
                  </a:rPr>
                  <a:t>. The value of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34955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a,\vec b,\vec c$</a:t>
                </a:r>
                <a:r>
                  <a:rPr sz="2400" b="0">
                    <a:solidFill>
                      <a:srgbClr val="111827"/>
                    </a:solidFill>
                    <a:latin typeface="Arial"/>
                  </a:rPr>
                  <a:t> be three non-coplanar unit vectors such that the angle between every pair of them is </a:t>
                </a:r>
                <a:r>
                  <a:rPr lang="en-IN" sz="2400">
                    <a:solidFill>
                      <a:srgbClr val="111827"/>
                    </a:solidFill>
                    <a:latin typeface="Cambria Math" panose="02040503050406030204" pitchFamily="18" charset="0"/>
                  </a:rPr>
                  <a:t>$60^\circ$</a:t>
                </a:r>
                <a:r>
                  <a:rPr sz="2400" b="0">
                    <a:solidFill>
                      <a:srgbClr val="111827"/>
                    </a:solidFill>
                    <a:latin typeface="Arial"/>
                  </a:rPr>
                  <a:t>. If </a:t>
                </a:r>
                <a:r>
                  <a:rPr lang="en-IN" sz="2400">
                    <a:solidFill>
                      <a:srgbClr val="111827"/>
                    </a:solidFill>
                    <a:latin typeface="Cambria Math" panose="02040503050406030204" pitchFamily="18" charset="0"/>
                  </a:rPr>
                  <a:t>$p_i,q_i,r_i;\ i=1,2,3$</a:t>
                </a:r>
                <a:r>
                  <a:rPr sz="2400" b="0">
                    <a:solidFill>
                      <a:srgbClr val="111827"/>
                    </a:solidFill>
                    <a:latin typeface="Arial"/>
                  </a:rPr>
                  <a:t> are scalars satisfying </a:t>
                </a:r>
                <a:r>
                  <a:rPr lang="en-IN" sz="2400">
                    <a:solidFill>
                      <a:srgbClr val="111827"/>
                    </a:solidFill>
                    <a:latin typeface="Cambria Math" panose="02040503050406030204" pitchFamily="18" charset="0"/>
                  </a:rPr>
                  <a:t>$\vec a\times\vec b+\vec b\times\vec c+\vec c\times\vec a=p_1\vec a+q_1\vec b+r_1\vec c$</a:t>
                </a:r>
                <a:r>
                  <a:rPr sz="2400" b="0">
                    <a:solidFill>
                      <a:srgbClr val="111827"/>
                    </a:solidFill>
                    <a:latin typeface="Arial"/>
                  </a:rPr>
                  <a:t>, </a:t>
                </a:r>
                <a:r>
                  <a:rPr lang="en-IN" sz="2400">
                    <a:solidFill>
                      <a:srgbClr val="111827"/>
                    </a:solidFill>
                    <a:latin typeface="Cambria Math" panose="02040503050406030204" pitchFamily="18" charset="0"/>
                  </a:rPr>
                  <a:t>$\ \vec b\times\vec c+\vec c\times\vec a=p_2\vec a+q_2\vec b+r_2\vec c$</a:t>
                </a:r>
                <a:r>
                  <a:rPr sz="2400" b="0">
                    <a:solidFill>
                      <a:srgbClr val="111827"/>
                    </a:solidFill>
                    <a:latin typeface="Arial"/>
                  </a:rPr>
                  <a:t> and </a:t>
                </a:r>
                <a:r>
                  <a:rPr lang="en-IN" sz="2400">
                    <a:solidFill>
                      <a:srgbClr val="111827"/>
                    </a:solidFill>
                    <a:latin typeface="Cambria Math" panose="02040503050406030204" pitchFamily="18" charset="0"/>
                  </a:rPr>
                  <a:t>$\vec c\times\vec a+\vec a\times\vec b=p_3\vec a+q_3\vec b+r_3\vec c$</a:t>
                </a:r>
                <a:r>
                  <a:rPr sz="2400" b="0">
                    <a:solidFill>
                      <a:srgbClr val="111827"/>
                    </a:solidFill>
                    <a:latin typeface="Arial"/>
                  </a:rPr>
                  <a:t> then </a:t>
                </a:r>
                <a:r>
                  <a:rPr lang="en-IN" sz="2400">
                    <a:solidFill>
                      <a:srgbClr val="111827"/>
                    </a:solidFill>
                    <a:latin typeface="Cambria Math" panose="02040503050406030204" pitchFamily="18" charset="0"/>
                  </a:rPr>
                  <a:t>$\left|\begin{matrix}p_1&amp;q_1&amp;r_1\\p_2&amp;q_2&amp;r_2\\p_3&amp;q_3&amp;r_3\end{matrix}\right|=\lambda\left|\begin{matrix}p_1+q_1&amp;q_1&amp;r_1\\p_2-r_2&amp;q_2&amp;r_2\\p_3+2q_3&amp;q_3&amp;r_3\end{matrix}\right|$</a:t>
                </a:r>
                <a:r>
                  <a:rPr sz="2400" b="0">
                    <a:solidFill>
                      <a:srgbClr val="111827"/>
                    </a:solidFill>
                    <a:latin typeface="Arial"/>
                  </a:rPr>
                  <a:t>. The value of </a:t>
                </a:r>
                <a:r>
                  <a:rPr lang="en-IN" sz="2400">
                    <a:solidFill>
                      <a:srgbClr val="111827"/>
                    </a:solidFill>
                    <a:latin typeface="Cambria Math" panose="02040503050406030204" pitchFamily="18" charset="0"/>
                  </a:rPr>
                  <a:t>$\lambda$</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5004307"/>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Reciprocal system of vectors and determinants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4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Write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𝑉</m:t>
                    </m:r>
                    <m:sSup>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𝑉</m:t>
                    </m:r>
                    <m:sSup>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𝑎</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𝑉</m:t>
                    </m:r>
                    <m:sSup>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𝑐</m:t>
                            </m:r>
                          </m:e>
                        </m:acc>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with the reciprocal vectors from the inverse Gram matrix.</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Write </a:t>
                </a:r>
                <a:r>
                  <a:rPr lang="en-IN" sz="2400">
                    <a:solidFill>
                      <a:srgbClr val="78350F"/>
                    </a:solidFill>
                    <a:latin typeface="Cambria Math" panose="02040503050406030204" pitchFamily="18" charset="0"/>
                  </a:rPr>
                  <a:t>$\vec b\times\vec c=V\vec a^*$</a:t>
                </a:r>
                <a:r>
                  <a:rPr sz="2400" b="0">
                    <a:solidFill>
                      <a:srgbClr val="78350F"/>
                    </a:solidFill>
                    <a:latin typeface="Arial"/>
                  </a:rPr>
                  <a:t>, </a:t>
                </a:r>
                <a:r>
                  <a:rPr lang="en-IN" sz="2400">
                    <a:solidFill>
                      <a:srgbClr val="78350F"/>
                    </a:solidFill>
                    <a:latin typeface="Cambria Math" panose="02040503050406030204" pitchFamily="18" charset="0"/>
                  </a:rPr>
                  <a:t>$\vec c\times\vec a=V\vec b^*$</a:t>
                </a:r>
                <a:r>
                  <a:rPr sz="2400" b="0">
                    <a:solidFill>
                      <a:srgbClr val="78350F"/>
                    </a:solidFill>
                    <a:latin typeface="Arial"/>
                  </a:rPr>
                  <a:t>, </a:t>
                </a:r>
                <a:r>
                  <a:rPr lang="en-IN" sz="2400">
                    <a:solidFill>
                      <a:srgbClr val="78350F"/>
                    </a:solidFill>
                    <a:latin typeface="Cambria Math" panose="02040503050406030204" pitchFamily="18" charset="0"/>
                  </a:rPr>
                  <a:t>$\vec a\times\vec b=V\vec c^*$</a:t>
                </a:r>
                <a:r>
                  <a:rPr sz="2400" b="0">
                    <a:solidFill>
                      <a:srgbClr val="78350F"/>
                    </a:solidFill>
                    <a:latin typeface="Arial"/>
                  </a:rPr>
                  <a:t> with the reciprocal vectors from the inverse Gram matrix.</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Gram matrix is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mr>
                          <m:m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e>
                              <m:r>
                                <a:rPr lang="en-IN" sz="2400" i="1">
                                  <a:solidFill>
                                    <a:srgbClr val="111827"/>
                                  </a:solidFill>
                                  <a:latin typeface="Cambria Math" panose="02040503050406030204" pitchFamily="18" charset="0"/>
                                </a:rPr>
                                <m:t>1</m:t>
                              </m:r>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mr>
                          <m:m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e>
                              <m:r>
                                <a:rPr lang="en-IN" sz="2400" i="1">
                                  <a:solidFill>
                                    <a:srgbClr val="111827"/>
                                  </a:solidFill>
                                  <a:latin typeface="Cambria Math" panose="02040503050406030204" pitchFamily="18" charset="0"/>
                                </a:rPr>
                                <m:t>1</m:t>
                              </m:r>
                            </m:e>
                          </m:mr>
                        </m:m>
                      </m:e>
                    </m: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det</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𝐺</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mr>
                          <m:m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mr>
                          <m:m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mr>
                        </m:m>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$V=[\vec a\ \vec b\ \vec c]$</a:t>
                </a:r>
                <a:r>
                  <a:rPr sz="2400" b="0">
                    <a:solidFill>
                      <a:srgbClr val="111827"/>
                    </a:solidFill>
                    <a:latin typeface="Arial"/>
                  </a:rPr>
                  <a:t>. The Gram matrix is </a:t>
                </a:r>
                <a:r>
                  <a:rPr lang="en-IN" sz="2400">
                    <a:solidFill>
                      <a:srgbClr val="111827"/>
                    </a:solidFill>
                    <a:latin typeface="Cambria Math" panose="02040503050406030204" pitchFamily="18" charset="0"/>
                  </a:rPr>
                  <a:t>$G=\left(\begin{matrix}1&amp;\frac12&amp;\frac12\\\frac12&amp;1&amp;\frac12\\\frac12&amp;\frac12&amp;1\end{matrix}\right)$</a:t>
                </a:r>
                <a:r>
                  <a:rPr sz="2400" b="0">
                    <a:solidFill>
                      <a:srgbClr val="111827"/>
                    </a:solidFill>
                    <a:latin typeface="Arial"/>
                  </a:rPr>
                  <a:t>, </a:t>
                </a:r>
                <a:r>
                  <a:rPr lang="en-IN" sz="2400">
                    <a:solidFill>
                      <a:srgbClr val="111827"/>
                    </a:solidFill>
                    <a:latin typeface="Cambria Math" panose="02040503050406030204" pitchFamily="18" charset="0"/>
                  </a:rPr>
                  <a:t>$\det G=\frac12=V^2$</a:t>
                </a:r>
                <a:r>
                  <a:rPr sz="2400" b="0">
                    <a:solidFill>
                      <a:srgbClr val="111827"/>
                    </a:solidFill>
                    <a:latin typeface="Arial"/>
                  </a:rPr>
                  <a:t>, and </a:t>
                </a:r>
                <a:r>
                  <a:rPr lang="en-IN" sz="2400">
                    <a:solidFill>
                      <a:srgbClr val="111827"/>
                    </a:solidFill>
                    <a:latin typeface="Cambria Math" panose="02040503050406030204" pitchFamily="18" charset="0"/>
                  </a:rPr>
                  <a:t>$G^{-1}=\left(\begin{matrix}\frac32&amp;-\frac12&amp;-\frac12\\-\frac12&amp;\frac32&amp;-\frac12\\-\frac12&amp;-\frac12&amp;\frac32\end{matrix}\right)$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Reciprocal vectors: </a:t>
                </a:r>
                <a14:m>
                  <m:oMath xmlns:m="http://schemas.openxmlformats.org/officeDocument/2006/math">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Row 1: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𝑉</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Row 2: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Row 3: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Reciprocal vectors: </a:t>
                </a:r>
                <a:r>
                  <a:rPr lang="en-IN" sz="2400">
                    <a:solidFill>
                      <a:srgbClr val="111827"/>
                    </a:solidFill>
                    <a:latin typeface="Cambria Math" panose="02040503050406030204" pitchFamily="18" charset="0"/>
                  </a:rPr>
                  <a:t>$\vec a^*=\frac32\vec a-\frac12\vec b-\frac12\vec c$</a:t>
                </a:r>
                <a:r>
                  <a:rPr sz="2400" b="0">
                    <a:solidFill>
                      <a:srgbClr val="111827"/>
                    </a:solidFill>
                    <a:latin typeface="Arial"/>
                  </a:rPr>
                  <a:t>, </a:t>
                </a:r>
                <a:r>
                  <a:rPr lang="en-IN" sz="2400">
                    <a:solidFill>
                      <a:srgbClr val="111827"/>
                    </a:solidFill>
                    <a:latin typeface="Cambria Math" panose="02040503050406030204" pitchFamily="18" charset="0"/>
                  </a:rPr>
                  <a:t>$\ \vec b^*=-\frac12\vec a+\frac32\vec b-\frac12\vec c$</a:t>
                </a:r>
                <a:r>
                  <a:rPr sz="2400" b="0">
                    <a:solidFill>
                      <a:srgbClr val="111827"/>
                    </a:solidFill>
                    <a:latin typeface="Arial"/>
                  </a:rPr>
                  <a:t>, </a:t>
                </a:r>
                <a:r>
                  <a:rPr lang="en-IN" sz="2400">
                    <a:solidFill>
                      <a:srgbClr val="111827"/>
                    </a:solidFill>
                    <a:latin typeface="Cambria Math" panose="02040503050406030204" pitchFamily="18" charset="0"/>
                  </a:rPr>
                  <a:t>$\ \vec c^*=-\frac12\vec a-\frac12\vec b+\frac32\vec c$</a:t>
                </a:r>
                <a:r>
                  <a:rPr sz="2400" b="0">
                    <a:solidFill>
                      <a:srgbClr val="111827"/>
                    </a:solidFill>
                    <a:latin typeface="Arial"/>
                  </a:rPr>
                  <a:t>, with </a:t>
                </a:r>
                <a:r>
                  <a:rPr lang="en-IN" sz="2400">
                    <a:solidFill>
                      <a:srgbClr val="111827"/>
                    </a:solidFill>
                    <a:latin typeface="Cambria Math" panose="02040503050406030204" pitchFamily="18" charset="0"/>
                  </a:rPr>
                  <a:t>$\vec b\times\vec c=V\vec a^*$</a:t>
                </a:r>
                <a:r>
                  <a:rPr sz="2400" b="0">
                    <a:solidFill>
                      <a:srgbClr val="111827"/>
                    </a:solidFill>
                    <a:latin typeface="Arial"/>
                  </a:rPr>
                  <a:t>, </a:t>
                </a:r>
                <a:r>
                  <a:rPr lang="en-IN" sz="2400">
                    <a:solidFill>
                      <a:srgbClr val="111827"/>
                    </a:solidFill>
                    <a:latin typeface="Cambria Math" panose="02040503050406030204" pitchFamily="18" charset="0"/>
                  </a:rPr>
                  <a:t>$\ \vec c\times\vec a=V\vec b^*$</a:t>
                </a:r>
                <a:r>
                  <a:rPr sz="2400" b="0">
                    <a:solidFill>
                      <a:srgbClr val="111827"/>
                    </a:solidFill>
                    <a:latin typeface="Arial"/>
                  </a:rPr>
                  <a:t>, </a:t>
                </a:r>
                <a:r>
                  <a:rPr lang="en-IN" sz="2400">
                    <a:solidFill>
                      <a:srgbClr val="111827"/>
                    </a:solidFill>
                    <a:latin typeface="Cambria Math" panose="02040503050406030204" pitchFamily="18" charset="0"/>
                  </a:rPr>
                  <a:t>$\ \vec a\times\vec b=V\vec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Row 1: </a:t>
                </a:r>
                <a:r>
                  <a:rPr lang="en-IN" sz="2400">
                    <a:solidFill>
                      <a:srgbClr val="111827"/>
                    </a:solidFill>
                    <a:latin typeface="Cambria Math" panose="02040503050406030204" pitchFamily="18" charset="0"/>
                  </a:rPr>
                  <a:t>$\vec a\times\vec b+\vec b\times\vec c+\vec c\times\vec a=V(\vec a^*+\vec b^*+\vec c^*)=\frac V2(\vec a+\vec b+\vec c)$</a:t>
                </a:r>
                <a:r>
                  <a:rPr sz="2400" b="0">
                    <a:solidFill>
                      <a:srgbClr val="111827"/>
                    </a:solidFill>
                    <a:latin typeface="Arial"/>
                  </a:rPr>
                  <a:t>, so </a:t>
                </a:r>
                <a:r>
                  <a:rPr lang="en-IN" sz="2400">
                    <a:solidFill>
                      <a:srgbClr val="111827"/>
                    </a:solidFill>
                    <a:latin typeface="Cambria Math" panose="02040503050406030204" pitchFamily="18" charset="0"/>
                  </a:rPr>
                  <a:t>$(p_1,q_1,r_1)=V\left(\frac12,\frac12,\frac12\right)$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Row 2: </a:t>
                </a:r>
                <a:r>
                  <a:rPr lang="en-IN" sz="2400">
                    <a:solidFill>
                      <a:srgbClr val="111827"/>
                    </a:solidFill>
                    <a:latin typeface="Cambria Math" panose="02040503050406030204" pitchFamily="18" charset="0"/>
                  </a:rPr>
                  <a:t>$\vec b\times\vec c+\vec c\times\vec a=V(\vec a^*+\vec b^*)=V(\vec a+\vec b-\vec c)$</a:t>
                </a:r>
                <a:r>
                  <a:rPr sz="2400" b="0">
                    <a:solidFill>
                      <a:srgbClr val="111827"/>
                    </a:solidFill>
                    <a:latin typeface="Arial"/>
                  </a:rPr>
                  <a:t>, so </a:t>
                </a:r>
                <a:r>
                  <a:rPr lang="en-IN" sz="2400">
                    <a:solidFill>
                      <a:srgbClr val="111827"/>
                    </a:solidFill>
                    <a:latin typeface="Cambria Math" panose="02040503050406030204" pitchFamily="18" charset="0"/>
                  </a:rPr>
                  <a:t>$(p_2,q_2,r_2)=V(1,1,-1)$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Row 3: </a:t>
                </a:r>
                <a:r>
                  <a:rPr lang="en-IN" sz="2400">
                    <a:solidFill>
                      <a:srgbClr val="111827"/>
                    </a:solidFill>
                    <a:latin typeface="Cambria Math" panose="02040503050406030204" pitchFamily="18" charset="0"/>
                  </a:rPr>
                  <a:t>$\vec c\times\vec a+\vec a\times\vec b=V(\vec b^*+\vec c^*)=V(-\vec a+\vec b+\vec c)$</a:t>
                </a:r>
                <a:r>
                  <a:rPr sz="2400" b="0">
                    <a:solidFill>
                      <a:srgbClr val="111827"/>
                    </a:solidFill>
                    <a:latin typeface="Arial"/>
                  </a:rPr>
                  <a:t>, so </a:t>
                </a:r>
                <a:r>
                  <a:rPr lang="en-IN" sz="2400">
                    <a:solidFill>
                      <a:srgbClr val="111827"/>
                    </a:solidFill>
                    <a:latin typeface="Cambria Math" panose="02040503050406030204" pitchFamily="18" charset="0"/>
                  </a:rPr>
                  <a:t>$(p_3,q_3,r_3)=V(-1,1,1)$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Left determinant: </a:t>
                </a:r>
                <a14:m>
                  <m:oMath xmlns:m="http://schemas.openxmlformats.org/officeDocument/2006/math">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3</m:t>
                        </m:r>
                      </m:sup>
                    </m:sSup>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m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mr>
                        </m:m>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Right determinant: rows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 </a:t>
                </a:r>
                <a14:m>
                  <m:oMath xmlns:m="http://schemas.openxmlformats.org/officeDocument/2006/math">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3</m:t>
                        </m:r>
                      </m:sup>
                    </m:sSup>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3</m:t>
                            </m:r>
                          </m:sup>
                        </m:sSup>
                      </m:num>
                      <m:den>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3</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 numerical check with explicit unit vectors at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0.7071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0.3536</m:t>
                    </m:r>
                  </m:oMath>
                </a14:m>
                <a:r>
                  <a:rPr sz="2400" b="0">
                    <a:solidFill>
                      <a:srgbClr val="111827"/>
                    </a:solidFill>
                    <a:latin typeface="Arial"/>
                  </a:rPr>
                  <a:t>, ratio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The paper's key value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does not follow from the printed data.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Left determinant: </a:t>
                </a:r>
                <a:r>
                  <a:rPr lang="en-IN" sz="2400">
                    <a:solidFill>
                      <a:srgbClr val="111827"/>
                    </a:solidFill>
                    <a:latin typeface="Cambria Math" panose="02040503050406030204" pitchFamily="18" charset="0"/>
                  </a:rPr>
                  <a:t>$V^3\left|\begin{matrix}\frac12&amp;\frac12&amp;\frac12\\1&amp;1&amp;-1\\-1&amp;1&amp;1\end{matrix}\right|=V^3\cdot\frac12\cdot4=2V^3$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Right determinant: rows </a:t>
                </a:r>
                <a:r>
                  <a:rPr lang="en-IN" sz="2400">
                    <a:solidFill>
                      <a:srgbClr val="111827"/>
                    </a:solidFill>
                    <a:latin typeface="Cambria Math" panose="02040503050406030204" pitchFamily="18" charset="0"/>
                  </a:rPr>
                  <a:t>$V(1,\frac12,\frac12)$</a:t>
                </a:r>
                <a:r>
                  <a:rPr sz="2400" b="0">
                    <a:solidFill>
                      <a:srgbClr val="111827"/>
                    </a:solidFill>
                    <a:latin typeface="Arial"/>
                  </a:rPr>
                  <a:t>, </a:t>
                </a:r>
                <a:r>
                  <a:rPr lang="en-IN" sz="2400">
                    <a:solidFill>
                      <a:srgbClr val="111827"/>
                    </a:solidFill>
                    <a:latin typeface="Cambria Math" panose="02040503050406030204" pitchFamily="18" charset="0"/>
                  </a:rPr>
                  <a:t>$V(2,1,-1)$</a:t>
                </a:r>
                <a:r>
                  <a:rPr sz="2400" b="0">
                    <a:solidFill>
                      <a:srgbClr val="111827"/>
                    </a:solidFill>
                    <a:latin typeface="Arial"/>
                  </a:rPr>
                  <a:t>, </a:t>
                </a:r>
                <a:r>
                  <a:rPr lang="en-IN" sz="2400">
                    <a:solidFill>
                      <a:srgbClr val="111827"/>
                    </a:solidFill>
                    <a:latin typeface="Cambria Math" panose="02040503050406030204" pitchFamily="18" charset="0"/>
                  </a:rPr>
                  <a:t>$V(1,1,1)$</a:t>
                </a:r>
                <a:r>
                  <a:rPr sz="2400" b="0">
                    <a:solidFill>
                      <a:srgbClr val="111827"/>
                    </a:solidFill>
                    <a:latin typeface="Arial"/>
                  </a:rPr>
                  <a:t> give </a:t>
                </a:r>
                <a:r>
                  <a:rPr lang="en-IN" sz="2400">
                    <a:solidFill>
                      <a:srgbClr val="111827"/>
                    </a:solidFill>
                    <a:latin typeface="Cambria Math" panose="02040503050406030204" pitchFamily="18" charset="0"/>
                  </a:rPr>
                  <a:t>$V^3\left[1(1+1)-\frac12(2+1)+\frac12(2-1)\right]=V^3(2-\frac32+\frac12)=V^3$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$\lambda=\frac{2V^3}{V^3}=2$</a:t>
                </a:r>
                <a:r>
                  <a:rPr sz="2400" b="0">
                    <a:solidFill>
                      <a:srgbClr val="111827"/>
                    </a:solidFill>
                    <a:latin typeface="Arial"/>
                  </a:rPr>
                  <a:t> (a numerical check with explicit unit vectors at </a:t>
                </a:r>
                <a:r>
                  <a:rPr lang="en-IN" sz="2400">
                    <a:solidFill>
                      <a:srgbClr val="111827"/>
                    </a:solidFill>
                    <a:latin typeface="Cambria Math" panose="02040503050406030204" pitchFamily="18" charset="0"/>
                  </a:rPr>
                  <a:t>$60^\circ$</a:t>
                </a:r>
                <a:r>
                  <a:rPr sz="2400" b="0">
                    <a:solidFill>
                      <a:srgbClr val="111827"/>
                    </a:solidFill>
                    <a:latin typeface="Arial"/>
                  </a:rPr>
                  <a:t> gives </a:t>
                </a:r>
                <a:r>
                  <a:rPr lang="en-IN" sz="2400">
                    <a:solidFill>
                      <a:srgbClr val="111827"/>
                    </a:solidFill>
                    <a:latin typeface="Cambria Math" panose="02040503050406030204" pitchFamily="18" charset="0"/>
                  </a:rPr>
                  <a:t>$0.7071$</a:t>
                </a:r>
                <a:r>
                  <a:rPr sz="2400" b="0">
                    <a:solidFill>
                      <a:srgbClr val="111827"/>
                    </a:solidFill>
                    <a:latin typeface="Arial"/>
                  </a:rPr>
                  <a:t> and </a:t>
                </a:r>
                <a:r>
                  <a:rPr lang="en-IN" sz="2400">
                    <a:solidFill>
                      <a:srgbClr val="111827"/>
                    </a:solidFill>
                    <a:latin typeface="Cambria Math" panose="02040503050406030204" pitchFamily="18" charset="0"/>
                  </a:rPr>
                  <a:t>$0.3536$</a:t>
                </a:r>
                <a:r>
                  <a:rPr sz="2400" b="0">
                    <a:solidFill>
                      <a:srgbClr val="111827"/>
                    </a:solidFill>
                    <a:latin typeface="Arial"/>
                  </a:rPr>
                  <a:t>, ratio </a:t>
                </a:r>
                <a:r>
                  <a:rPr lang="en-IN" sz="2400">
                    <a:solidFill>
                      <a:srgbClr val="111827"/>
                    </a:solidFill>
                    <a:latin typeface="Cambria Math" panose="02040503050406030204" pitchFamily="18" charset="0"/>
                  </a:rPr>
                  <a:t>$2$</a:t>
                </a:r>
                <a:r>
                  <a:rPr sz="2400" b="0">
                    <a:solidFill>
                      <a:srgbClr val="111827"/>
                    </a:solidFill>
                    <a:latin typeface="Arial"/>
                  </a:rPr>
                  <a:t>). The paper's key value </a:t>
                </a:r>
                <a:r>
                  <a:rPr lang="en-IN" sz="2400">
                    <a:solidFill>
                      <a:srgbClr val="111827"/>
                    </a:solidFill>
                    <a:latin typeface="Cambria Math" panose="02040503050406030204" pitchFamily="18" charset="0"/>
                  </a:rPr>
                  <a:t>$1$</a:t>
                </a:r>
                <a:r>
                  <a:rPr sz="2400" b="0">
                    <a:solidFill>
                      <a:srgbClr val="111827"/>
                    </a:solidFill>
                    <a:latin typeface="Arial"/>
                  </a:rPr>
                  <a:t> does not follow from the printed data.</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2 (the paper's key says 1)</a:t>
            </a:r>
            <a:endParaRPr sz="2800">
              <a:solidFill>
                <a:srgbClr val="15803D"/>
              </a:solidFill>
            </a:endParaRPr>
          </a:p>
        </p:txBody>
      </p:sp>
    </p:spTree>
  </p:cSld>
  <p:clrMapOvr>
    <a:masterClrMapping/>
  </p:clrMapOvr>
</p:sld>
</file>

<file path=ppt/slides/slide4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Take explicit unit vectors at </a:t>
                </a:r>
                <a14:m>
                  <m:oMath xmlns:m="http://schemas.openxmlformats.org/officeDocument/2006/math">
                    <m:sSup>
                      <m:e>
                        <m:r>
                          <a:rPr lang="en-IN" sz="2400" i="1">
                            <a:solidFill>
                              <a:srgbClr val="78350F"/>
                            </a:solidFill>
                            <a:latin typeface="Cambria Math" panose="02040503050406030204" pitchFamily="18" charset="0"/>
                          </a:rPr>
                          <m:t>60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pairwise and compute the coefficient matrices numerically (a cross-check, independent of the reciprocal basis).</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Take explicit unit vectors at </a:t>
                </a:r>
                <a:r>
                  <a:rPr lang="en-IN" sz="2400">
                    <a:solidFill>
                      <a:srgbClr val="78350F"/>
                    </a:solidFill>
                    <a:latin typeface="Cambria Math" panose="02040503050406030204" pitchFamily="18" charset="0"/>
                  </a:rPr>
                  <a:t>$60^\circ$</a:t>
                </a:r>
                <a:r>
                  <a:rPr sz="2400" b="0">
                    <a:solidFill>
                      <a:srgbClr val="78350F"/>
                    </a:solidFill>
                    <a:latin typeface="Arial"/>
                  </a:rPr>
                  <a:t> pairwise and compute the coefficient matrices numerically (a cross-check, independent of the reciprocal basis).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e>
                        </m:rad>
                      </m:e>
                    </m:d>
                  </m:oMath>
                </a14:m>
                <a:r>
                  <a:rPr sz="2400" b="0">
                    <a:solidFill>
                      <a:srgbClr val="111827"/>
                    </a:solidFill>
                    <a:latin typeface="Arial"/>
                  </a:rPr>
                  <a:t>; they are unit vectors with pairwise dot products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etc. numerically gives rows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0.354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0.354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0.354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$\vec a=(1,0,0)$</a:t>
                </a:r>
                <a:r>
                  <a:rPr sz="2400" b="0">
                    <a:solidFill>
                      <a:srgbClr val="111827"/>
                    </a:solidFill>
                    <a:latin typeface="Arial"/>
                  </a:rPr>
                  <a:t>, </a:t>
                </a:r>
                <a:r>
                  <a:rPr lang="en-IN" sz="2400">
                    <a:solidFill>
                      <a:srgbClr val="111827"/>
                    </a:solidFill>
                    <a:latin typeface="Cambria Math" panose="02040503050406030204" pitchFamily="18" charset="0"/>
                  </a:rPr>
                  <a:t>$\vec b=\left(\frac12,\frac{\sqrt3}{2},0\right)$</a:t>
                </a:r>
                <a:r>
                  <a:rPr sz="2400" b="0">
                    <a:solidFill>
                      <a:srgbClr val="111827"/>
                    </a:solidFill>
                    <a:latin typeface="Arial"/>
                  </a:rPr>
                  <a:t>, </a:t>
                </a:r>
                <a:r>
                  <a:rPr lang="en-IN" sz="2400">
                    <a:solidFill>
                      <a:srgbClr val="111827"/>
                    </a:solidFill>
                    <a:latin typeface="Cambria Math" panose="02040503050406030204" pitchFamily="18" charset="0"/>
                  </a:rPr>
                  <a:t>$\vec c=\left(\frac12,\frac{1}{2\sqrt3},\sqrt{\frac23}\right)$</a:t>
                </a:r>
                <a:r>
                  <a:rPr sz="2400" b="0">
                    <a:solidFill>
                      <a:srgbClr val="111827"/>
                    </a:solidFill>
                    <a:latin typeface="Arial"/>
                  </a:rPr>
                  <a:t>; they are unit vectors with pairwise dot products </a:t>
                </a:r>
                <a:r>
                  <a:rPr lang="en-IN" sz="2400">
                    <a:solidFill>
                      <a:srgbClr val="111827"/>
                    </a:solidFill>
                    <a:latin typeface="Cambria Math" panose="02040503050406030204" pitchFamily="18" charset="0"/>
                  </a:rPr>
                  <a:t>$\frac12$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Solving </a:t>
                </a:r>
                <a:r>
                  <a:rPr lang="en-IN" sz="2400">
                    <a:solidFill>
                      <a:srgbClr val="111827"/>
                    </a:solidFill>
                    <a:latin typeface="Cambria Math" panose="02040503050406030204" pitchFamily="18" charset="0"/>
                  </a:rPr>
                  <a:t>$\vec a\times\vec b+\vec b\times\vec c+\vec c\times\vec a=p_1\vec a+q_1\vec b+r_1\vec c$</a:t>
                </a:r>
                <a:r>
                  <a:rPr sz="2400" b="0">
                    <a:solidFill>
                      <a:srgbClr val="111827"/>
                    </a:solidFill>
                    <a:latin typeface="Arial"/>
                  </a:rPr>
                  <a:t> etc. numerically gives rows </a:t>
                </a:r>
                <a:r>
                  <a:rPr lang="en-IN" sz="2400">
                    <a:solidFill>
                      <a:srgbClr val="111827"/>
                    </a:solidFill>
                    <a:latin typeface="Cambria Math" panose="02040503050406030204" pitchFamily="18" charset="0"/>
                  </a:rPr>
                  <a:t>$(0.354,0.354,0.354)$</a:t>
                </a:r>
                <a:r>
                  <a:rPr sz="2400" b="0">
                    <a:solidFill>
                      <a:srgbClr val="111827"/>
                    </a:solidFill>
                    <a:latin typeface="Arial"/>
                  </a:rPr>
                  <a:t>, </a:t>
                </a:r>
                <a:r>
                  <a:rPr lang="en-IN" sz="2400">
                    <a:solidFill>
                      <a:srgbClr val="111827"/>
                    </a:solidFill>
                    <a:latin typeface="Cambria Math" panose="02040503050406030204" pitchFamily="18" charset="0"/>
                  </a:rPr>
                  <a:t>$(0.707,0.707,-0.707)$</a:t>
                </a:r>
                <a:r>
                  <a:rPr sz="2400" b="0">
                    <a:solidFill>
                      <a:srgbClr val="111827"/>
                    </a:solidFill>
                    <a:latin typeface="Arial"/>
                  </a:rPr>
                  <a:t>, </a:t>
                </a:r>
                <a:r>
                  <a:rPr lang="en-IN" sz="2400">
                    <a:solidFill>
                      <a:srgbClr val="111827"/>
                    </a:solidFill>
                    <a:latin typeface="Cambria Math" panose="02040503050406030204" pitchFamily="18" charset="0"/>
                  </a:rPr>
                  <a:t>$(-0.707,0.707,0.707)$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First determinant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0.7071</m:t>
                    </m:r>
                  </m:oMath>
                </a14:m>
                <a:r>
                  <a:rPr sz="2400" b="0">
                    <a:solidFill>
                      <a:srgbClr val="111827"/>
                    </a:solidFill>
                    <a:latin typeface="Arial"/>
                  </a:rPr>
                  <a:t>; second matrix rows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0.354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0.354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have determinant </a:t>
                </a:r>
                <a14:m>
                  <m:oMath xmlns:m="http://schemas.openxmlformats.org/officeDocument/2006/math">
                    <m:r>
                      <a:rPr lang="en-IN" sz="2400" i="1">
                        <a:solidFill>
                          <a:srgbClr val="111827"/>
                        </a:solidFill>
                        <a:latin typeface="Cambria Math" panose="02040503050406030204" pitchFamily="18" charset="0"/>
                      </a:rPr>
                      <m:t>0.3536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Ratio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0.7071</m:t>
                        </m:r>
                      </m:num>
                      <m:den>
                        <m:r>
                          <a:rPr lang="en-IN" sz="2400" i="1">
                            <a:solidFill>
                              <a:srgbClr val="111827"/>
                            </a:solidFill>
                            <a:latin typeface="Cambria Math" panose="02040503050406030204" pitchFamily="18" charset="0"/>
                          </a:rPr>
                          <m:t>0.3536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First determinant </a:t>
                </a:r>
                <a:r>
                  <a:rPr lang="en-IN" sz="2400">
                    <a:solidFill>
                      <a:srgbClr val="111827"/>
                    </a:solidFill>
                    <a:latin typeface="Cambria Math" panose="02040503050406030204" pitchFamily="18" charset="0"/>
                  </a:rPr>
                  <a:t>$=0.7071$</a:t>
                </a:r>
                <a:r>
                  <a:rPr sz="2400" b="0">
                    <a:solidFill>
                      <a:srgbClr val="111827"/>
                    </a:solidFill>
                    <a:latin typeface="Arial"/>
                  </a:rPr>
                  <a:t>; second matrix rows </a:t>
                </a:r>
                <a:r>
                  <a:rPr lang="en-IN" sz="2400">
                    <a:solidFill>
                      <a:srgbClr val="111827"/>
                    </a:solidFill>
                    <a:latin typeface="Cambria Math" panose="02040503050406030204" pitchFamily="18" charset="0"/>
                  </a:rPr>
                  <a:t>$(0.707,0.354,0.354)$</a:t>
                </a:r>
                <a:r>
                  <a:rPr sz="2400" b="0">
                    <a:solidFill>
                      <a:srgbClr val="111827"/>
                    </a:solidFill>
                    <a:latin typeface="Arial"/>
                  </a:rPr>
                  <a:t>, </a:t>
                </a:r>
                <a:r>
                  <a:rPr lang="en-IN" sz="2400">
                    <a:solidFill>
                      <a:srgbClr val="111827"/>
                    </a:solidFill>
                    <a:latin typeface="Cambria Math" panose="02040503050406030204" pitchFamily="18" charset="0"/>
                  </a:rPr>
                  <a:t>$(1.414,0.707,-0.707)$</a:t>
                </a:r>
                <a:r>
                  <a:rPr sz="2400" b="0">
                    <a:solidFill>
                      <a:srgbClr val="111827"/>
                    </a:solidFill>
                    <a:latin typeface="Arial"/>
                  </a:rPr>
                  <a:t>, </a:t>
                </a:r>
                <a:r>
                  <a:rPr lang="en-IN" sz="2400">
                    <a:solidFill>
                      <a:srgbClr val="111827"/>
                    </a:solidFill>
                    <a:latin typeface="Cambria Math" panose="02040503050406030204" pitchFamily="18" charset="0"/>
                  </a:rPr>
                  <a:t>$(0.707,0.707,0.707)$</a:t>
                </a:r>
                <a:r>
                  <a:rPr sz="2400" b="0">
                    <a:solidFill>
                      <a:srgbClr val="111827"/>
                    </a:solidFill>
                    <a:latin typeface="Arial"/>
                  </a:rPr>
                  <a:t> have determinant </a:t>
                </a:r>
                <a:r>
                  <a:rPr lang="en-IN" sz="2400">
                    <a:solidFill>
                      <a:srgbClr val="111827"/>
                    </a:solidFill>
                    <a:latin typeface="Cambria Math" panose="02040503050406030204" pitchFamily="18" charset="0"/>
                  </a:rPr>
                  <a:t>$0.3536$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Ratio </a:t>
                </a:r>
                <a:r>
                  <a:rPr lang="en-IN" sz="2400">
                    <a:solidFill>
                      <a:srgbClr val="111827"/>
                    </a:solidFill>
                    <a:latin typeface="Cambria Math" panose="02040503050406030204" pitchFamily="18" charset="0"/>
                  </a:rPr>
                  <a:t>$\lambda=\frac{0.7071}{0.3536}=2$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2 (the paper's key says 1)</a:t>
            </a:r>
            <a:endParaRPr sz="2800">
              <a:solidFill>
                <a:srgbClr val="15803D"/>
              </a:solidFill>
            </a:endParaRPr>
          </a:p>
        </p:txBody>
      </p:sp>
    </p:spTree>
  </p:cSld>
  <p:clrMapOvr>
    <a:masterClrMapping/>
  </p:clrMapOvr>
</p:sld>
</file>

<file path=ppt/slides/slide4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Reciprocal system: </a:t>
                </a:r>
                <a14:m>
                  <m:oMath xmlns:m="http://schemas.openxmlformats.org/officeDocument/2006/math">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num>
                      <m:den>
                        <m:r>
                          <a:rPr lang="en-IN" sz="2400" i="1">
                            <a:solidFill>
                              <a:srgbClr val="111827"/>
                            </a:solidFill>
                            <a:latin typeface="Cambria Math" panose="02040503050406030204" pitchFamily="18" charset="0"/>
                          </a:rPr>
                          <m:t>𝑉</m:t>
                        </m:r>
                      </m:den>
                    </m:f>
                  </m:oMath>
                </a14:m>
                <a:r>
                  <a:rPr sz="2400" b="0">
                    <a:solidFill>
                      <a:srgbClr val="111827"/>
                    </a:solidFill>
                    <a:latin typeface="Arial"/>
                  </a:rPr>
                  <a:t> etc.; </a:t>
                </a:r>
                <a14:m>
                  <m:oMath xmlns:m="http://schemas.openxmlformats.org/officeDocument/2006/math">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sSup>
                      <m:e>
                        <m:r>
                          <a:rPr lang="en-IN" sz="2400" i="1">
                            <a:solidFill>
                              <a:srgbClr val="111827"/>
                            </a:solidFill>
                            <a:latin typeface="Cambria Math" panose="02040503050406030204" pitchFamily="18" charset="0"/>
                          </a:rPr>
                          <m:t>𝐺</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m:rPr>
                            <m:sty m:val="p"/>
                          </m:rPr>
                          <a:rPr lang="en-IN" sz="2400">
                            <a:solidFill>
                              <a:srgbClr val="111827"/>
                            </a:solidFill>
                            <a:latin typeface="Cambria Math" panose="02040503050406030204" pitchFamily="18" charset="0"/>
                          </a:rPr>
                          <m:t>)</m:t>
                        </m:r>
                      </m:e>
                      <m:sub>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𝑗</m:t>
                        </m:r>
                      </m:sub>
                    </m:sSub>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𝑗</m:t>
                        </m:r>
                      </m:sub>
                    </m:sSub>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the Gram matrix.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three unit vectors at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Determinants whose rows are modified by different multiples of other columns (not one common column operation) are not equal to the original; compute them directly.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Reciprocal system: </a:t>
                </a:r>
                <a:r>
                  <a:rPr lang="en-IN" sz="2400">
                    <a:solidFill>
                      <a:srgbClr val="111827"/>
                    </a:solidFill>
                    <a:latin typeface="Cambria Math" panose="02040503050406030204" pitchFamily="18" charset="0"/>
                  </a:rPr>
                  <a:t>$\vec a^*=\frac{\vec b\times\vec c}{V}$</a:t>
                </a:r>
                <a:r>
                  <a:rPr sz="2400" b="0">
                    <a:solidFill>
                      <a:srgbClr val="111827"/>
                    </a:solidFill>
                    <a:latin typeface="Arial"/>
                  </a:rPr>
                  <a:t> etc.; </a:t>
                </a:r>
                <a:r>
                  <a:rPr lang="en-IN" sz="2400">
                    <a:solidFill>
                      <a:srgbClr val="111827"/>
                    </a:solidFill>
                    <a:latin typeface="Cambria Math" panose="02040503050406030204" pitchFamily="18" charset="0"/>
                  </a:rPr>
                  <a:t>$\vec a^*=\sum_j(G^{-1})_{1j}\vec e_j$</a:t>
                </a:r>
                <a:r>
                  <a:rPr sz="2400" b="0">
                    <a:solidFill>
                      <a:srgbClr val="111827"/>
                    </a:solidFill>
                    <a:latin typeface="Arial"/>
                  </a:rPr>
                  <a:t> with </a:t>
                </a:r>
                <a:r>
                  <a:rPr lang="en-IN" sz="2400">
                    <a:solidFill>
                      <a:srgbClr val="111827"/>
                    </a:solidFill>
                    <a:latin typeface="Cambria Math" panose="02040503050406030204" pitchFamily="18" charset="0"/>
                  </a:rPr>
                  <a:t>$G$</a:t>
                </a:r>
                <a:r>
                  <a:rPr sz="2400" b="0">
                    <a:solidFill>
                      <a:srgbClr val="111827"/>
                    </a:solidFill>
                    <a:latin typeface="Arial"/>
                  </a:rPr>
                  <a:t> the Gram matrix.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three unit vectors at </a:t>
                </a:r>
                <a:r>
                  <a:rPr lang="en-IN" sz="2400">
                    <a:solidFill>
                      <a:srgbClr val="111827"/>
                    </a:solidFill>
                    <a:latin typeface="Cambria Math" panose="02040503050406030204" pitchFamily="18" charset="0"/>
                  </a:rPr>
                  <a:t>$60^\circ$</a:t>
                </a:r>
                <a:r>
                  <a:rPr sz="2400" b="0">
                    <a:solidFill>
                      <a:srgbClr val="111827"/>
                    </a:solidFill>
                    <a:latin typeface="Arial"/>
                  </a:rPr>
                  <a:t>: </a:t>
                </a:r>
                <a:r>
                  <a:rPr lang="en-IN" sz="2400">
                    <a:solidFill>
                      <a:srgbClr val="111827"/>
                    </a:solidFill>
                    <a:latin typeface="Cambria Math" panose="02040503050406030204" pitchFamily="18" charset="0"/>
                  </a:rPr>
                  <a:t>$V^2=\det G=\frac12$</a:t>
                </a:r>
                <a:r>
                  <a:rPr sz="2400" b="0">
                    <a:solidFill>
                      <a:srgbClr val="111827"/>
                    </a:solidFill>
                    <a:latin typeface="Arial"/>
                  </a:rPr>
                  <a:t> and </a:t>
                </a:r>
                <a:r>
                  <a:rPr lang="en-IN" sz="2400">
                    <a:solidFill>
                      <a:srgbClr val="111827"/>
                    </a:solidFill>
                    <a:latin typeface="Cambria Math" panose="02040503050406030204" pitchFamily="18" charset="0"/>
                  </a:rPr>
                  <a:t>$\vec a^*+\vec b^*+\vec c^*=\frac12(\vec a+\vec b+\vec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Determinants whose rows are modified by different multiples of other columns (not one common column operation) are not equal to the original; compute them directly.</a:t>
                </a:r>
                <a:endParaRPr sz="2400">
                  <a:solidFill>
                    <a:srgbClr val="111827"/>
                  </a:solidFill>
                </a:endParaRPr>
              </a:p>
            </p:txBody>
          </p:sp>
        </mc:Fallback>
      </mc:AlternateContent>
    </p:spTree>
  </p:cSld>
  <p:clrMapOvr>
    <a:masterClrMapping/>
  </p:clrMapOvr>
</p:sld>
</file>

<file path=ppt/slides/slide4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5</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Subjective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Q73 – Q76</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Marks not printed in the paper: 4 marks assumed</a:t>
            </a:r>
            <a:endParaRPr sz="2800">
              <a:solidFill>
                <a:srgbClr val="FFFFFF"/>
              </a:solidFill>
            </a:endParaRPr>
          </a:p>
        </p:txBody>
      </p:sp>
    </p:spTree>
  </p:cSld>
  <p:clrMapOvr>
    <a:masterClrMapping/>
  </p:clrMapOvr>
</p:sld>
</file>

<file path=ppt/slides/slide4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straight line cuts the sides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oMath>
                </a14:m>
                <a:r>
                  <a:rPr sz="2400" b="0">
                    <a:solidFill>
                      <a:srgbClr val="111827"/>
                    </a:solidFill>
                    <a:latin typeface="Arial"/>
                  </a:rPr>
                  <a:t> of a parallelogram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at points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respectively. 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𝑅</m:t>
                        </m:r>
                      </m:e>
                    </m:acc>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oMath>
                </a14:m>
                <a:r>
                  <a:rPr sz="2400" b="0">
                    <a:solidFill>
                      <a:srgbClr val="111827"/>
                    </a:solidFill>
                    <a:latin typeface="Arial"/>
                  </a:rPr>
                  <a:t>, where </a:t>
                </a:r>
                <a14:m>
                  <m:oMath xmlns:m="http://schemas.openxmlformats.org/officeDocument/2006/math">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scalars then prove that </a:t>
                </a:r>
                <a14:m>
                  <m:oMath xmlns:m="http://schemas.openxmlformats.org/officeDocument/2006/math">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in H.P.</a:t>
                </a:r>
                <a:endParaRPr sz="2400">
                  <a:solidFill>
                    <a:srgbClr val="111827"/>
                  </a:solidFill>
                </a:endParaRPr>
              </a:p>
            </p:txBody>
          </p:sp>
        </mc:Choice>
        <mc:Fallback>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straight line cuts the sides </a:t>
                </a:r>
                <a:r>
                  <a:rPr lang="en-IN" sz="2400">
                    <a:solidFill>
                      <a:srgbClr val="111827"/>
                    </a:solidFill>
                    <a:latin typeface="Cambria Math" panose="02040503050406030204" pitchFamily="18" charset="0"/>
                  </a:rPr>
                  <a:t>$AB$</a:t>
                </a:r>
                <a:r>
                  <a:rPr sz="2400" b="0">
                    <a:solidFill>
                      <a:srgbClr val="111827"/>
                    </a:solidFill>
                    <a:latin typeface="Arial"/>
                  </a:rPr>
                  <a:t>, </a:t>
                </a:r>
                <a:r>
                  <a:rPr lang="en-IN" sz="2400">
                    <a:solidFill>
                      <a:srgbClr val="111827"/>
                    </a:solidFill>
                    <a:latin typeface="Cambria Math" panose="02040503050406030204" pitchFamily="18" charset="0"/>
                  </a:rPr>
                  <a:t>$AC$</a:t>
                </a:r>
                <a:r>
                  <a:rPr sz="2400" b="0">
                    <a:solidFill>
                      <a:srgbClr val="111827"/>
                    </a:solidFill>
                    <a:latin typeface="Arial"/>
                  </a:rPr>
                  <a:t> and </a:t>
                </a:r>
                <a:r>
                  <a:rPr lang="en-IN" sz="2400">
                    <a:solidFill>
                      <a:srgbClr val="111827"/>
                    </a:solidFill>
                    <a:latin typeface="Cambria Math" panose="02040503050406030204" pitchFamily="18" charset="0"/>
                  </a:rPr>
                  <a:t>$AD$</a:t>
                </a:r>
                <a:r>
                  <a:rPr sz="2400" b="0">
                    <a:solidFill>
                      <a:srgbClr val="111827"/>
                    </a:solidFill>
                    <a:latin typeface="Arial"/>
                  </a:rPr>
                  <a:t> of a parallelogram </a:t>
                </a:r>
                <a:r>
                  <a:rPr lang="en-IN" sz="2400">
                    <a:solidFill>
                      <a:srgbClr val="111827"/>
                    </a:solidFill>
                    <a:latin typeface="Cambria Math" panose="02040503050406030204" pitchFamily="18" charset="0"/>
                  </a:rPr>
                  <a:t>$ABCD$</a:t>
                </a:r>
                <a:r>
                  <a:rPr sz="2400" b="0">
                    <a:solidFill>
                      <a:srgbClr val="111827"/>
                    </a:solidFill>
                    <a:latin typeface="Arial"/>
                  </a:rPr>
                  <a:t> at points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$Q$</a:t>
                </a:r>
                <a:r>
                  <a:rPr sz="2400" b="0">
                    <a:solidFill>
                      <a:srgbClr val="111827"/>
                    </a:solidFill>
                    <a:latin typeface="Arial"/>
                  </a:rPr>
                  <a:t> and </a:t>
                </a:r>
                <a:r>
                  <a:rPr lang="en-IN" sz="2400">
                    <a:solidFill>
                      <a:srgbClr val="111827"/>
                    </a:solidFill>
                    <a:latin typeface="Cambria Math" panose="02040503050406030204" pitchFamily="18" charset="0"/>
                  </a:rPr>
                  <a:t>$R$</a:t>
                </a:r>
                <a:r>
                  <a:rPr sz="2400" b="0">
                    <a:solidFill>
                      <a:srgbClr val="111827"/>
                    </a:solidFill>
                    <a:latin typeface="Arial"/>
                  </a:rPr>
                  <a:t> respectively. If </a:t>
                </a:r>
                <a:r>
                  <a:rPr lang="en-IN" sz="2400">
                    <a:solidFill>
                      <a:srgbClr val="111827"/>
                    </a:solidFill>
                    <a:latin typeface="Cambria Math" panose="02040503050406030204" pitchFamily="18" charset="0"/>
                  </a:rPr>
                  <a:t>$\overrightarrow{AP}=\lambda_1\overrightarrow{AB}$</a:t>
                </a:r>
                <a:r>
                  <a:rPr sz="2400" b="0">
                    <a:solidFill>
                      <a:srgbClr val="111827"/>
                    </a:solidFill>
                    <a:latin typeface="Arial"/>
                  </a:rPr>
                  <a:t>, </a:t>
                </a:r>
                <a:r>
                  <a:rPr lang="en-IN" sz="2400">
                    <a:solidFill>
                      <a:srgbClr val="111827"/>
                    </a:solidFill>
                    <a:latin typeface="Cambria Math" panose="02040503050406030204" pitchFamily="18" charset="0"/>
                  </a:rPr>
                  <a:t>$\overrightarrow{AR}=\lambda_2\overrightarrow{AD}$</a:t>
                </a:r>
                <a:r>
                  <a:rPr sz="2400" b="0">
                    <a:solidFill>
                      <a:srgbClr val="111827"/>
                    </a:solidFill>
                    <a:latin typeface="Arial"/>
                  </a:rPr>
                  <a:t>, </a:t>
                </a:r>
                <a:r>
                  <a:rPr lang="en-IN" sz="2400">
                    <a:solidFill>
                      <a:srgbClr val="111827"/>
                    </a:solidFill>
                    <a:latin typeface="Cambria Math" panose="02040503050406030204" pitchFamily="18" charset="0"/>
                  </a:rPr>
                  <a:t>$\overrightarrow{AQ}=\frac{\lambda_3}{2}\overrightarrow{AC}$</a:t>
                </a:r>
                <a:r>
                  <a:rPr sz="2400" b="0">
                    <a:solidFill>
                      <a:srgbClr val="111827"/>
                    </a:solidFill>
                    <a:latin typeface="Arial"/>
                  </a:rPr>
                  <a:t>, where </a:t>
                </a:r>
                <a:r>
                  <a:rPr lang="en-IN" sz="2400">
                    <a:solidFill>
                      <a:srgbClr val="111827"/>
                    </a:solidFill>
                    <a:latin typeface="Cambria Math" panose="02040503050406030204" pitchFamily="18" charset="0"/>
                  </a:rPr>
                  <a:t>$\lambda_1,\lambda_2,\lambda_3$</a:t>
                </a:r>
                <a:r>
                  <a:rPr sz="2400" b="0">
                    <a:solidFill>
                      <a:srgbClr val="111827"/>
                    </a:solidFill>
                    <a:latin typeface="Arial"/>
                  </a:rPr>
                  <a:t> are scalars then prove that </a:t>
                </a:r>
                <a:r>
                  <a:rPr lang="en-IN" sz="2400">
                    <a:solidFill>
                      <a:srgbClr val="111827"/>
                    </a:solidFill>
                    <a:latin typeface="Cambria Math" panose="02040503050406030204" pitchFamily="18" charset="0"/>
                  </a:rPr>
                  <a:t>$\lambda_1,\lambda_2,\lambda_3$</a:t>
                </a:r>
                <a:r>
                  <a:rPr sz="2400" b="0">
                    <a:solidFill>
                      <a:srgbClr val="111827"/>
                    </a:solidFill>
                    <a:latin typeface="Arial"/>
                  </a:rPr>
                  <a:t> are in H.P.</a:t>
                </a:r>
                <a:endParaRPr sz="2400">
                  <a:solidFill>
                    <a:srgbClr val="111827"/>
                  </a:solidFill>
                </a:endParaRPr>
              </a:p>
            </p:txBody>
          </p:sp>
        </mc:Fallback>
      </mc:AlternateContent>
      <p:sp>
        <p:nvSpPr>
          <p:cNvPr id="5" name="Rectangle 4"/>
          <p:cNvSpPr/>
          <p:nvPr/>
        </p:nvSpPr>
        <p:spPr>
          <a:xfrm>
            <a:off x="731520" y="3626611"/>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Vector method for collinearity of three points on the sides of a parallelogram</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Take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as origin and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𝑏</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e>
                    </m:acc>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𝐷</m:t>
                        </m:r>
                      </m:e>
                    </m:acc>
                  </m:oMath>
                </a14:m>
                <a:r>
                  <a:rPr sz="2400" b="0">
                    <a:solidFill>
                      <a:srgbClr val="78350F"/>
                    </a:solidFill>
                    <a:latin typeface="Arial"/>
                  </a:rPr>
                  <a:t> as independent vectors;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𝑅</m:t>
                    </m:r>
                  </m:oMath>
                </a14:m>
                <a:r>
                  <a:rPr sz="2400" b="0">
                    <a:solidFill>
                      <a:srgbClr val="78350F"/>
                    </a:solidFill>
                    <a:latin typeface="Arial"/>
                  </a:rPr>
                  <a:t> collinear gives a relation between the coefficients.</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Take </a:t>
                </a:r>
                <a:r>
                  <a:rPr lang="en-IN" sz="2400">
                    <a:solidFill>
                      <a:srgbClr val="78350F"/>
                    </a:solidFill>
                    <a:latin typeface="Cambria Math" panose="02040503050406030204" pitchFamily="18" charset="0"/>
                  </a:rPr>
                  <a:t>$A$</a:t>
                </a:r>
                <a:r>
                  <a:rPr sz="2400" b="0">
                    <a:solidFill>
                      <a:srgbClr val="78350F"/>
                    </a:solidFill>
                    <a:latin typeface="Arial"/>
                  </a:rPr>
                  <a:t> as origin and </a:t>
                </a:r>
                <a:r>
                  <a:rPr lang="en-IN" sz="2400">
                    <a:solidFill>
                      <a:srgbClr val="78350F"/>
                    </a:solidFill>
                    <a:latin typeface="Cambria Math" panose="02040503050406030204" pitchFamily="18" charset="0"/>
                  </a:rPr>
                  <a:t>$\vec b=\overrightarrow{AB}$</a:t>
                </a:r>
                <a:r>
                  <a:rPr sz="2400" b="0">
                    <a:solidFill>
                      <a:srgbClr val="78350F"/>
                    </a:solidFill>
                    <a:latin typeface="Arial"/>
                  </a:rPr>
                  <a:t>, </a:t>
                </a:r>
                <a:r>
                  <a:rPr lang="en-IN" sz="2400">
                    <a:solidFill>
                      <a:srgbClr val="78350F"/>
                    </a:solidFill>
                    <a:latin typeface="Cambria Math" panose="02040503050406030204" pitchFamily="18" charset="0"/>
                  </a:rPr>
                  <a:t>$\vec d=\overrightarrow{AD}$</a:t>
                </a:r>
                <a:r>
                  <a:rPr sz="2400" b="0">
                    <a:solidFill>
                      <a:srgbClr val="78350F"/>
                    </a:solidFill>
                    <a:latin typeface="Arial"/>
                  </a:rPr>
                  <a:t> as independent vectors; </a:t>
                </a:r>
                <a:r>
                  <a:rPr lang="en-IN" sz="2400">
                    <a:solidFill>
                      <a:srgbClr val="78350F"/>
                    </a:solidFill>
                    <a:latin typeface="Cambria Math" panose="02040503050406030204" pitchFamily="18" charset="0"/>
                  </a:rPr>
                  <a:t>$P,Q,R$</a:t>
                </a:r>
                <a:r>
                  <a:rPr sz="2400" b="0">
                    <a:solidFill>
                      <a:srgbClr val="78350F"/>
                    </a:solidFill>
                    <a:latin typeface="Arial"/>
                  </a:rPr>
                  <a:t> collinear gives a relation between the coefficients.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as the origin,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(independent),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oMath>
                </a14:m>
                <a:r>
                  <a:rPr sz="2400" b="0">
                    <a:solidFill>
                      <a:srgbClr val="111827"/>
                    </a:solidFill>
                    <a:latin typeface="Arial"/>
                  </a:rPr>
                  <a:t> are collinear, so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𝑅</m:t>
                    </m:r>
                  </m:oMath>
                </a14:m>
                <a:r>
                  <a:rPr sz="2400" b="0">
                    <a:solidFill>
                      <a:srgbClr val="111827"/>
                    </a:solidFill>
                    <a:latin typeface="Arial"/>
                  </a:rPr>
                  <a:t> for some scalar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$A$</a:t>
                </a:r>
                <a:r>
                  <a:rPr sz="2400" b="0">
                    <a:solidFill>
                      <a:srgbClr val="111827"/>
                    </a:solidFill>
                    <a:latin typeface="Arial"/>
                  </a:rPr>
                  <a:t> as the origin, </a:t>
                </a:r>
                <a:r>
                  <a:rPr lang="en-IN" sz="2400">
                    <a:solidFill>
                      <a:srgbClr val="111827"/>
                    </a:solidFill>
                    <a:latin typeface="Cambria Math" panose="02040503050406030204" pitchFamily="18" charset="0"/>
                  </a:rPr>
                  <a:t>$\overrightarrow{AB}=\vec b$</a:t>
                </a:r>
                <a:r>
                  <a:rPr sz="2400" b="0">
                    <a:solidFill>
                      <a:srgbClr val="111827"/>
                    </a:solidFill>
                    <a:latin typeface="Arial"/>
                  </a:rPr>
                  <a:t>, </a:t>
                </a:r>
                <a:r>
                  <a:rPr lang="en-IN" sz="2400">
                    <a:solidFill>
                      <a:srgbClr val="111827"/>
                    </a:solidFill>
                    <a:latin typeface="Cambria Math" panose="02040503050406030204" pitchFamily="18" charset="0"/>
                  </a:rPr>
                  <a:t>$\overrightarrow{AD}=\vec d$</a:t>
                </a:r>
                <a:r>
                  <a:rPr sz="2400" b="0">
                    <a:solidFill>
                      <a:srgbClr val="111827"/>
                    </a:solidFill>
                    <a:latin typeface="Arial"/>
                  </a:rPr>
                  <a:t> (independent), so </a:t>
                </a:r>
                <a:r>
                  <a:rPr lang="en-IN" sz="2400">
                    <a:solidFill>
                      <a:srgbClr val="111827"/>
                    </a:solidFill>
                    <a:latin typeface="Cambria Math" panose="02040503050406030204" pitchFamily="18" charset="0"/>
                  </a:rPr>
                  <a:t>$\overrightarrow{AC}=\vec b+\vec 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$P=\lambda_1\vec b$</a:t>
                </a:r>
                <a:r>
                  <a:rPr sz="2400" b="0">
                    <a:solidFill>
                      <a:srgbClr val="111827"/>
                    </a:solidFill>
                    <a:latin typeface="Arial"/>
                  </a:rPr>
                  <a:t>, </a:t>
                </a:r>
                <a:r>
                  <a:rPr lang="en-IN" sz="2400">
                    <a:solidFill>
                      <a:srgbClr val="111827"/>
                    </a:solidFill>
                    <a:latin typeface="Cambria Math" panose="02040503050406030204" pitchFamily="18" charset="0"/>
                  </a:rPr>
                  <a:t>$\ R=\lambda_2\vec d$</a:t>
                </a:r>
                <a:r>
                  <a:rPr sz="2400" b="0">
                    <a:solidFill>
                      <a:srgbClr val="111827"/>
                    </a:solidFill>
                    <a:latin typeface="Arial"/>
                  </a:rPr>
                  <a:t>, </a:t>
                </a:r>
                <a:r>
                  <a:rPr lang="en-IN" sz="2400">
                    <a:solidFill>
                      <a:srgbClr val="111827"/>
                    </a:solidFill>
                    <a:latin typeface="Cambria Math" panose="02040503050406030204" pitchFamily="18" charset="0"/>
                  </a:rPr>
                  <a:t>$\ Q=\frac{\lambda_3}{2}(\vec b+\vec 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$P,Q,R$</a:t>
                </a:r>
                <a:r>
                  <a:rPr sz="2400" b="0">
                    <a:solidFill>
                      <a:srgbClr val="111827"/>
                    </a:solidFill>
                    <a:latin typeface="Arial"/>
                  </a:rPr>
                  <a:t> are collinear, so </a:t>
                </a:r>
                <a:r>
                  <a:rPr lang="en-IN" sz="2400">
                    <a:solidFill>
                      <a:srgbClr val="111827"/>
                    </a:solidFill>
                    <a:latin typeface="Cambria Math" panose="02040503050406030204" pitchFamily="18" charset="0"/>
                  </a:rPr>
                  <a:t>$Q=(1-t)P+tR$</a:t>
                </a:r>
                <a:r>
                  <a:rPr sz="2400" b="0">
                    <a:solidFill>
                      <a:srgbClr val="111827"/>
                    </a:solidFill>
                    <a:latin typeface="Arial"/>
                  </a:rPr>
                  <a:t> for some scalar </a:t>
                </a:r>
                <a:r>
                  <a:rPr lang="en-IN" sz="2400">
                    <a:solidFill>
                      <a:srgbClr val="111827"/>
                    </a:solidFill>
                    <a:latin typeface="Cambria Math" panose="02040503050406030204" pitchFamily="18" charset="0"/>
                  </a:rPr>
                  <a:t>$t$</a:t>
                </a:r>
                <a:r>
                  <a:rPr sz="2400" b="0">
                    <a:solidFill>
                      <a:srgbClr val="111827"/>
                    </a:solidFill>
                    <a:latin typeface="Arial"/>
                  </a:rPr>
                  <a:t>: </a:t>
                </a:r>
                <a:r>
                  <a:rPr lang="en-IN" sz="2400">
                    <a:solidFill>
                      <a:srgbClr val="111827"/>
                    </a:solidFill>
                    <a:latin typeface="Cambria Math" panose="02040503050406030204" pitchFamily="18" charset="0"/>
                  </a:rPr>
                  <a:t>$\frac{\lambda_3}{2}\vec b+\frac{\lambda_3}{2}\vec d=(1-t)\lambda_1\vec b+t\lambda_2\vec d$</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Equating coefficients of the independent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adding,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the reciprocals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are in A.P., i.e. </a:t>
                </a:r>
                <a14:m>
                  <m:oMath xmlns:m="http://schemas.openxmlformats.org/officeDocument/2006/math">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in H.P. (the PDF has no solution: its solution is a broken image).</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Equating coefficients of the independent vectors </a:t>
                </a:r>
                <a:r>
                  <a:rPr lang="en-IN" sz="2400">
                    <a:solidFill>
                      <a:srgbClr val="111827"/>
                    </a:solidFill>
                    <a:latin typeface="Cambria Math" panose="02040503050406030204" pitchFamily="18" charset="0"/>
                  </a:rPr>
                  <a:t>$\vec b,\vec d$</a:t>
                </a:r>
                <a:r>
                  <a:rPr sz="2400" b="0">
                    <a:solidFill>
                      <a:srgbClr val="111827"/>
                    </a:solidFill>
                    <a:latin typeface="Arial"/>
                  </a:rPr>
                  <a:t>: </a:t>
                </a:r>
                <a:r>
                  <a:rPr lang="en-IN" sz="2400">
                    <a:solidFill>
                      <a:srgbClr val="111827"/>
                    </a:solidFill>
                    <a:latin typeface="Cambria Math" panose="02040503050406030204" pitchFamily="18" charset="0"/>
                  </a:rPr>
                  <a:t>$\frac{\lambda_3}{2}=(1-t)\lambda_1$</a:t>
                </a:r>
                <a:r>
                  <a:rPr sz="2400" b="0">
                    <a:solidFill>
                      <a:srgbClr val="111827"/>
                    </a:solidFill>
                    <a:latin typeface="Arial"/>
                  </a:rPr>
                  <a:t> and </a:t>
                </a:r>
                <a:r>
                  <a:rPr lang="en-IN" sz="2400">
                    <a:solidFill>
                      <a:srgbClr val="111827"/>
                    </a:solidFill>
                    <a:latin typeface="Cambria Math" panose="02040503050406030204" pitchFamily="18" charset="0"/>
                  </a:rPr>
                  <a:t>$\frac{\lambda_3}{2}=t\lambda_2$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$1-t=\frac{\lambda_3}{2\lambda_1}$</a:t>
                </a:r>
                <a:r>
                  <a:rPr sz="2400" b="0">
                    <a:solidFill>
                      <a:srgbClr val="111827"/>
                    </a:solidFill>
                    <a:latin typeface="Arial"/>
                  </a:rPr>
                  <a:t> and </a:t>
                </a:r>
                <a:r>
                  <a:rPr lang="en-IN" sz="2400">
                    <a:solidFill>
                      <a:srgbClr val="111827"/>
                    </a:solidFill>
                    <a:latin typeface="Cambria Math" panose="02040503050406030204" pitchFamily="18" charset="0"/>
                  </a:rPr>
                  <a:t>$t=\frac{\lambda_3}{2\lambda_2}$</a:t>
                </a:r>
                <a:r>
                  <a:rPr sz="2400" b="0">
                    <a:solidFill>
                      <a:srgbClr val="111827"/>
                    </a:solidFill>
                    <a:latin typeface="Arial"/>
                  </a:rPr>
                  <a:t>; adding, </a:t>
                </a:r>
                <a:r>
                  <a:rPr lang="en-IN" sz="2400">
                    <a:solidFill>
                      <a:srgbClr val="111827"/>
                    </a:solidFill>
                    <a:latin typeface="Cambria Math" panose="02040503050406030204" pitchFamily="18" charset="0"/>
                  </a:rPr>
                  <a:t>$1=\frac{\lambda_3}{2}\left(\frac1{\lambda_1}+\frac1{\lambda_2}\right)$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$\Rightarrow\frac{2}{\lambda_3}=\frac1{\lambda_1}+\frac1{\lambda_2}$</a:t>
                </a:r>
                <a:r>
                  <a:rPr sz="2400" b="0">
                    <a:solidFill>
                      <a:srgbClr val="111827"/>
                    </a:solidFill>
                    <a:latin typeface="Arial"/>
                  </a:rPr>
                  <a:t>: the reciprocals </a:t>
                </a:r>
                <a:r>
                  <a:rPr lang="en-IN" sz="2400">
                    <a:solidFill>
                      <a:srgbClr val="111827"/>
                    </a:solidFill>
                    <a:latin typeface="Cambria Math" panose="02040503050406030204" pitchFamily="18" charset="0"/>
                  </a:rPr>
                  <a:t>$\frac1{\lambda_1},\frac1{\lambda_3},\frac1{\lambda_2}$</a:t>
                </a:r>
                <a:r>
                  <a:rPr sz="2400" b="0">
                    <a:solidFill>
                      <a:srgbClr val="111827"/>
                    </a:solidFill>
                    <a:latin typeface="Arial"/>
                  </a:rPr>
                  <a:t> are in A.P., i.e. </a:t>
                </a:r>
                <a:r>
                  <a:rPr lang="en-IN" sz="2400">
                    <a:solidFill>
                      <a:srgbClr val="111827"/>
                    </a:solidFill>
                    <a:latin typeface="Cambria Math" panose="02040503050406030204" pitchFamily="18" charset="0"/>
                  </a:rPr>
                  <a:t>$\lambda_1,\lambda_3,\lambda_2$</a:t>
                </a:r>
                <a:r>
                  <a:rPr sz="2400" b="0">
                    <a:solidFill>
                      <a:srgbClr val="111827"/>
                    </a:solidFill>
                    <a:latin typeface="Arial"/>
                  </a:rPr>
                  <a:t> are in H.P. (the PDF has no solution: its solution is a broken image).</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Proved: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m:t>
                        </m:r>
                      </m:num>
                      <m:den>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3</m:t>
                            </m:r>
                          </m:sub>
                        </m:sSub>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1</m:t>
                            </m:r>
                          </m:sub>
                        </m:sSub>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2</m:t>
                            </m:r>
                          </m:sub>
                        </m:sSub>
                      </m:den>
                    </m:f>
                  </m:oMath>
                </a14:m>
                <a:r>
                  <a:rPr sz="2800" b="1">
                    <a:solidFill>
                      <a:srgbClr val="15803D"/>
                    </a:solidFill>
                    <a:latin typeface="Arial"/>
                  </a:rPr>
                  <a:t>, i.e. </a:t>
                </a:r>
                <a14:m>
                  <m:oMath xmlns:m="http://schemas.openxmlformats.org/officeDocument/2006/math">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1</m:t>
                        </m:r>
                      </m:sub>
                    </m:sSub>
                    <m:r>
                      <m:rPr>
                        <m:sty m:val="p"/>
                      </m:rPr>
                      <a:rPr lang="en-IN" sz="2800">
                        <a:solidFill>
                          <a:srgbClr val="15803D"/>
                        </a:solidFill>
                        <a:latin typeface="Cambria Math" panose="02040503050406030204" pitchFamily="18" charset="0"/>
                      </a:rPr>
                      <m:t>,</m:t>
                    </m:r>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3</m:t>
                        </m:r>
                      </m:sub>
                    </m:sSub>
                    <m:r>
                      <m:rPr>
                        <m:sty m:val="p"/>
                      </m:rPr>
                      <a:rPr lang="en-IN" sz="2800">
                        <a:solidFill>
                          <a:srgbClr val="15803D"/>
                        </a:solidFill>
                        <a:latin typeface="Cambria Math" panose="02040503050406030204" pitchFamily="18" charset="0"/>
                      </a:rPr>
                      <m:t>,</m:t>
                    </m:r>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2</m:t>
                        </m:r>
                      </m:sub>
                    </m:sSub>
                  </m:oMath>
                </a14:m>
                <a:r>
                  <a:rPr sz="2800" b="1">
                    <a:solidFill>
                      <a:srgbClr val="15803D"/>
                    </a:solidFill>
                    <a:latin typeface="Arial"/>
                  </a:rPr>
                  <a:t> are in H.P. (with </a:t>
                </a:r>
                <a14:m>
                  <m:oMath xmlns:m="http://schemas.openxmlformats.org/officeDocument/2006/math">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3</m:t>
                        </m:r>
                      </m:sub>
                    </m:sSub>
                  </m:oMath>
                </a14:m>
                <a:r>
                  <a:rPr sz="2800" b="1">
                    <a:solidFill>
                      <a:srgbClr val="15803D"/>
                    </a:solidFill>
                    <a:latin typeface="Arial"/>
                  </a:rPr>
                  <a:t> the middle term).</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Proved: </a:t>
                </a:r>
                <a:r>
                  <a:rPr lang="en-IN" sz="2800">
                    <a:solidFill>
                      <a:srgbClr val="15803D"/>
                    </a:solidFill>
                    <a:latin typeface="Cambria Math" panose="02040503050406030204" pitchFamily="18" charset="0"/>
                  </a:rPr>
                  <a:t>$\frac{2}{\lambda_3}=\frac1{\lambda_1}+\frac1{\lambda_2}$</a:t>
                </a:r>
                <a:r>
                  <a:rPr sz="2800" b="1">
                    <a:solidFill>
                      <a:srgbClr val="15803D"/>
                    </a:solidFill>
                    <a:latin typeface="Arial"/>
                  </a:rPr>
                  <a:t>, i.e. </a:t>
                </a:r>
                <a:r>
                  <a:rPr lang="en-IN" sz="2800">
                    <a:solidFill>
                      <a:srgbClr val="15803D"/>
                    </a:solidFill>
                    <a:latin typeface="Cambria Math" panose="02040503050406030204" pitchFamily="18" charset="0"/>
                  </a:rPr>
                  <a:t>$\lambda_1,\lambda_3,\lambda_2$</a:t>
                </a:r>
                <a:r>
                  <a:rPr sz="2800" b="1">
                    <a:solidFill>
                      <a:srgbClr val="15803D"/>
                    </a:solidFill>
                    <a:latin typeface="Arial"/>
                  </a:rPr>
                  <a:t> are in H.P. (with </a:t>
                </a:r>
                <a:r>
                  <a:rPr lang="en-IN" sz="2800">
                    <a:solidFill>
                      <a:srgbClr val="15803D"/>
                    </a:solidFill>
                    <a:latin typeface="Cambria Math" panose="02040503050406030204" pitchFamily="18" charset="0"/>
                  </a:rPr>
                  <a:t>$\lambda_3$</a:t>
                </a:r>
                <a:r>
                  <a:rPr sz="2800" b="1">
                    <a:solidFill>
                      <a:srgbClr val="15803D"/>
                    </a:solidFill>
                    <a:latin typeface="Arial"/>
                  </a:rPr>
                  <a:t> the middle term).</a:t>
                </a:r>
                <a:endParaRPr sz="2800">
                  <a:solidFill>
                    <a:srgbClr val="15803D"/>
                  </a:solidFill>
                </a:endParaRPr>
              </a:p>
            </p:txBody>
          </p:sp>
        </mc:Fallback>
      </mc:AlternateContent>
    </p:spTree>
  </p:cSld>
  <p:clrMapOvr>
    <a:masterClrMapping/>
  </p:clrMapOvr>
</p:sld>
</file>

<file path=ppt/slides/slide4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oblique coordinates along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𝐷</m:t>
                    </m:r>
                  </m:oMath>
                </a14:m>
                <a:r>
                  <a:rPr sz="2400" b="0">
                    <a:solidFill>
                      <a:srgbClr val="78350F"/>
                    </a:solidFill>
                    <a:latin typeface="Arial"/>
                  </a:rPr>
                  <a:t>: the line </a:t>
                </a:r>
                <a14:m>
                  <m:oMath xmlns:m="http://schemas.openxmlformats.org/officeDocument/2006/math">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𝑅</m:t>
                    </m:r>
                  </m:oMath>
                </a14:m>
                <a:r>
                  <a:rPr sz="2400" b="0">
                    <a:solidFill>
                      <a:srgbClr val="78350F"/>
                    </a:solidFill>
                    <a:latin typeface="Arial"/>
                  </a:rPr>
                  <a:t> has an intercept form, and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 must satisfy it.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oblique coordinates along </a:t>
                </a:r>
                <a:r>
                  <a:rPr lang="en-IN" sz="2400">
                    <a:solidFill>
                      <a:srgbClr val="78350F"/>
                    </a:solidFill>
                    <a:latin typeface="Cambria Math" panose="02040503050406030204" pitchFamily="18" charset="0"/>
                  </a:rPr>
                  <a:t>$AB$</a:t>
                </a:r>
                <a:r>
                  <a:rPr sz="2400" b="0">
                    <a:solidFill>
                      <a:srgbClr val="78350F"/>
                    </a:solidFill>
                    <a:latin typeface="Arial"/>
                  </a:rPr>
                  <a:t> and </a:t>
                </a:r>
                <a:r>
                  <a:rPr lang="en-IN" sz="2400">
                    <a:solidFill>
                      <a:srgbClr val="78350F"/>
                    </a:solidFill>
                    <a:latin typeface="Cambria Math" panose="02040503050406030204" pitchFamily="18" charset="0"/>
                  </a:rPr>
                  <a:t>$AD$</a:t>
                </a:r>
                <a:r>
                  <a:rPr sz="2400" b="0">
                    <a:solidFill>
                      <a:srgbClr val="78350F"/>
                    </a:solidFill>
                    <a:latin typeface="Arial"/>
                  </a:rPr>
                  <a:t>: the line </a:t>
                </a:r>
                <a:r>
                  <a:rPr lang="en-IN" sz="2400">
                    <a:solidFill>
                      <a:srgbClr val="78350F"/>
                    </a:solidFill>
                    <a:latin typeface="Cambria Math" panose="02040503050406030204" pitchFamily="18" charset="0"/>
                  </a:rPr>
                  <a:t>$PR$</a:t>
                </a:r>
                <a:r>
                  <a:rPr sz="2400" b="0">
                    <a:solidFill>
                      <a:srgbClr val="78350F"/>
                    </a:solidFill>
                    <a:latin typeface="Arial"/>
                  </a:rPr>
                  <a:t> has an intercept form, and </a:t>
                </a:r>
                <a:r>
                  <a:rPr lang="en-IN" sz="2400">
                    <a:solidFill>
                      <a:srgbClr val="78350F"/>
                    </a:solidFill>
                    <a:latin typeface="Cambria Math" panose="02040503050406030204" pitchFamily="18" charset="0"/>
                  </a:rPr>
                  <a:t>$Q$</a:t>
                </a:r>
                <a:r>
                  <a:rPr sz="2400" b="0">
                    <a:solidFill>
                      <a:srgbClr val="78350F"/>
                    </a:solidFill>
                    <a:latin typeface="Arial"/>
                  </a:rPr>
                  <a:t> must satisfy it.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as origin and axes along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the units of the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oMath>
                </a14:m>
                <a:r>
                  <a:rPr sz="2400" b="0">
                    <a:solidFill>
                      <a:srgbClr val="111827"/>
                    </a:solidFill>
                    <a:latin typeface="Arial"/>
                  </a:rPr>
                  <a:t> (affine coordinates are enough because lines and ratios are preserved)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$A$</a:t>
                </a:r>
                <a:r>
                  <a:rPr sz="2400" b="0">
                    <a:solidFill>
                      <a:srgbClr val="111827"/>
                    </a:solidFill>
                    <a:latin typeface="Arial"/>
                  </a:rPr>
                  <a:t> as origin and axes along </a:t>
                </a:r>
                <a:r>
                  <a:rPr lang="en-IN" sz="2400">
                    <a:solidFill>
                      <a:srgbClr val="111827"/>
                    </a:solidFill>
                    <a:latin typeface="Cambria Math" panose="02040503050406030204" pitchFamily="18" charset="0"/>
                  </a:rPr>
                  <a:t>$AB,AD$</a:t>
                </a:r>
                <a:r>
                  <a:rPr sz="2400" b="0">
                    <a:solidFill>
                      <a:srgbClr val="111827"/>
                    </a:solidFill>
                    <a:latin typeface="Arial"/>
                  </a:rPr>
                  <a:t>, </a:t>
                </a:r>
                <a:r>
                  <a:rPr lang="en-IN" sz="2400">
                    <a:solidFill>
                      <a:srgbClr val="111827"/>
                    </a:solidFill>
                    <a:latin typeface="Cambria Math" panose="02040503050406030204" pitchFamily="18" charset="0"/>
                  </a:rPr>
                  <a:t>$P=(\lambda_1,0)$</a:t>
                </a:r>
                <a:r>
                  <a:rPr sz="2400" b="0">
                    <a:solidFill>
                      <a:srgbClr val="111827"/>
                    </a:solidFill>
                    <a:latin typeface="Arial"/>
                  </a:rPr>
                  <a:t>, </a:t>
                </a:r>
                <a:r>
                  <a:rPr lang="en-IN" sz="2400">
                    <a:solidFill>
                      <a:srgbClr val="111827"/>
                    </a:solidFill>
                    <a:latin typeface="Cambria Math" panose="02040503050406030204" pitchFamily="18" charset="0"/>
                  </a:rPr>
                  <a:t>$R=(0,\lambda_2)$</a:t>
                </a:r>
                <a:r>
                  <a:rPr sz="2400" b="0">
                    <a:solidFill>
                      <a:srgbClr val="111827"/>
                    </a:solidFill>
                    <a:latin typeface="Arial"/>
                  </a:rPr>
                  <a:t> in the units of the vectors </a:t>
                </a:r>
                <a:r>
                  <a:rPr lang="en-IN" sz="2400">
                    <a:solidFill>
                      <a:srgbClr val="111827"/>
                    </a:solidFill>
                    <a:latin typeface="Cambria Math" panose="02040503050406030204" pitchFamily="18" charset="0"/>
                  </a:rPr>
                  <a:t>$\vec b,\vec 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a:t>
                </a:r>
                <a:r>
                  <a:rPr lang="en-IN" sz="2400">
                    <a:solidFill>
                      <a:srgbClr val="111827"/>
                    </a:solidFill>
                    <a:latin typeface="Cambria Math" panose="02040503050406030204" pitchFamily="18" charset="0"/>
                  </a:rPr>
                  <a:t>$PR$</a:t>
                </a:r>
                <a:r>
                  <a:rPr sz="2400" b="0">
                    <a:solidFill>
                      <a:srgbClr val="111827"/>
                    </a:solidFill>
                    <a:latin typeface="Arial"/>
                  </a:rPr>
                  <a:t> (affine coordinates are enough because lines and ratios are preserved) is </a:t>
                </a:r>
                <a:r>
                  <a:rPr lang="en-IN" sz="2400">
                    <a:solidFill>
                      <a:srgbClr val="111827"/>
                    </a:solidFill>
                    <a:latin typeface="Cambria Math" panose="02040503050406030204" pitchFamily="18" charset="0"/>
                  </a:rPr>
                  <a:t>$\frac{x}{\lambda_1}+\frac{y}{\lambda_2}=1$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has coordinates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and lies on the line: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which is the H.P. relation.</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$Q=\frac{\lambda_3}{2}(\vec b+\vec d)$</a:t>
                </a:r>
                <a:r>
                  <a:rPr sz="2400" b="0">
                    <a:solidFill>
                      <a:srgbClr val="111827"/>
                    </a:solidFill>
                    <a:latin typeface="Arial"/>
                  </a:rPr>
                  <a:t> has coordinates </a:t>
                </a:r>
                <a:r>
                  <a:rPr lang="en-IN" sz="2400">
                    <a:solidFill>
                      <a:srgbClr val="111827"/>
                    </a:solidFill>
                    <a:latin typeface="Cambria Math" panose="02040503050406030204" pitchFamily="18" charset="0"/>
                  </a:rPr>
                  <a:t>$\left(\frac{\lambda_3}{2},\frac{\lambda_3}{2}\right)$</a:t>
                </a:r>
                <a:r>
                  <a:rPr sz="2400" b="0">
                    <a:solidFill>
                      <a:srgbClr val="111827"/>
                    </a:solidFill>
                    <a:latin typeface="Arial"/>
                  </a:rPr>
                  <a:t> and lies on the line: </a:t>
                </a:r>
                <a:r>
                  <a:rPr lang="en-IN" sz="2400">
                    <a:solidFill>
                      <a:srgbClr val="111827"/>
                    </a:solidFill>
                    <a:latin typeface="Cambria Math" panose="02040503050406030204" pitchFamily="18" charset="0"/>
                  </a:rPr>
                  <a:t>$\frac{\lambda_3}{2}\left(\frac1{\lambda_1}+\frac1{\lambda_2}\right)=1$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$\frac2{\lambda_3}=\frac1{\lambda_1}+\frac1{\lambda_2}$</a:t>
                </a:r>
                <a:r>
                  <a:rPr sz="2400" b="0">
                    <a:solidFill>
                      <a:srgbClr val="111827"/>
                    </a:solidFill>
                    <a:latin typeface="Arial"/>
                  </a:rPr>
                  <a:t>, which is the H.P. relation.</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Proved: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2</m:t>
                        </m:r>
                      </m:num>
                      <m:den>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3</m:t>
                            </m:r>
                          </m:sub>
                        </m:sSub>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1</m:t>
                            </m:r>
                          </m:sub>
                        </m:sSub>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2</m:t>
                            </m:r>
                          </m:sub>
                        </m:sSub>
                      </m:den>
                    </m:f>
                  </m:oMath>
                </a14:m>
                <a:r>
                  <a:rPr sz="2800" b="1">
                    <a:solidFill>
                      <a:srgbClr val="15803D"/>
                    </a:solidFill>
                    <a:latin typeface="Arial"/>
                  </a:rPr>
                  <a:t>, i.e. </a:t>
                </a:r>
                <a14:m>
                  <m:oMath xmlns:m="http://schemas.openxmlformats.org/officeDocument/2006/math">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1</m:t>
                        </m:r>
                      </m:sub>
                    </m:sSub>
                    <m:r>
                      <m:rPr>
                        <m:sty m:val="p"/>
                      </m:rPr>
                      <a:rPr lang="en-IN" sz="2800">
                        <a:solidFill>
                          <a:srgbClr val="15803D"/>
                        </a:solidFill>
                        <a:latin typeface="Cambria Math" panose="02040503050406030204" pitchFamily="18" charset="0"/>
                      </a:rPr>
                      <m:t>,</m:t>
                    </m:r>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3</m:t>
                        </m:r>
                      </m:sub>
                    </m:sSub>
                    <m:r>
                      <m:rPr>
                        <m:sty m:val="p"/>
                      </m:rPr>
                      <a:rPr lang="en-IN" sz="2800">
                        <a:solidFill>
                          <a:srgbClr val="15803D"/>
                        </a:solidFill>
                        <a:latin typeface="Cambria Math" panose="02040503050406030204" pitchFamily="18" charset="0"/>
                      </a:rPr>
                      <m:t>,</m:t>
                    </m:r>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2</m:t>
                        </m:r>
                      </m:sub>
                    </m:sSub>
                  </m:oMath>
                </a14:m>
                <a:r>
                  <a:rPr sz="2800" b="1">
                    <a:solidFill>
                      <a:srgbClr val="15803D"/>
                    </a:solidFill>
                    <a:latin typeface="Arial"/>
                  </a:rPr>
                  <a:t> are in H.P. (with </a:t>
                </a:r>
                <a14:m>
                  <m:oMath xmlns:m="http://schemas.openxmlformats.org/officeDocument/2006/math">
                    <m:sSub>
                      <m:e>
                        <m:r>
                          <a:rPr lang="en-IN" sz="2800" i="1">
                            <a:solidFill>
                              <a:srgbClr val="15803D"/>
                            </a:solidFill>
                            <a:latin typeface="Cambria Math" panose="02040503050406030204" pitchFamily="18" charset="0"/>
                          </a:rPr>
                          <m:t>λ</m:t>
                        </m:r>
                      </m:e>
                      <m:sub>
                        <m:r>
                          <a:rPr lang="en-IN" sz="2800" i="1">
                            <a:solidFill>
                              <a:srgbClr val="15803D"/>
                            </a:solidFill>
                            <a:latin typeface="Cambria Math" panose="02040503050406030204" pitchFamily="18" charset="0"/>
                          </a:rPr>
                          <m:t>3</m:t>
                        </m:r>
                      </m:sub>
                    </m:sSub>
                  </m:oMath>
                </a14:m>
                <a:r>
                  <a:rPr sz="2800" b="1">
                    <a:solidFill>
                      <a:srgbClr val="15803D"/>
                    </a:solidFill>
                    <a:latin typeface="Arial"/>
                  </a:rPr>
                  <a:t> the middle term).</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Proved: </a:t>
                </a:r>
                <a:r>
                  <a:rPr lang="en-IN" sz="2800">
                    <a:solidFill>
                      <a:srgbClr val="15803D"/>
                    </a:solidFill>
                    <a:latin typeface="Cambria Math" panose="02040503050406030204" pitchFamily="18" charset="0"/>
                  </a:rPr>
                  <a:t>$\frac{2}{\lambda_3}=\frac1{\lambda_1}+\frac1{\lambda_2}$</a:t>
                </a:r>
                <a:r>
                  <a:rPr sz="2800" b="1">
                    <a:solidFill>
                      <a:srgbClr val="15803D"/>
                    </a:solidFill>
                    <a:latin typeface="Arial"/>
                  </a:rPr>
                  <a:t>, i.e. </a:t>
                </a:r>
                <a:r>
                  <a:rPr lang="en-IN" sz="2800">
                    <a:solidFill>
                      <a:srgbClr val="15803D"/>
                    </a:solidFill>
                    <a:latin typeface="Cambria Math" panose="02040503050406030204" pitchFamily="18" charset="0"/>
                  </a:rPr>
                  <a:t>$\lambda_1,\lambda_3,\lambda_2$</a:t>
                </a:r>
                <a:r>
                  <a:rPr sz="2800" b="1">
                    <a:solidFill>
                      <a:srgbClr val="15803D"/>
                    </a:solidFill>
                    <a:latin typeface="Arial"/>
                  </a:rPr>
                  <a:t> are in H.P. (with </a:t>
                </a:r>
                <a:r>
                  <a:rPr lang="en-IN" sz="2800">
                    <a:solidFill>
                      <a:srgbClr val="15803D"/>
                    </a:solidFill>
                    <a:latin typeface="Cambria Math" panose="02040503050406030204" pitchFamily="18" charset="0"/>
                  </a:rPr>
                  <a:t>$\lambda_3$</a:t>
                </a:r>
                <a:r>
                  <a:rPr sz="2800" b="1">
                    <a:solidFill>
                      <a:srgbClr val="15803D"/>
                    </a:solidFill>
                    <a:latin typeface="Arial"/>
                  </a:rPr>
                  <a:t> the middle term).</a:t>
                </a:r>
                <a:endParaRPr sz="2800">
                  <a:solidFill>
                    <a:srgbClr val="15803D"/>
                  </a:solidFill>
                </a:endParaRPr>
              </a:p>
            </p:txBody>
          </p:sp>
        </mc:Fallback>
      </mc:AlternateContent>
    </p:spTree>
  </p:cSld>
  <p:clrMapOvr>
    <a:masterClrMapping/>
  </p:clrMapOvr>
</p:sld>
</file>

<file path=ppt/slides/slide4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Three points </a:t>
                </a:r>
                <a14:m>
                  <m:oMath xmlns:m="http://schemas.openxmlformats.org/officeDocument/2006/math">
                    <m:r>
                      <a:rPr lang="en-IN" sz="2400" i="1">
                        <a:solidFill>
                          <a:srgbClr val="111827"/>
                        </a:solidFill>
                        <a:latin typeface="Cambria Math" panose="02040503050406030204" pitchFamily="18" charset="0"/>
                      </a:rPr>
                      <m:t>α</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β</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independent are collinear iff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α</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β</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γ</m:t>
                        </m:r>
                      </m:den>
                    </m:f>
                  </m:oMath>
                </a14:m>
                <a:r>
                  <a:rPr sz="2400" b="0">
                    <a:solidFill>
                      <a:srgbClr val="111827"/>
                    </a:solidFill>
                    <a:latin typeface="Arial"/>
                  </a:rPr>
                  <a:t> (the intercept relation).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line cutting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oMath>
                </a14:m>
                <a:r>
                  <a:rPr sz="2400" b="0">
                    <a:solidFill>
                      <a:srgbClr val="111827"/>
                    </a:solidFill>
                    <a:latin typeface="Arial"/>
                  </a:rPr>
                  <a:t> and the diagonal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oMath>
                </a14:m>
                <a:r>
                  <a:rPr sz="2400" b="0">
                    <a:solidFill>
                      <a:srgbClr val="111827"/>
                    </a:solidFill>
                    <a:latin typeface="Arial"/>
                  </a:rPr>
                  <a:t> of a parallelogram at fractions </a:t>
                </a:r>
                <a14:m>
                  <m:oMath xmlns:m="http://schemas.openxmlformats.org/officeDocument/2006/math">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oMath>
                </a14:m>
                <a:r>
                  <a:rPr sz="2400" b="0">
                    <a:solidFill>
                      <a:srgbClr val="111827"/>
                    </a:solidFill>
                    <a:latin typeface="Arial"/>
                  </a:rPr>
                  <a:t> of the sides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μ</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μ</m:t>
                        </m:r>
                      </m:den>
                    </m:f>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μ</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λ</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Three points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are collinear iff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compare coefficients of independent vectors.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Three points </a:t>
                </a:r>
                <a:r>
                  <a:rPr lang="en-IN" sz="2400">
                    <a:solidFill>
                      <a:srgbClr val="111827"/>
                    </a:solidFill>
                    <a:latin typeface="Cambria Math" panose="02040503050406030204" pitchFamily="18" charset="0"/>
                  </a:rPr>
                  <a:t>$\alpha\vec b,\ \beta\vec d,\ \gamma(\vec b+\vec d)$</a:t>
                </a:r>
                <a:r>
                  <a:rPr sz="2400" b="0">
                    <a:solidFill>
                      <a:srgbClr val="111827"/>
                    </a:solidFill>
                    <a:latin typeface="Arial"/>
                  </a:rPr>
                  <a:t> with </a:t>
                </a:r>
                <a:r>
                  <a:rPr lang="en-IN" sz="2400">
                    <a:solidFill>
                      <a:srgbClr val="111827"/>
                    </a:solidFill>
                    <a:latin typeface="Cambria Math" panose="02040503050406030204" pitchFamily="18" charset="0"/>
                  </a:rPr>
                  <a:t>$\vec b,\vec d$</a:t>
                </a:r>
                <a:r>
                  <a:rPr sz="2400" b="0">
                    <a:solidFill>
                      <a:srgbClr val="111827"/>
                    </a:solidFill>
                    <a:latin typeface="Arial"/>
                  </a:rPr>
                  <a:t> independent are collinear iff </a:t>
                </a:r>
                <a:r>
                  <a:rPr lang="en-IN" sz="2400">
                    <a:solidFill>
                      <a:srgbClr val="111827"/>
                    </a:solidFill>
                    <a:latin typeface="Cambria Math" panose="02040503050406030204" pitchFamily="18" charset="0"/>
                  </a:rPr>
                  <a:t>$\frac1\alpha+\frac1\beta=\frac1\gamma$</a:t>
                </a:r>
                <a:r>
                  <a:rPr sz="2400" b="0">
                    <a:solidFill>
                      <a:srgbClr val="111827"/>
                    </a:solidFill>
                    <a:latin typeface="Arial"/>
                  </a:rPr>
                  <a:t> (the intercept relation).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line cutting </a:t>
                </a:r>
                <a:r>
                  <a:rPr lang="en-IN" sz="2400">
                    <a:solidFill>
                      <a:srgbClr val="111827"/>
                    </a:solidFill>
                    <a:latin typeface="Cambria Math" panose="02040503050406030204" pitchFamily="18" charset="0"/>
                  </a:rPr>
                  <a:t>$AB,AD$</a:t>
                </a:r>
                <a:r>
                  <a:rPr sz="2400" b="0">
                    <a:solidFill>
                      <a:srgbClr val="111827"/>
                    </a:solidFill>
                    <a:latin typeface="Arial"/>
                  </a:rPr>
                  <a:t> and the diagonal </a:t>
                </a:r>
                <a:r>
                  <a:rPr lang="en-IN" sz="2400">
                    <a:solidFill>
                      <a:srgbClr val="111827"/>
                    </a:solidFill>
                    <a:latin typeface="Cambria Math" panose="02040503050406030204" pitchFamily="18" charset="0"/>
                  </a:rPr>
                  <a:t>$AC$</a:t>
                </a:r>
                <a:r>
                  <a:rPr sz="2400" b="0">
                    <a:solidFill>
                      <a:srgbClr val="111827"/>
                    </a:solidFill>
                    <a:latin typeface="Arial"/>
                  </a:rPr>
                  <a:t> of a parallelogram at fractions </a:t>
                </a:r>
                <a:r>
                  <a:rPr lang="en-IN" sz="2400">
                    <a:solidFill>
                      <a:srgbClr val="111827"/>
                    </a:solidFill>
                    <a:latin typeface="Cambria Math" panose="02040503050406030204" pitchFamily="18" charset="0"/>
                  </a:rPr>
                  <a:t>$\lambda_1,\lambda_2,\mu$</a:t>
                </a:r>
                <a:r>
                  <a:rPr sz="2400" b="0">
                    <a:solidFill>
                      <a:srgbClr val="111827"/>
                    </a:solidFill>
                    <a:latin typeface="Arial"/>
                  </a:rPr>
                  <a:t> of the sides (</a:t>
                </a:r>
                <a:r>
                  <a:rPr lang="en-IN" sz="2400">
                    <a:solidFill>
                      <a:srgbClr val="111827"/>
                    </a:solidFill>
                    <a:latin typeface="Cambria Math" panose="02040503050406030204" pitchFamily="18" charset="0"/>
                  </a:rPr>
                  <a:t>$AQ=\mu AC$</a:t>
                </a:r>
                <a:r>
                  <a:rPr sz="2400" b="0">
                    <a:solidFill>
                      <a:srgbClr val="111827"/>
                    </a:solidFill>
                    <a:latin typeface="Arial"/>
                  </a:rPr>
                  <a:t>): </a:t>
                </a:r>
                <a:r>
                  <a:rPr lang="en-IN" sz="2400">
                    <a:solidFill>
                      <a:srgbClr val="111827"/>
                    </a:solidFill>
                    <a:latin typeface="Cambria Math" panose="02040503050406030204" pitchFamily="18" charset="0"/>
                  </a:rPr>
                  <a:t>$\frac1{\lambda_1}+\frac1{\lambda_2}=\frac1\mu$</a:t>
                </a:r>
                <a:r>
                  <a:rPr sz="2400" b="0">
                    <a:solidFill>
                      <a:srgbClr val="111827"/>
                    </a:solidFill>
                    <a:latin typeface="Arial"/>
                  </a:rPr>
                  <a:t>; here </a:t>
                </a:r>
                <a:r>
                  <a:rPr lang="en-IN" sz="2400">
                    <a:solidFill>
                      <a:srgbClr val="111827"/>
                    </a:solidFill>
                    <a:latin typeface="Cambria Math" panose="02040503050406030204" pitchFamily="18" charset="0"/>
                  </a:rPr>
                  <a:t>$\mu=\frac{\lambda_3}{2}$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Three points </a:t>
                </a:r>
                <a:r>
                  <a:rPr lang="en-IN" sz="2400">
                    <a:solidFill>
                      <a:srgbClr val="111827"/>
                    </a:solidFill>
                    <a:latin typeface="Cambria Math" panose="02040503050406030204" pitchFamily="18" charset="0"/>
                  </a:rPr>
                  <a:t>$\vec p,\vec q,\vec r$</a:t>
                </a:r>
                <a:r>
                  <a:rPr sz="2400" b="0">
                    <a:solidFill>
                      <a:srgbClr val="111827"/>
                    </a:solidFill>
                    <a:latin typeface="Arial"/>
                  </a:rPr>
                  <a:t> are collinear iff </a:t>
                </a:r>
                <a:r>
                  <a:rPr lang="en-IN" sz="2400">
                    <a:solidFill>
                      <a:srgbClr val="111827"/>
                    </a:solidFill>
                    <a:latin typeface="Cambria Math" panose="02040503050406030204" pitchFamily="18" charset="0"/>
                  </a:rPr>
                  <a:t>$\vec q=(1-t)\vec p+t\vec r$</a:t>
                </a:r>
                <a:r>
                  <a:rPr sz="2400" b="0">
                    <a:solidFill>
                      <a:srgbClr val="111827"/>
                    </a:solidFill>
                    <a:latin typeface="Arial"/>
                  </a:rPr>
                  <a:t>; compare coefficients of independent vectors.</a:t>
                </a:r>
                <a:endParaRPr sz="2400">
                  <a:solidFill>
                    <a:srgbClr val="111827"/>
                  </a:solidFill>
                </a:endParaRPr>
              </a:p>
            </p:txBody>
          </p:sp>
        </mc:Fallback>
      </mc:AlternateContent>
    </p:spTree>
  </p:cSld>
  <p:clrMapOvr>
    <a:masterClrMapping/>
  </p:clrMapOvr>
</p:sld>
</file>

<file path=ppt/slides/slide4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radical centre of the following set of circles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Find the equations of the straight line passing through the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intersect the straight line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parallel to the plane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radical centre of the following set of circles </a:t>
                </a:r>
                <a:r>
                  <a:rPr lang="en-IN" sz="2400">
                    <a:solidFill>
                      <a:srgbClr val="111827"/>
                    </a:solidFill>
                    <a:latin typeface="Cambria Math" panose="02040503050406030204" pitchFamily="18" charset="0"/>
                  </a:rPr>
                  <a:t>$x^2+y^2-3x-6y+14=0$</a:t>
                </a:r>
                <a:r>
                  <a:rPr sz="2400" b="0">
                    <a:solidFill>
                      <a:srgbClr val="111827"/>
                    </a:solidFill>
                    <a:latin typeface="Arial"/>
                  </a:rPr>
                  <a:t> ; </a:t>
                </a:r>
                <a:r>
                  <a:rPr lang="en-IN" sz="2400">
                    <a:solidFill>
                      <a:srgbClr val="111827"/>
                    </a:solidFill>
                    <a:latin typeface="Cambria Math" panose="02040503050406030204" pitchFamily="18" charset="0"/>
                  </a:rPr>
                  <a:t>$x^2+y^2-x-4y+8=0$</a:t>
                </a:r>
                <a:r>
                  <a:rPr sz="2400" b="0">
                    <a:solidFill>
                      <a:srgbClr val="111827"/>
                    </a:solidFill>
                    <a:latin typeface="Arial"/>
                  </a:rPr>
                  <a:t> , </a:t>
                </a:r>
                <a:r>
                  <a:rPr lang="en-IN" sz="2400">
                    <a:solidFill>
                      <a:srgbClr val="111827"/>
                    </a:solidFill>
                    <a:latin typeface="Cambria Math" panose="02040503050406030204" pitchFamily="18" charset="0"/>
                  </a:rPr>
                  <a:t>$x^2+y^2+2x-6y+9=0$</a:t>
                </a:r>
                <a:r>
                  <a:rPr sz="2400" b="0">
                    <a:solidFill>
                      <a:srgbClr val="111827"/>
                    </a:solidFill>
                    <a:latin typeface="Arial"/>
                  </a:rPr>
                  <a:t> is </a:t>
                </a:r>
                <a:r>
                  <a:rPr lang="en-IN" sz="2400">
                    <a:solidFill>
                      <a:srgbClr val="111827"/>
                    </a:solidFill>
                    <a:latin typeface="Cambria Math" panose="02040503050406030204" pitchFamily="18" charset="0"/>
                  </a:rPr>
                  <a:t>$(\alpha,\beta)$</a:t>
                </a:r>
                <a:r>
                  <a:rPr sz="2400" b="0">
                    <a:solidFill>
                      <a:srgbClr val="111827"/>
                    </a:solidFill>
                    <a:latin typeface="Arial"/>
                  </a:rPr>
                  <a:t>. Find the equations of the straight line passing through the point </a:t>
                </a:r>
                <a:r>
                  <a:rPr lang="en-IN" sz="2400">
                    <a:solidFill>
                      <a:srgbClr val="111827"/>
                    </a:solidFill>
                    <a:latin typeface="Cambria Math" panose="02040503050406030204" pitchFamily="18" charset="0"/>
                  </a:rPr>
                  <a:t>$(\alpha,\beta,3)$</a:t>
                </a:r>
                <a:r>
                  <a:rPr sz="2400" b="0">
                    <a:solidFill>
                      <a:srgbClr val="111827"/>
                    </a:solidFill>
                    <a:latin typeface="Arial"/>
                  </a:rPr>
                  <a:t> to intersect the straight line </a:t>
                </a:r>
                <a:r>
                  <a:rPr lang="en-IN" sz="2400">
                    <a:solidFill>
                      <a:srgbClr val="111827"/>
                    </a:solidFill>
                    <a:latin typeface="Cambria Math" panose="02040503050406030204" pitchFamily="18" charset="0"/>
                  </a:rPr>
                  <a:t>$x+1=2(y-2)=z+4$</a:t>
                </a:r>
                <a:r>
                  <a:rPr sz="2400" b="0">
                    <a:solidFill>
                      <a:srgbClr val="111827"/>
                    </a:solidFill>
                    <a:latin typeface="Arial"/>
                  </a:rPr>
                  <a:t> and parallel to the plane </a:t>
                </a:r>
                <a:r>
                  <a:rPr lang="en-IN" sz="2400">
                    <a:solidFill>
                      <a:srgbClr val="111827"/>
                    </a:solidFill>
                    <a:latin typeface="Cambria Math" panose="02040503050406030204" pitchFamily="18" charset="0"/>
                  </a:rPr>
                  <a:t>$x+5y+4z=0$</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888739"/>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Radical centre of three circles, Line through a point meeting a line and parallel to a plane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Radical centre: solve two radical axes; the required line goes through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a point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 of the given line with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𝑃</m:t>
                        </m:r>
                        <m:r>
                          <a:rPr lang="en-IN" sz="2400" i="1">
                            <a:solidFill>
                              <a:srgbClr val="78350F"/>
                            </a:solidFill>
                            <a:latin typeface="Cambria Math" panose="02040503050406030204" pitchFamily="18" charset="0"/>
                          </a:rPr>
                          <m:t>𝑄</m:t>
                        </m:r>
                      </m:e>
                    </m:acc>
                    <m:r>
                      <m:rPr>
                        <m:sty m:val="p"/>
                      </m:rPr>
                      <a:rPr lang="en-IN" sz="2400">
                        <a:solidFill>
                          <a:srgbClr val="78350F"/>
                        </a:solidFill>
                        <a:latin typeface="Cambria Math" panose="02040503050406030204" pitchFamily="18" charset="0"/>
                      </a:rPr>
                      <m:t>⟂</m:t>
                    </m:r>
                  </m:oMath>
                </a14:m>
                <a:r>
                  <a:rPr sz="2400" b="0">
                    <a:solidFill>
                      <a:srgbClr val="78350F"/>
                    </a:solidFill>
                    <a:latin typeface="Arial"/>
                  </a:rPr>
                  <a:t> normal of the plane.</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Radical centre: solve two radical axes; the required line goes through </a:t>
                </a:r>
                <a:r>
                  <a:rPr lang="en-IN" sz="2400">
                    <a:solidFill>
                      <a:srgbClr val="78350F"/>
                    </a:solidFill>
                    <a:latin typeface="Cambria Math" panose="02040503050406030204" pitchFamily="18" charset="0"/>
                  </a:rPr>
                  <a:t>$(1,2,3)$</a:t>
                </a:r>
                <a:r>
                  <a:rPr sz="2400" b="0">
                    <a:solidFill>
                      <a:srgbClr val="78350F"/>
                    </a:solidFill>
                    <a:latin typeface="Arial"/>
                  </a:rPr>
                  <a:t> and a point </a:t>
                </a:r>
                <a:r>
                  <a:rPr lang="en-IN" sz="2400">
                    <a:solidFill>
                      <a:srgbClr val="78350F"/>
                    </a:solidFill>
                    <a:latin typeface="Cambria Math" panose="02040503050406030204" pitchFamily="18" charset="0"/>
                  </a:rPr>
                  <a:t>$Q$</a:t>
                </a:r>
                <a:r>
                  <a:rPr sz="2400" b="0">
                    <a:solidFill>
                      <a:srgbClr val="78350F"/>
                    </a:solidFill>
                    <a:latin typeface="Arial"/>
                  </a:rPr>
                  <a:t> of the given line with </a:t>
                </a:r>
                <a:r>
                  <a:rPr lang="en-IN" sz="2400">
                    <a:solidFill>
                      <a:srgbClr val="78350F"/>
                    </a:solidFill>
                    <a:latin typeface="Cambria Math" panose="02040503050406030204" pitchFamily="18" charset="0"/>
                  </a:rPr>
                  <a:t>$\overrightarrow{PQ}\perp$</a:t>
                </a:r>
                <a:r>
                  <a:rPr sz="2400" b="0">
                    <a:solidFill>
                      <a:srgbClr val="78350F"/>
                    </a:solidFill>
                    <a:latin typeface="Arial"/>
                  </a:rPr>
                  <a:t> normal of the plane.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and (2):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the radical centre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point is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line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oMath>
                </a14:m>
                <a:r>
                  <a:rPr sz="2400" b="0">
                    <a:solidFill>
                      <a:srgbClr val="111827"/>
                    </a:solidFill>
                    <a:latin typeface="Arial"/>
                  </a:rPr>
                  <a:t>; a point on it is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PDF prints the middle coordinate as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 slip).</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$S_1-S_2=0$</a:t>
                </a:r>
                <a:r>
                  <a:rPr sz="2400" b="0">
                    <a:solidFill>
                      <a:srgbClr val="111827"/>
                    </a:solidFill>
                    <a:latin typeface="Arial"/>
                  </a:rPr>
                  <a:t>: </a:t>
                </a:r>
                <a:r>
                  <a:rPr lang="en-IN" sz="2400">
                    <a:solidFill>
                      <a:srgbClr val="111827"/>
                    </a:solidFill>
                    <a:latin typeface="Cambria Math" panose="02040503050406030204" pitchFamily="18" charset="0"/>
                  </a:rPr>
                  <a:t>$-2x-2y+6=0\Rightarrow x+y=3$</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$S_2-S_3=0$</a:t>
                </a:r>
                <a:r>
                  <a:rPr sz="2400" b="0">
                    <a:solidFill>
                      <a:srgbClr val="111827"/>
                    </a:solidFill>
                    <a:latin typeface="Arial"/>
                  </a:rPr>
                  <a:t>: </a:t>
                </a:r>
                <a:r>
                  <a:rPr lang="en-IN" sz="2400">
                    <a:solidFill>
                      <a:srgbClr val="111827"/>
                    </a:solidFill>
                    <a:latin typeface="Cambria Math" panose="02040503050406030204" pitchFamily="18" charset="0"/>
                  </a:rPr>
                  <a:t>$-3x+2y-1=0\Rightarrow3x-2y+1=0$</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and (2): </a:t>
                </a:r>
                <a:r>
                  <a:rPr lang="en-IN" sz="2400">
                    <a:solidFill>
                      <a:srgbClr val="111827"/>
                    </a:solidFill>
                    <a:latin typeface="Cambria Math" panose="02040503050406030204" pitchFamily="18" charset="0"/>
                  </a:rPr>
                  <a:t>$x=1,\ y=2$</a:t>
                </a:r>
                <a:r>
                  <a:rPr sz="2400" b="0">
                    <a:solidFill>
                      <a:srgbClr val="111827"/>
                    </a:solidFill>
                    <a:latin typeface="Arial"/>
                  </a:rPr>
                  <a:t>, so the radical centre is </a:t>
                </a:r>
                <a:r>
                  <a:rPr lang="en-IN" sz="2400">
                    <a:solidFill>
                      <a:srgbClr val="111827"/>
                    </a:solidFill>
                    <a:latin typeface="Cambria Math" panose="02040503050406030204" pitchFamily="18" charset="0"/>
                  </a:rPr>
                  <a:t>$(1,2)$</a:t>
                </a:r>
                <a:r>
                  <a:rPr sz="2400" b="0">
                    <a:solidFill>
                      <a:srgbClr val="111827"/>
                    </a:solidFill>
                    <a:latin typeface="Arial"/>
                  </a:rPr>
                  <a:t>, i.e. </a:t>
                </a:r>
                <a:r>
                  <a:rPr lang="en-IN" sz="2400">
                    <a:solidFill>
                      <a:srgbClr val="111827"/>
                    </a:solidFill>
                    <a:latin typeface="Cambria Math" panose="02040503050406030204" pitchFamily="18" charset="0"/>
                  </a:rPr>
                  <a:t>$(\alpha,\beta)=(1,2)$</a:t>
                </a:r>
                <a:r>
                  <a:rPr sz="2400" b="0">
                    <a:solidFill>
                      <a:srgbClr val="111827"/>
                    </a:solidFill>
                    <a:latin typeface="Arial"/>
                  </a:rPr>
                  <a:t> and the point is </a:t>
                </a:r>
                <a:r>
                  <a:rPr lang="en-IN" sz="2400">
                    <a:solidFill>
                      <a:srgbClr val="111827"/>
                    </a:solidFill>
                    <a:latin typeface="Cambria Math" panose="02040503050406030204" pitchFamily="18" charset="0"/>
                  </a:rPr>
                  <a:t>$P(1,2,3)$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line is </a:t>
                </a:r>
                <a:r>
                  <a:rPr lang="en-IN" sz="2400">
                    <a:solidFill>
                      <a:srgbClr val="111827"/>
                    </a:solidFill>
                    <a:latin typeface="Cambria Math" panose="02040503050406030204" pitchFamily="18" charset="0"/>
                  </a:rPr>
                  <a:t>$\frac{x+1}{2}=\frac{y-2}{1}=\frac{z+4}{2}=\lambda$</a:t>
                </a:r>
                <a:r>
                  <a:rPr sz="2400" b="0">
                    <a:solidFill>
                      <a:srgbClr val="111827"/>
                    </a:solidFill>
                    <a:latin typeface="Arial"/>
                  </a:rPr>
                  <a:t>; a point on it is </a:t>
                </a:r>
                <a:r>
                  <a:rPr lang="en-IN" sz="2400">
                    <a:solidFill>
                      <a:srgbClr val="111827"/>
                    </a:solidFill>
                    <a:latin typeface="Cambria Math" panose="02040503050406030204" pitchFamily="18" charset="0"/>
                  </a:rPr>
                  <a:t>$Q(2\lambda-1,\ \lambda+2,\ 2\lambda-4)$</a:t>
                </a:r>
                <a:r>
                  <a:rPr sz="2400" b="0">
                    <a:solidFill>
                      <a:srgbClr val="111827"/>
                    </a:solidFill>
                    <a:latin typeface="Arial"/>
                  </a:rPr>
                  <a:t> (the PDF prints the middle coordinate as </a:t>
                </a:r>
                <a:r>
                  <a:rPr lang="en-IN" sz="2400">
                    <a:solidFill>
                      <a:srgbClr val="111827"/>
                    </a:solidFill>
                    <a:latin typeface="Cambria Math" panose="02040503050406030204" pitchFamily="18" charset="0"/>
                  </a:rPr>
                  <a:t>$\lambda+1$</a:t>
                </a:r>
                <a:r>
                  <a:rPr sz="2400" b="0">
                    <a:solidFill>
                      <a:srgbClr val="111827"/>
                    </a:solidFill>
                    <a:latin typeface="Arial"/>
                  </a:rPr>
                  <a:t>, a slip).</a:t>
                </a:r>
                <a:endParaRPr sz="2400">
                  <a:solidFill>
                    <a:srgbClr val="111827"/>
                  </a:solidFill>
                </a:endParaRPr>
              </a:p>
            </p:txBody>
          </p:sp>
        </mc:Fallback>
      </mc:AlternateContent>
    </p:spTree>
  </p:cSld>
  <p:clrMapOvr>
    <a:masterClrMapping/>
  </p:clrMapOvr>
</p:sld>
</file>

<file path=ppt/slides/slide4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must be parallel to the plane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line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$\overrightarrow{PQ}=(2\lambda-2,\ \lambda,\ 2\lambda-7)$</a:t>
                </a:r>
                <a:r>
                  <a:rPr sz="2400" b="0">
                    <a:solidFill>
                      <a:srgbClr val="111827"/>
                    </a:solidFill>
                    <a:latin typeface="Arial"/>
                  </a:rPr>
                  <a:t> must be parallel to the plane </a:t>
                </a:r>
                <a:r>
                  <a:rPr lang="en-IN" sz="2400">
                    <a:solidFill>
                      <a:srgbClr val="111827"/>
                    </a:solidFill>
                    <a:latin typeface="Cambria Math" panose="02040503050406030204" pitchFamily="18" charset="0"/>
                  </a:rPr>
                  <a:t>$x+5y+4z=0$</a:t>
                </a:r>
                <a:r>
                  <a:rPr sz="2400" b="0">
                    <a:solidFill>
                      <a:srgbClr val="111827"/>
                    </a:solidFill>
                    <a:latin typeface="Arial"/>
                  </a:rPr>
                  <a:t>: </a:t>
                </a:r>
                <a:r>
                  <a:rPr lang="en-IN" sz="2400">
                    <a:solidFill>
                      <a:srgbClr val="111827"/>
                    </a:solidFill>
                    <a:latin typeface="Cambria Math" panose="02040503050406030204" pitchFamily="18" charset="0"/>
                  </a:rPr>
                  <a:t>$\overrightarrow{PQ}\cdot(1,5,4)=0$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$1(2\lambda-2)+5\lambda+4(2\lambda-7)=0\Rightarrow15\lambda-30=0\Rightarrow\lambda=2$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$Q=(3,4,0)$</a:t>
                </a:r>
                <a:r>
                  <a:rPr sz="2400" b="0">
                    <a:solidFill>
                      <a:srgbClr val="111827"/>
                    </a:solidFill>
                    <a:latin typeface="Arial"/>
                  </a:rPr>
                  <a:t> and the line </a:t>
                </a:r>
                <a:r>
                  <a:rPr lang="en-IN" sz="2400">
                    <a:solidFill>
                      <a:srgbClr val="111827"/>
                    </a:solidFill>
                    <a:latin typeface="Cambria Math" panose="02040503050406030204" pitchFamily="18" charset="0"/>
                  </a:rPr>
                  <a:t>$PQ$</a:t>
                </a:r>
                <a:r>
                  <a:rPr sz="2400" b="0">
                    <a:solidFill>
                      <a:srgbClr val="111827"/>
                    </a:solidFill>
                    <a:latin typeface="Arial"/>
                  </a:rPr>
                  <a:t> is </a:t>
                </a:r>
                <a:r>
                  <a:rPr lang="en-IN" sz="2400">
                    <a:solidFill>
                      <a:srgbClr val="111827"/>
                    </a:solidFill>
                    <a:latin typeface="Cambria Math" panose="02040503050406030204" pitchFamily="18" charset="0"/>
                  </a:rPr>
                  <a:t>$\frac{x-1}{2}=\frac{y-2}{2}=\frac{z-3}{-3}$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num>
                      <m:den>
                        <m:r>
                          <a:rPr lang="en-IN" sz="2800" i="1">
                            <a:solidFill>
                              <a:srgbClr val="15803D"/>
                            </a:solidFill>
                            <a:latin typeface="Cambria Math" panose="02040503050406030204" pitchFamily="18" charset="0"/>
                          </a:rPr>
                          <m:t>2</m:t>
                        </m:r>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num>
                      <m:den>
                        <m:r>
                          <a:rPr lang="en-IN" sz="2800" i="1">
                            <a:solidFill>
                              <a:srgbClr val="15803D"/>
                            </a:solidFill>
                            <a:latin typeface="Cambria Math" panose="02040503050406030204" pitchFamily="18" charset="0"/>
                          </a:rPr>
                          <m:t>2</m:t>
                        </m:r>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𝑧</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num>
                      <m:den>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$\frac{x-1}{2}=\frac{y-2}{2}=\frac{z-3}{-3}$</a:t>
                </a:r>
                <a:endParaRPr sz="2800">
                  <a:solidFill>
                    <a:srgbClr val="15803D"/>
                  </a:solidFill>
                </a:endParaRPr>
              </a:p>
            </p:txBody>
          </p:sp>
        </mc:Fallback>
      </mc:AlternateContent>
    </p:spTree>
  </p:cSld>
  <p:clrMapOvr>
    <a:masterClrMapping/>
  </p:clrMapOvr>
</p:sld>
</file>

<file path=ppt/slides/slide4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required line lies in the plane through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and the given line; its direction is perpendicular to that plane's normal and to the normal of the given plane.</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required line lies in the plane through </a:t>
                </a:r>
                <a:r>
                  <a:rPr lang="en-IN" sz="2400">
                    <a:solidFill>
                      <a:srgbClr val="78350F"/>
                    </a:solidFill>
                    <a:latin typeface="Cambria Math" panose="02040503050406030204" pitchFamily="18" charset="0"/>
                  </a:rPr>
                  <a:t>$P$</a:t>
                </a:r>
                <a:r>
                  <a:rPr sz="2400" b="0">
                    <a:solidFill>
                      <a:srgbClr val="78350F"/>
                    </a:solidFill>
                    <a:latin typeface="Arial"/>
                  </a:rPr>
                  <a:t> and the given line; its direction is perpendicular to that plane's normal and to the normal of the given plane.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given line passes through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direction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of the plane through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the given line: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given line passes through </a:t>
                </a:r>
                <a:r>
                  <a:rPr lang="en-IN" sz="2400">
                    <a:solidFill>
                      <a:srgbClr val="111827"/>
                    </a:solidFill>
                    <a:latin typeface="Cambria Math" panose="02040503050406030204" pitchFamily="18" charset="0"/>
                  </a:rPr>
                  <a:t>$A_0(-1,2,-4)$</a:t>
                </a:r>
                <a:r>
                  <a:rPr sz="2400" b="0">
                    <a:solidFill>
                      <a:srgbClr val="111827"/>
                    </a:solidFill>
                    <a:latin typeface="Arial"/>
                  </a:rPr>
                  <a:t> with direction </a:t>
                </a:r>
                <a:r>
                  <a:rPr lang="en-IN" sz="2400">
                    <a:solidFill>
                      <a:srgbClr val="111827"/>
                    </a:solidFill>
                    <a:latin typeface="Cambria Math" panose="02040503050406030204" pitchFamily="18" charset="0"/>
                  </a:rPr>
                  <a:t>$(2,1,2)$</a:t>
                </a:r>
                <a:r>
                  <a:rPr sz="2400" b="0">
                    <a:solidFill>
                      <a:srgbClr val="111827"/>
                    </a:solidFill>
                    <a:latin typeface="Arial"/>
                  </a:rPr>
                  <a:t>; </a:t>
                </a:r>
                <a:r>
                  <a:rPr lang="en-IN" sz="2400">
                    <a:solidFill>
                      <a:srgbClr val="111827"/>
                    </a:solidFill>
                    <a:latin typeface="Cambria Math" panose="02040503050406030204" pitchFamily="18" charset="0"/>
                  </a:rPr>
                  <a:t>$\overrightarrow{A_0P}=(2,0,7)$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Normal of the plane through </a:t>
                </a:r>
                <a:r>
                  <a:rPr lang="en-IN" sz="2400">
                    <a:solidFill>
                      <a:srgbClr val="111827"/>
                    </a:solidFill>
                    <a:latin typeface="Cambria Math" panose="02040503050406030204" pitchFamily="18" charset="0"/>
                  </a:rPr>
                  <a:t>$P$</a:t>
                </a:r>
                <a:r>
                  <a:rPr sz="2400" b="0">
                    <a:solidFill>
                      <a:srgbClr val="111827"/>
                    </a:solidFill>
                    <a:latin typeface="Arial"/>
                  </a:rPr>
                  <a:t> and the given line: </a:t>
                </a:r>
                <a:r>
                  <a:rPr lang="en-IN" sz="2400">
                    <a:solidFill>
                      <a:srgbClr val="111827"/>
                    </a:solidFill>
                    <a:latin typeface="Cambria Math" panose="02040503050406030204" pitchFamily="18" charset="0"/>
                  </a:rPr>
                  <a:t>$(2,1,2)\times(2,0,7)=(7,-10,-2)$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required line lies in that plane and is parallel to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its direction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line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en>
                    </m:f>
                  </m:oMath>
                </a14:m>
                <a:r>
                  <a:rPr sz="2400" b="0">
                    <a:solidFill>
                      <a:srgbClr val="111827"/>
                    </a:solidFill>
                    <a:latin typeface="Arial"/>
                  </a:rPr>
                  <a:t>, the same line.</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required line lies in that plane and is parallel to </a:t>
                </a:r>
                <a:r>
                  <a:rPr lang="en-IN" sz="2400">
                    <a:solidFill>
                      <a:srgbClr val="111827"/>
                    </a:solidFill>
                    <a:latin typeface="Cambria Math" panose="02040503050406030204" pitchFamily="18" charset="0"/>
                  </a:rPr>
                  <a:t>$x+5y+4z=0$</a:t>
                </a:r>
                <a:r>
                  <a:rPr sz="2400" b="0">
                    <a:solidFill>
                      <a:srgbClr val="111827"/>
                    </a:solidFill>
                    <a:latin typeface="Arial"/>
                  </a:rPr>
                  <a:t>, so its direction is </a:t>
                </a:r>
                <a:r>
                  <a:rPr lang="en-IN" sz="2400">
                    <a:solidFill>
                      <a:srgbClr val="111827"/>
                    </a:solidFill>
                    <a:latin typeface="Cambria Math" panose="02040503050406030204" pitchFamily="18" charset="0"/>
                  </a:rPr>
                  <a:t>$(7,-10,-2)\times(1,5,4)=(-30,-30,45)\parallel(2,2,-3)$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line through </a:t>
                </a:r>
                <a:r>
                  <a:rPr lang="en-IN" sz="2400">
                    <a:solidFill>
                      <a:srgbClr val="111827"/>
                    </a:solidFill>
                    <a:latin typeface="Cambria Math" panose="02040503050406030204" pitchFamily="18" charset="0"/>
                  </a:rPr>
                  <a:t>$(1,2,3)$</a:t>
                </a:r>
                <a:r>
                  <a:rPr sz="2400" b="0">
                    <a:solidFill>
                      <a:srgbClr val="111827"/>
                    </a:solidFill>
                    <a:latin typeface="Arial"/>
                  </a:rPr>
                  <a:t> is </a:t>
                </a:r>
                <a:r>
                  <a:rPr lang="en-IN" sz="2400">
                    <a:solidFill>
                      <a:srgbClr val="111827"/>
                    </a:solidFill>
                    <a:latin typeface="Cambria Math" panose="02040503050406030204" pitchFamily="18" charset="0"/>
                  </a:rPr>
                  <a:t>$\frac{x-1}{2}=\frac{y-2}{2}=\frac{z-3}{-3}$</a:t>
                </a:r>
                <a:r>
                  <a:rPr sz="2400" b="0">
                    <a:solidFill>
                      <a:srgbClr val="111827"/>
                    </a:solidFill>
                    <a:latin typeface="Arial"/>
                  </a:rPr>
                  <a:t>, the same line.</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num>
                      <m:den>
                        <m:r>
                          <a:rPr lang="en-IN" sz="2800" i="1">
                            <a:solidFill>
                              <a:srgbClr val="15803D"/>
                            </a:solidFill>
                            <a:latin typeface="Cambria Math" panose="02040503050406030204" pitchFamily="18" charset="0"/>
                          </a:rPr>
                          <m:t>2</m:t>
                        </m:r>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num>
                      <m:den>
                        <m:r>
                          <a:rPr lang="en-IN" sz="2800" i="1">
                            <a:solidFill>
                              <a:srgbClr val="15803D"/>
                            </a:solidFill>
                            <a:latin typeface="Cambria Math" panose="02040503050406030204" pitchFamily="18" charset="0"/>
                          </a:rPr>
                          <m:t>2</m:t>
                        </m:r>
                      </m:den>
                    </m:f>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𝑧</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num>
                      <m:den>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$\frac{x-1}{2}=\frac{y-2}{2}=\frac{z-3}{-3}$</a:t>
                </a:r>
                <a:endParaRPr sz="2800">
                  <a:solidFill>
                    <a:srgbClr val="15803D"/>
                  </a:solidFill>
                </a:endParaRPr>
              </a:p>
            </p:txBody>
          </p:sp>
        </mc:Fallback>
      </mc:AlternateContent>
    </p:spTree>
  </p:cSld>
  <p:clrMapOvr>
    <a:masterClrMapping/>
  </p:clrMapOvr>
</p:sld>
</file>

<file path=ppt/slides/slide4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Radical centre of three circles: solve any two of the radical axes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through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meeting a given line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lies in the plane through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𝐿</m:t>
                    </m:r>
                  </m:oMath>
                </a14:m>
                <a:r>
                  <a:rPr sz="2400" b="0">
                    <a:solidFill>
                      <a:srgbClr val="111827"/>
                    </a:solidFill>
                    <a:latin typeface="Arial"/>
                  </a:rPr>
                  <a:t>: its direction is perpendicular to that plane's normal </a:t>
                </a:r>
                <a14:m>
                  <m:oMath xmlns:m="http://schemas.openxmlformats.org/officeDocument/2006/math">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e>
                      <m:sub>
                        <m:r>
                          <a:rPr lang="en-IN" sz="2400" i="1">
                            <a:solidFill>
                              <a:srgbClr val="111827"/>
                            </a:solidFill>
                            <a:latin typeface="Cambria Math" panose="02040503050406030204" pitchFamily="18" charset="0"/>
                          </a:rPr>
                          <m:t>𝐿</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r>
                          <a:rPr lang="en-IN" sz="2400" i="1">
                            <a:solidFill>
                              <a:srgbClr val="111827"/>
                            </a:solidFill>
                            <a:latin typeface="Cambria Math" panose="02040503050406030204" pitchFamily="18" charset="0"/>
                          </a:rPr>
                          <m:t>𝑃</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Being parallel to a plane with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means direction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the two conditions together give the direction as a cross product of the two normals.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Radical centre of three circles: solve any two of the radical axes </a:t>
                </a:r>
                <a:r>
                  <a:rPr lang="en-IN" sz="2400">
                    <a:solidFill>
                      <a:srgbClr val="111827"/>
                    </a:solidFill>
                    <a:latin typeface="Cambria Math" panose="02040503050406030204" pitchFamily="18" charset="0"/>
                  </a:rPr>
                  <a:t>$S_i-S_j=0$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line through </a:t>
                </a:r>
                <a:r>
                  <a:rPr lang="en-IN" sz="2400">
                    <a:solidFill>
                      <a:srgbClr val="111827"/>
                    </a:solidFill>
                    <a:latin typeface="Cambria Math" panose="02040503050406030204" pitchFamily="18" charset="0"/>
                  </a:rPr>
                  <a:t>$P$</a:t>
                </a:r>
                <a:r>
                  <a:rPr sz="2400" b="0">
                    <a:solidFill>
                      <a:srgbClr val="111827"/>
                    </a:solidFill>
                    <a:latin typeface="Arial"/>
                  </a:rPr>
                  <a:t> meeting a given line </a:t>
                </a:r>
                <a:r>
                  <a:rPr lang="en-IN" sz="2400">
                    <a:solidFill>
                      <a:srgbClr val="111827"/>
                    </a:solidFill>
                    <a:latin typeface="Cambria Math" panose="02040503050406030204" pitchFamily="18" charset="0"/>
                  </a:rPr>
                  <a:t>$L$</a:t>
                </a:r>
                <a:r>
                  <a:rPr sz="2400" b="0">
                    <a:solidFill>
                      <a:srgbClr val="111827"/>
                    </a:solidFill>
                    <a:latin typeface="Arial"/>
                  </a:rPr>
                  <a:t> lies in the plane through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$L$</a:t>
                </a:r>
                <a:r>
                  <a:rPr sz="2400" b="0">
                    <a:solidFill>
                      <a:srgbClr val="111827"/>
                    </a:solidFill>
                    <a:latin typeface="Arial"/>
                  </a:rPr>
                  <a:t>: its direction is perpendicular to that plane's normal </a:t>
                </a:r>
                <a:r>
                  <a:rPr lang="en-IN" sz="2400">
                    <a:solidFill>
                      <a:srgbClr val="111827"/>
                    </a:solidFill>
                    <a:latin typeface="Cambria Math" panose="02040503050406030204" pitchFamily="18" charset="0"/>
                  </a:rPr>
                  <a:t>$(\vec d_L\times\overrightarrow{A_0P})$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Being parallel to a plane with normal </a:t>
                </a:r>
                <a:r>
                  <a:rPr lang="en-IN" sz="2400">
                    <a:solidFill>
                      <a:srgbClr val="111827"/>
                    </a:solidFill>
                    <a:latin typeface="Cambria Math" panose="02040503050406030204" pitchFamily="18" charset="0"/>
                  </a:rPr>
                  <a:t>$\vec n$</a:t>
                </a:r>
                <a:r>
                  <a:rPr sz="2400" b="0">
                    <a:solidFill>
                      <a:srgbClr val="111827"/>
                    </a:solidFill>
                    <a:latin typeface="Arial"/>
                  </a:rPr>
                  <a:t> means direction </a:t>
                </a:r>
                <a:r>
                  <a:rPr lang="en-IN" sz="2400">
                    <a:solidFill>
                      <a:srgbClr val="111827"/>
                    </a:solidFill>
                    <a:latin typeface="Cambria Math" panose="02040503050406030204" pitchFamily="18" charset="0"/>
                  </a:rPr>
                  <a:t>$\perp\vec n$</a:t>
                </a:r>
                <a:r>
                  <a:rPr sz="2400" b="0">
                    <a:solidFill>
                      <a:srgbClr val="111827"/>
                    </a:solidFill>
                    <a:latin typeface="Arial"/>
                  </a:rPr>
                  <a:t>; the two conditions together give the direction as a cross product of the two normals.</a:t>
                </a:r>
                <a:endParaRPr sz="2400">
                  <a:solidFill>
                    <a:srgbClr val="111827"/>
                  </a:solidFill>
                </a:endParaRPr>
              </a:p>
            </p:txBody>
          </p:sp>
        </mc:Fallback>
      </mc:AlternateContent>
    </p:spTree>
  </p:cSld>
  <p:clrMapOvr>
    <a:masterClrMapping/>
  </p:clrMapOvr>
</p:sld>
</file>

<file path=ppt/slides/slide4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𝑊</m:t>
                        </m:r>
                      </m:e>
                    </m:acc>
                  </m:oMath>
                </a14:m>
                <a:r>
                  <a:rPr sz="2400" b="0">
                    <a:solidFill>
                      <a:srgbClr val="111827"/>
                    </a:solidFill>
                    <a:latin typeface="Arial"/>
                  </a:rPr>
                  <a:t> is a unit vector perpendicular to the plane of two other unit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Three unit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are along the angle bisectors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 respectively. If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then find the angle between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$\hat W$</a:t>
                </a:r>
                <a:r>
                  <a:rPr sz="2400" b="0">
                    <a:solidFill>
                      <a:srgbClr val="111827"/>
                    </a:solidFill>
                    <a:latin typeface="Arial"/>
                  </a:rPr>
                  <a:t> is a unit vector perpendicular to the plane of two other unit vectors </a:t>
                </a:r>
                <a:r>
                  <a:rPr lang="en-IN" sz="2400">
                    <a:solidFill>
                      <a:srgbClr val="111827"/>
                    </a:solidFill>
                    <a:latin typeface="Cambria Math" panose="02040503050406030204" pitchFamily="18" charset="0"/>
                  </a:rPr>
                  <a:t>$\hat u$</a:t>
                </a:r>
                <a:r>
                  <a:rPr sz="2400" b="0">
                    <a:solidFill>
                      <a:srgbClr val="111827"/>
                    </a:solidFill>
                    <a:latin typeface="Arial"/>
                  </a:rPr>
                  <a:t> and </a:t>
                </a:r>
                <a:r>
                  <a:rPr lang="en-IN" sz="2400">
                    <a:solidFill>
                      <a:srgbClr val="111827"/>
                    </a:solidFill>
                    <a:latin typeface="Cambria Math" panose="02040503050406030204" pitchFamily="18" charset="0"/>
                  </a:rPr>
                  <a:t>$\hat v$</a:t>
                </a:r>
                <a:r>
                  <a:rPr sz="2400" b="0">
                    <a:solidFill>
                      <a:srgbClr val="111827"/>
                    </a:solidFill>
                    <a:latin typeface="Arial"/>
                  </a:rPr>
                  <a:t>. Three unit vectors </a:t>
                </a:r>
                <a:r>
                  <a:rPr lang="en-IN" sz="2400">
                    <a:solidFill>
                      <a:srgbClr val="111827"/>
                    </a:solidFill>
                    <a:latin typeface="Cambria Math" panose="02040503050406030204" pitchFamily="18" charset="0"/>
                  </a:rPr>
                  <a:t>$\hat x,\hat y$</a:t>
                </a:r>
                <a:r>
                  <a:rPr sz="2400" b="0">
                    <a:solidFill>
                      <a:srgbClr val="111827"/>
                    </a:solidFill>
                    <a:latin typeface="Arial"/>
                  </a:rPr>
                  <a:t> and </a:t>
                </a:r>
                <a:r>
                  <a:rPr lang="en-IN" sz="2400">
                    <a:solidFill>
                      <a:srgbClr val="111827"/>
                    </a:solidFill>
                    <a:latin typeface="Cambria Math" panose="02040503050406030204" pitchFamily="18" charset="0"/>
                  </a:rPr>
                  <a:t>$\hat z$</a:t>
                </a:r>
                <a:r>
                  <a:rPr sz="2400" b="0">
                    <a:solidFill>
                      <a:srgbClr val="111827"/>
                    </a:solidFill>
                    <a:latin typeface="Arial"/>
                  </a:rPr>
                  <a:t> are along the angle bisectors of </a:t>
                </a:r>
                <a:r>
                  <a:rPr lang="en-IN" sz="2400">
                    <a:solidFill>
                      <a:srgbClr val="111827"/>
                    </a:solidFill>
                    <a:latin typeface="Cambria Math" panose="02040503050406030204" pitchFamily="18" charset="0"/>
                  </a:rPr>
                  <a:t>$\hat u,\hat v$</a:t>
                </a:r>
                <a:r>
                  <a:rPr sz="2400" b="0">
                    <a:solidFill>
                      <a:srgbClr val="111827"/>
                    </a:solidFill>
                    <a:latin typeface="Arial"/>
                  </a:rPr>
                  <a:t> ; </a:t>
                </a:r>
                <a:r>
                  <a:rPr lang="en-IN" sz="2400">
                    <a:solidFill>
                      <a:srgbClr val="111827"/>
                    </a:solidFill>
                    <a:latin typeface="Cambria Math" panose="02040503050406030204" pitchFamily="18" charset="0"/>
                  </a:rPr>
                  <a:t>$\hat v,\hat w$</a:t>
                </a:r>
                <a:r>
                  <a:rPr sz="2400" b="0">
                    <a:solidFill>
                      <a:srgbClr val="111827"/>
                    </a:solidFill>
                    <a:latin typeface="Arial"/>
                  </a:rPr>
                  <a:t> and </a:t>
                </a:r>
                <a:r>
                  <a:rPr lang="en-IN" sz="2400">
                    <a:solidFill>
                      <a:srgbClr val="111827"/>
                    </a:solidFill>
                    <a:latin typeface="Cambria Math" panose="02040503050406030204" pitchFamily="18" charset="0"/>
                  </a:rPr>
                  <a:t>$\hat w,\hat u$</a:t>
                </a:r>
                <a:r>
                  <a:rPr sz="2400" b="0">
                    <a:solidFill>
                      <a:srgbClr val="111827"/>
                    </a:solidFill>
                    <a:latin typeface="Arial"/>
                  </a:rPr>
                  <a:t> respectively. If </a:t>
                </a:r>
                <a:r>
                  <a:rPr lang="en-IN" sz="2400">
                    <a:solidFill>
                      <a:srgbClr val="111827"/>
                    </a:solidFill>
                    <a:latin typeface="Cambria Math" panose="02040503050406030204" pitchFamily="18" charset="0"/>
                  </a:rPr>
                  <a:t>$[\hat x\times\hat y\ \ \hat y\times\hat z\ \ \hat z\times\hat x]=\frac12$</a:t>
                </a:r>
                <a:r>
                  <a:rPr sz="2400" b="0">
                    <a:solidFill>
                      <a:srgbClr val="111827"/>
                    </a:solidFill>
                    <a:latin typeface="Arial"/>
                  </a:rPr>
                  <a:t> then find the angle between </a:t>
                </a:r>
                <a:r>
                  <a:rPr lang="en-IN" sz="2400">
                    <a:solidFill>
                      <a:srgbClr val="111827"/>
                    </a:solidFill>
                    <a:latin typeface="Cambria Math" panose="02040503050406030204" pitchFamily="18" charset="0"/>
                  </a:rPr>
                  <a:t>$\hat u$</a:t>
                </a:r>
                <a:r>
                  <a:rPr sz="2400" b="0">
                    <a:solidFill>
                      <a:srgbClr val="111827"/>
                    </a:solidFill>
                    <a:latin typeface="Arial"/>
                  </a:rPr>
                  <a:t> and </a:t>
                </a:r>
                <a:r>
                  <a:rPr lang="en-IN" sz="2400">
                    <a:solidFill>
                      <a:srgbClr val="111827"/>
                    </a:solidFill>
                    <a:latin typeface="Cambria Math" panose="02040503050406030204" pitchFamily="18" charset="0"/>
                  </a:rPr>
                  <a:t>$\hat v$</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37032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Angle bisectors and scalar triple product of unit vectors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4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α</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$[\hat x\times\hat y\ \ \hat y\times\hat z\ \ \hat z\times\hat x]=[\hat x\ \hat y\ \hat z]^2$</a:t>
                </a:r>
                <a:r>
                  <a:rPr sz="2400" b="0">
                    <a:solidFill>
                      <a:srgbClr val="78350F"/>
                    </a:solidFill>
                    <a:latin typeface="Arial"/>
                  </a:rPr>
                  <a:t> and </a:t>
                </a:r>
                <a:r>
                  <a:rPr lang="en-IN" sz="2400">
                    <a:solidFill>
                      <a:srgbClr val="78350F"/>
                    </a:solidFill>
                    <a:latin typeface="Cambria Math" panose="02040503050406030204" pitchFamily="18" charset="0"/>
                  </a:rPr>
                  <a:t>$[\hat x\ \hat y\ \hat z]=\sin\frac\alpha2$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angle between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be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den>
                    </m:f>
                  </m:oMath>
                </a14:m>
                <a:r>
                  <a:rPr sz="2400" b="0">
                    <a:solidFill>
                      <a:srgbClr val="111827"/>
                    </a:solidFill>
                    <a:latin typeface="Arial"/>
                  </a:rPr>
                  <a:t> (as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angle between </a:t>
                </a:r>
                <a:r>
                  <a:rPr lang="en-IN" sz="2400">
                    <a:solidFill>
                      <a:srgbClr val="111827"/>
                    </a:solidFill>
                    <a:latin typeface="Cambria Math" panose="02040503050406030204" pitchFamily="18" charset="0"/>
                  </a:rPr>
                  <a:t>$\hat u$</a:t>
                </a:r>
                <a:r>
                  <a:rPr sz="2400" b="0">
                    <a:solidFill>
                      <a:srgbClr val="111827"/>
                    </a:solidFill>
                    <a:latin typeface="Arial"/>
                  </a:rPr>
                  <a:t> and </a:t>
                </a:r>
                <a:r>
                  <a:rPr lang="en-IN" sz="2400">
                    <a:solidFill>
                      <a:srgbClr val="111827"/>
                    </a:solidFill>
                    <a:latin typeface="Cambria Math" panose="02040503050406030204" pitchFamily="18" charset="0"/>
                  </a:rPr>
                  <a:t>$\hat v$</a:t>
                </a:r>
                <a:r>
                  <a:rPr sz="2400" b="0">
                    <a:solidFill>
                      <a:srgbClr val="111827"/>
                    </a:solidFill>
                    <a:latin typeface="Arial"/>
                  </a:rPr>
                  <a:t> be </a:t>
                </a:r>
                <a:r>
                  <a:rPr lang="en-IN" sz="2400">
                    <a:solidFill>
                      <a:srgbClr val="111827"/>
                    </a:solidFill>
                    <a:latin typeface="Cambria Math" panose="02040503050406030204" pitchFamily="18" charset="0"/>
                  </a:rPr>
                  <a:t>$\alpha$</a:t>
                </a:r>
                <a:r>
                  <a:rPr sz="2400" b="0">
                    <a:solidFill>
                      <a:srgbClr val="111827"/>
                    </a:solidFill>
                    <a:latin typeface="Arial"/>
                  </a:rPr>
                  <a:t>. </a:t>
                </a:r>
                <a:r>
                  <a:rPr lang="en-IN" sz="2400">
                    <a:solidFill>
                      <a:srgbClr val="111827"/>
                    </a:solidFill>
                    <a:latin typeface="Cambria Math" panose="02040503050406030204" pitchFamily="18" charset="0"/>
                  </a:rPr>
                  <a:t>$\hat w\perp\hat u,\hat v$</a:t>
                </a:r>
                <a:r>
                  <a:rPr sz="2400" b="0">
                    <a:solidFill>
                      <a:srgbClr val="111827"/>
                    </a:solidFill>
                    <a:latin typeface="Arial"/>
                  </a:rPr>
                  <a:t> so </a:t>
                </a:r>
                <a:r>
                  <a:rPr lang="en-IN" sz="2400">
                    <a:solidFill>
                      <a:srgbClr val="111827"/>
                    </a:solidFill>
                    <a:latin typeface="Cambria Math" panose="02040503050406030204" pitchFamily="18" charset="0"/>
                  </a:rPr>
                  <a:t>$\hat w\cdot\hat u=\hat w\cdot\hat v=0$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$\hat x=\frac{\hat u+\hat v}{2\cos\frac\alpha2}$</a:t>
                </a:r>
                <a:r>
                  <a:rPr sz="2400" b="0">
                    <a:solidFill>
                      <a:srgbClr val="111827"/>
                    </a:solidFill>
                    <a:latin typeface="Arial"/>
                  </a:rPr>
                  <a:t> (as </a:t>
                </a:r>
                <a:r>
                  <a:rPr lang="en-IN" sz="2400">
                    <a:solidFill>
                      <a:srgbClr val="111827"/>
                    </a:solidFill>
                    <a:latin typeface="Cambria Math" panose="02040503050406030204" pitchFamily="18" charset="0"/>
                  </a:rPr>
                  <a:t>$|\hat u+\hat v|=2\cos\frac\alpha2$</a:t>
                </a:r>
                <a:r>
                  <a:rPr sz="2400" b="0">
                    <a:solidFill>
                      <a:srgbClr val="111827"/>
                    </a:solidFill>
                    <a:latin typeface="Arial"/>
                  </a:rPr>
                  <a:t>), </a:t>
                </a:r>
                <a:r>
                  <a:rPr lang="en-IN" sz="2400">
                    <a:solidFill>
                      <a:srgbClr val="111827"/>
                    </a:solidFill>
                    <a:latin typeface="Cambria Math" panose="02040503050406030204" pitchFamily="18" charset="0"/>
                  </a:rPr>
                  <a:t>$\ \hat y=\frac{\hat v+\hat w}{\sqrt2}$</a:t>
                </a:r>
                <a:r>
                  <a:rPr sz="2400" b="0">
                    <a:solidFill>
                      <a:srgbClr val="111827"/>
                    </a:solidFill>
                    <a:latin typeface="Arial"/>
                  </a:rPr>
                  <a:t>, </a:t>
                </a:r>
                <a:r>
                  <a:rPr lang="en-IN" sz="2400">
                    <a:solidFill>
                      <a:srgbClr val="111827"/>
                    </a:solidFill>
                    <a:latin typeface="Cambria Math" panose="02040503050406030204" pitchFamily="18" charset="0"/>
                  </a:rPr>
                  <a:t>$\ \hat z=\frac{\hat u+\hat w}{\sqrt2}$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$[\hat x\ \hat y\ \hat z]=\frac{1}{2\cos\frac\alpha2\cdot\sqrt2\cdot\sqrt2}[\hat u+\hat v\ \ \hat v+\hat w\ \ \hat u+\hat w]=\frac{1}{4\cos\frac\alpha2}\cdot2[\hat u\ \hat v\ \hat w]$</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oMath>
                </a14:m>
                <a:r>
                  <a:rPr sz="2400" b="0">
                    <a:solidFill>
                      <a:srgbClr val="111827"/>
                    </a:solidFill>
                    <a:latin typeface="Arial"/>
                  </a:rPr>
                  <a:t> (as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a unit vector),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$[\hat u\ \hat v\ \hat w]=(\hat u\times\hat v)\cdot\hat w=\sin\alpha$</a:t>
                </a:r>
                <a:r>
                  <a:rPr sz="2400" b="0">
                    <a:solidFill>
                      <a:srgbClr val="111827"/>
                    </a:solidFill>
                    <a:latin typeface="Arial"/>
                  </a:rPr>
                  <a:t> (as </a:t>
                </a:r>
                <a:r>
                  <a:rPr lang="en-IN" sz="2400">
                    <a:solidFill>
                      <a:srgbClr val="111827"/>
                    </a:solidFill>
                    <a:latin typeface="Cambria Math" panose="02040503050406030204" pitchFamily="18" charset="0"/>
                  </a:rPr>
                  <a:t>$\hat w\parallel\hat u\times\hat v$</a:t>
                </a:r>
                <a:r>
                  <a:rPr sz="2400" b="0">
                    <a:solidFill>
                      <a:srgbClr val="111827"/>
                    </a:solidFill>
                    <a:latin typeface="Arial"/>
                  </a:rPr>
                  <a:t>, a unit vector), so </a:t>
                </a:r>
                <a:r>
                  <a:rPr lang="en-IN" sz="2400">
                    <a:solidFill>
                      <a:srgbClr val="111827"/>
                    </a:solidFill>
                    <a:latin typeface="Cambria Math" panose="02040503050406030204" pitchFamily="18" charset="0"/>
                  </a:rPr>
                  <a:t>$[\hat x\ \hat y\ \hat z]=\frac{\sin\alpha}{2\cos\frac\alpha2}=\sin\frac\alpha2$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$[\hat x\times\hat y\ \ \hat y\times\hat z\ \ \hat z\times\hat x]=[\hat x\ \hat y\ \hat z]^2=\sin^2\frac\alpha2=\frac12$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$\sin\frac\alpha2=\frac{1}{\sqrt2}\Rightarrow\frac\alpha2=\frac\pi4\Rightarrow\alpha=\frac\pi2$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π</m:t>
                        </m:r>
                      </m:num>
                      <m:den>
                        <m:r>
                          <a:rPr lang="en-IN" sz="2800" i="1">
                            <a:solidFill>
                              <a:srgbClr val="15803D"/>
                            </a:solidFill>
                            <a:latin typeface="Cambria Math" panose="02040503050406030204" pitchFamily="18" charset="0"/>
                          </a:rPr>
                          <m:t>2</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$\frac\pi2$</a:t>
                </a:r>
                <a:endParaRPr sz="2800">
                  <a:solidFill>
                    <a:srgbClr val="15803D"/>
                  </a:solidFill>
                </a:endParaRPr>
              </a:p>
            </p:txBody>
          </p:sp>
        </mc:Fallback>
      </mc:AlternateContent>
    </p:spTree>
  </p:cSld>
  <p:clrMapOvr>
    <a:masterClrMapping/>
  </p:clrMapOvr>
</p:sld>
</file>

<file path=ppt/slides/slide4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Gram determinant of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oMath>
                </a14:m>
                <a:r>
                  <a:rPr sz="2400" b="0">
                    <a:solidFill>
                      <a:srgbClr val="78350F"/>
                    </a:solidFill>
                    <a:latin typeface="Arial"/>
                  </a:rPr>
                  <a:t> (their pairwise dot products are easy), since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𝑦</m:t>
                        </m:r>
                      </m:e>
                    </m:acc>
                    <m:r>
                      <a:rPr lang="en-IN" sz="2400" i="1">
                        <a:solidFill>
                          <a:srgbClr val="78350F"/>
                        </a:solidFill>
                        <a:latin typeface="Cambria Math" panose="02040503050406030204" pitchFamily="18" charset="0"/>
                      </a:rPr>
                      <m:t> </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det</m:t>
                    </m:r>
                    <m:r>
                      <a:rPr lang="en-IN" sz="2400" i="1">
                        <a:solidFill>
                          <a:srgbClr val="78350F"/>
                        </a:solidFill>
                        <a:latin typeface="Cambria Math" panose="02040503050406030204" pitchFamily="18" charset="0"/>
                      </a:rPr>
                      <m:t>𝐺</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Gram determinant of </a:t>
                </a:r>
                <a:r>
                  <a:rPr lang="en-IN" sz="2400">
                    <a:solidFill>
                      <a:srgbClr val="78350F"/>
                    </a:solidFill>
                    <a:latin typeface="Cambria Math" panose="02040503050406030204" pitchFamily="18" charset="0"/>
                  </a:rPr>
                  <a:t>$\hat x,\hat y,\hat z$</a:t>
                </a:r>
                <a:r>
                  <a:rPr sz="2400" b="0">
                    <a:solidFill>
                      <a:srgbClr val="78350F"/>
                    </a:solidFill>
                    <a:latin typeface="Arial"/>
                  </a:rPr>
                  <a:t> (their pairwise dot products are easy), since </a:t>
                </a:r>
                <a:r>
                  <a:rPr lang="en-IN" sz="2400">
                    <a:solidFill>
                      <a:srgbClr val="78350F"/>
                    </a:solidFill>
                    <a:latin typeface="Cambria Math" panose="02040503050406030204" pitchFamily="18" charset="0"/>
                  </a:rPr>
                  <a:t>$[\hat x\ \hat y\ \hat z]^2=\det G$</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(using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det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mr>
                          <m:m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e>
                              <m:r>
                                <a:rPr lang="en-IN" sz="2400" i="1">
                                  <a:solidFill>
                                    <a:srgbClr val="111827"/>
                                  </a:solidFill>
                                  <a:latin typeface="Cambria Math" panose="02040503050406030204" pitchFamily="18" charset="0"/>
                                </a:rPr>
                                <m:t>1</m:t>
                              </m:r>
                            </m:e>
                            <m:e>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e>
                          </m:mr>
                          <m:m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e>
                            <m:e>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e>
                            <m:e>
                              <m:r>
                                <a:rPr lang="en-IN" sz="2400" i="1">
                                  <a:solidFill>
                                    <a:srgbClr val="111827"/>
                                  </a:solidFill>
                                  <a:latin typeface="Cambria Math" panose="02040503050406030204" pitchFamily="18" charset="0"/>
                                </a:rPr>
                                <m:t>1</m:t>
                              </m:r>
                            </m:e>
                          </m:mr>
                        </m:m>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$c=\cos\frac\alpha2$</a:t>
                </a:r>
                <a:r>
                  <a:rPr sz="2400" b="0">
                    <a:solidFill>
                      <a:srgbClr val="111827"/>
                    </a:solidFill>
                    <a:latin typeface="Arial"/>
                  </a:rPr>
                  <a:t>: </a:t>
                </a:r>
                <a:r>
                  <a:rPr lang="en-IN" sz="2400">
                    <a:solidFill>
                      <a:srgbClr val="111827"/>
                    </a:solidFill>
                    <a:latin typeface="Cambria Math" panose="02040503050406030204" pitchFamily="18" charset="0"/>
                  </a:rPr>
                  <a:t>$\hat x\cdot\hat y=\frac{\hat u\cdot\hat v+\ldots}{\ldots}=\frac{c}{\sqrt2}$</a:t>
                </a:r>
                <a:r>
                  <a:rPr sz="2400" b="0">
                    <a:solidFill>
                      <a:srgbClr val="111827"/>
                    </a:solidFill>
                    <a:latin typeface="Arial"/>
                  </a:rPr>
                  <a:t>, </a:t>
                </a:r>
                <a:r>
                  <a:rPr lang="en-IN" sz="2400">
                    <a:solidFill>
                      <a:srgbClr val="111827"/>
                    </a:solidFill>
                    <a:latin typeface="Cambria Math" panose="02040503050406030204" pitchFamily="18" charset="0"/>
                  </a:rPr>
                  <a:t>$\ \hat x\cdot\hat z=\frac{c}{\sqrt2}$</a:t>
                </a:r>
                <a:r>
                  <a:rPr sz="2400" b="0">
                    <a:solidFill>
                      <a:srgbClr val="111827"/>
                    </a:solidFill>
                    <a:latin typeface="Arial"/>
                  </a:rPr>
                  <a:t>, </a:t>
                </a:r>
                <a:r>
                  <a:rPr lang="en-IN" sz="2400">
                    <a:solidFill>
                      <a:srgbClr val="111827"/>
                    </a:solidFill>
                    <a:latin typeface="Cambria Math" panose="02040503050406030204" pitchFamily="18" charset="0"/>
                  </a:rPr>
                  <a:t>$\ \hat y\cdot\hat z=\frac{\hat v\cdot\hat u+1}{2}=c^2$</a:t>
                </a:r>
                <a:r>
                  <a:rPr sz="2400" b="0">
                    <a:solidFill>
                      <a:srgbClr val="111827"/>
                    </a:solidFill>
                    <a:latin typeface="Arial"/>
                  </a:rPr>
                  <a:t> (using </a:t>
                </a:r>
                <a:r>
                  <a:rPr lang="en-IN" sz="2400">
                    <a:solidFill>
                      <a:srgbClr val="111827"/>
                    </a:solidFill>
                    <a:latin typeface="Cambria Math" panose="02040503050406030204" pitchFamily="18" charset="0"/>
                  </a:rPr>
                  <a:t>$1+\cos\alpha=2c^2$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$\det\left(\begin{matrix}1&amp;\frac c{\sqrt2}&amp;\frac c{\sqrt2}\\\frac c{\sqrt2}&amp;1&amp;c^2\\\frac c{\sqrt2}&amp;c^2&amp;1\end{matrix}\right)=(1-c^2)(1+c^2)-c^2(1-c^2)=1-c^2=\sin^2\frac\alpha2$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𝑦</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$[\hat x\times\hat y\ \ \hat y\times\hat z\ \ \hat z\times\hat x]=[\hat x\ \hat y\ \hat z]^2=\sin^2\frac\alpha2=\frac12$</a:t>
                </a:r>
                <a:r>
                  <a:rPr sz="2400" b="0">
                    <a:solidFill>
                      <a:srgbClr val="111827"/>
                    </a:solidFill>
                    <a:latin typeface="Arial"/>
                  </a:rPr>
                  <a:t>, giving </a:t>
                </a:r>
                <a:r>
                  <a:rPr lang="en-IN" sz="2400">
                    <a:solidFill>
                      <a:srgbClr val="111827"/>
                    </a:solidFill>
                    <a:latin typeface="Cambria Math" panose="02040503050406030204" pitchFamily="18" charset="0"/>
                  </a:rPr>
                  <a:t>$\alpha=\frac\pi2$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π</m:t>
                        </m:r>
                      </m:num>
                      <m:den>
                        <m:r>
                          <a:rPr lang="en-IN" sz="2800" i="1">
                            <a:solidFill>
                              <a:srgbClr val="15803D"/>
                            </a:solidFill>
                            <a:latin typeface="Cambria Math" panose="02040503050406030204" pitchFamily="18" charset="0"/>
                          </a:rPr>
                          <m:t>2</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$\frac\pi2$</a:t>
                </a:r>
                <a:endParaRPr sz="2800">
                  <a:solidFill>
                    <a:srgbClr val="15803D"/>
                  </a:solidFill>
                </a:endParaRPr>
              </a:p>
            </p:txBody>
          </p:sp>
        </mc:Fallback>
      </mc:AlternateContent>
    </p:spTree>
  </p:cSld>
  <p:clrMapOvr>
    <a:masterClrMapping/>
  </p:clrMapOvr>
</p:sld>
</file>

<file path=ppt/slides/slide4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unit vector along the bisector of unit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(angle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unit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oMath>
                </a14:m>
                <a:r>
                  <a:rPr sz="2400" b="0">
                    <a:solidFill>
                      <a:srgbClr val="111827"/>
                    </a:solidFill>
                    <a:latin typeface="Arial"/>
                  </a:rPr>
                  <a:t> perpendicular to the plane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p\times\vec q\ \ \vec q\times\vec r\ \ \vec r\times\vec p]=[\vec p\ \vec q\ \vec r]^2$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unit vector along the bisector of unit vectors </a:t>
                </a:r>
                <a:r>
                  <a:rPr lang="en-IN" sz="2400">
                    <a:solidFill>
                      <a:srgbClr val="111827"/>
                    </a:solidFill>
                    <a:latin typeface="Cambria Math" panose="02040503050406030204" pitchFamily="18" charset="0"/>
                  </a:rPr>
                  <a:t>$\hat u,\hat v$</a:t>
                </a:r>
                <a:r>
                  <a:rPr sz="2400" b="0">
                    <a:solidFill>
                      <a:srgbClr val="111827"/>
                    </a:solidFill>
                    <a:latin typeface="Arial"/>
                  </a:rPr>
                  <a:t> (angle </a:t>
                </a:r>
                <a:r>
                  <a:rPr lang="en-IN" sz="2400">
                    <a:solidFill>
                      <a:srgbClr val="111827"/>
                    </a:solidFill>
                    <a:latin typeface="Cambria Math" panose="02040503050406030204" pitchFamily="18" charset="0"/>
                  </a:rPr>
                  <a:t>$\alpha$</a:t>
                </a:r>
                <a:r>
                  <a:rPr sz="2400" b="0">
                    <a:solidFill>
                      <a:srgbClr val="111827"/>
                    </a:solidFill>
                    <a:latin typeface="Arial"/>
                  </a:rPr>
                  <a:t>) is </a:t>
                </a:r>
                <a:r>
                  <a:rPr lang="en-IN" sz="2400">
                    <a:solidFill>
                      <a:srgbClr val="111827"/>
                    </a:solidFill>
                    <a:latin typeface="Cambria Math" panose="02040503050406030204" pitchFamily="18" charset="0"/>
                  </a:rPr>
                  <a:t>$\frac{\hat u+\hat v}{2\cos\frac\alpha2}$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unit </a:t>
                </a:r>
                <a:r>
                  <a:rPr lang="en-IN" sz="2400">
                    <a:solidFill>
                      <a:srgbClr val="111827"/>
                    </a:solidFill>
                    <a:latin typeface="Cambria Math" panose="02040503050406030204" pitchFamily="18" charset="0"/>
                  </a:rPr>
                  <a:t>$\hat w$</a:t>
                </a:r>
                <a:r>
                  <a:rPr sz="2400" b="0">
                    <a:solidFill>
                      <a:srgbClr val="111827"/>
                    </a:solidFill>
                    <a:latin typeface="Arial"/>
                  </a:rPr>
                  <a:t> perpendicular to the plane of </a:t>
                </a:r>
                <a:r>
                  <a:rPr lang="en-IN" sz="2400">
                    <a:solidFill>
                      <a:srgbClr val="111827"/>
                    </a:solidFill>
                    <a:latin typeface="Cambria Math" panose="02040503050406030204" pitchFamily="18" charset="0"/>
                  </a:rPr>
                  <a:t>$\hat u,\hat v$</a:t>
                </a:r>
                <a:r>
                  <a:rPr sz="2400" b="0">
                    <a:solidFill>
                      <a:srgbClr val="111827"/>
                    </a:solidFill>
                    <a:latin typeface="Arial"/>
                  </a:rPr>
                  <a:t>: </a:t>
                </a:r>
                <a:r>
                  <a:rPr lang="en-IN" sz="2400">
                    <a:solidFill>
                      <a:srgbClr val="111827"/>
                    </a:solidFill>
                    <a:latin typeface="Cambria Math" panose="02040503050406030204" pitchFamily="18" charset="0"/>
                  </a:rPr>
                  <a:t>$[\hat u\ \hat v\ \hat w]=\pm\sin\alpha$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position vectors of the vertices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of a triangle are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respectively. Find a unit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lying in the plane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and perpendicular to </a:t>
                </a:r>
                <a14:m>
                  <m:oMath xmlns:m="http://schemas.openxmlformats.org/officeDocument/2006/math">
                    <m:r>
                      <a:rPr lang="en-IN" sz="2400" i="1">
                        <a:solidFill>
                          <a:srgbClr val="111827"/>
                        </a:solidFill>
                        <a:latin typeface="Cambria Math" panose="02040503050406030204" pitchFamily="18" charset="0"/>
                      </a:rPr>
                      <m:t>𝐼</m:t>
                    </m:r>
                    <m:r>
                      <a:rPr lang="en-IN" sz="2400" i="1">
                        <a:solidFill>
                          <a:srgbClr val="111827"/>
                        </a:solidFill>
                        <a:latin typeface="Cambria Math" panose="02040503050406030204" pitchFamily="18" charset="0"/>
                      </a:rPr>
                      <m:t>𝐴</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𝐼</m:t>
                    </m:r>
                  </m:oMath>
                </a14:m>
                <a:r>
                  <a:rPr sz="2400" b="0">
                    <a:solidFill>
                      <a:srgbClr val="111827"/>
                    </a:solidFill>
                    <a:latin typeface="Arial"/>
                  </a:rPr>
                  <a:t> is the incentre of the triangle ________.</a:t>
                </a:r>
                <a:endParaRPr sz="2400">
                  <a:solidFill>
                    <a:srgbClr val="111827"/>
                  </a:solidFill>
                </a:endParaRPr>
              </a:p>
            </p:txBody>
          </p:sp>
        </mc:Choice>
        <mc:Fallback>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position vectors of the vertices </a:t>
                </a:r>
                <a:r>
                  <a:rPr lang="en-IN" sz="2400">
                    <a:solidFill>
                      <a:srgbClr val="111827"/>
                    </a:solidFill>
                    <a:latin typeface="Cambria Math" panose="02040503050406030204" pitchFamily="18" charset="0"/>
                  </a:rPr>
                  <a:t>$A,B$</a:t>
                </a:r>
                <a:r>
                  <a:rPr sz="2400" b="0">
                    <a:solidFill>
                      <a:srgbClr val="111827"/>
                    </a:solidFill>
                    <a:latin typeface="Arial"/>
                  </a:rPr>
                  <a:t> and </a:t>
                </a:r>
                <a:r>
                  <a:rPr lang="en-IN" sz="2400">
                    <a:solidFill>
                      <a:srgbClr val="111827"/>
                    </a:solidFill>
                    <a:latin typeface="Cambria Math" panose="02040503050406030204" pitchFamily="18" charset="0"/>
                  </a:rPr>
                  <a:t>$C$</a:t>
                </a:r>
                <a:r>
                  <a:rPr sz="2400" b="0">
                    <a:solidFill>
                      <a:srgbClr val="111827"/>
                    </a:solidFill>
                    <a:latin typeface="Arial"/>
                  </a:rPr>
                  <a:t> of a triangle are </a:t>
                </a:r>
                <a:r>
                  <a:rPr lang="en-IN" sz="2400">
                    <a:solidFill>
                      <a:srgbClr val="111827"/>
                    </a:solidFill>
                    <a:latin typeface="Cambria Math" panose="02040503050406030204" pitchFamily="18" charset="0"/>
                  </a:rPr>
                  <a:t>$\hat i+\hat j$</a:t>
                </a:r>
                <a:r>
                  <a:rPr sz="2400" b="0">
                    <a:solidFill>
                      <a:srgbClr val="111827"/>
                    </a:solidFill>
                    <a:latin typeface="Arial"/>
                  </a:rPr>
                  <a:t>, </a:t>
                </a:r>
                <a:r>
                  <a:rPr lang="en-IN" sz="2400">
                    <a:solidFill>
                      <a:srgbClr val="111827"/>
                    </a:solidFill>
                    <a:latin typeface="Cambria Math" panose="02040503050406030204" pitchFamily="18" charset="0"/>
                  </a:rPr>
                  <a:t>$\hat j+\hat k$</a:t>
                </a:r>
                <a:r>
                  <a:rPr sz="2400" b="0">
                    <a:solidFill>
                      <a:srgbClr val="111827"/>
                    </a:solidFill>
                    <a:latin typeface="Arial"/>
                  </a:rPr>
                  <a:t> and </a:t>
                </a:r>
                <a:r>
                  <a:rPr lang="en-IN" sz="2400">
                    <a:solidFill>
                      <a:srgbClr val="111827"/>
                    </a:solidFill>
                    <a:latin typeface="Cambria Math" panose="02040503050406030204" pitchFamily="18" charset="0"/>
                  </a:rPr>
                  <a:t>$\hat i+\hat k$</a:t>
                </a:r>
                <a:r>
                  <a:rPr sz="2400" b="0">
                    <a:solidFill>
                      <a:srgbClr val="111827"/>
                    </a:solidFill>
                    <a:latin typeface="Arial"/>
                  </a:rPr>
                  <a:t> respectively. Find a unit vector </a:t>
                </a:r>
                <a:r>
                  <a:rPr lang="en-IN" sz="2400">
                    <a:solidFill>
                      <a:srgbClr val="111827"/>
                    </a:solidFill>
                    <a:latin typeface="Cambria Math" panose="02040503050406030204" pitchFamily="18" charset="0"/>
                  </a:rPr>
                  <a:t>$\vec r$</a:t>
                </a:r>
                <a:r>
                  <a:rPr sz="2400" b="0">
                    <a:solidFill>
                      <a:srgbClr val="111827"/>
                    </a:solidFill>
                    <a:latin typeface="Arial"/>
                  </a:rPr>
                  <a:t> lying in the plane of </a:t>
                </a:r>
                <a:r>
                  <a:rPr lang="en-IN" sz="2400">
                    <a:solidFill>
                      <a:srgbClr val="111827"/>
                    </a:solidFill>
                    <a:latin typeface="Cambria Math" panose="02040503050406030204" pitchFamily="18" charset="0"/>
                  </a:rPr>
                  <a:t>$\triangle ABC$</a:t>
                </a:r>
                <a:r>
                  <a:rPr sz="2400" b="0">
                    <a:solidFill>
                      <a:srgbClr val="111827"/>
                    </a:solidFill>
                    <a:latin typeface="Arial"/>
                  </a:rPr>
                  <a:t> and perpendicular to </a:t>
                </a:r>
                <a:r>
                  <a:rPr lang="en-IN" sz="2400">
                    <a:solidFill>
                      <a:srgbClr val="111827"/>
                    </a:solidFill>
                    <a:latin typeface="Cambria Math" panose="02040503050406030204" pitchFamily="18" charset="0"/>
                  </a:rPr>
                  <a:t>$IA$</a:t>
                </a:r>
                <a:r>
                  <a:rPr sz="2400" b="0">
                    <a:solidFill>
                      <a:srgbClr val="111827"/>
                    </a:solidFill>
                    <a:latin typeface="Arial"/>
                  </a:rPr>
                  <a:t>, where </a:t>
                </a:r>
                <a:r>
                  <a:rPr lang="en-IN" sz="2400">
                    <a:solidFill>
                      <a:srgbClr val="111827"/>
                    </a:solidFill>
                    <a:latin typeface="Cambria Math" panose="02040503050406030204" pitchFamily="18" charset="0"/>
                  </a:rPr>
                  <a:t>$I$</a:t>
                </a:r>
                <a:r>
                  <a:rPr sz="2400" b="0">
                    <a:solidFill>
                      <a:srgbClr val="111827"/>
                    </a:solidFill>
                    <a:latin typeface="Arial"/>
                  </a:rPr>
                  <a:t> is the incentre of the triangle ________.</a:t>
                </a:r>
                <a:endParaRPr sz="2400">
                  <a:solidFill>
                    <a:srgbClr val="111827"/>
                  </a:solidFill>
                </a:endParaRPr>
              </a:p>
            </p:txBody>
          </p:sp>
        </mc:Fallback>
      </mc:AlternateContent>
      <p:sp>
        <p:nvSpPr>
          <p:cNvPr id="5" name="Rectangle 4"/>
          <p:cNvSpPr/>
          <p:nvPr/>
        </p:nvSpPr>
        <p:spPr>
          <a:xfrm>
            <a:off x="731520" y="3888739"/>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Subjective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Equilateral triangle in vectors: incentre and perpendicular direction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4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𝐶</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2</m:t>
                        </m:r>
                      </m:e>
                    </m:rad>
                  </m:oMath>
                </a14:m>
                <a:r>
                  <a:rPr sz="2400" b="0">
                    <a:solidFill>
                      <a:srgbClr val="78350F"/>
                    </a:solidFill>
                    <a:latin typeface="Arial"/>
                  </a:rPr>
                  <a:t>, so the triangle is equilateral and </a:t>
                </a:r>
                <a14:m>
                  <m:oMath xmlns:m="http://schemas.openxmlformats.org/officeDocument/2006/math">
                    <m:r>
                      <a:rPr lang="en-IN" sz="2400" i="1">
                        <a:solidFill>
                          <a:srgbClr val="78350F"/>
                        </a:solidFill>
                        <a:latin typeface="Cambria Math" panose="02040503050406030204" pitchFamily="18" charset="0"/>
                      </a:rPr>
                      <m:t>𝐼</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𝐶</m:t>
                    </m:r>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𝐶</m:t>
                        </m:r>
                      </m:e>
                    </m:acc>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$AB=BC=CA=\sqrt2$</a:t>
                </a:r>
                <a:r>
                  <a:rPr sz="2400" b="0">
                    <a:solidFill>
                      <a:srgbClr val="78350F"/>
                    </a:solidFill>
                    <a:latin typeface="Arial"/>
                  </a:rPr>
                  <a:t>, so the triangle is equilateral and </a:t>
                </a:r>
                <a:r>
                  <a:rPr lang="en-IN" sz="2400">
                    <a:solidFill>
                      <a:srgbClr val="78350F"/>
                    </a:solidFill>
                    <a:latin typeface="Cambria Math" panose="02040503050406030204" pitchFamily="18" charset="0"/>
                  </a:rPr>
                  <a:t>$IA\perp BC$</a:t>
                </a:r>
                <a:r>
                  <a:rPr sz="2400" b="0">
                    <a:solidFill>
                      <a:srgbClr val="78350F"/>
                    </a:solidFill>
                    <a:latin typeface="Arial"/>
                  </a:rPr>
                  <a:t>: </a:t>
                </a:r>
                <a:r>
                  <a:rPr lang="en-IN" sz="2400">
                    <a:solidFill>
                      <a:srgbClr val="78350F"/>
                    </a:solidFill>
                    <a:latin typeface="Cambria Math" panose="02040503050406030204" pitchFamily="18" charset="0"/>
                  </a:rPr>
                  <a:t>$\vec r\parallel\overrightarrow{BC}$</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𝐴</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𝑘</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𝐴</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is equilateral, so the incentre coincides with the circumcentre and </a:t>
                </a:r>
                <a14:m>
                  <m:oMath xmlns:m="http://schemas.openxmlformats.org/officeDocument/2006/math">
                    <m:r>
                      <a:rPr lang="en-IN" sz="2400" i="1">
                        <a:solidFill>
                          <a:srgbClr val="111827"/>
                        </a:solidFill>
                        <a:latin typeface="Cambria Math" panose="02040503050406030204" pitchFamily="18" charset="0"/>
                      </a:rPr>
                      <m:t>𝐼</m:t>
                    </m:r>
                    <m:r>
                      <a:rPr lang="en-IN" sz="2400" i="1">
                        <a:solidFill>
                          <a:srgbClr val="111827"/>
                        </a:solidFill>
                        <a:latin typeface="Cambria Math" panose="02040503050406030204" pitchFamily="18" charset="0"/>
                      </a:rPr>
                      <m:t>𝐴</m:t>
                    </m:r>
                  </m:oMath>
                </a14:m>
                <a:r>
                  <a:rPr sz="2400" b="0">
                    <a:solidFill>
                      <a:srgbClr val="111827"/>
                    </a:solidFill>
                    <a:latin typeface="Arial"/>
                  </a:rPr>
                  <a:t> is perpendicular to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$\overrightarrow{AB}=-\hat i+\hat k$</a:t>
                </a:r>
                <a:r>
                  <a:rPr sz="2400" b="0">
                    <a:solidFill>
                      <a:srgbClr val="111827"/>
                    </a:solidFill>
                    <a:latin typeface="Arial"/>
                  </a:rPr>
                  <a:t>, </a:t>
                </a:r>
                <a:r>
                  <a:rPr lang="en-IN" sz="2400">
                    <a:solidFill>
                      <a:srgbClr val="111827"/>
                    </a:solidFill>
                    <a:latin typeface="Cambria Math" panose="02040503050406030204" pitchFamily="18" charset="0"/>
                  </a:rPr>
                  <a:t>$\overrightarrow{BC}=\hat i-\hat j$</a:t>
                </a:r>
                <a:r>
                  <a:rPr sz="2400" b="0">
                    <a:solidFill>
                      <a:srgbClr val="111827"/>
                    </a:solidFill>
                    <a:latin typeface="Arial"/>
                  </a:rPr>
                  <a:t>, </a:t>
                </a:r>
                <a:r>
                  <a:rPr lang="en-IN" sz="2400">
                    <a:solidFill>
                      <a:srgbClr val="111827"/>
                    </a:solidFill>
                    <a:latin typeface="Cambria Math" panose="02040503050406030204" pitchFamily="18" charset="0"/>
                  </a:rPr>
                  <a:t>$\overrightarrow{CA}=\hat j-\hat k$</a:t>
                </a:r>
                <a:r>
                  <a:rPr sz="2400" b="0">
                    <a:solidFill>
                      <a:srgbClr val="111827"/>
                    </a:solidFill>
                    <a:latin typeface="Arial"/>
                  </a:rPr>
                  <a:t>: </a:t>
                </a:r>
                <a:r>
                  <a:rPr lang="en-IN" sz="2400">
                    <a:solidFill>
                      <a:srgbClr val="111827"/>
                    </a:solidFill>
                    <a:latin typeface="Cambria Math" panose="02040503050406030204" pitchFamily="18" charset="0"/>
                  </a:rPr>
                  <a:t>$|\overrightarrow{AB}|=|\overrightarrow{BC}|=|\overrightarrow{CA}|=\sqrt2$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is equilateral, so the incentre coincides with the circumcentre and </a:t>
                </a:r>
                <a:r>
                  <a:rPr lang="en-IN" sz="2400">
                    <a:solidFill>
                      <a:srgbClr val="111827"/>
                    </a:solidFill>
                    <a:latin typeface="Cambria Math" panose="02040503050406030204" pitchFamily="18" charset="0"/>
                  </a:rPr>
                  <a:t>$IA$</a:t>
                </a:r>
                <a:r>
                  <a:rPr sz="2400" b="0">
                    <a:solidFill>
                      <a:srgbClr val="111827"/>
                    </a:solidFill>
                    <a:latin typeface="Arial"/>
                  </a:rPr>
                  <a:t> is perpendicular to </a:t>
                </a:r>
                <a:r>
                  <a:rPr lang="en-IN" sz="2400">
                    <a:solidFill>
                      <a:srgbClr val="111827"/>
                    </a:solidFill>
                    <a:latin typeface="Cambria Math" panose="02040503050406030204" pitchFamily="18" charset="0"/>
                  </a:rPr>
                  <a:t>$BC$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vector in the plane of the triangle and perpendicular to </a:t>
                </a:r>
                <a14:m>
                  <m:oMath xmlns:m="http://schemas.openxmlformats.org/officeDocument/2006/math">
                    <m:r>
                      <a:rPr lang="en-IN" sz="2400" i="1">
                        <a:solidFill>
                          <a:srgbClr val="111827"/>
                        </a:solidFill>
                        <a:latin typeface="Cambria Math" panose="02040503050406030204" pitchFamily="18" charset="0"/>
                      </a:rPr>
                      <m:t>𝐼</m:t>
                    </m:r>
                    <m:r>
                      <a:rPr lang="en-IN" sz="2400" i="1">
                        <a:solidFill>
                          <a:srgbClr val="111827"/>
                        </a:solidFill>
                        <a:latin typeface="Cambria Math" panose="02040503050406030204" pitchFamily="18" charset="0"/>
                      </a:rPr>
                      <m:t>𝐴</m:t>
                    </m:r>
                  </m:oMath>
                </a14:m>
                <a:r>
                  <a:rPr sz="2400" b="0">
                    <a:solidFill>
                      <a:srgbClr val="111827"/>
                    </a:solidFill>
                    <a:latin typeface="Arial"/>
                  </a:rPr>
                  <a:t> is therefore parallel to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Unit vector: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PDF prints the factor as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which would not be a unit vector).</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vector in the plane of the triangle and perpendicular to </a:t>
                </a:r>
                <a:r>
                  <a:rPr lang="en-IN" sz="2400">
                    <a:solidFill>
                      <a:srgbClr val="111827"/>
                    </a:solidFill>
                    <a:latin typeface="Cambria Math" panose="02040503050406030204" pitchFamily="18" charset="0"/>
                  </a:rPr>
                  <a:t>$IA$</a:t>
                </a:r>
                <a:r>
                  <a:rPr sz="2400" b="0">
                    <a:solidFill>
                      <a:srgbClr val="111827"/>
                    </a:solidFill>
                    <a:latin typeface="Arial"/>
                  </a:rPr>
                  <a:t> is therefore parallel to </a:t>
                </a:r>
                <a:r>
                  <a:rPr lang="en-IN" sz="2400">
                    <a:solidFill>
                      <a:srgbClr val="111827"/>
                    </a:solidFill>
                    <a:latin typeface="Cambria Math" panose="02040503050406030204" pitchFamily="18" charset="0"/>
                  </a:rPr>
                  <a:t>$BC$</a:t>
                </a:r>
                <a:r>
                  <a:rPr sz="2400" b="0">
                    <a:solidFill>
                      <a:srgbClr val="111827"/>
                    </a:solidFill>
                    <a:latin typeface="Arial"/>
                  </a:rPr>
                  <a:t>: </a:t>
                </a:r>
                <a:r>
                  <a:rPr lang="en-IN" sz="2400">
                    <a:solidFill>
                      <a:srgbClr val="111827"/>
                    </a:solidFill>
                    <a:latin typeface="Cambria Math" panose="02040503050406030204" pitchFamily="18" charset="0"/>
                  </a:rPr>
                  <a:t>$\vec r=\lambda(\hat i-\hat j)$</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Unit vector: </a:t>
                </a:r>
                <a:r>
                  <a:rPr lang="en-IN" sz="2400">
                    <a:solidFill>
                      <a:srgbClr val="111827"/>
                    </a:solidFill>
                    <a:latin typeface="Cambria Math" panose="02040503050406030204" pitchFamily="18" charset="0"/>
                  </a:rPr>
                  <a:t>$|\lambda|\sqrt2=1\Rightarrow\lambda=\pm\frac{1}{\sqrt2}$</a:t>
                </a:r>
                <a:r>
                  <a:rPr sz="2400" b="0">
                    <a:solidFill>
                      <a:srgbClr val="111827"/>
                    </a:solidFill>
                    <a:latin typeface="Arial"/>
                  </a:rPr>
                  <a:t>, so </a:t>
                </a:r>
                <a:r>
                  <a:rPr lang="en-IN" sz="2400">
                    <a:solidFill>
                      <a:srgbClr val="111827"/>
                    </a:solidFill>
                    <a:latin typeface="Cambria Math" panose="02040503050406030204" pitchFamily="18" charset="0"/>
                  </a:rPr>
                  <a:t>$\vec r=\pm\frac{1}{\sqrt2}(\hat i-\hat j)$</a:t>
                </a:r>
                <a:r>
                  <a:rPr sz="2400" b="0">
                    <a:solidFill>
                      <a:srgbClr val="111827"/>
                    </a:solidFill>
                    <a:latin typeface="Arial"/>
                  </a:rPr>
                  <a:t> (the PDF prints the factor as </a:t>
                </a:r>
                <a:r>
                  <a:rPr lang="en-IN" sz="2400">
                    <a:solidFill>
                      <a:srgbClr val="111827"/>
                    </a:solidFill>
                    <a:latin typeface="Cambria Math" panose="02040503050406030204" pitchFamily="18" charset="0"/>
                  </a:rPr>
                  <a:t>$\frac12$</a:t>
                </a:r>
                <a:r>
                  <a:rPr sz="2400" b="0">
                    <a:solidFill>
                      <a:srgbClr val="111827"/>
                    </a:solidFill>
                    <a:latin typeface="Arial"/>
                  </a:rPr>
                  <a:t>, which would not be a unit vector).</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𝑟</m:t>
                        </m:r>
                      </m:e>
                    </m:acc>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den>
                    </m:f>
                    <m:r>
                      <m:rPr>
                        <m:sty m:val="p"/>
                      </m:rPr>
                      <a:rPr lang="en-IN" sz="2800">
                        <a:solidFill>
                          <a:srgbClr val="15803D"/>
                        </a:solidFill>
                        <a:latin typeface="Cambria Math" panose="02040503050406030204" pitchFamily="18" charset="0"/>
                      </a:rPr>
                      <m:t>(</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𝑖</m:t>
                        </m:r>
                      </m:e>
                    </m:acc>
                    <m:r>
                      <m:rPr>
                        <m:sty m:val="p"/>
                      </m:rPr>
                      <a:rPr lang="en-IN" sz="2800">
                        <a:solidFill>
                          <a:srgbClr val="15803D"/>
                        </a:solidFill>
                        <a:latin typeface="Cambria Math" panose="02040503050406030204" pitchFamily="18" charset="0"/>
                      </a:rPr>
                      <m:t>−</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𝑗</m:t>
                        </m:r>
                      </m:e>
                    </m:acc>
                    <m:r>
                      <m:rPr>
                        <m:sty m:val="p"/>
                      </m:rPr>
                      <a:rPr lang="en-IN" sz="2800">
                        <a:solidFill>
                          <a:srgbClr val="15803D"/>
                        </a:solidFill>
                        <a:latin typeface="Cambria Math" panose="02040503050406030204" pitchFamily="18" charset="0"/>
                      </a:rPr>
                      <m:t>)</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$\vec r=\pm\frac{1}{\sqrt2}(\hat i-\hat j)$</a:t>
                </a:r>
                <a:endParaRPr sz="2800">
                  <a:solidFill>
                    <a:srgbClr val="15803D"/>
                  </a:solidFill>
                </a:endParaRPr>
              </a:p>
            </p:txBody>
          </p:sp>
        </mc:Fallback>
      </mc:AlternateContent>
    </p:spTree>
  </p:cSld>
  <p:clrMapOvr>
    <a:masterClrMapping/>
  </p:clrMapOvr>
</p:sld>
</file>

<file path=ppt/slides/slide4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Solve with components: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𝐼</m:t>
                    </m:r>
                    <m:r>
                      <a:rPr lang="en-IN" sz="2400" i="1">
                        <a:solidFill>
                          <a:srgbClr val="78350F"/>
                        </a:solidFill>
                        <a:latin typeface="Cambria Math" panose="02040503050406030204" pitchFamily="18" charset="0"/>
                      </a:rPr>
                      <m:t>𝐴</m:t>
                    </m:r>
                  </m:oMath>
                </a14:m>
                <a:r>
                  <a:rPr sz="2400" b="0">
                    <a:solidFill>
                      <a:srgbClr val="78350F"/>
                    </a:solidFill>
                    <a:latin typeface="Arial"/>
                  </a:rPr>
                  <a:t> and in the plane, using the centroid as </a:t>
                </a:r>
                <a14:m>
                  <m:oMath xmlns:m="http://schemas.openxmlformats.org/officeDocument/2006/math">
                    <m:r>
                      <a:rPr lang="en-IN" sz="2400" i="1">
                        <a:solidFill>
                          <a:srgbClr val="78350F"/>
                        </a:solidFill>
                        <a:latin typeface="Cambria Math" panose="02040503050406030204" pitchFamily="18" charset="0"/>
                      </a:rPr>
                      <m:t>𝐼</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Solve with components: </a:t>
                </a:r>
                <a:r>
                  <a:rPr lang="en-IN" sz="2400">
                    <a:solidFill>
                      <a:srgbClr val="78350F"/>
                    </a:solidFill>
                    <a:latin typeface="Cambria Math" panose="02040503050406030204" pitchFamily="18" charset="0"/>
                  </a:rPr>
                  <a:t>$\vec r\perp IA$</a:t>
                </a:r>
                <a:r>
                  <a:rPr sz="2400" b="0">
                    <a:solidFill>
                      <a:srgbClr val="78350F"/>
                    </a:solidFill>
                    <a:latin typeface="Arial"/>
                  </a:rPr>
                  <a:t> and in the plane, using the centroid as </a:t>
                </a:r>
                <a:r>
                  <a:rPr lang="en-IN" sz="2400">
                    <a:solidFill>
                      <a:srgbClr val="78350F"/>
                    </a:solidFill>
                    <a:latin typeface="Cambria Math" panose="02040503050406030204" pitchFamily="18" charset="0"/>
                  </a:rPr>
                  <a:t>$I$</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 equilateral triangle </a:t>
                </a:r>
                <a14:m>
                  <m:oMath xmlns:m="http://schemas.openxmlformats.org/officeDocument/2006/math">
                    <m:r>
                      <a:rPr lang="en-IN" sz="2400" i="1">
                        <a:solidFill>
                          <a:srgbClr val="111827"/>
                        </a:solidFill>
                        <a:latin typeface="Cambria Math" panose="02040503050406030204" pitchFamily="18" charset="0"/>
                      </a:rPr>
                      <m:t>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𝐼</m:t>
                        </m:r>
                        <m:r>
                          <a:rPr lang="en-IN" sz="2400" i="1">
                            <a:solidFill>
                              <a:srgbClr val="111827"/>
                            </a:solidFill>
                            <a:latin typeface="Cambria Math" panose="02040503050406030204" pitchFamily="18" charset="0"/>
                          </a:rPr>
                          <m:t>𝐴</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of the triangle is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 direction in it satisfies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 equilateral triangle </a:t>
                </a:r>
                <a:r>
                  <a:rPr lang="en-IN" sz="2400">
                    <a:solidFill>
                      <a:srgbClr val="111827"/>
                    </a:solidFill>
                    <a:latin typeface="Cambria Math" panose="02040503050406030204" pitchFamily="18" charset="0"/>
                  </a:rPr>
                  <a:t>$I=G=\left(\frac23,\frac23,\frac23\right)$</a:t>
                </a:r>
                <a:r>
                  <a:rPr sz="2400" b="0">
                    <a:solidFill>
                      <a:srgbClr val="111827"/>
                    </a:solidFill>
                    <a:latin typeface="Arial"/>
                  </a:rPr>
                  <a:t>, so </a:t>
                </a:r>
                <a:r>
                  <a:rPr lang="en-IN" sz="2400">
                    <a:solidFill>
                      <a:srgbClr val="111827"/>
                    </a:solidFill>
                    <a:latin typeface="Cambria Math" panose="02040503050406030204" pitchFamily="18" charset="0"/>
                  </a:rPr>
                  <a:t>$\overrightarrow{IA}=\left(\frac13,\frac13,-\frac23\right)$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plane of the triangle is </a:t>
                </a:r>
                <a:r>
                  <a:rPr lang="en-IN" sz="2400">
                    <a:solidFill>
                      <a:srgbClr val="111827"/>
                    </a:solidFill>
                    <a:latin typeface="Cambria Math" panose="02040503050406030204" pitchFamily="18" charset="0"/>
                  </a:rPr>
                  <a:t>$x+y+z=2$</a:t>
                </a:r>
                <a:r>
                  <a:rPr sz="2400" b="0">
                    <a:solidFill>
                      <a:srgbClr val="111827"/>
                    </a:solidFill>
                    <a:latin typeface="Arial"/>
                  </a:rPr>
                  <a:t>, so a direction in it satisfies </a:t>
                </a:r>
                <a:r>
                  <a:rPr lang="en-IN" sz="2400">
                    <a:solidFill>
                      <a:srgbClr val="111827"/>
                    </a:solidFill>
                    <a:latin typeface="Cambria Math" panose="02040503050406030204" pitchFamily="18" charset="0"/>
                  </a:rPr>
                  <a:t>$r_1+r_2+r_3=0$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𝐼</m:t>
                        </m:r>
                        <m:r>
                          <a:rPr lang="en-IN" sz="2400" i="1">
                            <a:solidFill>
                              <a:srgbClr val="111827"/>
                            </a:solidFill>
                            <a:latin typeface="Cambria Math" panose="02040503050406030204" pitchFamily="18" charset="0"/>
                          </a:rPr>
                          <m:t>𝐴</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this gives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Unit vector: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𝑖</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𝑗</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r\cdot\overrightarrow{IA}=0$</a:t>
                </a:r>
                <a:r>
                  <a:rPr sz="2400" b="0">
                    <a:solidFill>
                      <a:srgbClr val="111827"/>
                    </a:solidFill>
                    <a:latin typeface="Arial"/>
                  </a:rPr>
                  <a:t>: </a:t>
                </a:r>
                <a:r>
                  <a:rPr lang="en-IN" sz="2400">
                    <a:solidFill>
                      <a:srgbClr val="111827"/>
                    </a:solidFill>
                    <a:latin typeface="Cambria Math" panose="02040503050406030204" pitchFamily="18" charset="0"/>
                  </a:rPr>
                  <a:t>$r_1+r_2-2r_3=0$</a:t>
                </a:r>
                <a:r>
                  <a:rPr sz="2400" b="0">
                    <a:solidFill>
                      <a:srgbClr val="111827"/>
                    </a:solidFill>
                    <a:latin typeface="Arial"/>
                  </a:rPr>
                  <a:t>. With </a:t>
                </a:r>
                <a:r>
                  <a:rPr lang="en-IN" sz="2400">
                    <a:solidFill>
                      <a:srgbClr val="111827"/>
                    </a:solidFill>
                    <a:latin typeface="Cambria Math" panose="02040503050406030204" pitchFamily="18" charset="0"/>
                  </a:rPr>
                  <a:t>$r_1+r_2+r_3=0$</a:t>
                </a:r>
                <a:r>
                  <a:rPr sz="2400" b="0">
                    <a:solidFill>
                      <a:srgbClr val="111827"/>
                    </a:solidFill>
                    <a:latin typeface="Arial"/>
                  </a:rPr>
                  <a:t> this gives </a:t>
                </a:r>
                <a:r>
                  <a:rPr lang="en-IN" sz="2400">
                    <a:solidFill>
                      <a:srgbClr val="111827"/>
                    </a:solidFill>
                    <a:latin typeface="Cambria Math" panose="02040503050406030204" pitchFamily="18" charset="0"/>
                  </a:rPr>
                  <a:t>$r_3=0$</a:t>
                </a:r>
                <a:r>
                  <a:rPr sz="2400" b="0">
                    <a:solidFill>
                      <a:srgbClr val="111827"/>
                    </a:solidFill>
                    <a:latin typeface="Arial"/>
                  </a:rPr>
                  <a:t> and </a:t>
                </a:r>
                <a:r>
                  <a:rPr lang="en-IN" sz="2400">
                    <a:solidFill>
                      <a:srgbClr val="111827"/>
                    </a:solidFill>
                    <a:latin typeface="Cambria Math" panose="02040503050406030204" pitchFamily="18" charset="0"/>
                  </a:rPr>
                  <a:t>$r_1=-r_2$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Unit vector: </a:t>
                </a:r>
                <a:r>
                  <a:rPr lang="en-IN" sz="2400">
                    <a:solidFill>
                      <a:srgbClr val="111827"/>
                    </a:solidFill>
                    <a:latin typeface="Cambria Math" panose="02040503050406030204" pitchFamily="18" charset="0"/>
                  </a:rPr>
                  <a:t>$\vec r=\pm\frac{1}{\sqrt2}(\hat i-\hat j)$</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𝑟</m:t>
                        </m:r>
                      </m:e>
                    </m:acc>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m:t>
                        </m:r>
                      </m:num>
                      <m:den>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2</m:t>
                            </m:r>
                          </m:e>
                        </m:rad>
                      </m:den>
                    </m:f>
                    <m:r>
                      <m:rPr>
                        <m:sty m:val="p"/>
                      </m:rPr>
                      <a:rPr lang="en-IN" sz="2800">
                        <a:solidFill>
                          <a:srgbClr val="15803D"/>
                        </a:solidFill>
                        <a:latin typeface="Cambria Math" panose="02040503050406030204" pitchFamily="18" charset="0"/>
                      </a:rPr>
                      <m:t>(</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𝑖</m:t>
                        </m:r>
                      </m:e>
                    </m:acc>
                    <m:r>
                      <m:rPr>
                        <m:sty m:val="p"/>
                      </m:rPr>
                      <a:rPr lang="en-IN" sz="2800">
                        <a:solidFill>
                          <a:srgbClr val="15803D"/>
                        </a:solidFill>
                        <a:latin typeface="Cambria Math" panose="02040503050406030204" pitchFamily="18" charset="0"/>
                      </a:rPr>
                      <m:t>−</m:t>
                    </m:r>
                    <m:acc>
                      <m:accPr>
                        <m:chr m:val="̂"/>
                        <m:ctrlPr>
                          <a:rPr lang="en-IN" sz="2800" i="1">
                            <a:solidFill>
                              <a:srgbClr val="15803D"/>
                            </a:solidFill>
                            <a:latin typeface="Cambria Math" panose="02040503050406030204" pitchFamily="18" charset="0"/>
                          </a:rPr>
                        </m:ctrlPr>
                      </m:accPr>
                      <m:e>
                        <m:r>
                          <a:rPr lang="en-IN" sz="2800" i="1">
                            <a:solidFill>
                              <a:srgbClr val="15803D"/>
                            </a:solidFill>
                            <a:latin typeface="Cambria Math" panose="02040503050406030204" pitchFamily="18" charset="0"/>
                          </a:rPr>
                          <m:t>𝑗</m:t>
                        </m:r>
                      </m:e>
                    </m:acc>
                    <m:r>
                      <m:rPr>
                        <m:sty m:val="p"/>
                      </m:rPr>
                      <a:rPr lang="en-IN" sz="2800">
                        <a:solidFill>
                          <a:srgbClr val="15803D"/>
                        </a:solidFill>
                        <a:latin typeface="Cambria Math" panose="02040503050406030204" pitchFamily="18" charset="0"/>
                      </a:rPr>
                      <m:t>)</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$\vec r=\pm\frac{1}{\sqrt2}(\hat i-\hat j)$</a:t>
                </a:r>
                <a:endParaRPr sz="2800">
                  <a:solidFill>
                    <a:srgbClr val="15803D"/>
                  </a:solidFill>
                </a:endParaRPr>
              </a:p>
            </p:txBody>
          </p:sp>
        </mc:Fallback>
      </mc:AlternateContent>
    </p:spTree>
  </p:cSld>
  <p:clrMapOvr>
    <a:masterClrMapping/>
  </p:clrMapOvr>
</p:sld>
</file>

<file path=ppt/slides/slide4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an equilateral triangle the incentre, centroid, circumcentre and orthocentre coincide, and each median is perpendicular to the opposite side.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vector lying in a plane with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has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(direction vectors, not position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unit vector in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check normalisation in the final answer.</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an equilateral triangle the incentre, centroid, circumcentre and orthocentre coincide, and each median is perpendicular to the opposite side.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vector lying in a plane with normal </a:t>
                </a:r>
                <a:r>
                  <a:rPr lang="en-IN" sz="2400">
                    <a:solidFill>
                      <a:srgbClr val="111827"/>
                    </a:solidFill>
                    <a:latin typeface="Cambria Math" panose="02040503050406030204" pitchFamily="18" charset="0"/>
                  </a:rPr>
                  <a:t>$\vec n$</a:t>
                </a:r>
                <a:r>
                  <a:rPr sz="2400" b="0">
                    <a:solidFill>
                      <a:srgbClr val="111827"/>
                    </a:solidFill>
                    <a:latin typeface="Arial"/>
                  </a:rPr>
                  <a:t> has </a:t>
                </a:r>
                <a:r>
                  <a:rPr lang="en-IN" sz="2400">
                    <a:solidFill>
                      <a:srgbClr val="111827"/>
                    </a:solidFill>
                    <a:latin typeface="Cambria Math" panose="02040503050406030204" pitchFamily="18" charset="0"/>
                  </a:rPr>
                  <a:t>$\vec r\cdot\vec n=0$</a:t>
                </a:r>
                <a:r>
                  <a:rPr sz="2400" b="0">
                    <a:solidFill>
                      <a:srgbClr val="111827"/>
                    </a:solidFill>
                    <a:latin typeface="Arial"/>
                  </a:rPr>
                  <a:t> (direction vectors, not position vectors).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unit vector in direction </a:t>
                </a:r>
                <a:r>
                  <a:rPr lang="en-IN" sz="2400">
                    <a:solidFill>
                      <a:srgbClr val="111827"/>
                    </a:solidFill>
                    <a:latin typeface="Cambria Math" panose="02040503050406030204" pitchFamily="18" charset="0"/>
                  </a:rPr>
                  <a:t>$\vec v$</a:t>
                </a:r>
                <a:r>
                  <a:rPr sz="2400" b="0">
                    <a:solidFill>
                      <a:srgbClr val="111827"/>
                    </a:solidFill>
                    <a:latin typeface="Arial"/>
                  </a:rPr>
                  <a:t> is </a:t>
                </a:r>
                <a:r>
                  <a:rPr lang="en-IN" sz="2400">
                    <a:solidFill>
                      <a:srgbClr val="111827"/>
                    </a:solidFill>
                    <a:latin typeface="Cambria Math" panose="02040503050406030204" pitchFamily="18" charset="0"/>
                  </a:rPr>
                  <a:t>$\frac{\vec v}{|\vec v|}$</a:t>
                </a:r>
                <a:r>
                  <a:rPr sz="2400" b="0">
                    <a:solidFill>
                      <a:srgbClr val="111827"/>
                    </a:solidFill>
                    <a:latin typeface="Arial"/>
                  </a:rPr>
                  <a:t>: check normalisation in the final answer.</a:t>
                </a:r>
                <a:endParaRPr sz="2400">
                  <a:solidFill>
                    <a:srgbClr val="111827"/>
                  </a:solidFill>
                </a:endParaRPr>
              </a:p>
            </p:txBody>
          </p:sp>
        </mc:Fallback>
      </mc:AlternateContent>
    </p:spTree>
  </p:cSld>
  <p:clrMapOvr>
    <a:masterClrMapping/>
  </p:clrMapOvr>
</p:sld>
</file>

<file path=ppt/slides/slide4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6</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Numerical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Q77</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Marks not printed in the paper: JEE Advanced default of 4 marks assumed</a:t>
            </a:r>
            <a:endParaRPr sz="2800">
              <a:solidFill>
                <a:srgbClr val="FFFFFF"/>
              </a:solidFill>
            </a:endParaRPr>
          </a:p>
        </p:txBody>
      </p:sp>
    </p:spTree>
  </p:cSld>
  <p:clrMapOvr>
    <a:masterClrMapping/>
  </p:clrMapOvr>
</p:sld>
</file>

<file path=ppt/slides/slide4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Four points with position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are coplanar such that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Then, the least value of the expression </a:t>
                </a:r>
                <a14:m>
                  <m:oMath xmlns:m="http://schemas.openxmlformats.org/officeDocument/2006/math">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22</m:t>
                        </m:r>
                      </m:sup>
                    </m:sSup>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23</m:t>
                        </m:r>
                      </m:sup>
                    </m:sSup>
                    <m:r>
                      <a:rPr lang="en-IN" sz="2400" i="1">
                        <a:solidFill>
                          <a:srgbClr val="111827"/>
                        </a:solidFill>
                        <a:latin typeface="Cambria Math" panose="02040503050406030204" pitchFamily="18" charset="0"/>
                      </a:rPr>
                      <m:t>γ</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oMath>
                </a14:m>
                <a:r>
                  <a:rPr sz="2400" b="0">
                    <a:solidFill>
                      <a:srgbClr val="111827"/>
                    </a:solidFill>
                    <a:latin typeface="Arial"/>
                  </a:rPr>
                  <a:t> are coprime, then find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Four points with position vectors </a:t>
                </a:r>
                <a:r>
                  <a:rPr lang="en-IN" sz="2400">
                    <a:solidFill>
                      <a:srgbClr val="111827"/>
                    </a:solidFill>
                    <a:latin typeface="Cambria Math" panose="02040503050406030204" pitchFamily="18" charset="0"/>
                  </a:rPr>
                  <a:t>$\vec a,\vec b,\vec c$</a:t>
                </a:r>
                <a:r>
                  <a:rPr sz="2400" b="0">
                    <a:solidFill>
                      <a:srgbClr val="111827"/>
                    </a:solidFill>
                    <a:latin typeface="Arial"/>
                  </a:rPr>
                  <a:t> and </a:t>
                </a:r>
                <a:r>
                  <a:rPr lang="en-IN" sz="2400">
                    <a:solidFill>
                      <a:srgbClr val="111827"/>
                    </a:solidFill>
                    <a:latin typeface="Cambria Math" panose="02040503050406030204" pitchFamily="18" charset="0"/>
                  </a:rPr>
                  <a:t>$\vec d$</a:t>
                </a:r>
                <a:r>
                  <a:rPr sz="2400" b="0">
                    <a:solidFill>
                      <a:srgbClr val="111827"/>
                    </a:solidFill>
                    <a:latin typeface="Arial"/>
                  </a:rPr>
                  <a:t> are coplanar such that </a:t>
                </a:r>
                <a:r>
                  <a:rPr lang="en-IN" sz="2400">
                    <a:solidFill>
                      <a:srgbClr val="111827"/>
                    </a:solidFill>
                    <a:latin typeface="Cambria Math" panose="02040503050406030204" pitchFamily="18" charset="0"/>
                  </a:rPr>
                  <a:t>$(\sin\alpha)\vec a+(2\sin2\beta)\vec b+(3\sin3\gamma)\vec c-\vec d=\vec 0$</a:t>
                </a:r>
                <a:r>
                  <a:rPr sz="2400" b="0">
                    <a:solidFill>
                      <a:srgbClr val="111827"/>
                    </a:solidFill>
                    <a:latin typeface="Arial"/>
                  </a:rPr>
                  <a:t>. Then, the least value of the expression </a:t>
                </a:r>
                <a:r>
                  <a:rPr lang="en-IN" sz="2400">
                    <a:solidFill>
                      <a:srgbClr val="111827"/>
                    </a:solidFill>
                    <a:latin typeface="Cambria Math" panose="02040503050406030204" pitchFamily="18" charset="0"/>
                  </a:rPr>
                  <a:t>$\sin^2\alpha+\sin^22\beta+\sin^23\gamma$</a:t>
                </a:r>
                <a:r>
                  <a:rPr sz="2400" b="0">
                    <a:solidFill>
                      <a:srgbClr val="111827"/>
                    </a:solidFill>
                    <a:latin typeface="Arial"/>
                  </a:rPr>
                  <a:t> is </a:t>
                </a:r>
                <a:r>
                  <a:rPr lang="en-IN" sz="2400">
                    <a:solidFill>
                      <a:srgbClr val="111827"/>
                    </a:solidFill>
                    <a:latin typeface="Cambria Math" panose="02040503050406030204" pitchFamily="18" charset="0"/>
                  </a:rPr>
                  <a:t>$\frac pq$</a:t>
                </a:r>
                <a:r>
                  <a:rPr sz="2400" b="0">
                    <a:solidFill>
                      <a:srgbClr val="111827"/>
                    </a:solidFill>
                    <a:latin typeface="Arial"/>
                  </a:rPr>
                  <a:t>, where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are coprime, then find </a:t>
                </a:r>
                <a:r>
                  <a:rPr lang="en-IN" sz="2400">
                    <a:solidFill>
                      <a:srgbClr val="111827"/>
                    </a:solidFill>
                    <a:latin typeface="Cambria Math" panose="02040503050406030204" pitchFamily="18" charset="0"/>
                  </a:rPr>
                  <a:t>$(p+q)$</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998467"/>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Coplanarity of four points in terms of position vectors, Cauchy-Schwarz inequality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4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Four points with position vectors satisfying a vector relation are coplanar iff the coefficients sum to zero; then Cauchy-Schwarz bounds the sum of squares.</a:t>
            </a:r>
            <a:endParaRPr sz="24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four coplanar points,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is an affine combination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relation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has coefficients summing to zero: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Cauchy-Schwarz for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1</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e>
                    </m:rad>
                    <m:rad>
                      <m:radPr>
                        <m:degHide m:val="on"/>
                        <m:ctrlPr>
                          <a:rPr lang="en-IN" sz="2400" i="1">
                            <a:solidFill>
                              <a:srgbClr val="111827"/>
                            </a:solidFill>
                            <a:latin typeface="Cambria Math" panose="02040503050406030204" pitchFamily="18" charset="0"/>
                          </a:rPr>
                        </m:ctrlPr>
                      </m:radPr>
                      <m:deg/>
                      <m:e>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22</m:t>
                            </m:r>
                          </m:sup>
                        </m:sSup>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23</m:t>
                            </m:r>
                          </m:sup>
                        </m:sSup>
                        <m:r>
                          <a:rPr lang="en-IN" sz="2400" i="1">
                            <a:solidFill>
                              <a:srgbClr val="111827"/>
                            </a:solidFill>
                            <a:latin typeface="Cambria Math" panose="02040503050406030204" pitchFamily="18" charset="0"/>
                          </a:rPr>
                          <m:t>γ</m:t>
                        </m:r>
                      </m:e>
                    </m:ra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four coplanar points, </a:t>
                </a:r>
                <a:r>
                  <a:rPr lang="en-IN" sz="2400">
                    <a:solidFill>
                      <a:srgbClr val="111827"/>
                    </a:solidFill>
                    <a:latin typeface="Cambria Math" panose="02040503050406030204" pitchFamily="18" charset="0"/>
                  </a:rPr>
                  <a:t>$\vec d$</a:t>
                </a:r>
                <a:r>
                  <a:rPr sz="2400" b="0">
                    <a:solidFill>
                      <a:srgbClr val="111827"/>
                    </a:solidFill>
                    <a:latin typeface="Arial"/>
                  </a:rPr>
                  <a:t> is an affine combination of </a:t>
                </a:r>
                <a:r>
                  <a:rPr lang="en-IN" sz="2400">
                    <a:solidFill>
                      <a:srgbClr val="111827"/>
                    </a:solidFill>
                    <a:latin typeface="Cambria Math" panose="02040503050406030204" pitchFamily="18" charset="0"/>
                  </a:rPr>
                  <a:t>$\vec a,\vec b,\vec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relation </a:t>
                </a:r>
                <a:r>
                  <a:rPr lang="en-IN" sz="2400">
                    <a:solidFill>
                      <a:srgbClr val="111827"/>
                    </a:solidFill>
                    <a:latin typeface="Cambria Math" panose="02040503050406030204" pitchFamily="18" charset="0"/>
                  </a:rPr>
                  <a:t>$(\sin\alpha)\vec a+(2\sin2\beta)\vec b+(3\sin3\gamma)\vec c-\vec d=\vec 0$</a:t>
                </a:r>
                <a:r>
                  <a:rPr sz="2400" b="0">
                    <a:solidFill>
                      <a:srgbClr val="111827"/>
                    </a:solidFill>
                    <a:latin typeface="Arial"/>
                  </a:rPr>
                  <a:t> has coefficients summing to zero: </a:t>
                </a:r>
                <a:r>
                  <a:rPr lang="en-IN" sz="2400">
                    <a:solidFill>
                      <a:srgbClr val="111827"/>
                    </a:solidFill>
                    <a:latin typeface="Cambria Math" panose="02040503050406030204" pitchFamily="18" charset="0"/>
                  </a:rPr>
                  <a:t>$\sin\alpha+2\sin2\beta+3\sin3\gamma-1=0$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$\sin\alpha+2\sin2\beta+3\sin3\gamma=1$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Cauchy-Schwarz for </a:t>
                </a:r>
                <a:r>
                  <a:rPr lang="en-IN" sz="2400">
                    <a:solidFill>
                      <a:srgbClr val="111827"/>
                    </a:solidFill>
                    <a:latin typeface="Cambria Math" panose="02040503050406030204" pitchFamily="18" charset="0"/>
                  </a:rPr>
                  <a:t>$(1,2,3)$</a:t>
                </a:r>
                <a:r>
                  <a:rPr sz="2400" b="0">
                    <a:solidFill>
                      <a:srgbClr val="111827"/>
                    </a:solidFill>
                    <a:latin typeface="Arial"/>
                  </a:rPr>
                  <a:t> and </a:t>
                </a:r>
                <a:r>
                  <a:rPr lang="en-IN" sz="2400">
                    <a:solidFill>
                      <a:srgbClr val="111827"/>
                    </a:solidFill>
                    <a:latin typeface="Cambria Math" panose="02040503050406030204" pitchFamily="18" charset="0"/>
                  </a:rPr>
                  <a:t>$(\sin\alpha,\sin2\beta,\sin3\gamma)$</a:t>
                </a:r>
                <a:r>
                  <a:rPr sz="2400" b="0">
                    <a:solidFill>
                      <a:srgbClr val="111827"/>
                    </a:solidFill>
                    <a:latin typeface="Arial"/>
                  </a:rPr>
                  <a:t>: </a:t>
                </a:r>
                <a:r>
                  <a:rPr lang="en-IN" sz="2400">
                    <a:solidFill>
                      <a:srgbClr val="111827"/>
                    </a:solidFill>
                    <a:latin typeface="Cambria Math" panose="02040503050406030204" pitchFamily="18" charset="0"/>
                  </a:rPr>
                  <a:t>$|\sin\alpha+2\sin2\beta+3\sin3\gamma|\le\sqrt{1^2+2^2+3^2}\sqrt{\sin^2\alpha+\sin^22\beta+\sin^23\gamma}$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14</m:t>
                        </m:r>
                      </m:e>
                    </m:rad>
                    <m:rad>
                      <m:radPr>
                        <m:degHide m:val="on"/>
                        <m:ctrlPr>
                          <a:rPr lang="en-IN" sz="2400" i="1">
                            <a:solidFill>
                              <a:srgbClr val="111827"/>
                            </a:solidFill>
                            <a:latin typeface="Cambria Math" panose="02040503050406030204" pitchFamily="18" charset="0"/>
                          </a:rPr>
                        </m:ctrlPr>
                      </m:radPr>
                      <m:deg/>
                      <m:e>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22</m:t>
                            </m:r>
                          </m:sup>
                        </m:sSup>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23</m:t>
                            </m:r>
                          </m:sup>
                        </m:sSup>
                        <m:r>
                          <a:rPr lang="en-IN" sz="2400" i="1">
                            <a:solidFill>
                              <a:srgbClr val="111827"/>
                            </a:solidFill>
                            <a:latin typeface="Cambria Math" panose="02040503050406030204" pitchFamily="18" charset="0"/>
                          </a:rPr>
                          <m:t>γ</m:t>
                        </m:r>
                      </m:e>
                    </m:rad>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22</m:t>
                        </m:r>
                      </m:sup>
                    </m:sSup>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23</m:t>
                        </m:r>
                      </m:sup>
                    </m:sSup>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Equality when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14</m:t>
                        </m:r>
                      </m:den>
                    </m:f>
                  </m:oMath>
                </a14:m>
                <a:r>
                  <a:rPr sz="2400" b="0">
                    <a:solidFill>
                      <a:srgbClr val="111827"/>
                    </a:solidFill>
                    <a:latin typeface="Arial"/>
                  </a:rPr>
                  <a:t>, so the values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14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14</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attainable.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least value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14</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$1\le\sqrt{14}\sqrt{\sin^2\alpha+\sin^22\beta+\sin^23\gamma}\Rightarrow\sin^2\alpha+\sin^22\beta+\sin^23\gamma\ge\frac1{14}$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Equality when </a:t>
                </a:r>
                <a:r>
                  <a:rPr lang="en-IN" sz="2400">
                    <a:solidFill>
                      <a:srgbClr val="111827"/>
                    </a:solidFill>
                    <a:latin typeface="Cambria Math" panose="02040503050406030204" pitchFamily="18" charset="0"/>
                  </a:rPr>
                  <a:t>$(\sin\alpha,\sin2\beta,\sin3\gamma)=k(1,2,3)$</a:t>
                </a:r>
                <a:r>
                  <a:rPr sz="2400" b="0">
                    <a:solidFill>
                      <a:srgbClr val="111827"/>
                    </a:solidFill>
                    <a:latin typeface="Arial"/>
                  </a:rPr>
                  <a:t>: </a:t>
                </a:r>
                <a:r>
                  <a:rPr lang="en-IN" sz="2400">
                    <a:solidFill>
                      <a:srgbClr val="111827"/>
                    </a:solidFill>
                    <a:latin typeface="Cambria Math" panose="02040503050406030204" pitchFamily="18" charset="0"/>
                  </a:rPr>
                  <a:t>$k+4k+9k=1$</a:t>
                </a:r>
                <a:r>
                  <a:rPr sz="2400" b="0">
                    <a:solidFill>
                      <a:srgbClr val="111827"/>
                    </a:solidFill>
                    <a:latin typeface="Arial"/>
                  </a:rPr>
                  <a:t> gives </a:t>
                </a:r>
                <a:r>
                  <a:rPr lang="en-IN" sz="2400">
                    <a:solidFill>
                      <a:srgbClr val="111827"/>
                    </a:solidFill>
                    <a:latin typeface="Cambria Math" panose="02040503050406030204" pitchFamily="18" charset="0"/>
                  </a:rPr>
                  <a:t>$k=\frac1{14}$</a:t>
                </a:r>
                <a:r>
                  <a:rPr sz="2400" b="0">
                    <a:solidFill>
                      <a:srgbClr val="111827"/>
                    </a:solidFill>
                    <a:latin typeface="Arial"/>
                  </a:rPr>
                  <a:t>, so the values </a:t>
                </a:r>
                <a:r>
                  <a:rPr lang="en-IN" sz="2400">
                    <a:solidFill>
                      <a:srgbClr val="111827"/>
                    </a:solidFill>
                    <a:latin typeface="Cambria Math" panose="02040503050406030204" pitchFamily="18" charset="0"/>
                  </a:rPr>
                  <a:t>$\frac1{14},\frac2{14},\frac3{14}\in[-1,1]$</a:t>
                </a:r>
                <a:r>
                  <a:rPr sz="2400" b="0">
                    <a:solidFill>
                      <a:srgbClr val="111827"/>
                    </a:solidFill>
                    <a:latin typeface="Arial"/>
                  </a:rPr>
                  <a:t> are attainable.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least value is </a:t>
                </a:r>
                <a:r>
                  <a:rPr lang="en-IN" sz="2400">
                    <a:solidFill>
                      <a:srgbClr val="111827"/>
                    </a:solidFill>
                    <a:latin typeface="Cambria Math" panose="02040503050406030204" pitchFamily="18" charset="0"/>
                  </a:rPr>
                  <a:t>$\frac1{14}$</a:t>
                </a:r>
                <a:r>
                  <a:rPr sz="2400" b="0">
                    <a:solidFill>
                      <a:srgbClr val="111827"/>
                    </a:solidFill>
                    <a:latin typeface="Arial"/>
                  </a:rPr>
                  <a:t>, so </a:t>
                </a:r>
                <a:r>
                  <a:rPr lang="en-IN" sz="2400">
                    <a:solidFill>
                      <a:srgbClr val="111827"/>
                    </a:solidFill>
                    <a:latin typeface="Cambria Math" panose="02040503050406030204" pitchFamily="18" charset="0"/>
                  </a:rPr>
                  <a:t>$p=1,\ q=14$</a:t>
                </a:r>
                <a:r>
                  <a:rPr sz="2400" b="0">
                    <a:solidFill>
                      <a:srgbClr val="111827"/>
                    </a:solidFill>
                    <a:latin typeface="Arial"/>
                  </a:rPr>
                  <a:t> and </a:t>
                </a:r>
                <a:r>
                  <a:rPr lang="en-IN" sz="2400">
                    <a:solidFill>
                      <a:srgbClr val="111827"/>
                    </a:solidFill>
                    <a:latin typeface="Cambria Math" panose="02040503050406030204" pitchFamily="18" charset="0"/>
                  </a:rPr>
                  <a:t>$p+q=15$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15</a:t>
            </a:r>
            <a:endParaRPr sz="2800">
              <a:solidFill>
                <a:srgbClr val="15803D"/>
              </a:solidFill>
            </a:endParaRPr>
          </a:p>
        </p:txBody>
      </p:sp>
    </p:spTree>
  </p:cSld>
  <p:clrMapOvr>
    <a:masterClrMapping/>
  </p:clrMapOvr>
</p:sld>
</file>

<file path=ppt/slides/slide4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Geometric view: minimise the squared distance from the origin to the plane </a:t>
                </a:r>
                <a14:m>
                  <m:oMath xmlns:m="http://schemas.openxmlformats.org/officeDocument/2006/math">
                    <m:sSub>
                      <m:e>
                        <m:r>
                          <a:rPr lang="en-IN" sz="2400" i="1">
                            <a:solidFill>
                              <a:srgbClr val="78350F"/>
                            </a:solidFill>
                            <a:latin typeface="Cambria Math" panose="02040503050406030204" pitchFamily="18" charset="0"/>
                          </a:rPr>
                          <m:t>𝑠</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Sub>
                      <m:e>
                        <m:r>
                          <a:rPr lang="en-IN" sz="2400" i="1">
                            <a:solidFill>
                              <a:srgbClr val="78350F"/>
                            </a:solidFill>
                            <a:latin typeface="Cambria Math" panose="02040503050406030204" pitchFamily="18" charset="0"/>
                          </a:rPr>
                          <m:t>𝑠</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sSub>
                      <m:e>
                        <m:r>
                          <a:rPr lang="en-IN" sz="2400" i="1">
                            <a:solidFill>
                              <a:srgbClr val="78350F"/>
                            </a:solidFill>
                            <a:latin typeface="Cambria Math" panose="02040503050406030204" pitchFamily="18" charset="0"/>
                          </a:rPr>
                          <m:t>𝑠</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Geometric view: minimise the squared distance from the origin to the plane </a:t>
                </a:r>
                <a:r>
                  <a:rPr lang="en-IN" sz="2400">
                    <a:solidFill>
                      <a:srgbClr val="78350F"/>
                    </a:solidFill>
                    <a:latin typeface="Cambria Math" panose="02040503050406030204" pitchFamily="18" charset="0"/>
                  </a:rPr>
                  <a:t>$s_1+2s_2+3s_3=1$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γ</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lies on the plane </a:t>
                </a:r>
                <a14:m>
                  <m:oMath xmlns:m="http://schemas.openxmlformats.org/officeDocument/2006/math">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Sup>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is the squared distance of that point from the origin; its minimum is the squared distance of the plane from the origin: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e>
                                </m:rad>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14</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$s_1=\sin\alpha,\ s_2=\sin2\beta,\ s_3=\sin3\gamma$</a:t>
                </a:r>
                <a:r>
                  <a:rPr sz="2400" b="0">
                    <a:solidFill>
                      <a:srgbClr val="111827"/>
                    </a:solidFill>
                    <a:latin typeface="Arial"/>
                  </a:rPr>
                  <a:t>; then </a:t>
                </a:r>
                <a:r>
                  <a:rPr lang="en-IN" sz="2400">
                    <a:solidFill>
                      <a:srgbClr val="111827"/>
                    </a:solidFill>
                    <a:latin typeface="Cambria Math" panose="02040503050406030204" pitchFamily="18" charset="0"/>
                  </a:rPr>
                  <a:t>$(s_1,s_2,s_3)$</a:t>
                </a:r>
                <a:r>
                  <a:rPr sz="2400" b="0">
                    <a:solidFill>
                      <a:srgbClr val="111827"/>
                    </a:solidFill>
                    <a:latin typeface="Arial"/>
                  </a:rPr>
                  <a:t> lies on the plane </a:t>
                </a:r>
                <a:r>
                  <a:rPr lang="en-IN" sz="2400">
                    <a:solidFill>
                      <a:srgbClr val="111827"/>
                    </a:solidFill>
                    <a:latin typeface="Cambria Math" panose="02040503050406030204" pitchFamily="18" charset="0"/>
                  </a:rPr>
                  <a:t>$s_1+2s_2+3s_3=1$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$s_1^2+s_2^2+s_3^2$</a:t>
                </a:r>
                <a:r>
                  <a:rPr sz="2400" b="0">
                    <a:solidFill>
                      <a:srgbClr val="111827"/>
                    </a:solidFill>
                    <a:latin typeface="Arial"/>
                  </a:rPr>
                  <a:t> is the squared distance of that point from the origin; its minimum is the squared distance of the plane from the origin: </a:t>
                </a:r>
                <a:r>
                  <a:rPr lang="en-IN" sz="2400">
                    <a:solidFill>
                      <a:srgbClr val="111827"/>
                    </a:solidFill>
                    <a:latin typeface="Cambria Math" panose="02040503050406030204" pitchFamily="18" charset="0"/>
                  </a:rPr>
                  <a:t>$\left(\frac{1}{\sqrt{1+4+9}}\right)^2=\frac{1}{14}$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foot of the perpendicular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has all coordinates in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it is attainable.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foot of the perpendicular </a:t>
                </a:r>
                <a:r>
                  <a:rPr lang="en-IN" sz="2400">
                    <a:solidFill>
                      <a:srgbClr val="111827"/>
                    </a:solidFill>
                    <a:latin typeface="Cambria Math" panose="02040503050406030204" pitchFamily="18" charset="0"/>
                  </a:rPr>
                  <a:t>$\frac1{14}(1,2,3)$</a:t>
                </a:r>
                <a:r>
                  <a:rPr sz="2400" b="0">
                    <a:solidFill>
                      <a:srgbClr val="111827"/>
                    </a:solidFill>
                    <a:latin typeface="Arial"/>
                  </a:rPr>
                  <a:t> has all coordinates in </a:t>
                </a:r>
                <a:r>
                  <a:rPr lang="en-IN" sz="2400">
                    <a:solidFill>
                      <a:srgbClr val="111827"/>
                    </a:solidFill>
                    <a:latin typeface="Cambria Math" panose="02040503050406030204" pitchFamily="18" charset="0"/>
                  </a:rPr>
                  <a:t>$[-1,1]$</a:t>
                </a:r>
                <a:r>
                  <a:rPr sz="2400" b="0">
                    <a:solidFill>
                      <a:srgbClr val="111827"/>
                    </a:solidFill>
                    <a:latin typeface="Arial"/>
                  </a:rPr>
                  <a:t>, so it is attainable. </a:t>
                </a:r>
                <a:r>
                  <a:rPr lang="en-IN" sz="2400">
                    <a:solidFill>
                      <a:srgbClr val="111827"/>
                    </a:solidFill>
                    <a:latin typeface="Cambria Math" panose="02040503050406030204" pitchFamily="18" charset="0"/>
                  </a:rPr>
                  <a:t>$p+q=1+14=15$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15</a:t>
            </a:r>
            <a:endParaRPr sz="2800">
              <a:solidFill>
                <a:srgbClr val="15803D"/>
              </a:solidFill>
            </a:endParaRPr>
          </a:p>
        </p:txBody>
      </p:sp>
    </p:spTree>
  </p:cSld>
  <p:clrMapOvr>
    <a:masterClrMapping/>
  </p:clrMapOvr>
</p:sld>
</file>

<file path=ppt/slides/slide4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Four points with position vectors satisfy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𝑖</m:t>
                        </m:r>
                      </m:sub>
                    </m:sSub>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(not all </a:t>
                </a:r>
                <a14:m>
                  <m:oMath xmlns:m="http://schemas.openxmlformats.org/officeDocument/2006/math">
                    <m:sSub>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they are coplanar (affine dependence).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Minimum of </a:t>
                </a: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subject to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den>
                    </m:f>
                  </m:oMath>
                </a14:m>
                <a:r>
                  <a:rPr sz="2400" b="0">
                    <a:solidFill>
                      <a:srgbClr val="111827"/>
                    </a:solidFill>
                    <a:latin typeface="Arial"/>
                  </a:rPr>
                  <a:t> (Cauchy-Schwarz), attained at </a:t>
                </a:r>
                <a14:m>
                  <m:oMath xmlns:m="http://schemas.openxmlformats.org/officeDocument/2006/math">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𝑘</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that the minimising values are admissible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before accepting the bound.</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Four points with position vectors satisfy </a:t>
                </a:r>
                <a:r>
                  <a:rPr lang="en-IN" sz="2400">
                    <a:solidFill>
                      <a:srgbClr val="111827"/>
                    </a:solidFill>
                    <a:latin typeface="Cambria Math" panose="02040503050406030204" pitchFamily="18" charset="0"/>
                  </a:rPr>
                  <a:t>$\sum k_i\vec p_i=\vec 0$</a:t>
                </a:r>
                <a:r>
                  <a:rPr sz="2400" b="0">
                    <a:solidFill>
                      <a:srgbClr val="111827"/>
                    </a:solidFill>
                    <a:latin typeface="Arial"/>
                  </a:rPr>
                  <a:t> with </a:t>
                </a:r>
                <a:r>
                  <a:rPr lang="en-IN" sz="2400">
                    <a:solidFill>
                      <a:srgbClr val="111827"/>
                    </a:solidFill>
                    <a:latin typeface="Cambria Math" panose="02040503050406030204" pitchFamily="18" charset="0"/>
                  </a:rPr>
                  <a:t>$\sum k_i=0$</a:t>
                </a:r>
                <a:r>
                  <a:rPr sz="2400" b="0">
                    <a:solidFill>
                      <a:srgbClr val="111827"/>
                    </a:solidFill>
                    <a:latin typeface="Arial"/>
                  </a:rPr>
                  <a:t> (not all </a:t>
                </a:r>
                <a:r>
                  <a:rPr lang="en-IN" sz="2400">
                    <a:solidFill>
                      <a:srgbClr val="111827"/>
                    </a:solidFill>
                    <a:latin typeface="Cambria Math" panose="02040503050406030204" pitchFamily="18" charset="0"/>
                  </a:rPr>
                  <a:t>$k_i=0$</a:t>
                </a:r>
                <a:r>
                  <a:rPr sz="2400" b="0">
                    <a:solidFill>
                      <a:srgbClr val="111827"/>
                    </a:solidFill>
                    <a:latin typeface="Arial"/>
                  </a:rPr>
                  <a:t>) </a:t>
                </a:r>
                <a:r>
                  <a:rPr lang="en-IN" sz="2400">
                    <a:solidFill>
                      <a:srgbClr val="111827"/>
                    </a:solidFill>
                    <a:latin typeface="Cambria Math" panose="02040503050406030204" pitchFamily="18" charset="0"/>
                  </a:rPr>
                  <a:t>$\iff$</a:t>
                </a:r>
                <a:r>
                  <a:rPr sz="2400" b="0">
                    <a:solidFill>
                      <a:srgbClr val="111827"/>
                    </a:solidFill>
                    <a:latin typeface="Arial"/>
                  </a:rPr>
                  <a:t> they are coplanar (affine dependence).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Minimum of </a:t>
                </a:r>
                <a:r>
                  <a:rPr lang="en-IN" sz="2400">
                    <a:solidFill>
                      <a:srgbClr val="111827"/>
                    </a:solidFill>
                    <a:latin typeface="Cambria Math" panose="02040503050406030204" pitchFamily="18" charset="0"/>
                  </a:rPr>
                  <a:t>$\sum s_i^2$</a:t>
                </a:r>
                <a:r>
                  <a:rPr sz="2400" b="0">
                    <a:solidFill>
                      <a:srgbClr val="111827"/>
                    </a:solidFill>
                    <a:latin typeface="Arial"/>
                  </a:rPr>
                  <a:t> subject to </a:t>
                </a:r>
                <a:r>
                  <a:rPr lang="en-IN" sz="2400">
                    <a:solidFill>
                      <a:srgbClr val="111827"/>
                    </a:solidFill>
                    <a:latin typeface="Cambria Math" panose="02040503050406030204" pitchFamily="18" charset="0"/>
                  </a:rPr>
                  <a:t>$\sum k_is_i=c$</a:t>
                </a:r>
                <a:r>
                  <a:rPr sz="2400" b="0">
                    <a:solidFill>
                      <a:srgbClr val="111827"/>
                    </a:solidFill>
                    <a:latin typeface="Arial"/>
                  </a:rPr>
                  <a:t> is </a:t>
                </a:r>
                <a:r>
                  <a:rPr lang="en-IN" sz="2400">
                    <a:solidFill>
                      <a:srgbClr val="111827"/>
                    </a:solidFill>
                    <a:latin typeface="Cambria Math" panose="02040503050406030204" pitchFamily="18" charset="0"/>
                  </a:rPr>
                  <a:t>$\frac{c^2}{\sum k_i^2}$</a:t>
                </a:r>
                <a:r>
                  <a:rPr sz="2400" b="0">
                    <a:solidFill>
                      <a:srgbClr val="111827"/>
                    </a:solidFill>
                    <a:latin typeface="Arial"/>
                  </a:rPr>
                  <a:t> (Cauchy-Schwarz), attained at </a:t>
                </a:r>
                <a:r>
                  <a:rPr lang="en-IN" sz="2400">
                    <a:solidFill>
                      <a:srgbClr val="111827"/>
                    </a:solidFill>
                    <a:latin typeface="Cambria Math" panose="02040503050406030204" pitchFamily="18" charset="0"/>
                  </a:rPr>
                  <a:t>$s_i\propto k_i$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that the minimising values are admissible (</a:t>
                </a:r>
                <a:r>
                  <a:rPr lang="en-IN" sz="2400">
                    <a:solidFill>
                      <a:srgbClr val="111827"/>
                    </a:solidFill>
                    <a:latin typeface="Cambria Math" panose="02040503050406030204" pitchFamily="18" charset="0"/>
                  </a:rPr>
                  <a:t>$|\sin|\le1$</a:t>
                </a:r>
                <a:r>
                  <a:rPr sz="2400" b="0">
                    <a:solidFill>
                      <a:srgbClr val="111827"/>
                    </a:solidFill>
                    <a:latin typeface="Arial"/>
                  </a:rPr>
                  <a:t>) before accepting the bound.</a:t>
                </a:r>
                <a:endParaRPr sz="2400">
                  <a:solidFill>
                    <a:srgbClr val="111827"/>
                  </a:solidFill>
                </a:endParaRPr>
              </a:p>
            </p:txBody>
          </p:sp>
        </mc:Fallback>
      </mc:AlternateContent>
    </p:spTree>
  </p:cSld>
  <p:clrMapOvr>
    <a:masterClrMapping/>
  </p:clrMapOvr>
</p:sld>
</file>

<file path=ppt/slides/slide4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7</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Matching List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Q78 – Q80</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Marks not printed in the paper: JEE Advanced default of 3 marks assumed</a:t>
            </a:r>
            <a:endParaRPr sz="2800">
              <a:solidFill>
                <a:srgbClr val="FFFFFF"/>
              </a:solidFill>
            </a:endParaRPr>
          </a:p>
        </p:txBody>
      </p:sp>
    </p:spTree>
  </p:cSld>
  <p:clrMapOvr>
    <a:masterClrMapping/>
  </p:clrMapOvr>
</p:sld>
</file>

<file path=ppt/slides/slide4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If the angle between the plane </a:t>
                </a:r>
                <a14:m>
                  <m:oMath xmlns:m="http://schemas.openxmlformats.org/officeDocument/2006/math">
                    <m:r>
                      <a:rPr lang="en-IN" sz="2000" i="1">
                        <a:solidFill>
                          <a:srgbClr val="111827"/>
                        </a:solidFill>
                        <a:latin typeface="Cambria Math" panose="02040503050406030204" pitchFamily="18" charset="0"/>
                      </a:rPr>
                      <m:t>𝑥</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3</m:t>
                    </m:r>
                    <m:r>
                      <a:rPr lang="en-IN" sz="2000" i="1">
                        <a:solidFill>
                          <a:srgbClr val="111827"/>
                        </a:solidFill>
                        <a:latin typeface="Cambria Math" panose="02040503050406030204" pitchFamily="18" charset="0"/>
                      </a:rPr>
                      <m:t>𝑦</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oMath>
                </a14:m>
                <a:r>
                  <a:rPr sz="2000" b="0">
                    <a:solidFill>
                      <a:srgbClr val="111827"/>
                    </a:solidFill>
                    <a:latin typeface="Arial"/>
                  </a:rPr>
                  <a:t> and the line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𝑥</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num>
                      <m:den>
                        <m:r>
                          <a:rPr lang="en-IN" sz="2000" i="1">
                            <a:solidFill>
                              <a:srgbClr val="111827"/>
                            </a:solidFill>
                            <a:latin typeface="Cambria Math" panose="02040503050406030204" pitchFamily="18" charset="0"/>
                          </a:rPr>
                          <m:t>2</m:t>
                        </m:r>
                      </m:den>
                    </m:f>
                    <m:r>
                      <m:rPr>
                        <m:sty m:val="p"/>
                      </m:rPr>
                      <a:rPr lang="en-IN" sz="2000">
                        <a:solidFill>
                          <a:srgbClr val="111827"/>
                        </a:solidFill>
                        <a:latin typeface="Cambria Math" panose="02040503050406030204" pitchFamily="18" charset="0"/>
                      </a:rPr>
                      <m:t>=</m:t>
                    </m:r>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𝑦</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num>
                      <m:den>
                        <m:r>
                          <a:rPr lang="en-IN" sz="2000" i="1">
                            <a:solidFill>
                              <a:srgbClr val="111827"/>
                            </a:solidFill>
                            <a:latin typeface="Cambria Math" panose="02040503050406030204" pitchFamily="18" charset="0"/>
                          </a:rPr>
                          <m:t>1</m:t>
                        </m:r>
                      </m:den>
                    </m:f>
                    <m:r>
                      <m:rPr>
                        <m:sty m:val="p"/>
                      </m:rPr>
                      <a:rPr lang="en-IN" sz="2000">
                        <a:solidFill>
                          <a:srgbClr val="111827"/>
                        </a:solidFill>
                        <a:latin typeface="Cambria Math" panose="02040503050406030204" pitchFamily="18" charset="0"/>
                      </a:rPr>
                      <m:t>=</m:t>
                    </m:r>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num>
                      <m:den>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3</m:t>
                        </m:r>
                      </m:den>
                    </m:f>
                  </m:oMath>
                </a14:m>
                <a:r>
                  <a:rPr sz="2000" b="0">
                    <a:solidFill>
                      <a:srgbClr val="111827"/>
                    </a:solidFill>
                    <a:latin typeface="Arial"/>
                  </a:rPr>
                  <a:t> is </a:t>
                </a:r>
                <a14:m>
                  <m:oMath xmlns:m="http://schemas.openxmlformats.org/officeDocument/2006/math">
                    <m:r>
                      <a:rPr lang="en-IN" sz="2000" i="1">
                        <a:solidFill>
                          <a:srgbClr val="111827"/>
                        </a:solidFill>
                        <a:latin typeface="Cambria Math" panose="02040503050406030204" pitchFamily="18" charset="0"/>
                      </a:rPr>
                      <m:t>θ</m:t>
                    </m:r>
                  </m:oMath>
                </a14:m>
                <a:r>
                  <a:rPr sz="2000" b="0">
                    <a:solidFill>
                      <a:srgbClr val="111827"/>
                    </a:solidFill>
                    <a:latin typeface="Arial"/>
                  </a:rPr>
                  <a:t>, then the value of </a:t>
                </a:r>
                <a14:m>
                  <m:oMath xmlns:m="http://schemas.openxmlformats.org/officeDocument/2006/math">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cosec</m:t>
                    </m:r>
                    <m:r>
                      <a:rPr lang="en-IN" sz="2000" i="1">
                        <a:solidFill>
                          <a:srgbClr val="111827"/>
                        </a:solidFill>
                        <a:latin typeface="Cambria Math" panose="02040503050406030204" pitchFamily="18" charset="0"/>
                      </a:rPr>
                      <m:t>θ</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If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oMath>
                </a14:m>
                <a:r>
                  <a:rPr sz="2000" b="0">
                    <a:solidFill>
                      <a:srgbClr val="111827"/>
                    </a:solidFill>
                    <a:latin typeface="Arial"/>
                  </a:rPr>
                  <a:t> are non coplanar and </a:t>
                </a:r>
                <a14:m>
                  <m:oMath xmlns:m="http://schemas.openxmlformats.org/officeDocument/2006/math">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a:rPr lang="en-IN" sz="2000" i="1">
                        <a:solidFill>
                          <a:srgbClr val="111827"/>
                        </a:solidFill>
                        <a:latin typeface="Cambria Math" panose="02040503050406030204" pitchFamily="18" charset="0"/>
                      </a:rPr>
                      <m:t> </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a:rPr lang="en-IN" sz="2000" i="1">
                        <a:solidFill>
                          <a:srgbClr val="111827"/>
                        </a:solidFill>
                        <a:latin typeface="Cambria Math" panose="02040503050406030204" pitchFamily="18" charset="0"/>
                      </a:rPr>
                      <m:t> </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4</m:t>
                        </m:r>
                      </m:num>
                      <m:den>
                        <m:r>
                          <a:rPr lang="en-IN" sz="2000" i="1">
                            <a:solidFill>
                              <a:srgbClr val="111827"/>
                            </a:solidFill>
                            <a:latin typeface="Cambria Math" panose="02040503050406030204" pitchFamily="18" charset="0"/>
                          </a:rPr>
                          <m:t>7</m:t>
                        </m:r>
                      </m:den>
                    </m:f>
                  </m:oMath>
                </a14:m>
                <a:r>
                  <a:rPr sz="2000" b="0">
                    <a:solidFill>
                      <a:srgbClr val="111827"/>
                    </a:solidFill>
                    <a:latin typeface="Arial"/>
                  </a:rPr>
                  <a:t>, then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a:rPr lang="en-IN" sz="2000" i="1">
                        <a:solidFill>
                          <a:srgbClr val="111827"/>
                        </a:solidFill>
                        <a:latin typeface="Cambria Math" panose="02040503050406030204" pitchFamily="18" charset="0"/>
                      </a:rPr>
                      <m:t> </m:t>
                    </m:r>
                    <m:r>
                      <a:rPr lang="en-IN" sz="2000" i="1">
                        <a:solidFill>
                          <a:srgbClr val="111827"/>
                        </a:solidFill>
                        <a:latin typeface="Cambria Math" panose="02040503050406030204" pitchFamily="18" charset="0"/>
                      </a:rPr>
                      <m:t> </m:t>
                    </m:r>
                    <m:r>
                      <a:rPr lang="en-IN" sz="2000" i="1">
                        <a:solidFill>
                          <a:srgbClr val="111827"/>
                        </a:solidFill>
                        <a:latin typeface="Cambria Math" panose="02040503050406030204" pitchFamily="18" charset="0"/>
                      </a:rPr>
                      <m:t>2</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r>
                      <a:rPr lang="en-IN" sz="2000" i="1">
                        <a:solidFill>
                          <a:srgbClr val="111827"/>
                        </a:solidFill>
                        <a:latin typeface="Cambria Math" panose="02040503050406030204" pitchFamily="18" charset="0"/>
                      </a:rPr>
                      <m:t> </m:t>
                    </m:r>
                    <m:r>
                      <a:rPr lang="en-IN" sz="2000" i="1">
                        <a:solidFill>
                          <a:srgbClr val="111827"/>
                        </a:solidFill>
                        <a:latin typeface="Cambria Math" panose="02040503050406030204" pitchFamily="18" charset="0"/>
                      </a:rPr>
                      <m:t> </m:t>
                    </m:r>
                    <m:r>
                      <a:rPr lang="en-IN" sz="2000" i="1">
                        <a:solidFill>
                          <a:srgbClr val="111827"/>
                        </a:solidFill>
                        <a:latin typeface="Cambria Math" panose="02040503050406030204" pitchFamily="18" charset="0"/>
                      </a:rPr>
                      <m:t>2</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oMath>
                </a14:m>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Let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𝑟</m:t>
                        </m:r>
                      </m:e>
                    </m:acc>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sin</m:t>
                    </m:r>
                    <m:r>
                      <a:rPr lang="en-IN" sz="2000" i="1">
                        <a:solidFill>
                          <a:srgbClr val="111827"/>
                        </a:solidFill>
                        <a:latin typeface="Cambria Math" panose="02040503050406030204" pitchFamily="18" charset="0"/>
                      </a:rPr>
                      <m:t>𝑥</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cos</m:t>
                    </m:r>
                    <m:r>
                      <a:rPr lang="en-IN" sz="2000" i="1">
                        <a:solidFill>
                          <a:srgbClr val="111827"/>
                        </a:solidFill>
                        <a:latin typeface="Cambria Math" panose="02040503050406030204" pitchFamily="18" charset="0"/>
                      </a:rPr>
                      <m:t>𝑦</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oMath>
                </a14:m>
                <a:r>
                  <a:rPr sz="2000" b="0">
                    <a:solidFill>
                      <a:srgbClr val="111827"/>
                    </a:solidFill>
                    <a:latin typeface="Arial"/>
                  </a:rPr>
                  <a:t>, where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oMath>
                </a14:m>
                <a:r>
                  <a:rPr sz="2000" b="0">
                    <a:solidFill>
                      <a:srgbClr val="111827"/>
                    </a:solidFill>
                    <a:latin typeface="Arial"/>
                  </a:rPr>
                  <a:t> are three non-coplanar vectors. If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𝑟</m:t>
                        </m:r>
                      </m:e>
                    </m:acc>
                  </m:oMath>
                </a14:m>
                <a:r>
                  <a:rPr sz="2000" b="0">
                    <a:solidFill>
                      <a:srgbClr val="111827"/>
                    </a:solidFill>
                    <a:latin typeface="Arial"/>
                  </a:rPr>
                  <a:t> is perpendicular to </a:t>
                </a:r>
                <a14:m>
                  <m:oMath xmlns:m="http://schemas.openxmlformats.org/officeDocument/2006/math">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r>
                      <m:rPr>
                        <m:sty m:val="p"/>
                      </m:rPr>
                      <a:rPr lang="en-IN" sz="2000">
                        <a:solidFill>
                          <a:srgbClr val="111827"/>
                        </a:solidFill>
                        <a:latin typeface="Cambria Math" panose="02040503050406030204" pitchFamily="18" charset="0"/>
                      </a:rPr>
                      <m:t>)</m:t>
                    </m:r>
                  </m:oMath>
                </a14:m>
                <a:r>
                  <a:rPr sz="2000" b="0">
                    <a:solidFill>
                      <a:srgbClr val="111827"/>
                    </a:solidFill>
                    <a:latin typeface="Arial"/>
                  </a:rPr>
                  <a:t> and the minimum value of </a:t>
                </a:r>
                <a14:m>
                  <m:oMath xmlns:m="http://schemas.openxmlformats.org/officeDocument/2006/math">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𝑥</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𝑦</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oMath>
                </a14:m>
                <a:r>
                  <a:rPr sz="2000" b="0">
                    <a:solidFill>
                      <a:srgbClr val="111827"/>
                    </a:solidFill>
                    <a:latin typeface="Arial"/>
                  </a:rPr>
                  <a:t> is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𝑘</m:t>
                        </m:r>
                        <m:sSup>
                          <m:e>
                            <m:r>
                              <a:rPr lang="en-IN" sz="2000" i="1">
                                <a:solidFill>
                                  <a:srgbClr val="111827"/>
                                </a:solidFill>
                                <a:latin typeface="Cambria Math" panose="02040503050406030204" pitchFamily="18" charset="0"/>
                              </a:rPr>
                              <m:t>π</m:t>
                            </m:r>
                          </m:e>
                          <m:sup>
                            <m:r>
                              <a:rPr lang="en-IN" sz="2000" i="1">
                                <a:solidFill>
                                  <a:srgbClr val="111827"/>
                                </a:solidFill>
                                <a:latin typeface="Cambria Math" panose="02040503050406030204" pitchFamily="18" charset="0"/>
                              </a:rPr>
                              <m:t>2</m:t>
                            </m:r>
                          </m:sup>
                        </m:sSup>
                      </m:num>
                      <m:den>
                        <m:r>
                          <a:rPr lang="en-IN" sz="2000" i="1">
                            <a:solidFill>
                              <a:srgbClr val="111827"/>
                            </a:solidFill>
                            <a:latin typeface="Cambria Math" panose="02040503050406030204" pitchFamily="18" charset="0"/>
                          </a:rPr>
                          <m:t>4</m:t>
                        </m:r>
                      </m:den>
                    </m:f>
                  </m:oMath>
                </a14:m>
                <a:r>
                  <a:rPr sz="2000" b="0">
                    <a:solidFill>
                      <a:srgbClr val="111827"/>
                    </a:solidFill>
                    <a:latin typeface="Arial"/>
                  </a:rPr>
                  <a:t>, then </a:t>
                </a:r>
                <a14:m>
                  <m:oMath xmlns:m="http://schemas.openxmlformats.org/officeDocument/2006/math">
                    <m:r>
                      <a:rPr lang="en-IN" sz="2000" i="1">
                        <a:solidFill>
                          <a:srgbClr val="111827"/>
                        </a:solidFill>
                        <a:latin typeface="Cambria Math" panose="02040503050406030204" pitchFamily="18" charset="0"/>
                      </a:rPr>
                      <m:t>𝑘</m:t>
                    </m:r>
                  </m:oMath>
                </a14:m>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If image of the point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in the plane </a:t>
                </a:r>
                <a14:m>
                  <m:oMath xmlns:m="http://schemas.openxmlformats.org/officeDocument/2006/math">
                    <m:r>
                      <a:rPr lang="en-IN" sz="2000" i="1">
                        <a:solidFill>
                          <a:srgbClr val="111827"/>
                        </a:solidFill>
                        <a:latin typeface="Cambria Math" panose="02040503050406030204" pitchFamily="18" charset="0"/>
                      </a:rPr>
                      <m:t>𝑥</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𝑦</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oMath>
                </a14:m>
                <a:r>
                  <a:rPr sz="2000" b="0">
                    <a:solidFill>
                      <a:srgbClr val="111827"/>
                    </a:solidFill>
                    <a:latin typeface="Arial"/>
                  </a:rPr>
                  <a:t> is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𝑎</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𝑏</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𝑐</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then </a:t>
                </a:r>
                <a14:m>
                  <m:oMath xmlns:m="http://schemas.openxmlformats.org/officeDocument/2006/math">
                    <m:r>
                      <a:rPr lang="en-IN" sz="2000" i="1">
                        <a:solidFill>
                          <a:srgbClr val="111827"/>
                        </a:solidFill>
                        <a:latin typeface="Cambria Math" panose="02040503050406030204" pitchFamily="18" charset="0"/>
                      </a:rPr>
                      <m:t>3</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𝑎</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𝑏</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𝑐</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14:m>
                  <m:oMath xmlns:m="http://schemas.openxmlformats.org/officeDocument/2006/math">
                    <m:r>
                      <a:rPr lang="en-IN" sz="2000" i="1">
                        <a:solidFill>
                          <a:srgbClr val="111827"/>
                        </a:solidFill>
                        <a:latin typeface="Cambria Math" panose="02040503050406030204" pitchFamily="18" charset="0"/>
                      </a:rPr>
                      <m:t>2</m:t>
                    </m:r>
                  </m:oMath>
                </a14:m>
                <a:r>
                  <a:rPr sz="2000" b="0">
                    <a:solidFill>
                      <a:srgbClr val="111827"/>
                    </a:solidFill>
                    <a:latin typeface="Arial"/>
                  </a:rPr>
                  <a:t> (q) </a:t>
                </a:r>
                <a14:m>
                  <m:oMath xmlns:m="http://schemas.openxmlformats.org/officeDocument/2006/math">
                    <m:r>
                      <a:rPr lang="en-IN" sz="2000" i="1">
                        <a:solidFill>
                          <a:srgbClr val="111827"/>
                        </a:solidFill>
                        <a:latin typeface="Cambria Math" panose="02040503050406030204" pitchFamily="18" charset="0"/>
                      </a:rPr>
                      <m:t>8</m:t>
                    </m:r>
                  </m:oMath>
                </a14:m>
                <a:r>
                  <a:rPr sz="2000" b="0">
                    <a:solidFill>
                      <a:srgbClr val="111827"/>
                    </a:solidFill>
                    <a:latin typeface="Arial"/>
                  </a:rPr>
                  <a:t> (r) </a:t>
                </a:r>
                <a14:m>
                  <m:oMath xmlns:m="http://schemas.openxmlformats.org/officeDocument/2006/math">
                    <m:r>
                      <a:rPr lang="en-IN" sz="2000" i="1">
                        <a:solidFill>
                          <a:srgbClr val="111827"/>
                        </a:solidFill>
                        <a:latin typeface="Cambria Math" panose="02040503050406030204" pitchFamily="18" charset="0"/>
                      </a:rPr>
                      <m:t>4</m:t>
                    </m:r>
                  </m:oMath>
                </a14:m>
                <a:r>
                  <a:rPr sz="2000" b="0">
                    <a:solidFill>
                      <a:srgbClr val="111827"/>
                    </a:solidFill>
                    <a:latin typeface="Arial"/>
                  </a:rPr>
                  <a:t> (s) </a:t>
                </a:r>
                <a14:m>
                  <m:oMath xmlns:m="http://schemas.openxmlformats.org/officeDocument/2006/math">
                    <m:r>
                      <a:rPr lang="en-IN" sz="2000" i="1">
                        <a:solidFill>
                          <a:srgbClr val="111827"/>
                        </a:solidFill>
                        <a:latin typeface="Cambria Math" panose="02040503050406030204" pitchFamily="18" charset="0"/>
                      </a:rPr>
                      <m:t>5</m:t>
                    </m:r>
                  </m:oMath>
                </a14:m>
                <a:r>
                  <a:rPr sz="2000" b="0">
                    <a:solidFill>
                      <a:srgbClr val="111827"/>
                    </a:solidFill>
                    <a:latin typeface="Arial"/>
                  </a:rPr>
                  <a:t> (t) an odd integer.</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(a)→(p); (b)→(r); (c)→(s,t); (d)→(q)</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(a)→(q); (b)→(s); (c)→(p,r); (d)→(p)</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(a)→(r); (b)→(t); (c)→(p,q); (d)→(r)</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(a)→(s); (b)→(p); (c)→(q,t); (d)→(p)</a:t>
                </a:r>
                <a:endParaRPr sz="2000">
                  <a:solidFill>
                    <a:srgbClr val="111827"/>
                  </a:solidFill>
                </a:endParaRPr>
              </a:p>
            </p:txBody>
          </p:sp>
        </mc:Choice>
        <mc:Fallback>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If the angle between the plane </a:t>
                </a:r>
                <a:r>
                  <a:rPr lang="en-IN" sz="2000">
                    <a:solidFill>
                      <a:srgbClr val="111827"/>
                    </a:solidFill>
                    <a:latin typeface="Cambria Math" panose="02040503050406030204" pitchFamily="18" charset="0"/>
                  </a:rPr>
                  <a:t>$x-3y+2z=1$</a:t>
                </a:r>
                <a:r>
                  <a:rPr sz="2000" b="0">
                    <a:solidFill>
                      <a:srgbClr val="111827"/>
                    </a:solidFill>
                    <a:latin typeface="Arial"/>
                  </a:rPr>
                  <a:t> and the line </a:t>
                </a:r>
                <a:r>
                  <a:rPr lang="en-IN" sz="2000">
                    <a:solidFill>
                      <a:srgbClr val="111827"/>
                    </a:solidFill>
                    <a:latin typeface="Cambria Math" panose="02040503050406030204" pitchFamily="18" charset="0"/>
                  </a:rPr>
                  <a:t>$\frac{x-1}{2}=\frac{y-1}{1}=\frac{z-1}{-3}$</a:t>
                </a:r>
                <a:r>
                  <a:rPr sz="2000" b="0">
                    <a:solidFill>
                      <a:srgbClr val="111827"/>
                    </a:solidFill>
                    <a:latin typeface="Arial"/>
                  </a:rPr>
                  <a:t> is </a:t>
                </a:r>
                <a:r>
                  <a:rPr lang="en-IN" sz="2000">
                    <a:solidFill>
                      <a:srgbClr val="111827"/>
                    </a:solidFill>
                    <a:latin typeface="Cambria Math" panose="02040503050406030204" pitchFamily="18" charset="0"/>
                  </a:rPr>
                  <a:t>$\theta$</a:t>
                </a:r>
                <a:r>
                  <a:rPr sz="2000" b="0">
                    <a:solidFill>
                      <a:srgbClr val="111827"/>
                    </a:solidFill>
                    <a:latin typeface="Arial"/>
                  </a:rPr>
                  <a:t>, then the value of </a:t>
                </a:r>
                <a:r>
                  <a:rPr lang="en-IN" sz="2000">
                    <a:solidFill>
                      <a:srgbClr val="111827"/>
                    </a:solidFill>
                    <a:latin typeface="Cambria Math" panose="02040503050406030204" pitchFamily="18" charset="0"/>
                  </a:rPr>
                  <a:t>$|\operatorname{cosec}\theta|$</a:t>
                </a:r>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If </a:t>
                </a:r>
                <a:r>
                  <a:rPr lang="en-IN" sz="2000">
                    <a:solidFill>
                      <a:srgbClr val="111827"/>
                    </a:solidFill>
                    <a:latin typeface="Cambria Math" panose="02040503050406030204" pitchFamily="18" charset="0"/>
                  </a:rPr>
                  <a:t>$\vec a,\vec b,\vec c$</a:t>
                </a:r>
                <a:r>
                  <a:rPr sz="2000" b="0">
                    <a:solidFill>
                      <a:srgbClr val="111827"/>
                    </a:solidFill>
                    <a:latin typeface="Arial"/>
                  </a:rPr>
                  <a:t> are non coplanar and </a:t>
                </a:r>
                <a:r>
                  <a:rPr lang="en-IN" sz="2000">
                    <a:solidFill>
                      <a:srgbClr val="111827"/>
                    </a:solidFill>
                    <a:latin typeface="Cambria Math" panose="02040503050406030204" pitchFamily="18" charset="0"/>
                  </a:rPr>
                  <a:t>$[\vec a\ \vec b\ \vec c]=\frac47$</a:t>
                </a:r>
                <a:r>
                  <a:rPr sz="2000" b="0">
                    <a:solidFill>
                      <a:srgbClr val="111827"/>
                    </a:solidFill>
                    <a:latin typeface="Arial"/>
                  </a:rPr>
                  <a:t>, then </a:t>
                </a:r>
                <a:r>
                  <a:rPr lang="en-IN" sz="2000">
                    <a:solidFill>
                      <a:srgbClr val="111827"/>
                    </a:solidFill>
                    <a:latin typeface="Cambria Math" panose="02040503050406030204" pitchFamily="18" charset="0"/>
                  </a:rPr>
                  <a:t>$[2\vec a-\vec b\ \ 2\vec b-\vec c\ \ 2\vec c-\vec a]$</a:t>
                </a:r>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Let </a:t>
                </a:r>
                <a:r>
                  <a:rPr lang="en-IN" sz="2000">
                    <a:solidFill>
                      <a:srgbClr val="111827"/>
                    </a:solidFill>
                    <a:latin typeface="Cambria Math" panose="02040503050406030204" pitchFamily="18" charset="0"/>
                  </a:rPr>
                  <a:t>$\vec r=(\vec a\times\vec b)\sin x+(\vec b\times\vec c)\cos y+2(\vec c\times\vec a)$</a:t>
                </a:r>
                <a:r>
                  <a:rPr sz="2000" b="0">
                    <a:solidFill>
                      <a:srgbClr val="111827"/>
                    </a:solidFill>
                    <a:latin typeface="Arial"/>
                  </a:rPr>
                  <a:t>, where </a:t>
                </a:r>
                <a:r>
                  <a:rPr lang="en-IN" sz="2000">
                    <a:solidFill>
                      <a:srgbClr val="111827"/>
                    </a:solidFill>
                    <a:latin typeface="Cambria Math" panose="02040503050406030204" pitchFamily="18" charset="0"/>
                  </a:rPr>
                  <a:t>$\vec a,\vec b,\vec c$</a:t>
                </a:r>
                <a:r>
                  <a:rPr sz="2000" b="0">
                    <a:solidFill>
                      <a:srgbClr val="111827"/>
                    </a:solidFill>
                    <a:latin typeface="Arial"/>
                  </a:rPr>
                  <a:t> are three non-coplanar vectors. If </a:t>
                </a:r>
                <a:r>
                  <a:rPr lang="en-IN" sz="2000">
                    <a:solidFill>
                      <a:srgbClr val="111827"/>
                    </a:solidFill>
                    <a:latin typeface="Cambria Math" panose="02040503050406030204" pitchFamily="18" charset="0"/>
                  </a:rPr>
                  <a:t>$\vec r$</a:t>
                </a:r>
                <a:r>
                  <a:rPr sz="2000" b="0">
                    <a:solidFill>
                      <a:srgbClr val="111827"/>
                    </a:solidFill>
                    <a:latin typeface="Arial"/>
                  </a:rPr>
                  <a:t> is perpendicular to </a:t>
                </a:r>
                <a:r>
                  <a:rPr lang="en-IN" sz="2000">
                    <a:solidFill>
                      <a:srgbClr val="111827"/>
                    </a:solidFill>
                    <a:latin typeface="Cambria Math" panose="02040503050406030204" pitchFamily="18" charset="0"/>
                  </a:rPr>
                  <a:t>$(\vec a+\vec b+\vec c)$</a:t>
                </a:r>
                <a:r>
                  <a:rPr sz="2000" b="0">
                    <a:solidFill>
                      <a:srgbClr val="111827"/>
                    </a:solidFill>
                    <a:latin typeface="Arial"/>
                  </a:rPr>
                  <a:t> and the minimum value of </a:t>
                </a:r>
                <a:r>
                  <a:rPr lang="en-IN" sz="2000">
                    <a:solidFill>
                      <a:srgbClr val="111827"/>
                    </a:solidFill>
                    <a:latin typeface="Cambria Math" panose="02040503050406030204" pitchFamily="18" charset="0"/>
                  </a:rPr>
                  <a:t>$(x^2+y^2)$</a:t>
                </a:r>
                <a:r>
                  <a:rPr sz="2000" b="0">
                    <a:solidFill>
                      <a:srgbClr val="111827"/>
                    </a:solidFill>
                    <a:latin typeface="Arial"/>
                  </a:rPr>
                  <a:t> is </a:t>
                </a:r>
                <a:r>
                  <a:rPr lang="en-IN" sz="2000">
                    <a:solidFill>
                      <a:srgbClr val="111827"/>
                    </a:solidFill>
                    <a:latin typeface="Cambria Math" panose="02040503050406030204" pitchFamily="18" charset="0"/>
                  </a:rPr>
                  <a:t>$\frac{k\pi^2}{4}$</a:t>
                </a:r>
                <a:r>
                  <a:rPr sz="2000" b="0">
                    <a:solidFill>
                      <a:srgbClr val="111827"/>
                    </a:solidFill>
                    <a:latin typeface="Arial"/>
                  </a:rPr>
                  <a:t>, then </a:t>
                </a:r>
                <a:r>
                  <a:rPr lang="en-IN" sz="2000">
                    <a:solidFill>
                      <a:srgbClr val="111827"/>
                    </a:solidFill>
                    <a:latin typeface="Cambria Math" panose="02040503050406030204" pitchFamily="18" charset="0"/>
                  </a:rPr>
                  <a:t>$k$</a:t>
                </a:r>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If image of the point </a:t>
                </a:r>
                <a:r>
                  <a:rPr lang="en-IN" sz="2000">
                    <a:solidFill>
                      <a:srgbClr val="111827"/>
                    </a:solidFill>
                    <a:latin typeface="Cambria Math" panose="02040503050406030204" pitchFamily="18" charset="0"/>
                  </a:rPr>
                  <a:t>$(1,0,1)$</a:t>
                </a:r>
                <a:r>
                  <a:rPr sz="2000" b="0">
                    <a:solidFill>
                      <a:srgbClr val="111827"/>
                    </a:solidFill>
                    <a:latin typeface="Arial"/>
                  </a:rPr>
                  <a:t> in the plane </a:t>
                </a:r>
                <a:r>
                  <a:rPr lang="en-IN" sz="2000">
                    <a:solidFill>
                      <a:srgbClr val="111827"/>
                    </a:solidFill>
                    <a:latin typeface="Cambria Math" panose="02040503050406030204" pitchFamily="18" charset="0"/>
                  </a:rPr>
                  <a:t>$x-y-z=1$</a:t>
                </a:r>
                <a:r>
                  <a:rPr sz="2000" b="0">
                    <a:solidFill>
                      <a:srgbClr val="111827"/>
                    </a:solidFill>
                    <a:latin typeface="Arial"/>
                  </a:rPr>
                  <a:t> is </a:t>
                </a:r>
                <a:r>
                  <a:rPr lang="en-IN" sz="2000">
                    <a:solidFill>
                      <a:srgbClr val="111827"/>
                    </a:solidFill>
                    <a:latin typeface="Cambria Math" panose="02040503050406030204" pitchFamily="18" charset="0"/>
                  </a:rPr>
                  <a:t>$(a,b,c)$</a:t>
                </a:r>
                <a:r>
                  <a:rPr sz="2000" b="0">
                    <a:solidFill>
                      <a:srgbClr val="111827"/>
                    </a:solidFill>
                    <a:latin typeface="Arial"/>
                  </a:rPr>
                  <a:t> then </a:t>
                </a:r>
                <a:r>
                  <a:rPr lang="en-IN" sz="2000">
                    <a:solidFill>
                      <a:srgbClr val="111827"/>
                    </a:solidFill>
                    <a:latin typeface="Cambria Math" panose="02040503050406030204" pitchFamily="18" charset="0"/>
                  </a:rPr>
                  <a:t>$3(a-b+c)$</a:t>
                </a:r>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r>
                  <a:rPr lang="en-IN" sz="2000">
                    <a:solidFill>
                      <a:srgbClr val="111827"/>
                    </a:solidFill>
                    <a:latin typeface="Cambria Math" panose="02040503050406030204" pitchFamily="18" charset="0"/>
                  </a:rPr>
                  <a:t>$2$</a:t>
                </a:r>
                <a:r>
                  <a:rPr sz="2000" b="0">
                    <a:solidFill>
                      <a:srgbClr val="111827"/>
                    </a:solidFill>
                    <a:latin typeface="Arial"/>
                  </a:rPr>
                  <a:t> (q) </a:t>
                </a:r>
                <a:r>
                  <a:rPr lang="en-IN" sz="2000">
                    <a:solidFill>
                      <a:srgbClr val="111827"/>
                    </a:solidFill>
                    <a:latin typeface="Cambria Math" panose="02040503050406030204" pitchFamily="18" charset="0"/>
                  </a:rPr>
                  <a:t>$8$</a:t>
                </a:r>
                <a:r>
                  <a:rPr sz="2000" b="0">
                    <a:solidFill>
                      <a:srgbClr val="111827"/>
                    </a:solidFill>
                    <a:latin typeface="Arial"/>
                  </a:rPr>
                  <a:t> (r) </a:t>
                </a:r>
                <a:r>
                  <a:rPr lang="en-IN" sz="2000">
                    <a:solidFill>
                      <a:srgbClr val="111827"/>
                    </a:solidFill>
                    <a:latin typeface="Cambria Math" panose="02040503050406030204" pitchFamily="18" charset="0"/>
                  </a:rPr>
                  <a:t>$4$</a:t>
                </a:r>
                <a:r>
                  <a:rPr sz="2000" b="0">
                    <a:solidFill>
                      <a:srgbClr val="111827"/>
                    </a:solidFill>
                    <a:latin typeface="Arial"/>
                  </a:rPr>
                  <a:t> (s) </a:t>
                </a:r>
                <a:r>
                  <a:rPr lang="en-IN" sz="2000">
                    <a:solidFill>
                      <a:srgbClr val="111827"/>
                    </a:solidFill>
                    <a:latin typeface="Cambria Math" panose="02040503050406030204" pitchFamily="18" charset="0"/>
                  </a:rPr>
                  <a:t>$5$</a:t>
                </a:r>
                <a:r>
                  <a:rPr sz="2000" b="0">
                    <a:solidFill>
                      <a:srgbClr val="111827"/>
                    </a:solidFill>
                    <a:latin typeface="Arial"/>
                  </a:rPr>
                  <a:t> (t) an odd integer.</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(a)→(p); (b)→(r); (c)→(s,t); (d)→(q)</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(a)→(q); (b)→(s); (c)→(p,r); (d)→(p)</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(a)→(r); (b)→(t); (c)→(p,q); (d)→(r)</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(a)→(s); (b)→(p); (c)→(q,t); (d)→(p)</a:t>
                </a:r>
                <a:endParaRPr sz="2000">
                  <a:solidFill>
                    <a:srgbClr val="111827"/>
                  </a:solidFill>
                </a:endParaRPr>
              </a:p>
            </p:txBody>
          </p:sp>
        </mc:Fallback>
      </mc:AlternateContent>
    </p:spTree>
  </p:cSld>
  <p:clrMapOvr>
    <a:masterClrMapping/>
  </p:clrMapOvr>
</p:sld>
</file>

<file path=ppt/slides/slide4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Angle between a line and a plane, Scalar triple product, Vector equation with trigonometric coefficients, Reflection of a point in a plane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each item compute the value once: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cosec</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triple product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7</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4</m:t>
                        </m:r>
                      </m:num>
                      <m:den>
                        <m:r>
                          <a:rPr lang="en-IN" sz="2400" i="1">
                            <a:solidFill>
                              <a:srgbClr val="78350F"/>
                            </a:solidFill>
                            <a:latin typeface="Cambria Math" panose="02040503050406030204" pitchFamily="18" charset="0"/>
                          </a:rPr>
                          <m:t>7</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oMath>
                </a14:m>
                <a:r>
                  <a:rPr sz="2400" b="0">
                    <a:solidFill>
                      <a:srgbClr val="78350F"/>
                    </a:solidFill>
                    <a:latin typeface="Arial"/>
                  </a:rPr>
                  <a:t>, reflected value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each item compute the value once: </a:t>
                </a:r>
                <a:r>
                  <a:rPr lang="en-IN" sz="2400">
                    <a:solidFill>
                      <a:srgbClr val="78350F"/>
                    </a:solidFill>
                    <a:latin typeface="Cambria Math" panose="02040503050406030204" pitchFamily="18" charset="0"/>
                  </a:rPr>
                  <a:t>$|\operatorname{cosec}\theta|=2$</a:t>
                </a:r>
                <a:r>
                  <a:rPr sz="2400" b="0">
                    <a:solidFill>
                      <a:srgbClr val="78350F"/>
                    </a:solidFill>
                    <a:latin typeface="Arial"/>
                  </a:rPr>
                  <a:t>, triple product </a:t>
                </a:r>
                <a:r>
                  <a:rPr lang="en-IN" sz="2400">
                    <a:solidFill>
                      <a:srgbClr val="78350F"/>
                    </a:solidFill>
                    <a:latin typeface="Cambria Math" panose="02040503050406030204" pitchFamily="18" charset="0"/>
                  </a:rPr>
                  <a:t>$=7\cdot\frac47=4$</a:t>
                </a:r>
                <a:r>
                  <a:rPr sz="2400" b="0">
                    <a:solidFill>
                      <a:srgbClr val="78350F"/>
                    </a:solidFill>
                    <a:latin typeface="Arial"/>
                  </a:rPr>
                  <a:t>, </a:t>
                </a:r>
                <a:r>
                  <a:rPr lang="en-IN" sz="2400">
                    <a:solidFill>
                      <a:srgbClr val="78350F"/>
                    </a:solidFill>
                    <a:latin typeface="Cambria Math" panose="02040503050406030204" pitchFamily="18" charset="0"/>
                  </a:rPr>
                  <a:t>$k=5$</a:t>
                </a:r>
                <a:r>
                  <a:rPr sz="2400" b="0">
                    <a:solidFill>
                      <a:srgbClr val="78350F"/>
                    </a:solidFill>
                    <a:latin typeface="Arial"/>
                  </a:rPr>
                  <a:t>, reflected value </a:t>
                </a:r>
                <a:r>
                  <a:rPr lang="en-IN" sz="2400">
                    <a:solidFill>
                      <a:srgbClr val="78350F"/>
                    </a:solidFill>
                    <a:latin typeface="Cambria Math" panose="02040503050406030204" pitchFamily="18" charset="0"/>
                  </a:rPr>
                  <a:t>$=8$</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13960"/>
                <a:ext cx="10725912" cy="16611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Normal of the plane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direction of the line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the angle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between a line and a plane,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13960"/>
                <a:ext cx="10725912" cy="16611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Normal of the plane </a:t>
                </a:r>
                <a:r>
                  <a:rPr lang="en-IN" sz="2400">
                    <a:solidFill>
                      <a:srgbClr val="111827"/>
                    </a:solidFill>
                    <a:latin typeface="Cambria Math" panose="02040503050406030204" pitchFamily="18" charset="0"/>
                  </a:rPr>
                  <a:t>$\vec n=(1,-3,2)$</a:t>
                </a:r>
                <a:r>
                  <a:rPr sz="2400" b="0">
                    <a:solidFill>
                      <a:srgbClr val="111827"/>
                    </a:solidFill>
                    <a:latin typeface="Arial"/>
                  </a:rPr>
                  <a:t>, direction of the line </a:t>
                </a:r>
                <a:r>
                  <a:rPr lang="en-IN" sz="2400">
                    <a:solidFill>
                      <a:srgbClr val="111827"/>
                    </a:solidFill>
                    <a:latin typeface="Cambria Math" panose="02040503050406030204" pitchFamily="18" charset="0"/>
                  </a:rPr>
                  <a:t>$\vec d=(2,1,-3)$</a:t>
                </a:r>
                <a:r>
                  <a:rPr sz="2400" b="0">
                    <a:solidFill>
                      <a:srgbClr val="111827"/>
                    </a:solidFill>
                    <a:latin typeface="Arial"/>
                  </a:rPr>
                  <a:t>. For the angle </a:t>
                </a:r>
                <a:r>
                  <a:rPr lang="en-IN" sz="2400">
                    <a:solidFill>
                      <a:srgbClr val="111827"/>
                    </a:solidFill>
                    <a:latin typeface="Cambria Math" panose="02040503050406030204" pitchFamily="18" charset="0"/>
                  </a:rPr>
                  <a:t>$\theta$</a:t>
                </a:r>
                <a:r>
                  <a:rPr sz="2400" b="0">
                    <a:solidFill>
                      <a:srgbClr val="111827"/>
                    </a:solidFill>
                    <a:latin typeface="Arial"/>
                  </a:rPr>
                  <a:t> between a line and a plane, </a:t>
                </a:r>
                <a:r>
                  <a:rPr lang="en-IN" sz="2400">
                    <a:solidFill>
                      <a:srgbClr val="111827"/>
                    </a:solidFill>
                    <a:latin typeface="Cambria Math" panose="02040503050406030204" pitchFamily="18" charset="0"/>
                  </a:rPr>
                  <a:t>$\sin\theta=\frac{|\vec n\cdot\vec d|}{|\vec n||\vec d|}$</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14</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14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 matches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Let </a:t>
                </a:r>
                <a14:m>
                  <m:oMath xmlns:m="http://schemas.openxmlformats.org/officeDocument/2006/math">
                    <m:r>
                      <m:rPr>
                        <m:sty m:val="p"/>
                      </m:rPr>
                      <a:rPr lang="en-IN" sz="2400">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2</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0</m:t>
                              </m:r>
                            </m:e>
                          </m:mr>
                          <m:mr>
                            <m:e>
                              <m:r>
                                <a:rPr lang="en-IN" sz="2400" i="1">
                                  <a:solidFill>
                                    <a:srgbClr val="111827"/>
                                  </a:solidFill>
                                  <a:latin typeface="Cambria Math" panose="02040503050406030204" pitchFamily="18" charset="0"/>
                                </a:rPr>
                                <m:t>0</m:t>
                              </m:r>
                            </m:e>
                            <m:e>
                              <m:r>
                                <a:rPr lang="en-IN" sz="2400" i="1">
                                  <a:solidFill>
                                    <a:srgbClr val="111827"/>
                                  </a:solidFill>
                                  <a:latin typeface="Cambria Math" panose="02040503050406030204" pitchFamily="18" charset="0"/>
                                </a:rPr>
                                <m:t>2</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m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0</m:t>
                              </m:r>
                            </m:e>
                            <m:e>
                              <m:r>
                                <a:rPr lang="en-IN" sz="2400" i="1">
                                  <a:solidFill>
                                    <a:srgbClr val="111827"/>
                                  </a:solidFill>
                                  <a:latin typeface="Cambria Math" panose="02040503050406030204" pitchFamily="18" charset="0"/>
                                </a:rPr>
                                <m:t>2</m:t>
                              </m:r>
                            </m:e>
                          </m:mr>
                        </m:m>
                      </m:e>
                    </m:d>
                    <m:r>
                      <m:rPr>
                        <m:sty m:val="p"/>
                      </m:rPr>
                      <a:rPr lang="en-IN" sz="2400">
                        <a:solidFill>
                          <a:srgbClr val="111827"/>
                        </a:solidFill>
                        <a:latin typeface="Cambria Math" panose="02040503050406030204" pitchFamily="18" charset="0"/>
                      </a:rPr>
                      <m:t>Δ</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determinant is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so the value is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(b)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since </a:t>
                </a:r>
                <a14:m>
                  <m:oMath xmlns:m="http://schemas.openxmlformats.org/officeDocument/2006/math">
                    <m:r>
                      <m:rPr>
                        <m:sty m:val="p"/>
                      </m:rPr>
                      <a:rPr lang="en-IN" sz="2400">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forcing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minimum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occurs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π</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π</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π</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(c) matches (s), and as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is odd also (t).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n\cdot\vec d=2-3-6=-7$</a:t>
                </a:r>
                <a:r>
                  <a:rPr sz="2400" b="0">
                    <a:solidFill>
                      <a:srgbClr val="111827"/>
                    </a:solidFill>
                    <a:latin typeface="Arial"/>
                  </a:rPr>
                  <a:t>, </a:t>
                </a:r>
                <a:r>
                  <a:rPr lang="en-IN" sz="2400">
                    <a:solidFill>
                      <a:srgbClr val="111827"/>
                    </a:solidFill>
                    <a:latin typeface="Cambria Math" panose="02040503050406030204" pitchFamily="18" charset="0"/>
                  </a:rPr>
                  <a:t>$|\vec n|=\sqrt{14}=|\vec d|$</a:t>
                </a:r>
                <a:r>
                  <a:rPr sz="2400" b="0">
                    <a:solidFill>
                      <a:srgbClr val="111827"/>
                    </a:solidFill>
                    <a:latin typeface="Arial"/>
                  </a:rPr>
                  <a:t>, so </a:t>
                </a:r>
                <a:r>
                  <a:rPr lang="en-IN" sz="2400">
                    <a:solidFill>
                      <a:srgbClr val="111827"/>
                    </a:solidFill>
                    <a:latin typeface="Cambria Math" panose="02040503050406030204" pitchFamily="18" charset="0"/>
                  </a:rPr>
                  <a:t>$\sin\theta=\frac{7}{14}=\frac12$</a:t>
                </a:r>
                <a:r>
                  <a:rPr sz="2400" b="0">
                    <a:solidFill>
                      <a:srgbClr val="111827"/>
                    </a:solidFill>
                    <a:latin typeface="Arial"/>
                  </a:rPr>
                  <a:t> and </a:t>
                </a:r>
                <a:r>
                  <a:rPr lang="en-IN" sz="2400">
                    <a:solidFill>
                      <a:srgbClr val="111827"/>
                    </a:solidFill>
                    <a:latin typeface="Cambria Math" panose="02040503050406030204" pitchFamily="18" charset="0"/>
                  </a:rPr>
                  <a:t>$|\operatorname{cosec}\theta|=2$</a:t>
                </a:r>
                <a:r>
                  <a:rPr sz="2400" b="0">
                    <a:solidFill>
                      <a:srgbClr val="111827"/>
                    </a:solidFill>
                    <a:latin typeface="Arial"/>
                  </a:rPr>
                  <a:t>: (a) matches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Let </a:t>
                </a:r>
                <a:r>
                  <a:rPr lang="en-IN" sz="2400">
                    <a:solidFill>
                      <a:srgbClr val="111827"/>
                    </a:solidFill>
                    <a:latin typeface="Cambria Math" panose="02040503050406030204" pitchFamily="18" charset="0"/>
                  </a:rPr>
                  <a:t>$\Delta=[\vec a\ \vec b\ \vec c]=\frac47$</a:t>
                </a:r>
                <a:r>
                  <a:rPr sz="2400" b="0">
                    <a:solidFill>
                      <a:srgbClr val="111827"/>
                    </a:solidFill>
                    <a:latin typeface="Arial"/>
                  </a:rPr>
                  <a:t>. </a:t>
                </a:r>
                <a:r>
                  <a:rPr lang="en-IN" sz="2400">
                    <a:solidFill>
                      <a:srgbClr val="111827"/>
                    </a:solidFill>
                    <a:latin typeface="Cambria Math" panose="02040503050406030204" pitchFamily="18" charset="0"/>
                  </a:rPr>
                  <a:t>$[2\vec a-\vec b\ \ 2\vec b-\vec c\ \ 2\vec c-\vec a]=\det\left(\begin{matrix}2&amp;-1&amp;0\\0&amp;2&amp;-1\\-1&amp;0&amp;2\end{matrix}\right)\Delta$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determinant is </a:t>
                </a:r>
                <a:r>
                  <a:rPr lang="en-IN" sz="2400">
                    <a:solidFill>
                      <a:srgbClr val="111827"/>
                    </a:solidFill>
                    <a:latin typeface="Cambria Math" panose="02040503050406030204" pitchFamily="18" charset="0"/>
                  </a:rPr>
                  <a:t>$2(4-0)+(-1)(0-1)=8-1=7$</a:t>
                </a:r>
                <a:r>
                  <a:rPr sz="2400" b="0">
                    <a:solidFill>
                      <a:srgbClr val="111827"/>
                    </a:solidFill>
                    <a:latin typeface="Arial"/>
                  </a:rPr>
                  <a:t>, so the value is </a:t>
                </a:r>
                <a:r>
                  <a:rPr lang="en-IN" sz="2400">
                    <a:solidFill>
                      <a:srgbClr val="111827"/>
                    </a:solidFill>
                    <a:latin typeface="Cambria Math" panose="02040503050406030204" pitchFamily="18" charset="0"/>
                  </a:rPr>
                  <a:t>$7\cdot\frac47=4$</a:t>
                </a:r>
                <a:r>
                  <a:rPr sz="2400" b="0">
                    <a:solidFill>
                      <a:srgbClr val="111827"/>
                    </a:solidFill>
                    <a:latin typeface="Arial"/>
                  </a:rPr>
                  <a:t>: (b)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$\vec r\cdot(\vec a+\vec b+\vec c)=0$</a:t>
                </a:r>
                <a:r>
                  <a:rPr sz="2400" b="0">
                    <a:solidFill>
                      <a:srgbClr val="111827"/>
                    </a:solidFill>
                    <a:latin typeface="Arial"/>
                  </a:rPr>
                  <a:t> gives </a:t>
                </a:r>
                <a:r>
                  <a:rPr lang="en-IN" sz="2400">
                    <a:solidFill>
                      <a:srgbClr val="111827"/>
                    </a:solidFill>
                    <a:latin typeface="Cambria Math" panose="02040503050406030204" pitchFamily="18" charset="0"/>
                  </a:rPr>
                  <a:t>$\Delta(\sin x+\cos y+2)=0$</a:t>
                </a:r>
                <a:r>
                  <a:rPr sz="2400" b="0">
                    <a:solidFill>
                      <a:srgbClr val="111827"/>
                    </a:solidFill>
                    <a:latin typeface="Arial"/>
                  </a:rPr>
                  <a:t>; since </a:t>
                </a:r>
                <a:r>
                  <a:rPr lang="en-IN" sz="2400">
                    <a:solidFill>
                      <a:srgbClr val="111827"/>
                    </a:solidFill>
                    <a:latin typeface="Cambria Math" panose="02040503050406030204" pitchFamily="18" charset="0"/>
                  </a:rPr>
                  <a:t>$\Delta\neq0$</a:t>
                </a:r>
                <a:r>
                  <a:rPr sz="2400" b="0">
                    <a:solidFill>
                      <a:srgbClr val="111827"/>
                    </a:solidFill>
                    <a:latin typeface="Arial"/>
                  </a:rPr>
                  <a:t>, </a:t>
                </a:r>
                <a:r>
                  <a:rPr lang="en-IN" sz="2400">
                    <a:solidFill>
                      <a:srgbClr val="111827"/>
                    </a:solidFill>
                    <a:latin typeface="Cambria Math" panose="02040503050406030204" pitchFamily="18" charset="0"/>
                  </a:rPr>
                  <a:t>$\sin x+\cos y=-2$</a:t>
                </a:r>
                <a:r>
                  <a:rPr sz="2400" b="0">
                    <a:solidFill>
                      <a:srgbClr val="111827"/>
                    </a:solidFill>
                    <a:latin typeface="Arial"/>
                  </a:rPr>
                  <a:t>, forcing </a:t>
                </a:r>
                <a:r>
                  <a:rPr lang="en-IN" sz="2400">
                    <a:solidFill>
                      <a:srgbClr val="111827"/>
                    </a:solidFill>
                    <a:latin typeface="Cambria Math" panose="02040503050406030204" pitchFamily="18" charset="0"/>
                  </a:rPr>
                  <a:t>$\sin x=-1$</a:t>
                </a:r>
                <a:r>
                  <a:rPr sz="2400" b="0">
                    <a:solidFill>
                      <a:srgbClr val="111827"/>
                    </a:solidFill>
                    <a:latin typeface="Arial"/>
                  </a:rPr>
                  <a:t> and </a:t>
                </a:r>
                <a:r>
                  <a:rPr lang="en-IN" sz="2400">
                    <a:solidFill>
                      <a:srgbClr val="111827"/>
                    </a:solidFill>
                    <a:latin typeface="Cambria Math" panose="02040503050406030204" pitchFamily="18" charset="0"/>
                  </a:rPr>
                  <a:t>$\cos y=-1$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minimum of </a:t>
                </a:r>
                <a:r>
                  <a:rPr lang="en-IN" sz="2400">
                    <a:solidFill>
                      <a:srgbClr val="111827"/>
                    </a:solidFill>
                    <a:latin typeface="Cambria Math" panose="02040503050406030204" pitchFamily="18" charset="0"/>
                  </a:rPr>
                  <a:t>$x^2+y^2$</a:t>
                </a:r>
                <a:r>
                  <a:rPr sz="2400" b="0">
                    <a:solidFill>
                      <a:srgbClr val="111827"/>
                    </a:solidFill>
                    <a:latin typeface="Arial"/>
                  </a:rPr>
                  <a:t> occurs at </a:t>
                </a:r>
                <a:r>
                  <a:rPr lang="en-IN" sz="2400">
                    <a:solidFill>
                      <a:srgbClr val="111827"/>
                    </a:solidFill>
                    <a:latin typeface="Cambria Math" panose="02040503050406030204" pitchFamily="18" charset="0"/>
                  </a:rPr>
                  <a:t>$x=-\frac\pi2$</a:t>
                </a:r>
                <a:r>
                  <a:rPr sz="2400" b="0">
                    <a:solidFill>
                      <a:srgbClr val="111827"/>
                    </a:solidFill>
                    <a:latin typeface="Arial"/>
                  </a:rPr>
                  <a:t> and </a:t>
                </a:r>
                <a:r>
                  <a:rPr lang="en-IN" sz="2400">
                    <a:solidFill>
                      <a:srgbClr val="111827"/>
                    </a:solidFill>
                    <a:latin typeface="Cambria Math" panose="02040503050406030204" pitchFamily="18" charset="0"/>
                  </a:rPr>
                  <a:t>$y=\pm\pi$</a:t>
                </a:r>
                <a:r>
                  <a:rPr sz="2400" b="0">
                    <a:solidFill>
                      <a:srgbClr val="111827"/>
                    </a:solidFill>
                    <a:latin typeface="Arial"/>
                  </a:rPr>
                  <a:t>: </a:t>
                </a:r>
                <a:r>
                  <a:rPr lang="en-IN" sz="2400">
                    <a:solidFill>
                      <a:srgbClr val="111827"/>
                    </a:solidFill>
                    <a:latin typeface="Cambria Math" panose="02040503050406030204" pitchFamily="18" charset="0"/>
                  </a:rPr>
                  <a:t>$\frac{\pi^2}{4}+\pi^2=\frac{5\pi^2}{4}$</a:t>
                </a:r>
                <a:r>
                  <a:rPr sz="2400" b="0">
                    <a:solidFill>
                      <a:srgbClr val="111827"/>
                    </a:solidFill>
                    <a:latin typeface="Arial"/>
                  </a:rPr>
                  <a:t>, so </a:t>
                </a:r>
                <a:r>
                  <a:rPr lang="en-IN" sz="2400">
                    <a:solidFill>
                      <a:srgbClr val="111827"/>
                    </a:solidFill>
                    <a:latin typeface="Cambria Math" panose="02040503050406030204" pitchFamily="18" charset="0"/>
                  </a:rPr>
                  <a:t>$k=5$</a:t>
                </a:r>
                <a:r>
                  <a:rPr sz="2400" b="0">
                    <a:solidFill>
                      <a:srgbClr val="111827"/>
                    </a:solidFill>
                    <a:latin typeface="Arial"/>
                  </a:rPr>
                  <a:t>: (c) matches (s), and as </a:t>
                </a:r>
                <a:r>
                  <a:rPr lang="en-IN" sz="2400">
                    <a:solidFill>
                      <a:srgbClr val="111827"/>
                    </a:solidFill>
                    <a:latin typeface="Cambria Math" panose="02040503050406030204" pitchFamily="18" charset="0"/>
                  </a:rPr>
                  <a:t>$5$</a:t>
                </a:r>
                <a:r>
                  <a:rPr sz="2400" b="0">
                    <a:solidFill>
                      <a:srgbClr val="111827"/>
                    </a:solidFill>
                    <a:latin typeface="Arial"/>
                  </a:rPr>
                  <a:t> is odd also (t).</a:t>
                </a:r>
                <a:endParaRPr sz="2400">
                  <a:solidFill>
                    <a:srgbClr val="111827"/>
                  </a:solidFill>
                </a:endParaRPr>
              </a:p>
            </p:txBody>
          </p:sp>
        </mc:Fallback>
      </mc:AlternateContent>
    </p:spTree>
  </p:cSld>
  <p:clrMapOvr>
    <a:masterClrMapping/>
  </p:clrMapOvr>
</p:sld>
</file>

<file path=ppt/slides/slide4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 Reflection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in the plane </a:t>
                </a:r>
                <a14:m>
                  <m:oMath xmlns:m="http://schemas.openxmlformats.org/officeDocument/2006/math">
                    <m:r>
                      <a:rPr lang="en-IN" sz="2400" i="1">
                        <a:solidFill>
                          <a:srgbClr val="111827"/>
                        </a:solidFill>
                        <a:latin typeface="Cambria Math" panose="02040503050406030204" pitchFamily="18" charset="0"/>
                      </a:rPr>
                      <m:t>𝐹</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𝐹</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𝐹</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(d) matches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(a)→(p); (b)→(r); (c)→(s,t); (d)→(q): option (A).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 Reflection of </a:t>
                </a:r>
                <a:r>
                  <a:rPr lang="en-IN" sz="2400">
                    <a:solidFill>
                      <a:srgbClr val="111827"/>
                    </a:solidFill>
                    <a:latin typeface="Cambria Math" panose="02040503050406030204" pitchFamily="18" charset="0"/>
                  </a:rPr>
                  <a:t>$P$</a:t>
                </a:r>
                <a:r>
                  <a:rPr sz="2400" b="0">
                    <a:solidFill>
                      <a:srgbClr val="111827"/>
                    </a:solidFill>
                    <a:latin typeface="Arial"/>
                  </a:rPr>
                  <a:t> in the plane </a:t>
                </a:r>
                <a:r>
                  <a:rPr lang="en-IN" sz="2400">
                    <a:solidFill>
                      <a:srgbClr val="111827"/>
                    </a:solidFill>
                    <a:latin typeface="Cambria Math" panose="02040503050406030204" pitchFamily="18" charset="0"/>
                  </a:rPr>
                  <a:t>$F=x-y-z-1=0$</a:t>
                </a:r>
                <a:r>
                  <a:rPr sz="2400" b="0">
                    <a:solidFill>
                      <a:srgbClr val="111827"/>
                    </a:solidFill>
                    <a:latin typeface="Arial"/>
                  </a:rPr>
                  <a:t>: </a:t>
                </a:r>
                <a:r>
                  <a:rPr lang="en-IN" sz="2400">
                    <a:solidFill>
                      <a:srgbClr val="111827"/>
                    </a:solidFill>
                    <a:latin typeface="Cambria Math" panose="02040503050406030204" pitchFamily="18" charset="0"/>
                  </a:rPr>
                  <a:t>$Q=P-2\frac{F(P)}{|\vec n|^2}\vec n$</a:t>
                </a:r>
                <a:r>
                  <a:rPr sz="2400" b="0">
                    <a:solidFill>
                      <a:srgbClr val="111827"/>
                    </a:solidFill>
                    <a:latin typeface="Arial"/>
                  </a:rPr>
                  <a:t> with </a:t>
                </a:r>
                <a:r>
                  <a:rPr lang="en-IN" sz="2400">
                    <a:solidFill>
                      <a:srgbClr val="111827"/>
                    </a:solidFill>
                    <a:latin typeface="Cambria Math" panose="02040503050406030204" pitchFamily="18" charset="0"/>
                  </a:rPr>
                  <a:t>$\vec n=(1,-1,-1)$</a:t>
                </a:r>
                <a:r>
                  <a:rPr sz="2400" b="0">
                    <a:solidFill>
                      <a:srgbClr val="111827"/>
                    </a:solidFill>
                    <a:latin typeface="Arial"/>
                  </a:rPr>
                  <a:t>, </a:t>
                </a:r>
                <a:r>
                  <a:rPr lang="en-IN" sz="2400">
                    <a:solidFill>
                      <a:srgbClr val="111827"/>
                    </a:solidFill>
                    <a:latin typeface="Cambria Math" panose="02040503050406030204" pitchFamily="18" charset="0"/>
                  </a:rPr>
                  <a:t>$F(P)=1-0-1-1=-1$</a:t>
                </a:r>
                <a:r>
                  <a:rPr sz="2400" b="0">
                    <a:solidFill>
                      <a:srgbClr val="111827"/>
                    </a:solidFill>
                    <a:latin typeface="Arial"/>
                  </a:rPr>
                  <a:t>, </a:t>
                </a:r>
                <a:r>
                  <a:rPr lang="en-IN" sz="2400">
                    <a:solidFill>
                      <a:srgbClr val="111827"/>
                    </a:solidFill>
                    <a:latin typeface="Cambria Math" panose="02040503050406030204" pitchFamily="18" charset="0"/>
                  </a:rPr>
                  <a:t>$|\vec n|^2=3$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$Q=(1,0,1)+\frac23(1,-1,-1)=\left(\frac53,-\frac23,\frac13\right)$</a:t>
                </a:r>
                <a:r>
                  <a:rPr sz="2400" b="0">
                    <a:solidFill>
                      <a:srgbClr val="111827"/>
                    </a:solidFill>
                    <a:latin typeface="Arial"/>
                  </a:rPr>
                  <a:t>, so </a:t>
                </a:r>
                <a:r>
                  <a:rPr lang="en-IN" sz="2400">
                    <a:solidFill>
                      <a:srgbClr val="111827"/>
                    </a:solidFill>
                    <a:latin typeface="Cambria Math" panose="02040503050406030204" pitchFamily="18" charset="0"/>
                  </a:rPr>
                  <a:t>$3(a-b+c)=3\cdot\frac{5+2+1}{3}=8$</a:t>
                </a:r>
                <a:r>
                  <a:rPr sz="2400" b="0">
                    <a:solidFill>
                      <a:srgbClr val="111827"/>
                    </a:solidFill>
                    <a:latin typeface="Arial"/>
                  </a:rPr>
                  <a:t>: (d) matches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(a)→(p); (b)→(r); (c)→(s,t); (d)→(q): option (A).</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(a)→(p); (b)→(r); (c)→(s,t); (d)→(q)</a:t>
            </a:r>
            <a:endParaRPr sz="2800">
              <a:solidFill>
                <a:srgbClr val="15803D"/>
              </a:solidFill>
            </a:endParaRPr>
          </a:p>
        </p:txBody>
      </p:sp>
    </p:spTree>
  </p:cSld>
  <p:clrMapOvr>
    <a:masterClrMapping/>
  </p:clrMapOvr>
</p:sld>
</file>

<file path=ppt/slides/slide4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Eliminate options after evaluating only item (a) (and then (b) if needed): the four options give four different matches for (a).</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898648"/>
                <a:ext cx="10725912" cy="28895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cosec</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matching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option (A) has (a)→(p); (B) has (a)→(q), (C) has (a)→(r) and (D) has (a)→(s).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option (A) follows from item (a) alone; the other items verify it: (b)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(r), (c)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(s, t), (d)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(q).</a:t>
                </a:r>
                <a:endParaRPr sz="2400">
                  <a:solidFill>
                    <a:srgbClr val="111827"/>
                  </a:solidFill>
                </a:endParaRPr>
              </a:p>
            </p:txBody>
          </p:sp>
        </mc:Choice>
        <mc:Fallback>
          <p:sp>
            <p:nvSpPr>
              <p:cNvPr id="6" name="Rectangle 5"/>
              <p:cNvSpPr/>
              <p:nvPr/>
            </p:nvSpPr>
            <p:spPr>
              <a:xfrm>
                <a:off x="731520" y="2898648"/>
                <a:ext cx="10725912" cy="28895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$\sin\theta=\frac12$</a:t>
                </a:r>
                <a:r>
                  <a:rPr sz="2400" b="0">
                    <a:solidFill>
                      <a:srgbClr val="111827"/>
                    </a:solidFill>
                    <a:latin typeface="Arial"/>
                  </a:rPr>
                  <a:t>, so </a:t>
                </a:r>
                <a:r>
                  <a:rPr lang="en-IN" sz="2400">
                    <a:solidFill>
                      <a:srgbClr val="111827"/>
                    </a:solidFill>
                    <a:latin typeface="Cambria Math" panose="02040503050406030204" pitchFamily="18" charset="0"/>
                  </a:rPr>
                  <a:t>$|\operatorname{cosec}\theta|=2$</a:t>
                </a:r>
                <a:r>
                  <a:rPr sz="2400" b="0">
                    <a:solidFill>
                      <a:srgbClr val="111827"/>
                    </a:solidFill>
                    <a:latin typeface="Arial"/>
                  </a:rPr>
                  <a:t>, matching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option (A) has (a)→(p); (B) has (a)→(q), (C) has (a)→(r) and (D) has (a)→(s).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option (A) follows from item (a) alone; the other items verify it: (b) </a:t>
                </a:r>
                <a:r>
                  <a:rPr lang="en-IN" sz="2400">
                    <a:solidFill>
                      <a:srgbClr val="111827"/>
                    </a:solidFill>
                    <a:latin typeface="Cambria Math" panose="02040503050406030204" pitchFamily="18" charset="0"/>
                  </a:rPr>
                  <a:t>$=4$</a:t>
                </a:r>
                <a:r>
                  <a:rPr sz="2400" b="0">
                    <a:solidFill>
                      <a:srgbClr val="111827"/>
                    </a:solidFill>
                    <a:latin typeface="Arial"/>
                  </a:rPr>
                  <a:t> (r), (c) </a:t>
                </a:r>
                <a:r>
                  <a:rPr lang="en-IN" sz="2400">
                    <a:solidFill>
                      <a:srgbClr val="111827"/>
                    </a:solidFill>
                    <a:latin typeface="Cambria Math" panose="02040503050406030204" pitchFamily="18" charset="0"/>
                  </a:rPr>
                  <a:t>$k=5$</a:t>
                </a:r>
                <a:r>
                  <a:rPr sz="2400" b="0">
                    <a:solidFill>
                      <a:srgbClr val="111827"/>
                    </a:solidFill>
                    <a:latin typeface="Arial"/>
                  </a:rPr>
                  <a:t> (s, t), (d) </a:t>
                </a:r>
                <a:r>
                  <a:rPr lang="en-IN" sz="2400">
                    <a:solidFill>
                      <a:srgbClr val="111827"/>
                    </a:solidFill>
                    <a:latin typeface="Cambria Math" panose="02040503050406030204" pitchFamily="18" charset="0"/>
                  </a:rPr>
                  <a:t>$=8$</a:t>
                </a:r>
                <a:r>
                  <a:rPr sz="2400" b="0">
                    <a:solidFill>
                      <a:srgbClr val="111827"/>
                    </a:solidFill>
                    <a:latin typeface="Arial"/>
                  </a:rPr>
                  <a:t> (q).</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(a)→(p); (b)→(r); (c)→(s,t); (d)→(q)</a:t>
            </a:r>
            <a:endParaRPr sz="2800">
              <a:solidFill>
                <a:srgbClr val="15803D"/>
              </a:solidFill>
            </a:endParaRPr>
          </a:p>
        </p:txBody>
      </p:sp>
    </p:spTree>
  </p:cSld>
  <p:clrMapOvr>
    <a:masterClrMapping/>
  </p:clrMapOvr>
</p:sld>
</file>

<file path=ppt/slides/slide4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Angle between a line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and a plane (normal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(not </a:t>
                </a:r>
                <a14:m>
                  <m:oMath xmlns:m="http://schemas.openxmlformats.org/officeDocument/2006/math">
                    <m:r>
                      <m:rPr>
                        <m:sty m:val="p"/>
                      </m:rPr>
                      <a:rPr lang="en-IN" sz="2400">
                        <a:solidFill>
                          <a:srgbClr val="111827"/>
                        </a:solidFill>
                        <a:latin typeface="Cambria Math" panose="02040503050406030204" pitchFamily="18" charset="0"/>
                      </a:rPr>
                      <m:t>cos</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𝑐𝑜𝑒𝑓𝑓𝑖𝑐𝑖𝑒𝑛𝑡 𝑚𝑎𝑡𝑟𝑖𝑥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combinations of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Reflection of a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in the plane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𝑃</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 matching question one item often decides among the options: check the options' first entries before computing everything.</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Angle between a line (direction </a:t>
                </a:r>
                <a:r>
                  <a:rPr lang="en-IN" sz="2400">
                    <a:solidFill>
                      <a:srgbClr val="111827"/>
                    </a:solidFill>
                    <a:latin typeface="Cambria Math" panose="02040503050406030204" pitchFamily="18" charset="0"/>
                  </a:rPr>
                  <a:t>$\vec d$</a:t>
                </a:r>
                <a:r>
                  <a:rPr sz="2400" b="0">
                    <a:solidFill>
                      <a:srgbClr val="111827"/>
                    </a:solidFill>
                    <a:latin typeface="Arial"/>
                  </a:rPr>
                  <a:t>) and a plane (normal </a:t>
                </a:r>
                <a:r>
                  <a:rPr lang="en-IN" sz="2400">
                    <a:solidFill>
                      <a:srgbClr val="111827"/>
                    </a:solidFill>
                    <a:latin typeface="Cambria Math" panose="02040503050406030204" pitchFamily="18" charset="0"/>
                  </a:rPr>
                  <a:t>$\vec n$</a:t>
                </a:r>
                <a:r>
                  <a:rPr sz="2400" b="0">
                    <a:solidFill>
                      <a:srgbClr val="111827"/>
                    </a:solidFill>
                    <a:latin typeface="Arial"/>
                  </a:rPr>
                  <a:t>): </a:t>
                </a:r>
                <a:r>
                  <a:rPr lang="en-IN" sz="2400">
                    <a:solidFill>
                      <a:srgbClr val="111827"/>
                    </a:solidFill>
                    <a:latin typeface="Cambria Math" panose="02040503050406030204" pitchFamily="18" charset="0"/>
                  </a:rPr>
                  <a:t>$\sin\theta=\frac{|\vec n\cdot\vec d|}{|\vec n||\vec d|}$</a:t>
                </a:r>
                <a:r>
                  <a:rPr sz="2400" b="0">
                    <a:solidFill>
                      <a:srgbClr val="111827"/>
                    </a:solidFill>
                    <a:latin typeface="Arial"/>
                  </a:rPr>
                  <a:t> (not </a:t>
                </a:r>
                <a:r>
                  <a:rPr lang="en-IN" sz="2400">
                    <a:solidFill>
                      <a:srgbClr val="111827"/>
                    </a:solidFill>
                    <a:latin typeface="Cambria Math" panose="02040503050406030204" pitchFamily="18" charset="0"/>
                  </a:rPr>
                  <a:t>$\cos$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p\ \vec q\ \vec r]=\det(\text{coefficient matrix})\,[\vec a\ \vec b\ \vec c]$</a:t>
                </a:r>
                <a:r>
                  <a:rPr sz="2400" b="0">
                    <a:solidFill>
                      <a:srgbClr val="111827"/>
                    </a:solidFill>
                    <a:latin typeface="Arial"/>
                  </a:rPr>
                  <a:t> for </a:t>
                </a:r>
                <a:r>
                  <a:rPr lang="en-IN" sz="2400">
                    <a:solidFill>
                      <a:srgbClr val="111827"/>
                    </a:solidFill>
                    <a:latin typeface="Cambria Math" panose="02040503050406030204" pitchFamily="18" charset="0"/>
                  </a:rPr>
                  <a:t>$\vec p,\vec q,\vec r$</a:t>
                </a:r>
                <a:r>
                  <a:rPr sz="2400" b="0">
                    <a:solidFill>
                      <a:srgbClr val="111827"/>
                    </a:solidFill>
                    <a:latin typeface="Arial"/>
                  </a:rPr>
                  <a:t> combinations of </a:t>
                </a:r>
                <a:r>
                  <a:rPr lang="en-IN" sz="2400">
                    <a:solidFill>
                      <a:srgbClr val="111827"/>
                    </a:solidFill>
                    <a:latin typeface="Cambria Math" panose="02040503050406030204" pitchFamily="18" charset="0"/>
                  </a:rPr>
                  <a:t>$\vec a,\vec b,\vec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Reflection of a point </a:t>
                </a:r>
                <a:r>
                  <a:rPr lang="en-IN" sz="2400">
                    <a:solidFill>
                      <a:srgbClr val="111827"/>
                    </a:solidFill>
                    <a:latin typeface="Cambria Math" panose="02040503050406030204" pitchFamily="18" charset="0"/>
                  </a:rPr>
                  <a:t>$P$</a:t>
                </a:r>
                <a:r>
                  <a:rPr sz="2400" b="0">
                    <a:solidFill>
                      <a:srgbClr val="111827"/>
                    </a:solidFill>
                    <a:latin typeface="Arial"/>
                  </a:rPr>
                  <a:t> in the plane </a:t>
                </a:r>
                <a:r>
                  <a:rPr lang="en-IN" sz="2400">
                    <a:solidFill>
                      <a:srgbClr val="111827"/>
                    </a:solidFill>
                    <a:latin typeface="Cambria Math" panose="02040503050406030204" pitchFamily="18" charset="0"/>
                  </a:rPr>
                  <a:t>$\vec n\cdot\vec r=d$</a:t>
                </a:r>
                <a:r>
                  <a:rPr sz="2400" b="0">
                    <a:solidFill>
                      <a:srgbClr val="111827"/>
                    </a:solidFill>
                    <a:latin typeface="Arial"/>
                  </a:rPr>
                  <a:t>: </a:t>
                </a:r>
                <a:r>
                  <a:rPr lang="en-IN" sz="2400">
                    <a:solidFill>
                      <a:srgbClr val="111827"/>
                    </a:solidFill>
                    <a:latin typeface="Cambria Math" panose="02040503050406030204" pitchFamily="18" charset="0"/>
                  </a:rPr>
                  <a:t>$P'=P-2\frac{\vec n\cdot P-d}{|\vec n|^2}\vec 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 matching question one item often decides among the options: check the options' first entries before computing everything.</a:t>
                </a:r>
                <a:endParaRPr sz="2400">
                  <a:solidFill>
                    <a:srgbClr val="111827"/>
                  </a:solidFill>
                </a:endParaRPr>
              </a:p>
            </p:txBody>
          </p:sp>
        </mc:Fallback>
      </mc:AlternateContent>
    </p:spTree>
  </p:cSld>
  <p:clrMapOvr>
    <a:masterClrMapping/>
  </p:clrMapOvr>
</p:sld>
</file>

<file path=ppt/slides/slide4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Let volume of a tetrahedron </a:t>
                </a:r>
                <a14:m>
                  <m:oMath xmlns:m="http://schemas.openxmlformats.org/officeDocument/2006/math">
                    <m:r>
                      <a:rPr lang="en-IN" sz="2000" i="1">
                        <a:solidFill>
                          <a:srgbClr val="111827"/>
                        </a:solidFill>
                        <a:latin typeface="Cambria Math" panose="02040503050406030204" pitchFamily="18" charset="0"/>
                      </a:rPr>
                      <m:t>𝐴</m:t>
                    </m:r>
                    <m:r>
                      <a:rPr lang="en-IN" sz="2000" i="1">
                        <a:solidFill>
                          <a:srgbClr val="111827"/>
                        </a:solidFill>
                        <a:latin typeface="Cambria Math" panose="02040503050406030204" pitchFamily="18" charset="0"/>
                      </a:rPr>
                      <m:t>𝐵</m:t>
                    </m:r>
                    <m:r>
                      <a:rPr lang="en-IN" sz="2000" i="1">
                        <a:solidFill>
                          <a:srgbClr val="111827"/>
                        </a:solidFill>
                        <a:latin typeface="Cambria Math" panose="02040503050406030204" pitchFamily="18" charset="0"/>
                      </a:rPr>
                      <m:t>𝐶</m:t>
                    </m:r>
                    <m:r>
                      <a:rPr lang="en-IN" sz="2000" i="1">
                        <a:solidFill>
                          <a:srgbClr val="111827"/>
                        </a:solidFill>
                        <a:latin typeface="Cambria Math" panose="02040503050406030204" pitchFamily="18" charset="0"/>
                      </a:rPr>
                      <m:t>𝐷</m:t>
                    </m:r>
                  </m:oMath>
                </a14:m>
                <a:r>
                  <a:rPr sz="2000" b="0">
                    <a:solidFill>
                      <a:srgbClr val="111827"/>
                    </a:solidFill>
                    <a:latin typeface="Arial"/>
                  </a:rPr>
                  <a:t> is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81</m:t>
                        </m:r>
                      </m:num>
                      <m:den>
                        <m:r>
                          <a:rPr lang="en-IN" sz="2000" i="1">
                            <a:solidFill>
                              <a:srgbClr val="111827"/>
                            </a:solidFill>
                            <a:latin typeface="Cambria Math" panose="02040503050406030204" pitchFamily="18" charset="0"/>
                          </a:rPr>
                          <m:t>2</m:t>
                        </m:r>
                      </m:den>
                    </m:f>
                  </m:oMath>
                </a14:m>
                <a:r>
                  <a:rPr sz="2000" b="0">
                    <a:solidFill>
                      <a:srgbClr val="111827"/>
                    </a:solidFill>
                    <a:latin typeface="Arial"/>
                  </a:rPr>
                  <a:t> cube unit and volume of parallelepiped whose three coterminous edges are segments joining centroid of any face of tetrahedron with centroids of its other three faces is </a:t>
                </a:r>
                <a14:m>
                  <m:oMath xmlns:m="http://schemas.openxmlformats.org/officeDocument/2006/math">
                    <m:r>
                      <a:rPr lang="en-IN" sz="2000" i="1">
                        <a:solidFill>
                          <a:srgbClr val="111827"/>
                        </a:solidFill>
                        <a:latin typeface="Cambria Math" panose="02040503050406030204" pitchFamily="18" charset="0"/>
                      </a:rPr>
                      <m:t>𝑉</m:t>
                    </m:r>
                  </m:oMath>
                </a14:m>
                <a:r>
                  <a:rPr sz="2000" b="0">
                    <a:solidFill>
                      <a:srgbClr val="111827"/>
                    </a:solidFill>
                    <a:latin typeface="Arial"/>
                  </a:rPr>
                  <a:t> cubic unit, then </a:t>
                </a:r>
                <a14:m>
                  <m:oMath xmlns:m="http://schemas.openxmlformats.org/officeDocument/2006/math">
                    <m:r>
                      <a:rPr lang="en-IN" sz="2000" i="1">
                        <a:solidFill>
                          <a:srgbClr val="111827"/>
                        </a:solidFill>
                        <a:latin typeface="Cambria Math" panose="02040503050406030204" pitchFamily="18" charset="0"/>
                      </a:rPr>
                      <m:t>𝑉</m:t>
                    </m:r>
                  </m:oMath>
                </a14:m>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If image of the point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0</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in the plane </a:t>
                </a:r>
                <a14:m>
                  <m:oMath xmlns:m="http://schemas.openxmlformats.org/officeDocument/2006/math">
                    <m:r>
                      <a:rPr lang="en-IN" sz="2000" i="1">
                        <a:solidFill>
                          <a:srgbClr val="111827"/>
                        </a:solidFill>
                        <a:latin typeface="Cambria Math" panose="02040503050406030204" pitchFamily="18" charset="0"/>
                      </a:rPr>
                      <m:t>𝑥</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𝑦</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oMath>
                </a14:m>
                <a:r>
                  <a:rPr sz="2000" b="0">
                    <a:solidFill>
                      <a:srgbClr val="111827"/>
                    </a:solidFill>
                    <a:latin typeface="Arial"/>
                  </a:rPr>
                  <a:t> is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𝑎</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𝑏</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𝑐</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then </a:t>
                </a:r>
                <a14:m>
                  <m:oMath xmlns:m="http://schemas.openxmlformats.org/officeDocument/2006/math">
                    <m:r>
                      <a:rPr lang="en-IN" sz="2000" i="1">
                        <a:solidFill>
                          <a:srgbClr val="111827"/>
                        </a:solidFill>
                        <a:latin typeface="Cambria Math" panose="02040503050406030204" pitchFamily="18" charset="0"/>
                      </a:rPr>
                      <m:t>3</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𝑎</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𝑏</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𝑐</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Locus of all the points which are at a distance of </a:t>
                </a:r>
                <a14:m>
                  <m:oMath xmlns:m="http://schemas.openxmlformats.org/officeDocument/2006/math">
                    <m:r>
                      <a:rPr lang="en-IN" sz="2000" i="1">
                        <a:solidFill>
                          <a:srgbClr val="111827"/>
                        </a:solidFill>
                        <a:latin typeface="Cambria Math" panose="02040503050406030204" pitchFamily="18" charset="0"/>
                      </a:rPr>
                      <m:t>3</m:t>
                    </m:r>
                  </m:oMath>
                </a14:m>
                <a:r>
                  <a:rPr sz="2000" b="0">
                    <a:solidFill>
                      <a:srgbClr val="111827"/>
                    </a:solidFill>
                    <a:latin typeface="Arial"/>
                  </a:rPr>
                  <a:t> units from the line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𝑟</m:t>
                        </m:r>
                      </m:e>
                    </m:acc>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λ</m:t>
                    </m:r>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𝑖</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𝑗</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𝑘</m:t>
                        </m:r>
                      </m:e>
                    </m:acc>
                    <m:r>
                      <m:rPr>
                        <m:sty m:val="p"/>
                      </m:rPr>
                      <a:rPr lang="en-IN" sz="2000">
                        <a:solidFill>
                          <a:srgbClr val="111827"/>
                        </a:solidFill>
                        <a:latin typeface="Cambria Math" panose="02040503050406030204" pitchFamily="18" charset="0"/>
                      </a:rPr>
                      <m:t>)</m:t>
                    </m:r>
                  </m:oMath>
                </a14:m>
                <a:r>
                  <a:rPr sz="2000" b="0">
                    <a:solidFill>
                      <a:srgbClr val="111827"/>
                    </a:solidFill>
                    <a:latin typeface="Arial"/>
                  </a:rPr>
                  <a:t> is given by </a:t>
                </a:r>
                <a14:m>
                  <m:oMath xmlns:m="http://schemas.openxmlformats.org/officeDocument/2006/math">
                    <m:sSup>
                      <m:e>
                        <m:r>
                          <a:rPr lang="en-IN" sz="2000" i="1">
                            <a:solidFill>
                              <a:srgbClr val="111827"/>
                            </a:solidFill>
                            <a:latin typeface="Cambria Math" panose="02040503050406030204" pitchFamily="18" charset="0"/>
                          </a:rPr>
                          <m:t>𝑥</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𝑦</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𝑧</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𝑥</m:t>
                    </m:r>
                    <m:r>
                      <a:rPr lang="en-IN" sz="2000" i="1">
                        <a:solidFill>
                          <a:srgbClr val="111827"/>
                        </a:solidFill>
                        <a:latin typeface="Cambria Math" panose="02040503050406030204" pitchFamily="18" charset="0"/>
                      </a:rPr>
                      <m:t>𝑦</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𝑦</m:t>
                    </m:r>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𝑥</m:t>
                    </m:r>
                    <m:r>
                      <a:rPr lang="en-IN" sz="2000" i="1">
                        <a:solidFill>
                          <a:srgbClr val="111827"/>
                        </a:solidFill>
                        <a:latin typeface="Cambria Math" panose="02040503050406030204" pitchFamily="18" charset="0"/>
                      </a:rPr>
                      <m:t>𝑧</m:t>
                    </m:r>
                    <m:r>
                      <m:rPr>
                        <m:sty m:val="p"/>
                      </m:rPr>
                      <a:rPr lang="en-IN" sz="2000">
                        <a:solidFill>
                          <a:srgbClr val="111827"/>
                        </a:solidFill>
                        <a:latin typeface="Cambria Math" panose="02040503050406030204" pitchFamily="18" charset="0"/>
                      </a:rPr>
                      <m:t>=</m:t>
                    </m:r>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𝑘</m:t>
                        </m:r>
                      </m:num>
                      <m:den>
                        <m:r>
                          <a:rPr lang="en-IN" sz="2000" i="1">
                            <a:solidFill>
                              <a:srgbClr val="111827"/>
                            </a:solidFill>
                            <a:latin typeface="Cambria Math" panose="02040503050406030204" pitchFamily="18" charset="0"/>
                          </a:rPr>
                          <m:t>2</m:t>
                        </m:r>
                      </m:den>
                    </m:f>
                  </m:oMath>
                </a14:m>
                <a:r>
                  <a:rPr sz="2000" b="0">
                    <a:solidFill>
                      <a:srgbClr val="111827"/>
                    </a:solidFill>
                    <a:latin typeface="Arial"/>
                  </a:rPr>
                  <a:t>, then find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𝑘</m:t>
                        </m:r>
                      </m:num>
                      <m:den>
                        <m:r>
                          <a:rPr lang="en-IN" sz="2000" i="1">
                            <a:solidFill>
                              <a:srgbClr val="111827"/>
                            </a:solidFill>
                            <a:latin typeface="Cambria Math" panose="02040503050406030204" pitchFamily="18" charset="0"/>
                          </a:rPr>
                          <m:t>9</m:t>
                        </m:r>
                      </m:den>
                    </m:f>
                  </m:oMath>
                </a14:m>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oMath>
                </a14:m>
                <a:r>
                  <a:rPr sz="2000" b="0">
                    <a:solidFill>
                      <a:srgbClr val="111827"/>
                    </a:solidFill>
                    <a:latin typeface="Arial"/>
                  </a:rPr>
                  <a:t> and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oMath>
                </a14:m>
                <a:r>
                  <a:rPr sz="2000" b="0">
                    <a:solidFill>
                      <a:srgbClr val="111827"/>
                    </a:solidFill>
                    <a:latin typeface="Arial"/>
                  </a:rPr>
                  <a:t> are such that </a:t>
                </a:r>
                <a14:m>
                  <m:oMath xmlns:m="http://schemas.openxmlformats.org/officeDocument/2006/math">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ad>
                      <m:radPr>
                        <m:degHide m:val="on"/>
                        <m:ctrlPr>
                          <a:rPr lang="en-IN" sz="2000" i="1">
                            <a:solidFill>
                              <a:srgbClr val="111827"/>
                            </a:solidFill>
                            <a:latin typeface="Cambria Math" panose="02040503050406030204" pitchFamily="18" charset="0"/>
                          </a:rPr>
                        </m:ctrlPr>
                      </m:radPr>
                      <m:deg/>
                      <m:e>
                        <m:r>
                          <a:rPr lang="en-IN" sz="2000" i="1">
                            <a:solidFill>
                              <a:srgbClr val="111827"/>
                            </a:solidFill>
                            <a:latin typeface="Cambria Math" panose="02040503050406030204" pitchFamily="18" charset="0"/>
                          </a:rPr>
                          <m:t>3</m:t>
                        </m:r>
                      </m:e>
                    </m:rad>
                  </m:oMath>
                </a14:m>
                <a:r>
                  <a:rPr sz="2000" b="0">
                    <a:solidFill>
                      <a:srgbClr val="111827"/>
                    </a:solidFill>
                    <a:latin typeface="Arial"/>
                  </a:rPr>
                  <a:t>, </a:t>
                </a:r>
                <a14:m>
                  <m:oMath xmlns:m="http://schemas.openxmlformats.org/officeDocument/2006/math">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oMath>
                </a14:m>
                <a:r>
                  <a:rPr sz="2000" b="0">
                    <a:solidFill>
                      <a:srgbClr val="111827"/>
                    </a:solidFill>
                    <a:latin typeface="Arial"/>
                  </a:rPr>
                  <a:t> and </a:t>
                </a:r>
                <a14:m>
                  <m:oMath xmlns:m="http://schemas.openxmlformats.org/officeDocument/2006/math">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ad>
                      <m:radPr>
                        <m:degHide m:val="on"/>
                        <m:ctrlPr>
                          <a:rPr lang="en-IN" sz="2000" i="1">
                            <a:solidFill>
                              <a:srgbClr val="111827"/>
                            </a:solidFill>
                            <a:latin typeface="Cambria Math" panose="02040503050406030204" pitchFamily="18" charset="0"/>
                          </a:rPr>
                        </m:ctrlPr>
                      </m:radPr>
                      <m:deg/>
                      <m:e>
                        <m:r>
                          <a:rPr lang="en-IN" sz="2000" i="1">
                            <a:solidFill>
                              <a:srgbClr val="111827"/>
                            </a:solidFill>
                            <a:latin typeface="Cambria Math" panose="02040503050406030204" pitchFamily="18" charset="0"/>
                          </a:rPr>
                          <m:t>6</m:t>
                        </m:r>
                      </m:e>
                    </m:rad>
                  </m:oMath>
                </a14:m>
                <a:r>
                  <a:rPr sz="2000" b="0">
                    <a:solidFill>
                      <a:srgbClr val="111827"/>
                    </a:solidFill>
                    <a:latin typeface="Arial"/>
                  </a:rPr>
                  <a:t>. If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&lt;</m:t>
                    </m:r>
                    <m:r>
                      <a:rPr lang="en-IN" sz="2000" i="1">
                        <a:solidFill>
                          <a:srgbClr val="111827"/>
                        </a:solidFill>
                        <a:latin typeface="Cambria Math" panose="02040503050406030204" pitchFamily="18" charset="0"/>
                      </a:rPr>
                      <m:t>0</m:t>
                    </m:r>
                  </m:oMath>
                </a14:m>
                <a:r>
                  <a:rPr sz="2000" b="0">
                    <a:solidFill>
                      <a:srgbClr val="111827"/>
                    </a:solidFill>
                    <a:latin typeface="Arial"/>
                  </a:rPr>
                  <a:t>;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oMath>
                </a14:m>
                <a:r>
                  <a:rPr sz="2000" b="0">
                    <a:solidFill>
                      <a:srgbClr val="111827"/>
                    </a:solidFill>
                    <a:latin typeface="Arial"/>
                  </a:rPr>
                  <a:t> is perpendicular to both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oMath>
                </a14:m>
                <a:r>
                  <a:rPr sz="2000" b="0">
                    <a:solidFill>
                      <a:srgbClr val="111827"/>
                    </a:solidFill>
                    <a:latin typeface="Arial"/>
                  </a:rPr>
                  <a:t> and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oMath>
                </a14:m>
                <a:r>
                  <a:rPr sz="2000" b="0">
                    <a:solidFill>
                      <a:srgbClr val="111827"/>
                    </a:solidFill>
                    <a:latin typeface="Arial"/>
                  </a:rPr>
                  <a:t> and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oMath>
                </a14:m>
                <a:r>
                  <a:rPr sz="2000" b="0">
                    <a:solidFill>
                      <a:srgbClr val="111827"/>
                    </a:solidFill>
                    <a:latin typeface="Arial"/>
                  </a:rPr>
                  <a:t> form the coterminous edges of a tetrahedron of unit volume, then angle between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oMath>
                </a14:m>
                <a:r>
                  <a:rPr sz="2000" b="0">
                    <a:solidFill>
                      <a:srgbClr val="111827"/>
                    </a:solidFill>
                    <a:latin typeface="Arial"/>
                  </a:rPr>
                  <a:t> and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oMath>
                </a14:m>
                <a:r>
                  <a:rPr sz="2000" b="0">
                    <a:solidFill>
                      <a:srgbClr val="111827"/>
                    </a:solidFill>
                    <a:latin typeface="Arial"/>
                  </a:rPr>
                  <a:t> is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𝑝</m:t>
                        </m:r>
                        <m:r>
                          <a:rPr lang="en-IN" sz="2000" i="1">
                            <a:solidFill>
                              <a:srgbClr val="111827"/>
                            </a:solidFill>
                            <a:latin typeface="Cambria Math" panose="02040503050406030204" pitchFamily="18" charset="0"/>
                          </a:rPr>
                          <m:t>π</m:t>
                        </m:r>
                      </m:num>
                      <m:den>
                        <m:r>
                          <a:rPr lang="en-IN" sz="2000" i="1">
                            <a:solidFill>
                              <a:srgbClr val="111827"/>
                            </a:solidFill>
                            <a:latin typeface="Cambria Math" panose="02040503050406030204" pitchFamily="18" charset="0"/>
                          </a:rPr>
                          <m:t>𝑞</m:t>
                        </m:r>
                      </m:den>
                    </m:f>
                  </m:oMath>
                </a14:m>
                <a:r>
                  <a:rPr sz="2000" b="0">
                    <a:solidFill>
                      <a:srgbClr val="111827"/>
                    </a:solidFill>
                    <a:latin typeface="Arial"/>
                  </a:rPr>
                  <a:t>, (where </a:t>
                </a:r>
                <a14:m>
                  <m:oMath xmlns:m="http://schemas.openxmlformats.org/officeDocument/2006/math">
                    <m:r>
                      <a:rPr lang="en-IN" sz="2000" i="1">
                        <a:solidFill>
                          <a:srgbClr val="111827"/>
                        </a:solidFill>
                        <a:latin typeface="Cambria Math" panose="02040503050406030204" pitchFamily="18" charset="0"/>
                      </a:rPr>
                      <m:t>𝑝</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𝑞</m:t>
                    </m:r>
                  </m:oMath>
                </a14:m>
                <a:r>
                  <a:rPr sz="2000" b="0">
                    <a:solidFill>
                      <a:srgbClr val="111827"/>
                    </a:solidFill>
                    <a:latin typeface="Arial"/>
                  </a:rPr>
                  <a:t> are coprime numbers), where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𝑝</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𝑞</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14:m>
                  <m:oMath xmlns:m="http://schemas.openxmlformats.org/officeDocument/2006/math">
                    <m:r>
                      <a:rPr lang="en-IN" sz="2000" i="1">
                        <a:solidFill>
                          <a:srgbClr val="111827"/>
                        </a:solidFill>
                        <a:latin typeface="Cambria Math" panose="02040503050406030204" pitchFamily="18" charset="0"/>
                      </a:rPr>
                      <m:t>9</m:t>
                    </m:r>
                  </m:oMath>
                </a14:m>
                <a:r>
                  <a:rPr sz="2000" b="0">
                    <a:solidFill>
                      <a:srgbClr val="111827"/>
                    </a:solidFill>
                    <a:latin typeface="Arial"/>
                  </a:rPr>
                  <a:t> (q) </a:t>
                </a:r>
                <a14:m>
                  <m:oMath xmlns:m="http://schemas.openxmlformats.org/officeDocument/2006/math">
                    <m:r>
                      <a:rPr lang="en-IN" sz="2000" i="1">
                        <a:solidFill>
                          <a:srgbClr val="111827"/>
                        </a:solidFill>
                        <a:latin typeface="Cambria Math" panose="02040503050406030204" pitchFamily="18" charset="0"/>
                      </a:rPr>
                      <m:t>8</m:t>
                    </m:r>
                  </m:oMath>
                </a14:m>
                <a:r>
                  <a:rPr sz="2000" b="0">
                    <a:solidFill>
                      <a:srgbClr val="111827"/>
                    </a:solidFill>
                    <a:latin typeface="Arial"/>
                  </a:rPr>
                  <a:t> (r) </a:t>
                </a:r>
                <a14:m>
                  <m:oMath xmlns:m="http://schemas.openxmlformats.org/officeDocument/2006/math">
                    <m:r>
                      <a:rPr lang="en-IN" sz="2000" i="1">
                        <a:solidFill>
                          <a:srgbClr val="111827"/>
                        </a:solidFill>
                        <a:latin typeface="Cambria Math" panose="02040503050406030204" pitchFamily="18" charset="0"/>
                      </a:rPr>
                      <m:t>3</m:t>
                    </m:r>
                  </m:oMath>
                </a14:m>
                <a:r>
                  <a:rPr sz="2000" b="0">
                    <a:solidFill>
                      <a:srgbClr val="111827"/>
                    </a:solidFill>
                    <a:latin typeface="Arial"/>
                  </a:rPr>
                  <a:t> (s) </a:t>
                </a:r>
                <a14:m>
                  <m:oMath xmlns:m="http://schemas.openxmlformats.org/officeDocument/2006/math">
                    <m:r>
                      <a:rPr lang="en-IN" sz="2000" i="1">
                        <a:solidFill>
                          <a:srgbClr val="111827"/>
                        </a:solidFill>
                        <a:latin typeface="Cambria Math" panose="02040503050406030204" pitchFamily="18" charset="0"/>
                      </a:rPr>
                      <m:t>7</m:t>
                    </m:r>
                  </m:oMath>
                </a14:m>
                <a:r>
                  <a:rPr sz="2000" b="0">
                    <a:solidFill>
                      <a:srgbClr val="111827"/>
                    </a:solidFill>
                    <a:latin typeface="Arial"/>
                  </a:rPr>
                  <a: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(a)→(p); (b)→(q); (c)→(r); (d)→(s)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(a)→(s); (b)→(r); (c)→(q); (d)→(p)</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(a)→(p); (b)→(s); (c)→(r); (d)→(q)</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(a)→(p); (b)→(q); (c)→(s); (d)→(r)</a:t>
                </a:r>
                <a:endParaRPr sz="2000">
                  <a:solidFill>
                    <a:srgbClr val="111827"/>
                  </a:solidFill>
                </a:endParaRPr>
              </a:p>
            </p:txBody>
          </p:sp>
        </mc:Choice>
        <mc:Fallback>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Let volume of a tetrahedron </a:t>
                </a:r>
                <a:r>
                  <a:rPr lang="en-IN" sz="2000">
                    <a:solidFill>
                      <a:srgbClr val="111827"/>
                    </a:solidFill>
                    <a:latin typeface="Cambria Math" panose="02040503050406030204" pitchFamily="18" charset="0"/>
                  </a:rPr>
                  <a:t>$ABCD$</a:t>
                </a:r>
                <a:r>
                  <a:rPr sz="2000" b="0">
                    <a:solidFill>
                      <a:srgbClr val="111827"/>
                    </a:solidFill>
                    <a:latin typeface="Arial"/>
                  </a:rPr>
                  <a:t> is </a:t>
                </a:r>
                <a:r>
                  <a:rPr lang="en-IN" sz="2000">
                    <a:solidFill>
                      <a:srgbClr val="111827"/>
                    </a:solidFill>
                    <a:latin typeface="Cambria Math" panose="02040503050406030204" pitchFamily="18" charset="0"/>
                  </a:rPr>
                  <a:t>$\frac{81}{2}$</a:t>
                </a:r>
                <a:r>
                  <a:rPr sz="2000" b="0">
                    <a:solidFill>
                      <a:srgbClr val="111827"/>
                    </a:solidFill>
                    <a:latin typeface="Arial"/>
                  </a:rPr>
                  <a:t> cube unit and volume of parallelepiped whose three coterminous edges are segments joining centroid of any face of tetrahedron with centroids of its other three faces is </a:t>
                </a:r>
                <a:r>
                  <a:rPr lang="en-IN" sz="2000">
                    <a:solidFill>
                      <a:srgbClr val="111827"/>
                    </a:solidFill>
                    <a:latin typeface="Cambria Math" panose="02040503050406030204" pitchFamily="18" charset="0"/>
                  </a:rPr>
                  <a:t>$V$</a:t>
                </a:r>
                <a:r>
                  <a:rPr sz="2000" b="0">
                    <a:solidFill>
                      <a:srgbClr val="111827"/>
                    </a:solidFill>
                    <a:latin typeface="Arial"/>
                  </a:rPr>
                  <a:t> cubic unit, then </a:t>
                </a:r>
                <a:r>
                  <a:rPr lang="en-IN" sz="2000">
                    <a:solidFill>
                      <a:srgbClr val="111827"/>
                    </a:solidFill>
                    <a:latin typeface="Cambria Math" panose="02040503050406030204" pitchFamily="18" charset="0"/>
                  </a:rPr>
                  <a:t>$V$</a:t>
                </a:r>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If image of the point </a:t>
                </a:r>
                <a:r>
                  <a:rPr lang="en-IN" sz="2000">
                    <a:solidFill>
                      <a:srgbClr val="111827"/>
                    </a:solidFill>
                    <a:latin typeface="Cambria Math" panose="02040503050406030204" pitchFamily="18" charset="0"/>
                  </a:rPr>
                  <a:t>$(1,0,1)$</a:t>
                </a:r>
                <a:r>
                  <a:rPr sz="2000" b="0">
                    <a:solidFill>
                      <a:srgbClr val="111827"/>
                    </a:solidFill>
                    <a:latin typeface="Arial"/>
                  </a:rPr>
                  <a:t> in the plane </a:t>
                </a:r>
                <a:r>
                  <a:rPr lang="en-IN" sz="2000">
                    <a:solidFill>
                      <a:srgbClr val="111827"/>
                    </a:solidFill>
                    <a:latin typeface="Cambria Math" panose="02040503050406030204" pitchFamily="18" charset="0"/>
                  </a:rPr>
                  <a:t>$x-y-z=1$</a:t>
                </a:r>
                <a:r>
                  <a:rPr sz="2000" b="0">
                    <a:solidFill>
                      <a:srgbClr val="111827"/>
                    </a:solidFill>
                    <a:latin typeface="Arial"/>
                  </a:rPr>
                  <a:t> is </a:t>
                </a:r>
                <a:r>
                  <a:rPr lang="en-IN" sz="2000">
                    <a:solidFill>
                      <a:srgbClr val="111827"/>
                    </a:solidFill>
                    <a:latin typeface="Cambria Math" panose="02040503050406030204" pitchFamily="18" charset="0"/>
                  </a:rPr>
                  <a:t>$(a,b,c)$</a:t>
                </a:r>
                <a:r>
                  <a:rPr sz="2000" b="0">
                    <a:solidFill>
                      <a:srgbClr val="111827"/>
                    </a:solidFill>
                    <a:latin typeface="Arial"/>
                  </a:rPr>
                  <a:t> then </a:t>
                </a:r>
                <a:r>
                  <a:rPr lang="en-IN" sz="2000">
                    <a:solidFill>
                      <a:srgbClr val="111827"/>
                    </a:solidFill>
                    <a:latin typeface="Cambria Math" panose="02040503050406030204" pitchFamily="18" charset="0"/>
                  </a:rPr>
                  <a:t>$3(a-b+c)$</a:t>
                </a:r>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Locus of all the points which are at a distance of </a:t>
                </a:r>
                <a:r>
                  <a:rPr lang="en-IN" sz="2000">
                    <a:solidFill>
                      <a:srgbClr val="111827"/>
                    </a:solidFill>
                    <a:latin typeface="Cambria Math" panose="02040503050406030204" pitchFamily="18" charset="0"/>
                  </a:rPr>
                  <a:t>$3$</a:t>
                </a:r>
                <a:r>
                  <a:rPr sz="2000" b="0">
                    <a:solidFill>
                      <a:srgbClr val="111827"/>
                    </a:solidFill>
                    <a:latin typeface="Arial"/>
                  </a:rPr>
                  <a:t> units from the line </a:t>
                </a:r>
                <a:r>
                  <a:rPr lang="en-IN" sz="2000">
                    <a:solidFill>
                      <a:srgbClr val="111827"/>
                    </a:solidFill>
                    <a:latin typeface="Cambria Math" panose="02040503050406030204" pitchFamily="18" charset="0"/>
                  </a:rPr>
                  <a:t>$\vec r=\lambda(\hat i+\hat j+\hat k)$</a:t>
                </a:r>
                <a:r>
                  <a:rPr sz="2000" b="0">
                    <a:solidFill>
                      <a:srgbClr val="111827"/>
                    </a:solidFill>
                    <a:latin typeface="Arial"/>
                  </a:rPr>
                  <a:t> is given by </a:t>
                </a:r>
                <a:r>
                  <a:rPr lang="en-IN" sz="2000">
                    <a:solidFill>
                      <a:srgbClr val="111827"/>
                    </a:solidFill>
                    <a:latin typeface="Cambria Math" panose="02040503050406030204" pitchFamily="18" charset="0"/>
                  </a:rPr>
                  <a:t>$x^2+y^2+z^2-xy-yz-xz=\frac k2$</a:t>
                </a:r>
                <a:r>
                  <a:rPr sz="2000" b="0">
                    <a:solidFill>
                      <a:srgbClr val="111827"/>
                    </a:solidFill>
                    <a:latin typeface="Arial"/>
                  </a:rPr>
                  <a:t>, then find </a:t>
                </a:r>
                <a:r>
                  <a:rPr lang="en-IN" sz="2000">
                    <a:solidFill>
                      <a:srgbClr val="111827"/>
                    </a:solidFill>
                    <a:latin typeface="Cambria Math" panose="02040503050406030204" pitchFamily="18" charset="0"/>
                  </a:rPr>
                  <a:t>$\frac k9$</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t>
                </a:r>
                <a:r>
                  <a:rPr lang="en-IN" sz="2000">
                    <a:solidFill>
                      <a:srgbClr val="111827"/>
                    </a:solidFill>
                    <a:latin typeface="Cambria Math" panose="02040503050406030204" pitchFamily="18" charset="0"/>
                  </a:rPr>
                  <a:t>$\vec a,\vec b$</a:t>
                </a:r>
                <a:r>
                  <a:rPr sz="2000" b="0">
                    <a:solidFill>
                      <a:srgbClr val="111827"/>
                    </a:solidFill>
                    <a:latin typeface="Arial"/>
                  </a:rPr>
                  <a:t> and </a:t>
                </a:r>
                <a:r>
                  <a:rPr lang="en-IN" sz="2000">
                    <a:solidFill>
                      <a:srgbClr val="111827"/>
                    </a:solidFill>
                    <a:latin typeface="Cambria Math" panose="02040503050406030204" pitchFamily="18" charset="0"/>
                  </a:rPr>
                  <a:t>$\vec c$</a:t>
                </a:r>
                <a:r>
                  <a:rPr sz="2000" b="0">
                    <a:solidFill>
                      <a:srgbClr val="111827"/>
                    </a:solidFill>
                    <a:latin typeface="Arial"/>
                  </a:rPr>
                  <a:t> are such that </a:t>
                </a:r>
                <a:r>
                  <a:rPr lang="en-IN" sz="2000">
                    <a:solidFill>
                      <a:srgbClr val="111827"/>
                    </a:solidFill>
                    <a:latin typeface="Cambria Math" panose="02040503050406030204" pitchFamily="18" charset="0"/>
                  </a:rPr>
                  <a:t>$|\vec a|=\sqrt3$</a:t>
                </a:r>
                <a:r>
                  <a:rPr sz="2000" b="0">
                    <a:solidFill>
                      <a:srgbClr val="111827"/>
                    </a:solidFill>
                    <a:latin typeface="Arial"/>
                  </a:rPr>
                  <a:t>, </a:t>
                </a:r>
                <a:r>
                  <a:rPr lang="en-IN" sz="2000">
                    <a:solidFill>
                      <a:srgbClr val="111827"/>
                    </a:solidFill>
                    <a:latin typeface="Cambria Math" panose="02040503050406030204" pitchFamily="18" charset="0"/>
                  </a:rPr>
                  <a:t>$|\vec b|=2$</a:t>
                </a:r>
                <a:r>
                  <a:rPr sz="2000" b="0">
                    <a:solidFill>
                      <a:srgbClr val="111827"/>
                    </a:solidFill>
                    <a:latin typeface="Arial"/>
                  </a:rPr>
                  <a:t> and </a:t>
                </a:r>
                <a:r>
                  <a:rPr lang="en-IN" sz="2000">
                    <a:solidFill>
                      <a:srgbClr val="111827"/>
                    </a:solidFill>
                    <a:latin typeface="Cambria Math" panose="02040503050406030204" pitchFamily="18" charset="0"/>
                  </a:rPr>
                  <a:t>$|\vec c|=\sqrt6$</a:t>
                </a:r>
                <a:r>
                  <a:rPr sz="2000" b="0">
                    <a:solidFill>
                      <a:srgbClr val="111827"/>
                    </a:solidFill>
                    <a:latin typeface="Arial"/>
                  </a:rPr>
                  <a:t>. If </a:t>
                </a:r>
                <a:r>
                  <a:rPr lang="en-IN" sz="2000">
                    <a:solidFill>
                      <a:srgbClr val="111827"/>
                    </a:solidFill>
                    <a:latin typeface="Cambria Math" panose="02040503050406030204" pitchFamily="18" charset="0"/>
                  </a:rPr>
                  <a:t>$\vec a\cdot\vec b&lt;0$</a:t>
                </a:r>
                <a:r>
                  <a:rPr sz="2000" b="0">
                    <a:solidFill>
                      <a:srgbClr val="111827"/>
                    </a:solidFill>
                    <a:latin typeface="Arial"/>
                  </a:rPr>
                  <a:t>; </a:t>
                </a:r>
                <a:r>
                  <a:rPr lang="en-IN" sz="2000">
                    <a:solidFill>
                      <a:srgbClr val="111827"/>
                    </a:solidFill>
                    <a:latin typeface="Cambria Math" panose="02040503050406030204" pitchFamily="18" charset="0"/>
                  </a:rPr>
                  <a:t>$\vec c$</a:t>
                </a:r>
                <a:r>
                  <a:rPr sz="2000" b="0">
                    <a:solidFill>
                      <a:srgbClr val="111827"/>
                    </a:solidFill>
                    <a:latin typeface="Arial"/>
                  </a:rPr>
                  <a:t> is perpendicular to both </a:t>
                </a:r>
                <a:r>
                  <a:rPr lang="en-IN" sz="2000">
                    <a:solidFill>
                      <a:srgbClr val="111827"/>
                    </a:solidFill>
                    <a:latin typeface="Cambria Math" panose="02040503050406030204" pitchFamily="18" charset="0"/>
                  </a:rPr>
                  <a:t>$\vec a$</a:t>
                </a:r>
                <a:r>
                  <a:rPr sz="2000" b="0">
                    <a:solidFill>
                      <a:srgbClr val="111827"/>
                    </a:solidFill>
                    <a:latin typeface="Arial"/>
                  </a:rPr>
                  <a:t> and </a:t>
                </a:r>
                <a:r>
                  <a:rPr lang="en-IN" sz="2000">
                    <a:solidFill>
                      <a:srgbClr val="111827"/>
                    </a:solidFill>
                    <a:latin typeface="Cambria Math" panose="02040503050406030204" pitchFamily="18" charset="0"/>
                  </a:rPr>
                  <a:t>$\vec b$</a:t>
                </a:r>
                <a:r>
                  <a:rPr sz="2000" b="0">
                    <a:solidFill>
                      <a:srgbClr val="111827"/>
                    </a:solidFill>
                    <a:latin typeface="Arial"/>
                  </a:rPr>
                  <a:t> and </a:t>
                </a:r>
                <a:r>
                  <a:rPr lang="en-IN" sz="2000">
                    <a:solidFill>
                      <a:srgbClr val="111827"/>
                    </a:solidFill>
                    <a:latin typeface="Cambria Math" panose="02040503050406030204" pitchFamily="18" charset="0"/>
                  </a:rPr>
                  <a:t>$\vec a,\vec b,\vec c$</a:t>
                </a:r>
                <a:r>
                  <a:rPr sz="2000" b="0">
                    <a:solidFill>
                      <a:srgbClr val="111827"/>
                    </a:solidFill>
                    <a:latin typeface="Arial"/>
                  </a:rPr>
                  <a:t> form the coterminous edges of a tetrahedron of unit volume, then angle between </a:t>
                </a:r>
                <a:r>
                  <a:rPr lang="en-IN" sz="2000">
                    <a:solidFill>
                      <a:srgbClr val="111827"/>
                    </a:solidFill>
                    <a:latin typeface="Cambria Math" panose="02040503050406030204" pitchFamily="18" charset="0"/>
                  </a:rPr>
                  <a:t>$\vec a$</a:t>
                </a:r>
                <a:r>
                  <a:rPr sz="2000" b="0">
                    <a:solidFill>
                      <a:srgbClr val="111827"/>
                    </a:solidFill>
                    <a:latin typeface="Arial"/>
                  </a:rPr>
                  <a:t> and </a:t>
                </a:r>
                <a:r>
                  <a:rPr lang="en-IN" sz="2000">
                    <a:solidFill>
                      <a:srgbClr val="111827"/>
                    </a:solidFill>
                    <a:latin typeface="Cambria Math" panose="02040503050406030204" pitchFamily="18" charset="0"/>
                  </a:rPr>
                  <a:t>$\vec b$</a:t>
                </a:r>
                <a:r>
                  <a:rPr sz="2000" b="0">
                    <a:solidFill>
                      <a:srgbClr val="111827"/>
                    </a:solidFill>
                    <a:latin typeface="Arial"/>
                  </a:rPr>
                  <a:t> is </a:t>
                </a:r>
                <a:r>
                  <a:rPr lang="en-IN" sz="2000">
                    <a:solidFill>
                      <a:srgbClr val="111827"/>
                    </a:solidFill>
                    <a:latin typeface="Cambria Math" panose="02040503050406030204" pitchFamily="18" charset="0"/>
                  </a:rPr>
                  <a:t>$\frac{p\pi}{q}$</a:t>
                </a:r>
                <a:r>
                  <a:rPr sz="2000" b="0">
                    <a:solidFill>
                      <a:srgbClr val="111827"/>
                    </a:solidFill>
                    <a:latin typeface="Arial"/>
                  </a:rPr>
                  <a:t>, (where </a:t>
                </a:r>
                <a:r>
                  <a:rPr lang="en-IN" sz="2000">
                    <a:solidFill>
                      <a:srgbClr val="111827"/>
                    </a:solidFill>
                    <a:latin typeface="Cambria Math" panose="02040503050406030204" pitchFamily="18" charset="0"/>
                  </a:rPr>
                  <a:t>$p,q$</a:t>
                </a:r>
                <a:r>
                  <a:rPr sz="2000" b="0">
                    <a:solidFill>
                      <a:srgbClr val="111827"/>
                    </a:solidFill>
                    <a:latin typeface="Arial"/>
                  </a:rPr>
                  <a:t> are coprime numbers), where </a:t>
                </a:r>
                <a:r>
                  <a:rPr lang="en-IN" sz="2000">
                    <a:solidFill>
                      <a:srgbClr val="111827"/>
                    </a:solidFill>
                    <a:latin typeface="Cambria Math" panose="02040503050406030204" pitchFamily="18" charset="0"/>
                  </a:rPr>
                  <a:t>$(p+q)$</a:t>
                </a:r>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r>
                  <a:rPr lang="en-IN" sz="2000">
                    <a:solidFill>
                      <a:srgbClr val="111827"/>
                    </a:solidFill>
                    <a:latin typeface="Cambria Math" panose="02040503050406030204" pitchFamily="18" charset="0"/>
                  </a:rPr>
                  <a:t>$9$</a:t>
                </a:r>
                <a:r>
                  <a:rPr sz="2000" b="0">
                    <a:solidFill>
                      <a:srgbClr val="111827"/>
                    </a:solidFill>
                    <a:latin typeface="Arial"/>
                  </a:rPr>
                  <a:t> (q) </a:t>
                </a:r>
                <a:r>
                  <a:rPr lang="en-IN" sz="2000">
                    <a:solidFill>
                      <a:srgbClr val="111827"/>
                    </a:solidFill>
                    <a:latin typeface="Cambria Math" panose="02040503050406030204" pitchFamily="18" charset="0"/>
                  </a:rPr>
                  <a:t>$8$</a:t>
                </a:r>
                <a:r>
                  <a:rPr sz="2000" b="0">
                    <a:solidFill>
                      <a:srgbClr val="111827"/>
                    </a:solidFill>
                    <a:latin typeface="Arial"/>
                  </a:rPr>
                  <a:t> (r) </a:t>
                </a:r>
                <a:r>
                  <a:rPr lang="en-IN" sz="2000">
                    <a:solidFill>
                      <a:srgbClr val="111827"/>
                    </a:solidFill>
                    <a:latin typeface="Cambria Math" panose="02040503050406030204" pitchFamily="18" charset="0"/>
                  </a:rPr>
                  <a:t>$3$</a:t>
                </a:r>
                <a:r>
                  <a:rPr sz="2000" b="0">
                    <a:solidFill>
                      <a:srgbClr val="111827"/>
                    </a:solidFill>
                    <a:latin typeface="Arial"/>
                  </a:rPr>
                  <a:t> (s) </a:t>
                </a:r>
                <a:r>
                  <a:rPr lang="en-IN" sz="2000">
                    <a:solidFill>
                      <a:srgbClr val="111827"/>
                    </a:solidFill>
                    <a:latin typeface="Cambria Math" panose="02040503050406030204" pitchFamily="18" charset="0"/>
                  </a:rPr>
                  <a:t>$7$</a:t>
                </a:r>
                <a:r>
                  <a:rPr sz="2000" b="0">
                    <a:solidFill>
                      <a:srgbClr val="111827"/>
                    </a:solidFill>
                    <a:latin typeface="Arial"/>
                  </a:rPr>
                  <a: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(a)→(p); (b)→(q); (c)→(r); (d)→(s)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(a)→(s); (b)→(r); (c)→(q); (d)→(p)</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(a)→(p); (b)→(s); (c)→(r); (d)→(q)</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(a)→(p); (b)→(q); (c)→(s); (d)→(r)</a:t>
                </a:r>
                <a:endParaRPr sz="2000">
                  <a:solidFill>
                    <a:srgbClr val="111827"/>
                  </a:solidFill>
                </a:endParaRPr>
              </a:p>
            </p:txBody>
          </p:sp>
        </mc:Fallback>
      </mc:AlternateContent>
    </p:spTree>
  </p:cSld>
  <p:clrMapOvr>
    <a:masterClrMapping/>
  </p:clrMapOvr>
</p:sld>
</file>

<file path=ppt/slides/slide4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Volume of tetrahedra and parallelepipeds, Reflection of a point in a plane, Locus of points at fixed distance from a line, Tetrahedron of given volume (triple product)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tetrahedron of face centroids is similar to the original with ratio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3</m:t>
                        </m:r>
                      </m:den>
                    </m:f>
                  </m:oMath>
                </a14:m>
                <a:r>
                  <a:rPr sz="2400" b="0">
                    <a:solidFill>
                      <a:srgbClr val="78350F"/>
                    </a:solidFill>
                    <a:latin typeface="Arial"/>
                  </a:rPr>
                  <a:t>; the locus of points at distance </a:t>
                </a:r>
                <a14:m>
                  <m:oMath xmlns:m="http://schemas.openxmlformats.org/officeDocument/2006/math">
                    <m:r>
                      <a:rPr lang="en-IN" sz="2400" i="1">
                        <a:solidFill>
                          <a:srgbClr val="78350F"/>
                        </a:solidFill>
                        <a:latin typeface="Cambria Math" panose="02040503050406030204" pitchFamily="18" charset="0"/>
                      </a:rPr>
                      <m:t>3</m:t>
                    </m:r>
                  </m:oMath>
                </a14:m>
                <a:r>
                  <a:rPr sz="2400" b="0">
                    <a:solidFill>
                      <a:srgbClr val="78350F"/>
                    </a:solidFill>
                    <a:latin typeface="Arial"/>
                  </a:rPr>
                  <a:t> from the line comes from </a:t>
                </a:r>
                <a14:m>
                  <m:oMath xmlns:m="http://schemas.openxmlformats.org/officeDocument/2006/math">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𝑟</m:t>
                        </m:r>
                      </m:e>
                    </m:acc>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27</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𝑑</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tetrahedron of face centroids is similar to the original with ratio </a:t>
                </a:r>
                <a:r>
                  <a:rPr lang="en-IN" sz="2400">
                    <a:solidFill>
                      <a:srgbClr val="78350F"/>
                    </a:solidFill>
                    <a:latin typeface="Cambria Math" panose="02040503050406030204" pitchFamily="18" charset="0"/>
                  </a:rPr>
                  <a:t>$\frac13$</a:t>
                </a:r>
                <a:r>
                  <a:rPr sz="2400" b="0">
                    <a:solidFill>
                      <a:srgbClr val="78350F"/>
                    </a:solidFill>
                    <a:latin typeface="Arial"/>
                  </a:rPr>
                  <a:t>; the locus of points at distance </a:t>
                </a:r>
                <a:r>
                  <a:rPr lang="en-IN" sz="2400">
                    <a:solidFill>
                      <a:srgbClr val="78350F"/>
                    </a:solidFill>
                    <a:latin typeface="Cambria Math" panose="02040503050406030204" pitchFamily="18" charset="0"/>
                  </a:rPr>
                  <a:t>$3$</a:t>
                </a:r>
                <a:r>
                  <a:rPr sz="2400" b="0">
                    <a:solidFill>
                      <a:srgbClr val="78350F"/>
                    </a:solidFill>
                    <a:latin typeface="Arial"/>
                  </a:rPr>
                  <a:t> from the line comes from </a:t>
                </a:r>
                <a:r>
                  <a:rPr lang="en-IN" sz="2400">
                    <a:solidFill>
                      <a:srgbClr val="78350F"/>
                    </a:solidFill>
                    <a:latin typeface="Cambria Math" panose="02040503050406030204" pitchFamily="18" charset="0"/>
                  </a:rPr>
                  <a:t>$|\vec r\times\vec d|^2=27|\vec d|^2/3$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385816"/>
                <a:ext cx="10725912" cy="12893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With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as origin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etc., the three edges are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(from the centroid of face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to the other three centroids).</a:t>
                </a:r>
                <a:endParaRPr sz="2400">
                  <a:solidFill>
                    <a:srgbClr val="111827"/>
                  </a:solidFill>
                </a:endParaRPr>
              </a:p>
            </p:txBody>
          </p:sp>
        </mc:Choice>
        <mc:Fallback>
          <p:sp>
            <p:nvSpPr>
              <p:cNvPr id="6" name="Rectangle 5"/>
              <p:cNvSpPr/>
              <p:nvPr/>
            </p:nvSpPr>
            <p:spPr>
              <a:xfrm>
                <a:off x="731520" y="5385816"/>
                <a:ext cx="10725912" cy="12893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With </a:t>
                </a:r>
                <a:r>
                  <a:rPr lang="en-IN" sz="2400">
                    <a:solidFill>
                      <a:srgbClr val="111827"/>
                    </a:solidFill>
                    <a:latin typeface="Cambria Math" panose="02040503050406030204" pitchFamily="18" charset="0"/>
                  </a:rPr>
                  <a:t>$A$</a:t>
                </a:r>
                <a:r>
                  <a:rPr sz="2400" b="0">
                    <a:solidFill>
                      <a:srgbClr val="111827"/>
                    </a:solidFill>
                    <a:latin typeface="Arial"/>
                  </a:rPr>
                  <a:t> as origin and </a:t>
                </a:r>
                <a:r>
                  <a:rPr lang="en-IN" sz="2400">
                    <a:solidFill>
                      <a:srgbClr val="111827"/>
                    </a:solidFill>
                    <a:latin typeface="Cambria Math" panose="02040503050406030204" pitchFamily="18" charset="0"/>
                  </a:rPr>
                  <a:t>$\vec b=B-A$</a:t>
                </a:r>
                <a:r>
                  <a:rPr sz="2400" b="0">
                    <a:solidFill>
                      <a:srgbClr val="111827"/>
                    </a:solidFill>
                    <a:latin typeface="Arial"/>
                  </a:rPr>
                  <a:t>, etc., the three edges are </a:t>
                </a:r>
                <a:r>
                  <a:rPr lang="en-IN" sz="2400">
                    <a:solidFill>
                      <a:srgbClr val="111827"/>
                    </a:solidFill>
                    <a:latin typeface="Cambria Math" panose="02040503050406030204" pitchFamily="18" charset="0"/>
                  </a:rPr>
                  <a:t>$\frac{D-C}{3},\frac{D-B}{3},\frac{D-A}{3}$</a:t>
                </a:r>
                <a:r>
                  <a:rPr sz="2400" b="0">
                    <a:solidFill>
                      <a:srgbClr val="111827"/>
                    </a:solidFill>
                    <a:latin typeface="Arial"/>
                  </a:rPr>
                  <a:t> (from the centroid of face </a:t>
                </a:r>
                <a:r>
                  <a:rPr lang="en-IN" sz="2400">
                    <a:solidFill>
                      <a:srgbClr val="111827"/>
                    </a:solidFill>
                    <a:latin typeface="Cambria Math" panose="02040503050406030204" pitchFamily="18" charset="0"/>
                  </a:rPr>
                  <a:t>$ABC$</a:t>
                </a:r>
                <a:r>
                  <a:rPr sz="2400" b="0">
                    <a:solidFill>
                      <a:srgbClr val="111827"/>
                    </a:solidFill>
                    <a:latin typeface="Arial"/>
                  </a:rPr>
                  <a:t> to the other three centroids).</a:t>
                </a:r>
                <a:endParaRPr sz="2400">
                  <a:solidFill>
                    <a:srgbClr val="111827"/>
                  </a:solidFill>
                </a:endParaRPr>
              </a:p>
            </p:txBody>
          </p:sp>
        </mc:Fallback>
      </mc:AlternateContent>
    </p:spTree>
  </p:cSld>
  <p:clrMapOvr>
    <a:masterClrMapping/>
  </p:clrMapOvr>
</p:sld>
</file>

<file path=ppt/slides/slide4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det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num>
                              <m:den>
                                <m:r>
                                  <a:rPr lang="en-IN" sz="2400" i="1">
                                    <a:solidFill>
                                      <a:srgbClr val="111827"/>
                                    </a:solidFill>
                                    <a:latin typeface="Cambria Math" panose="02040503050406030204" pitchFamily="18" charset="0"/>
                                  </a:rPr>
                                  <m:t>3</m:t>
                                </m:r>
                              </m:den>
                            </m:f>
                          </m:e>
                        </m:d>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volume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9</m:t>
                        </m:r>
                      </m:den>
                    </m:f>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 matches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Reflection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𝐹</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𝑃</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𝑛</m:t>
                        </m:r>
                      </m:e>
                    </m:acc>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(b) matches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The line has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 point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distance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$V=\left|\det\left(\frac{D-C}{3},\frac{D-B}{3},\frac{D-A}{3}\right)\right|=\frac1{27}|\det(D-C,D-B,D-A)|=\frac1{27}|\det(\vec b,\vec c,\vec 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$T=\frac16|\det(\vec b,\vec c,\vec d)|$</a:t>
                </a:r>
                <a:r>
                  <a:rPr sz="2400" b="0">
                    <a:solidFill>
                      <a:srgbClr val="111827"/>
                    </a:solidFill>
                    <a:latin typeface="Arial"/>
                  </a:rPr>
                  <a:t> the volume of </a:t>
                </a:r>
                <a:r>
                  <a:rPr lang="en-IN" sz="2400">
                    <a:solidFill>
                      <a:srgbClr val="111827"/>
                    </a:solidFill>
                    <a:latin typeface="Cambria Math" panose="02040503050406030204" pitchFamily="18" charset="0"/>
                  </a:rPr>
                  <a:t>$ABCD$</a:t>
                </a:r>
                <a:r>
                  <a:rPr sz="2400" b="0">
                    <a:solidFill>
                      <a:srgbClr val="111827"/>
                    </a:solidFill>
                    <a:latin typeface="Arial"/>
                  </a:rPr>
                  <a:t>: </a:t>
                </a:r>
                <a:r>
                  <a:rPr lang="en-IN" sz="2400">
                    <a:solidFill>
                      <a:srgbClr val="111827"/>
                    </a:solidFill>
                    <a:latin typeface="Cambria Math" panose="02040503050406030204" pitchFamily="18" charset="0"/>
                  </a:rPr>
                  <a:t>$V=\frac1{27}\cdot6T=\frac29T=\frac29\cdot\frac{81}{2}=9$</a:t>
                </a:r>
                <a:r>
                  <a:rPr sz="2400" b="0">
                    <a:solidFill>
                      <a:srgbClr val="111827"/>
                    </a:solidFill>
                    <a:latin typeface="Arial"/>
                  </a:rPr>
                  <a:t>: (a) matches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Reflection of </a:t>
                </a:r>
                <a:r>
                  <a:rPr lang="en-IN" sz="2400">
                    <a:solidFill>
                      <a:srgbClr val="111827"/>
                    </a:solidFill>
                    <a:latin typeface="Cambria Math" panose="02040503050406030204" pitchFamily="18" charset="0"/>
                  </a:rPr>
                  <a:t>$(1,0,1)$</a:t>
                </a:r>
                <a:r>
                  <a:rPr sz="2400" b="0">
                    <a:solidFill>
                      <a:srgbClr val="111827"/>
                    </a:solidFill>
                    <a:latin typeface="Arial"/>
                  </a:rPr>
                  <a:t> in </a:t>
                </a:r>
                <a:r>
                  <a:rPr lang="en-IN" sz="2400">
                    <a:solidFill>
                      <a:srgbClr val="111827"/>
                    </a:solidFill>
                    <a:latin typeface="Cambria Math" panose="02040503050406030204" pitchFamily="18" charset="0"/>
                  </a:rPr>
                  <a:t>$x-y-z=1$</a:t>
                </a:r>
                <a:r>
                  <a:rPr sz="2400" b="0">
                    <a:solidFill>
                      <a:srgbClr val="111827"/>
                    </a:solidFill>
                    <a:latin typeface="Arial"/>
                  </a:rPr>
                  <a:t>: </a:t>
                </a:r>
                <a:r>
                  <a:rPr lang="en-IN" sz="2400">
                    <a:solidFill>
                      <a:srgbClr val="111827"/>
                    </a:solidFill>
                    <a:latin typeface="Cambria Math" panose="02040503050406030204" pitchFamily="18" charset="0"/>
                  </a:rPr>
                  <a:t>$\vec n=(1,-1,-1)$</a:t>
                </a:r>
                <a:r>
                  <a:rPr sz="2400" b="0">
                    <a:solidFill>
                      <a:srgbClr val="111827"/>
                    </a:solidFill>
                    <a:latin typeface="Arial"/>
                  </a:rPr>
                  <a:t>, </a:t>
                </a:r>
                <a:r>
                  <a:rPr lang="en-IN" sz="2400">
                    <a:solidFill>
                      <a:srgbClr val="111827"/>
                    </a:solidFill>
                    <a:latin typeface="Cambria Math" panose="02040503050406030204" pitchFamily="18" charset="0"/>
                  </a:rPr>
                  <a:t>$F(P)=-1$</a:t>
                </a:r>
                <a:r>
                  <a:rPr sz="2400" b="0">
                    <a:solidFill>
                      <a:srgbClr val="111827"/>
                    </a:solidFill>
                    <a:latin typeface="Arial"/>
                  </a:rPr>
                  <a:t>, </a:t>
                </a:r>
                <a:r>
                  <a:rPr lang="en-IN" sz="2400">
                    <a:solidFill>
                      <a:srgbClr val="111827"/>
                    </a:solidFill>
                    <a:latin typeface="Cambria Math" panose="02040503050406030204" pitchFamily="18" charset="0"/>
                  </a:rPr>
                  <a:t>$|\vec n|^2=3$</a:t>
                </a:r>
                <a:r>
                  <a:rPr sz="2400" b="0">
                    <a:solidFill>
                      <a:srgbClr val="111827"/>
                    </a:solidFill>
                    <a:latin typeface="Arial"/>
                  </a:rPr>
                  <a:t>, so </a:t>
                </a:r>
                <a:r>
                  <a:rPr lang="en-IN" sz="2400">
                    <a:solidFill>
                      <a:srgbClr val="111827"/>
                    </a:solidFill>
                    <a:latin typeface="Cambria Math" panose="02040503050406030204" pitchFamily="18" charset="0"/>
                  </a:rPr>
                  <a:t>$P'=P+\frac23\vec n=\left(\frac53,-\frac23,\frac13\right)$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$3(a-b+c)=3\cdot\frac{5+2+1}{3}=8$</a:t>
                </a:r>
                <a:r>
                  <a:rPr sz="2400" b="0">
                    <a:solidFill>
                      <a:srgbClr val="111827"/>
                    </a:solidFill>
                    <a:latin typeface="Arial"/>
                  </a:rPr>
                  <a:t>: (b) matches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The line has </a:t>
                </a:r>
                <a:r>
                  <a:rPr lang="en-IN" sz="2400">
                    <a:solidFill>
                      <a:srgbClr val="111827"/>
                    </a:solidFill>
                    <a:latin typeface="Cambria Math" panose="02040503050406030204" pitchFamily="18" charset="0"/>
                  </a:rPr>
                  <a:t>$\vec d=(1,1,1)$</a:t>
                </a:r>
                <a:r>
                  <a:rPr sz="2400" b="0">
                    <a:solidFill>
                      <a:srgbClr val="111827"/>
                    </a:solidFill>
                    <a:latin typeface="Arial"/>
                  </a:rPr>
                  <a:t>, </a:t>
                </a:r>
                <a:r>
                  <a:rPr lang="en-IN" sz="2400">
                    <a:solidFill>
                      <a:srgbClr val="111827"/>
                    </a:solidFill>
                    <a:latin typeface="Cambria Math" panose="02040503050406030204" pitchFamily="18" charset="0"/>
                  </a:rPr>
                  <a:t>$|\vec d|^2=3$</a:t>
                </a:r>
                <a:r>
                  <a:rPr sz="2400" b="0">
                    <a:solidFill>
                      <a:srgbClr val="111827"/>
                    </a:solidFill>
                    <a:latin typeface="Arial"/>
                  </a:rPr>
                  <a:t>. A point </a:t>
                </a:r>
                <a:r>
                  <a:rPr lang="en-IN" sz="2400">
                    <a:solidFill>
                      <a:srgbClr val="111827"/>
                    </a:solidFill>
                    <a:latin typeface="Cambria Math" panose="02040503050406030204" pitchFamily="18" charset="0"/>
                  </a:rPr>
                  <a:t>$\vec r=(x,y,z)$</a:t>
                </a:r>
                <a:r>
                  <a:rPr sz="2400" b="0">
                    <a:solidFill>
                      <a:srgbClr val="111827"/>
                    </a:solidFill>
                    <a:latin typeface="Arial"/>
                  </a:rPr>
                  <a:t> at distance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$\frac{|\vec r\times\vec d|}{|\vec d|}=3\Rightarrow|\vec r\times\vec d|^2=27$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27</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with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(c)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Tetrahedron volume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(d) matches (s). Option (A).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r|^2|\vec d|^2-(\vec r\cdot\vec d)^2=27\Rightarrow3(x^2+y^2+z^2)-(x+y+z)^2=27\Rightarrow x^2+y^2+z^2-xy-yz-zx=\frac{27}{2}$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with </a:t>
                </a:r>
                <a:r>
                  <a:rPr lang="en-IN" sz="2400">
                    <a:solidFill>
                      <a:srgbClr val="111827"/>
                    </a:solidFill>
                    <a:latin typeface="Cambria Math" panose="02040503050406030204" pitchFamily="18" charset="0"/>
                  </a:rPr>
                  <a:t>$\frac k2$</a:t>
                </a:r>
                <a:r>
                  <a:rPr sz="2400" b="0">
                    <a:solidFill>
                      <a:srgbClr val="111827"/>
                    </a:solidFill>
                    <a:latin typeface="Arial"/>
                  </a:rPr>
                  <a:t>: </a:t>
                </a:r>
                <a:r>
                  <a:rPr lang="en-IN" sz="2400">
                    <a:solidFill>
                      <a:srgbClr val="111827"/>
                    </a:solidFill>
                    <a:latin typeface="Cambria Math" panose="02040503050406030204" pitchFamily="18" charset="0"/>
                  </a:rPr>
                  <a:t>$k=27$</a:t>
                </a:r>
                <a:r>
                  <a:rPr sz="2400" b="0">
                    <a:solidFill>
                      <a:srgbClr val="111827"/>
                    </a:solidFill>
                    <a:latin typeface="Arial"/>
                  </a:rPr>
                  <a:t>, so </a:t>
                </a:r>
                <a:r>
                  <a:rPr lang="en-IN" sz="2400">
                    <a:solidFill>
                      <a:srgbClr val="111827"/>
                    </a:solidFill>
                    <a:latin typeface="Cambria Math" panose="02040503050406030204" pitchFamily="18" charset="0"/>
                  </a:rPr>
                  <a:t>$\frac k9=3$</a:t>
                </a:r>
                <a:r>
                  <a:rPr sz="2400" b="0">
                    <a:solidFill>
                      <a:srgbClr val="111827"/>
                    </a:solidFill>
                    <a:latin typeface="Arial"/>
                  </a:rPr>
                  <a:t>: (c)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Tetrahedron volume </a:t>
                </a:r>
                <a:r>
                  <a:rPr lang="en-IN" sz="2400">
                    <a:solidFill>
                      <a:srgbClr val="111827"/>
                    </a:solidFill>
                    <a:latin typeface="Cambria Math" panose="02040503050406030204" pitchFamily="18" charset="0"/>
                  </a:rPr>
                  <a:t>$\frac16|[\vec a\ \vec b\ \vec c]|=1$</a:t>
                </a:r>
                <a:r>
                  <a:rPr sz="2400" b="0">
                    <a:solidFill>
                      <a:srgbClr val="111827"/>
                    </a:solidFill>
                    <a:latin typeface="Arial"/>
                  </a:rPr>
                  <a:t>; </a:t>
                </a:r>
                <a:r>
                  <a:rPr lang="en-IN" sz="2400">
                    <a:solidFill>
                      <a:srgbClr val="111827"/>
                    </a:solidFill>
                    <a:latin typeface="Cambria Math" panose="02040503050406030204" pitchFamily="18" charset="0"/>
                  </a:rPr>
                  <a:t>$\vec c\perp\vec a,\vec b$</a:t>
                </a:r>
                <a:r>
                  <a:rPr sz="2400" b="0">
                    <a:solidFill>
                      <a:srgbClr val="111827"/>
                    </a:solidFill>
                    <a:latin typeface="Arial"/>
                  </a:rPr>
                  <a:t> gives </a:t>
                </a:r>
                <a:r>
                  <a:rPr lang="en-IN" sz="2400">
                    <a:solidFill>
                      <a:srgbClr val="111827"/>
                    </a:solidFill>
                    <a:latin typeface="Cambria Math" panose="02040503050406030204" pitchFamily="18" charset="0"/>
                  </a:rPr>
                  <a:t>$|[\vec a\ \vec b\ \vec c]|=|\vec a\times\vec b||\vec c|=\sqrt3\cdot2\sin\theta\cdot\sqrt6=6\sqrt2\sin\theta$</a:t>
                </a:r>
                <a:r>
                  <a:rPr sz="2400" b="0">
                    <a:solidFill>
                      <a:srgbClr val="111827"/>
                    </a:solidFill>
                    <a:latin typeface="Arial"/>
                  </a:rPr>
                  <a:t>, so </a:t>
                </a:r>
                <a:r>
                  <a:rPr lang="en-IN" sz="2400">
                    <a:solidFill>
                      <a:srgbClr val="111827"/>
                    </a:solidFill>
                    <a:latin typeface="Cambria Math" panose="02040503050406030204" pitchFamily="18" charset="0"/>
                  </a:rPr>
                  <a:t>$\sin\theta=\frac1{\sqrt2}$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a\cdot\vec b&lt;0\Rightarrow\cos\theta&lt;0\Rightarrow\theta=\frac{3\pi}{4}$</a:t>
                </a:r>
                <a:r>
                  <a:rPr sz="2400" b="0">
                    <a:solidFill>
                      <a:srgbClr val="111827"/>
                    </a:solidFill>
                    <a:latin typeface="Arial"/>
                  </a:rPr>
                  <a:t>, </a:t>
                </a:r>
                <a:r>
                  <a:rPr lang="en-IN" sz="2400">
                    <a:solidFill>
                      <a:srgbClr val="111827"/>
                    </a:solidFill>
                    <a:latin typeface="Cambria Math" panose="02040503050406030204" pitchFamily="18" charset="0"/>
                  </a:rPr>
                  <a:t>$p=3,\ q=4$</a:t>
                </a:r>
                <a:r>
                  <a:rPr sz="2400" b="0">
                    <a:solidFill>
                      <a:srgbClr val="111827"/>
                    </a:solidFill>
                    <a:latin typeface="Arial"/>
                  </a:rPr>
                  <a:t>, </a:t>
                </a:r>
                <a:r>
                  <a:rPr lang="en-IN" sz="2400">
                    <a:solidFill>
                      <a:srgbClr val="111827"/>
                    </a:solidFill>
                    <a:latin typeface="Cambria Math" panose="02040503050406030204" pitchFamily="18" charset="0"/>
                  </a:rPr>
                  <a:t>$p+q=7$</a:t>
                </a:r>
                <a:r>
                  <a:rPr sz="2400" b="0">
                    <a:solidFill>
                      <a:srgbClr val="111827"/>
                    </a:solidFill>
                    <a:latin typeface="Arial"/>
                  </a:rPr>
                  <a:t>: (d) matches (s). Option (A).</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(a)→(p); (b)→(q); (c)→(r); (d)→(s)</a:t>
            </a:r>
            <a:endParaRPr sz="2800">
              <a:solidFill>
                <a:srgbClr val="15803D"/>
              </a:solidFill>
            </a:endParaRPr>
          </a:p>
        </p:txBody>
      </p:sp>
    </p:spTree>
  </p:cSld>
  <p:clrMapOvr>
    <a:masterClrMapping/>
  </p:clrMapOvr>
</p:sld>
</file>

<file path=ppt/slides/slide4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similarity: the tetrahedron of face centroids is similar to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r>
                      <a:rPr lang="en-IN" sz="2400" i="1">
                        <a:solidFill>
                          <a:srgbClr val="78350F"/>
                        </a:solidFill>
                        <a:latin typeface="Cambria Math" panose="02040503050406030204" pitchFamily="18" charset="0"/>
                      </a:rPr>
                      <m:t>𝐶</m:t>
                    </m:r>
                    <m:r>
                      <a:rPr lang="en-IN" sz="2400" i="1">
                        <a:solidFill>
                          <a:srgbClr val="78350F"/>
                        </a:solidFill>
                        <a:latin typeface="Cambria Math" panose="02040503050406030204" pitchFamily="18" charset="0"/>
                      </a:rPr>
                      <m:t>𝐷</m:t>
                    </m:r>
                  </m:oMath>
                </a14:m>
                <a:r>
                  <a:rPr sz="2400" b="0">
                    <a:solidFill>
                      <a:srgbClr val="78350F"/>
                    </a:solidFill>
                    <a:latin typeface="Arial"/>
                  </a:rPr>
                  <a:t> with ratio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3</m:t>
                        </m:r>
                      </m:den>
                    </m:f>
                  </m:oMath>
                </a14:m>
                <a:r>
                  <a:rPr sz="2400" b="0">
                    <a:solidFill>
                      <a:srgbClr val="78350F"/>
                    </a:solidFill>
                    <a:latin typeface="Arial"/>
                  </a:rPr>
                  <a:t>, so its volume is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27</m:t>
                        </m:r>
                      </m:den>
                    </m:f>
                    <m:r>
                      <a:rPr lang="en-IN" sz="2400" i="1">
                        <a:solidFill>
                          <a:srgbClr val="78350F"/>
                        </a:solidFill>
                        <a:latin typeface="Cambria Math" panose="02040503050406030204" pitchFamily="18" charset="0"/>
                      </a:rPr>
                      <m:t>𝑇</m:t>
                    </m:r>
                  </m:oMath>
                </a14:m>
                <a:r>
                  <a:rPr sz="2400" b="0">
                    <a:solidFill>
                      <a:srgbClr val="78350F"/>
                    </a:solidFill>
                    <a:latin typeface="Arial"/>
                  </a:rPr>
                  <a:t>, and the parallelepiped on three of its edges has </a:t>
                </a:r>
                <a14:m>
                  <m:oMath xmlns:m="http://schemas.openxmlformats.org/officeDocument/2006/math">
                    <m:r>
                      <a:rPr lang="en-IN" sz="2400" i="1">
                        <a:solidFill>
                          <a:srgbClr val="78350F"/>
                        </a:solidFill>
                        <a:latin typeface="Cambria Math" panose="02040503050406030204" pitchFamily="18" charset="0"/>
                      </a:rPr>
                      <m:t>6</m:t>
                    </m:r>
                  </m:oMath>
                </a14:m>
                <a:r>
                  <a:rPr sz="2400" b="0">
                    <a:solidFill>
                      <a:srgbClr val="78350F"/>
                    </a:solidFill>
                    <a:latin typeface="Arial"/>
                  </a:rPr>
                  <a:t> times that volume.</a:t>
                </a:r>
                <a:endParaRPr sz="2400">
                  <a:solidFill>
                    <a:srgbClr val="78350F"/>
                  </a:solidFill>
                </a:endParaRPr>
              </a:p>
            </p:txBody>
          </p:sp>
        </mc:Choice>
        <mc:Fallback>
          <p:sp>
            <p:nvSpPr>
              <p:cNvPr id="5" name="Rounded Rectangle 4"/>
              <p:cNvSpPr/>
              <p:nvPr/>
            </p:nvSpPr>
            <p:spPr>
              <a:xfrm>
                <a:off x="731520" y="1280160"/>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similarity: the tetrahedron of face centroids is similar to </a:t>
                </a:r>
                <a:r>
                  <a:rPr lang="en-IN" sz="2400">
                    <a:solidFill>
                      <a:srgbClr val="78350F"/>
                    </a:solidFill>
                    <a:latin typeface="Cambria Math" panose="02040503050406030204" pitchFamily="18" charset="0"/>
                  </a:rPr>
                  <a:t>$ABCD$</a:t>
                </a:r>
                <a:r>
                  <a:rPr sz="2400" b="0">
                    <a:solidFill>
                      <a:srgbClr val="78350F"/>
                    </a:solidFill>
                    <a:latin typeface="Arial"/>
                  </a:rPr>
                  <a:t> with ratio </a:t>
                </a:r>
                <a:r>
                  <a:rPr lang="en-IN" sz="2400">
                    <a:solidFill>
                      <a:srgbClr val="78350F"/>
                    </a:solidFill>
                    <a:latin typeface="Cambria Math" panose="02040503050406030204" pitchFamily="18" charset="0"/>
                  </a:rPr>
                  <a:t>$\frac13$</a:t>
                </a:r>
                <a:r>
                  <a:rPr sz="2400" b="0">
                    <a:solidFill>
                      <a:srgbClr val="78350F"/>
                    </a:solidFill>
                    <a:latin typeface="Arial"/>
                  </a:rPr>
                  <a:t>, so its volume is </a:t>
                </a:r>
                <a:r>
                  <a:rPr lang="en-IN" sz="2400">
                    <a:solidFill>
                      <a:srgbClr val="78350F"/>
                    </a:solidFill>
                    <a:latin typeface="Cambria Math" panose="02040503050406030204" pitchFamily="18" charset="0"/>
                  </a:rPr>
                  <a:t>$\frac1{27}T$</a:t>
                </a:r>
                <a:r>
                  <a:rPr sz="2400" b="0">
                    <a:solidFill>
                      <a:srgbClr val="78350F"/>
                    </a:solidFill>
                    <a:latin typeface="Arial"/>
                  </a:rPr>
                  <a:t>, and the parallelepiped on three of its edges has </a:t>
                </a:r>
                <a:r>
                  <a:rPr lang="en-IN" sz="2400">
                    <a:solidFill>
                      <a:srgbClr val="78350F"/>
                    </a:solidFill>
                    <a:latin typeface="Cambria Math" panose="02040503050406030204" pitchFamily="18" charset="0"/>
                  </a:rPr>
                  <a:t>$6$</a:t>
                </a:r>
                <a:r>
                  <a:rPr sz="2400" b="0">
                    <a:solidFill>
                      <a:srgbClr val="78350F"/>
                    </a:solidFill>
                    <a:latin typeface="Arial"/>
                  </a:rPr>
                  <a:t> times that volume.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118103"/>
                <a:ext cx="10725912" cy="35570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four face centroids form a tetrahedron homothetic to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with ratio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(centre at the centroid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so its volume is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e>
                        </m:d>
                      </m:e>
                      <m:sup>
                        <m:r>
                          <a:rPr lang="en-IN" sz="2400" i="1">
                            <a:solidFill>
                              <a:srgbClr val="111827"/>
                            </a:solidFill>
                            <a:latin typeface="Cambria Math" panose="02040503050406030204" pitchFamily="18" charset="0"/>
                          </a:rPr>
                          <m:t>3</m:t>
                        </m:r>
                      </m:sup>
                    </m:sSup>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𝑇</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parallelepiped on three edges from one vertex has six times the volume of the tetrahedron: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𝑇</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𝑇</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(matches (p)).</a:t>
                </a:r>
                <a:endParaRPr sz="2400">
                  <a:solidFill>
                    <a:srgbClr val="111827"/>
                  </a:solidFill>
                </a:endParaRPr>
              </a:p>
            </p:txBody>
          </p:sp>
        </mc:Choice>
        <mc:Fallback>
          <p:sp>
            <p:nvSpPr>
              <p:cNvPr id="6" name="Rectangle 5"/>
              <p:cNvSpPr/>
              <p:nvPr/>
            </p:nvSpPr>
            <p:spPr>
              <a:xfrm>
                <a:off x="731520" y="3118103"/>
                <a:ext cx="10725912" cy="35570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four face centroids form a tetrahedron homothetic to </a:t>
                </a:r>
                <a:r>
                  <a:rPr lang="en-IN" sz="2400">
                    <a:solidFill>
                      <a:srgbClr val="111827"/>
                    </a:solidFill>
                    <a:latin typeface="Cambria Math" panose="02040503050406030204" pitchFamily="18" charset="0"/>
                  </a:rPr>
                  <a:t>$ABCD$</a:t>
                </a:r>
                <a:r>
                  <a:rPr sz="2400" b="0">
                    <a:solidFill>
                      <a:srgbClr val="111827"/>
                    </a:solidFill>
                    <a:latin typeface="Arial"/>
                  </a:rPr>
                  <a:t> with ratio </a:t>
                </a:r>
                <a:r>
                  <a:rPr lang="en-IN" sz="2400">
                    <a:solidFill>
                      <a:srgbClr val="111827"/>
                    </a:solidFill>
                    <a:latin typeface="Cambria Math" panose="02040503050406030204" pitchFamily="18" charset="0"/>
                  </a:rPr>
                  <a:t>$-\frac13$</a:t>
                </a:r>
                <a:r>
                  <a:rPr sz="2400" b="0">
                    <a:solidFill>
                      <a:srgbClr val="111827"/>
                    </a:solidFill>
                    <a:latin typeface="Arial"/>
                  </a:rPr>
                  <a:t> (centre at the centroid of </a:t>
                </a:r>
                <a:r>
                  <a:rPr lang="en-IN" sz="2400">
                    <a:solidFill>
                      <a:srgbClr val="111827"/>
                    </a:solidFill>
                    <a:latin typeface="Cambria Math" panose="02040503050406030204" pitchFamily="18" charset="0"/>
                  </a:rPr>
                  <a:t>$ABCD$</a:t>
                </a:r>
                <a:r>
                  <a:rPr sz="2400" b="0">
                    <a:solidFill>
                      <a:srgbClr val="111827"/>
                    </a:solidFill>
                    <a:latin typeface="Arial"/>
                  </a:rPr>
                  <a:t>), so its volume is </a:t>
                </a:r>
                <a:r>
                  <a:rPr lang="en-IN" sz="2400">
                    <a:solidFill>
                      <a:srgbClr val="111827"/>
                    </a:solidFill>
                    <a:latin typeface="Cambria Math" panose="02040503050406030204" pitchFamily="18" charset="0"/>
                  </a:rPr>
                  <a:t>$\left(\frac13\right)^3T=\frac{T}{27}$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parallelepiped on three edges from one vertex has six times the volume of the tetrahedron: </a:t>
                </a:r>
                <a:r>
                  <a:rPr lang="en-IN" sz="2400">
                    <a:solidFill>
                      <a:srgbClr val="111827"/>
                    </a:solidFill>
                    <a:latin typeface="Cambria Math" panose="02040503050406030204" pitchFamily="18" charset="0"/>
                  </a:rPr>
                  <a:t>$V=6\cdot\frac{T}{27}=\frac{2T}{9}=\frac29\cdot\frac{81}{2}=9$</a:t>
                </a:r>
                <a:r>
                  <a:rPr sz="2400" b="0">
                    <a:solidFill>
                      <a:srgbClr val="111827"/>
                    </a:solidFill>
                    <a:latin typeface="Arial"/>
                  </a:rPr>
                  <a:t> (matches (p)).</a:t>
                </a:r>
                <a:endParaRPr sz="2400">
                  <a:solidFill>
                    <a:srgbClr val="111827"/>
                  </a:solidFill>
                </a:endParaRPr>
              </a:p>
            </p:txBody>
          </p:sp>
        </mc:Fallback>
      </mc:AlternateContent>
    </p:spTree>
  </p:cSld>
  <p:clrMapOvr>
    <a:masterClrMapping/>
  </p:clrMapOvr>
</p:sld>
</file>

<file path=ppt/slides/slide4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Options with (a)→(p) are (A), (C), (D); evaluating (b)</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(q) leaves (A) and (D); evaluating (c)</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(r) leaves (A) alone.</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Options with (a)→(p) are (A), (C), (D); evaluating (b)</a:t>
                </a:r>
                <a:r>
                  <a:rPr lang="en-IN" sz="2400">
                    <a:solidFill>
                      <a:srgbClr val="111827"/>
                    </a:solidFill>
                    <a:latin typeface="Cambria Math" panose="02040503050406030204" pitchFamily="18" charset="0"/>
                  </a:rPr>
                  <a:t>$=8$</a:t>
                </a:r>
                <a:r>
                  <a:rPr sz="2400" b="0">
                    <a:solidFill>
                      <a:srgbClr val="111827"/>
                    </a:solidFill>
                    <a:latin typeface="Arial"/>
                  </a:rPr>
                  <a:t> (q) leaves (A) and (D); evaluating (c)</a:t>
                </a:r>
                <a:r>
                  <a:rPr lang="en-IN" sz="2400">
                    <a:solidFill>
                      <a:srgbClr val="111827"/>
                    </a:solidFill>
                    <a:latin typeface="Cambria Math" panose="02040503050406030204" pitchFamily="18" charset="0"/>
                  </a:rPr>
                  <a:t>$=3$</a:t>
                </a:r>
                <a:r>
                  <a:rPr sz="2400" b="0">
                    <a:solidFill>
                      <a:srgbClr val="111827"/>
                    </a:solidFill>
                    <a:latin typeface="Arial"/>
                  </a:rPr>
                  <a:t> (r) leaves (A) alone.</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(a)→(p); (b)→(q); (c)→(r); (d)→(s)</a:t>
            </a:r>
            <a:endParaRPr sz="2800">
              <a:solidFill>
                <a:srgbClr val="15803D"/>
              </a:solidFill>
            </a:endParaRPr>
          </a:p>
        </p:txBody>
      </p:sp>
    </p:spTree>
  </p:cSld>
  <p:clrMapOvr>
    <a:masterClrMapping/>
  </p:clrMapOvr>
</p:sld>
</file>

<file path=ppt/slides/slide4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tetrahedron whose vertices are the centroids of the four faces is similar to the original with ratio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(volume ratio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of the parallelepiped on three edges equals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volume of the tetrahedron on the same three edges.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of points at distance </a:t>
                </a:r>
                <a14:m>
                  <m:oMath xmlns:m="http://schemas.openxmlformats.org/officeDocument/2006/math">
                    <m:r>
                      <a:rPr lang="en-IN" sz="2400" i="1">
                        <a:solidFill>
                          <a:srgbClr val="111827"/>
                        </a:solidFill>
                        <a:latin typeface="Cambria Math" panose="02040503050406030204" pitchFamily="18" charset="0"/>
                      </a:rPr>
                      <m:t>ρ</m:t>
                    </m:r>
                  </m:oMath>
                </a14:m>
                <a:r>
                  <a:rPr sz="2400" b="0">
                    <a:solidFill>
                      <a:srgbClr val="111827"/>
                    </a:solidFill>
                    <a:latin typeface="Arial"/>
                  </a:rPr>
                  <a:t> from the line through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with direction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ρ</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𝑑</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this is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ρ</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tetrahedron whose vertices are the centroids of the four faces is similar to the original with ratio </a:t>
                </a:r>
                <a:r>
                  <a:rPr lang="en-IN" sz="2400">
                    <a:solidFill>
                      <a:srgbClr val="111827"/>
                    </a:solidFill>
                    <a:latin typeface="Cambria Math" panose="02040503050406030204" pitchFamily="18" charset="0"/>
                  </a:rPr>
                  <a:t>$\frac13$</a:t>
                </a:r>
                <a:r>
                  <a:rPr sz="2400" b="0">
                    <a:solidFill>
                      <a:srgbClr val="111827"/>
                    </a:solidFill>
                    <a:latin typeface="Arial"/>
                  </a:rPr>
                  <a:t> (volume ratio </a:t>
                </a:r>
                <a:r>
                  <a:rPr lang="en-IN" sz="2400">
                    <a:solidFill>
                      <a:srgbClr val="111827"/>
                    </a:solidFill>
                    <a:latin typeface="Cambria Math" panose="02040503050406030204" pitchFamily="18" charset="0"/>
                  </a:rPr>
                  <a:t>$\frac1{27}$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Volume of the parallelepiped on three edges equals </a:t>
                </a:r>
                <a:r>
                  <a:rPr lang="en-IN" sz="2400">
                    <a:solidFill>
                      <a:srgbClr val="111827"/>
                    </a:solidFill>
                    <a:latin typeface="Cambria Math" panose="02040503050406030204" pitchFamily="18" charset="0"/>
                  </a:rPr>
                  <a:t>$6\times$</a:t>
                </a:r>
                <a:r>
                  <a:rPr sz="2400" b="0">
                    <a:solidFill>
                      <a:srgbClr val="111827"/>
                    </a:solidFill>
                    <a:latin typeface="Arial"/>
                  </a:rPr>
                  <a:t> the volume of the tetrahedron on the same three edges.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Locus of points at distance </a:t>
                </a:r>
                <a:r>
                  <a:rPr lang="en-IN" sz="2400">
                    <a:solidFill>
                      <a:srgbClr val="111827"/>
                    </a:solidFill>
                    <a:latin typeface="Cambria Math" panose="02040503050406030204" pitchFamily="18" charset="0"/>
                  </a:rPr>
                  <a:t>$\rho$</a:t>
                </a:r>
                <a:r>
                  <a:rPr sz="2400" b="0">
                    <a:solidFill>
                      <a:srgbClr val="111827"/>
                    </a:solidFill>
                    <a:latin typeface="Arial"/>
                  </a:rPr>
                  <a:t> from the line through </a:t>
                </a:r>
                <a:r>
                  <a:rPr lang="en-IN" sz="2400">
                    <a:solidFill>
                      <a:srgbClr val="111827"/>
                    </a:solidFill>
                    <a:latin typeface="Cambria Math" panose="02040503050406030204" pitchFamily="18" charset="0"/>
                  </a:rPr>
                  <a:t>$O$</a:t>
                </a:r>
                <a:r>
                  <a:rPr sz="2400" b="0">
                    <a:solidFill>
                      <a:srgbClr val="111827"/>
                    </a:solidFill>
                    <a:latin typeface="Arial"/>
                  </a:rPr>
                  <a:t> with direction </a:t>
                </a:r>
                <a:r>
                  <a:rPr lang="en-IN" sz="2400">
                    <a:solidFill>
                      <a:srgbClr val="111827"/>
                    </a:solidFill>
                    <a:latin typeface="Cambria Math" panose="02040503050406030204" pitchFamily="18" charset="0"/>
                  </a:rPr>
                  <a:t>$\vec d$</a:t>
                </a:r>
                <a:r>
                  <a:rPr sz="2400" b="0">
                    <a:solidFill>
                      <a:srgbClr val="111827"/>
                    </a:solidFill>
                    <a:latin typeface="Arial"/>
                  </a:rPr>
                  <a:t>: </a:t>
                </a:r>
                <a:r>
                  <a:rPr lang="en-IN" sz="2400">
                    <a:solidFill>
                      <a:srgbClr val="111827"/>
                    </a:solidFill>
                    <a:latin typeface="Cambria Math" panose="02040503050406030204" pitchFamily="18" charset="0"/>
                  </a:rPr>
                  <a:t>$|\vec r|^2|\vec d|^2-(\vec r\cdot\vec d)^2=\rho^2|\vec d|^2$</a:t>
                </a:r>
                <a:r>
                  <a:rPr sz="2400" b="0">
                    <a:solidFill>
                      <a:srgbClr val="111827"/>
                    </a:solidFill>
                    <a:latin typeface="Arial"/>
                  </a:rPr>
                  <a:t>; for </a:t>
                </a:r>
                <a:r>
                  <a:rPr lang="en-IN" sz="2400">
                    <a:solidFill>
                      <a:srgbClr val="111827"/>
                    </a:solidFill>
                    <a:latin typeface="Cambria Math" panose="02040503050406030204" pitchFamily="18" charset="0"/>
                  </a:rPr>
                  <a:t>$\vec d=(1,1,1)$</a:t>
                </a:r>
                <a:r>
                  <a:rPr sz="2400" b="0">
                    <a:solidFill>
                      <a:srgbClr val="111827"/>
                    </a:solidFill>
                    <a:latin typeface="Arial"/>
                  </a:rPr>
                  <a:t> this is </a:t>
                </a:r>
                <a:r>
                  <a:rPr lang="en-IN" sz="2400">
                    <a:solidFill>
                      <a:srgbClr val="111827"/>
                    </a:solidFill>
                    <a:latin typeface="Cambria Math" panose="02040503050406030204" pitchFamily="18" charset="0"/>
                  </a:rPr>
                  <a:t>$x^2+y^2+z^2-xy-yz-zx=\frac{3\rho^2}{2}$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$\vec c\perp\vec a,\vec b$</a:t>
                </a:r>
                <a:r>
                  <a:rPr sz="2400" b="0">
                    <a:solidFill>
                      <a:srgbClr val="111827"/>
                    </a:solidFill>
                    <a:latin typeface="Arial"/>
                  </a:rPr>
                  <a:t> then </a:t>
                </a:r>
                <a:r>
                  <a:rPr lang="en-IN" sz="2400">
                    <a:solidFill>
                      <a:srgbClr val="111827"/>
                    </a:solidFill>
                    <a:latin typeface="Cambria Math" panose="02040503050406030204" pitchFamily="18" charset="0"/>
                  </a:rPr>
                  <a:t>$|[\vec a\ \vec b\ \vec c]|=|\vec a\times\vec b||\vec 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If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𝑖</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𝑗</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𝑘</m:t>
                        </m:r>
                      </m:e>
                    </m:acc>
                  </m:oMath>
                </a14:m>
                <a:r>
                  <a:rPr sz="2000" b="0">
                    <a:solidFill>
                      <a:srgbClr val="111827"/>
                    </a:solidFill>
                    <a:latin typeface="Arial"/>
                  </a:rPr>
                  <a:t>,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𝑖</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𝑗</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𝑘</m:t>
                        </m:r>
                      </m:e>
                    </m:acc>
                  </m:oMath>
                </a14:m>
                <a:r>
                  <a:rPr sz="2000" b="0">
                    <a:solidFill>
                      <a:srgbClr val="111827"/>
                    </a:solidFill>
                    <a:latin typeface="Arial"/>
                  </a:rPr>
                  <a:t>,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𝑖</m:t>
                        </m:r>
                      </m:e>
                    </m:acc>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𝑗</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𝑘</m:t>
                        </m:r>
                      </m:e>
                    </m:acc>
                  </m:oMath>
                </a14:m>
                <a:r>
                  <a:rPr sz="2000" b="0">
                    <a:solidFill>
                      <a:srgbClr val="111827"/>
                    </a:solidFill>
                    <a:latin typeface="Arial"/>
                  </a:rPr>
                  <a:t>, then the value of </a:t>
                </a:r>
                <a14:m>
                  <m:oMath xmlns:m="http://schemas.openxmlformats.org/officeDocument/2006/math">
                    <m:d>
                      <m:dPr>
                        <m:begChr m:val="|"/>
                        <m:sepChr m:val=""/>
                        <m:endChr m:val="|"/>
                        <m:grow/>
                        <m:ctrlPr>
                          <a:rPr lang="en-IN" sz="20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000" i="1">
                                <a:solidFill>
                                  <a:srgbClr val="111827"/>
                                </a:solidFill>
                                <a:latin typeface="Cambria Math" panose="02040503050406030204" pitchFamily="18" charset="0"/>
                              </a:rPr>
                            </m:ctrlPr>
                          </m:mPr>
                          <m:mr>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e>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e>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e>
                          </m:mr>
                          <m:mr>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e>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e>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e>
                          </m:mr>
                          <m:mr>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𝑎</m:t>
                                  </m:r>
                                </m:e>
                              </m:acc>
                            </m:e>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𝑏</m:t>
                                  </m:r>
                                </m:e>
                              </m:acc>
                            </m:e>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𝑐</m:t>
                                  </m:r>
                                </m:e>
                              </m:acc>
                            </m:e>
                          </m:mr>
                        </m:m>
                      </m:e>
                    </m:d>
                  </m:oMath>
                </a14:m>
                <a:r>
                  <a:rPr sz="2000" b="0">
                    <a:solidFill>
                      <a:srgbClr val="111827"/>
                    </a:solidFill>
                    <a:latin typeface="Arial"/>
                  </a:rPr>
                  <a:t>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If points </a:t>
                </a:r>
                <a14:m>
                  <m:oMath xmlns:m="http://schemas.openxmlformats.org/officeDocument/2006/math">
                    <m:r>
                      <a:rPr lang="en-IN" sz="2000" i="1">
                        <a:solidFill>
                          <a:srgbClr val="111827"/>
                        </a:solidFill>
                        <a:latin typeface="Cambria Math" panose="02040503050406030204" pitchFamily="18" charset="0"/>
                      </a:rPr>
                      <m:t>𝑃</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𝑄</m:t>
                    </m:r>
                  </m:oMath>
                </a14:m>
                <a:r>
                  <a:rPr sz="2000" b="0">
                    <a:solidFill>
                      <a:srgbClr val="111827"/>
                    </a:solidFill>
                    <a:latin typeface="Arial"/>
                  </a:rPr>
                  <a:t> and </a:t>
                </a:r>
                <a14:m>
                  <m:oMath xmlns:m="http://schemas.openxmlformats.org/officeDocument/2006/math">
                    <m:r>
                      <a:rPr lang="en-IN" sz="2000" i="1">
                        <a:solidFill>
                          <a:srgbClr val="111827"/>
                        </a:solidFill>
                        <a:latin typeface="Cambria Math" panose="02040503050406030204" pitchFamily="18" charset="0"/>
                      </a:rPr>
                      <m:t>𝑅</m:t>
                    </m:r>
                  </m:oMath>
                </a14:m>
                <a:r>
                  <a:rPr sz="2000" b="0">
                    <a:solidFill>
                      <a:srgbClr val="111827"/>
                    </a:solidFill>
                    <a:latin typeface="Arial"/>
                  </a:rPr>
                  <a:t> have position vectors, </a:t>
                </a:r>
                <a14:m>
                  <m:oMath xmlns:m="http://schemas.openxmlformats.org/officeDocument/2006/math">
                    <m:sSub>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𝑟</m:t>
                            </m:r>
                          </m:e>
                        </m:acc>
                      </m:e>
                      <m:sub>
                        <m:r>
                          <a:rPr lang="en-IN" sz="2000" i="1">
                            <a:solidFill>
                              <a:srgbClr val="111827"/>
                            </a:solidFill>
                            <a:latin typeface="Cambria Math" panose="02040503050406030204" pitchFamily="18" charset="0"/>
                          </a:rPr>
                          <m:t>1</m:t>
                        </m:r>
                      </m:sub>
                    </m:sSub>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3</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𝑖</m:t>
                        </m:r>
                      </m:e>
                    </m:acc>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𝑗</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𝑘</m:t>
                        </m:r>
                      </m:e>
                    </m:acc>
                  </m:oMath>
                </a14:m>
                <a:r>
                  <a:rPr sz="2000" b="0">
                    <a:solidFill>
                      <a:srgbClr val="111827"/>
                    </a:solidFill>
                    <a:latin typeface="Arial"/>
                  </a:rPr>
                  <a:t>, </a:t>
                </a:r>
                <a14:m>
                  <m:oMath xmlns:m="http://schemas.openxmlformats.org/officeDocument/2006/math">
                    <m:sSub>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𝑟</m:t>
                            </m:r>
                          </m:e>
                        </m:acc>
                      </m:e>
                      <m:sub>
                        <m:r>
                          <a:rPr lang="en-IN" sz="2000" i="1">
                            <a:solidFill>
                              <a:srgbClr val="111827"/>
                            </a:solidFill>
                            <a:latin typeface="Cambria Math" panose="02040503050406030204" pitchFamily="18" charset="0"/>
                          </a:rPr>
                          <m:t>2</m:t>
                        </m:r>
                      </m:sub>
                    </m:sSub>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𝑖</m:t>
                        </m:r>
                      </m:e>
                    </m:acc>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3</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𝑗</m:t>
                        </m:r>
                      </m:e>
                    </m:acc>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4</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𝑘</m:t>
                        </m:r>
                      </m:e>
                    </m:acc>
                  </m:oMath>
                </a14:m>
                <a:r>
                  <a:rPr sz="2000" b="0">
                    <a:solidFill>
                      <a:srgbClr val="111827"/>
                    </a:solidFill>
                    <a:latin typeface="Arial"/>
                  </a:rPr>
                  <a:t> and </a:t>
                </a:r>
                <a14:m>
                  <m:oMath xmlns:m="http://schemas.openxmlformats.org/officeDocument/2006/math">
                    <m:sSub>
                      <m:e>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𝑟</m:t>
                            </m:r>
                          </m:e>
                        </m:acc>
                      </m:e>
                      <m:sub>
                        <m:r>
                          <a:rPr lang="en-IN" sz="2000" i="1">
                            <a:solidFill>
                              <a:srgbClr val="111827"/>
                            </a:solidFill>
                            <a:latin typeface="Cambria Math" panose="02040503050406030204" pitchFamily="18" charset="0"/>
                          </a:rPr>
                          <m:t>3</m:t>
                        </m:r>
                      </m:sub>
                    </m:sSub>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𝑖</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𝑗</m:t>
                        </m:r>
                      </m:e>
                    </m:acc>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𝑘</m:t>
                        </m:r>
                      </m:e>
                    </m:acc>
                  </m:oMath>
                </a14:m>
                <a:r>
                  <a:rPr sz="2000" b="0">
                    <a:solidFill>
                      <a:srgbClr val="111827"/>
                    </a:solidFill>
                    <a:latin typeface="Arial"/>
                  </a:rPr>
                  <a:t> respectively, relative to an origin </a:t>
                </a:r>
                <a14:m>
                  <m:oMath xmlns:m="http://schemas.openxmlformats.org/officeDocument/2006/math">
                    <m:r>
                      <a:rPr lang="en-IN" sz="2000" i="1">
                        <a:solidFill>
                          <a:srgbClr val="111827"/>
                        </a:solidFill>
                        <a:latin typeface="Cambria Math" panose="02040503050406030204" pitchFamily="18" charset="0"/>
                      </a:rPr>
                      <m:t>𝑂</m:t>
                    </m:r>
                  </m:oMath>
                </a14:m>
                <a:r>
                  <a:rPr sz="2000" b="0">
                    <a:solidFill>
                      <a:srgbClr val="111827"/>
                    </a:solidFill>
                    <a:latin typeface="Arial"/>
                  </a:rPr>
                  <a:t>, then distance of </a:t>
                </a:r>
                <a14:m>
                  <m:oMath xmlns:m="http://schemas.openxmlformats.org/officeDocument/2006/math">
                    <m:r>
                      <a:rPr lang="en-IN" sz="2000" i="1">
                        <a:solidFill>
                          <a:srgbClr val="111827"/>
                        </a:solidFill>
                        <a:latin typeface="Cambria Math" panose="02040503050406030204" pitchFamily="18" charset="0"/>
                      </a:rPr>
                      <m:t>𝑃</m:t>
                    </m:r>
                  </m:oMath>
                </a14:m>
                <a:r>
                  <a:rPr sz="2000" b="0">
                    <a:solidFill>
                      <a:srgbClr val="111827"/>
                    </a:solidFill>
                    <a:latin typeface="Arial"/>
                  </a:rPr>
                  <a:t> from the plane </a:t>
                </a:r>
                <a14:m>
                  <m:oMath xmlns:m="http://schemas.openxmlformats.org/officeDocument/2006/math">
                    <m:r>
                      <a:rPr lang="en-IN" sz="2000" i="1">
                        <a:solidFill>
                          <a:srgbClr val="111827"/>
                        </a:solidFill>
                        <a:latin typeface="Cambria Math" panose="02040503050406030204" pitchFamily="18" charset="0"/>
                      </a:rPr>
                      <m:t>𝑂</m:t>
                    </m:r>
                    <m:r>
                      <a:rPr lang="en-IN" sz="2000" i="1">
                        <a:solidFill>
                          <a:srgbClr val="111827"/>
                        </a:solidFill>
                        <a:latin typeface="Cambria Math" panose="02040503050406030204" pitchFamily="18" charset="0"/>
                      </a:rPr>
                      <m:t>𝑄</m:t>
                    </m:r>
                    <m:r>
                      <a:rPr lang="en-IN" sz="2000" i="1">
                        <a:solidFill>
                          <a:srgbClr val="111827"/>
                        </a:solidFill>
                        <a:latin typeface="Cambria Math" panose="02040503050406030204" pitchFamily="18" charset="0"/>
                      </a:rPr>
                      <m:t>𝑅</m:t>
                    </m:r>
                  </m:oMath>
                </a14:m>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 line with direction ratios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intersects the lines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𝑟</m:t>
                        </m:r>
                      </m:e>
                    </m:acc>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𝑖</m:t>
                        </m:r>
                      </m:e>
                    </m:acc>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λ</m:t>
                    </m:r>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𝑖</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𝑗</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𝑘</m:t>
                        </m:r>
                      </m:e>
                    </m:acc>
                    <m:r>
                      <m:rPr>
                        <m:sty m:val="p"/>
                      </m:rPr>
                      <a:rPr lang="en-IN" sz="2000">
                        <a:solidFill>
                          <a:srgbClr val="111827"/>
                        </a:solidFill>
                        <a:latin typeface="Cambria Math" panose="02040503050406030204" pitchFamily="18" charset="0"/>
                      </a:rPr>
                      <m:t>)</m:t>
                    </m:r>
                  </m:oMath>
                </a14:m>
                <a:r>
                  <a:rPr sz="2000" b="0">
                    <a:solidFill>
                      <a:srgbClr val="111827"/>
                    </a:solidFill>
                    <a:latin typeface="Arial"/>
                  </a:rPr>
                  <a:t> and </a:t>
                </a:r>
                <a14:m>
                  <m:oMath xmlns:m="http://schemas.openxmlformats.org/officeDocument/2006/math">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𝑟</m:t>
                        </m:r>
                      </m:e>
                    </m:acc>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𝑖</m:t>
                        </m:r>
                      </m:e>
                    </m:acc>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λ</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𝑖</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𝑗</m:t>
                        </m:r>
                      </m:e>
                    </m:acc>
                    <m:r>
                      <m:rPr>
                        <m:sty m:val="p"/>
                      </m:rPr>
                      <a:rPr lang="en-IN" sz="2000">
                        <a:solidFill>
                          <a:srgbClr val="111827"/>
                        </a:solidFill>
                        <a:latin typeface="Cambria Math" panose="02040503050406030204" pitchFamily="18" charset="0"/>
                      </a:rPr>
                      <m:t>+</m:t>
                    </m:r>
                    <m:acc>
                      <m:accPr>
                        <m:chr m:val="̂"/>
                        <m:ctrlPr>
                          <a:rPr lang="en-IN" sz="2000" i="1">
                            <a:solidFill>
                              <a:srgbClr val="111827"/>
                            </a:solidFill>
                            <a:latin typeface="Cambria Math" panose="02040503050406030204" pitchFamily="18" charset="0"/>
                          </a:rPr>
                        </m:ctrlPr>
                      </m:accPr>
                      <m:e>
                        <m:r>
                          <a:rPr lang="en-IN" sz="2000" i="1">
                            <a:solidFill>
                              <a:srgbClr val="111827"/>
                            </a:solidFill>
                            <a:latin typeface="Cambria Math" panose="02040503050406030204" pitchFamily="18" charset="0"/>
                          </a:rPr>
                          <m:t>𝑘</m:t>
                        </m:r>
                      </m:e>
                    </m:acc>
                    <m:r>
                      <m:rPr>
                        <m:sty m:val="p"/>
                      </m:rPr>
                      <a:rPr lang="en-IN" sz="2000">
                        <a:solidFill>
                          <a:srgbClr val="111827"/>
                        </a:solidFill>
                        <a:latin typeface="Cambria Math" panose="02040503050406030204" pitchFamily="18" charset="0"/>
                      </a:rPr>
                      <m:t>)</m:t>
                    </m:r>
                  </m:oMath>
                </a14:m>
                <a:r>
                  <a:rPr sz="2000" b="0">
                    <a:solidFill>
                      <a:srgbClr val="111827"/>
                    </a:solidFill>
                    <a:latin typeface="Arial"/>
                  </a:rPr>
                  <a:t> at </a:t>
                </a:r>
                <a14:m>
                  <m:oMath xmlns:m="http://schemas.openxmlformats.org/officeDocument/2006/math">
                    <m:r>
                      <a:rPr lang="en-IN" sz="2000" i="1">
                        <a:solidFill>
                          <a:srgbClr val="111827"/>
                        </a:solidFill>
                        <a:latin typeface="Cambria Math" panose="02040503050406030204" pitchFamily="18" charset="0"/>
                      </a:rPr>
                      <m:t>𝐴</m:t>
                    </m:r>
                  </m:oMath>
                </a14:m>
                <a:r>
                  <a:rPr sz="2000" b="0">
                    <a:solidFill>
                      <a:srgbClr val="111827"/>
                    </a:solidFill>
                    <a:latin typeface="Arial"/>
                  </a:rPr>
                  <a:t> and </a:t>
                </a:r>
                <a14:m>
                  <m:oMath xmlns:m="http://schemas.openxmlformats.org/officeDocument/2006/math">
                    <m:r>
                      <a:rPr lang="en-IN" sz="2000" i="1">
                        <a:solidFill>
                          <a:srgbClr val="111827"/>
                        </a:solidFill>
                        <a:latin typeface="Cambria Math" panose="02040503050406030204" pitchFamily="18" charset="0"/>
                      </a:rPr>
                      <m:t>𝐵</m:t>
                    </m:r>
                  </m:oMath>
                </a14:m>
                <a:r>
                  <a:rPr sz="2000" b="0">
                    <a:solidFill>
                      <a:srgbClr val="111827"/>
                    </a:solidFill>
                    <a:latin typeface="Arial"/>
                  </a:rPr>
                  <a:t>, then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𝐴</m:t>
                    </m:r>
                    <m:r>
                      <a:rPr lang="en-IN" sz="2000" i="1">
                        <a:solidFill>
                          <a:srgbClr val="111827"/>
                        </a:solidFill>
                        <a:latin typeface="Cambria Math" panose="02040503050406030204" pitchFamily="18" charset="0"/>
                      </a:rPr>
                      <m:t>𝐵</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In a regular tetrahedron, the centres of the four faces are the vertices of a smaller tetrahedron. The ratio of the volume of the smaller tetrahedron to that of the larger is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𝑚</m:t>
                        </m:r>
                      </m:num>
                      <m:den>
                        <m:r>
                          <a:rPr lang="en-IN" sz="2000" i="1">
                            <a:solidFill>
                              <a:srgbClr val="111827"/>
                            </a:solidFill>
                            <a:latin typeface="Cambria Math" panose="02040503050406030204" pitchFamily="18" charset="0"/>
                          </a:rPr>
                          <m:t>𝑛</m:t>
                        </m:r>
                      </m:den>
                    </m:f>
                  </m:oMath>
                </a14:m>
                <a:r>
                  <a:rPr sz="2000" b="0">
                    <a:solidFill>
                      <a:srgbClr val="111827"/>
                    </a:solidFill>
                    <a:latin typeface="Arial"/>
                  </a:rPr>
                  <a:t>, where </a:t>
                </a:r>
                <a14:m>
                  <m:oMath xmlns:m="http://schemas.openxmlformats.org/officeDocument/2006/math">
                    <m:r>
                      <a:rPr lang="en-IN" sz="2000" i="1">
                        <a:solidFill>
                          <a:srgbClr val="111827"/>
                        </a:solidFill>
                        <a:latin typeface="Cambria Math" panose="02040503050406030204" pitchFamily="18" charset="0"/>
                      </a:rPr>
                      <m:t>𝑚</m:t>
                    </m:r>
                  </m:oMath>
                </a14:m>
                <a:r>
                  <a:rPr sz="2000" b="0">
                    <a:solidFill>
                      <a:srgbClr val="111827"/>
                    </a:solidFill>
                    <a:latin typeface="Arial"/>
                  </a:rPr>
                  <a:t> and </a:t>
                </a:r>
                <a14:m>
                  <m:oMath xmlns:m="http://schemas.openxmlformats.org/officeDocument/2006/math">
                    <m:r>
                      <a:rPr lang="en-IN" sz="2000" i="1">
                        <a:solidFill>
                          <a:srgbClr val="111827"/>
                        </a:solidFill>
                        <a:latin typeface="Cambria Math" panose="02040503050406030204" pitchFamily="18" charset="0"/>
                      </a:rPr>
                      <m:t>𝑛</m:t>
                    </m:r>
                  </m:oMath>
                </a14:m>
                <a:r>
                  <a:rPr sz="2000" b="0">
                    <a:solidFill>
                      <a:srgbClr val="111827"/>
                    </a:solidFill>
                    <a:latin typeface="Arial"/>
                  </a:rPr>
                  <a:t> are relatively prime positive integers. The value of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𝑚</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𝑛</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14:m>
                  <m:oMath xmlns:m="http://schemas.openxmlformats.org/officeDocument/2006/math">
                    <m:r>
                      <a:rPr lang="en-IN" sz="2000" i="1">
                        <a:solidFill>
                          <a:srgbClr val="111827"/>
                        </a:solidFill>
                        <a:latin typeface="Cambria Math" panose="02040503050406030204" pitchFamily="18" charset="0"/>
                      </a:rPr>
                      <m:t>9</m:t>
                    </m:r>
                  </m:oMath>
                </a14:m>
                <a:r>
                  <a:rPr sz="2000" b="0">
                    <a:solidFill>
                      <a:srgbClr val="111827"/>
                    </a:solidFill>
                    <a:latin typeface="Arial"/>
                  </a:rPr>
                  <a:t> (q) </a:t>
                </a:r>
                <a14:m>
                  <m:oMath xmlns:m="http://schemas.openxmlformats.org/officeDocument/2006/math">
                    <m:r>
                      <a:rPr lang="en-IN" sz="2000" i="1">
                        <a:solidFill>
                          <a:srgbClr val="111827"/>
                        </a:solidFill>
                        <a:latin typeface="Cambria Math" panose="02040503050406030204" pitchFamily="18" charset="0"/>
                      </a:rPr>
                      <m:t>28</m:t>
                    </m:r>
                  </m:oMath>
                </a14:m>
                <a:r>
                  <a:rPr sz="2000" b="0">
                    <a:solidFill>
                      <a:srgbClr val="111827"/>
                    </a:solidFill>
                    <a:latin typeface="Arial"/>
                  </a:rPr>
                  <a:t> (r) </a:t>
                </a:r>
                <a14:m>
                  <m:oMath xmlns:m="http://schemas.openxmlformats.org/officeDocument/2006/math">
                    <m:r>
                      <a:rPr lang="en-IN" sz="2000" i="1">
                        <a:solidFill>
                          <a:srgbClr val="111827"/>
                        </a:solidFill>
                        <a:latin typeface="Cambria Math" panose="02040503050406030204" pitchFamily="18" charset="0"/>
                      </a:rPr>
                      <m:t>16</m:t>
                    </m:r>
                  </m:oMath>
                </a14:m>
                <a:r>
                  <a:rPr sz="2000" b="0">
                    <a:solidFill>
                      <a:srgbClr val="111827"/>
                    </a:solidFill>
                    <a:latin typeface="Arial"/>
                  </a:rPr>
                  <a:t> (s) </a:t>
                </a:r>
                <a14:m>
                  <m:oMath xmlns:m="http://schemas.openxmlformats.org/officeDocument/2006/math">
                    <m:r>
                      <a:rPr lang="en-IN" sz="2000" i="1">
                        <a:solidFill>
                          <a:srgbClr val="111827"/>
                        </a:solidFill>
                        <a:latin typeface="Cambria Math" panose="02040503050406030204" pitchFamily="18" charset="0"/>
                      </a:rPr>
                      <m:t>3</m:t>
                    </m:r>
                  </m:oMath>
                </a14:m>
                <a:r>
                  <a:rPr sz="2000" b="0">
                    <a:solidFill>
                      <a:srgbClr val="111827"/>
                    </a:solidFill>
                    <a:latin typeface="Arial"/>
                  </a:rPr>
                  <a: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(a)→(p); (b)→(r); (c)→(q); (d)→(s)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(a)→(q); (b)→(p); (c)→(r); (d)→(s)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(a)→(s); (b)→(q); (c)→(p); (d)→(r)</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(a)→(r); (b)→(s); (c)→(s); (d)→(q)</a:t>
                </a:r>
                <a:endParaRPr sz="2000">
                  <a:solidFill>
                    <a:srgbClr val="111827"/>
                  </a:solidFill>
                </a:endParaRPr>
              </a:p>
            </p:txBody>
          </p:sp>
        </mc:Choice>
        <mc:Fallback>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If </a:t>
                </a:r>
                <a:r>
                  <a:rPr lang="en-IN" sz="2000">
                    <a:solidFill>
                      <a:srgbClr val="111827"/>
                    </a:solidFill>
                    <a:latin typeface="Cambria Math" panose="02040503050406030204" pitchFamily="18" charset="0"/>
                  </a:rPr>
                  <a:t>$\vec a=\hat i+\hat j+\hat k$</a:t>
                </a:r>
                <a:r>
                  <a:rPr sz="2000" b="0">
                    <a:solidFill>
                      <a:srgbClr val="111827"/>
                    </a:solidFill>
                    <a:latin typeface="Arial"/>
                  </a:rPr>
                  <a:t>, </a:t>
                </a:r>
                <a:r>
                  <a:rPr lang="en-IN" sz="2000">
                    <a:solidFill>
                      <a:srgbClr val="111827"/>
                    </a:solidFill>
                    <a:latin typeface="Cambria Math" panose="02040503050406030204" pitchFamily="18" charset="0"/>
                  </a:rPr>
                  <a:t>$\vec b=\hat i-\hat j+\hat k$</a:t>
                </a:r>
                <a:r>
                  <a:rPr sz="2000" b="0">
                    <a:solidFill>
                      <a:srgbClr val="111827"/>
                    </a:solidFill>
                    <a:latin typeface="Arial"/>
                  </a:rPr>
                  <a:t>, </a:t>
                </a:r>
                <a:r>
                  <a:rPr lang="en-IN" sz="2000">
                    <a:solidFill>
                      <a:srgbClr val="111827"/>
                    </a:solidFill>
                    <a:latin typeface="Cambria Math" panose="02040503050406030204" pitchFamily="18" charset="0"/>
                  </a:rPr>
                  <a:t>$\vec c=\hat i+2\hat j-\hat k$</a:t>
                </a:r>
                <a:r>
                  <a:rPr sz="2000" b="0">
                    <a:solidFill>
                      <a:srgbClr val="111827"/>
                    </a:solidFill>
                    <a:latin typeface="Arial"/>
                  </a:rPr>
                  <a:t>, then the value of </a:t>
                </a:r>
                <a:r>
                  <a:rPr lang="en-IN" sz="2000">
                    <a:solidFill>
                      <a:srgbClr val="111827"/>
                    </a:solidFill>
                    <a:latin typeface="Cambria Math" panose="02040503050406030204" pitchFamily="18" charset="0"/>
                  </a:rPr>
                  <a:t>$\left|\begin{matrix}\vec a\cdot\vec a&amp;\vec a\cdot\vec b&amp;\vec a\cdot\vec c\\\vec b\cdot\vec a&amp;\vec b\cdot\vec b&amp;\vec b\cdot\vec c\\\vec c\cdot\vec a&amp;\vec c\cdot\vec b&amp;\vec c\cdot\vec c\end{matrix}\right|$</a:t>
                </a:r>
                <a:r>
                  <a:rPr sz="2000" b="0">
                    <a:solidFill>
                      <a:srgbClr val="111827"/>
                    </a:solidFill>
                    <a:latin typeface="Arial"/>
                  </a:rPr>
                  <a:t>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If points </a:t>
                </a:r>
                <a:r>
                  <a:rPr lang="en-IN" sz="2000">
                    <a:solidFill>
                      <a:srgbClr val="111827"/>
                    </a:solidFill>
                    <a:latin typeface="Cambria Math" panose="02040503050406030204" pitchFamily="18" charset="0"/>
                  </a:rPr>
                  <a:t>$P,Q$</a:t>
                </a:r>
                <a:r>
                  <a:rPr sz="2000" b="0">
                    <a:solidFill>
                      <a:srgbClr val="111827"/>
                    </a:solidFill>
                    <a:latin typeface="Arial"/>
                  </a:rPr>
                  <a:t> and </a:t>
                </a:r>
                <a:r>
                  <a:rPr lang="en-IN" sz="2000">
                    <a:solidFill>
                      <a:srgbClr val="111827"/>
                    </a:solidFill>
                    <a:latin typeface="Cambria Math" panose="02040503050406030204" pitchFamily="18" charset="0"/>
                  </a:rPr>
                  <a:t>$R$</a:t>
                </a:r>
                <a:r>
                  <a:rPr sz="2000" b="0">
                    <a:solidFill>
                      <a:srgbClr val="111827"/>
                    </a:solidFill>
                    <a:latin typeface="Arial"/>
                  </a:rPr>
                  <a:t> have position vectors, </a:t>
                </a:r>
                <a:r>
                  <a:rPr lang="en-IN" sz="2000">
                    <a:solidFill>
                      <a:srgbClr val="111827"/>
                    </a:solidFill>
                    <a:latin typeface="Cambria Math" panose="02040503050406030204" pitchFamily="18" charset="0"/>
                  </a:rPr>
                  <a:t>$\vec r_1=3\hat i-2\hat j-\hat k$</a:t>
                </a:r>
                <a:r>
                  <a:rPr sz="2000" b="0">
                    <a:solidFill>
                      <a:srgbClr val="111827"/>
                    </a:solidFill>
                    <a:latin typeface="Arial"/>
                  </a:rPr>
                  <a:t>, </a:t>
                </a:r>
                <a:r>
                  <a:rPr lang="en-IN" sz="2000">
                    <a:solidFill>
                      <a:srgbClr val="111827"/>
                    </a:solidFill>
                    <a:latin typeface="Cambria Math" panose="02040503050406030204" pitchFamily="18" charset="0"/>
                  </a:rPr>
                  <a:t>$\vec r_2=\hat i+3\hat j+4\hat k$</a:t>
                </a:r>
                <a:r>
                  <a:rPr sz="2000" b="0">
                    <a:solidFill>
                      <a:srgbClr val="111827"/>
                    </a:solidFill>
                    <a:latin typeface="Arial"/>
                  </a:rPr>
                  <a:t> and </a:t>
                </a:r>
                <a:r>
                  <a:rPr lang="en-IN" sz="2000">
                    <a:solidFill>
                      <a:srgbClr val="111827"/>
                    </a:solidFill>
                    <a:latin typeface="Cambria Math" panose="02040503050406030204" pitchFamily="18" charset="0"/>
                  </a:rPr>
                  <a:t>$\vec r_3=2\hat i+\hat j-2\hat k$</a:t>
                </a:r>
                <a:r>
                  <a:rPr sz="2000" b="0">
                    <a:solidFill>
                      <a:srgbClr val="111827"/>
                    </a:solidFill>
                    <a:latin typeface="Arial"/>
                  </a:rPr>
                  <a:t> respectively, relative to an origin </a:t>
                </a:r>
                <a:r>
                  <a:rPr lang="en-IN" sz="2000">
                    <a:solidFill>
                      <a:srgbClr val="111827"/>
                    </a:solidFill>
                    <a:latin typeface="Cambria Math" panose="02040503050406030204" pitchFamily="18" charset="0"/>
                  </a:rPr>
                  <a:t>$O$</a:t>
                </a:r>
                <a:r>
                  <a:rPr sz="2000" b="0">
                    <a:solidFill>
                      <a:srgbClr val="111827"/>
                    </a:solidFill>
                    <a:latin typeface="Arial"/>
                  </a:rPr>
                  <a:t>, then distance of </a:t>
                </a:r>
                <a:r>
                  <a:rPr lang="en-IN" sz="2000">
                    <a:solidFill>
                      <a:srgbClr val="111827"/>
                    </a:solidFill>
                    <a:latin typeface="Cambria Math" panose="02040503050406030204" pitchFamily="18" charset="0"/>
                  </a:rPr>
                  <a:t>$P$</a:t>
                </a:r>
                <a:r>
                  <a:rPr sz="2000" b="0">
                    <a:solidFill>
                      <a:srgbClr val="111827"/>
                    </a:solidFill>
                    <a:latin typeface="Arial"/>
                  </a:rPr>
                  <a:t> from the plane </a:t>
                </a:r>
                <a:r>
                  <a:rPr lang="en-IN" sz="2000">
                    <a:solidFill>
                      <a:srgbClr val="111827"/>
                    </a:solidFill>
                    <a:latin typeface="Cambria Math" panose="02040503050406030204" pitchFamily="18" charset="0"/>
                  </a:rPr>
                  <a:t>$OQR$</a:t>
                </a:r>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 line with direction ratios </a:t>
                </a:r>
                <a:r>
                  <a:rPr lang="en-IN" sz="2000">
                    <a:solidFill>
                      <a:srgbClr val="111827"/>
                    </a:solidFill>
                    <a:latin typeface="Cambria Math" panose="02040503050406030204" pitchFamily="18" charset="0"/>
                  </a:rPr>
                  <a:t>$(2,1,2)$</a:t>
                </a:r>
                <a:r>
                  <a:rPr sz="2000" b="0">
                    <a:solidFill>
                      <a:srgbClr val="111827"/>
                    </a:solidFill>
                    <a:latin typeface="Arial"/>
                  </a:rPr>
                  <a:t> intersects the lines </a:t>
                </a:r>
                <a:r>
                  <a:rPr lang="en-IN" sz="2000">
                    <a:solidFill>
                      <a:srgbClr val="111827"/>
                    </a:solidFill>
                    <a:latin typeface="Cambria Math" panose="02040503050406030204" pitchFamily="18" charset="0"/>
                  </a:rPr>
                  <a:t>$\vec r=-\hat i+\lambda(\hat i+\hat j-\hat k)$</a:t>
                </a:r>
                <a:r>
                  <a:rPr sz="2000" b="0">
                    <a:solidFill>
                      <a:srgbClr val="111827"/>
                    </a:solidFill>
                    <a:latin typeface="Arial"/>
                  </a:rPr>
                  <a:t> and </a:t>
                </a:r>
                <a:r>
                  <a:rPr lang="en-IN" sz="2000">
                    <a:solidFill>
                      <a:srgbClr val="111827"/>
                    </a:solidFill>
                    <a:latin typeface="Cambria Math" panose="02040503050406030204" pitchFamily="18" charset="0"/>
                  </a:rPr>
                  <a:t>$\vec r=-\hat i+\lambda(2\hat i+\hat j+\hat k)$</a:t>
                </a:r>
                <a:r>
                  <a:rPr sz="2000" b="0">
                    <a:solidFill>
                      <a:srgbClr val="111827"/>
                    </a:solidFill>
                    <a:latin typeface="Arial"/>
                  </a:rPr>
                  <a:t> at </a:t>
                </a:r>
                <a:r>
                  <a:rPr lang="en-IN" sz="2000">
                    <a:solidFill>
                      <a:srgbClr val="111827"/>
                    </a:solidFill>
                    <a:latin typeface="Cambria Math" panose="02040503050406030204" pitchFamily="18" charset="0"/>
                  </a:rPr>
                  <a:t>$A$</a:t>
                </a:r>
                <a:r>
                  <a:rPr sz="2000" b="0">
                    <a:solidFill>
                      <a:srgbClr val="111827"/>
                    </a:solidFill>
                    <a:latin typeface="Arial"/>
                  </a:rPr>
                  <a:t> and </a:t>
                </a:r>
                <a:r>
                  <a:rPr lang="en-IN" sz="2000">
                    <a:solidFill>
                      <a:srgbClr val="111827"/>
                    </a:solidFill>
                    <a:latin typeface="Cambria Math" panose="02040503050406030204" pitchFamily="18" charset="0"/>
                  </a:rPr>
                  <a:t>$B$</a:t>
                </a:r>
                <a:r>
                  <a:rPr sz="2000" b="0">
                    <a:solidFill>
                      <a:srgbClr val="111827"/>
                    </a:solidFill>
                    <a:latin typeface="Arial"/>
                  </a:rPr>
                  <a:t>, then </a:t>
                </a:r>
                <a:r>
                  <a:rPr lang="en-IN" sz="2000">
                    <a:solidFill>
                      <a:srgbClr val="111827"/>
                    </a:solidFill>
                    <a:latin typeface="Cambria Math" panose="02040503050406030204" pitchFamily="18" charset="0"/>
                  </a:rPr>
                  <a:t>$(AB)$</a:t>
                </a:r>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In a regular tetrahedron, the centres of the four faces are the vertices of a smaller tetrahedron. The ratio of the volume of the smaller tetrahedron to that of the larger is </a:t>
                </a:r>
                <a:r>
                  <a:rPr lang="en-IN" sz="2000">
                    <a:solidFill>
                      <a:srgbClr val="111827"/>
                    </a:solidFill>
                    <a:latin typeface="Cambria Math" panose="02040503050406030204" pitchFamily="18" charset="0"/>
                  </a:rPr>
                  <a:t>$\frac mn$</a:t>
                </a:r>
                <a:r>
                  <a:rPr sz="2000" b="0">
                    <a:solidFill>
                      <a:srgbClr val="111827"/>
                    </a:solidFill>
                    <a:latin typeface="Arial"/>
                  </a:rPr>
                  <a:t>, where </a:t>
                </a:r>
                <a:r>
                  <a:rPr lang="en-IN" sz="2000">
                    <a:solidFill>
                      <a:srgbClr val="111827"/>
                    </a:solidFill>
                    <a:latin typeface="Cambria Math" panose="02040503050406030204" pitchFamily="18" charset="0"/>
                  </a:rPr>
                  <a:t>$m$</a:t>
                </a:r>
                <a:r>
                  <a:rPr sz="2000" b="0">
                    <a:solidFill>
                      <a:srgbClr val="111827"/>
                    </a:solidFill>
                    <a:latin typeface="Arial"/>
                  </a:rPr>
                  <a:t> and </a:t>
                </a:r>
                <a:r>
                  <a:rPr lang="en-IN" sz="2000">
                    <a:solidFill>
                      <a:srgbClr val="111827"/>
                    </a:solidFill>
                    <a:latin typeface="Cambria Math" panose="02040503050406030204" pitchFamily="18" charset="0"/>
                  </a:rPr>
                  <a:t>$n$</a:t>
                </a:r>
                <a:r>
                  <a:rPr sz="2000" b="0">
                    <a:solidFill>
                      <a:srgbClr val="111827"/>
                    </a:solidFill>
                    <a:latin typeface="Arial"/>
                  </a:rPr>
                  <a:t> are relatively prime positive integers. The value of </a:t>
                </a:r>
                <a:r>
                  <a:rPr lang="en-IN" sz="2000">
                    <a:solidFill>
                      <a:srgbClr val="111827"/>
                    </a:solidFill>
                    <a:latin typeface="Cambria Math" panose="02040503050406030204" pitchFamily="18" charset="0"/>
                  </a:rPr>
                  <a:t>$(m+n)$</a:t>
                </a:r>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r>
                  <a:rPr lang="en-IN" sz="2000">
                    <a:solidFill>
                      <a:srgbClr val="111827"/>
                    </a:solidFill>
                    <a:latin typeface="Cambria Math" panose="02040503050406030204" pitchFamily="18" charset="0"/>
                  </a:rPr>
                  <a:t>$9$</a:t>
                </a:r>
                <a:r>
                  <a:rPr sz="2000" b="0">
                    <a:solidFill>
                      <a:srgbClr val="111827"/>
                    </a:solidFill>
                    <a:latin typeface="Arial"/>
                  </a:rPr>
                  <a:t> (q) </a:t>
                </a:r>
                <a:r>
                  <a:rPr lang="en-IN" sz="2000">
                    <a:solidFill>
                      <a:srgbClr val="111827"/>
                    </a:solidFill>
                    <a:latin typeface="Cambria Math" panose="02040503050406030204" pitchFamily="18" charset="0"/>
                  </a:rPr>
                  <a:t>$28$</a:t>
                </a:r>
                <a:r>
                  <a:rPr sz="2000" b="0">
                    <a:solidFill>
                      <a:srgbClr val="111827"/>
                    </a:solidFill>
                    <a:latin typeface="Arial"/>
                  </a:rPr>
                  <a:t> (r) </a:t>
                </a:r>
                <a:r>
                  <a:rPr lang="en-IN" sz="2000">
                    <a:solidFill>
                      <a:srgbClr val="111827"/>
                    </a:solidFill>
                    <a:latin typeface="Cambria Math" panose="02040503050406030204" pitchFamily="18" charset="0"/>
                  </a:rPr>
                  <a:t>$16$</a:t>
                </a:r>
                <a:r>
                  <a:rPr sz="2000" b="0">
                    <a:solidFill>
                      <a:srgbClr val="111827"/>
                    </a:solidFill>
                    <a:latin typeface="Arial"/>
                  </a:rPr>
                  <a:t> (s) </a:t>
                </a:r>
                <a:r>
                  <a:rPr lang="en-IN" sz="2000">
                    <a:solidFill>
                      <a:srgbClr val="111827"/>
                    </a:solidFill>
                    <a:latin typeface="Cambria Math" panose="02040503050406030204" pitchFamily="18" charset="0"/>
                  </a:rPr>
                  <a:t>$3$</a:t>
                </a:r>
                <a:r>
                  <a:rPr sz="2000" b="0">
                    <a:solidFill>
                      <a:srgbClr val="111827"/>
                    </a:solidFill>
                    <a:latin typeface="Arial"/>
                  </a:rPr>
                  <a: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(a)→(p); (b)→(r); (c)→(q); (d)→(s)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(a)→(q); (b)→(p); (c)→(r); (d)→(s)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(a)→(s); (b)→(q); (c)→(p); (d)→(r)</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(a)→(r); (b)→(s); (c)→(s); (d)→(q)</a:t>
                </a:r>
                <a:endParaRPr sz="2000">
                  <a:solidFill>
                    <a:srgbClr val="111827"/>
                  </a:solidFill>
                </a:endParaRPr>
              </a:p>
            </p:txBody>
          </p:sp>
        </mc:Fallback>
      </mc:AlternateContent>
    </p:spTree>
  </p:cSld>
  <p:clrMapOvr>
    <a:masterClrMapping/>
  </p:clrMapOvr>
</p:sld>
</file>

<file path=ppt/slides/slide4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Gram determinant and scalar triple product, Distance of a point from a plane through the origin, Distance between points on two lines, Volume ratio of the tetrahedron of face centroids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Item (a) alone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16</m:t>
                    </m:r>
                  </m:oMath>
                </a14:m>
                <a:r>
                  <a:rPr sz="2400" b="0">
                    <a:solidFill>
                      <a:srgbClr val="78350F"/>
                    </a:solidFill>
                    <a:latin typeface="Arial"/>
                  </a:rPr>
                  <a:t>) already selects option (D); (b)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 (d)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28</m:t>
                    </m:r>
                  </m:oMath>
                </a14:m>
                <a:r>
                  <a:rPr sz="2400" b="0">
                    <a:solidFill>
                      <a:srgbClr val="78350F"/>
                    </a:solidFill>
                    <a:latin typeface="Arial"/>
                  </a:rPr>
                  <a:t>; item (c) cannot be verified from the printed data.</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Item (a) alone (</a:t>
                </a:r>
                <a:r>
                  <a:rPr lang="en-IN" sz="2400">
                    <a:solidFill>
                      <a:srgbClr val="78350F"/>
                    </a:solidFill>
                    <a:latin typeface="Cambria Math" panose="02040503050406030204" pitchFamily="18" charset="0"/>
                  </a:rPr>
                  <a:t>$=16$</a:t>
                </a:r>
                <a:r>
                  <a:rPr sz="2400" b="0">
                    <a:solidFill>
                      <a:srgbClr val="78350F"/>
                    </a:solidFill>
                    <a:latin typeface="Arial"/>
                  </a:rPr>
                  <a:t>) already selects option (D); (b) </a:t>
                </a:r>
                <a:r>
                  <a:rPr lang="en-IN" sz="2400">
                    <a:solidFill>
                      <a:srgbClr val="78350F"/>
                    </a:solidFill>
                    <a:latin typeface="Cambria Math" panose="02040503050406030204" pitchFamily="18" charset="0"/>
                  </a:rPr>
                  <a:t>$=3$</a:t>
                </a:r>
                <a:r>
                  <a:rPr sz="2400" b="0">
                    <a:solidFill>
                      <a:srgbClr val="78350F"/>
                    </a:solidFill>
                    <a:latin typeface="Arial"/>
                  </a:rPr>
                  <a:t>, (d) </a:t>
                </a:r>
                <a:r>
                  <a:rPr lang="en-IN" sz="2400">
                    <a:solidFill>
                      <a:srgbClr val="78350F"/>
                    </a:solidFill>
                    <a:latin typeface="Cambria Math" panose="02040503050406030204" pitchFamily="18" charset="0"/>
                  </a:rPr>
                  <a:t>$=28$</a:t>
                </a:r>
                <a:r>
                  <a:rPr sz="2400" b="0">
                    <a:solidFill>
                      <a:srgbClr val="78350F"/>
                    </a:solidFill>
                    <a:latin typeface="Arial"/>
                  </a:rPr>
                  <a:t>; item (c) cannot be verified from the printed data.</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determinant is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1</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2</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mr>
                        </m:m>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so the value is </a:t>
                </a:r>
                <a14:m>
                  <m:oMath xmlns:m="http://schemas.openxmlformats.org/officeDocument/2006/math">
                    <m:r>
                      <a:rPr lang="en-IN" sz="2400" i="1">
                        <a:solidFill>
                          <a:srgbClr val="111827"/>
                        </a:solidFill>
                        <a:latin typeface="Cambria Math" panose="02040503050406030204" pitchFamily="18" charset="0"/>
                      </a:rPr>
                      <m:t>16</m:t>
                    </m:r>
                  </m:oMath>
                </a14:m>
                <a:r>
                  <a:rPr sz="2400" b="0">
                    <a:solidFill>
                      <a:srgbClr val="111827"/>
                    </a:solidFill>
                    <a:latin typeface="Arial"/>
                  </a:rPr>
                  <a:t>: (a) matches (r).</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determinant is </a:t>
                </a:r>
                <a:r>
                  <a:rPr lang="en-IN" sz="2400">
                    <a:solidFill>
                      <a:srgbClr val="111827"/>
                    </a:solidFill>
                    <a:latin typeface="Cambria Math" panose="02040503050406030204" pitchFamily="18" charset="0"/>
                  </a:rPr>
                  <a:t>$[\vec a\ \vec b\ \vec c]^2$</a:t>
                </a:r>
                <a:r>
                  <a:rPr sz="2400" b="0">
                    <a:solidFill>
                      <a:srgbClr val="111827"/>
                    </a:solidFill>
                    <a:latin typeface="Arial"/>
                  </a:rPr>
                  <a:t>. </a:t>
                </a:r>
                <a:r>
                  <a:rPr lang="en-IN" sz="2400">
                    <a:solidFill>
                      <a:srgbClr val="111827"/>
                    </a:solidFill>
                    <a:latin typeface="Cambria Math" panose="02040503050406030204" pitchFamily="18" charset="0"/>
                  </a:rPr>
                  <a:t>$[\vec a\ \vec b\ \vec c]=\left|\begin{matrix}1&amp;1&amp;1\\1&amp;-1&amp;1\\1&amp;2&amp;-1\end{matrix}\right|=1(1-2)-1(-1-1)+1(2+1)=4$</a:t>
                </a:r>
                <a:r>
                  <a:rPr sz="2400" b="0">
                    <a:solidFill>
                      <a:srgbClr val="111827"/>
                    </a:solidFill>
                    <a:latin typeface="Arial"/>
                  </a:rPr>
                  <a:t>, so the value is </a:t>
                </a:r>
                <a:r>
                  <a:rPr lang="en-IN" sz="2400">
                    <a:solidFill>
                      <a:srgbClr val="111827"/>
                    </a:solidFill>
                    <a:latin typeface="Cambria Math" panose="02040503050406030204" pitchFamily="18" charset="0"/>
                  </a:rPr>
                  <a:t>$16$</a:t>
                </a:r>
                <a:r>
                  <a:rPr sz="2400" b="0">
                    <a:solidFill>
                      <a:srgbClr val="111827"/>
                    </a:solidFill>
                    <a:latin typeface="Arial"/>
                  </a:rPr>
                  <a:t>: (a) matches (r).</a:t>
                </a:r>
                <a:endParaRPr sz="2400">
                  <a:solidFill>
                    <a:srgbClr val="111827"/>
                  </a:solidFill>
                </a:endParaRPr>
              </a:p>
            </p:txBody>
          </p:sp>
        </mc:Fallback>
      </mc:AlternateContent>
    </p:spTree>
  </p:cSld>
  <p:clrMapOvr>
    <a:masterClrMapping/>
  </p:clrMapOvr>
</p:sld>
</file>

<file path=ppt/slides/slide4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The distance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from the plane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magnitude </a:t>
                </a:r>
                <a14:m>
                  <m:oMath xmlns:m="http://schemas.openxmlformats.org/officeDocument/2006/math">
                    <m:r>
                      <a:rPr lang="en-IN" sz="2400" i="1">
                        <a:solidFill>
                          <a:srgbClr val="111827"/>
                        </a:solidFill>
                        <a:latin typeface="Cambria Math" panose="02040503050406030204" pitchFamily="18" charset="0"/>
                      </a:rPr>
                      <m:t>15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 so the distance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45</m:t>
                        </m:r>
                      </m:num>
                      <m:den>
                        <m:r>
                          <a:rPr lang="en-IN" sz="2400" i="1">
                            <a:solidFill>
                              <a:srgbClr val="111827"/>
                            </a:solidFill>
                            <a:latin typeface="Cambria Math" panose="02040503050406030204" pitchFamily="18" charset="0"/>
                          </a:rPr>
                          <m:t>15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(b) matches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The tetrahedron of the four face centres is similar to the original with ratio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so the volume ratio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28</m:t>
                    </m:r>
                  </m:oMath>
                </a14:m>
                <a:r>
                  <a:rPr sz="2400" b="0">
                    <a:solidFill>
                      <a:srgbClr val="111827"/>
                    </a:solidFill>
                    <a:latin typeface="Arial"/>
                  </a:rPr>
                  <a:t>: (d) matches (q).</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The distance of </a:t>
                </a:r>
                <a:r>
                  <a:rPr lang="en-IN" sz="2400">
                    <a:solidFill>
                      <a:srgbClr val="111827"/>
                    </a:solidFill>
                    <a:latin typeface="Cambria Math" panose="02040503050406030204" pitchFamily="18" charset="0"/>
                  </a:rPr>
                  <a:t>$P$</a:t>
                </a:r>
                <a:r>
                  <a:rPr sz="2400" b="0">
                    <a:solidFill>
                      <a:srgbClr val="111827"/>
                    </a:solidFill>
                    <a:latin typeface="Arial"/>
                  </a:rPr>
                  <a:t> from the plane </a:t>
                </a:r>
                <a:r>
                  <a:rPr lang="en-IN" sz="2400">
                    <a:solidFill>
                      <a:srgbClr val="111827"/>
                    </a:solidFill>
                    <a:latin typeface="Cambria Math" panose="02040503050406030204" pitchFamily="18" charset="0"/>
                  </a:rPr>
                  <a:t>$OQR$</a:t>
                </a:r>
                <a:r>
                  <a:rPr sz="2400" b="0">
                    <a:solidFill>
                      <a:srgbClr val="111827"/>
                    </a:solidFill>
                    <a:latin typeface="Arial"/>
                  </a:rPr>
                  <a:t> is </a:t>
                </a:r>
                <a:r>
                  <a:rPr lang="en-IN" sz="2400">
                    <a:solidFill>
                      <a:srgbClr val="111827"/>
                    </a:solidFill>
                    <a:latin typeface="Cambria Math" panose="02040503050406030204" pitchFamily="18" charset="0"/>
                  </a:rPr>
                  <a:t>$\frac{|[\vec r_1\ \vec r_2\ \vec r_3]|}{|\vec r_2\times\vec r_3|}$</a:t>
                </a:r>
                <a:r>
                  <a:rPr sz="2400" b="0">
                    <a:solidFill>
                      <a:srgbClr val="111827"/>
                    </a:solidFill>
                    <a:latin typeface="Arial"/>
                  </a:rPr>
                  <a:t>. </a:t>
                </a:r>
                <a:r>
                  <a:rPr lang="en-IN" sz="2400">
                    <a:solidFill>
                      <a:srgbClr val="111827"/>
                    </a:solidFill>
                    <a:latin typeface="Cambria Math" panose="02040503050406030204" pitchFamily="18" charset="0"/>
                  </a:rPr>
                  <a:t>$\vec r_2\times\vec r_3=(1,3,4)\times(2,1,-2)=(-10,10,-5)$</a:t>
                </a:r>
                <a:r>
                  <a:rPr sz="2400" b="0">
                    <a:solidFill>
                      <a:srgbClr val="111827"/>
                    </a:solidFill>
                    <a:latin typeface="Arial"/>
                  </a:rPr>
                  <a:t>, magnitude </a:t>
                </a:r>
                <a:r>
                  <a:rPr lang="en-IN" sz="2400">
                    <a:solidFill>
                      <a:srgbClr val="111827"/>
                    </a:solidFill>
                    <a:latin typeface="Cambria Math" panose="02040503050406030204" pitchFamily="18" charset="0"/>
                  </a:rPr>
                  <a:t>$15$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$\vec r_1\cdot(\vec r_2\times\vec r_3)=3(-10)-2(10)-1(-5)=-45$</a:t>
                </a:r>
                <a:r>
                  <a:rPr sz="2400" b="0">
                    <a:solidFill>
                      <a:srgbClr val="111827"/>
                    </a:solidFill>
                    <a:latin typeface="Arial"/>
                  </a:rPr>
                  <a:t>, so the distance is </a:t>
                </a:r>
                <a:r>
                  <a:rPr lang="en-IN" sz="2400">
                    <a:solidFill>
                      <a:srgbClr val="111827"/>
                    </a:solidFill>
                    <a:latin typeface="Cambria Math" panose="02040503050406030204" pitchFamily="18" charset="0"/>
                  </a:rPr>
                  <a:t>$\frac{45}{15}=3$</a:t>
                </a:r>
                <a:r>
                  <a:rPr sz="2400" b="0">
                    <a:solidFill>
                      <a:srgbClr val="111827"/>
                    </a:solidFill>
                    <a:latin typeface="Arial"/>
                  </a:rPr>
                  <a:t>: (b) matches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The tetrahedron of the four face centres is similar to the original with ratio </a:t>
                </a:r>
                <a:r>
                  <a:rPr lang="en-IN" sz="2400">
                    <a:solidFill>
                      <a:srgbClr val="111827"/>
                    </a:solidFill>
                    <a:latin typeface="Cambria Math" panose="02040503050406030204" pitchFamily="18" charset="0"/>
                  </a:rPr>
                  <a:t>$\frac13$</a:t>
                </a:r>
                <a:r>
                  <a:rPr sz="2400" b="0">
                    <a:solidFill>
                      <a:srgbClr val="111827"/>
                    </a:solidFill>
                    <a:latin typeface="Arial"/>
                  </a:rPr>
                  <a:t>, so the volume ratio is </a:t>
                </a:r>
                <a:r>
                  <a:rPr lang="en-IN" sz="2400">
                    <a:solidFill>
                      <a:srgbClr val="111827"/>
                    </a:solidFill>
                    <a:latin typeface="Cambria Math" panose="02040503050406030204" pitchFamily="18" charset="0"/>
                  </a:rPr>
                  <a:t>$\frac1{27}$</a:t>
                </a:r>
                <a:r>
                  <a:rPr sz="2400" b="0">
                    <a:solidFill>
                      <a:srgbClr val="111827"/>
                    </a:solidFill>
                    <a:latin typeface="Arial"/>
                  </a:rPr>
                  <a:t>: </a:t>
                </a:r>
                <a:r>
                  <a:rPr lang="en-IN" sz="2400">
                    <a:solidFill>
                      <a:srgbClr val="111827"/>
                    </a:solidFill>
                    <a:latin typeface="Cambria Math" panose="02040503050406030204" pitchFamily="18" charset="0"/>
                  </a:rPr>
                  <a:t>$m+n=1+27=28$</a:t>
                </a:r>
                <a:r>
                  <a:rPr sz="2400" b="0">
                    <a:solidFill>
                      <a:srgbClr val="111827"/>
                    </a:solidFill>
                    <a:latin typeface="Arial"/>
                  </a:rPr>
                  <a:t>: (d) matches (q).</a:t>
                </a:r>
                <a:endParaRPr sz="2400">
                  <a:solidFill>
                    <a:srgbClr val="111827"/>
                  </a:solidFill>
                </a:endParaRPr>
              </a:p>
            </p:txBody>
          </p:sp>
        </mc:Fallback>
      </mc:AlternateContent>
    </p:spTree>
  </p:cSld>
  <p:clrMapOvr>
    <a:masterClrMapping/>
  </p:clrMapOvr>
</p:sld>
</file>

<file path=ppt/slides/slide4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As printed, both lines pass through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parameter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 line with direction ratios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meeting both at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would then force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which is not in Column-II; the key gives (s). The printed data of (c) look mistyped, so (c) cannot be verified.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option (D) has (a)→(r), (b)→(s) and (d)→(q) together, so the answer is (D) irrespective of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As printed, both lines pass through </a:t>
                </a:r>
                <a:r>
                  <a:rPr lang="en-IN" sz="2400">
                    <a:solidFill>
                      <a:srgbClr val="111827"/>
                    </a:solidFill>
                    <a:latin typeface="Cambria Math" panose="02040503050406030204" pitchFamily="18" charset="0"/>
                  </a:rPr>
                  <a:t>$(-1,0,0)$</a:t>
                </a:r>
                <a:r>
                  <a:rPr sz="2400" b="0">
                    <a:solidFill>
                      <a:srgbClr val="111827"/>
                    </a:solidFill>
                    <a:latin typeface="Arial"/>
                  </a:rPr>
                  <a:t> (at parameter </a:t>
                </a:r>
                <a:r>
                  <a:rPr lang="en-IN" sz="2400">
                    <a:solidFill>
                      <a:srgbClr val="111827"/>
                    </a:solidFill>
                    <a:latin typeface="Cambria Math" panose="02040503050406030204" pitchFamily="18" charset="0"/>
                  </a:rPr>
                  <a:t>$0$</a:t>
                </a:r>
                <a:r>
                  <a:rPr sz="2400" b="0">
                    <a:solidFill>
                      <a:srgbClr val="111827"/>
                    </a:solidFill>
                    <a:latin typeface="Arial"/>
                  </a:rPr>
                  <a:t>); a line with direction ratios </a:t>
                </a:r>
                <a:r>
                  <a:rPr lang="en-IN" sz="2400">
                    <a:solidFill>
                      <a:srgbClr val="111827"/>
                    </a:solidFill>
                    <a:latin typeface="Cambria Math" panose="02040503050406030204" pitchFamily="18" charset="0"/>
                  </a:rPr>
                  <a:t>$(2,1,2)$</a:t>
                </a:r>
                <a:r>
                  <a:rPr sz="2400" b="0">
                    <a:solidFill>
                      <a:srgbClr val="111827"/>
                    </a:solidFill>
                    <a:latin typeface="Arial"/>
                  </a:rPr>
                  <a:t> meeting both at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would then force </a:t>
                </a:r>
                <a:r>
                  <a:rPr lang="en-IN" sz="2400">
                    <a:solidFill>
                      <a:srgbClr val="111827"/>
                    </a:solidFill>
                    <a:latin typeface="Cambria Math" panose="02040503050406030204" pitchFamily="18" charset="0"/>
                  </a:rPr>
                  <a:t>$A=B=(-1,0,0)$</a:t>
                </a:r>
                <a:r>
                  <a:rPr sz="2400" b="0">
                    <a:solidFill>
                      <a:srgbClr val="111827"/>
                    </a:solidFill>
                    <a:latin typeface="Arial"/>
                  </a:rPr>
                  <a:t> and </a:t>
                </a:r>
                <a:r>
                  <a:rPr lang="en-IN" sz="2400">
                    <a:solidFill>
                      <a:srgbClr val="111827"/>
                    </a:solidFill>
                    <a:latin typeface="Cambria Math" panose="02040503050406030204" pitchFamily="18" charset="0"/>
                  </a:rPr>
                  <a:t>$AB=0$</a:t>
                </a:r>
                <a:r>
                  <a:rPr sz="2400" b="0">
                    <a:solidFill>
                      <a:srgbClr val="111827"/>
                    </a:solidFill>
                    <a:latin typeface="Arial"/>
                  </a:rPr>
                  <a:t>, which is not in Column-II; the key gives (s). The printed data of (c) look mistyped, so (c) cannot be verified.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option (D) has (a)→(r), (b)→(s) and (d)→(q) together, so the answer is (D) irrespective of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(a)→(r); (b)→(s); (c)→(s); (d)→(q)</a:t>
            </a:r>
            <a:endParaRPr sz="2800">
              <a:solidFill>
                <a:srgbClr val="15803D"/>
              </a:solidFill>
            </a:endParaRPr>
          </a:p>
        </p:txBody>
      </p:sp>
    </p:spTree>
  </p:cSld>
  <p:clrMapOvr>
    <a:masterClrMapping/>
  </p:clrMapOvr>
</p:sld>
</file>

<file path=ppt/slides/slide4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Evaluate only item (a): the four options give four different matches for (a), so one item suffices.</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determinant is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which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Options (A), (B), (C), (D) give (a)→(p), (q), (s), (r) respectively; only (D) has (a)→(r).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answer is (D). Items (b)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28</m:t>
                    </m:r>
                  </m:oMath>
                </a14:m>
                <a:r>
                  <a:rPr sz="2400" b="0">
                    <a:solidFill>
                      <a:srgbClr val="111827"/>
                    </a:solidFill>
                    <a:latin typeface="Arial"/>
                  </a:rPr>
                  <a:t> confirm it ((b)→(s), (d)→(q)).</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determinant is </a:t>
                </a:r>
                <a:r>
                  <a:rPr lang="en-IN" sz="2400">
                    <a:solidFill>
                      <a:srgbClr val="111827"/>
                    </a:solidFill>
                    <a:latin typeface="Cambria Math" panose="02040503050406030204" pitchFamily="18" charset="0"/>
                  </a:rPr>
                  <a:t>$[\vec a\ \vec b\ \vec c]^2=4^2=16$</a:t>
                </a:r>
                <a:r>
                  <a:rPr sz="2400" b="0">
                    <a:solidFill>
                      <a:srgbClr val="111827"/>
                    </a:solidFill>
                    <a:latin typeface="Arial"/>
                  </a:rPr>
                  <a:t>, which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Options (A), (B), (C), (D) give (a)→(p), (q), (s), (r) respectively; only (D) has (a)→(r).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answer is (D). Items (b) </a:t>
                </a:r>
                <a:r>
                  <a:rPr lang="en-IN" sz="2400">
                    <a:solidFill>
                      <a:srgbClr val="111827"/>
                    </a:solidFill>
                    <a:latin typeface="Cambria Math" panose="02040503050406030204" pitchFamily="18" charset="0"/>
                  </a:rPr>
                  <a:t>$=3$</a:t>
                </a:r>
                <a:r>
                  <a:rPr sz="2400" b="0">
                    <a:solidFill>
                      <a:srgbClr val="111827"/>
                    </a:solidFill>
                    <a:latin typeface="Arial"/>
                  </a:rPr>
                  <a:t> and (d) </a:t>
                </a:r>
                <a:r>
                  <a:rPr lang="en-IN" sz="2400">
                    <a:solidFill>
                      <a:srgbClr val="111827"/>
                    </a:solidFill>
                    <a:latin typeface="Cambria Math" panose="02040503050406030204" pitchFamily="18" charset="0"/>
                  </a:rPr>
                  <a:t>$=28$</a:t>
                </a:r>
                <a:r>
                  <a:rPr sz="2400" b="0">
                    <a:solidFill>
                      <a:srgbClr val="111827"/>
                    </a:solidFill>
                    <a:latin typeface="Arial"/>
                  </a:rPr>
                  <a:t> confirm it ((b)→(s), (d)→(q)).</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(a)→(r); (b)→(s); (c)→(s); (d)→(q)</a:t>
            </a:r>
            <a:endParaRPr sz="2800">
              <a:solidFill>
                <a:srgbClr val="15803D"/>
              </a:solidFill>
            </a:endParaRPr>
          </a:p>
        </p:txBody>
      </p:sp>
    </p:spTree>
  </p:cSld>
  <p:clrMapOvr>
    <a:masterClrMapping/>
  </p:clrMapOvr>
</p:sld>
</file>

<file path=ppt/slides/slide4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Gram determinant: </a:t>
                </a:r>
                <a14:m>
                  <m:oMath xmlns:m="http://schemas.openxmlformats.org/officeDocument/2006/math">
                    <m:r>
                      <m:rPr>
                        <m:sty m:val="p"/>
                      </m:rPr>
                      <a:rPr lang="en-IN" sz="2400">
                        <a:solidFill>
                          <a:srgbClr val="111827"/>
                        </a:solidFill>
                        <a:latin typeface="Cambria Math" panose="02040503050406030204" pitchFamily="18" charset="0"/>
                      </a:rPr>
                      <m:t>det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 </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3</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of a point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oMath>
                </a14:m>
                <a:r>
                  <a:rPr sz="2400" b="0">
                    <a:solidFill>
                      <a:srgbClr val="111827"/>
                    </a:solidFill>
                    <a:latin typeface="Arial"/>
                  </a:rPr>
                  <a:t> from the plane through the origin containing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𝑝</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a:rPr lang="en-IN" sz="2400" i="1">
                            <a:solidFill>
                              <a:srgbClr val="111827"/>
                            </a:solidFill>
                            <a:latin typeface="Cambria Math" panose="02040503050406030204" pitchFamily="18" charset="0"/>
                          </a:rPr>
                          <m:t> </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𝑞</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𝑟</m:t>
                            </m:r>
                          </m:e>
                        </m:acc>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tetrahedron of face centroids has volume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 of the original (ratio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in length).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lines through a common point meet again only at that point: check the geometry of the data before computing a distance.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Gram determinant: </a:t>
                </a:r>
                <a:r>
                  <a:rPr lang="en-IN" sz="2400">
                    <a:solidFill>
                      <a:srgbClr val="111827"/>
                    </a:solidFill>
                    <a:latin typeface="Cambria Math" panose="02040503050406030204" pitchFamily="18" charset="0"/>
                  </a:rPr>
                  <a:t>$\det(\vec e_i\cdot\vec e_j)=[\vec e_1\ \vec e_2\ \vec e_3]^2$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of a point </a:t>
                </a:r>
                <a:r>
                  <a:rPr lang="en-IN" sz="2400">
                    <a:solidFill>
                      <a:srgbClr val="111827"/>
                    </a:solidFill>
                    <a:latin typeface="Cambria Math" panose="02040503050406030204" pitchFamily="18" charset="0"/>
                  </a:rPr>
                  <a:t>$\vec p$</a:t>
                </a:r>
                <a:r>
                  <a:rPr sz="2400" b="0">
                    <a:solidFill>
                      <a:srgbClr val="111827"/>
                    </a:solidFill>
                    <a:latin typeface="Arial"/>
                  </a:rPr>
                  <a:t> from the plane through the origin containing </a:t>
                </a:r>
                <a:r>
                  <a:rPr lang="en-IN" sz="2400">
                    <a:solidFill>
                      <a:srgbClr val="111827"/>
                    </a:solidFill>
                    <a:latin typeface="Cambria Math" panose="02040503050406030204" pitchFamily="18" charset="0"/>
                  </a:rPr>
                  <a:t>$\vec q,\vec r$</a:t>
                </a:r>
                <a:r>
                  <a:rPr sz="2400" b="0">
                    <a:solidFill>
                      <a:srgbClr val="111827"/>
                    </a:solidFill>
                    <a:latin typeface="Arial"/>
                  </a:rPr>
                  <a:t>: </a:t>
                </a:r>
                <a:r>
                  <a:rPr lang="en-IN" sz="2400">
                    <a:solidFill>
                      <a:srgbClr val="111827"/>
                    </a:solidFill>
                    <a:latin typeface="Cambria Math" panose="02040503050406030204" pitchFamily="18" charset="0"/>
                  </a:rPr>
                  <a:t>$\frac{|[\vec p\ \vec q\ \vec r]|}{|\vec q\times\vec 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tetrahedron of face centroids has volume </a:t>
                </a:r>
                <a:r>
                  <a:rPr lang="en-IN" sz="2400">
                    <a:solidFill>
                      <a:srgbClr val="111827"/>
                    </a:solidFill>
                    <a:latin typeface="Cambria Math" panose="02040503050406030204" pitchFamily="18" charset="0"/>
                  </a:rPr>
                  <a:t>$\frac1{27}$</a:t>
                </a:r>
                <a:r>
                  <a:rPr sz="2400" b="0">
                    <a:solidFill>
                      <a:srgbClr val="111827"/>
                    </a:solidFill>
                    <a:latin typeface="Arial"/>
                  </a:rPr>
                  <a:t> of the original (ratio </a:t>
                </a:r>
                <a:r>
                  <a:rPr lang="en-IN" sz="2400">
                    <a:solidFill>
                      <a:srgbClr val="111827"/>
                    </a:solidFill>
                    <a:latin typeface="Cambria Math" panose="02040503050406030204" pitchFamily="18" charset="0"/>
                  </a:rPr>
                  <a:t>$\frac13$</a:t>
                </a:r>
                <a:r>
                  <a:rPr sz="2400" b="0">
                    <a:solidFill>
                      <a:srgbClr val="111827"/>
                    </a:solidFill>
                    <a:latin typeface="Arial"/>
                  </a:rPr>
                  <a:t> in length).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lines through a common point meet again only at that point: check the geometry of the data before computing a distance.</a:t>
                </a:r>
                <a:endParaRPr sz="2400">
                  <a:solidFill>
                    <a:srgbClr val="111827"/>
                  </a:solidFill>
                </a:endParaRPr>
              </a:p>
            </p:txBody>
          </p:sp>
        </mc:Fallback>
      </mc:AlternateContent>
    </p:spTree>
  </p:cSld>
  <p:clrMapOvr>
    <a:masterClrMapping/>
  </p:clrMapOvr>
</p:sld>
</file>

<file path=ppt/slides/slide4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01</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02</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03</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04</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05</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(2/16)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06</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07</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08</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09</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10</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4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(3/16)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11</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12</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13</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14</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15</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4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(4/16)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16</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17</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18</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19</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20</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bl>
          </a:graphicData>
        </a:graphic>
      </p:graphicFrame>
    </p:spTree>
  </p:cSld>
  <p:clrMapOvr>
    <a:masterClrMapping/>
  </p:clrMapOvr>
</p:sld>
</file>

<file path=ppt/slides/slide4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(5/16)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21</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22</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23</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24</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25</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(6/16)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26</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27</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28</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29</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30</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(7/16)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31</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32</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33</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34</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35</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bl>
          </a:graphicData>
        </a:graphic>
      </p:graphicFrame>
    </p:spTree>
  </p:cSld>
  <p:clrMapOvr>
    <a:masterClrMapping/>
  </p:clrMapOvr>
</p:sld>
</file>

<file path=ppt/slides/slide4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(8/16)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36</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37</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38</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39</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40</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(9/16)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41</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42</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43</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44</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45</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4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(10/16)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46</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47</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48</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49</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50</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4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(11/16)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51</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52</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53</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54</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55</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(12/16)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56</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57</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58</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59</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60</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4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(13/16)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61</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62</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63</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64</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65</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(14/16)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66</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67</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68</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69</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70</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4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(15/16)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71</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72</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73</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74</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75</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(16/16)</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76</a:t>
                      </a:r>
                    </a:p>
                  </a:txBody>
                  <a:tcPr anchor="ctr" marL="91440" marR="91440">
                    <a:solidFill>
                      <a:srgbClr val="FFFFFF"/>
                    </a:solidFill>
                  </a:tcPr>
                </a:tc>
                <a:tc>
                  <a:txBody>
                    <a:bodyPr/>
                    <a:lstStyle/>
                    <a:p>
                      <a:pPr algn="l"/>
                      <a:r>
                        <a:rPr sz="2400" b="0">
                          <a:solidFill>
                            <a:srgbClr val="111827"/>
                          </a:solidFill>
                          <a:latin typeface="Arial"/>
                        </a:rPr>
                        <a:t>Subjective</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77</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78</a:t>
                      </a:r>
                    </a:p>
                  </a:txBody>
                  <a:tcPr anchor="ctr" marL="91440" marR="91440">
                    <a:solidFill>
                      <a:srgbClr val="FFFFFF"/>
                    </a:solidFill>
                  </a:tcPr>
                </a:tc>
                <a:tc>
                  <a:txBody>
                    <a:bodyPr/>
                    <a:lstStyle/>
                    <a:p>
                      <a:pPr algn="l"/>
                      <a:r>
                        <a:rPr sz="2400" b="0">
                          <a:solidFill>
                            <a:srgbClr val="111827"/>
                          </a:solidFill>
                          <a:latin typeface="Arial"/>
                        </a:rPr>
                        <a:t>Matching</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79</a:t>
                      </a:r>
                    </a:p>
                  </a:txBody>
                  <a:tcPr anchor="ctr" marL="91440" marR="91440">
                    <a:solidFill>
                      <a:srgbClr val="FFFFFF"/>
                    </a:solidFill>
                  </a:tcPr>
                </a:tc>
                <a:tc>
                  <a:txBody>
                    <a:bodyPr/>
                    <a:lstStyle/>
                    <a:p>
                      <a:pPr algn="l"/>
                      <a:r>
                        <a:rPr sz="2400" b="0">
                          <a:solidFill>
                            <a:srgbClr val="111827"/>
                          </a:solidFill>
                          <a:latin typeface="Arial"/>
                        </a:rPr>
                        <a:t>Matching</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80</a:t>
                      </a:r>
                    </a:p>
                  </a:txBody>
                  <a:tcPr anchor="ctr" marL="91440" marR="91440">
                    <a:solidFill>
                      <a:srgbClr val="FFFFFF"/>
                    </a:solidFill>
                  </a:tcPr>
                </a:tc>
                <a:tc>
                  <a:txBody>
                    <a:bodyPr/>
                    <a:lstStyle/>
                    <a:p>
                      <a:pPr algn="l"/>
                      <a:r>
                        <a:rPr sz="2400" b="0">
                          <a:solidFill>
                            <a:srgbClr val="111827"/>
                          </a:solidFill>
                          <a:latin typeface="Arial"/>
                        </a:rPr>
                        <a:t>Matching</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4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a:t>
            </a:r>
            <a:endParaRPr sz="3200">
              <a:solidFill>
                <a:srgbClr val="FFFFFF"/>
              </a:solidFill>
            </a:endParaRPr>
          </a:p>
        </p:txBody>
      </p:sp>
      <p:sp>
        <p:nvSpPr>
          <p:cNvPr id="3" name="Rounded Rectangle 2"/>
          <p:cNvSpPr/>
          <p:nvPr/>
        </p:nvSpPr>
        <p:spPr>
          <a:xfrm>
            <a:off x="731520" y="1417320"/>
            <a:ext cx="4754880" cy="329184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37160" bIns="73152"/>
          <a:lstStyle>
            <a:lvl1pPr>
              <a:defRPr sz="3000">
                <a:solidFill>
                  <a:srgbClr val="0B1F3A"/>
                </a:solidFill>
              </a:defRPr>
            </a:lvl1pPr>
          </a:lstStyle>
          <a:p>
            <a:pPr algn="ctr">
              <a:defRPr sz="3000">
                <a:solidFill>
                  <a:srgbClr val="0B1F3A"/>
                </a:solidFill>
              </a:defRPr>
            </a:pPr>
            <a:r>
              <a:rPr sz="3000" b="1">
                <a:solidFill>
                  <a:srgbClr val="0B1F3A"/>
                </a:solidFill>
                <a:latin typeface="Arial"/>
              </a:rPr>
              <a:t>Difficulty Index</a:t>
            </a:r>
            <a:endParaRPr sz="3000">
              <a:solidFill>
                <a:srgbClr val="0B1F3A"/>
              </a:solidFill>
            </a:endParaRPr>
          </a:p>
          <a:p>
            <a:pPr algn="ctr">
              <a:defRPr sz="3000">
                <a:solidFill>
                  <a:srgbClr val="0B1F3A"/>
                </a:solidFill>
              </a:defRPr>
            </a:pPr>
            <a:r>
              <a:rPr sz="8800" b="1">
                <a:solidFill>
                  <a:srgbClr val="0B1F3A"/>
                </a:solidFill>
                <a:latin typeface="Arial"/>
              </a:rPr>
              <a:t>2.50</a:t>
            </a:r>
            <a:endParaRPr sz="3000">
              <a:solidFill>
                <a:srgbClr val="0B1F3A"/>
              </a:solidFill>
            </a:endParaRPr>
          </a:p>
          <a:p>
            <a:pPr algn="ctr">
              <a:defRPr sz="3000">
                <a:solidFill>
                  <a:srgbClr val="0B1F3A"/>
                </a:solidFill>
              </a:defRPr>
            </a:pPr>
            <a:r>
              <a:rPr sz="2400" b="0">
                <a:solidFill>
                  <a:srgbClr val="0B1F3A"/>
                </a:solidFill>
                <a:latin typeface="Arial"/>
              </a:rPr>
              <a:t>out of 5</a:t>
            </a:r>
            <a:endParaRPr sz="3000">
              <a:solidFill>
                <a:srgbClr val="0B1F3A"/>
              </a:solidFill>
            </a:endParaRPr>
          </a:p>
        </p:txBody>
      </p:sp>
      <p:sp>
        <p:nvSpPr>
          <p:cNvPr id="4" name="Rectangle 3"/>
          <p:cNvSpPr/>
          <p:nvPr/>
        </p:nvSpPr>
        <p:spPr>
          <a:xfrm>
            <a:off x="5852160" y="1417320"/>
            <a:ext cx="5605272" cy="603504"/>
          </a:xfrm>
          <a:prstGeom prst="rect">
            <a:avLst/>
          </a:prstGeom>
          <a:solidFill>
            <a:srgbClr val="93C47D"/>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JEE Main or easier:  5 questions</a:t>
            </a:r>
            <a:endParaRPr sz="2400">
              <a:solidFill>
                <a:srgbClr val="111827"/>
              </a:solidFill>
            </a:endParaRPr>
          </a:p>
        </p:txBody>
      </p:sp>
      <p:sp>
        <p:nvSpPr>
          <p:cNvPr id="5" name="Rectangle 4"/>
          <p:cNvSpPr/>
          <p:nvPr/>
        </p:nvSpPr>
        <p:spPr>
          <a:xfrm>
            <a:off x="5852160" y="2093976"/>
            <a:ext cx="5605272" cy="603504"/>
          </a:xfrm>
          <a:prstGeom prst="rect">
            <a:avLst/>
          </a:prstGeom>
          <a:solidFill>
            <a:srgbClr val="FFD966"/>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Below average:  34 questions</a:t>
            </a:r>
            <a:endParaRPr sz="2400">
              <a:solidFill>
                <a:srgbClr val="111827"/>
              </a:solidFill>
            </a:endParaRPr>
          </a:p>
        </p:txBody>
      </p:sp>
      <p:sp>
        <p:nvSpPr>
          <p:cNvPr id="6" name="Rectangle 5"/>
          <p:cNvSpPr/>
          <p:nvPr/>
        </p:nvSpPr>
        <p:spPr>
          <a:xfrm>
            <a:off x="5852160" y="2770632"/>
            <a:ext cx="5605272" cy="603504"/>
          </a:xfrm>
          <a:prstGeom prst="rect">
            <a:avLst/>
          </a:prstGeom>
          <a:solidFill>
            <a:srgbClr val="F6B26B"/>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Average Advanced:  36 questions</a:t>
            </a:r>
            <a:endParaRPr sz="2400">
              <a:solidFill>
                <a:srgbClr val="111827"/>
              </a:solidFill>
            </a:endParaRPr>
          </a:p>
        </p:txBody>
      </p:sp>
      <p:sp>
        <p:nvSpPr>
          <p:cNvPr id="7" name="Rectangle 6"/>
          <p:cNvSpPr/>
          <p:nvPr/>
        </p:nvSpPr>
        <p:spPr>
          <a:xfrm>
            <a:off x="5852160" y="3447288"/>
            <a:ext cx="5605272" cy="603504"/>
          </a:xfrm>
          <a:prstGeom prst="rect">
            <a:avLst/>
          </a:prstGeom>
          <a:solidFill>
            <a:srgbClr val="E88080"/>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Above average:  5 questions</a:t>
            </a:r>
            <a:endParaRPr sz="2400">
              <a:solidFill>
                <a:srgbClr val="111827"/>
              </a:solidFill>
            </a:endParaRPr>
          </a:p>
        </p:txBody>
      </p:sp>
      <p:sp>
        <p:nvSpPr>
          <p:cNvPr id="8" name="Rectangle 7"/>
          <p:cNvSpPr/>
          <p:nvPr/>
        </p:nvSpPr>
        <p:spPr>
          <a:xfrm>
            <a:off x="5852160" y="4123944"/>
            <a:ext cx="5605272" cy="603504"/>
          </a:xfrm>
          <a:prstGeom prst="rect">
            <a:avLst/>
          </a:prstGeom>
          <a:solidFill>
            <a:srgbClr val="CC4125"/>
          </a:solidFill>
          <a:ln w="19050">
            <a:solidFill>
              <a:srgbClr val="6B7280"/>
            </a:solidFill>
          </a:ln>
          <a:effectLst/>
        </p:spPr>
        <p:style>
          <a:lnRef idx="1">
            <a:schemeClr val="accent1"/>
          </a:lnRef>
          <a:fillRef idx="3">
            <a:schemeClr val="accent1"/>
          </a:fillRef>
          <a:effectRef idx="2">
            <a:schemeClr val="accent1"/>
          </a:effectRef>
          <a:fontRef idx="minor">
            <a:srgbClr val="FFFFFF"/>
          </a:fontRef>
        </p:style>
        <p:txBody>
          <a:bodyPr rtlCol="0" anchor="ctr" wrap="square" lIns="228600" rIns="228600" tIns="18288" bIns="73152"/>
          <a:lstStyle>
            <a:lvl1pPr>
              <a:defRPr sz="2400">
                <a:solidFill>
                  <a:srgbClr val="FFFFFF"/>
                </a:solidFill>
              </a:defRPr>
            </a:lvl1pPr>
          </a:lstStyle>
          <a:p>
            <a:pPr algn="l">
              <a:defRPr sz="2400">
                <a:solidFill>
                  <a:srgbClr val="FFFFFF"/>
                </a:solidFill>
              </a:defRPr>
            </a:pPr>
            <a:r>
              <a:rPr sz="2400" b="1">
                <a:solidFill>
                  <a:srgbClr val="FFFFFF"/>
                </a:solidFill>
                <a:latin typeface="Arial"/>
              </a:rPr>
              <a:t>Very difficult:  0 questions</a:t>
            </a:r>
            <a:endParaRPr sz="2400">
              <a:solidFill>
                <a:srgbClr val="FFFFFF"/>
              </a:solidFill>
            </a:endParaRPr>
          </a:p>
        </p:txBody>
      </p:sp>
      <p:sp>
        <p:nvSpPr>
          <p:cNvPr id="9" name="Rectangle 8"/>
          <p:cNvSpPr/>
          <p:nvPr/>
        </p:nvSpPr>
        <p:spPr>
          <a:xfrm>
            <a:off x="731520" y="5029200"/>
            <a:ext cx="10725912" cy="1097280"/>
          </a:xfrm>
          <a:prstGeom prst="rect">
            <a:avLst/>
          </a:prstGeom>
          <a:solidFill>
            <a:srgbClr val="FFFFFF"/>
          </a:solidFill>
          <a:ln w="19050">
            <a:no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ctr">
              <a:defRPr sz="2400">
                <a:solidFill>
                  <a:srgbClr val="111827"/>
                </a:solidFill>
              </a:defRPr>
            </a:pPr>
            <a:r>
              <a:rPr sz="2400" b="0">
                <a:solidFill>
                  <a:srgbClr val="111827"/>
                </a:solidFill>
                <a:latin typeface="Arial"/>
              </a:rPr>
              <a:t>Total: 80 questions, 308 marks.  Index = Σ(marks × level) ÷ Σ marks, on the 0-5 scale.</a:t>
            </a:r>
            <a:endParaRPr sz="2400">
              <a:solidFill>
                <a:srgbClr val="111827"/>
              </a:solidFill>
            </a:endParaRPr>
          </a:p>
        </p:txBody>
      </p:sp>
    </p:spTree>
  </p:cSld>
  <p:clrMapOvr>
    <a:masterClrMapping/>
  </p:clrMapOvr>
</p:sld>
</file>

<file path=ppt/slides/slide4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Difficulty Profile of the Paper</a:t>
            </a:r>
            <a:endParaRPr sz="3200">
              <a:solidFill>
                <a:srgbClr val="FFFFFF"/>
              </a:solidFill>
            </a:endParaRPr>
          </a:p>
        </p:txBody>
      </p:sp>
      <p:graphicFrame>
        <p:nvGraphicFramePr>
          <p:cNvPr id="3" name="Chart 2"/>
          <p:cNvGraphicFramePr>
            <a:graphicFrameLocks noGrp="1"/>
          </p:cNvGraphicFramePr>
          <p:nvPr/>
        </p:nvGraphicFramePr>
        <p:xfrm>
          <a:off x="457200" y="1280160"/>
          <a:ext cx="11274552" cy="5349240"/>
        </p:xfrm>
        <a:graphic>
          <a:graphicData uri="http://schemas.openxmlformats.org/drawingml/2006/chart">
            <c:chart xmlns:c="http://schemas.openxmlformats.org/drawingml/2006/chart" r:id="rId2"/>
          </a:graphicData>
        </a:graphic>
      </p:graphicFrame>
    </p:spTree>
  </p:cSld>
  <p:clrMapOvr>
    <a:masterClrMapping/>
  </p:clrMapOvr>
</p:sld>
</file>

<file path=ppt/slides/slide4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Comparison with JEE Advanced Papers</a:t>
            </a:r>
            <a:endParaRPr sz="3200">
              <a:solidFill>
                <a:srgbClr val="FFFFFF"/>
              </a:solidFill>
            </a:endParaRPr>
          </a:p>
        </p:txBody>
      </p:sp>
      <p:graphicFrame>
        <p:nvGraphicFramePr>
          <p:cNvPr id="3" name="Table 2"/>
          <p:cNvGraphicFramePr>
            <a:graphicFrameLocks noGrp="1"/>
          </p:cNvGraphicFramePr>
          <p:nvPr/>
        </p:nvGraphicFramePr>
        <p:xfrm>
          <a:off x="1661007" y="1371600"/>
          <a:ext cx="8869680" cy="4526280"/>
        </p:xfrm>
        <a:graphic>
          <a:graphicData uri="http://schemas.openxmlformats.org/drawingml/2006/table">
            <a:tbl>
              <a:tblPr firstRow="1" bandRow="1">
                <a:tableStyleId>{5C22544A-7EE6-4342-B048-85BDC9FD1C3A}</a:tableStyleId>
              </a:tblPr>
              <a:tblGrid>
                <a:gridCol w="5760720"/>
                <a:gridCol w="3108960"/>
              </a:tblGrid>
              <a:tr h="685800">
                <a:tc>
                  <a:txBody>
                    <a:bodyPr/>
                    <a:lstStyle/>
                    <a:p>
                      <a:pPr algn="ctr"/>
                      <a:r>
                        <a:rPr sz="2600" b="1">
                          <a:solidFill>
                            <a:srgbClr val="FFFFFF"/>
                          </a:solidFill>
                          <a:latin typeface="Arial"/>
                        </a:rPr>
                        <a:t>Paper</a:t>
                      </a:r>
                    </a:p>
                  </a:txBody>
                  <a:tcPr anchor="ctr" marL="137160" marR="137160">
                    <a:solidFill>
                      <a:srgbClr val="0B1F3A"/>
                    </a:solidFill>
                  </a:tcPr>
                </a:tc>
                <a:tc>
                  <a:txBody>
                    <a:bodyPr/>
                    <a:lstStyle/>
                    <a:p>
                      <a:pPr algn="ctr"/>
                      <a:r>
                        <a:rPr sz="2600" b="1">
                          <a:solidFill>
                            <a:srgbClr val="FFFFFF"/>
                          </a:solidFill>
                          <a:latin typeface="Arial"/>
                        </a:rPr>
                        <a:t>Difficulty Index</a:t>
                      </a:r>
                    </a:p>
                  </a:txBody>
                  <a:tcPr anchor="ctr" marL="137160" marR="137160">
                    <a:solidFill>
                      <a:srgbClr val="0B1F3A"/>
                    </a:solidFill>
                  </a:tcPr>
                </a:tc>
              </a:tr>
              <a:tr h="640080">
                <a:tc>
                  <a:txBody>
                    <a:bodyPr/>
                    <a:lstStyle/>
                    <a:p>
                      <a:pPr algn="l"/>
                      <a:r>
                        <a:rPr sz="2600" b="0">
                          <a:solidFill>
                            <a:srgbClr val="111827"/>
                          </a:solidFill>
                          <a:latin typeface="Arial"/>
                        </a:rPr>
                        <a:t>JEE Advanced 2021</a:t>
                      </a:r>
                    </a:p>
                  </a:txBody>
                  <a:tcPr anchor="ctr" marL="137160" marR="137160">
                    <a:solidFill>
                      <a:srgbClr val="FFFFFF"/>
                    </a:solidFill>
                  </a:tcPr>
                </a:tc>
                <a:tc>
                  <a:txBody>
                    <a:bodyPr/>
                    <a:lstStyle/>
                    <a:p>
                      <a:pPr algn="ctr"/>
                      <a:r>
                        <a:rPr sz="2600" b="1">
                          <a:solidFill>
                            <a:srgbClr val="111827"/>
                          </a:solidFill>
                          <a:latin typeface="Arial"/>
                        </a:rPr>
                        <a:t>2.76</a:t>
                      </a:r>
                    </a:p>
                  </a:txBody>
                  <a:tcPr anchor="ctr" marL="137160" marR="137160">
                    <a:solidFill>
                      <a:srgbClr val="FFFFFF"/>
                    </a:solidFill>
                  </a:tcPr>
                </a:tc>
              </a:tr>
              <a:tr h="640080">
                <a:tc>
                  <a:txBody>
                    <a:bodyPr/>
                    <a:lstStyle/>
                    <a:p>
                      <a:pPr algn="l"/>
                      <a:r>
                        <a:rPr sz="2600" b="0">
                          <a:solidFill>
                            <a:srgbClr val="111827"/>
                          </a:solidFill>
                          <a:latin typeface="Arial"/>
                        </a:rPr>
                        <a:t>JEE Advanced 2023</a:t>
                      </a:r>
                    </a:p>
                  </a:txBody>
                  <a:tcPr anchor="ctr" marL="137160" marR="137160">
                    <a:solidFill>
                      <a:srgbClr val="FFFFFF"/>
                    </a:solidFill>
                  </a:tcPr>
                </a:tc>
                <a:tc>
                  <a:txBody>
                    <a:bodyPr/>
                    <a:lstStyle/>
                    <a:p>
                      <a:pPr algn="ctr"/>
                      <a:r>
                        <a:rPr sz="2600" b="1">
                          <a:solidFill>
                            <a:srgbClr val="111827"/>
                          </a:solidFill>
                          <a:latin typeface="Arial"/>
                        </a:rPr>
                        <a:t>3.19</a:t>
                      </a:r>
                    </a:p>
                  </a:txBody>
                  <a:tcPr anchor="ctr" marL="137160" marR="137160">
                    <a:solidFill>
                      <a:srgbClr val="FFFFFF"/>
                    </a:solidFill>
                  </a:tcPr>
                </a:tc>
              </a:tr>
              <a:tr h="640080">
                <a:tc>
                  <a:txBody>
                    <a:bodyPr/>
                    <a:lstStyle/>
                    <a:p>
                      <a:pPr algn="l"/>
                      <a:r>
                        <a:rPr sz="2600" b="0">
                          <a:solidFill>
                            <a:srgbClr val="111827"/>
                          </a:solidFill>
                          <a:latin typeface="Arial"/>
                        </a:rPr>
                        <a:t>JEE Advanced 2024</a:t>
                      </a:r>
                    </a:p>
                  </a:txBody>
                  <a:tcPr anchor="ctr" marL="137160" marR="137160">
                    <a:solidFill>
                      <a:srgbClr val="FFFFFF"/>
                    </a:solidFill>
                  </a:tcPr>
                </a:tc>
                <a:tc>
                  <a:txBody>
                    <a:bodyPr/>
                    <a:lstStyle/>
                    <a:p>
                      <a:pPr algn="ctr"/>
                      <a:r>
                        <a:rPr sz="2600" b="1">
                          <a:solidFill>
                            <a:srgbClr val="111827"/>
                          </a:solidFill>
                          <a:latin typeface="Arial"/>
                        </a:rPr>
                        <a:t>2.59</a:t>
                      </a:r>
                    </a:p>
                  </a:txBody>
                  <a:tcPr anchor="ctr" marL="137160" marR="137160">
                    <a:solidFill>
                      <a:srgbClr val="FFFFFF"/>
                    </a:solidFill>
                  </a:tcPr>
                </a:tc>
              </a:tr>
              <a:tr h="640080">
                <a:tc>
                  <a:txBody>
                    <a:bodyPr/>
                    <a:lstStyle/>
                    <a:p>
                      <a:pPr algn="l"/>
                      <a:r>
                        <a:rPr sz="2600" b="0">
                          <a:solidFill>
                            <a:srgbClr val="111827"/>
                          </a:solidFill>
                          <a:latin typeface="Arial"/>
                        </a:rPr>
                        <a:t>JEE Advanced 2025</a:t>
                      </a:r>
                    </a:p>
                  </a:txBody>
                  <a:tcPr anchor="ctr" marL="137160" marR="137160">
                    <a:solidFill>
                      <a:srgbClr val="FFFFFF"/>
                    </a:solidFill>
                  </a:tcPr>
                </a:tc>
                <a:tc>
                  <a:txBody>
                    <a:bodyPr/>
                    <a:lstStyle/>
                    <a:p>
                      <a:pPr algn="ctr"/>
                      <a:r>
                        <a:rPr sz="2600" b="1">
                          <a:solidFill>
                            <a:srgbClr val="111827"/>
                          </a:solidFill>
                          <a:latin typeface="Arial"/>
                        </a:rPr>
                        <a:t>3.21</a:t>
                      </a:r>
                    </a:p>
                  </a:txBody>
                  <a:tcPr anchor="ctr" marL="137160" marR="137160">
                    <a:solidFill>
                      <a:srgbClr val="FFFFFF"/>
                    </a:solidFill>
                  </a:tcPr>
                </a:tc>
              </a:tr>
              <a:tr h="640080">
                <a:tc>
                  <a:txBody>
                    <a:bodyPr/>
                    <a:lstStyle/>
                    <a:p>
                      <a:pPr algn="l"/>
                      <a:r>
                        <a:rPr sz="2600" b="0">
                          <a:solidFill>
                            <a:srgbClr val="111827"/>
                          </a:solidFill>
                          <a:latin typeface="Arial"/>
                        </a:rPr>
                        <a:t>JEE Advanced 2026</a:t>
                      </a:r>
                    </a:p>
                  </a:txBody>
                  <a:tcPr anchor="ctr" marL="137160" marR="137160">
                    <a:solidFill>
                      <a:srgbClr val="FFFFFF"/>
                    </a:solidFill>
                  </a:tcPr>
                </a:tc>
                <a:tc>
                  <a:txBody>
                    <a:bodyPr/>
                    <a:lstStyle/>
                    <a:p>
                      <a:pPr algn="ctr"/>
                      <a:r>
                        <a:rPr sz="2600" b="1">
                          <a:solidFill>
                            <a:srgbClr val="111827"/>
                          </a:solidFill>
                          <a:latin typeface="Arial"/>
                        </a:rPr>
                        <a:t>3.02</a:t>
                      </a:r>
                    </a:p>
                  </a:txBody>
                  <a:tcPr anchor="ctr" marL="137160" marR="137160">
                    <a:solidFill>
                      <a:srgbClr val="FFFFFF"/>
                    </a:solidFill>
                  </a:tcPr>
                </a:tc>
              </a:tr>
              <a:tr h="640080">
                <a:tc>
                  <a:txBody>
                    <a:bodyPr/>
                    <a:lstStyle/>
                    <a:p>
                      <a:pPr algn="l"/>
                      <a:r>
                        <a:rPr sz="2600" b="1">
                          <a:solidFill>
                            <a:srgbClr val="0B1F3A"/>
                          </a:solidFill>
                          <a:latin typeface="Arial"/>
                        </a:rPr>
                        <a:t>B1 Assignment Vector 3D Assignment · detailed solutions</a:t>
                      </a:r>
                    </a:p>
                  </a:txBody>
                  <a:tcPr anchor="ctr" marL="137160" marR="137160">
                    <a:solidFill>
                      <a:srgbClr val="E0ECFF"/>
                    </a:solidFill>
                  </a:tcPr>
                </a:tc>
                <a:tc>
                  <a:txBody>
                    <a:bodyPr/>
                    <a:lstStyle/>
                    <a:p>
                      <a:pPr algn="ctr"/>
                      <a:r>
                        <a:rPr sz="2600" b="1">
                          <a:solidFill>
                            <a:srgbClr val="0B1F3A"/>
                          </a:solidFill>
                          <a:latin typeface="Arial"/>
                        </a:rPr>
                        <a:t>2.50</a:t>
                      </a:r>
                    </a:p>
                  </a:txBody>
                  <a:tcPr anchor="ctr" marL="137160" marR="137160">
                    <a:solidFill>
                      <a:srgbClr val="E0ECFF"/>
                    </a:solidFill>
                  </a:tcPr>
                </a:tc>
              </a:tr>
            </a:tbl>
          </a:graphicData>
        </a:graphic>
      </p:graphicFrame>
      <p:sp>
        <p:nvSpPr>
          <p:cNvPr id="4" name="TextBox 3"/>
          <p:cNvSpPr txBox="1"/>
          <p:nvPr/>
        </p:nvSpPr>
        <p:spPr>
          <a:xfrm>
            <a:off x="731520" y="6080759"/>
            <a:ext cx="10725912" cy="457200"/>
          </a:xfrm>
          <a:prstGeom prst="rect">
            <a:avLst/>
          </a:prstGeom>
          <a:noFill/>
        </p:spPr>
        <p:txBody>
          <a:bodyPr wrap="none">
            <a:spAutoFit/>
          </a:bodyPr>
          <a:lstStyle>
            <a:lvl1pPr>
              <a:defRPr sz="2000">
                <a:solidFill>
                  <a:srgbClr val="111827"/>
                </a:solidFill>
              </a:defRPr>
            </a:lvl1pPr>
          </a:lstStyle>
          <a:p>
            <a:pPr algn="ctr">
              <a:defRPr sz="2000">
                <a:solidFill>
                  <a:srgbClr val="111827"/>
                </a:solidFill>
              </a:defRPr>
            </a:pPr>
            <a:r>
              <a:rPr sz="2000" b="0">
                <a:solidFill>
                  <a:srgbClr val="111827"/>
                </a:solidFill>
                <a:latin typeface="Arial"/>
              </a:rPr>
              <a:t>Marks-weighted difficulty index on the 0-5 scale</a:t>
            </a:r>
            <a:endParaRPr sz="2000">
              <a:solidFill>
                <a:srgbClr val="111827"/>
              </a:solidFill>
            </a:endParaRP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