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B6D7A8"/>
              </a:solidFill>
              <a:ln w="9525">
                <a:solidFill>
                  <a:srgbClr val="111827"/>
                </a:solidFill>
              </a:ln>
            </c:spPr>
          </c:dPt>
          <c:dPt>
            <c:idx val="2"/>
            <c:spPr>
              <a:solidFill>
                <a:srgbClr val="FFD966"/>
              </a:solidFill>
              <a:ln w="9525">
                <a:solidFill>
                  <a:srgbClr val="111827"/>
                </a:solidFill>
              </a:ln>
            </c:spPr>
          </c:dPt>
          <c:dPt>
            <c:idx val="3"/>
            <c:spPr>
              <a:solidFill>
                <a:srgbClr val="B6D7A8"/>
              </a:solidFill>
              <a:ln w="9525">
                <a:solidFill>
                  <a:srgbClr val="111827"/>
                </a:solidFill>
              </a:ln>
            </c:spPr>
          </c:dPt>
          <c:dPt>
            <c:idx val="4"/>
            <c:spPr>
              <a:solidFill>
                <a:srgbClr val="FFD966"/>
              </a:solidFill>
              <a:ln w="9525">
                <a:solidFill>
                  <a:srgbClr val="111827"/>
                </a:solidFill>
              </a:ln>
            </c:spPr>
          </c:dPt>
          <c:dPt>
            <c:idx val="5"/>
            <c:spPr>
              <a:solidFill>
                <a:srgbClr val="F6B26B"/>
              </a:solidFill>
              <a:ln w="9525">
                <a:solidFill>
                  <a:srgbClr val="111827"/>
                </a:solidFill>
              </a:ln>
            </c:spPr>
          </c:dPt>
          <c:dPt>
            <c:idx val="6"/>
            <c:spPr>
              <a:solidFill>
                <a:srgbClr val="FFD966"/>
              </a:solidFill>
              <a:ln w="9525">
                <a:solidFill>
                  <a:srgbClr val="111827"/>
                </a:solidFill>
              </a:ln>
            </c:spPr>
          </c:dPt>
          <c:dPt>
            <c:idx val="7"/>
            <c:spPr>
              <a:solidFill>
                <a:srgbClr val="F6B26B"/>
              </a:solidFill>
              <a:ln w="9525">
                <a:solidFill>
                  <a:srgbClr val="111827"/>
                </a:solidFill>
              </a:ln>
            </c:spPr>
          </c:dPt>
          <c:dPt>
            <c:idx val="8"/>
            <c:spPr>
              <a:solidFill>
                <a:srgbClr val="FFD966"/>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FFD966"/>
              </a:solidFill>
              <a:ln w="9525">
                <a:solidFill>
                  <a:srgbClr val="111827"/>
                </a:solidFill>
              </a:ln>
            </c:spPr>
          </c:dPt>
          <c:dPt>
            <c:idx val="12"/>
            <c:spPr>
              <a:solidFill>
                <a:srgbClr val="F6B26B"/>
              </a:solidFill>
              <a:ln w="9525">
                <a:solidFill>
                  <a:srgbClr val="111827"/>
                </a:solidFill>
              </a:ln>
            </c:spPr>
          </c:dPt>
          <c:dPt>
            <c:idx val="13"/>
            <c:spPr>
              <a:solidFill>
                <a:srgbClr val="F6B26B"/>
              </a:solidFill>
              <a:ln w="9525">
                <a:solidFill>
                  <a:srgbClr val="111827"/>
                </a:solidFill>
              </a:ln>
            </c:spPr>
          </c:dPt>
          <c:dPt>
            <c:idx val="14"/>
            <c:spPr>
              <a:solidFill>
                <a:srgbClr val="FFD966"/>
              </a:solidFill>
              <a:ln w="9525">
                <a:solidFill>
                  <a:srgbClr val="111827"/>
                </a:solidFill>
              </a:ln>
            </c:spPr>
          </c:dPt>
          <c:dPt>
            <c:idx val="15"/>
            <c:spPr>
              <a:solidFill>
                <a:srgbClr val="F6B26B"/>
              </a:solidFill>
              <a:ln w="9525">
                <a:solidFill>
                  <a:srgbClr val="111827"/>
                </a:solidFill>
              </a:ln>
            </c:spPr>
          </c:dPt>
          <c:dPt>
            <c:idx val="16"/>
            <c:spPr>
              <a:solidFill>
                <a:srgbClr val="F6B26B"/>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6B26B"/>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2.0</c:v>
                </c:pt>
                <c:pt idx="1">
                  <c:v>1.0</c:v>
                </c:pt>
                <c:pt idx="2">
                  <c:v>2.0</c:v>
                </c:pt>
                <c:pt idx="3">
                  <c:v>1.0</c:v>
                </c:pt>
                <c:pt idx="4">
                  <c:v>2.0</c:v>
                </c:pt>
                <c:pt idx="5">
                  <c:v>3.0</c:v>
                </c:pt>
                <c:pt idx="6">
                  <c:v>2.0</c:v>
                </c:pt>
                <c:pt idx="7">
                  <c:v>3.0</c:v>
                </c:pt>
                <c:pt idx="8">
                  <c:v>2.0</c:v>
                </c:pt>
                <c:pt idx="9">
                  <c:v>2.0</c:v>
                </c:pt>
                <c:pt idx="10">
                  <c:v>2.0</c:v>
                </c:pt>
                <c:pt idx="11">
                  <c:v>2.0</c:v>
                </c:pt>
                <c:pt idx="12">
                  <c:v>3.0</c:v>
                </c:pt>
                <c:pt idx="13">
                  <c:v>3.0</c:v>
                </c:pt>
                <c:pt idx="14">
                  <c:v>2.0</c:v>
                </c:pt>
                <c:pt idx="15">
                  <c:v>3.0</c:v>
                </c:pt>
                <c:pt idx="16">
                  <c:v>3.0</c:v>
                </c:pt>
                <c:pt idx="17">
                  <c:v>2.0</c:v>
                </c:pt>
                <c:pt idx="18">
                  <c:v>2.0</c:v>
                </c:pt>
                <c:pt idx="19">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lists the common terms 11, 23, ..., 395 directly without showing why the first common term is 11, why the difference is 12, or that 395 is the last common term (next one 407 &gt; 403). Added these; sum 6699 verified by brute force.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states '203 pairs' without counting them (404 terms a5..a2020 give 202 pairs, plus (a1,a2024)) and does not show that 5+2020 = 1+2024 = 2025 pairs the terms. Added;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'B^-1 = adj(A^-1) = B = adj(A)' (B^-1 is -A, which is not B) and ends with |A||P| = 38 and |P| = -38, yet gives the answer as 38. Corrected the chain (B^-1 = -A, B = adj A) and stated the determinant: |3B+I| = -38 (sympy). The key 38 is |det|; if the question means the determinant, the value is -38.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removes only multiples of 36 (150 - 25 = 125). That counts numbers divisible by 6 but not by BOTH 4 and 9. 'Not divisible by 4 and 9' means divisible by neither, so multiples of 12 or 18 must go: 150 - (75 + 50 - 25) = 50 (brute force). The PDF key 125 corresponds to the other reading; flagged for your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jumps from a = 3, b = -4 to sqrt(961) = 31 without evaluating (alpha^4 - beta^4)^2 = P4^2 = -63 and 4(alpha beta)^4 = 1024 (alpha beta = -b = 4). Added these; answer 31 verified (alpha = (3 - i sqrt7)/2, alpha^4 + beta^4 = -31).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the determinant of [[a,d],[b,c]] (which is ac - bd) as 'ad - bc' (matrix entries mislabeled), and its Case III and Case IV lines are only asserted (no reason that three numbers never work; Case IV shows only 2x9 = 3x6 and an unclear count). Cleaned the notation and gave the Case III argument and Case IV count (8). Total 36 verified by brute force over all 256 matrices.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the equation as x^2 - 7x + lambda = 0 (typo, should be 70x; its own sum alpha + beta = 70 uses 70) and jumps to alpha = 5, beta = 65, lambda = 325 without testing smaller alpha or saying why. Added the enumeration (alpha = 1, 2, 3, 4 fail). Answer 60 verified.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only asserts that the maximum occurs when off-diagonal entries are 0 and diagonal entries are 3, with no proof that 27 cannot be exceeded. Added the Hadamard bound (row lengths &lt;= 3 for non-negative rows with sum 3). 27 confirmed (random sampling stays below 27, equality at 3I).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the target as '(A+I)^3 + (A-I) - 6A' (missing cube) and just says 'by observation A is orthogonal'. Fixed the expression and added the orthogonality check and the expansion (A+I)^3 + (A-I)^3 = 2A^3 + 6A. Answer 6 unchanged (checked with theta = 2pi/3).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multiplies out (A^-1)^6 and A^2, A^4, then jumps to A^m = [[m+1,-m],[m,1-m]] without proof and compares only the (1,1) entry (m^2 + 1 + m + 1 = 8). Added the justification (A = I + N, N^2 = O, so A^m = I + mN for all integers m) and the check that all four entries give m^2 + m = 6. n(S) = 2 verified by brute force over -30..30.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02 Algebra 01 (Paper 05) — Paper Analysis</a:t>
            </a:r>
            <a:endParaRPr sz="4000">
              <a:solidFill>
                <a:srgbClr val="FFFFFF"/>
              </a:solidFill>
            </a:endParaRPr>
          </a:p>
          <a:p>
            <a:pPr algn="ctr"/>
            <a:r>
              <a:rPr sz="2200">
                <a:solidFill>
                  <a:srgbClr val="FFFFFF"/>
                </a:solidFill>
                <a:latin typeface="Arial"/>
              </a:rPr>
              <a:t>Questions 1–20 (printed Q81–Q100)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Printed as numerical (blank-answer) questions; marking not printed,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a correct answer · 0 otherwise (assumed)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404</m:t>
                    </m:r>
                  </m:oMath>
                </a14:m>
                <a:r>
                  <a:rPr sz="2400" b="0">
                    <a:solidFill>
                      <a:srgbClr val="111827"/>
                    </a:solidFill>
                    <a:latin typeface="Arial"/>
                  </a:rPr>
                  <a:t> be two arithmetic progressions. Then the sum of the common terms in them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$3,7,11,15,\dots,403$</a:t>
                </a:r>
                <a:r>
                  <a:rPr sz="2400" b="0">
                    <a:solidFill>
                      <a:srgbClr val="111827"/>
                    </a:solidFill>
                    <a:latin typeface="Arial"/>
                  </a:rPr>
                  <a:t> and </a:t>
                </a:r>
                <a:r>
                  <a:rPr lang="en-IN" sz="2400">
                    <a:solidFill>
                      <a:srgbClr val="111827"/>
                    </a:solidFill>
                    <a:latin typeface="Cambria Math" panose="02040503050406030204" pitchFamily="18" charset="0"/>
                  </a:rPr>
                  <a:t>$2,5,8,11,\dots,404$</a:t>
                </a:r>
                <a:r>
                  <a:rPr sz="2400" b="0">
                    <a:solidFill>
                      <a:srgbClr val="111827"/>
                    </a:solidFill>
                    <a:latin typeface="Arial"/>
                  </a:rPr>
                  <a:t> be two arithmetic progressions. Then the sum of the common terms in them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Common terms of two arithmetic progressions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Common terms of two A.P.s form an A.P. whose common difference is the L.C.M. of the two common differences.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A.P.s are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403</m:t>
                    </m:r>
                  </m:oMath>
                </a14:m>
                <a:r>
                  <a:rPr sz="2400" b="0">
                    <a:solidFill>
                      <a:srgbClr val="111827"/>
                    </a:solidFill>
                    <a:latin typeface="Arial"/>
                  </a:rPr>
                  <a:t> (difference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404</m:t>
                    </m:r>
                  </m:oMath>
                </a14:m>
                <a:r>
                  <a:rPr sz="2400" b="0">
                    <a:solidFill>
                      <a:srgbClr val="111827"/>
                    </a:solidFill>
                    <a:latin typeface="Arial"/>
                  </a:rPr>
                  <a:t> (difference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term common to both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common difference of the common terms is </a:t>
                </a:r>
                <a14:m>
                  <m:oMath xmlns:m="http://schemas.openxmlformats.org/officeDocument/2006/math">
                    <m:r>
                      <m:rPr>
                        <m:nor/>
                      </m:rPr>
                      <a:rPr lang="en-IN" sz="2400" i="1">
                        <a:solidFill>
                          <a:srgbClr val="111827"/>
                        </a:solidFill>
                        <a:latin typeface="Cambria Math" panose="02040503050406030204" pitchFamily="18" charset="0"/>
                      </a:rPr>
                      <m:t>𝑙𝑐𝑚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common terms form the A.P.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395</m:t>
                    </m:r>
                  </m:oMath>
                </a14:m>
                <a:r>
                  <a:rPr sz="2400" b="0">
                    <a:solidFill>
                      <a:srgbClr val="111827"/>
                    </a:solidFill>
                    <a:latin typeface="Arial"/>
                  </a:rPr>
                  <a:t>; the next one, </a:t>
                </a:r>
                <a14:m>
                  <m:oMath xmlns:m="http://schemas.openxmlformats.org/officeDocument/2006/math">
                    <m:r>
                      <a:rPr lang="en-IN" sz="2400" i="1">
                        <a:solidFill>
                          <a:srgbClr val="111827"/>
                        </a:solidFill>
                        <a:latin typeface="Cambria Math" panose="02040503050406030204" pitchFamily="18" charset="0"/>
                      </a:rPr>
                      <m:t>407</m:t>
                    </m:r>
                  </m:oMath>
                </a14:m>
                <a:r>
                  <a:rPr sz="2400" b="0">
                    <a:solidFill>
                      <a:srgbClr val="111827"/>
                    </a:solidFill>
                    <a:latin typeface="Arial"/>
                  </a:rPr>
                  <a:t>, exceeds </a:t>
                </a:r>
                <a14:m>
                  <m:oMath xmlns:m="http://schemas.openxmlformats.org/officeDocument/2006/math">
                    <m:r>
                      <a:rPr lang="en-IN" sz="2400" i="1">
                        <a:solidFill>
                          <a:srgbClr val="111827"/>
                        </a:solidFill>
                        <a:latin typeface="Cambria Math" panose="02040503050406030204" pitchFamily="18" charset="0"/>
                      </a:rPr>
                      <m:t>403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395</m:t>
                    </m:r>
                  </m:oMath>
                </a14:m>
                <a:r>
                  <a:rPr sz="2400" b="0">
                    <a:solidFill>
                      <a:srgbClr val="111827"/>
                    </a:solidFill>
                    <a:latin typeface="Arial"/>
                  </a:rPr>
                  <a:t> is the last.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A.P.s are </a:t>
                </a:r>
                <a:r>
                  <a:rPr lang="en-IN" sz="2400">
                    <a:solidFill>
                      <a:srgbClr val="111827"/>
                    </a:solidFill>
                    <a:latin typeface="Cambria Math" panose="02040503050406030204" pitchFamily="18" charset="0"/>
                  </a:rPr>
                  <a:t>$3,7,11,\dots,403$</a:t>
                </a:r>
                <a:r>
                  <a:rPr sz="2400" b="0">
                    <a:solidFill>
                      <a:srgbClr val="111827"/>
                    </a:solidFill>
                    <a:latin typeface="Arial"/>
                  </a:rPr>
                  <a:t> (difference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$2,5,8,\dots,404$</a:t>
                </a:r>
                <a:r>
                  <a:rPr sz="2400" b="0">
                    <a:solidFill>
                      <a:srgbClr val="111827"/>
                    </a:solidFill>
                    <a:latin typeface="Arial"/>
                  </a:rPr>
                  <a:t> (difference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term common to both is </a:t>
                </a:r>
                <a:r>
                  <a:rPr lang="en-IN" sz="2400">
                    <a:solidFill>
                      <a:srgbClr val="111827"/>
                    </a:solidFill>
                    <a:latin typeface="Cambria Math" panose="02040503050406030204" pitchFamily="18" charset="0"/>
                  </a:rPr>
                  <a:t>$11$</a:t>
                </a:r>
                <a:r>
                  <a:rPr sz="2400" b="0">
                    <a:solidFill>
                      <a:srgbClr val="111827"/>
                    </a:solidFill>
                    <a:latin typeface="Arial"/>
                  </a:rPr>
                  <a:t> (it is </a:t>
                </a:r>
                <a:r>
                  <a:rPr lang="en-IN" sz="2400">
                    <a:solidFill>
                      <a:srgbClr val="111827"/>
                    </a:solidFill>
                    <a:latin typeface="Cambria Math" panose="02040503050406030204" pitchFamily="18" charset="0"/>
                  </a:rPr>
                  <a:t>$\equiv3 \pmod 4$</a:t>
                </a:r>
                <a:r>
                  <a:rPr sz="2400" b="0">
                    <a:solidFill>
                      <a:srgbClr val="111827"/>
                    </a:solidFill>
                    <a:latin typeface="Arial"/>
                  </a:rPr>
                  <a:t> and </a:t>
                </a:r>
                <a:r>
                  <a:rPr lang="en-IN" sz="2400">
                    <a:solidFill>
                      <a:srgbClr val="111827"/>
                    </a:solidFill>
                    <a:latin typeface="Cambria Math" panose="02040503050406030204" pitchFamily="18" charset="0"/>
                  </a:rPr>
                  <a:t>$\equiv2 \pmod 3$</a:t>
                </a:r>
                <a:r>
                  <a:rPr sz="2400" b="0">
                    <a:solidFill>
                      <a:srgbClr val="111827"/>
                    </a:solidFill>
                    <a:latin typeface="Arial"/>
                  </a:rPr>
                  <a:t>), and the common difference of the common terms is </a:t>
                </a:r>
                <a:r>
                  <a:rPr lang="en-IN" sz="2400">
                    <a:solidFill>
                      <a:srgbClr val="111827"/>
                    </a:solidFill>
                    <a:latin typeface="Cambria Math" panose="02040503050406030204" pitchFamily="18" charset="0"/>
                  </a:rPr>
                  <a:t>$\text{lcm}(4,3)=12$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common terms form the A.P. </a:t>
                </a:r>
                <a:r>
                  <a:rPr lang="en-IN" sz="2400">
                    <a:solidFill>
                      <a:srgbClr val="111827"/>
                    </a:solidFill>
                    <a:latin typeface="Cambria Math" panose="02040503050406030204" pitchFamily="18" charset="0"/>
                  </a:rPr>
                  <a:t>$11,23,35,\dots,395$</a:t>
                </a:r>
                <a:r>
                  <a:rPr sz="2400" b="0">
                    <a:solidFill>
                      <a:srgbClr val="111827"/>
                    </a:solidFill>
                    <a:latin typeface="Arial"/>
                  </a:rPr>
                  <a:t>; the next one, </a:t>
                </a:r>
                <a:r>
                  <a:rPr lang="en-IN" sz="2400">
                    <a:solidFill>
                      <a:srgbClr val="111827"/>
                    </a:solidFill>
                    <a:latin typeface="Cambria Math" panose="02040503050406030204" pitchFamily="18" charset="0"/>
                  </a:rPr>
                  <a:t>$407$</a:t>
                </a:r>
                <a:r>
                  <a:rPr sz="2400" b="0">
                    <a:solidFill>
                      <a:srgbClr val="111827"/>
                    </a:solidFill>
                    <a:latin typeface="Arial"/>
                  </a:rPr>
                  <a:t>, exceeds </a:t>
                </a:r>
                <a:r>
                  <a:rPr lang="en-IN" sz="2400">
                    <a:solidFill>
                      <a:srgbClr val="111827"/>
                    </a:solidFill>
                    <a:latin typeface="Cambria Math" panose="02040503050406030204" pitchFamily="18" charset="0"/>
                  </a:rPr>
                  <a:t>$403$</a:t>
                </a:r>
                <a:r>
                  <a:rPr sz="2400" b="0">
                    <a:solidFill>
                      <a:srgbClr val="111827"/>
                    </a:solidFill>
                    <a:latin typeface="Arial"/>
                  </a:rPr>
                  <a:t>, so </a:t>
                </a:r>
                <a:r>
                  <a:rPr lang="en-IN" sz="2400">
                    <a:solidFill>
                      <a:srgbClr val="111827"/>
                    </a:solidFill>
                    <a:latin typeface="Cambria Math" panose="02040503050406030204" pitchFamily="18" charset="0"/>
                  </a:rPr>
                  <a:t>$395$</a:t>
                </a:r>
                <a:r>
                  <a:rPr sz="2400" b="0">
                    <a:solidFill>
                      <a:srgbClr val="111827"/>
                    </a:solidFill>
                    <a:latin typeface="Arial"/>
                  </a:rPr>
                  <a:t> is the last.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384</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6699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$395=11+(n-1)\cdot12 \Rightarrow n-1=32 \Rightarrow n=33$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$=\frac{33}{2}\left[2\cdot11+32\cdot12\right]=\frac{33}{2}\left(22+384\right)$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$=\frac{33}{2}\times406=33\times203=6699$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6699</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Translate to congruences: a common term </a:t>
                </a:r>
                <a14:m>
                  <m:oMath xmlns:m="http://schemas.openxmlformats.org/officeDocument/2006/math">
                    <m:r>
                      <a:rPr lang="en-IN" sz="2400" i="1">
                        <a:solidFill>
                          <a:srgbClr val="78350F"/>
                        </a:solidFill>
                        <a:latin typeface="Cambria Math" panose="02040503050406030204" pitchFamily="18" charset="0"/>
                      </a:rPr>
                      <m:t>𝑁</m:t>
                    </m:r>
                  </m:oMath>
                </a14:m>
                <a:r>
                  <a:rPr sz="2400" b="0">
                    <a:solidFill>
                      <a:srgbClr val="78350F"/>
                    </a:solidFill>
                    <a:latin typeface="Arial"/>
                  </a:rPr>
                  <a:t> satisfies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i.e.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12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Translate to congruences: a common term </a:t>
                </a:r>
                <a:r>
                  <a:rPr lang="en-IN" sz="2400">
                    <a:solidFill>
                      <a:srgbClr val="78350F"/>
                    </a:solidFill>
                    <a:latin typeface="Cambria Math" panose="02040503050406030204" pitchFamily="18" charset="0"/>
                  </a:rPr>
                  <a:t>$N$</a:t>
                </a:r>
                <a:r>
                  <a:rPr sz="2400" b="0">
                    <a:solidFill>
                      <a:srgbClr val="78350F"/>
                    </a:solidFill>
                    <a:latin typeface="Arial"/>
                  </a:rPr>
                  <a:t> satisfies </a:t>
                </a:r>
                <a:r>
                  <a:rPr lang="en-IN" sz="2400">
                    <a:solidFill>
                      <a:srgbClr val="78350F"/>
                    </a:solidFill>
                    <a:latin typeface="Cambria Math" panose="02040503050406030204" pitchFamily="18" charset="0"/>
                  </a:rPr>
                  <a:t>$N\equiv3 \pmod 4$</a:t>
                </a:r>
                <a:r>
                  <a:rPr sz="2400" b="0">
                    <a:solidFill>
                      <a:srgbClr val="78350F"/>
                    </a:solidFill>
                    <a:latin typeface="Arial"/>
                  </a:rPr>
                  <a:t> and </a:t>
                </a:r>
                <a:r>
                  <a:rPr lang="en-IN" sz="2400">
                    <a:solidFill>
                      <a:srgbClr val="78350F"/>
                    </a:solidFill>
                    <a:latin typeface="Cambria Math" panose="02040503050406030204" pitchFamily="18" charset="0"/>
                  </a:rPr>
                  <a:t>$N\equiv2 \pmod 3$</a:t>
                </a:r>
                <a:r>
                  <a:rPr sz="2400" b="0">
                    <a:solidFill>
                      <a:srgbClr val="78350F"/>
                    </a:solidFill>
                    <a:latin typeface="Arial"/>
                  </a:rPr>
                  <a:t>, i.e. </a:t>
                </a:r>
                <a:r>
                  <a:rPr lang="en-IN" sz="2400">
                    <a:solidFill>
                      <a:srgbClr val="78350F"/>
                    </a:solidFill>
                    <a:latin typeface="Cambria Math" panose="02040503050406030204" pitchFamily="18" charset="0"/>
                  </a:rPr>
                  <a:t>$N\equiv11 \pmod{12}$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term of the first A.P. is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term of the second is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Chinese remainder theorem (moduli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coprime) both hold exactly when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term of the first A.P. is </a:t>
                </a:r>
                <a:r>
                  <a:rPr lang="en-IN" sz="2400">
                    <a:solidFill>
                      <a:srgbClr val="111827"/>
                    </a:solidFill>
                    <a:latin typeface="Cambria Math" panose="02040503050406030204" pitchFamily="18" charset="0"/>
                  </a:rPr>
                  <a:t>$N=4k-1$</a:t>
                </a:r>
                <a:r>
                  <a:rPr sz="2400" b="0">
                    <a:solidFill>
                      <a:srgbClr val="111827"/>
                    </a:solidFill>
                    <a:latin typeface="Arial"/>
                  </a:rPr>
                  <a:t>, so </a:t>
                </a:r>
                <a:r>
                  <a:rPr lang="en-IN" sz="2400">
                    <a:solidFill>
                      <a:srgbClr val="111827"/>
                    </a:solidFill>
                    <a:latin typeface="Cambria Math" panose="02040503050406030204" pitchFamily="18" charset="0"/>
                  </a:rPr>
                  <a:t>$N\equiv3 \pmod 4$</a:t>
                </a:r>
                <a:r>
                  <a:rPr sz="2400" b="0">
                    <a:solidFill>
                      <a:srgbClr val="111827"/>
                    </a:solidFill>
                    <a:latin typeface="Arial"/>
                  </a:rPr>
                  <a:t>; a term of the second is </a:t>
                </a:r>
                <a:r>
                  <a:rPr lang="en-IN" sz="2400">
                    <a:solidFill>
                      <a:srgbClr val="111827"/>
                    </a:solidFill>
                    <a:latin typeface="Cambria Math" panose="02040503050406030204" pitchFamily="18" charset="0"/>
                  </a:rPr>
                  <a:t>$N=3j-1$</a:t>
                </a:r>
                <a:r>
                  <a:rPr sz="2400" b="0">
                    <a:solidFill>
                      <a:srgbClr val="111827"/>
                    </a:solidFill>
                    <a:latin typeface="Arial"/>
                  </a:rPr>
                  <a:t>, so </a:t>
                </a:r>
                <a:r>
                  <a:rPr lang="en-IN" sz="2400">
                    <a:solidFill>
                      <a:srgbClr val="111827"/>
                    </a:solidFill>
                    <a:latin typeface="Cambria Math" panose="02040503050406030204" pitchFamily="18" charset="0"/>
                  </a:rPr>
                  <a:t>$N\equiv2 \pmod 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Chinese remainder theorem (moduli </a:t>
                </a:r>
                <a:r>
                  <a:rPr lang="en-IN" sz="2400">
                    <a:solidFill>
                      <a:srgbClr val="111827"/>
                    </a:solidFill>
                    <a:latin typeface="Cambria Math" panose="02040503050406030204" pitchFamily="18" charset="0"/>
                  </a:rPr>
                  <a:t>$4,3$</a:t>
                </a:r>
                <a:r>
                  <a:rPr sz="2400" b="0">
                    <a:solidFill>
                      <a:srgbClr val="111827"/>
                    </a:solidFill>
                    <a:latin typeface="Arial"/>
                  </a:rPr>
                  <a:t> coprime) both hold exactly when </a:t>
                </a:r>
                <a:r>
                  <a:rPr lang="en-IN" sz="2400">
                    <a:solidFill>
                      <a:srgbClr val="111827"/>
                    </a:solidFill>
                    <a:latin typeface="Cambria Math" panose="02040503050406030204" pitchFamily="18" charset="0"/>
                  </a:rPr>
                  <a:t>$N\equiv11 \pmod{12}$</a:t>
                </a:r>
                <a:r>
                  <a:rPr sz="2400" b="0">
                    <a:solidFill>
                      <a:srgbClr val="111827"/>
                    </a:solidFill>
                    <a:latin typeface="Arial"/>
                  </a:rPr>
                  <a:t>, so </a:t>
                </a:r>
                <a:r>
                  <a:rPr lang="en-IN" sz="2400">
                    <a:solidFill>
                      <a:srgbClr val="111827"/>
                    </a:solidFill>
                    <a:latin typeface="Cambria Math" panose="02040503050406030204" pitchFamily="18" charset="0"/>
                  </a:rPr>
                  <a:t>$N=12k+11$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33</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6699</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$N\le403$</a:t>
                </a:r>
                <a:r>
                  <a:rPr sz="2400" b="0">
                    <a:solidFill>
                      <a:srgbClr val="111827"/>
                    </a:solidFill>
                    <a:latin typeface="Arial"/>
                  </a:rPr>
                  <a:t> gives </a:t>
                </a:r>
                <a:r>
                  <a:rPr lang="en-IN" sz="2400">
                    <a:solidFill>
                      <a:srgbClr val="111827"/>
                    </a:solidFill>
                    <a:latin typeface="Cambria Math" panose="02040503050406030204" pitchFamily="18" charset="0"/>
                  </a:rPr>
                  <a:t>$12k\le392$</a:t>
                </a:r>
                <a:r>
                  <a:rPr sz="2400" b="0">
                    <a:solidFill>
                      <a:srgbClr val="111827"/>
                    </a:solidFill>
                    <a:latin typeface="Arial"/>
                  </a:rPr>
                  <a:t>, so </a:t>
                </a:r>
                <a:r>
                  <a:rPr lang="en-IN" sz="2400">
                    <a:solidFill>
                      <a:srgbClr val="111827"/>
                    </a:solidFill>
                    <a:latin typeface="Cambria Math" panose="02040503050406030204" pitchFamily="18" charset="0"/>
                  </a:rPr>
                  <a:t>$k=0,1,\dots,32$</a:t>
                </a:r>
                <a:r>
                  <a:rPr sz="2400" b="0">
                    <a:solidFill>
                      <a:srgbClr val="111827"/>
                    </a:solidFill>
                    <a:latin typeface="Arial"/>
                  </a:rPr>
                  <a:t>: </a:t>
                </a:r>
                <a:r>
                  <a:rPr lang="en-IN" sz="2400">
                    <a:solidFill>
                      <a:srgbClr val="111827"/>
                    </a:solidFill>
                    <a:latin typeface="Cambria Math" panose="02040503050406030204" pitchFamily="18" charset="0"/>
                  </a:rPr>
                  <a:t>$33$</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$\sum(12k+11)=12\cdot\frac{32\cdot33}{2}+11\cdot33=6336+363=6699$</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6699</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Common terms of A.P.s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 an A.P. with difference </a:t>
                </a:r>
                <a14:m>
                  <m:oMath xmlns:m="http://schemas.openxmlformats.org/officeDocument/2006/math">
                    <m:r>
                      <m:rPr>
                        <m:nor/>
                      </m:rPr>
                      <a:rPr lang="en-IN" sz="2400" i="1">
                        <a:solidFill>
                          <a:srgbClr val="111827"/>
                        </a:solidFill>
                        <a:latin typeface="Cambria Math" panose="02040503050406030204" pitchFamily="18" charset="0"/>
                      </a:rPr>
                      <m:t>𝑙𝑐𝑚</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they exist iff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(always, if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Describe each A.P. by a congruence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oMath>
                </a14:m>
                <a:r>
                  <a:rPr sz="2400" b="0">
                    <a:solidFill>
                      <a:srgbClr val="111827"/>
                    </a:solidFill>
                    <a:latin typeface="Arial"/>
                  </a:rPr>
                  <a:t>) and combine with the Chinese remainder theorem; then count with the end-point bound.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of terms)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(average of first and last): here </a:t>
                </a:r>
                <a14:m>
                  <m:oMath xmlns:m="http://schemas.openxmlformats.org/officeDocument/2006/math">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Common terms of A.P.s </a:t>
                </a:r>
                <a:r>
                  <a:rPr lang="en-IN" sz="2400">
                    <a:solidFill>
                      <a:srgbClr val="111827"/>
                    </a:solidFill>
                    <a:latin typeface="Cambria Math" panose="02040503050406030204" pitchFamily="18" charset="0"/>
                  </a:rPr>
                  <a:t>$(a,d_1)$</a:t>
                </a:r>
                <a:r>
                  <a:rPr sz="2400" b="0">
                    <a:solidFill>
                      <a:srgbClr val="111827"/>
                    </a:solidFill>
                    <a:latin typeface="Arial"/>
                  </a:rPr>
                  <a:t> and </a:t>
                </a:r>
                <a:r>
                  <a:rPr lang="en-IN" sz="2400">
                    <a:solidFill>
                      <a:srgbClr val="111827"/>
                    </a:solidFill>
                    <a:latin typeface="Cambria Math" panose="02040503050406030204" pitchFamily="18" charset="0"/>
                  </a:rPr>
                  <a:t>$(b,d_2)$</a:t>
                </a:r>
                <a:r>
                  <a:rPr sz="2400" b="0">
                    <a:solidFill>
                      <a:srgbClr val="111827"/>
                    </a:solidFill>
                    <a:latin typeface="Arial"/>
                  </a:rPr>
                  <a:t> form an A.P. with difference </a:t>
                </a:r>
                <a:r>
                  <a:rPr lang="en-IN" sz="2400">
                    <a:solidFill>
                      <a:srgbClr val="111827"/>
                    </a:solidFill>
                    <a:latin typeface="Cambria Math" panose="02040503050406030204" pitchFamily="18" charset="0"/>
                  </a:rPr>
                  <a:t>$\text{lcm}(d_1,d_2)$</a:t>
                </a:r>
                <a:r>
                  <a:rPr sz="2400" b="0">
                    <a:solidFill>
                      <a:srgbClr val="111827"/>
                    </a:solidFill>
                    <a:latin typeface="Arial"/>
                  </a:rPr>
                  <a:t>; they exist iff </a:t>
                </a:r>
                <a:r>
                  <a:rPr lang="en-IN" sz="2400">
                    <a:solidFill>
                      <a:srgbClr val="111827"/>
                    </a:solidFill>
                    <a:latin typeface="Cambria Math" panose="02040503050406030204" pitchFamily="18" charset="0"/>
                  </a:rPr>
                  <a:t>$\gcd(d_1,d_2)\mid(a-b)$</a:t>
                </a:r>
                <a:r>
                  <a:rPr sz="2400" b="0">
                    <a:solidFill>
                      <a:srgbClr val="111827"/>
                    </a:solidFill>
                    <a:latin typeface="Arial"/>
                  </a:rPr>
                  <a:t> (always, if </a:t>
                </a:r>
                <a:r>
                  <a:rPr lang="en-IN" sz="2400">
                    <a:solidFill>
                      <a:srgbClr val="111827"/>
                    </a:solidFill>
                    <a:latin typeface="Cambria Math" panose="02040503050406030204" pitchFamily="18" charset="0"/>
                  </a:rPr>
                  <a:t>$d_1,d_2$</a:t>
                </a:r>
                <a:r>
                  <a:rPr sz="2400" b="0">
                    <a:solidFill>
                      <a:srgbClr val="111827"/>
                    </a:solidFill>
                    <a:latin typeface="Arial"/>
                  </a:rPr>
                  <a:t> are coprime).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Describe each A.P. by a congruence (</a:t>
                </a:r>
                <a:r>
                  <a:rPr lang="en-IN" sz="2400">
                    <a:solidFill>
                      <a:srgbClr val="111827"/>
                    </a:solidFill>
                    <a:latin typeface="Cambria Math" panose="02040503050406030204" pitchFamily="18" charset="0"/>
                  </a:rPr>
                  <a:t>$N\equiv a \bmod d$</a:t>
                </a:r>
                <a:r>
                  <a:rPr sz="2400" b="0">
                    <a:solidFill>
                      <a:srgbClr val="111827"/>
                    </a:solidFill>
                    <a:latin typeface="Arial"/>
                  </a:rPr>
                  <a:t>) and combine with the Chinese remainder theorem; then count with the end-point bound.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r>
                  <a:rPr lang="en-IN" sz="2400">
                    <a:solidFill>
                      <a:srgbClr val="111827"/>
                    </a:solidFill>
                    <a:latin typeface="Cambria Math" panose="02040503050406030204" pitchFamily="18" charset="0"/>
                  </a:rPr>
                  <a:t>$=$</a:t>
                </a:r>
                <a:r>
                  <a:rPr sz="2400" b="0">
                    <a:solidFill>
                      <a:srgbClr val="111827"/>
                    </a:solidFill>
                    <a:latin typeface="Arial"/>
                  </a:rPr>
                  <a:t> (number of terms) </a:t>
                </a:r>
                <a:r>
                  <a:rPr lang="en-IN" sz="2400">
                    <a:solidFill>
                      <a:srgbClr val="111827"/>
                    </a:solidFill>
                    <a:latin typeface="Cambria Math" panose="02040503050406030204" pitchFamily="18" charset="0"/>
                  </a:rPr>
                  <a:t>$\times$</a:t>
                </a:r>
                <a:r>
                  <a:rPr sz="2400" b="0">
                    <a:solidFill>
                      <a:srgbClr val="111827"/>
                    </a:solidFill>
                    <a:latin typeface="Arial"/>
                  </a:rPr>
                  <a:t> (average of first and last): here </a:t>
                </a:r>
                <a:r>
                  <a:rPr lang="en-IN" sz="2400">
                    <a:solidFill>
                      <a:srgbClr val="111827"/>
                    </a:solidFill>
                    <a:latin typeface="Cambria Math" panose="02040503050406030204" pitchFamily="18" charset="0"/>
                  </a:rPr>
                  <a:t>$33\times\frac{11+395}{2}=33\times203$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interior angles of a polygon with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sides are in an A.P. with common difference </a:t>
                </a:r>
                <a14:m>
                  <m:oMath xmlns:m="http://schemas.openxmlformats.org/officeDocument/2006/math">
                    <m:sSup>
                      <m:e>
                        <m:r>
                          <a:rPr lang="en-IN" sz="2400" i="1">
                            <a:solidFill>
                              <a:srgbClr val="111827"/>
                            </a:solidFill>
                            <a:latin typeface="Cambria Math" panose="02040503050406030204" pitchFamily="18" charset="0"/>
                          </a:rPr>
                          <m:t>6</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 the largest interior angle of the polygon is </a:t>
                </a:r>
                <a14:m>
                  <m:oMath xmlns:m="http://schemas.openxmlformats.org/officeDocument/2006/math">
                    <m:sSup>
                      <m:e>
                        <m:r>
                          <a:rPr lang="en-IN" sz="2400" i="1">
                            <a:solidFill>
                              <a:srgbClr val="111827"/>
                            </a:solidFill>
                            <a:latin typeface="Cambria Math" panose="02040503050406030204" pitchFamily="18" charset="0"/>
                          </a:rPr>
                          <m:t>219</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interior angles of a polygon with </a:t>
                </a:r>
                <a:r>
                  <a:rPr lang="en-IN" sz="2400">
                    <a:solidFill>
                      <a:srgbClr val="111827"/>
                    </a:solidFill>
                    <a:latin typeface="Cambria Math" panose="02040503050406030204" pitchFamily="18" charset="0"/>
                  </a:rPr>
                  <a:t>$n$</a:t>
                </a:r>
                <a:r>
                  <a:rPr sz="2400" b="0">
                    <a:solidFill>
                      <a:srgbClr val="111827"/>
                    </a:solidFill>
                    <a:latin typeface="Arial"/>
                  </a:rPr>
                  <a:t> sides are in an A.P. with common difference </a:t>
                </a:r>
                <a:r>
                  <a:rPr lang="en-IN" sz="2400">
                    <a:solidFill>
                      <a:srgbClr val="111827"/>
                    </a:solidFill>
                    <a:latin typeface="Cambria Math" panose="02040503050406030204" pitchFamily="18" charset="0"/>
                  </a:rPr>
                  <a:t>$6^\circ$</a:t>
                </a:r>
                <a:r>
                  <a:rPr sz="2400" b="0">
                    <a:solidFill>
                      <a:srgbClr val="111827"/>
                    </a:solidFill>
                    <a:latin typeface="Arial"/>
                  </a:rPr>
                  <a:t>. If the largest interior angle of the polygon is </a:t>
                </a:r>
                <a:r>
                  <a:rPr lang="en-IN" sz="2400">
                    <a:solidFill>
                      <a:srgbClr val="111827"/>
                    </a:solidFill>
                    <a:latin typeface="Cambria Math" panose="02040503050406030204" pitchFamily="18" charset="0"/>
                  </a:rPr>
                  <a:t>$219^\circ$</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Arithmetic progression, Sum of interior angles of a polygon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Equate the A.P. sum of the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angles to the polygon angle sum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180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Equate the A.P. sum of the </a:t>
                </a:r>
                <a:r>
                  <a:rPr lang="en-IN" sz="2400">
                    <a:solidFill>
                      <a:srgbClr val="78350F"/>
                    </a:solidFill>
                    <a:latin typeface="Cambria Math" panose="02040503050406030204" pitchFamily="18" charset="0"/>
                  </a:rPr>
                  <a:t>$n$</a:t>
                </a:r>
                <a:r>
                  <a:rPr sz="2400" b="0">
                    <a:solidFill>
                      <a:srgbClr val="78350F"/>
                    </a:solidFill>
                    <a:latin typeface="Arial"/>
                  </a:rPr>
                  <a:t> angles to the polygon angle sum </a:t>
                </a:r>
                <a:r>
                  <a:rPr lang="en-IN" sz="2400">
                    <a:solidFill>
                      <a:srgbClr val="78350F"/>
                    </a:solidFill>
                    <a:latin typeface="Cambria Math" panose="02040503050406030204" pitchFamily="18" charset="0"/>
                  </a:rPr>
                  <a:t>$(n-2)\cdot180^\circ$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polygon with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sides has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interior angles, in A.P.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largest is </a:t>
                </a:r>
                <a14:m>
                  <m:oMath xmlns:m="http://schemas.openxmlformats.org/officeDocument/2006/math">
                    <m:sSup>
                      <m:e>
                        <m:r>
                          <a:rPr lang="en-IN" sz="2400" i="1">
                            <a:solidFill>
                              <a:srgbClr val="111827"/>
                            </a:solidFill>
                            <a:latin typeface="Cambria Math" panose="02040503050406030204" pitchFamily="18" charset="0"/>
                          </a:rPr>
                          <m:t>219</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the first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interior angles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A.P.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219</m:t>
                        </m:r>
                      </m:e>
                    </m:d>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219</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polygon with </a:t>
                </a:r>
                <a:r>
                  <a:rPr lang="en-IN" sz="2400">
                    <a:solidFill>
                      <a:srgbClr val="111827"/>
                    </a:solidFill>
                    <a:latin typeface="Cambria Math" panose="02040503050406030204" pitchFamily="18" charset="0"/>
                  </a:rPr>
                  <a:t>$n$</a:t>
                </a:r>
                <a:r>
                  <a:rPr sz="2400" b="0">
                    <a:solidFill>
                      <a:srgbClr val="111827"/>
                    </a:solidFill>
                    <a:latin typeface="Arial"/>
                  </a:rPr>
                  <a:t> sides has </a:t>
                </a:r>
                <a:r>
                  <a:rPr lang="en-IN" sz="2400">
                    <a:solidFill>
                      <a:srgbClr val="111827"/>
                    </a:solidFill>
                    <a:latin typeface="Cambria Math" panose="02040503050406030204" pitchFamily="18" charset="0"/>
                  </a:rPr>
                  <a:t>$n$</a:t>
                </a:r>
                <a:r>
                  <a:rPr sz="2400" b="0">
                    <a:solidFill>
                      <a:srgbClr val="111827"/>
                    </a:solidFill>
                    <a:latin typeface="Arial"/>
                  </a:rPr>
                  <a:t> interior angles, in A.P. with </a:t>
                </a:r>
                <a:r>
                  <a:rPr lang="en-IN" sz="2400">
                    <a:solidFill>
                      <a:srgbClr val="111827"/>
                    </a:solidFill>
                    <a:latin typeface="Cambria Math" panose="02040503050406030204" pitchFamily="18" charset="0"/>
                  </a:rPr>
                  <a:t>$d=6^\circ$</a:t>
                </a:r>
                <a:r>
                  <a:rPr sz="2400" b="0">
                    <a:solidFill>
                      <a:srgbClr val="111827"/>
                    </a:solidFill>
                    <a:latin typeface="Arial"/>
                  </a:rPr>
                  <a:t>; the largest is </a:t>
                </a:r>
                <a:r>
                  <a:rPr lang="en-IN" sz="2400">
                    <a:solidFill>
                      <a:srgbClr val="111827"/>
                    </a:solidFill>
                    <a:latin typeface="Cambria Math" panose="02040503050406030204" pitchFamily="18" charset="0"/>
                  </a:rPr>
                  <a:t>$219^\circ$</a:t>
                </a:r>
                <a:r>
                  <a:rPr sz="2400" b="0">
                    <a:solidFill>
                      <a:srgbClr val="111827"/>
                    </a:solidFill>
                    <a:latin typeface="Arial"/>
                  </a:rPr>
                  <a:t>, so the first is </a:t>
                </a:r>
                <a:r>
                  <a:rPr lang="en-IN" sz="2400">
                    <a:solidFill>
                      <a:srgbClr val="111827"/>
                    </a:solidFill>
                    <a:latin typeface="Cambria Math" panose="02040503050406030204" pitchFamily="18" charset="0"/>
                  </a:rPr>
                  <a:t>$a=219-(n-1)\cdot6$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interior angles is </a:t>
                </a:r>
                <a:r>
                  <a:rPr lang="en-IN" sz="2400">
                    <a:solidFill>
                      <a:srgbClr val="111827"/>
                    </a:solidFill>
                    <a:latin typeface="Cambria Math" panose="02040503050406030204" pitchFamily="18" charset="0"/>
                  </a:rPr>
                  <a:t>$(n-2)\cdot180^\circ$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A.P. sum is </a:t>
                </a:r>
                <a:r>
                  <a:rPr lang="en-IN" sz="2400">
                    <a:solidFill>
                      <a:srgbClr val="111827"/>
                    </a:solidFill>
                    <a:latin typeface="Cambria Math" panose="02040503050406030204" pitchFamily="18" charset="0"/>
                  </a:rPr>
                  <a:t>$\frac n2\left(a+219\right)$</a:t>
                </a:r>
                <a:r>
                  <a:rPr sz="2400" b="0">
                    <a:solidFill>
                      <a:srgbClr val="111827"/>
                    </a:solidFill>
                    <a:latin typeface="Arial"/>
                  </a:rPr>
                  <a:t>, so </a:t>
                </a:r>
                <a:r>
                  <a:rPr lang="en-IN" sz="2400">
                    <a:solidFill>
                      <a:srgbClr val="111827"/>
                    </a:solidFill>
                    <a:latin typeface="Cambria Math" panose="02040503050406030204" pitchFamily="18" charset="0"/>
                  </a:rPr>
                  <a:t>$\frac n2\left[219-(n-1)6+219\right]=(n-2)\cdot180$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444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(the smallest angle is then </a:t>
                </a:r>
                <a14:m>
                  <m:oMath xmlns:m="http://schemas.openxmlformats.org/officeDocument/2006/math">
                    <m:r>
                      <a:rPr lang="en-IN" sz="2400" i="1">
                        <a:solidFill>
                          <a:srgbClr val="111827"/>
                        </a:solidFill>
                        <a:latin typeface="Cambria Math" panose="02040503050406030204" pitchFamily="18" charset="0"/>
                      </a:rPr>
                      <m:t>219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$n\,(438-6n+6)=360(n-2)$</a:t>
                </a:r>
                <a:r>
                  <a:rPr sz="2400" b="0">
                    <a:solidFill>
                      <a:srgbClr val="111827"/>
                    </a:solidFill>
                    <a:latin typeface="Arial"/>
                  </a:rPr>
                  <a:t>, i.e. </a:t>
                </a:r>
                <a:r>
                  <a:rPr lang="en-IN" sz="2400">
                    <a:solidFill>
                      <a:srgbClr val="111827"/>
                    </a:solidFill>
                    <a:latin typeface="Cambria Math" panose="02040503050406030204" pitchFamily="18" charset="0"/>
                  </a:rPr>
                  <a:t>$n(444-6n)=360(n-2)$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$444n-6n^2=360n-720\Rightarrow6n^2-84n-720=0\Rightarrow n^2-14n-120=0$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$(n-20)(n+6)=0$</a:t>
                </a:r>
                <a:r>
                  <a:rPr sz="2400" b="0">
                    <a:solidFill>
                      <a:srgbClr val="111827"/>
                    </a:solidFill>
                    <a:latin typeface="Arial"/>
                  </a:rPr>
                  <a:t>; </a:t>
                </a:r>
                <a:r>
                  <a:rPr lang="en-IN" sz="2400">
                    <a:solidFill>
                      <a:srgbClr val="111827"/>
                    </a:solidFill>
                    <a:latin typeface="Cambria Math" panose="02040503050406030204" pitchFamily="18" charset="0"/>
                  </a:rPr>
                  <a:t>$n&gt;0$</a:t>
                </a:r>
                <a:r>
                  <a:rPr sz="2400" b="0">
                    <a:solidFill>
                      <a:srgbClr val="111827"/>
                    </a:solidFill>
                    <a:latin typeface="Arial"/>
                  </a:rPr>
                  <a:t>, so </a:t>
                </a:r>
                <a:r>
                  <a:rPr lang="en-IN" sz="2400">
                    <a:solidFill>
                      <a:srgbClr val="111827"/>
                    </a:solidFill>
                    <a:latin typeface="Cambria Math" panose="02040503050406030204" pitchFamily="18" charset="0"/>
                  </a:rPr>
                  <a:t>$n=20$</a:t>
                </a:r>
                <a:r>
                  <a:rPr sz="2400" b="0">
                    <a:solidFill>
                      <a:srgbClr val="111827"/>
                    </a:solidFill>
                    <a:latin typeface="Arial"/>
                  </a:rPr>
                  <a:t> (the smallest angle is then </a:t>
                </a:r>
                <a:r>
                  <a:rPr lang="en-IN" sz="2400">
                    <a:solidFill>
                      <a:srgbClr val="111827"/>
                    </a:solidFill>
                    <a:latin typeface="Cambria Math" panose="02040503050406030204" pitchFamily="18" charset="0"/>
                  </a:rPr>
                  <a:t>$219-19\cdot6=105^\circ&gt;0$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20</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exterior angles: they sum to </a:t>
                </a:r>
                <a14:m>
                  <m:oMath xmlns:m="http://schemas.openxmlformats.org/officeDocument/2006/math">
                    <m:sSup>
                      <m:e>
                        <m:r>
                          <a:rPr lang="en-IN" sz="2400" i="1">
                            <a:solidFill>
                              <a:srgbClr val="78350F"/>
                            </a:solidFill>
                            <a:latin typeface="Cambria Math" panose="02040503050406030204" pitchFamily="18" charset="0"/>
                          </a:rPr>
                          <m:t>360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are in A.P. too, so the angle sum formula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180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not needed.</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exterior angles: they sum to </a:t>
                </a:r>
                <a:r>
                  <a:rPr lang="en-IN" sz="2400">
                    <a:solidFill>
                      <a:srgbClr val="78350F"/>
                    </a:solidFill>
                    <a:latin typeface="Cambria Math" panose="02040503050406030204" pitchFamily="18" charset="0"/>
                  </a:rPr>
                  <a:t>$360^\circ$</a:t>
                </a:r>
                <a:r>
                  <a:rPr sz="2400" b="0">
                    <a:solidFill>
                      <a:srgbClr val="78350F"/>
                    </a:solidFill>
                    <a:latin typeface="Arial"/>
                  </a:rPr>
                  <a:t> and are in A.P. too, so the angle sum formula </a:t>
                </a:r>
                <a:r>
                  <a:rPr lang="en-IN" sz="2400">
                    <a:solidFill>
                      <a:srgbClr val="78350F"/>
                    </a:solidFill>
                    <a:latin typeface="Cambria Math" panose="02040503050406030204" pitchFamily="18" charset="0"/>
                  </a:rPr>
                  <a:t>$(n-2)180^\circ$</a:t>
                </a:r>
                <a:r>
                  <a:rPr sz="2400" b="0">
                    <a:solidFill>
                      <a:srgbClr val="78350F"/>
                    </a:solidFill>
                    <a:latin typeface="Arial"/>
                  </a:rPr>
                  <a:t> is not needed.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Exterior angle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interior angle; the exterior angles (signed) sum to </a:t>
                </a:r>
                <a14:m>
                  <m:oMath xmlns:m="http://schemas.openxmlformats.org/officeDocument/2006/math">
                    <m:sSup>
                      <m:e>
                        <m:r>
                          <a:rPr lang="en-IN" sz="2400" i="1">
                            <a:solidFill>
                              <a:srgbClr val="111827"/>
                            </a:solidFill>
                            <a:latin typeface="Cambria Math" panose="02040503050406030204" pitchFamily="18" charset="0"/>
                          </a:rPr>
                          <m:t>360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for any simple polygon.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are in A.P. with difference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(decreasing as interior angles increase); the largest interior angle </a:t>
                </a:r>
                <a14:m>
                  <m:oMath xmlns:m="http://schemas.openxmlformats.org/officeDocument/2006/math">
                    <m:sSup>
                      <m:e>
                        <m:r>
                          <a:rPr lang="en-IN" sz="2400" i="1">
                            <a:solidFill>
                              <a:srgbClr val="111827"/>
                            </a:solidFill>
                            <a:latin typeface="Cambria Math" panose="02040503050406030204" pitchFamily="18" charset="0"/>
                          </a:rPr>
                          <m:t>219</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the smallest exterior angle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39</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Exterior angle </a:t>
                </a:r>
                <a:r>
                  <a:rPr lang="en-IN" sz="2400">
                    <a:solidFill>
                      <a:srgbClr val="111827"/>
                    </a:solidFill>
                    <a:latin typeface="Cambria Math" panose="02040503050406030204" pitchFamily="18" charset="0"/>
                  </a:rPr>
                  <a:t>$e=180^\circ-$</a:t>
                </a:r>
                <a:r>
                  <a:rPr sz="2400" b="0">
                    <a:solidFill>
                      <a:srgbClr val="111827"/>
                    </a:solidFill>
                    <a:latin typeface="Arial"/>
                  </a:rPr>
                  <a:t>interior angle; the exterior angles (signed) sum to </a:t>
                </a:r>
                <a:r>
                  <a:rPr lang="en-IN" sz="2400">
                    <a:solidFill>
                      <a:srgbClr val="111827"/>
                    </a:solidFill>
                    <a:latin typeface="Cambria Math" panose="02040503050406030204" pitchFamily="18" charset="0"/>
                  </a:rPr>
                  <a:t>$360^\circ$</a:t>
                </a:r>
                <a:r>
                  <a:rPr sz="2400" b="0">
                    <a:solidFill>
                      <a:srgbClr val="111827"/>
                    </a:solidFill>
                    <a:latin typeface="Arial"/>
                  </a:rPr>
                  <a:t> for any simple polygon.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are in A.P. with difference </a:t>
                </a:r>
                <a:r>
                  <a:rPr lang="en-IN" sz="2400">
                    <a:solidFill>
                      <a:srgbClr val="111827"/>
                    </a:solidFill>
                    <a:latin typeface="Cambria Math" panose="02040503050406030204" pitchFamily="18" charset="0"/>
                  </a:rPr>
                  <a:t>$-6^\circ$</a:t>
                </a:r>
                <a:r>
                  <a:rPr sz="2400" b="0">
                    <a:solidFill>
                      <a:srgbClr val="111827"/>
                    </a:solidFill>
                    <a:latin typeface="Arial"/>
                  </a:rPr>
                  <a:t> (decreasing as interior angles increase); the largest interior angle </a:t>
                </a:r>
                <a:r>
                  <a:rPr lang="en-IN" sz="2400">
                    <a:solidFill>
                      <a:srgbClr val="111827"/>
                    </a:solidFill>
                    <a:latin typeface="Cambria Math" panose="02040503050406030204" pitchFamily="18" charset="0"/>
                  </a:rPr>
                  <a:t>$219^\circ$</a:t>
                </a:r>
                <a:r>
                  <a:rPr sz="2400" b="0">
                    <a:solidFill>
                      <a:srgbClr val="111827"/>
                    </a:solidFill>
                    <a:latin typeface="Arial"/>
                  </a:rPr>
                  <a:t> has the smallest exterior angle </a:t>
                </a:r>
                <a:r>
                  <a:rPr lang="en-IN" sz="2400">
                    <a:solidFill>
                      <a:srgbClr val="111827"/>
                    </a:solidFill>
                    <a:latin typeface="Cambria Math" panose="02040503050406030204" pitchFamily="18" charset="0"/>
                  </a:rPr>
                  <a:t>$-39^\circ$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exterior angles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exterior angles are </a:t>
                </a:r>
                <a:r>
                  <a:rPr lang="en-IN" sz="2400">
                    <a:solidFill>
                      <a:srgbClr val="111827"/>
                    </a:solidFill>
                    <a:latin typeface="Cambria Math" panose="02040503050406030204" pitchFamily="18" charset="0"/>
                  </a:rPr>
                  <a:t>$-39,-33,\dots,-39+6(n-1)$</a:t>
                </a:r>
                <a:r>
                  <a:rPr sz="2400" b="0">
                    <a:solidFill>
                      <a:srgbClr val="111827"/>
                    </a:solidFill>
                    <a:latin typeface="Arial"/>
                  </a:rPr>
                  <a:t>, with sum </a:t>
                </a:r>
                <a:r>
                  <a:rPr lang="en-IN" sz="2400">
                    <a:solidFill>
                      <a:srgbClr val="111827"/>
                    </a:solidFill>
                    <a:latin typeface="Cambria Math" panose="02040503050406030204" pitchFamily="18" charset="0"/>
                  </a:rPr>
                  <a:t>$\frac n2\left[-78+6(n-1)\right]=360$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$n(6n-84)=720\Rightarrow n^2-14n-120=0\Rightarrow n=20$</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20</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Interior angle sum of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signed exterior angles always sum to </a:t>
                </a:r>
                <a14:m>
                  <m:oMath xmlns:m="http://schemas.openxmlformats.org/officeDocument/2006/math">
                    <m:sSup>
                      <m:e>
                        <m:r>
                          <a:rPr lang="en-IN" sz="2400" i="1">
                            <a:solidFill>
                              <a:srgbClr val="111827"/>
                            </a:solidFill>
                            <a:latin typeface="Cambria Math" panose="02040503050406030204" pitchFamily="18" charset="0"/>
                          </a:rPr>
                          <m:t>360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(valid for non-convex polygons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interior angles are in A.P. with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and largest angle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𝑓𝑖𝑟𝑠𝑡</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𝑙𝑎𝑠𝑡</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mean interior angle is </a:t>
                </a:r>
                <a14:m>
                  <m:oMath xmlns:m="http://schemas.openxmlformats.org/officeDocument/2006/math">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360</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Interior angle sum of an </a:t>
                </a:r>
                <a:r>
                  <a:rPr lang="en-IN" sz="2400">
                    <a:solidFill>
                      <a:srgbClr val="111827"/>
                    </a:solidFill>
                    <a:latin typeface="Cambria Math" panose="02040503050406030204" pitchFamily="18" charset="0"/>
                  </a:rPr>
                  <a:t>$n$</a:t>
                </a:r>
                <a:r>
                  <a:rPr sz="2400" b="0">
                    <a:solidFill>
                      <a:srgbClr val="111827"/>
                    </a:solidFill>
                    <a:latin typeface="Arial"/>
                  </a:rPr>
                  <a:t>-gon is </a:t>
                </a:r>
                <a:r>
                  <a:rPr lang="en-IN" sz="2400">
                    <a:solidFill>
                      <a:srgbClr val="111827"/>
                    </a:solidFill>
                    <a:latin typeface="Cambria Math" panose="02040503050406030204" pitchFamily="18" charset="0"/>
                  </a:rPr>
                  <a:t>$(n-2)180^\circ$</a:t>
                </a:r>
                <a:r>
                  <a:rPr sz="2400" b="0">
                    <a:solidFill>
                      <a:srgbClr val="111827"/>
                    </a:solidFill>
                    <a:latin typeface="Arial"/>
                  </a:rPr>
                  <a:t>; signed exterior angles always sum to </a:t>
                </a:r>
                <a:r>
                  <a:rPr lang="en-IN" sz="2400">
                    <a:solidFill>
                      <a:srgbClr val="111827"/>
                    </a:solidFill>
                    <a:latin typeface="Cambria Math" panose="02040503050406030204" pitchFamily="18" charset="0"/>
                  </a:rPr>
                  <a:t>$360^\circ$</a:t>
                </a:r>
                <a:r>
                  <a:rPr sz="2400" b="0">
                    <a:solidFill>
                      <a:srgbClr val="111827"/>
                    </a:solidFill>
                    <a:latin typeface="Arial"/>
                  </a:rPr>
                  <a:t> (valid for non-convex polygons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interior angles are in A.P. with difference </a:t>
                </a:r>
                <a:r>
                  <a:rPr lang="en-IN" sz="2400">
                    <a:solidFill>
                      <a:srgbClr val="111827"/>
                    </a:solidFill>
                    <a:latin typeface="Cambria Math" panose="02040503050406030204" pitchFamily="18" charset="0"/>
                  </a:rPr>
                  <a:t>$d$</a:t>
                </a:r>
                <a:r>
                  <a:rPr sz="2400" b="0">
                    <a:solidFill>
                      <a:srgbClr val="111827"/>
                    </a:solidFill>
                    <a:latin typeface="Arial"/>
                  </a:rPr>
                  <a:t> and largest angle </a:t>
                </a:r>
                <a:r>
                  <a:rPr lang="en-IN" sz="2400">
                    <a:solidFill>
                      <a:srgbClr val="111827"/>
                    </a:solidFill>
                    <a:latin typeface="Cambria Math" panose="02040503050406030204" pitchFamily="18" charset="0"/>
                  </a:rPr>
                  <a:t>$L$</a:t>
                </a:r>
                <a:r>
                  <a:rPr sz="2400" b="0">
                    <a:solidFill>
                      <a:srgbClr val="111827"/>
                    </a:solidFill>
                    <a:latin typeface="Arial"/>
                  </a:rPr>
                  <a:t>: </a:t>
                </a:r>
                <a:r>
                  <a:rPr lang="en-IN" sz="2400">
                    <a:solidFill>
                      <a:srgbClr val="111827"/>
                    </a:solidFill>
                    <a:latin typeface="Cambria Math" panose="02040503050406030204" pitchFamily="18" charset="0"/>
                  </a:rPr>
                  <a:t>$n\,[2L-(n-1)d]=360(n-2)$</a:t>
                </a:r>
                <a:r>
                  <a:rPr sz="2400" b="0">
                    <a:solidFill>
                      <a:srgbClr val="111827"/>
                    </a:solidFill>
                    <a:latin typeface="Arial"/>
                  </a:rPr>
                  <a:t>. Check: </a:t>
                </a:r>
                <a:r>
                  <a:rPr lang="en-IN" sz="2400">
                    <a:solidFill>
                      <a:srgbClr val="111827"/>
                    </a:solidFill>
                    <a:latin typeface="Cambria Math" panose="02040503050406030204" pitchFamily="18" charset="0"/>
                  </a:rPr>
                  <a:t>$L=219,d=6,n=20$</a:t>
                </a:r>
                <a:r>
                  <a:rPr sz="2400" b="0">
                    <a:solidFill>
                      <a:srgbClr val="111827"/>
                    </a:solidFill>
                    <a:latin typeface="Arial"/>
                  </a:rPr>
                  <a:t> gives </a:t>
                </a:r>
                <a:r>
                  <a:rPr lang="en-IN" sz="2400">
                    <a:solidFill>
                      <a:srgbClr val="111827"/>
                    </a:solidFill>
                    <a:latin typeface="Cambria Math" panose="02040503050406030204" pitchFamily="18" charset="0"/>
                  </a:rPr>
                  <a:t>$20\cdot324=6480=360\cdot18$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r>
                  <a:rPr lang="en-IN" sz="2400">
                    <a:solidFill>
                      <a:srgbClr val="111827"/>
                    </a:solidFill>
                    <a:latin typeface="Cambria Math" panose="02040503050406030204" pitchFamily="18" charset="0"/>
                  </a:rPr>
                  <a:t>$=n\times$</a:t>
                </a:r>
                <a:r>
                  <a:rPr sz="2400" b="0">
                    <a:solidFill>
                      <a:srgbClr val="111827"/>
                    </a:solidFill>
                    <a:latin typeface="Arial"/>
                  </a:rPr>
                  <a:t> mean </a:t>
                </a:r>
                <a:r>
                  <a:rPr lang="en-IN" sz="2400">
                    <a:solidFill>
                      <a:srgbClr val="111827"/>
                    </a:solidFill>
                    <a:latin typeface="Cambria Math" panose="02040503050406030204" pitchFamily="18" charset="0"/>
                  </a:rPr>
                  <a:t>$=n\,\frac{\text{first}+\text{last}}{2}$</a:t>
                </a:r>
                <a:r>
                  <a:rPr sz="2400" b="0">
                    <a:solidFill>
                      <a:srgbClr val="111827"/>
                    </a:solidFill>
                    <a:latin typeface="Arial"/>
                  </a:rPr>
                  <a:t>; the mean interior angle is </a:t>
                </a:r>
                <a:r>
                  <a:rPr lang="en-IN" sz="2400">
                    <a:solidFill>
                      <a:srgbClr val="111827"/>
                    </a:solidFill>
                    <a:latin typeface="Cambria Math" panose="02040503050406030204" pitchFamily="18" charset="0"/>
                  </a:rPr>
                  <a:t>$180^\circ-\frac{360^\circ}{n}$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$\alpha\beta\gamma=45$</a:t>
                </a:r>
                <a:r>
                  <a:rPr sz="2400" b="0">
                    <a:solidFill>
                      <a:srgbClr val="111827"/>
                    </a:solidFill>
                    <a:latin typeface="Arial"/>
                  </a:rPr>
                  <a:t>; </a:t>
                </a:r>
                <a:r>
                  <a:rPr lang="en-IN" sz="2400">
                    <a:solidFill>
                      <a:srgbClr val="111827"/>
                    </a:solidFill>
                    <a:latin typeface="Cambria Math" panose="02040503050406030204" pitchFamily="18" charset="0"/>
                  </a:rPr>
                  <a:t>$\alpha,\beta,\gamma\in\mathbb R$</a:t>
                </a:r>
                <a:r>
                  <a:rPr sz="2400" b="0">
                    <a:solidFill>
                      <a:srgbClr val="111827"/>
                    </a:solidFill>
                    <a:latin typeface="Arial"/>
                  </a:rPr>
                  <a:t>. If </a:t>
                </a:r>
                <a:r>
                  <a:rPr lang="en-IN" sz="2400">
                    <a:solidFill>
                      <a:srgbClr val="111827"/>
                    </a:solidFill>
                    <a:latin typeface="Cambria Math" panose="02040503050406030204" pitchFamily="18" charset="0"/>
                  </a:rPr>
                  <a:t>$x(\alpha,1,2)+y(1,\beta,2)+z(2,3,\gamma)=(0,0,0)$</a:t>
                </a:r>
                <a:r>
                  <a:rPr sz="2400" b="0">
                    <a:solidFill>
                      <a:srgbClr val="111827"/>
                    </a:solidFill>
                    <a:latin typeface="Arial"/>
                  </a:rPr>
                  <a:t> for some </a:t>
                </a:r>
                <a:r>
                  <a:rPr lang="en-IN" sz="2400">
                    <a:solidFill>
                      <a:srgbClr val="111827"/>
                    </a:solidFill>
                    <a:latin typeface="Cambria Math" panose="02040503050406030204" pitchFamily="18" charset="0"/>
                  </a:rPr>
                  <a:t>$x,y,z\in\mathbb R$</a:t>
                </a:r>
                <a:r>
                  <a:rPr sz="2400" b="0">
                    <a:solidFill>
                      <a:srgbClr val="111827"/>
                    </a:solidFill>
                    <a:latin typeface="Arial"/>
                  </a:rPr>
                  <a:t>, </a:t>
                </a:r>
                <a:r>
                  <a:rPr lang="en-IN" sz="2400">
                    <a:solidFill>
                      <a:srgbClr val="111827"/>
                    </a:solidFill>
                    <a:latin typeface="Cambria Math" panose="02040503050406030204" pitchFamily="18" charset="0"/>
                  </a:rPr>
                  <a:t>$xyz\neq0$</a:t>
                </a:r>
                <a:r>
                  <a:rPr sz="2400" b="0">
                    <a:solidFill>
                      <a:srgbClr val="111827"/>
                    </a:solidFill>
                    <a:latin typeface="Arial"/>
                  </a:rPr>
                  <a:t>, then </a:t>
                </a:r>
                <a:r>
                  <a:rPr lang="en-IN" sz="2400">
                    <a:solidFill>
                      <a:srgbClr val="111827"/>
                    </a:solidFill>
                    <a:latin typeface="Cambria Math" panose="02040503050406030204" pitchFamily="18" charset="0"/>
                  </a:rPr>
                  <a:t>$6\alpha+4\beta+\gamma$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Non-trivial solution of a homogeneous linear system (determinant zero)</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vector equation is a homogeneous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system with a non-zero solution, so its coefficient determinant is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vector equation is a homogeneous </a:t>
                </a:r>
                <a:r>
                  <a:rPr lang="en-IN" sz="2400">
                    <a:solidFill>
                      <a:srgbClr val="78350F"/>
                    </a:solidFill>
                    <a:latin typeface="Cambria Math" panose="02040503050406030204" pitchFamily="18" charset="0"/>
                  </a:rPr>
                  <a:t>$3\times3$</a:t>
                </a:r>
                <a:r>
                  <a:rPr sz="2400" b="0">
                    <a:solidFill>
                      <a:srgbClr val="78350F"/>
                    </a:solidFill>
                    <a:latin typeface="Arial"/>
                  </a:rPr>
                  <a:t> system with a non-zero solution, so its coefficient determinant is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Equating components: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system has a non-trivial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determinant of the coefficients is zero: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α</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β</m:t>
                              </m:r>
                            </m:e>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γ</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Equating components: </a:t>
                </a:r>
                <a:r>
                  <a:rPr lang="en-IN" sz="2400">
                    <a:solidFill>
                      <a:srgbClr val="111827"/>
                    </a:solidFill>
                    <a:latin typeface="Cambria Math" panose="02040503050406030204" pitchFamily="18" charset="0"/>
                  </a:rPr>
                  <a:t>$\alpha x+y+2z=0$</a:t>
                </a:r>
                <a:r>
                  <a:rPr sz="2400" b="0">
                    <a:solidFill>
                      <a:srgbClr val="111827"/>
                    </a:solidFill>
                    <a:latin typeface="Arial"/>
                  </a:rPr>
                  <a:t>, </a:t>
                </a:r>
                <a:r>
                  <a:rPr lang="en-IN" sz="2400">
                    <a:solidFill>
                      <a:srgbClr val="111827"/>
                    </a:solidFill>
                    <a:latin typeface="Cambria Math" panose="02040503050406030204" pitchFamily="18" charset="0"/>
                  </a:rPr>
                  <a:t>$\ x+\beta y+3z=0$</a:t>
                </a:r>
                <a:r>
                  <a:rPr sz="2400" b="0">
                    <a:solidFill>
                      <a:srgbClr val="111827"/>
                    </a:solidFill>
                    <a:latin typeface="Arial"/>
                  </a:rPr>
                  <a:t>, </a:t>
                </a:r>
                <a:r>
                  <a:rPr lang="en-IN" sz="2400">
                    <a:solidFill>
                      <a:srgbClr val="111827"/>
                    </a:solidFill>
                    <a:latin typeface="Cambria Math" panose="02040503050406030204" pitchFamily="18" charset="0"/>
                  </a:rPr>
                  <a:t>$\ 2x+2y+\gamma z=0$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$xyz\neq0$</a:t>
                </a:r>
                <a:r>
                  <a:rPr sz="2400" b="0">
                    <a:solidFill>
                      <a:srgbClr val="111827"/>
                    </a:solidFill>
                    <a:latin typeface="Arial"/>
                  </a:rPr>
                  <a:t>, the system has a non-trivial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determinant of the coefficients is zero: </a:t>
                </a:r>
                <a:r>
                  <a:rPr lang="en-IN" sz="2400">
                    <a:solidFill>
                      <a:srgbClr val="111827"/>
                    </a:solidFill>
                    <a:latin typeface="Cambria Math" panose="02040503050406030204" pitchFamily="18" charset="0"/>
                  </a:rPr>
                  <a:t>$\left|\begin{matrix}\alpha&amp;1&amp;2\\1&amp;\beta&amp;3\\2&amp;2&amp;\gamma\end{matrix}\right|=0$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along the first row: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along the first row: </a:t>
                </a:r>
                <a:r>
                  <a:rPr lang="en-IN" sz="2400">
                    <a:solidFill>
                      <a:srgbClr val="111827"/>
                    </a:solidFill>
                    <a:latin typeface="Cambria Math" panose="02040503050406030204" pitchFamily="18" charset="0"/>
                  </a:rPr>
                  <a:t>$\alpha(\beta\gamma-6)-1(\gamma-6)+2(2-2\beta)=0$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$\alpha\beta\gamma-6\alpha-\gamma+6+4-4\beta=0$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$\alpha\beta\gamma=45$</a:t>
                </a:r>
                <a:r>
                  <a:rPr sz="2400" b="0">
                    <a:solidFill>
                      <a:srgbClr val="111827"/>
                    </a:solidFill>
                    <a:latin typeface="Arial"/>
                  </a:rPr>
                  <a:t>: </a:t>
                </a:r>
                <a:r>
                  <a:rPr lang="en-IN" sz="2400">
                    <a:solidFill>
                      <a:srgbClr val="111827"/>
                    </a:solidFill>
                    <a:latin typeface="Cambria Math" panose="02040503050406030204" pitchFamily="18" charset="0"/>
                  </a:rPr>
                  <a:t>$6\alpha+4\beta+\gamma=55$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55</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square homogeneous system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has a non-zero solution iff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write the vector equation as a system column by column.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any condition on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γ</m:t>
                    </m:r>
                  </m:oMath>
                </a14:m>
                <a:r>
                  <a:rPr sz="2400" b="0">
                    <a:solidFill>
                      <a:srgbClr val="111827"/>
                    </a:solidFill>
                    <a:latin typeface="Arial"/>
                  </a:rPr>
                  <a:t> turns into a linear relation in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Sarrus' rule for 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determinant: sum of the three 'down' diagonals minus the three 'up' diagonals.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square homogeneous system </a:t>
                </a:r>
                <a:r>
                  <a:rPr lang="en-IN" sz="2400">
                    <a:solidFill>
                      <a:srgbClr val="111827"/>
                    </a:solidFill>
                    <a:latin typeface="Cambria Math" panose="02040503050406030204" pitchFamily="18" charset="0"/>
                  </a:rPr>
                  <a:t>$AX=O$</a:t>
                </a:r>
                <a:r>
                  <a:rPr sz="2400" b="0">
                    <a:solidFill>
                      <a:srgbClr val="111827"/>
                    </a:solidFill>
                    <a:latin typeface="Arial"/>
                  </a:rPr>
                  <a:t> has a non-zero solution iff </a:t>
                </a:r>
                <a:r>
                  <a:rPr lang="en-IN" sz="2400">
                    <a:solidFill>
                      <a:srgbClr val="111827"/>
                    </a:solidFill>
                    <a:latin typeface="Cambria Math" panose="02040503050406030204" pitchFamily="18" charset="0"/>
                  </a:rPr>
                  <a:t>$\det A=0$</a:t>
                </a:r>
                <a:r>
                  <a:rPr sz="2400" b="0">
                    <a:solidFill>
                      <a:srgbClr val="111827"/>
                    </a:solidFill>
                    <a:latin typeface="Arial"/>
                  </a:rPr>
                  <a:t>; write the vector equation as a system column by column.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$\det=\alpha\beta\gamma-6\alpha-4\beta-\gamma+10$</a:t>
                </a:r>
                <a:r>
                  <a:rPr sz="2400" b="0">
                    <a:solidFill>
                      <a:srgbClr val="111827"/>
                    </a:solidFill>
                    <a:latin typeface="Arial"/>
                  </a:rPr>
                  <a:t> (check: </a:t>
                </a:r>
                <a:r>
                  <a:rPr lang="en-IN" sz="2400">
                    <a:solidFill>
                      <a:srgbClr val="111827"/>
                    </a:solidFill>
                    <a:latin typeface="Cambria Math" panose="02040503050406030204" pitchFamily="18" charset="0"/>
                  </a:rPr>
                  <a:t>$\alpha=\beta=\gamma=1$</a:t>
                </a:r>
                <a:r>
                  <a:rPr sz="2400" b="0">
                    <a:solidFill>
                      <a:srgbClr val="111827"/>
                    </a:solidFill>
                    <a:latin typeface="Arial"/>
                  </a:rPr>
                  <a:t> gives </a:t>
                </a:r>
                <a:r>
                  <a:rPr lang="en-IN" sz="2400">
                    <a:solidFill>
                      <a:srgbClr val="111827"/>
                    </a:solidFill>
                    <a:latin typeface="Cambria Math" panose="02040503050406030204" pitchFamily="18" charset="0"/>
                  </a:rPr>
                  <a:t>$0$</a:t>
                </a:r>
                <a:r>
                  <a:rPr sz="2400" b="0">
                    <a:solidFill>
                      <a:srgbClr val="111827"/>
                    </a:solidFill>
                    <a:latin typeface="Arial"/>
                  </a:rPr>
                  <a:t>), so any condition on </a:t>
                </a:r>
                <a:r>
                  <a:rPr lang="en-IN" sz="2400">
                    <a:solidFill>
                      <a:srgbClr val="111827"/>
                    </a:solidFill>
                    <a:latin typeface="Cambria Math" panose="02040503050406030204" pitchFamily="18" charset="0"/>
                  </a:rPr>
                  <a:t>$\alpha\beta\gamma$</a:t>
                </a:r>
                <a:r>
                  <a:rPr sz="2400" b="0">
                    <a:solidFill>
                      <a:srgbClr val="111827"/>
                    </a:solidFill>
                    <a:latin typeface="Arial"/>
                  </a:rPr>
                  <a:t> turns into a linear relation in </a:t>
                </a:r>
                <a:r>
                  <a:rPr lang="en-IN" sz="2400">
                    <a:solidFill>
                      <a:srgbClr val="111827"/>
                    </a:solidFill>
                    <a:latin typeface="Cambria Math" panose="02040503050406030204" pitchFamily="18" charset="0"/>
                  </a:rPr>
                  <a:t>$\alpha,\beta,\gamma$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Sarrus' rule for a </a:t>
                </a:r>
                <a:r>
                  <a:rPr lang="en-IN" sz="2400">
                    <a:solidFill>
                      <a:srgbClr val="111827"/>
                    </a:solidFill>
                    <a:latin typeface="Cambria Math" panose="02040503050406030204" pitchFamily="18" charset="0"/>
                  </a:rPr>
                  <a:t>$3\times3$</a:t>
                </a:r>
                <a:r>
                  <a:rPr sz="2400" b="0">
                    <a:solidFill>
                      <a:srgbClr val="111827"/>
                    </a:solidFill>
                    <a:latin typeface="Arial"/>
                  </a:rPr>
                  <a:t> determinant: sum of the three 'down' diagonals minus the three 'up' diagonals.</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real matrix and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be the identity matrix of order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If the roots of the equation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then the sum of the diagonal elements of the matrix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a </a:t>
                </a:r>
                <a:r>
                  <a:rPr lang="en-IN" sz="2400">
                    <a:solidFill>
                      <a:srgbClr val="111827"/>
                    </a:solidFill>
                    <a:latin typeface="Cambria Math" panose="02040503050406030204" pitchFamily="18" charset="0"/>
                  </a:rPr>
                  <a:t>$2\times2$</a:t>
                </a:r>
                <a:r>
                  <a:rPr sz="2400" b="0">
                    <a:solidFill>
                      <a:srgbClr val="111827"/>
                    </a:solidFill>
                    <a:latin typeface="Arial"/>
                  </a:rPr>
                  <a:t> real matrix and </a:t>
                </a:r>
                <a:r>
                  <a:rPr lang="en-IN" sz="2400">
                    <a:solidFill>
                      <a:srgbClr val="111827"/>
                    </a:solidFill>
                    <a:latin typeface="Cambria Math" panose="02040503050406030204" pitchFamily="18" charset="0"/>
                  </a:rPr>
                  <a:t>$I$</a:t>
                </a:r>
                <a:r>
                  <a:rPr sz="2400" b="0">
                    <a:solidFill>
                      <a:srgbClr val="111827"/>
                    </a:solidFill>
                    <a:latin typeface="Arial"/>
                  </a:rPr>
                  <a:t> be the identity matrix of order </a:t>
                </a:r>
                <a:r>
                  <a:rPr lang="en-IN" sz="2400">
                    <a:solidFill>
                      <a:srgbClr val="111827"/>
                    </a:solidFill>
                    <a:latin typeface="Cambria Math" panose="02040503050406030204" pitchFamily="18" charset="0"/>
                  </a:rPr>
                  <a:t>$2$</a:t>
                </a:r>
                <a:r>
                  <a:rPr sz="2400" b="0">
                    <a:solidFill>
                      <a:srgbClr val="111827"/>
                    </a:solidFill>
                    <a:latin typeface="Arial"/>
                  </a:rPr>
                  <a:t>. If the roots of the equation </a:t>
                </a:r>
                <a:r>
                  <a:rPr lang="en-IN" sz="2400">
                    <a:solidFill>
                      <a:srgbClr val="111827"/>
                    </a:solidFill>
                    <a:latin typeface="Cambria Math" panose="02040503050406030204" pitchFamily="18" charset="0"/>
                  </a:rPr>
                  <a:t>$|A-xI|=0$</a:t>
                </a:r>
                <a:r>
                  <a:rPr sz="2400" b="0">
                    <a:solidFill>
                      <a:srgbClr val="111827"/>
                    </a:solidFill>
                    <a:latin typeface="Arial"/>
                  </a:rPr>
                  <a:t> be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then the sum of the diagonal elements of the matrix </a:t>
                </a:r>
                <a:r>
                  <a:rPr lang="en-IN" sz="2400">
                    <a:solidFill>
                      <a:srgbClr val="111827"/>
                    </a:solidFill>
                    <a:latin typeface="Cambria Math" panose="02040503050406030204" pitchFamily="18" charset="0"/>
                  </a:rPr>
                  <a:t>$A^2$</a:t>
                </a:r>
                <a:r>
                  <a:rPr sz="2400" b="0">
                    <a:solidFill>
                      <a:srgbClr val="111827"/>
                    </a:solidFill>
                    <a:latin typeface="Arial"/>
                  </a:rPr>
                  <a:t> is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Characteristic equation, trace and determinant of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Characteristic equation, trace and determinant of a </a:t>
                </a:r>
                <a:r>
                  <a:rPr lang="en-IN" sz="2400">
                    <a:solidFill>
                      <a:srgbClr val="111827"/>
                    </a:solidFill>
                    <a:latin typeface="Cambria Math" panose="02040503050406030204" pitchFamily="18" charset="0"/>
                  </a:rPr>
                  <a:t>$2\times2$</a:t>
                </a:r>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𝑡𝑟</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roots give </a:t>
                </a:r>
                <a14:m>
                  <m:oMath xmlns:m="http://schemas.openxmlformats.org/officeDocument/2006/math">
                    <m:r>
                      <m:rPr>
                        <m:nor/>
                      </m:rPr>
                      <a:rPr lang="en-IN" sz="2400" i="1">
                        <a:solidFill>
                          <a:srgbClr val="78350F"/>
                        </a:solidFill>
                        <a:latin typeface="Cambria Math" panose="02040503050406030204" pitchFamily="18" charset="0"/>
                      </a:rPr>
                      <m:t>𝑡𝑟</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then </a:t>
                </a:r>
                <a14:m>
                  <m:oMath xmlns:m="http://schemas.openxmlformats.org/officeDocument/2006/math">
                    <m:r>
                      <m:rPr>
                        <m:nor/>
                      </m:rPr>
                      <a:rPr lang="en-IN" sz="2400" i="1">
                        <a:solidFill>
                          <a:srgbClr val="78350F"/>
                        </a:solidFill>
                        <a:latin typeface="Cambria Math" panose="02040503050406030204" pitchFamily="18" charset="0"/>
                      </a:rPr>
                      <m:t>𝑡𝑟</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𝑡𝑟</m:t>
                    </m:r>
                    <m:r>
                      <a:rPr lang="en-IN" sz="2400" i="1">
                        <a:solidFill>
                          <a:srgbClr val="78350F"/>
                        </a:solidFill>
                        <a:latin typeface="Cambria Math" panose="02040503050406030204" pitchFamily="18" charset="0"/>
                      </a:rPr>
                      <m:t>𝐴</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$|A-xI|=x^2-(\text{tr}A)x+|A|$</a:t>
                </a:r>
                <a:r>
                  <a:rPr sz="2400" b="0">
                    <a:solidFill>
                      <a:srgbClr val="78350F"/>
                    </a:solidFill>
                    <a:latin typeface="Arial"/>
                  </a:rPr>
                  <a:t>, so the roots give </a:t>
                </a:r>
                <a:r>
                  <a:rPr lang="en-IN" sz="2400">
                    <a:solidFill>
                      <a:srgbClr val="78350F"/>
                    </a:solidFill>
                    <a:latin typeface="Cambria Math" panose="02040503050406030204" pitchFamily="18" charset="0"/>
                  </a:rPr>
                  <a:t>$\text{tr}A=2$</a:t>
                </a:r>
                <a:r>
                  <a:rPr sz="2400" b="0">
                    <a:solidFill>
                      <a:srgbClr val="78350F"/>
                    </a:solidFill>
                    <a:latin typeface="Arial"/>
                  </a:rPr>
                  <a:t> and </a:t>
                </a:r>
                <a:r>
                  <a:rPr lang="en-IN" sz="2400">
                    <a:solidFill>
                      <a:srgbClr val="78350F"/>
                    </a:solidFill>
                    <a:latin typeface="Cambria Math" panose="02040503050406030204" pitchFamily="18" charset="0"/>
                  </a:rPr>
                  <a:t>$|A|=-3$</a:t>
                </a:r>
                <a:r>
                  <a:rPr sz="2400" b="0">
                    <a:solidFill>
                      <a:srgbClr val="78350F"/>
                    </a:solidFill>
                    <a:latin typeface="Arial"/>
                  </a:rPr>
                  <a:t>; then </a:t>
                </a:r>
                <a:r>
                  <a:rPr lang="en-IN" sz="2400">
                    <a:solidFill>
                      <a:srgbClr val="78350F"/>
                    </a:solidFill>
                    <a:latin typeface="Cambria Math" panose="02040503050406030204" pitchFamily="18" charset="0"/>
                  </a:rPr>
                  <a:t>$\text{tr}A^2=(\text{tr}A)^2-2|A|$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𝑐</m:t>
                              </m:r>
                            </m:e>
                            <m:e>
                              <m:r>
                                <a:rPr lang="en-IN" sz="2400" i="1">
                                  <a:solidFill>
                                    <a:srgbClr val="111827"/>
                                  </a:solidFill>
                                  <a:latin typeface="Cambria Math" panose="02040503050406030204" pitchFamily="18" charset="0"/>
                                </a:rPr>
                                <m:t>𝑑</m:t>
                              </m:r>
                            </m:e>
                          </m:mr>
                        </m:m>
                      </m:e>
                    </m:d>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𝑐</m:t>
                              </m:r>
                            </m:e>
                            <m:e>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mr>
                        </m:m>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which has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product of roots: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$A=\begin{pmatrix}a&amp;b\\c&amp;d\end{pmatrix}$</a:t>
                </a:r>
                <a:r>
                  <a:rPr sz="2400" b="0">
                    <a:solidFill>
                      <a:srgbClr val="111827"/>
                    </a:solidFill>
                    <a:latin typeface="Arial"/>
                  </a:rPr>
                  <a:t>. Then </a:t>
                </a:r>
                <a:r>
                  <a:rPr lang="en-IN" sz="2400">
                    <a:solidFill>
                      <a:srgbClr val="111827"/>
                    </a:solidFill>
                    <a:latin typeface="Cambria Math" panose="02040503050406030204" pitchFamily="18" charset="0"/>
                  </a:rPr>
                  <a:t>$|A-xI|=\left|\begin{matrix}a-x&amp;b\\c&amp;d-x\end{matrix}\right|=(a-x)(d-x)-bc$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
                </a:r>
                <a:r>
                  <a:rPr lang="en-IN" sz="2400">
                    <a:solidFill>
                      <a:srgbClr val="111827"/>
                    </a:solidFill>
                    <a:latin typeface="Cambria Math" panose="02040503050406030204" pitchFamily="18" charset="0"/>
                  </a:rPr>
                  <a:t>$x^2-(a+d)x+(ad-bc)=0$</a:t>
                </a:r>
                <a:r>
                  <a:rPr sz="2400" b="0">
                    <a:solidFill>
                      <a:srgbClr val="111827"/>
                    </a:solidFill>
                    <a:latin typeface="Arial"/>
                  </a:rPr>
                  <a:t>, which has roots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$a+d=2$</a:t>
                </a:r>
                <a:r>
                  <a:rPr sz="2400" b="0">
                    <a:solidFill>
                      <a:srgbClr val="111827"/>
                    </a:solidFill>
                    <a:latin typeface="Arial"/>
                  </a:rPr>
                  <a:t>; product of roots: </a:t>
                </a:r>
                <a:r>
                  <a:rPr lang="en-IN" sz="2400">
                    <a:solidFill>
                      <a:srgbClr val="111827"/>
                    </a:solidFill>
                    <a:latin typeface="Cambria Math" panose="02040503050406030204" pitchFamily="18" charset="0"/>
                  </a:rPr>
                  <a:t>$ad-bc=-3$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e>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𝑑</m:t>
                              </m:r>
                            </m:e>
                          </m:mr>
                          <m:m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𝑑</m:t>
                              </m:r>
                            </m:e>
                            <m:e>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e>
                          </m:mr>
                        </m:m>
                      </m:e>
                    </m:d>
                  </m:oMath>
                </a14:m>
                <a:r>
                  <a:rPr sz="2400" b="0">
                    <a:solidFill>
                      <a:srgbClr val="111827"/>
                    </a:solidFill>
                    <a:latin typeface="Arial"/>
                  </a:rPr>
                  <a:t>, so the sum of diagonal elements is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$A^2=\begin{pmatrix}a^2+bc&amp;ab+bd\\ac+cd&amp;bc+d^2\end{pmatrix}$</a:t>
                </a:r>
                <a:r>
                  <a:rPr sz="2400" b="0">
                    <a:solidFill>
                      <a:srgbClr val="111827"/>
                    </a:solidFill>
                    <a:latin typeface="Arial"/>
                  </a:rPr>
                  <a:t>, so the sum of diagonal elements is </a:t>
                </a:r>
                <a:r>
                  <a:rPr lang="en-IN" sz="2400">
                    <a:solidFill>
                      <a:srgbClr val="111827"/>
                    </a:solidFill>
                    <a:latin typeface="Cambria Math" panose="02040503050406030204" pitchFamily="18" charset="0"/>
                  </a:rPr>
                  <a:t>$a^2+d^2+2bc$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$a^2+d^2+2bc=(a+d)^2+2(bc-ad)=4+2\cdot3=10$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a:t>
            </a:r>
            <a:endParaRPr sz="2800">
              <a:solidFill>
                <a:srgbClr val="15803D"/>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roots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are the eigenvalues; those of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are their squares, and the trace is the sum of eigenvalues.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roots of </a:t>
                </a:r>
                <a:r>
                  <a:rPr lang="en-IN" sz="2400">
                    <a:solidFill>
                      <a:srgbClr val="78350F"/>
                    </a:solidFill>
                    <a:latin typeface="Cambria Math" panose="02040503050406030204" pitchFamily="18" charset="0"/>
                  </a:rPr>
                  <a:t>$|A-xI|=0$</a:t>
                </a:r>
                <a:r>
                  <a:rPr sz="2400" b="0">
                    <a:solidFill>
                      <a:srgbClr val="78350F"/>
                    </a:solidFill>
                    <a:latin typeface="Arial"/>
                  </a:rPr>
                  <a:t> are the eigenvalues; those of </a:t>
                </a:r>
                <a:r>
                  <a:rPr lang="en-IN" sz="2400">
                    <a:solidFill>
                      <a:srgbClr val="78350F"/>
                    </a:solidFill>
                    <a:latin typeface="Cambria Math" panose="02040503050406030204" pitchFamily="18" charset="0"/>
                  </a:rPr>
                  <a:t>$A^2$</a:t>
                </a:r>
                <a:r>
                  <a:rPr sz="2400" b="0">
                    <a:solidFill>
                      <a:srgbClr val="78350F"/>
                    </a:solidFill>
                    <a:latin typeface="Arial"/>
                  </a:rPr>
                  <a:t> are their squares, and the trace is the sum of eigenvalues.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roots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the eigenvalues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eigenvalues of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are </a:t>
                </a:r>
                <a14:m>
                  <m:oMath xmlns:m="http://schemas.openxmlformats.org/officeDocument/2006/math">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diagonal elements (trace) equals the sum of the eigenvalues: </a:t>
                </a:r>
                <a14:m>
                  <m:oMath xmlns:m="http://schemas.openxmlformats.org/officeDocument/2006/math">
                    <m:r>
                      <m:rPr>
                        <m:nor/>
                      </m:rPr>
                      <a:rPr lang="en-IN" sz="2400" i="1">
                        <a:solidFill>
                          <a:srgbClr val="111827"/>
                        </a:solidFill>
                        <a:latin typeface="Cambria Math" panose="02040503050406030204" pitchFamily="18" charset="0"/>
                      </a:rPr>
                      <m:t>𝑡𝑟</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roots of </a:t>
                </a:r>
                <a:r>
                  <a:rPr lang="en-IN" sz="2400">
                    <a:solidFill>
                      <a:srgbClr val="111827"/>
                    </a:solidFill>
                    <a:latin typeface="Cambria Math" panose="02040503050406030204" pitchFamily="18" charset="0"/>
                  </a:rPr>
                  <a:t>$|A-xI|=0$</a:t>
                </a:r>
                <a:r>
                  <a:rPr sz="2400" b="0">
                    <a:solidFill>
                      <a:srgbClr val="111827"/>
                    </a:solidFill>
                    <a:latin typeface="Arial"/>
                  </a:rPr>
                  <a:t> are the eigenvalues of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$\lambda_1=-1$</a:t>
                </a:r>
                <a:r>
                  <a:rPr sz="2400" b="0">
                    <a:solidFill>
                      <a:srgbClr val="111827"/>
                    </a:solidFill>
                    <a:latin typeface="Arial"/>
                  </a:rPr>
                  <a:t>, </a:t>
                </a:r>
                <a:r>
                  <a:rPr lang="en-IN" sz="2400">
                    <a:solidFill>
                      <a:srgbClr val="111827"/>
                    </a:solidFill>
                    <a:latin typeface="Cambria Math" panose="02040503050406030204" pitchFamily="18" charset="0"/>
                  </a:rPr>
                  <a:t>$\lambda_2=3$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eigenvalues of </a:t>
                </a:r>
                <a:r>
                  <a:rPr lang="en-IN" sz="2400">
                    <a:solidFill>
                      <a:srgbClr val="111827"/>
                    </a:solidFill>
                    <a:latin typeface="Cambria Math" panose="02040503050406030204" pitchFamily="18" charset="0"/>
                  </a:rPr>
                  <a:t>$A^2$</a:t>
                </a:r>
                <a:r>
                  <a:rPr sz="2400" b="0">
                    <a:solidFill>
                      <a:srgbClr val="111827"/>
                    </a:solidFill>
                    <a:latin typeface="Arial"/>
                  </a:rPr>
                  <a:t> are </a:t>
                </a:r>
                <a:r>
                  <a:rPr lang="en-IN" sz="2400">
                    <a:solidFill>
                      <a:srgbClr val="111827"/>
                    </a:solidFill>
                    <a:latin typeface="Cambria Math" panose="02040503050406030204" pitchFamily="18" charset="0"/>
                  </a:rPr>
                  <a:t>$\lambda_1^2=1$</a:t>
                </a:r>
                <a:r>
                  <a:rPr sz="2400" b="0">
                    <a:solidFill>
                      <a:srgbClr val="111827"/>
                    </a:solidFill>
                    <a:latin typeface="Arial"/>
                  </a:rPr>
                  <a:t> and </a:t>
                </a:r>
                <a:r>
                  <a:rPr lang="en-IN" sz="2400">
                    <a:solidFill>
                      <a:srgbClr val="111827"/>
                    </a:solidFill>
                    <a:latin typeface="Cambria Math" panose="02040503050406030204" pitchFamily="18" charset="0"/>
                  </a:rPr>
                  <a:t>$\lambda_2^2=9$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diagonal elements (trace) equals the sum of the eigenvalues: </a:t>
                </a:r>
                <a:r>
                  <a:rPr lang="en-IN" sz="2400">
                    <a:solidFill>
                      <a:srgbClr val="111827"/>
                    </a:solidFill>
                    <a:latin typeface="Cambria Math" panose="02040503050406030204" pitchFamily="18" charset="0"/>
                  </a:rPr>
                  <a:t>$\text{tr}A^2=1+9=10$</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a:t>
            </a:r>
            <a:endParaRPr sz="2800">
              <a:solidFill>
                <a:srgbClr val="15803D"/>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square matrix, </a:t>
                </a:r>
                <a14:m>
                  <m:oMath xmlns:m="http://schemas.openxmlformats.org/officeDocument/2006/math">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the eigenvalues of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are </a:t>
                </a:r>
                <a14:m>
                  <m:oMath xmlns:m="http://schemas.openxmlformats.org/officeDocument/2006/math">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𝑘</m:t>
                        </m:r>
                      </m:sup>
                    </m:sSubSup>
                  </m:oMath>
                </a14:m>
                <a:r>
                  <a:rPr sz="2400" b="0">
                    <a:solidFill>
                      <a:srgbClr val="111827"/>
                    </a:solidFill>
                    <a:latin typeface="Arial"/>
                  </a:rPr>
                  <a:t>, so </a:t>
                </a:r>
                <a14:m>
                  <m:oMath xmlns:m="http://schemas.openxmlformats.org/officeDocument/2006/math">
                    <m:r>
                      <m:rPr>
                        <m:nor/>
                      </m:rPr>
                      <a:rPr lang="en-IN" sz="2400" i="1">
                        <a:solidFill>
                          <a:srgbClr val="111827"/>
                        </a:solidFill>
                        <a:latin typeface="Cambria Math" panose="02040503050406030204" pitchFamily="18" charset="0"/>
                      </a:rPr>
                      <m:t>𝑡𝑟</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𝑘</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nor/>
                      </m:rPr>
                      <a:rPr lang="en-IN" sz="2400" i="1">
                        <a:solidFill>
                          <a:srgbClr val="111827"/>
                        </a:solidFill>
                        <a:latin typeface="Cambria Math" panose="02040503050406030204" pitchFamily="18" charset="0"/>
                      </a:rPr>
                      <m:t>𝑡𝑟</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oMath>
                </a14:m>
                <a:r>
                  <a:rPr sz="2400" b="0">
                    <a:solidFill>
                      <a:srgbClr val="111827"/>
                    </a:solidFill>
                    <a:latin typeface="Arial"/>
                  </a:rPr>
                  <a:t> and Cayley–Hamilton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𝑑𝑖𝑎𝑔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characteristic polynomial of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square matrix, </a:t>
                </a:r>
                <a:r>
                  <a:rPr lang="en-IN" sz="2400">
                    <a:solidFill>
                      <a:srgbClr val="111827"/>
                    </a:solidFill>
                    <a:latin typeface="Cambria Math" panose="02040503050406030204" pitchFamily="18" charset="0"/>
                  </a:rPr>
                  <a:t>$\text{tr}A=\sum\lambda_i$</a:t>
                </a:r>
                <a:r>
                  <a:rPr sz="2400" b="0">
                    <a:solidFill>
                      <a:srgbClr val="111827"/>
                    </a:solidFill>
                    <a:latin typeface="Arial"/>
                  </a:rPr>
                  <a:t> and </a:t>
                </a:r>
                <a:r>
                  <a:rPr lang="en-IN" sz="2400">
                    <a:solidFill>
                      <a:srgbClr val="111827"/>
                    </a:solidFill>
                    <a:latin typeface="Cambria Math" panose="02040503050406030204" pitchFamily="18" charset="0"/>
                  </a:rPr>
                  <a:t>$\det A=\prod\lambda_i$</a:t>
                </a:r>
                <a:r>
                  <a:rPr sz="2400" b="0">
                    <a:solidFill>
                      <a:srgbClr val="111827"/>
                    </a:solidFill>
                    <a:latin typeface="Arial"/>
                  </a:rPr>
                  <a:t>; the eigenvalues of </a:t>
                </a:r>
                <a:r>
                  <a:rPr lang="en-IN" sz="2400">
                    <a:solidFill>
                      <a:srgbClr val="111827"/>
                    </a:solidFill>
                    <a:latin typeface="Cambria Math" panose="02040503050406030204" pitchFamily="18" charset="0"/>
                  </a:rPr>
                  <a:t>$A^k$</a:t>
                </a:r>
                <a:r>
                  <a:rPr sz="2400" b="0">
                    <a:solidFill>
                      <a:srgbClr val="111827"/>
                    </a:solidFill>
                    <a:latin typeface="Arial"/>
                  </a:rPr>
                  <a:t> are </a:t>
                </a:r>
                <a:r>
                  <a:rPr lang="en-IN" sz="2400">
                    <a:solidFill>
                      <a:srgbClr val="111827"/>
                    </a:solidFill>
                    <a:latin typeface="Cambria Math" panose="02040503050406030204" pitchFamily="18" charset="0"/>
                  </a:rPr>
                  <a:t>$\lambda_i^k$</a:t>
                </a:r>
                <a:r>
                  <a:rPr sz="2400" b="0">
                    <a:solidFill>
                      <a:srgbClr val="111827"/>
                    </a:solidFill>
                    <a:latin typeface="Arial"/>
                  </a:rPr>
                  <a:t>, so </a:t>
                </a:r>
                <a:r>
                  <a:rPr lang="en-IN" sz="2400">
                    <a:solidFill>
                      <a:srgbClr val="111827"/>
                    </a:solidFill>
                    <a:latin typeface="Cambria Math" panose="02040503050406030204" pitchFamily="18" charset="0"/>
                  </a:rPr>
                  <a:t>$\text{tr}(A^k)=\sum\lambda_i^k$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$2\times2$</a:t>
                </a:r>
                <a:r>
                  <a:rPr sz="2400" b="0">
                    <a:solidFill>
                      <a:srgbClr val="111827"/>
                    </a:solidFill>
                    <a:latin typeface="Arial"/>
                  </a:rPr>
                  <a:t>: </a:t>
                </a:r>
                <a:r>
                  <a:rPr lang="en-IN" sz="2400">
                    <a:solidFill>
                      <a:srgbClr val="111827"/>
                    </a:solidFill>
                    <a:latin typeface="Cambria Math" panose="02040503050406030204" pitchFamily="18" charset="0"/>
                  </a:rPr>
                  <a:t>$\text{tr}(A^2)=(\text{tr}A)^2-2\det A$</a:t>
                </a:r>
                <a:r>
                  <a:rPr sz="2400" b="0">
                    <a:solidFill>
                      <a:srgbClr val="111827"/>
                    </a:solidFill>
                    <a:latin typeface="Arial"/>
                  </a:rPr>
                  <a:t> and Cayley–Hamilton </a:t>
                </a:r>
                <a:r>
                  <a:rPr lang="en-IN" sz="2400">
                    <a:solidFill>
                      <a:srgbClr val="111827"/>
                    </a:solidFill>
                    <a:latin typeface="Cambria Math" panose="02040503050406030204" pitchFamily="18" charset="0"/>
                  </a:rPr>
                  <a:t>$A^2=(\text{tr}A)A-(\det A)I$</a:t>
                </a:r>
                <a:r>
                  <a:rPr sz="2400" b="0">
                    <a:solidFill>
                      <a:srgbClr val="111827"/>
                    </a:solidFill>
                    <a:latin typeface="Arial"/>
                  </a:rPr>
                  <a:t>. Check: </a:t>
                </a:r>
                <a:r>
                  <a:rPr lang="en-IN" sz="2400">
                    <a:solidFill>
                      <a:srgbClr val="111827"/>
                    </a:solidFill>
                    <a:latin typeface="Cambria Math" panose="02040503050406030204" pitchFamily="18" charset="0"/>
                  </a:rPr>
                  <a:t>$A=\text{diag}(-1,3)$</a:t>
                </a:r>
                <a:r>
                  <a:rPr sz="2400" b="0">
                    <a:solidFill>
                      <a:srgbClr val="111827"/>
                    </a:solidFill>
                    <a:latin typeface="Arial"/>
                  </a:rPr>
                  <a:t> gives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characteristic polynomial of a </a:t>
                </a:r>
                <a:r>
                  <a:rPr lang="en-IN" sz="2400">
                    <a:solidFill>
                      <a:srgbClr val="111827"/>
                    </a:solidFill>
                    <a:latin typeface="Cambria Math" panose="02040503050406030204" pitchFamily="18" charset="0"/>
                  </a:rPr>
                  <a:t>$2\times2$</a:t>
                </a:r>
                <a:r>
                  <a:rPr sz="2400" b="0">
                    <a:solidFill>
                      <a:srgbClr val="111827"/>
                    </a:solidFill>
                    <a:latin typeface="Arial"/>
                  </a:rPr>
                  <a:t> matrix is </a:t>
                </a:r>
                <a:r>
                  <a:rPr lang="en-IN" sz="2400">
                    <a:solidFill>
                      <a:srgbClr val="111827"/>
                    </a:solidFill>
                    <a:latin typeface="Cambria Math" panose="02040503050406030204" pitchFamily="18" charset="0"/>
                  </a:rPr>
                  <a:t>$x^2-(\text{tr}A)x+\det 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oMath>
                </a14:m>
                <a:r>
                  <a:rPr sz="2400" b="0">
                    <a:solidFill>
                      <a:srgbClr val="111827"/>
                    </a:solidFill>
                    <a:latin typeface="Arial"/>
                  </a:rPr>
                  <a:t> be an Arithmetic Progression such that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2233</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$a_1,a_2,\dots,a_{2024}$</a:t>
                </a:r>
                <a:r>
                  <a:rPr sz="2400" b="0">
                    <a:solidFill>
                      <a:srgbClr val="111827"/>
                    </a:solidFill>
                    <a:latin typeface="Arial"/>
                  </a:rPr>
                  <a:t> be an Arithmetic Progression such that </a:t>
                </a:r>
                <a:r>
                  <a:rPr lang="en-IN" sz="2400">
                    <a:solidFill>
                      <a:srgbClr val="111827"/>
                    </a:solidFill>
                    <a:latin typeface="Cambria Math" panose="02040503050406030204" pitchFamily="18" charset="0"/>
                  </a:rPr>
                  <a:t>$a_1+(a_5+a_{10}+a_{15}+\dots+a_{2020})+a_{2024}=2233$</a:t>
                </a:r>
                <a:r>
                  <a:rPr sz="2400" b="0">
                    <a:solidFill>
                      <a:srgbClr val="111827"/>
                    </a:solidFill>
                    <a:latin typeface="Arial"/>
                  </a:rPr>
                  <a:t>. Then </a:t>
                </a:r>
                <a:r>
                  <a:rPr lang="en-IN" sz="2400">
                    <a:solidFill>
                      <a:srgbClr val="111827"/>
                    </a:solidFill>
                    <a:latin typeface="Cambria Math" panose="02040503050406030204" pitchFamily="18" charset="0"/>
                  </a:rPr>
                  <a:t>$a_1+a_2+a_3+\dots+a_{2024}$</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Properties of an arithmetic progression (terms equidistant from the ends)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an A.P. the sum of two terms equidistant from the ends is constant, and the given terms pair up symmetrically.</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2233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A.P. the sum of terms equidistant from the ends is the same: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2015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(indices add up to </a:t>
                </a:r>
                <a14:m>
                  <m:oMath xmlns:m="http://schemas.openxmlformats.org/officeDocument/2006/math">
                    <m:r>
                      <a:rPr lang="en-IN" sz="2400" i="1">
                        <a:solidFill>
                          <a:srgbClr val="111827"/>
                        </a:solidFill>
                        <a:latin typeface="Cambria Math" panose="02040503050406030204" pitchFamily="18" charset="0"/>
                      </a:rPr>
                      <m:t>2025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2020</m:t>
                        </m:r>
                      </m:sub>
                    </m:sSub>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404</m:t>
                    </m:r>
                  </m:oMath>
                </a14:m>
                <a:r>
                  <a:rPr sz="2400" b="0">
                    <a:solidFill>
                      <a:srgbClr val="111827"/>
                    </a:solidFill>
                    <a:latin typeface="Arial"/>
                  </a:rPr>
                  <a:t> terms, forming </a:t>
                </a:r>
                <a14:m>
                  <m:oMath xmlns:m="http://schemas.openxmlformats.org/officeDocument/2006/math">
                    <m:r>
                      <a:rPr lang="en-IN" sz="2400" i="1">
                        <a:solidFill>
                          <a:srgbClr val="111827"/>
                        </a:solidFill>
                        <a:latin typeface="Cambria Math" panose="02040503050406030204" pitchFamily="18" charset="0"/>
                      </a:rPr>
                      <m:t>202</m:t>
                    </m:r>
                  </m:oMath>
                </a14:m>
                <a:r>
                  <a:rPr sz="2400" b="0">
                    <a:solidFill>
                      <a:srgbClr val="111827"/>
                    </a:solidFill>
                    <a:latin typeface="Arial"/>
                  </a:rPr>
                  <a:t> pairs; with the pair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oMath>
                </a14:m>
                <a:r>
                  <a:rPr sz="2400" b="0">
                    <a:solidFill>
                      <a:srgbClr val="111827"/>
                    </a:solidFill>
                    <a:latin typeface="Arial"/>
                  </a:rPr>
                  <a:t> there are </a:t>
                </a:r>
                <a14:m>
                  <m:oMath xmlns:m="http://schemas.openxmlformats.org/officeDocument/2006/math">
                    <m:r>
                      <a:rPr lang="en-IN" sz="2400" i="1">
                        <a:solidFill>
                          <a:srgbClr val="111827"/>
                        </a:solidFill>
                        <a:latin typeface="Cambria Math" panose="02040503050406030204" pitchFamily="18" charset="0"/>
                      </a:rPr>
                      <m:t>203</m:t>
                    </m:r>
                  </m:oMath>
                </a14:m>
                <a:r>
                  <a:rPr sz="2400" b="0">
                    <a:solidFill>
                      <a:srgbClr val="111827"/>
                    </a:solidFill>
                    <a:latin typeface="Arial"/>
                  </a:rPr>
                  <a:t> pairs.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$a_1+a_5+a_{10}+\dots+a_{2020}+a_{2024}=2233$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A.P. the sum of terms equidistant from the ends is the same: </a:t>
                </a:r>
                <a:r>
                  <a:rPr lang="en-IN" sz="2400">
                    <a:solidFill>
                      <a:srgbClr val="111827"/>
                    </a:solidFill>
                    <a:latin typeface="Cambria Math" panose="02040503050406030204" pitchFamily="18" charset="0"/>
                  </a:rPr>
                  <a:t>$a_1+a_{2024}=a_5+a_{2020}=a_{10}+a_{2015}=\dots$</a:t>
                </a:r>
                <a:r>
                  <a:rPr sz="2400" b="0">
                    <a:solidFill>
                      <a:srgbClr val="111827"/>
                    </a:solidFill>
                    <a:latin typeface="Arial"/>
                  </a:rPr>
                  <a:t> (indices add up to </a:t>
                </a:r>
                <a:r>
                  <a:rPr lang="en-IN" sz="2400">
                    <a:solidFill>
                      <a:srgbClr val="111827"/>
                    </a:solidFill>
                    <a:latin typeface="Cambria Math" panose="02040503050406030204" pitchFamily="18" charset="0"/>
                  </a:rPr>
                  <a:t>$2025$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terms </a:t>
                </a:r>
                <a:r>
                  <a:rPr lang="en-IN" sz="2400">
                    <a:solidFill>
                      <a:srgbClr val="111827"/>
                    </a:solidFill>
                    <a:latin typeface="Cambria Math" panose="02040503050406030204" pitchFamily="18" charset="0"/>
                  </a:rPr>
                  <a:t>$a_5,a_{10},\dots,a_{2020}$</a:t>
                </a:r>
                <a:r>
                  <a:rPr sz="2400" b="0">
                    <a:solidFill>
                      <a:srgbClr val="111827"/>
                    </a:solidFill>
                    <a:latin typeface="Arial"/>
                  </a:rPr>
                  <a:t> are </a:t>
                </a:r>
                <a:r>
                  <a:rPr lang="en-IN" sz="2400">
                    <a:solidFill>
                      <a:srgbClr val="111827"/>
                    </a:solidFill>
                    <a:latin typeface="Cambria Math" panose="02040503050406030204" pitchFamily="18" charset="0"/>
                  </a:rPr>
                  <a:t>$404$</a:t>
                </a:r>
                <a:r>
                  <a:rPr sz="2400" b="0">
                    <a:solidFill>
                      <a:srgbClr val="111827"/>
                    </a:solidFill>
                    <a:latin typeface="Arial"/>
                  </a:rPr>
                  <a:t> terms, forming </a:t>
                </a:r>
                <a:r>
                  <a:rPr lang="en-IN" sz="2400">
                    <a:solidFill>
                      <a:srgbClr val="111827"/>
                    </a:solidFill>
                    <a:latin typeface="Cambria Math" panose="02040503050406030204" pitchFamily="18" charset="0"/>
                  </a:rPr>
                  <a:t>$202$</a:t>
                </a:r>
                <a:r>
                  <a:rPr sz="2400" b="0">
                    <a:solidFill>
                      <a:srgbClr val="111827"/>
                    </a:solidFill>
                    <a:latin typeface="Arial"/>
                  </a:rPr>
                  <a:t> pairs; with the pair </a:t>
                </a:r>
                <a:r>
                  <a:rPr lang="en-IN" sz="2400">
                    <a:solidFill>
                      <a:srgbClr val="111827"/>
                    </a:solidFill>
                    <a:latin typeface="Cambria Math" panose="02040503050406030204" pitchFamily="18" charset="0"/>
                  </a:rPr>
                  <a:t>$a_1,a_{2024}$</a:t>
                </a:r>
                <a:r>
                  <a:rPr sz="2400" b="0">
                    <a:solidFill>
                      <a:srgbClr val="111827"/>
                    </a:solidFill>
                    <a:latin typeface="Arial"/>
                  </a:rPr>
                  <a:t> there are </a:t>
                </a:r>
                <a:r>
                  <a:rPr lang="en-IN" sz="2400">
                    <a:solidFill>
                      <a:srgbClr val="111827"/>
                    </a:solidFill>
                    <a:latin typeface="Cambria Math" panose="02040503050406030204" pitchFamily="18" charset="0"/>
                  </a:rPr>
                  <a:t>$203$</a:t>
                </a:r>
                <a:r>
                  <a:rPr sz="2400" b="0">
                    <a:solidFill>
                      <a:srgbClr val="111827"/>
                    </a:solidFill>
                    <a:latin typeface="Arial"/>
                  </a:rPr>
                  <a:t> pairs.</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203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2233</m:t>
                    </m:r>
                  </m:oMath>
                </a14:m>
                <a:r>
                  <a:rPr sz="2400" b="0">
                    <a:solidFill>
                      <a:srgbClr val="111827"/>
                    </a:solidFill>
                    <a:latin typeface="Arial"/>
                  </a:rPr>
                  <a:t>, hence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2024</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2024</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$203\,(a_1+a_{2024})=2233$</a:t>
                </a:r>
                <a:r>
                  <a:rPr sz="2400" b="0">
                    <a:solidFill>
                      <a:srgbClr val="111827"/>
                    </a:solidFill>
                    <a:latin typeface="Arial"/>
                  </a:rPr>
                  <a:t>, hence </a:t>
                </a:r>
                <a:r>
                  <a:rPr lang="en-IN" sz="2400">
                    <a:solidFill>
                      <a:srgbClr val="111827"/>
                    </a:solidFill>
                    <a:latin typeface="Cambria Math" panose="02040503050406030204" pitchFamily="18" charset="0"/>
                  </a:rPr>
                  <a:t>$a_1+a_{2024}=11$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$S_{2024}=\frac{2024}{2}\left(a_1+a_{2024}\right)=1012\times11=11132$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11132</a:t>
            </a:r>
            <a:endParaRPr sz="2800">
              <a:solidFill>
                <a:srgbClr val="15803D"/>
              </a:solidFil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chosen index set is symmetric about the centre </a:t>
                </a:r>
                <a14:m>
                  <m:oMath xmlns:m="http://schemas.openxmlformats.org/officeDocument/2006/math">
                    <m:r>
                      <a:rPr lang="en-IN" sz="2400" i="1">
                        <a:solidFill>
                          <a:srgbClr val="78350F"/>
                        </a:solidFill>
                        <a:latin typeface="Cambria Math" panose="02040503050406030204" pitchFamily="18" charset="0"/>
                      </a:rPr>
                      <m:t>1012.5</m:t>
                    </m:r>
                  </m:oMath>
                </a14:m>
                <a:r>
                  <a:rPr sz="2400" b="0">
                    <a:solidFill>
                      <a:srgbClr val="78350F"/>
                    </a:solidFill>
                    <a:latin typeface="Arial"/>
                  </a:rPr>
                  <a:t>, so its terms sum to (count)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(mean of the A.P.).</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chosen index set is symmetric about the centre </a:t>
                </a:r>
                <a:r>
                  <a:rPr lang="en-IN" sz="2400">
                    <a:solidFill>
                      <a:srgbClr val="78350F"/>
                    </a:solidFill>
                    <a:latin typeface="Cambria Math" panose="02040503050406030204" pitchFamily="18" charset="0"/>
                  </a:rPr>
                  <a:t>$1012.5$</a:t>
                </a:r>
                <a:r>
                  <a:rPr sz="2400" b="0">
                    <a:solidFill>
                      <a:srgbClr val="78350F"/>
                    </a:solidFill>
                    <a:latin typeface="Arial"/>
                  </a:rPr>
                  <a:t>, so its terms sum to (count) </a:t>
                </a:r>
                <a:r>
                  <a:rPr lang="en-IN" sz="2400">
                    <a:solidFill>
                      <a:srgbClr val="78350F"/>
                    </a:solidFill>
                    <a:latin typeface="Cambria Math" panose="02040503050406030204" pitchFamily="18" charset="0"/>
                  </a:rPr>
                  <a:t>$\times$</a:t>
                </a:r>
                <a:r>
                  <a:rPr sz="2400" b="0">
                    <a:solidFill>
                      <a:srgbClr val="78350F"/>
                    </a:solidFill>
                    <a:latin typeface="Arial"/>
                  </a:rPr>
                  <a:t> (mean of the A.P.).</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the mean of the whole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index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406</m:t>
                    </m:r>
                  </m:oMath>
                </a14:m>
                <a:r>
                  <a:rPr sz="2400" b="0">
                    <a:solidFill>
                      <a:srgbClr val="111827"/>
                    </a:solidFill>
                    <a:latin typeface="Arial"/>
                  </a:rPr>
                  <a:t> elements and is symmetric under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given sum is </a:t>
                </a:r>
                <a14:m>
                  <m:oMath xmlns:m="http://schemas.openxmlformats.org/officeDocument/2006/math">
                    <m:r>
                      <a:rPr lang="en-IN" sz="2400" i="1">
                        <a:solidFill>
                          <a:srgbClr val="111827"/>
                        </a:solidFill>
                        <a:latin typeface="Cambria Math" panose="02040503050406030204" pitchFamily="18" charset="0"/>
                      </a:rPr>
                      <m:t>406</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2233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2024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2024</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11132</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$a_k=M+(k-1012.5)d$</a:t>
                </a:r>
                <a:r>
                  <a:rPr sz="2400" b="0">
                    <a:solidFill>
                      <a:srgbClr val="111827"/>
                    </a:solidFill>
                    <a:latin typeface="Arial"/>
                  </a:rPr>
                  <a:t>, where </a:t>
                </a:r>
                <a:r>
                  <a:rPr lang="en-IN" sz="2400">
                    <a:solidFill>
                      <a:srgbClr val="111827"/>
                    </a:solidFill>
                    <a:latin typeface="Cambria Math" panose="02040503050406030204" pitchFamily="18" charset="0"/>
                  </a:rPr>
                  <a:t>$M=\frac{a_1+a_{2024}}2$</a:t>
                </a:r>
                <a:r>
                  <a:rPr sz="2400" b="0">
                    <a:solidFill>
                      <a:srgbClr val="111827"/>
                    </a:solidFill>
                    <a:latin typeface="Arial"/>
                  </a:rPr>
                  <a:t> is the mean of the whole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index set </a:t>
                </a:r>
                <a:r>
                  <a:rPr lang="en-IN" sz="2400">
                    <a:solidFill>
                      <a:srgbClr val="111827"/>
                    </a:solidFill>
                    <a:latin typeface="Cambria Math" panose="02040503050406030204" pitchFamily="18" charset="0"/>
                  </a:rPr>
                  <a:t>$\{1,5,10,\dots,2020,2024\}$</a:t>
                </a:r>
                <a:r>
                  <a:rPr sz="2400" b="0">
                    <a:solidFill>
                      <a:srgbClr val="111827"/>
                    </a:solidFill>
                    <a:latin typeface="Arial"/>
                  </a:rPr>
                  <a:t> has </a:t>
                </a:r>
                <a:r>
                  <a:rPr lang="en-IN" sz="2400">
                    <a:solidFill>
                      <a:srgbClr val="111827"/>
                    </a:solidFill>
                    <a:latin typeface="Cambria Math" panose="02040503050406030204" pitchFamily="18" charset="0"/>
                  </a:rPr>
                  <a:t>$406$</a:t>
                </a:r>
                <a:r>
                  <a:rPr sz="2400" b="0">
                    <a:solidFill>
                      <a:srgbClr val="111827"/>
                    </a:solidFill>
                    <a:latin typeface="Arial"/>
                  </a:rPr>
                  <a:t> elements and is symmetric under </a:t>
                </a:r>
                <a:r>
                  <a:rPr lang="en-IN" sz="2400">
                    <a:solidFill>
                      <a:srgbClr val="111827"/>
                    </a:solidFill>
                    <a:latin typeface="Cambria Math" panose="02040503050406030204" pitchFamily="18" charset="0"/>
                  </a:rPr>
                  <a:t>$k\to2025-k$</a:t>
                </a:r>
                <a:r>
                  <a:rPr sz="2400" b="0">
                    <a:solidFill>
                      <a:srgbClr val="111827"/>
                    </a:solidFill>
                    <a:latin typeface="Arial"/>
                  </a:rPr>
                  <a:t>, so </a:t>
                </a:r>
                <a:r>
                  <a:rPr lang="en-IN" sz="2400">
                    <a:solidFill>
                      <a:srgbClr val="111827"/>
                    </a:solidFill>
                    <a:latin typeface="Cambria Math" panose="02040503050406030204" pitchFamily="18" charset="0"/>
                  </a:rPr>
                  <a:t>$\sum(k-1012.5)=0$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given sum is </a:t>
                </a:r>
                <a:r>
                  <a:rPr lang="en-IN" sz="2400">
                    <a:solidFill>
                      <a:srgbClr val="111827"/>
                    </a:solidFill>
                    <a:latin typeface="Cambria Math" panose="02040503050406030204" pitchFamily="18" charset="0"/>
                  </a:rPr>
                  <a:t>$406M=2233$</a:t>
                </a:r>
                <a:r>
                  <a:rPr sz="2400" b="0">
                    <a:solidFill>
                      <a:srgbClr val="111827"/>
                    </a:solidFill>
                    <a:latin typeface="Arial"/>
                  </a:rPr>
                  <a:t>, so </a:t>
                </a:r>
                <a:r>
                  <a:rPr lang="en-IN" sz="2400">
                    <a:solidFill>
                      <a:srgbClr val="111827"/>
                    </a:solidFill>
                    <a:latin typeface="Cambria Math" panose="02040503050406030204" pitchFamily="18" charset="0"/>
                  </a:rPr>
                  <a:t>$M=5.5$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$S_{2024}=2024\,M=2024\times5.5=11132$</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11132</a:t>
            </a:r>
            <a:endParaRPr sz="2800">
              <a:solidFill>
                <a:srgbClr val="15803D"/>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 A.P.,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𝑙</m:t>
                        </m:r>
                      </m:sub>
                    </m:sSub>
                  </m:oMath>
                </a14:m>
                <a:r>
                  <a:rPr sz="2400" b="0">
                    <a:solidFill>
                      <a:srgbClr val="111827"/>
                    </a:solidFill>
                    <a:latin typeface="Arial"/>
                  </a:rPr>
                  <a:t> whenever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oMath>
                </a14:m>
                <a:r>
                  <a:rPr sz="2400" b="0">
                    <a:solidFill>
                      <a:srgbClr val="111827"/>
                    </a:solidFill>
                    <a:latin typeface="Arial"/>
                  </a:rPr>
                  <a:t>; terms symmetric about the middle always sum to twice the middle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set of terms whose indices are symmetric about the centre has sum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of terms)</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 of the A.P.)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count</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2024</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 for both the full and the partial sets.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 A.P., </a:t>
                </a:r>
                <a:r>
                  <a:rPr lang="en-IN" sz="2400">
                    <a:solidFill>
                      <a:srgbClr val="111827"/>
                    </a:solidFill>
                    <a:latin typeface="Cambria Math" panose="02040503050406030204" pitchFamily="18" charset="0"/>
                  </a:rPr>
                  <a:t>$a_i+a_j=a_k+a_l$</a:t>
                </a:r>
                <a:r>
                  <a:rPr sz="2400" b="0">
                    <a:solidFill>
                      <a:srgbClr val="111827"/>
                    </a:solidFill>
                    <a:latin typeface="Arial"/>
                  </a:rPr>
                  <a:t> whenever </a:t>
                </a:r>
                <a:r>
                  <a:rPr lang="en-IN" sz="2400">
                    <a:solidFill>
                      <a:srgbClr val="111827"/>
                    </a:solidFill>
                    <a:latin typeface="Cambria Math" panose="02040503050406030204" pitchFamily="18" charset="0"/>
                  </a:rPr>
                  <a:t>$i+j=k+l$</a:t>
                </a:r>
                <a:r>
                  <a:rPr sz="2400" b="0">
                    <a:solidFill>
                      <a:srgbClr val="111827"/>
                    </a:solidFill>
                    <a:latin typeface="Arial"/>
                  </a:rPr>
                  <a:t>; terms symmetric about the middle always sum to twice the middle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Any set of terms whose indices are symmetric about the centre has sum </a:t>
                </a:r>
                <a:r>
                  <a:rPr lang="en-IN" sz="2400">
                    <a:solidFill>
                      <a:srgbClr val="111827"/>
                    </a:solidFill>
                    <a:latin typeface="Cambria Math" panose="02040503050406030204" pitchFamily="18" charset="0"/>
                  </a:rPr>
                  <a:t>$=$</a:t>
                </a:r>
                <a:r>
                  <a:rPr sz="2400" b="0">
                    <a:solidFill>
                      <a:srgbClr val="111827"/>
                    </a:solidFill>
                    <a:latin typeface="Arial"/>
                  </a:rPr>
                  <a:t> (number of terms)</a:t>
                </a:r>
                <a:r>
                  <a:rPr lang="en-IN" sz="2400">
                    <a:solidFill>
                      <a:srgbClr val="111827"/>
                    </a:solidFill>
                    <a:latin typeface="Cambria Math" panose="02040503050406030204" pitchFamily="18" charset="0"/>
                  </a:rPr>
                  <a:t>$\times$</a:t>
                </a:r>
                <a:r>
                  <a:rPr sz="2400" b="0">
                    <a:solidFill>
                      <a:srgbClr val="111827"/>
                    </a:solidFill>
                    <a:latin typeface="Arial"/>
                  </a:rPr>
                  <a:t> (mean of the A.P.) </a:t>
                </a:r>
                <a:r>
                  <a:rPr lang="en-IN" sz="2400">
                    <a:solidFill>
                      <a:srgbClr val="111827"/>
                    </a:solidFill>
                    <a:latin typeface="Cambria Math" panose="02040503050406030204" pitchFamily="18" charset="0"/>
                  </a:rPr>
                  <a:t>$=$</a:t>
                </a:r>
                <a:r>
                  <a:rPr sz="2400" b="0">
                    <a:solidFill>
                      <a:srgbClr val="111827"/>
                    </a:solidFill>
                    <a:latin typeface="Arial"/>
                  </a:rPr>
                  <a:t> count</a:t>
                </a:r>
                <a:r>
                  <a:rPr lang="en-IN" sz="2400">
                    <a:solidFill>
                      <a:srgbClr val="111827"/>
                    </a:solidFill>
                    <a:latin typeface="Cambria Math" panose="02040503050406030204" pitchFamily="18" charset="0"/>
                  </a:rPr>
                  <a:t>$\times\frac{a_1+a_n}{2}$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$S_n=n\cdot\frac{a_1+a_n}2$</a:t>
                </a:r>
                <a:r>
                  <a:rPr sz="2400" b="0">
                    <a:solidFill>
                      <a:srgbClr val="111827"/>
                    </a:solidFill>
                    <a:latin typeface="Arial"/>
                  </a:rPr>
                  <a:t>; here </a:t>
                </a:r>
                <a:r>
                  <a:rPr lang="en-IN" sz="2400">
                    <a:solidFill>
                      <a:srgbClr val="111827"/>
                    </a:solidFill>
                    <a:latin typeface="Cambria Math" panose="02040503050406030204" pitchFamily="18" charset="0"/>
                  </a:rPr>
                  <a:t>$\frac{a_1+a_{2024}}{2}=5.5$</a:t>
                </a:r>
                <a:r>
                  <a:rPr sz="2400" b="0">
                    <a:solidFill>
                      <a:srgbClr val="111827"/>
                    </a:solidFill>
                    <a:latin typeface="Arial"/>
                  </a:rPr>
                  <a:t> for both the full and the partial sets.</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be the identity matrix of order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for the matrix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λ</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7</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the inverse of the matrix </a:t>
                </a:r>
                <a14:m>
                  <m:oMath xmlns:m="http://schemas.openxmlformats.org/officeDocument/2006/math">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$I$</a:t>
                </a:r>
                <a:r>
                  <a:rPr sz="2400" b="0">
                    <a:solidFill>
                      <a:srgbClr val="111827"/>
                    </a:solidFill>
                    <a:latin typeface="Arial"/>
                  </a:rPr>
                  <a:t> be the identity matrix of order </a:t>
                </a:r>
                <a:r>
                  <a:rPr lang="en-IN" sz="2400">
                    <a:solidFill>
                      <a:srgbClr val="111827"/>
                    </a:solidFill>
                    <a:latin typeface="Cambria Math" panose="02040503050406030204" pitchFamily="18" charset="0"/>
                  </a:rPr>
                  <a:t>$3\times3$</a:t>
                </a:r>
                <a:r>
                  <a:rPr sz="2400" b="0">
                    <a:solidFill>
                      <a:srgbClr val="111827"/>
                    </a:solidFill>
                    <a:latin typeface="Arial"/>
                  </a:rPr>
                  <a:t> and for the matrix </a:t>
                </a:r>
                <a:r>
                  <a:rPr lang="en-IN" sz="2400">
                    <a:solidFill>
                      <a:srgbClr val="111827"/>
                    </a:solidFill>
                    <a:latin typeface="Cambria Math" panose="02040503050406030204" pitchFamily="18" charset="0"/>
                  </a:rPr>
                  <a:t>$A=\begin{pmatrix}\lambda&amp;2&amp;3\\4&amp;5&amp;6\\7&amp;-1&amp;2\end{pmatrix}$</a:t>
                </a:r>
                <a:r>
                  <a:rPr sz="2400" b="0">
                    <a:solidFill>
                      <a:srgbClr val="111827"/>
                    </a:solidFill>
                    <a:latin typeface="Arial"/>
                  </a:rPr>
                  <a:t>, </a:t>
                </a:r>
                <a:r>
                  <a:rPr lang="en-IN" sz="2400">
                    <a:solidFill>
                      <a:srgbClr val="111827"/>
                    </a:solidFill>
                    <a:latin typeface="Cambria Math" panose="02040503050406030204" pitchFamily="18" charset="0"/>
                  </a:rPr>
                  <a:t>$|A|=-1$</a:t>
                </a:r>
                <a:r>
                  <a:rPr sz="2400" b="0">
                    <a:solidFill>
                      <a:srgbClr val="111827"/>
                    </a:solidFill>
                    <a:latin typeface="Arial"/>
                  </a:rPr>
                  <a:t>. Let </a:t>
                </a:r>
                <a:r>
                  <a:rPr lang="en-IN" sz="2400">
                    <a:solidFill>
                      <a:srgbClr val="111827"/>
                    </a:solidFill>
                    <a:latin typeface="Cambria Math" panose="02040503050406030204" pitchFamily="18" charset="0"/>
                  </a:rPr>
                  <a:t>$B$</a:t>
                </a:r>
                <a:r>
                  <a:rPr sz="2400" b="0">
                    <a:solidFill>
                      <a:srgbClr val="111827"/>
                    </a:solidFill>
                    <a:latin typeface="Arial"/>
                  </a:rPr>
                  <a:t> be the inverse of the matrix </a:t>
                </a:r>
                <a:r>
                  <a:rPr lang="en-IN" sz="2400">
                    <a:solidFill>
                      <a:srgbClr val="111827"/>
                    </a:solidFill>
                    <a:latin typeface="Cambria Math" panose="02040503050406030204" pitchFamily="18" charset="0"/>
                  </a:rPr>
                  <a:t>$\operatorname{adj}(A\,\operatorname{adj}(A^2))$</a:t>
                </a:r>
                <a:r>
                  <a:rPr sz="2400" b="0">
                    <a:solidFill>
                      <a:srgbClr val="111827"/>
                    </a:solidFill>
                    <a:latin typeface="Arial"/>
                  </a:rPr>
                  <a:t>. Then </a:t>
                </a:r>
                <a:r>
                  <a:rPr lang="en-IN" sz="2400">
                    <a:solidFill>
                      <a:srgbClr val="111827"/>
                    </a:solidFill>
                    <a:latin typeface="Cambria Math" panose="02040503050406030204" pitchFamily="18" charset="0"/>
                  </a:rPr>
                  <a:t>$|\lambda B+I|$</a:t>
                </a:r>
                <a:r>
                  <a:rPr sz="2400" b="0">
                    <a:solidFill>
                      <a:srgbClr val="111827"/>
                    </a:solidFill>
                    <a:latin typeface="Arial"/>
                  </a:rPr>
                  <a:t> is equal to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Adjoint, inverse and determinant of 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Adjoint, inverse and determinant of a </a:t>
                </a:r>
                <a:r>
                  <a:rPr lang="en-IN" sz="2400">
                    <a:solidFill>
                      <a:srgbClr val="111827"/>
                    </a:solidFill>
                    <a:latin typeface="Cambria Math" panose="02040503050406030204" pitchFamily="18" charset="0"/>
                  </a:rPr>
                  <a:t>$3\times3$</a:t>
                </a:r>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adj</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when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adj</m:t>
                    </m:r>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𝐼</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$A\,\operatorname{adj}(A^2)=A^{-1}$</a:t>
                </a:r>
                <a:r>
                  <a:rPr sz="2400" b="0">
                    <a:solidFill>
                      <a:srgbClr val="78350F"/>
                    </a:solidFill>
                    <a:latin typeface="Arial"/>
                  </a:rPr>
                  <a:t> when </a:t>
                </a:r>
                <a:r>
                  <a:rPr lang="en-IN" sz="2400">
                    <a:solidFill>
                      <a:srgbClr val="78350F"/>
                    </a:solidFill>
                    <a:latin typeface="Cambria Math" panose="02040503050406030204" pitchFamily="18" charset="0"/>
                  </a:rPr>
                  <a:t>$|A|^2=1$</a:t>
                </a:r>
                <a:r>
                  <a:rPr sz="2400" b="0">
                    <a:solidFill>
                      <a:srgbClr val="78350F"/>
                    </a:solidFill>
                    <a:latin typeface="Arial"/>
                  </a:rPr>
                  <a:t>, so </a:t>
                </a:r>
                <a:r>
                  <a:rPr lang="en-IN" sz="2400">
                    <a:solidFill>
                      <a:srgbClr val="78350F"/>
                    </a:solidFill>
                    <a:latin typeface="Cambria Math" panose="02040503050406030204" pitchFamily="18" charset="0"/>
                  </a:rPr>
                  <a:t>$B=\operatorname{adj}A$</a:t>
                </a:r>
                <a:r>
                  <a:rPr sz="2400" b="0">
                    <a:solidFill>
                      <a:srgbClr val="78350F"/>
                    </a:solidFill>
                    <a:latin typeface="Arial"/>
                  </a:rPr>
                  <a:t> and </a:t>
                </a:r>
                <a:r>
                  <a:rPr lang="en-IN" sz="2400">
                    <a:solidFill>
                      <a:srgbClr val="78350F"/>
                    </a:solidFill>
                    <a:latin typeface="Cambria Math" panose="02040503050406030204" pitchFamily="18" charset="0"/>
                  </a:rPr>
                  <a:t>$A(3B+I)=A-3I$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$|A|=\lambda(10+6)-2(8-42)+3(-4-35)=16\lambda+68-117=-1$</a:t>
                </a:r>
                <a:r>
                  <a:rPr sz="2400" b="0">
                    <a:solidFill>
                      <a:srgbClr val="111827"/>
                    </a:solidFill>
                    <a:latin typeface="Arial"/>
                  </a:rPr>
                  <a:t>, so </a:t>
                </a:r>
                <a:r>
                  <a:rPr lang="en-IN" sz="2400">
                    <a:solidFill>
                      <a:srgbClr val="111827"/>
                    </a:solidFill>
                    <a:latin typeface="Cambria Math" panose="02040503050406030204" pitchFamily="18" charset="0"/>
                  </a:rPr>
                  <a:t>$16\lambda=48$</a:t>
                </a:r>
                <a:r>
                  <a:rPr sz="2400" b="0">
                    <a:solidFill>
                      <a:srgbClr val="111827"/>
                    </a:solidFill>
                    <a:latin typeface="Arial"/>
                  </a:rPr>
                  <a:t> and </a:t>
                </a:r>
                <a:r>
                  <a:rPr lang="en-IN" sz="2400">
                    <a:solidFill>
                      <a:srgbClr val="111827"/>
                    </a:solidFill>
                    <a:latin typeface="Cambria Math" panose="02040503050406030204" pitchFamily="18" charset="0"/>
                  </a:rPr>
                  <a:t>$\lambda=3$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$B^{-1}=\operatorname{adj}\left(A\,\operatorname{adj}(A^2)\right)$</a:t>
                </a:r>
                <a:r>
                  <a:rPr sz="2400" b="0">
                    <a:solidFill>
                      <a:srgbClr val="111827"/>
                    </a:solidFill>
                    <a:latin typeface="Arial"/>
                  </a:rPr>
                  <a:t>. Let </a:t>
                </a:r>
                <a:r>
                  <a:rPr lang="en-IN" sz="2400">
                    <a:solidFill>
                      <a:srgbClr val="111827"/>
                    </a:solidFill>
                    <a:latin typeface="Cambria Math" panose="02040503050406030204" pitchFamily="18" charset="0"/>
                  </a:rPr>
                  <a:t>$C=A\,\operatorname{adj}(A^2)$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$AC=A^2\operatorname{adj}(A^2)=|A^2|I=|A|^2I=I$</a:t>
                </a:r>
                <a:r>
                  <a:rPr sz="2400" b="0">
                    <a:solidFill>
                      <a:srgbClr val="111827"/>
                    </a:solidFill>
                    <a:latin typeface="Arial"/>
                  </a:rPr>
                  <a:t>, so </a:t>
                </a:r>
                <a:r>
                  <a:rPr lang="en-IN" sz="2400">
                    <a:solidFill>
                      <a:srgbClr val="111827"/>
                    </a:solidFill>
                    <a:latin typeface="Cambria Math" panose="02040503050406030204" pitchFamily="18" charset="0"/>
                  </a:rPr>
                  <a:t>$C=A^{-1}$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$B^{-1}=\operatorname{adj}(A^{-1})=|A^{-1}|\,A=-A$</a:t>
                </a:r>
                <a:r>
                  <a:rPr sz="2400" b="0">
                    <a:solidFill>
                      <a:srgbClr val="111827"/>
                    </a:solidFill>
                    <a:latin typeface="Arial"/>
                  </a:rPr>
                  <a:t>, hence </a:t>
                </a:r>
                <a:r>
                  <a:rPr lang="en-IN" sz="2400">
                    <a:solidFill>
                      <a:srgbClr val="111827"/>
                    </a:solidFill>
                    <a:latin typeface="Cambria Math" panose="02040503050406030204" pitchFamily="18" charset="0"/>
                  </a:rPr>
                  <a:t>$B=-A^{-1}=|A|A^{-1}=\operatorname{adj}(A)$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7</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 The PDF's key </a:t>
                </a:r>
                <a14:m>
                  <m:oMath xmlns:m="http://schemas.openxmlformats.org/officeDocument/2006/math">
                    <m:r>
                      <a:rPr lang="en-IN" sz="2400" i="1">
                        <a:solidFill>
                          <a:srgbClr val="111827"/>
                        </a:solidFill>
                        <a:latin typeface="Cambria Math" panose="02040503050406030204" pitchFamily="18" charset="0"/>
                      </a:rPr>
                      <m:t>38</m:t>
                    </m:r>
                  </m:oMath>
                </a14:m>
                <a:r>
                  <a:rPr sz="2400" b="0">
                    <a:solidFill>
                      <a:srgbClr val="111827"/>
                    </a:solidFill>
                    <a:latin typeface="Arial"/>
                  </a:rPr>
                  <a:t> is the absolute value of this determinant.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 B+I=3B+I$</a:t>
                </a:r>
                <a:r>
                  <a:rPr sz="2400" b="0">
                    <a:solidFill>
                      <a:srgbClr val="111827"/>
                    </a:solidFill>
                    <a:latin typeface="Arial"/>
                  </a:rPr>
                  <a:t>. Let </a:t>
                </a:r>
                <a:r>
                  <a:rPr lang="en-IN" sz="2400">
                    <a:solidFill>
                      <a:srgbClr val="111827"/>
                    </a:solidFill>
                    <a:latin typeface="Cambria Math" panose="02040503050406030204" pitchFamily="18" charset="0"/>
                  </a:rPr>
                  <a:t>$P=3\operatorname{adj}(A)+I$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$AP=3A\operatorname{adj}(A)+A=3|A|I+A=A-3I$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$|A||P|=|A-3I|=\left|\begin{matrix}0&amp;2&amp;3\\4&amp;2&amp;6\\7&amp;-1&amp;-1\end{matrix}\right|=-2(-4-42)+3(-4-14)=92-54=38$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$|P|=-38$</a:t>
                </a:r>
                <a:r>
                  <a:rPr sz="2400" b="0">
                    <a:solidFill>
                      <a:srgbClr val="111827"/>
                    </a:solidFill>
                    <a:latin typeface="Arial"/>
                  </a:rPr>
                  <a:t>, i.e. </a:t>
                </a:r>
                <a:r>
                  <a:rPr lang="en-IN" sz="2400">
                    <a:solidFill>
                      <a:srgbClr val="111827"/>
                    </a:solidFill>
                    <a:latin typeface="Cambria Math" panose="02040503050406030204" pitchFamily="18" charset="0"/>
                  </a:rPr>
                  <a:t>$|3B+I|=-38$</a:t>
                </a:r>
                <a:r>
                  <a:rPr sz="2400" b="0">
                    <a:solidFill>
                      <a:srgbClr val="111827"/>
                    </a:solidFill>
                    <a:latin typeface="Arial"/>
                  </a:rPr>
                  <a:t>. The PDF's key </a:t>
                </a:r>
                <a:r>
                  <a:rPr lang="en-IN" sz="2400">
                    <a:solidFill>
                      <a:srgbClr val="111827"/>
                    </a:solidFill>
                    <a:latin typeface="Cambria Math" panose="02040503050406030204" pitchFamily="18" charset="0"/>
                  </a:rPr>
                  <a:t>$38$</a:t>
                </a:r>
                <a:r>
                  <a:rPr sz="2400" b="0">
                    <a:solidFill>
                      <a:srgbClr val="111827"/>
                    </a:solidFill>
                    <a:latin typeface="Arial"/>
                  </a:rPr>
                  <a:t> is the absolute value of this determinant.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38</m:t>
                    </m:r>
                  </m:oMath>
                </a14:m>
                <a:r>
                  <a:rPr sz="2800" b="1">
                    <a:solidFill>
                      <a:srgbClr val="15803D"/>
                    </a:solidFill>
                    <a:latin typeface="Arial"/>
                  </a:rPr>
                  <a:t> (PDF key: 38)</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$-38$</a:t>
                </a:r>
                <a:r>
                  <a:rPr sz="2800" b="1">
                    <a:solidFill>
                      <a:srgbClr val="15803D"/>
                    </a:solidFill>
                    <a:latin typeface="Arial"/>
                  </a:rPr>
                  <a:t> (PDF key: 38)</a:t>
                </a:r>
                <a:endParaRPr sz="2800">
                  <a:solidFill>
                    <a:srgbClr val="15803D"/>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m:rPr>
                        <m:sty m:val="p"/>
                      </m:rPr>
                      <a:rPr lang="en-IN" sz="2400">
                        <a:solidFill>
                          <a:srgbClr val="78350F"/>
                        </a:solidFill>
                        <a:latin typeface="Cambria Math" panose="02040503050406030204" pitchFamily="18" charset="0"/>
                      </a:rPr>
                      <m:t>adj</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and factor out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(since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$\operatorname{adj}A=|A|A^{-1}$</a:t>
                </a:r>
                <a:r>
                  <a:rPr sz="2400" b="0">
                    <a:solidFill>
                      <a:srgbClr val="78350F"/>
                    </a:solidFill>
                    <a:latin typeface="Arial"/>
                  </a:rPr>
                  <a:t> and factor out </a:t>
                </a:r>
                <a:r>
                  <a:rPr lang="en-IN" sz="2400">
                    <a:solidFill>
                      <a:srgbClr val="78350F"/>
                    </a:solidFill>
                    <a:latin typeface="Cambria Math" panose="02040503050406030204" pitchFamily="18" charset="0"/>
                  </a:rPr>
                  <a:t>$A^{-1}$</a:t>
                </a:r>
                <a:r>
                  <a:rPr sz="2400" b="0">
                    <a:solidFill>
                      <a:srgbClr val="78350F"/>
                    </a:solidFill>
                    <a:latin typeface="Arial"/>
                  </a:rPr>
                  <a:t>: </a:t>
                </a:r>
                <a:r>
                  <a:rPr lang="en-IN" sz="2400">
                    <a:solidFill>
                      <a:srgbClr val="78350F"/>
                    </a:solidFill>
                    <a:latin typeface="Cambria Math" panose="02040503050406030204" pitchFamily="18" charset="0"/>
                  </a:rPr>
                  <a:t>$3B+I=A^{-1}(A-3I)$</a:t>
                </a:r>
                <a:r>
                  <a:rPr sz="2400" b="0">
                    <a:solidFill>
                      <a:srgbClr val="78350F"/>
                    </a:solidFill>
                    <a:latin typeface="Arial"/>
                  </a:rPr>
                  <a:t> (since </a:t>
                </a:r>
                <a:r>
                  <a:rPr lang="en-IN" sz="2400">
                    <a:solidFill>
                      <a:srgbClr val="78350F"/>
                    </a:solidFill>
                    <a:latin typeface="Cambria Math" panose="02040503050406030204" pitchFamily="18" charset="0"/>
                  </a:rPr>
                  <a:t>$|A|=-1$</a:t>
                </a:r>
                <a:r>
                  <a:rPr sz="2400" b="0">
                    <a:solidFill>
                      <a:srgbClr val="78350F"/>
                    </a:solidFill>
                    <a:latin typeface="Arial"/>
                  </a:rPr>
                  <a:t> gives </a:t>
                </a:r>
                <a:r>
                  <a:rPr lang="en-IN" sz="2400">
                    <a:solidFill>
                      <a:srgbClr val="78350F"/>
                    </a:solidFill>
                    <a:latin typeface="Cambria Math" panose="02040503050406030204" pitchFamily="18" charset="0"/>
                  </a:rPr>
                  <a:t>$B=-A^{-1}$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38</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$\lambda=3$</a:t>
                </a:r>
                <a:r>
                  <a:rPr sz="2400" b="0">
                    <a:solidFill>
                      <a:srgbClr val="111827"/>
                    </a:solidFill>
                    <a:latin typeface="Arial"/>
                  </a:rPr>
                  <a:t> and </a:t>
                </a:r>
                <a:r>
                  <a:rPr lang="en-IN" sz="2400">
                    <a:solidFill>
                      <a:srgbClr val="111827"/>
                    </a:solidFill>
                    <a:latin typeface="Cambria Math" panose="02040503050406030204" pitchFamily="18" charset="0"/>
                  </a:rPr>
                  <a:t>$B=\operatorname{adj}(A)=|A|A^{-1}=-A^{-1}$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$3B+I=I-3A^{-1}=A^{-1}(A-3I)$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$|3B+I|=\frac{|A-3I|}{|A|}=\frac{38}{-1}=-38$</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38</m:t>
                    </m:r>
                  </m:oMath>
                </a14:m>
                <a:r>
                  <a:rPr sz="2800" b="1">
                    <a:solidFill>
                      <a:srgbClr val="15803D"/>
                    </a:solidFill>
                    <a:latin typeface="Arial"/>
                  </a:rPr>
                  <a:t> (PDF key: 38)</a:t>
                </a:r>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$-38$</a:t>
                </a:r>
                <a:r>
                  <a:rPr sz="2800" b="1">
                    <a:solidFill>
                      <a:srgbClr val="15803D"/>
                    </a:solidFill>
                    <a:latin typeface="Arial"/>
                  </a:rPr>
                  <a:t> (PDF key: 38)</a:t>
                </a:r>
                <a:endParaRPr sz="2800">
                  <a:solidFill>
                    <a:srgbClr val="15803D"/>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adj</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this is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Trick: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κ</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factors as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κ</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κ</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$\operatorname{adj}A=|A|A^{-1}$</a:t>
                </a:r>
                <a:r>
                  <a:rPr sz="2400" b="0">
                    <a:solidFill>
                      <a:srgbClr val="111827"/>
                    </a:solidFill>
                    <a:latin typeface="Arial"/>
                  </a:rPr>
                  <a:t>; for </a:t>
                </a:r>
                <a:r>
                  <a:rPr lang="en-IN" sz="2400">
                    <a:solidFill>
                      <a:srgbClr val="111827"/>
                    </a:solidFill>
                    <a:latin typeface="Cambria Math" panose="02040503050406030204" pitchFamily="18" charset="0"/>
                  </a:rPr>
                  <a:t>$n\times n$</a:t>
                </a:r>
                <a:r>
                  <a:rPr sz="2400" b="0">
                    <a:solidFill>
                      <a:srgbClr val="111827"/>
                    </a:solidFill>
                    <a:latin typeface="Arial"/>
                  </a:rPr>
                  <a:t>: </a:t>
                </a:r>
                <a:r>
                  <a:rPr lang="en-IN" sz="2400">
                    <a:solidFill>
                      <a:srgbClr val="111827"/>
                    </a:solidFill>
                    <a:latin typeface="Cambria Math" panose="02040503050406030204" pitchFamily="18" charset="0"/>
                  </a:rPr>
                  <a:t>$|\operatorname{adj}A|=|A|^{n-1}$</a:t>
                </a:r>
                <a:r>
                  <a:rPr sz="2400" b="0">
                    <a:solidFill>
                      <a:srgbClr val="111827"/>
                    </a:solidFill>
                    <a:latin typeface="Arial"/>
                  </a:rPr>
                  <a:t>, </a:t>
                </a:r>
                <a:r>
                  <a:rPr lang="en-IN" sz="2400">
                    <a:solidFill>
                      <a:srgbClr val="111827"/>
                    </a:solidFill>
                    <a:latin typeface="Cambria Math" panose="02040503050406030204" pitchFamily="18" charset="0"/>
                  </a:rPr>
                  <a:t>$\operatorname{adj}(AB)=\operatorname{adj}B\operatorname{adj}A$</a:t>
                </a:r>
                <a:r>
                  <a:rPr sz="2400" b="0">
                    <a:solidFill>
                      <a:srgbClr val="111827"/>
                    </a:solidFill>
                    <a:latin typeface="Arial"/>
                  </a:rPr>
                  <a:t>, </a:t>
                </a:r>
                <a:r>
                  <a:rPr lang="en-IN" sz="2400">
                    <a:solidFill>
                      <a:srgbClr val="111827"/>
                    </a:solidFill>
                    <a:latin typeface="Cambria Math" panose="02040503050406030204" pitchFamily="18" charset="0"/>
                  </a:rPr>
                  <a:t>$\operatorname{adj}(\operatorname{adj}A)=|A|^{n-2}A$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$A\operatorname{adj}(A^2)=A\,|A|^2A^{-2}=|A|^2A^{-1}$</a:t>
                </a:r>
                <a:r>
                  <a:rPr sz="2400" b="0">
                    <a:solidFill>
                      <a:srgbClr val="111827"/>
                    </a:solidFill>
                    <a:latin typeface="Arial"/>
                  </a:rPr>
                  <a:t>; with </a:t>
                </a:r>
                <a:r>
                  <a:rPr lang="en-IN" sz="2400">
                    <a:solidFill>
                      <a:srgbClr val="111827"/>
                    </a:solidFill>
                    <a:latin typeface="Cambria Math" panose="02040503050406030204" pitchFamily="18" charset="0"/>
                  </a:rPr>
                  <a:t>$|A|=\pm1$</a:t>
                </a:r>
                <a:r>
                  <a:rPr sz="2400" b="0">
                    <a:solidFill>
                      <a:srgbClr val="111827"/>
                    </a:solidFill>
                    <a:latin typeface="Arial"/>
                  </a:rPr>
                  <a:t> this is </a:t>
                </a:r>
                <a:r>
                  <a:rPr lang="en-IN" sz="2400">
                    <a:solidFill>
                      <a:srgbClr val="111827"/>
                    </a:solidFill>
                    <a:latin typeface="Cambria Math" panose="02040503050406030204" pitchFamily="18" charset="0"/>
                  </a:rPr>
                  <a:t>$A^{-1}$</a:t>
                </a:r>
                <a:r>
                  <a:rPr sz="2400" b="0">
                    <a:solidFill>
                      <a:srgbClr val="111827"/>
                    </a:solidFill>
                    <a:latin typeface="Arial"/>
                  </a:rPr>
                  <a:t> (so </a:t>
                </a:r>
                <a:r>
                  <a:rPr lang="en-IN" sz="2400">
                    <a:solidFill>
                      <a:srgbClr val="111827"/>
                    </a:solidFill>
                    <a:latin typeface="Cambria Math" panose="02040503050406030204" pitchFamily="18" charset="0"/>
                  </a:rPr>
                  <a:t>$B=\operatorname{adj}A$</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Trick: </a:t>
                </a:r>
                <a:r>
                  <a:rPr lang="en-IN" sz="2400">
                    <a:solidFill>
                      <a:srgbClr val="111827"/>
                    </a:solidFill>
                    <a:latin typeface="Cambria Math" panose="02040503050406030204" pitchFamily="18" charset="0"/>
                  </a:rPr>
                  <a:t>$cB+I$</a:t>
                </a:r>
                <a:r>
                  <a:rPr sz="2400" b="0">
                    <a:solidFill>
                      <a:srgbClr val="111827"/>
                    </a:solidFill>
                    <a:latin typeface="Arial"/>
                  </a:rPr>
                  <a:t> with </a:t>
                </a:r>
                <a:r>
                  <a:rPr lang="en-IN" sz="2400">
                    <a:solidFill>
                      <a:srgbClr val="111827"/>
                    </a:solidFill>
                    <a:latin typeface="Cambria Math" panose="02040503050406030204" pitchFamily="18" charset="0"/>
                  </a:rPr>
                  <a:t>$B=\kappa A^{-1}$</a:t>
                </a:r>
                <a:r>
                  <a:rPr sz="2400" b="0">
                    <a:solidFill>
                      <a:srgbClr val="111827"/>
                    </a:solidFill>
                    <a:latin typeface="Arial"/>
                  </a:rPr>
                  <a:t> factors as </a:t>
                </a:r>
                <a:r>
                  <a:rPr lang="en-IN" sz="2400">
                    <a:solidFill>
                      <a:srgbClr val="111827"/>
                    </a:solidFill>
                    <a:latin typeface="Cambria Math" panose="02040503050406030204" pitchFamily="18" charset="0"/>
                  </a:rPr>
                  <a:t>$A^{-1}(\kappa cI+A)$</a:t>
                </a:r>
                <a:r>
                  <a:rPr sz="2400" b="0">
                    <a:solidFill>
                      <a:srgbClr val="111827"/>
                    </a:solidFill>
                    <a:latin typeface="Arial"/>
                  </a:rPr>
                  <a:t>, giving </a:t>
                </a:r>
                <a:r>
                  <a:rPr lang="en-IN" sz="2400">
                    <a:solidFill>
                      <a:srgbClr val="111827"/>
                    </a:solidFill>
                    <a:latin typeface="Cambria Math" panose="02040503050406030204" pitchFamily="18" charset="0"/>
                  </a:rPr>
                  <a:t>$|cB+I|=|A+\kappa cI|/|A|$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roots of the quadratic equation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are the </a:t>
                </a:r>
                <a14:m>
                  <m:oMath xmlns:m="http://schemas.openxmlformats.org/officeDocument/2006/math">
                    <m:sSup>
                      <m:e>
                        <m:r>
                          <a:rPr lang="en-IN" sz="2400" i="1">
                            <a:solidFill>
                              <a:srgbClr val="111827"/>
                            </a:solidFill>
                            <a:latin typeface="Cambria Math" panose="02040503050406030204" pitchFamily="18" charset="0"/>
                          </a:rPr>
                          <m:t>10</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11</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terms of an arithmetic progression with common difference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If the sum of the first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terms of this arithmetic progression is </a:t>
                </a:r>
                <a14:m>
                  <m:oMath xmlns:m="http://schemas.openxmlformats.org/officeDocument/2006/math">
                    <m:r>
                      <a:rPr lang="en-IN" sz="2400" i="1">
                        <a:solidFill>
                          <a:srgbClr val="111827"/>
                        </a:solidFill>
                        <a:latin typeface="Cambria Math" panose="02040503050406030204" pitchFamily="18" charset="0"/>
                      </a:rPr>
                      <m:t>88</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roots of the quadratic equation </a:t>
                </a:r>
                <a:r>
                  <a:rPr lang="en-IN" sz="2400">
                    <a:solidFill>
                      <a:srgbClr val="111827"/>
                    </a:solidFill>
                    <a:latin typeface="Cambria Math" panose="02040503050406030204" pitchFamily="18" charset="0"/>
                  </a:rPr>
                  <a:t>$3x^2-px+q=0$</a:t>
                </a:r>
                <a:r>
                  <a:rPr sz="2400" b="0">
                    <a:solidFill>
                      <a:srgbClr val="111827"/>
                    </a:solidFill>
                    <a:latin typeface="Arial"/>
                  </a:rPr>
                  <a:t> are the </a:t>
                </a:r>
                <a:r>
                  <a:rPr lang="en-IN" sz="2400">
                    <a:solidFill>
                      <a:srgbClr val="111827"/>
                    </a:solidFill>
                    <a:latin typeface="Cambria Math" panose="02040503050406030204" pitchFamily="18" charset="0"/>
                  </a:rPr>
                  <a:t>$10^{\text{th}}$</a:t>
                </a:r>
                <a:r>
                  <a:rPr sz="2400" b="0">
                    <a:solidFill>
                      <a:srgbClr val="111827"/>
                    </a:solidFill>
                    <a:latin typeface="Arial"/>
                  </a:rPr>
                  <a:t> and </a:t>
                </a:r>
                <a:r>
                  <a:rPr lang="en-IN" sz="2400">
                    <a:solidFill>
                      <a:srgbClr val="111827"/>
                    </a:solidFill>
                    <a:latin typeface="Cambria Math" panose="02040503050406030204" pitchFamily="18" charset="0"/>
                  </a:rPr>
                  <a:t>$11^{\text{th}}$</a:t>
                </a:r>
                <a:r>
                  <a:rPr sz="2400" b="0">
                    <a:solidFill>
                      <a:srgbClr val="111827"/>
                    </a:solidFill>
                    <a:latin typeface="Arial"/>
                  </a:rPr>
                  <a:t> terms of an arithmetic progression with common difference </a:t>
                </a:r>
                <a:r>
                  <a:rPr lang="en-IN" sz="2400">
                    <a:solidFill>
                      <a:srgbClr val="111827"/>
                    </a:solidFill>
                    <a:latin typeface="Cambria Math" panose="02040503050406030204" pitchFamily="18" charset="0"/>
                  </a:rPr>
                  <a:t>$\frac32$</a:t>
                </a:r>
                <a:r>
                  <a:rPr sz="2400" b="0">
                    <a:solidFill>
                      <a:srgbClr val="111827"/>
                    </a:solidFill>
                    <a:latin typeface="Arial"/>
                  </a:rPr>
                  <a:t>. If the sum of the first </a:t>
                </a:r>
                <a:r>
                  <a:rPr lang="en-IN" sz="2400">
                    <a:solidFill>
                      <a:srgbClr val="111827"/>
                    </a:solidFill>
                    <a:latin typeface="Cambria Math" panose="02040503050406030204" pitchFamily="18" charset="0"/>
                  </a:rPr>
                  <a:t>$11$</a:t>
                </a:r>
                <a:r>
                  <a:rPr sz="2400" b="0">
                    <a:solidFill>
                      <a:srgbClr val="111827"/>
                    </a:solidFill>
                    <a:latin typeface="Arial"/>
                  </a:rPr>
                  <a:t> terms of this arithmetic progression is </a:t>
                </a:r>
                <a:r>
                  <a:rPr lang="en-IN" sz="2400">
                    <a:solidFill>
                      <a:srgbClr val="111827"/>
                    </a:solidFill>
                    <a:latin typeface="Cambria Math" panose="02040503050406030204" pitchFamily="18" charset="0"/>
                  </a:rPr>
                  <a:t>$88$</a:t>
                </a:r>
                <a:r>
                  <a:rPr sz="2400" b="0">
                    <a:solidFill>
                      <a:srgbClr val="111827"/>
                    </a:solidFill>
                    <a:latin typeface="Arial"/>
                  </a:rPr>
                  <a:t>, then </a:t>
                </a:r>
                <a:r>
                  <a:rPr lang="en-IN" sz="2400">
                    <a:solidFill>
                      <a:srgbClr val="111827"/>
                    </a:solidFill>
                    <a:latin typeface="Cambria Math" panose="02040503050406030204" pitchFamily="18" charset="0"/>
                  </a:rPr>
                  <a:t>$q-2p$</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9984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Arithmetic progression: terms and sum, Roots and coefficients of a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11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88</m:t>
                    </m:r>
                  </m:oMath>
                </a14:m>
                <a:r>
                  <a:rPr sz="2400" b="0">
                    <a:solidFill>
                      <a:srgbClr val="78350F"/>
                    </a:solidFill>
                    <a:latin typeface="Arial"/>
                  </a:rPr>
                  <a:t> fixes the first term; the sum and product of the roots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10</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11</m:t>
                        </m:r>
                      </m:sub>
                    </m:sSub>
                  </m:oMath>
                </a14:m>
                <a:r>
                  <a:rPr sz="2400" b="0">
                    <a:solidFill>
                      <a:srgbClr val="78350F"/>
                    </a:solidFill>
                    <a:latin typeface="Arial"/>
                  </a:rPr>
                  <a:t> then give </a:t>
                </a:r>
                <a14:m>
                  <m:oMath xmlns:m="http://schemas.openxmlformats.org/officeDocument/2006/math">
                    <m:r>
                      <a:rPr lang="en-IN" sz="2400" i="1">
                        <a:solidFill>
                          <a:srgbClr val="78350F"/>
                        </a:solidFill>
                        <a:latin typeface="Cambria Math" panose="02040503050406030204" pitchFamily="18" charset="0"/>
                      </a:rPr>
                      <m:t>𝑝</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𝑞</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$S_{11}=88$</a:t>
                </a:r>
                <a:r>
                  <a:rPr sz="2400" b="0">
                    <a:solidFill>
                      <a:srgbClr val="78350F"/>
                    </a:solidFill>
                    <a:latin typeface="Arial"/>
                  </a:rPr>
                  <a:t> fixes the first term; the sum and product of the roots </a:t>
                </a:r>
                <a:r>
                  <a:rPr lang="en-IN" sz="2400">
                    <a:solidFill>
                      <a:srgbClr val="78350F"/>
                    </a:solidFill>
                    <a:latin typeface="Cambria Math" panose="02040503050406030204" pitchFamily="18" charset="0"/>
                  </a:rPr>
                  <a:t>$T_{10},T_{11}$</a:t>
                </a:r>
                <a:r>
                  <a:rPr sz="2400" b="0">
                    <a:solidFill>
                      <a:srgbClr val="78350F"/>
                    </a:solidFill>
                    <a:latin typeface="Arial"/>
                  </a:rPr>
                  <a:t> then give </a:t>
                </a:r>
                <a:r>
                  <a:rPr lang="en-IN" sz="2400">
                    <a:solidFill>
                      <a:srgbClr val="78350F"/>
                    </a:solidFill>
                    <a:latin typeface="Cambria Math" panose="02040503050406030204" pitchFamily="18" charset="0"/>
                  </a:rPr>
                  <a:t>$p$</a:t>
                </a:r>
                <a:r>
                  <a:rPr sz="2400" b="0">
                    <a:solidFill>
                      <a:srgbClr val="78350F"/>
                    </a:solidFill>
                    <a:latin typeface="Arial"/>
                  </a:rPr>
                  <a:t> and </a:t>
                </a:r>
                <a:r>
                  <a:rPr lang="en-IN" sz="2400">
                    <a:solidFill>
                      <a:srgbClr val="78350F"/>
                    </a:solidFill>
                    <a:latin typeface="Cambria Math" panose="02040503050406030204" pitchFamily="18" charset="0"/>
                  </a:rPr>
                  <a:t>$q$</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A.P. have first term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are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A.P. have first term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$d=\frac32$</a:t>
                </a:r>
                <a:r>
                  <a:rPr sz="2400" b="0">
                    <a:solidFill>
                      <a:srgbClr val="111827"/>
                    </a:solidFill>
                    <a:latin typeface="Arial"/>
                  </a:rPr>
                  <a:t>. </a:t>
                </a:r>
                <a:r>
                  <a:rPr lang="en-IN" sz="2400">
                    <a:solidFill>
                      <a:srgbClr val="111827"/>
                    </a:solidFill>
                    <a:latin typeface="Cambria Math" panose="02040503050406030204" pitchFamily="18" charset="0"/>
                  </a:rPr>
                  <a:t>$S_{11}=\frac{11}{2}(2a+10d)=88$</a:t>
                </a:r>
                <a:r>
                  <a:rPr sz="2400" b="0">
                    <a:solidFill>
                      <a:srgbClr val="111827"/>
                    </a:solidFill>
                    <a:latin typeface="Arial"/>
                  </a:rPr>
                  <a:t>, so </a:t>
                </a:r>
                <a:r>
                  <a:rPr lang="en-IN" sz="2400">
                    <a:solidFill>
                      <a:srgbClr val="111827"/>
                    </a:solidFill>
                    <a:latin typeface="Cambria Math" panose="02040503050406030204" pitchFamily="18" charset="0"/>
                  </a:rPr>
                  <a:t>$a+5d=8$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$a=8-5\cdot\frac32=\frac12$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are </a:t>
                </a:r>
                <a:r>
                  <a:rPr lang="en-IN" sz="2400">
                    <a:solidFill>
                      <a:srgbClr val="111827"/>
                    </a:solidFill>
                    <a:latin typeface="Cambria Math" panose="02040503050406030204" pitchFamily="18" charset="0"/>
                  </a:rPr>
                  <a:t>$T_{10}=a+9d=\frac12+9\cdot\frac32=14$</a:t>
                </a:r>
                <a:r>
                  <a:rPr sz="2400" b="0">
                    <a:solidFill>
                      <a:srgbClr val="111827"/>
                    </a:solidFill>
                    <a:latin typeface="Arial"/>
                  </a:rPr>
                  <a:t> and </a:t>
                </a:r>
                <a:r>
                  <a:rPr lang="en-IN" sz="2400">
                    <a:solidFill>
                      <a:srgbClr val="111827"/>
                    </a:solidFill>
                    <a:latin typeface="Cambria Math" panose="02040503050406030204" pitchFamily="18" charset="0"/>
                  </a:rPr>
                  <a:t>$T_{11}=a+10d=\frac{31}2$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177</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roots: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$\frac p3=T_{10}+T_{11}=14+\frac{31}2=\frac{59}2$</a:t>
                </a:r>
                <a:r>
                  <a:rPr sz="2400" b="0">
                    <a:solidFill>
                      <a:srgbClr val="111827"/>
                    </a:solidFill>
                    <a:latin typeface="Arial"/>
                  </a:rPr>
                  <a:t>, so </a:t>
                </a:r>
                <a:r>
                  <a:rPr lang="en-IN" sz="2400">
                    <a:solidFill>
                      <a:srgbClr val="111827"/>
                    </a:solidFill>
                    <a:latin typeface="Cambria Math" panose="02040503050406030204" pitchFamily="18" charset="0"/>
                  </a:rPr>
                  <a:t>$p=\frac{177}2$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roots: </a:t>
                </a:r>
                <a:r>
                  <a:rPr lang="en-IN" sz="2400">
                    <a:solidFill>
                      <a:srgbClr val="111827"/>
                    </a:solidFill>
                    <a:latin typeface="Cambria Math" panose="02040503050406030204" pitchFamily="18" charset="0"/>
                  </a:rPr>
                  <a:t>$\frac q3=T_{10}T_{11}=14\cdot\frac{31}2=7\times31$</a:t>
                </a:r>
                <a:r>
                  <a:rPr sz="2400" b="0">
                    <a:solidFill>
                      <a:srgbClr val="111827"/>
                    </a:solidFill>
                    <a:latin typeface="Arial"/>
                  </a:rPr>
                  <a:t>, so </a:t>
                </a:r>
                <a:r>
                  <a:rPr lang="en-IN" sz="2400">
                    <a:solidFill>
                      <a:srgbClr val="111827"/>
                    </a:solidFill>
                    <a:latin typeface="Cambria Math" panose="02040503050406030204" pitchFamily="18" charset="0"/>
                  </a:rPr>
                  <a:t>$q=651$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$q-2p=651-177=474$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474</a:t>
            </a:r>
            <a:endParaRPr sz="2800">
              <a:solidFill>
                <a:srgbClr val="15803D"/>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odd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(middle term); then </a:t>
                </a:r>
                <a14:m>
                  <m:oMath xmlns:m="http://schemas.openxmlformats.org/officeDocument/2006/math">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
                      <m:dPr>
                        <m:begChr m:val="["/>
                        <m:sepChr m:val=""/>
                        <m:endChr m:val="]"/>
                        <m:grow/>
                        <m:ctrlPr>
                          <a:rPr lang="en-IN" sz="2400" i="1">
                            <a:solidFill>
                              <a:srgbClr val="78350F"/>
                            </a:solidFill>
                            <a:latin typeface="Cambria Math" panose="02040503050406030204" pitchFamily="18" charset="0"/>
                          </a:rPr>
                        </m:ctrlPr>
                      </m:dPr>
                      <m:e>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10</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e>
                    </m:d>
                  </m:oMath>
                </a14:m>
                <a:r>
                  <a:rPr sz="2400" b="0">
                    <a:solidFill>
                      <a:srgbClr val="78350F"/>
                    </a:solidFill>
                    <a:latin typeface="Arial"/>
                  </a:rPr>
                  <a:t> by Vieta.</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odd </a:t>
                </a:r>
                <a:r>
                  <a:rPr lang="en-IN" sz="2400">
                    <a:solidFill>
                      <a:srgbClr val="78350F"/>
                    </a:solidFill>
                    <a:latin typeface="Cambria Math" panose="02040503050406030204" pitchFamily="18" charset="0"/>
                  </a:rPr>
                  <a:t>$n$</a:t>
                </a:r>
                <a:r>
                  <a:rPr sz="2400" b="0">
                    <a:solidFill>
                      <a:srgbClr val="78350F"/>
                    </a:solidFill>
                    <a:latin typeface="Arial"/>
                  </a:rPr>
                  <a:t>, </a:t>
                </a:r>
                <a:r>
                  <a:rPr lang="en-IN" sz="2400">
                    <a:solidFill>
                      <a:srgbClr val="78350F"/>
                    </a:solidFill>
                    <a:latin typeface="Cambria Math" panose="02040503050406030204" pitchFamily="18" charset="0"/>
                  </a:rPr>
                  <a:t>$S_n=n\times$</a:t>
                </a:r>
                <a:r>
                  <a:rPr sz="2400" b="0">
                    <a:solidFill>
                      <a:srgbClr val="78350F"/>
                    </a:solidFill>
                    <a:latin typeface="Arial"/>
                  </a:rPr>
                  <a:t> (middle term); then </a:t>
                </a:r>
                <a:r>
                  <a:rPr lang="en-IN" sz="2400">
                    <a:solidFill>
                      <a:srgbClr val="78350F"/>
                    </a:solidFill>
                    <a:latin typeface="Cambria Math" panose="02040503050406030204" pitchFamily="18" charset="0"/>
                  </a:rPr>
                  <a:t>$q-2p=3\left[(T_{10}-2)(T_{11}-2)-4\right]$</a:t>
                </a:r>
                <a:r>
                  <a:rPr sz="2400" b="0">
                    <a:solidFill>
                      <a:srgbClr val="78350F"/>
                    </a:solidFill>
                    <a:latin typeface="Arial"/>
                  </a:rPr>
                  <a:t> by Vieta.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hence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Vieta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$S_{11}=11\,T_6=88$</a:t>
                </a:r>
                <a:r>
                  <a:rPr sz="2400" b="0">
                    <a:solidFill>
                      <a:srgbClr val="111827"/>
                    </a:solidFill>
                    <a:latin typeface="Arial"/>
                  </a:rPr>
                  <a:t>, so </a:t>
                </a:r>
                <a:r>
                  <a:rPr lang="en-IN" sz="2400">
                    <a:solidFill>
                      <a:srgbClr val="111827"/>
                    </a:solidFill>
                    <a:latin typeface="Cambria Math" panose="02040503050406030204" pitchFamily="18" charset="0"/>
                  </a:rPr>
                  <a:t>$T_6=8$</a:t>
                </a:r>
                <a:r>
                  <a:rPr sz="2400" b="0">
                    <a:solidFill>
                      <a:srgbClr val="111827"/>
                    </a:solidFill>
                    <a:latin typeface="Arial"/>
                  </a:rPr>
                  <a:t>; hence </a:t>
                </a:r>
                <a:r>
                  <a:rPr lang="en-IN" sz="2400">
                    <a:solidFill>
                      <a:srgbClr val="111827"/>
                    </a:solidFill>
                    <a:latin typeface="Cambria Math" panose="02040503050406030204" pitchFamily="18" charset="0"/>
                  </a:rPr>
                  <a:t>$T_{10}=8+4\cdot\frac32=14$</a:t>
                </a:r>
                <a:r>
                  <a:rPr sz="2400" b="0">
                    <a:solidFill>
                      <a:srgbClr val="111827"/>
                    </a:solidFill>
                    <a:latin typeface="Arial"/>
                  </a:rPr>
                  <a:t> and </a:t>
                </a:r>
                <a:r>
                  <a:rPr lang="en-IN" sz="2400">
                    <a:solidFill>
                      <a:srgbClr val="111827"/>
                    </a:solidFill>
                    <a:latin typeface="Cambria Math" panose="02040503050406030204" pitchFamily="18" charset="0"/>
                  </a:rPr>
                  <a:t>$T_{11}=8+5\cdot\frac32=\frac{31}2$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Vieta </a:t>
                </a:r>
                <a:r>
                  <a:rPr lang="en-IN" sz="2400">
                    <a:solidFill>
                      <a:srgbClr val="111827"/>
                    </a:solidFill>
                    <a:latin typeface="Cambria Math" panose="02040503050406030204" pitchFamily="18" charset="0"/>
                  </a:rPr>
                  <a:t>$p=3(T_{10}+T_{11})$</a:t>
                </a:r>
                <a:r>
                  <a:rPr sz="2400" b="0">
                    <a:solidFill>
                      <a:srgbClr val="111827"/>
                    </a:solidFill>
                    <a:latin typeface="Arial"/>
                  </a:rPr>
                  <a:t> and </a:t>
                </a:r>
                <a:r>
                  <a:rPr lang="en-IN" sz="2400">
                    <a:solidFill>
                      <a:srgbClr val="111827"/>
                    </a:solidFill>
                    <a:latin typeface="Cambria Math" panose="02040503050406030204" pitchFamily="18" charset="0"/>
                  </a:rPr>
                  <a:t>$q=3T_{10}T_{11}$</a:t>
                </a:r>
                <a:r>
                  <a:rPr sz="2400" b="0">
                    <a:solidFill>
                      <a:srgbClr val="111827"/>
                    </a:solidFill>
                    <a:latin typeface="Arial"/>
                  </a:rPr>
                  <a:t>, so </a:t>
                </a:r>
                <a:r>
                  <a:rPr lang="en-IN" sz="2400">
                    <a:solidFill>
                      <a:srgbClr val="111827"/>
                    </a:solidFill>
                    <a:latin typeface="Cambria Math" panose="02040503050406030204" pitchFamily="18" charset="0"/>
                  </a:rPr>
                  <a:t>$q-2p=3\left[T_{10}T_{11}-2(T_{10}+T_{11})\right]$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$T_{10}T_{11}-2(T_{10}+T_{11})=(T_{10}-2)(T_{11}-2)-4=12\cdot\frac{27}2-4=158$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$q-2p=3\times158=474$</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474</a:t>
            </a:r>
            <a:endParaRPr sz="2800">
              <a:solidFill>
                <a:srgbClr val="15803D"/>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an odd number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of terms,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(middle term); so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Vieta for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Simon's trick: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turns a mixed sum/product combination into a product of shifted roots.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an odd number </a:t>
                </a:r>
                <a:r>
                  <a:rPr lang="en-IN" sz="2400">
                    <a:solidFill>
                      <a:srgbClr val="111827"/>
                    </a:solidFill>
                    <a:latin typeface="Cambria Math" panose="02040503050406030204" pitchFamily="18" charset="0"/>
                  </a:rPr>
                  <a:t>$n$</a:t>
                </a:r>
                <a:r>
                  <a:rPr sz="2400" b="0">
                    <a:solidFill>
                      <a:srgbClr val="111827"/>
                    </a:solidFill>
                    <a:latin typeface="Arial"/>
                  </a:rPr>
                  <a:t> of terms, </a:t>
                </a:r>
                <a:r>
                  <a:rPr lang="en-IN" sz="2400">
                    <a:solidFill>
                      <a:srgbClr val="111827"/>
                    </a:solidFill>
                    <a:latin typeface="Cambria Math" panose="02040503050406030204" pitchFamily="18" charset="0"/>
                  </a:rPr>
                  <a:t>$S_n=n\times$</a:t>
                </a:r>
                <a:r>
                  <a:rPr sz="2400" b="0">
                    <a:solidFill>
                      <a:srgbClr val="111827"/>
                    </a:solidFill>
                    <a:latin typeface="Arial"/>
                  </a:rPr>
                  <a:t>(middle term); so </a:t>
                </a:r>
                <a:r>
                  <a:rPr lang="en-IN" sz="2400">
                    <a:solidFill>
                      <a:srgbClr val="111827"/>
                    </a:solidFill>
                    <a:latin typeface="Cambria Math" panose="02040503050406030204" pitchFamily="18" charset="0"/>
                  </a:rPr>
                  <a:t>$S_{11}=88$</a:t>
                </a:r>
                <a:r>
                  <a:rPr sz="2400" b="0">
                    <a:solidFill>
                      <a:srgbClr val="111827"/>
                    </a:solidFill>
                    <a:latin typeface="Arial"/>
                  </a:rPr>
                  <a:t> gives </a:t>
                </a:r>
                <a:r>
                  <a:rPr lang="en-IN" sz="2400">
                    <a:solidFill>
                      <a:srgbClr val="111827"/>
                    </a:solidFill>
                    <a:latin typeface="Cambria Math" panose="02040503050406030204" pitchFamily="18" charset="0"/>
                  </a:rPr>
                  <a:t>$T_6=8$</a:t>
                </a:r>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Vieta for </a:t>
                </a:r>
                <a:r>
                  <a:rPr lang="en-IN" sz="2400">
                    <a:solidFill>
                      <a:srgbClr val="111827"/>
                    </a:solidFill>
                    <a:latin typeface="Cambria Math" panose="02040503050406030204" pitchFamily="18" charset="0"/>
                  </a:rPr>
                  <a:t>$ax^2+bx+c$</a:t>
                </a:r>
                <a:r>
                  <a:rPr sz="2400" b="0">
                    <a:solidFill>
                      <a:srgbClr val="111827"/>
                    </a:solidFill>
                    <a:latin typeface="Arial"/>
                  </a:rPr>
                  <a:t>: sum </a:t>
                </a:r>
                <a:r>
                  <a:rPr lang="en-IN" sz="2400">
                    <a:solidFill>
                      <a:srgbClr val="111827"/>
                    </a:solidFill>
                    <a:latin typeface="Cambria Math" panose="02040503050406030204" pitchFamily="18" charset="0"/>
                  </a:rPr>
                  <a:t>$=-b/a$</a:t>
                </a:r>
                <a:r>
                  <a:rPr sz="2400" b="0">
                    <a:solidFill>
                      <a:srgbClr val="111827"/>
                    </a:solidFill>
                    <a:latin typeface="Arial"/>
                  </a:rPr>
                  <a:t>, product </a:t>
                </a:r>
                <a:r>
                  <a:rPr lang="en-IN" sz="2400">
                    <a:solidFill>
                      <a:srgbClr val="111827"/>
                    </a:solidFill>
                    <a:latin typeface="Cambria Math" panose="02040503050406030204" pitchFamily="18" charset="0"/>
                  </a:rPr>
                  <a:t>$=c/a$</a:t>
                </a:r>
                <a:r>
                  <a:rPr sz="2400" b="0">
                    <a:solidFill>
                      <a:srgbClr val="111827"/>
                    </a:solidFill>
                    <a:latin typeface="Arial"/>
                  </a:rPr>
                  <a:t>. For </a:t>
                </a:r>
                <a:r>
                  <a:rPr lang="en-IN" sz="2400">
                    <a:solidFill>
                      <a:srgbClr val="111827"/>
                    </a:solidFill>
                    <a:latin typeface="Cambria Math" panose="02040503050406030204" pitchFamily="18" charset="0"/>
                  </a:rPr>
                  <a:t>$3x^2-px+q$</a:t>
                </a:r>
                <a:r>
                  <a:rPr sz="2400" b="0">
                    <a:solidFill>
                      <a:srgbClr val="111827"/>
                    </a:solidFill>
                    <a:latin typeface="Arial"/>
                  </a:rPr>
                  <a:t>: sum </a:t>
                </a:r>
                <a:r>
                  <a:rPr lang="en-IN" sz="2400">
                    <a:solidFill>
                      <a:srgbClr val="111827"/>
                    </a:solidFill>
                    <a:latin typeface="Cambria Math" panose="02040503050406030204" pitchFamily="18" charset="0"/>
                  </a:rPr>
                  <a:t>$=p/3$</a:t>
                </a:r>
                <a:r>
                  <a:rPr sz="2400" b="0">
                    <a:solidFill>
                      <a:srgbClr val="111827"/>
                    </a:solidFill>
                    <a:latin typeface="Arial"/>
                  </a:rPr>
                  <a:t>, product </a:t>
                </a:r>
                <a:r>
                  <a:rPr lang="en-IN" sz="2400">
                    <a:solidFill>
                      <a:srgbClr val="111827"/>
                    </a:solidFill>
                    <a:latin typeface="Cambria Math" panose="02040503050406030204" pitchFamily="18" charset="0"/>
                  </a:rPr>
                  <a:t>$=q/3$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Simon's trick: </a:t>
                </a:r>
                <a:r>
                  <a:rPr lang="en-IN" sz="2400">
                    <a:solidFill>
                      <a:srgbClr val="111827"/>
                    </a:solidFill>
                    <a:latin typeface="Cambria Math" panose="02040503050406030204" pitchFamily="18" charset="0"/>
                  </a:rPr>
                  <a:t>$xy-k(x+y)=(x-k)(y-k)-k^2$</a:t>
                </a:r>
                <a:r>
                  <a:rPr sz="2400" b="0">
                    <a:solidFill>
                      <a:srgbClr val="111827"/>
                    </a:solidFill>
                    <a:latin typeface="Arial"/>
                  </a:rPr>
                  <a:t> turns a mixed sum/product combination into a product of shifted roots.</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numbers, that are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but not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$3$</a:t>
                </a:r>
                <a:r>
                  <a:rPr sz="2400" b="0">
                    <a:solidFill>
                      <a:srgbClr val="111827"/>
                    </a:solidFill>
                    <a:latin typeface="Arial"/>
                  </a:rPr>
                  <a:t>-digit numbers, that are divisible by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but not divisible by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$9$</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multiples using L.C.M. and inclusion–exclusion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Divisible by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means by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'not divisible by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removes multiples of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or of </a:t>
                </a:r>
                <a14:m>
                  <m:oMath xmlns:m="http://schemas.openxmlformats.org/officeDocument/2006/math">
                    <m:r>
                      <a:rPr lang="en-IN" sz="2400" i="1">
                        <a:solidFill>
                          <a:srgbClr val="78350F"/>
                        </a:solidFill>
                        <a:latin typeface="Cambria Math" panose="02040503050406030204" pitchFamily="18" charset="0"/>
                      </a:rPr>
                      <m:t>18</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36</m:t>
                    </m:r>
                  </m:oMath>
                </a14:m>
                <a:r>
                  <a:rPr sz="2400" b="0">
                    <a:solidFill>
                      <a:srgbClr val="78350F"/>
                    </a:solidFill>
                    <a:latin typeface="Arial"/>
                  </a:rPr>
                  <a:t> counted twice.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Divisible by </a:t>
                </a:r>
                <a:r>
                  <a:rPr lang="en-IN" sz="2400">
                    <a:solidFill>
                      <a:srgbClr val="78350F"/>
                    </a:solidFill>
                    <a:latin typeface="Cambria Math" panose="02040503050406030204" pitchFamily="18" charset="0"/>
                  </a:rPr>
                  <a:t>$2$</a:t>
                </a:r>
                <a:r>
                  <a:rPr sz="2400" b="0">
                    <a:solidFill>
                      <a:srgbClr val="78350F"/>
                    </a:solidFill>
                    <a:latin typeface="Arial"/>
                  </a:rPr>
                  <a:t> and </a:t>
                </a:r>
                <a:r>
                  <a:rPr lang="en-IN" sz="2400">
                    <a:solidFill>
                      <a:srgbClr val="78350F"/>
                    </a:solidFill>
                    <a:latin typeface="Cambria Math" panose="02040503050406030204" pitchFamily="18" charset="0"/>
                  </a:rPr>
                  <a:t>$3$</a:t>
                </a:r>
                <a:r>
                  <a:rPr sz="2400" b="0">
                    <a:solidFill>
                      <a:srgbClr val="78350F"/>
                    </a:solidFill>
                    <a:latin typeface="Arial"/>
                  </a:rPr>
                  <a:t> means by </a:t>
                </a:r>
                <a:r>
                  <a:rPr lang="en-IN" sz="2400">
                    <a:solidFill>
                      <a:srgbClr val="78350F"/>
                    </a:solidFill>
                    <a:latin typeface="Cambria Math" panose="02040503050406030204" pitchFamily="18" charset="0"/>
                  </a:rPr>
                  <a:t>$6$</a:t>
                </a:r>
                <a:r>
                  <a:rPr sz="2400" b="0">
                    <a:solidFill>
                      <a:srgbClr val="78350F"/>
                    </a:solidFill>
                    <a:latin typeface="Arial"/>
                  </a:rPr>
                  <a:t>; 'not divisible by </a:t>
                </a:r>
                <a:r>
                  <a:rPr lang="en-IN" sz="2400">
                    <a:solidFill>
                      <a:srgbClr val="78350F"/>
                    </a:solidFill>
                    <a:latin typeface="Cambria Math" panose="02040503050406030204" pitchFamily="18" charset="0"/>
                  </a:rPr>
                  <a:t>$4$</a:t>
                </a:r>
                <a:r>
                  <a:rPr sz="2400" b="0">
                    <a:solidFill>
                      <a:srgbClr val="78350F"/>
                    </a:solidFill>
                    <a:latin typeface="Arial"/>
                  </a:rPr>
                  <a:t> and </a:t>
                </a:r>
                <a:r>
                  <a:rPr lang="en-IN" sz="2400">
                    <a:solidFill>
                      <a:srgbClr val="78350F"/>
                    </a:solidFill>
                    <a:latin typeface="Cambria Math" panose="02040503050406030204" pitchFamily="18" charset="0"/>
                  </a:rPr>
                  <a:t>$9$</a:t>
                </a:r>
                <a:r>
                  <a:rPr sz="2400" b="0">
                    <a:solidFill>
                      <a:srgbClr val="78350F"/>
                    </a:solidFill>
                    <a:latin typeface="Arial"/>
                  </a:rPr>
                  <a:t>' removes multiples of </a:t>
                </a:r>
                <a:r>
                  <a:rPr lang="en-IN" sz="2400">
                    <a:solidFill>
                      <a:srgbClr val="78350F"/>
                    </a:solidFill>
                    <a:latin typeface="Cambria Math" panose="02040503050406030204" pitchFamily="18" charset="0"/>
                  </a:rPr>
                  <a:t>$12$</a:t>
                </a:r>
                <a:r>
                  <a:rPr sz="2400" b="0">
                    <a:solidFill>
                      <a:srgbClr val="78350F"/>
                    </a:solidFill>
                    <a:latin typeface="Arial"/>
                  </a:rPr>
                  <a:t> or of </a:t>
                </a:r>
                <a:r>
                  <a:rPr lang="en-IN" sz="2400">
                    <a:solidFill>
                      <a:srgbClr val="78350F"/>
                    </a:solidFill>
                    <a:latin typeface="Cambria Math" panose="02040503050406030204" pitchFamily="18" charset="0"/>
                  </a:rPr>
                  <a:t>$18$</a:t>
                </a:r>
                <a:r>
                  <a:rPr sz="2400" b="0">
                    <a:solidFill>
                      <a:srgbClr val="78350F"/>
                    </a:solidFill>
                    <a:latin typeface="Arial"/>
                  </a:rPr>
                  <a:t>, with </a:t>
                </a:r>
                <a:r>
                  <a:rPr lang="en-IN" sz="2400">
                    <a:solidFill>
                      <a:srgbClr val="78350F"/>
                    </a:solidFill>
                    <a:latin typeface="Cambria Math" panose="02040503050406030204" pitchFamily="18" charset="0"/>
                  </a:rPr>
                  <a:t>$36$</a:t>
                </a:r>
                <a:r>
                  <a:rPr sz="2400" b="0">
                    <a:solidFill>
                      <a:srgbClr val="78350F"/>
                    </a:solidFill>
                    <a:latin typeface="Arial"/>
                  </a:rPr>
                  <a:t> counted twice.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means 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multiples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996</m:t>
                    </m:r>
                  </m:oMath>
                </a14:m>
                <a:r>
                  <a:rPr sz="2400" b="0">
                    <a:solidFill>
                      <a:srgbClr val="111827"/>
                    </a:solidFill>
                    <a:latin typeface="Arial"/>
                  </a:rPr>
                  <a:t>, which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not divisible by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remove multiples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that are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(multiples of </a:t>
                </a:r>
                <a14:m>
                  <m:oMath xmlns:m="http://schemas.openxmlformats.org/officeDocument/2006/math">
                    <m:r>
                      <m:rPr>
                        <m:nor/>
                      </m:rPr>
                      <a:rPr lang="en-IN" sz="2400" i="1">
                        <a:solidFill>
                          <a:srgbClr val="111827"/>
                        </a:solidFill>
                        <a:latin typeface="Cambria Math" panose="02040503050406030204" pitchFamily="18" charset="0"/>
                      </a:rPr>
                      <m:t>𝑙𝑐𝑚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or by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(multiples of </a:t>
                </a:r>
                <a14:m>
                  <m:oMath xmlns:m="http://schemas.openxmlformats.org/officeDocument/2006/math">
                    <m:r>
                      <m:rPr>
                        <m:nor/>
                      </m:rPr>
                      <a:rPr lang="en-IN" sz="2400" i="1">
                        <a:solidFill>
                          <a:srgbClr val="111827"/>
                        </a:solidFill>
                        <a:latin typeface="Cambria Math" panose="02040503050406030204" pitchFamily="18" charset="0"/>
                      </a:rPr>
                      <m:t>𝑙𝑐𝑚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996</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75</m:t>
                    </m:r>
                  </m:oMath>
                </a14:m>
                <a:r>
                  <a:rPr sz="2400" b="0">
                    <a:solidFill>
                      <a:srgbClr val="111827"/>
                    </a:solidFill>
                    <a:latin typeface="Arial"/>
                  </a:rPr>
                  <a:t> numbers. Multiples of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numbers.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Divisible by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means divisible by </a:t>
                </a:r>
                <a:r>
                  <a:rPr lang="en-IN" sz="2400">
                    <a:solidFill>
                      <a:srgbClr val="111827"/>
                    </a:solidFill>
                    <a:latin typeface="Cambria Math" panose="02040503050406030204" pitchFamily="18" charset="0"/>
                  </a:rPr>
                  <a:t>$6$</a:t>
                </a:r>
                <a:r>
                  <a:rPr sz="2400" b="0">
                    <a:solidFill>
                      <a:srgbClr val="111827"/>
                    </a:solidFill>
                    <a:latin typeface="Arial"/>
                  </a:rPr>
                  <a:t>: the </a:t>
                </a:r>
                <a:r>
                  <a:rPr lang="en-IN" sz="2400">
                    <a:solidFill>
                      <a:srgbClr val="111827"/>
                    </a:solidFill>
                    <a:latin typeface="Cambria Math" panose="02040503050406030204" pitchFamily="18" charset="0"/>
                  </a:rPr>
                  <a:t>$3$</a:t>
                </a:r>
                <a:r>
                  <a:rPr sz="2400" b="0">
                    <a:solidFill>
                      <a:srgbClr val="111827"/>
                    </a:solidFill>
                    <a:latin typeface="Arial"/>
                  </a:rPr>
                  <a:t>-digit multiples of </a:t>
                </a:r>
                <a:r>
                  <a:rPr lang="en-IN" sz="2400">
                    <a:solidFill>
                      <a:srgbClr val="111827"/>
                    </a:solidFill>
                    <a:latin typeface="Cambria Math" panose="02040503050406030204" pitchFamily="18" charset="0"/>
                  </a:rPr>
                  <a:t>$6$</a:t>
                </a:r>
                <a:r>
                  <a:rPr sz="2400" b="0">
                    <a:solidFill>
                      <a:srgbClr val="111827"/>
                    </a:solidFill>
                    <a:latin typeface="Arial"/>
                  </a:rPr>
                  <a:t> are </a:t>
                </a:r>
                <a:r>
                  <a:rPr lang="en-IN" sz="2400">
                    <a:solidFill>
                      <a:srgbClr val="111827"/>
                    </a:solidFill>
                    <a:latin typeface="Cambria Math" panose="02040503050406030204" pitchFamily="18" charset="0"/>
                  </a:rPr>
                  <a:t>$102,108,114,\dots,996$</a:t>
                </a:r>
                <a:r>
                  <a:rPr sz="2400" b="0">
                    <a:solidFill>
                      <a:srgbClr val="111827"/>
                    </a:solidFill>
                    <a:latin typeface="Arial"/>
                  </a:rPr>
                  <a:t>, which is </a:t>
                </a:r>
                <a:r>
                  <a:rPr lang="en-IN" sz="2400">
                    <a:solidFill>
                      <a:srgbClr val="111827"/>
                    </a:solidFill>
                    <a:latin typeface="Cambria Math" panose="02040503050406030204" pitchFamily="18" charset="0"/>
                  </a:rPr>
                  <a:t>$\frac{996-102}{6}+1=150$</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divisible by </a:t>
                </a:r>
                <a:r>
                  <a:rPr lang="en-IN" sz="2400">
                    <a:solidFill>
                      <a:srgbClr val="111827"/>
                    </a:solidFill>
                    <a:latin typeface="Cambria Math" panose="02040503050406030204" pitchFamily="18" charset="0"/>
                  </a:rPr>
                  <a:t>$4$</a:t>
                </a:r>
                <a:r>
                  <a:rPr sz="2400" b="0">
                    <a:solidFill>
                      <a:srgbClr val="111827"/>
                    </a:solidFill>
                    <a:latin typeface="Arial"/>
                  </a:rPr>
                  <a:t> and not divisible by </a:t>
                </a:r>
                <a:r>
                  <a:rPr lang="en-IN" sz="2400">
                    <a:solidFill>
                      <a:srgbClr val="111827"/>
                    </a:solidFill>
                    <a:latin typeface="Cambria Math" panose="02040503050406030204" pitchFamily="18" charset="0"/>
                  </a:rPr>
                  <a:t>$9$</a:t>
                </a:r>
                <a:r>
                  <a:rPr sz="2400" b="0">
                    <a:solidFill>
                      <a:srgbClr val="111827"/>
                    </a:solidFill>
                    <a:latin typeface="Arial"/>
                  </a:rPr>
                  <a:t>: remove multiples of </a:t>
                </a:r>
                <a:r>
                  <a:rPr lang="en-IN" sz="2400">
                    <a:solidFill>
                      <a:srgbClr val="111827"/>
                    </a:solidFill>
                    <a:latin typeface="Cambria Math" panose="02040503050406030204" pitchFamily="18" charset="0"/>
                  </a:rPr>
                  <a:t>$6$</a:t>
                </a:r>
                <a:r>
                  <a:rPr sz="2400" b="0">
                    <a:solidFill>
                      <a:srgbClr val="111827"/>
                    </a:solidFill>
                    <a:latin typeface="Arial"/>
                  </a:rPr>
                  <a:t> that are divisible by </a:t>
                </a:r>
                <a:r>
                  <a:rPr lang="en-IN" sz="2400">
                    <a:solidFill>
                      <a:srgbClr val="111827"/>
                    </a:solidFill>
                    <a:latin typeface="Cambria Math" panose="02040503050406030204" pitchFamily="18" charset="0"/>
                  </a:rPr>
                  <a:t>$4$</a:t>
                </a:r>
                <a:r>
                  <a:rPr sz="2400" b="0">
                    <a:solidFill>
                      <a:srgbClr val="111827"/>
                    </a:solidFill>
                    <a:latin typeface="Arial"/>
                  </a:rPr>
                  <a:t> (multiples of </a:t>
                </a:r>
                <a:r>
                  <a:rPr lang="en-IN" sz="2400">
                    <a:solidFill>
                      <a:srgbClr val="111827"/>
                    </a:solidFill>
                    <a:latin typeface="Cambria Math" panose="02040503050406030204" pitchFamily="18" charset="0"/>
                  </a:rPr>
                  <a:t>$\text{lcm}(6,4)=12$</a:t>
                </a:r>
                <a:r>
                  <a:rPr sz="2400" b="0">
                    <a:solidFill>
                      <a:srgbClr val="111827"/>
                    </a:solidFill>
                    <a:latin typeface="Arial"/>
                  </a:rPr>
                  <a:t>) or by </a:t>
                </a:r>
                <a:r>
                  <a:rPr lang="en-IN" sz="2400">
                    <a:solidFill>
                      <a:srgbClr val="111827"/>
                    </a:solidFill>
                    <a:latin typeface="Cambria Math" panose="02040503050406030204" pitchFamily="18" charset="0"/>
                  </a:rPr>
                  <a:t>$9$</a:t>
                </a:r>
                <a:r>
                  <a:rPr sz="2400" b="0">
                    <a:solidFill>
                      <a:srgbClr val="111827"/>
                    </a:solidFill>
                    <a:latin typeface="Arial"/>
                  </a:rPr>
                  <a:t> (multiples of </a:t>
                </a:r>
                <a:r>
                  <a:rPr lang="en-IN" sz="2400">
                    <a:solidFill>
                      <a:srgbClr val="111827"/>
                    </a:solidFill>
                    <a:latin typeface="Cambria Math" panose="02040503050406030204" pitchFamily="18" charset="0"/>
                  </a:rPr>
                  <a:t>$\text{lcm}(6,9)=18$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$108,\dots,996$</a:t>
                </a:r>
                <a:r>
                  <a:rPr sz="2400" b="0">
                    <a:solidFill>
                      <a:srgbClr val="111827"/>
                    </a:solidFill>
                    <a:latin typeface="Arial"/>
                  </a:rPr>
                  <a:t>, i.e. </a:t>
                </a:r>
                <a:r>
                  <a:rPr lang="en-IN" sz="2400">
                    <a:solidFill>
                      <a:srgbClr val="111827"/>
                    </a:solidFill>
                    <a:latin typeface="Cambria Math" panose="02040503050406030204" pitchFamily="18" charset="0"/>
                  </a:rPr>
                  <a:t>$75$</a:t>
                </a:r>
                <a:r>
                  <a:rPr sz="2400" b="0">
                    <a:solidFill>
                      <a:srgbClr val="111827"/>
                    </a:solidFill>
                    <a:latin typeface="Arial"/>
                  </a:rPr>
                  <a:t> numbers. Multiples of </a:t>
                </a:r>
                <a:r>
                  <a:rPr lang="en-IN" sz="2400">
                    <a:solidFill>
                      <a:srgbClr val="111827"/>
                    </a:solidFill>
                    <a:latin typeface="Cambria Math" panose="02040503050406030204" pitchFamily="18" charset="0"/>
                  </a:rPr>
                  <a:t>$18$</a:t>
                </a:r>
                <a:r>
                  <a:rPr sz="2400" b="0">
                    <a:solidFill>
                      <a:srgbClr val="111827"/>
                    </a:solidFill>
                    <a:latin typeface="Arial"/>
                  </a:rPr>
                  <a:t>: </a:t>
                </a:r>
                <a:r>
                  <a:rPr lang="en-IN" sz="2400">
                    <a:solidFill>
                      <a:srgbClr val="111827"/>
                    </a:solidFill>
                    <a:latin typeface="Cambria Math" panose="02040503050406030204" pitchFamily="18" charset="0"/>
                  </a:rPr>
                  <a:t>$108,\dots,990$</a:t>
                </a:r>
                <a:r>
                  <a:rPr sz="2400" b="0">
                    <a:solidFill>
                      <a:srgbClr val="111827"/>
                    </a:solidFill>
                    <a:latin typeface="Arial"/>
                  </a:rPr>
                  <a:t>, i.e. </a:t>
                </a:r>
                <a:r>
                  <a:rPr lang="en-IN" sz="2400">
                    <a:solidFill>
                      <a:srgbClr val="111827"/>
                    </a:solidFill>
                    <a:latin typeface="Cambria Math" panose="02040503050406030204" pitchFamily="18" charset="0"/>
                  </a:rPr>
                  <a:t>$50$</a:t>
                </a:r>
                <a:r>
                  <a:rPr sz="2400" b="0">
                    <a:solidFill>
                      <a:srgbClr val="111827"/>
                    </a:solidFill>
                    <a:latin typeface="Arial"/>
                  </a:rPr>
                  <a:t> numbers.</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both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are multiples of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numbers (the PDF's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numbers removed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both </a:t>
                </a:r>
                <a:r>
                  <a:rPr lang="en-IN" sz="2400">
                    <a:solidFill>
                      <a:srgbClr val="111827"/>
                    </a:solidFill>
                    <a:latin typeface="Cambria Math" panose="02040503050406030204" pitchFamily="18" charset="0"/>
                  </a:rPr>
                  <a:t>$12$</a:t>
                </a:r>
                <a:r>
                  <a:rPr sz="2400" b="0">
                    <a:solidFill>
                      <a:srgbClr val="111827"/>
                    </a:solidFill>
                    <a:latin typeface="Arial"/>
                  </a:rPr>
                  <a:t> and </a:t>
                </a:r>
                <a:r>
                  <a:rPr lang="en-IN" sz="2400">
                    <a:solidFill>
                      <a:srgbClr val="111827"/>
                    </a:solidFill>
                    <a:latin typeface="Cambria Math" panose="02040503050406030204" pitchFamily="18" charset="0"/>
                  </a:rPr>
                  <a:t>$18$</a:t>
                </a:r>
                <a:r>
                  <a:rPr sz="2400" b="0">
                    <a:solidFill>
                      <a:srgbClr val="111827"/>
                    </a:solidFill>
                    <a:latin typeface="Arial"/>
                  </a:rPr>
                  <a:t> are multiples of </a:t>
                </a:r>
                <a:r>
                  <a:rPr lang="en-IN" sz="2400">
                    <a:solidFill>
                      <a:srgbClr val="111827"/>
                    </a:solidFill>
                    <a:latin typeface="Cambria Math" panose="02040503050406030204" pitchFamily="18" charset="0"/>
                  </a:rPr>
                  <a:t>$36$</a:t>
                </a:r>
                <a:r>
                  <a:rPr sz="2400" b="0">
                    <a:solidFill>
                      <a:srgbClr val="111827"/>
                    </a:solidFill>
                    <a:latin typeface="Arial"/>
                  </a:rPr>
                  <a:t>: </a:t>
                </a:r>
                <a:r>
                  <a:rPr lang="en-IN" sz="2400">
                    <a:solidFill>
                      <a:srgbClr val="111827"/>
                    </a:solidFill>
                    <a:latin typeface="Cambria Math" panose="02040503050406030204" pitchFamily="18" charset="0"/>
                  </a:rPr>
                  <a:t>$108,144,\dots,972$</a:t>
                </a:r>
                <a:r>
                  <a:rPr sz="2400" b="0">
                    <a:solidFill>
                      <a:srgbClr val="111827"/>
                    </a:solidFill>
                    <a:latin typeface="Arial"/>
                  </a:rPr>
                  <a:t>, i.e. </a:t>
                </a:r>
                <a:r>
                  <a:rPr lang="en-IN" sz="2400">
                    <a:solidFill>
                      <a:srgbClr val="111827"/>
                    </a:solidFill>
                    <a:latin typeface="Cambria Math" panose="02040503050406030204" pitchFamily="18" charset="0"/>
                  </a:rPr>
                  <a:t>$25$</a:t>
                </a:r>
                <a:r>
                  <a:rPr sz="2400" b="0">
                    <a:solidFill>
                      <a:srgbClr val="111827"/>
                    </a:solidFill>
                    <a:latin typeface="Arial"/>
                  </a:rPr>
                  <a:t> numbers (the PDF's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Inclusion–exclusion: numbers removed </a:t>
                </a:r>
                <a:r>
                  <a:rPr lang="en-IN" sz="2400">
                    <a:solidFill>
                      <a:srgbClr val="111827"/>
                    </a:solidFill>
                    <a:latin typeface="Cambria Math" panose="02040503050406030204" pitchFamily="18" charset="0"/>
                  </a:rPr>
                  <a:t>$=75+50-25=100$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count </a:t>
                </a:r>
                <a:r>
                  <a:rPr lang="en-IN" sz="2400">
                    <a:solidFill>
                      <a:srgbClr val="111827"/>
                    </a:solidFill>
                    <a:latin typeface="Cambria Math" panose="02040503050406030204" pitchFamily="18" charset="0"/>
                  </a:rPr>
                  <a:t>$=150-100=50$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50 (PDF key: 125)</a:t>
            </a:r>
            <a:endParaRPr sz="2800">
              <a:solidFill>
                <a:srgbClr val="15803D"/>
              </a:solidFil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Residues modulo </a:t>
                </a:r>
                <a14:m>
                  <m:oMath xmlns:m="http://schemas.openxmlformats.org/officeDocument/2006/math">
                    <m:r>
                      <a:rPr lang="en-IN" sz="2400" i="1">
                        <a:solidFill>
                          <a:srgbClr val="78350F"/>
                        </a:solidFill>
                        <a:latin typeface="Cambria Math" panose="02040503050406030204" pitchFamily="18" charset="0"/>
                      </a:rPr>
                      <m:t>36</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𝑙𝑐𝑚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repeat; </a:t>
                </a:r>
                <a14:m>
                  <m:oMath xmlns:m="http://schemas.openxmlformats.org/officeDocument/2006/math">
                    <m:r>
                      <a:rPr lang="en-IN" sz="2400" i="1">
                        <a:solidFill>
                          <a:srgbClr val="78350F"/>
                        </a:solidFill>
                        <a:latin typeface="Cambria Math" panose="02040503050406030204" pitchFamily="18" charset="0"/>
                      </a:rPr>
                      <m:t>100</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999</m:t>
                    </m:r>
                  </m:oMath>
                </a14:m>
                <a:r>
                  <a:rPr sz="2400" b="0">
                    <a:solidFill>
                      <a:srgbClr val="78350F"/>
                    </a:solidFill>
                    <a:latin typeface="Arial"/>
                  </a:rPr>
                  <a:t> is exactly </a:t>
                </a:r>
                <a14:m>
                  <m:oMath xmlns:m="http://schemas.openxmlformats.org/officeDocument/2006/math">
                    <m:r>
                      <a:rPr lang="en-IN" sz="2400" i="1">
                        <a:solidFill>
                          <a:srgbClr val="78350F"/>
                        </a:solidFill>
                        <a:latin typeface="Cambria Math" panose="02040503050406030204" pitchFamily="18" charset="0"/>
                      </a:rPr>
                      <m:t>25</m:t>
                    </m:r>
                  </m:oMath>
                </a14:m>
                <a:r>
                  <a:rPr sz="2400" b="0">
                    <a:solidFill>
                      <a:srgbClr val="78350F"/>
                    </a:solidFill>
                    <a:latin typeface="Arial"/>
                  </a:rPr>
                  <a:t> full periods.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Residues modulo </a:t>
                </a:r>
                <a:r>
                  <a:rPr lang="en-IN" sz="2400">
                    <a:solidFill>
                      <a:srgbClr val="78350F"/>
                    </a:solidFill>
                    <a:latin typeface="Cambria Math" panose="02040503050406030204" pitchFamily="18" charset="0"/>
                  </a:rPr>
                  <a:t>$36=\text{lcm}(4,9,6)$</a:t>
                </a:r>
                <a:r>
                  <a:rPr sz="2400" b="0">
                    <a:solidFill>
                      <a:srgbClr val="78350F"/>
                    </a:solidFill>
                    <a:latin typeface="Arial"/>
                  </a:rPr>
                  <a:t> repeat; </a:t>
                </a:r>
                <a:r>
                  <a:rPr lang="en-IN" sz="2400">
                    <a:solidFill>
                      <a:srgbClr val="78350F"/>
                    </a:solidFill>
                    <a:latin typeface="Cambria Math" panose="02040503050406030204" pitchFamily="18" charset="0"/>
                  </a:rPr>
                  <a:t>$100$</a:t>
                </a:r>
                <a:r>
                  <a:rPr sz="2400" b="0">
                    <a:solidFill>
                      <a:srgbClr val="78350F"/>
                    </a:solidFill>
                    <a:latin typeface="Arial"/>
                  </a:rPr>
                  <a:t> to </a:t>
                </a:r>
                <a:r>
                  <a:rPr lang="en-IN" sz="2400">
                    <a:solidFill>
                      <a:srgbClr val="78350F"/>
                    </a:solidFill>
                    <a:latin typeface="Cambria Math" panose="02040503050406030204" pitchFamily="18" charset="0"/>
                  </a:rPr>
                  <a:t>$999$</a:t>
                </a:r>
                <a:r>
                  <a:rPr sz="2400" b="0">
                    <a:solidFill>
                      <a:srgbClr val="78350F"/>
                    </a:solidFill>
                    <a:latin typeface="Arial"/>
                  </a:rPr>
                  <a:t> is exactly </a:t>
                </a:r>
                <a:r>
                  <a:rPr lang="en-IN" sz="2400">
                    <a:solidFill>
                      <a:srgbClr val="78350F"/>
                    </a:solidFill>
                    <a:latin typeface="Cambria Math" panose="02040503050406030204" pitchFamily="18" charset="0"/>
                  </a:rPr>
                  <a:t>$25$</a:t>
                </a:r>
                <a:r>
                  <a:rPr sz="2400" b="0">
                    <a:solidFill>
                      <a:srgbClr val="78350F"/>
                    </a:solidFill>
                    <a:latin typeface="Arial"/>
                  </a:rPr>
                  <a:t> full periods.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Divisibility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depends only on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36</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in one period: residues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residues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or by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remain, so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per period of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-digit numbers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consecutive integers, i.e. exactly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periods.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Divisibility by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$9$</a:t>
                </a:r>
                <a:r>
                  <a:rPr sz="2400" b="0">
                    <a:solidFill>
                      <a:srgbClr val="111827"/>
                    </a:solidFill>
                    <a:latin typeface="Arial"/>
                  </a:rPr>
                  <a:t> depends only on </a:t>
                </a:r>
                <a:r>
                  <a:rPr lang="en-IN" sz="2400">
                    <a:solidFill>
                      <a:srgbClr val="111827"/>
                    </a:solidFill>
                    <a:latin typeface="Cambria Math" panose="02040503050406030204" pitchFamily="18" charset="0"/>
                  </a:rPr>
                  <a:t>$n \bmod 36$</a:t>
                </a:r>
                <a:r>
                  <a:rPr sz="2400" b="0">
                    <a:solidFill>
                      <a:srgbClr val="111827"/>
                    </a:solidFill>
                    <a:latin typeface="Arial"/>
                  </a:rPr>
                  <a:t>. Multiples of </a:t>
                </a:r>
                <a:r>
                  <a:rPr lang="en-IN" sz="2400">
                    <a:solidFill>
                      <a:srgbClr val="111827"/>
                    </a:solidFill>
                    <a:latin typeface="Cambria Math" panose="02040503050406030204" pitchFamily="18" charset="0"/>
                  </a:rPr>
                  <a:t>$6$</a:t>
                </a:r>
                <a:r>
                  <a:rPr sz="2400" b="0">
                    <a:solidFill>
                      <a:srgbClr val="111827"/>
                    </a:solidFill>
                    <a:latin typeface="Arial"/>
                  </a:rPr>
                  <a:t> in one period: residues </a:t>
                </a:r>
                <a:r>
                  <a:rPr lang="en-IN" sz="2400">
                    <a:solidFill>
                      <a:srgbClr val="111827"/>
                    </a:solidFill>
                    <a:latin typeface="Cambria Math" panose="02040503050406030204" pitchFamily="18" charset="0"/>
                  </a:rPr>
                  <a:t>$0,6,12,18,24,30$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residues divisible by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$0,12,24$</a:t>
                </a:r>
                <a:r>
                  <a:rPr sz="2400" b="0">
                    <a:solidFill>
                      <a:srgbClr val="111827"/>
                    </a:solidFill>
                    <a:latin typeface="Arial"/>
                  </a:rPr>
                  <a:t>) or by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$0,18$</a:t>
                </a:r>
                <a:r>
                  <a:rPr sz="2400" b="0">
                    <a:solidFill>
                      <a:srgbClr val="111827"/>
                    </a:solidFill>
                    <a:latin typeface="Arial"/>
                  </a:rPr>
                  <a:t>): only </a:t>
                </a:r>
                <a:r>
                  <a:rPr lang="en-IN" sz="2400">
                    <a:solidFill>
                      <a:srgbClr val="111827"/>
                    </a:solidFill>
                    <a:latin typeface="Cambria Math" panose="02040503050406030204" pitchFamily="18" charset="0"/>
                  </a:rPr>
                  <a:t>$6$</a:t>
                </a:r>
                <a:r>
                  <a:rPr sz="2400" b="0">
                    <a:solidFill>
                      <a:srgbClr val="111827"/>
                    </a:solidFill>
                    <a:latin typeface="Arial"/>
                  </a:rPr>
                  <a:t> and </a:t>
                </a:r>
                <a:r>
                  <a:rPr lang="en-IN" sz="2400">
                    <a:solidFill>
                      <a:srgbClr val="111827"/>
                    </a:solidFill>
                    <a:latin typeface="Cambria Math" panose="02040503050406030204" pitchFamily="18" charset="0"/>
                  </a:rPr>
                  <a:t>$30$</a:t>
                </a:r>
                <a:r>
                  <a:rPr sz="2400" b="0">
                    <a:solidFill>
                      <a:srgbClr val="111827"/>
                    </a:solidFill>
                    <a:latin typeface="Arial"/>
                  </a:rPr>
                  <a:t> remain, so </a:t>
                </a:r>
                <a:r>
                  <a:rPr lang="en-IN" sz="2400">
                    <a:solidFill>
                      <a:srgbClr val="111827"/>
                    </a:solidFill>
                    <a:latin typeface="Cambria Math" panose="02040503050406030204" pitchFamily="18" charset="0"/>
                  </a:rPr>
                  <a:t>$2$</a:t>
                </a:r>
                <a:r>
                  <a:rPr sz="2400" b="0">
                    <a:solidFill>
                      <a:srgbClr val="111827"/>
                    </a:solidFill>
                    <a:latin typeface="Arial"/>
                  </a:rPr>
                  <a:t> per period of </a:t>
                </a:r>
                <a:r>
                  <a:rPr lang="en-IN" sz="2400">
                    <a:solidFill>
                      <a:srgbClr val="111827"/>
                    </a:solidFill>
                    <a:latin typeface="Cambria Math" panose="02040503050406030204" pitchFamily="18" charset="0"/>
                  </a:rPr>
                  <a:t>$36$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$3$</a:t>
                </a:r>
                <a:r>
                  <a:rPr sz="2400" b="0">
                    <a:solidFill>
                      <a:srgbClr val="111827"/>
                    </a:solidFill>
                    <a:latin typeface="Arial"/>
                  </a:rPr>
                  <a:t>-digit numbers </a:t>
                </a:r>
                <a:r>
                  <a:rPr lang="en-IN" sz="2400">
                    <a:solidFill>
                      <a:srgbClr val="111827"/>
                    </a:solidFill>
                    <a:latin typeface="Cambria Math" panose="02040503050406030204" pitchFamily="18" charset="0"/>
                  </a:rPr>
                  <a:t>$100,\dots,999$</a:t>
                </a:r>
                <a:r>
                  <a:rPr sz="2400" b="0">
                    <a:solidFill>
                      <a:srgbClr val="111827"/>
                    </a:solidFill>
                    <a:latin typeface="Arial"/>
                  </a:rPr>
                  <a:t> are </a:t>
                </a:r>
                <a:r>
                  <a:rPr lang="en-IN" sz="2400">
                    <a:solidFill>
                      <a:srgbClr val="111827"/>
                    </a:solidFill>
                    <a:latin typeface="Cambria Math" panose="02040503050406030204" pitchFamily="18" charset="0"/>
                  </a:rPr>
                  <a:t>$900=25\times36$</a:t>
                </a:r>
                <a:r>
                  <a:rPr sz="2400" b="0">
                    <a:solidFill>
                      <a:srgbClr val="111827"/>
                    </a:solidFill>
                    <a:latin typeface="Arial"/>
                  </a:rPr>
                  <a:t> consecutive integers, i.e. exactly </a:t>
                </a:r>
                <a:r>
                  <a:rPr lang="en-IN" sz="2400">
                    <a:solidFill>
                      <a:srgbClr val="111827"/>
                    </a:solidFill>
                    <a:latin typeface="Cambria Math" panose="02040503050406030204" pitchFamily="18" charset="0"/>
                  </a:rPr>
                  <a:t>$25$</a:t>
                </a:r>
                <a:r>
                  <a:rPr sz="2400" b="0">
                    <a:solidFill>
                      <a:srgbClr val="111827"/>
                    </a:solidFill>
                    <a:latin typeface="Arial"/>
                  </a:rPr>
                  <a:t> periods.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$=25\times2=50$</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50 (PDF key: 125)</a:t>
            </a:r>
            <a:endParaRPr sz="2800">
              <a:solidFill>
                <a:srgbClr val="15803D"/>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divisible by both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are multiples of </a:t>
                </a:r>
                <a14:m>
                  <m:oMath xmlns:m="http://schemas.openxmlformats.org/officeDocument/2006/math">
                    <m:r>
                      <m:rPr>
                        <m:nor/>
                      </m:rPr>
                      <a:rPr lang="en-IN" sz="2400" i="1">
                        <a:solidFill>
                          <a:srgbClr val="111827"/>
                        </a:solidFill>
                        <a:latin typeface="Cambria Math" panose="02040503050406030204" pitchFamily="18" charset="0"/>
                      </a:rPr>
                      <m:t>𝑙𝑐𝑚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Divisibility conditions repeat with period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lcm of the divisors; if the range is a whole number of periods (</a:t>
                </a:r>
                <a14:m>
                  <m:oMath xmlns:m="http://schemas.openxmlformats.org/officeDocument/2006/math">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the count is (periods)</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(good residues).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Wording cue: 'not divisible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normally means 'by neither'; 'not divisible by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(or by both) gives a different count (</a:t>
                </a:r>
                <a14:m>
                  <m:oMath xmlns:m="http://schemas.openxmlformats.org/officeDocument/2006/math">
                    <m:r>
                      <a:rPr lang="en-IN" sz="2400" i="1">
                        <a:solidFill>
                          <a:srgbClr val="111827"/>
                        </a:solidFill>
                        <a:latin typeface="Cambria Math" panose="02040503050406030204" pitchFamily="18" charset="0"/>
                      </a:rPr>
                      <m:t>125</m:t>
                    </m:r>
                  </m:oMath>
                </a14:m>
                <a:r>
                  <a:rPr sz="2400" b="0">
                    <a:solidFill>
                      <a:srgbClr val="111827"/>
                    </a:solidFill>
                    <a:latin typeface="Arial"/>
                  </a:rPr>
                  <a:t>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divisible by both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multiples of </a:t>
                </a:r>
                <a:r>
                  <a:rPr lang="en-IN" sz="2400">
                    <a:solidFill>
                      <a:srgbClr val="111827"/>
                    </a:solidFill>
                    <a:latin typeface="Cambria Math" panose="02040503050406030204" pitchFamily="18" charset="0"/>
                  </a:rPr>
                  <a:t>$\text{lcm}(a,b)$</a:t>
                </a:r>
                <a:r>
                  <a:rPr sz="2400" b="0">
                    <a:solidFill>
                      <a:srgbClr val="111827"/>
                    </a:solidFill>
                    <a:latin typeface="Arial"/>
                  </a:rPr>
                  <a:t>; </a:t>
                </a:r>
                <a:r>
                  <a:rPr lang="en-IN" sz="2400">
                    <a:solidFill>
                      <a:srgbClr val="111827"/>
                    </a:solidFill>
                    <a:latin typeface="Cambria Math" panose="02040503050406030204" pitchFamily="18" charset="0"/>
                  </a:rPr>
                  <a:t>$|A\cup B|=|A|+|B|-|A\cap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Divisibility conditions repeat with period </a:t>
                </a:r>
                <a:r>
                  <a:rPr lang="en-IN" sz="2400">
                    <a:solidFill>
                      <a:srgbClr val="111827"/>
                    </a:solidFill>
                    <a:latin typeface="Cambria Math" panose="02040503050406030204" pitchFamily="18" charset="0"/>
                  </a:rPr>
                  <a:t>$=$</a:t>
                </a:r>
                <a:r>
                  <a:rPr sz="2400" b="0">
                    <a:solidFill>
                      <a:srgbClr val="111827"/>
                    </a:solidFill>
                    <a:latin typeface="Arial"/>
                  </a:rPr>
                  <a:t> lcm of the divisors; if the range is a whole number of periods (</a:t>
                </a:r>
                <a:r>
                  <a:rPr lang="en-IN" sz="2400">
                    <a:solidFill>
                      <a:srgbClr val="111827"/>
                    </a:solidFill>
                    <a:latin typeface="Cambria Math" panose="02040503050406030204" pitchFamily="18" charset="0"/>
                  </a:rPr>
                  <a:t>$900=25\times36$</a:t>
                </a:r>
                <a:r>
                  <a:rPr sz="2400" b="0">
                    <a:solidFill>
                      <a:srgbClr val="111827"/>
                    </a:solidFill>
                    <a:latin typeface="Arial"/>
                  </a:rPr>
                  <a:t>), the count is (periods)</a:t>
                </a:r>
                <a:r>
                  <a:rPr lang="en-IN" sz="2400">
                    <a:solidFill>
                      <a:srgbClr val="111827"/>
                    </a:solidFill>
                    <a:latin typeface="Cambria Math" panose="02040503050406030204" pitchFamily="18" charset="0"/>
                  </a:rPr>
                  <a:t>$\times$</a:t>
                </a:r>
                <a:r>
                  <a:rPr sz="2400" b="0">
                    <a:solidFill>
                      <a:srgbClr val="111827"/>
                    </a:solidFill>
                    <a:latin typeface="Arial"/>
                  </a:rPr>
                  <a:t>(good residues).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Wording cue: 'not divisible by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normally means 'by neither'; 'not divisible by </a:t>
                </a:r>
                <a:r>
                  <a:rPr lang="en-IN" sz="2400">
                    <a:solidFill>
                      <a:srgbClr val="111827"/>
                    </a:solidFill>
                    <a:latin typeface="Cambria Math" panose="02040503050406030204" pitchFamily="18" charset="0"/>
                  </a:rPr>
                  <a:t>$ab$</a:t>
                </a:r>
                <a:r>
                  <a:rPr sz="2400" b="0">
                    <a:solidFill>
                      <a:srgbClr val="111827"/>
                    </a:solidFill>
                    <a:latin typeface="Arial"/>
                  </a:rPr>
                  <a:t>' (or by both) gives a different count (</a:t>
                </a:r>
                <a:r>
                  <a:rPr lang="en-IN" sz="2400">
                    <a:solidFill>
                      <a:srgbClr val="111827"/>
                    </a:solidFill>
                    <a:latin typeface="Cambria Math" panose="02040503050406030204" pitchFamily="18" charset="0"/>
                  </a:rPr>
                  <a:t>$125$</a:t>
                </a:r>
                <a:r>
                  <a:rPr sz="2400" b="0">
                    <a:solidFill>
                      <a:srgbClr val="111827"/>
                    </a:solidFill>
                    <a:latin typeface="Arial"/>
                  </a:rPr>
                  <a:t> here).</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the sum to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an arithmetic progression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&lt;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e>
                        </m:nary>
                      </m:e>
                    </m: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equals 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$S_n$</a:t>
                </a:r>
                <a:r>
                  <a:rPr sz="2400" b="0">
                    <a:solidFill>
                      <a:srgbClr val="111827"/>
                    </a:solidFill>
                    <a:latin typeface="Arial"/>
                  </a:rPr>
                  <a:t> be the sum to </a:t>
                </a:r>
                <a:r>
                  <a:rPr lang="en-IN" sz="2400">
                    <a:solidFill>
                      <a:srgbClr val="111827"/>
                    </a:solidFill>
                    <a:latin typeface="Cambria Math" panose="02040503050406030204" pitchFamily="18" charset="0"/>
                  </a:rPr>
                  <a:t>$n$</a:t>
                </a:r>
                <a:r>
                  <a:rPr sz="2400" b="0">
                    <a:solidFill>
                      <a:srgbClr val="111827"/>
                    </a:solidFill>
                    <a:latin typeface="Arial"/>
                  </a:rPr>
                  <a:t> terms of an arithmetic progression </a:t>
                </a:r>
                <a:r>
                  <a:rPr lang="en-IN" sz="2400">
                    <a:solidFill>
                      <a:srgbClr val="111827"/>
                    </a:solidFill>
                    <a:latin typeface="Cambria Math" panose="02040503050406030204" pitchFamily="18" charset="0"/>
                  </a:rPr>
                  <a:t>$3,7,11,\dots$</a:t>
                </a:r>
                <a:r>
                  <a:rPr sz="2400" b="0">
                    <a:solidFill>
                      <a:srgbClr val="111827"/>
                    </a:solidFill>
                    <a:latin typeface="Arial"/>
                  </a:rPr>
                  <a:t> If </a:t>
                </a:r>
                <a:r>
                  <a:rPr lang="en-IN" sz="2400">
                    <a:solidFill>
                      <a:srgbClr val="111827"/>
                    </a:solidFill>
                    <a:latin typeface="Cambria Math" panose="02040503050406030204" pitchFamily="18" charset="0"/>
                  </a:rPr>
                  <a:t>$40&lt;\left(\frac{6}{n(n+1)}\sum_{k=1}^{n}S_k\right)&lt;42$</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equals ______.</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an A.P. and standard summation formulae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𝑘</m:t>
                        </m:r>
                      </m:sub>
                    </m:sSub>
                  </m:oMath>
                </a14:m>
                <a:r>
                  <a:rPr sz="2400" b="0">
                    <a:solidFill>
                      <a:srgbClr val="78350F"/>
                    </a:solidFill>
                    <a:latin typeface="Arial"/>
                  </a:rPr>
                  <a:t> is a cubic and the bracket collapses to the linear expression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$S_k=k(2k+1)$</a:t>
                </a:r>
                <a:r>
                  <a:rPr sz="2400" b="0">
                    <a:solidFill>
                      <a:srgbClr val="78350F"/>
                    </a:solidFill>
                    <a:latin typeface="Arial"/>
                  </a:rPr>
                  <a:t>, so </a:t>
                </a:r>
                <a:r>
                  <a:rPr lang="en-IN" sz="2400">
                    <a:solidFill>
                      <a:srgbClr val="78350F"/>
                    </a:solidFill>
                    <a:latin typeface="Cambria Math" panose="02040503050406030204" pitchFamily="18" charset="0"/>
                  </a:rPr>
                  <a:t>$\sum S_k$</a:t>
                </a:r>
                <a:r>
                  <a:rPr sz="2400" b="0">
                    <a:solidFill>
                      <a:srgbClr val="78350F"/>
                    </a:solidFill>
                    <a:latin typeface="Arial"/>
                  </a:rPr>
                  <a:t> is a cubic and the bracket collapses to the linear expression </a:t>
                </a:r>
                <a:r>
                  <a:rPr lang="en-IN" sz="2400">
                    <a:solidFill>
                      <a:srgbClr val="78350F"/>
                    </a:solidFill>
                    <a:latin typeface="Cambria Math" panose="02040503050406030204" pitchFamily="18" charset="0"/>
                  </a:rPr>
                  <a:t>$4n+5$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the bracket equals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8.75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an integer,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$S_k=\frac k2\left[6+(k-1)4\right]=k(2k+1)=2k^2+k$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$\sum_{k=1}^{n}S_k=\frac{2n(n+1)(2n+1)}{6}+\frac{n(n+1)}2$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Multiplying by </a:t>
                </a:r>
                <a:r>
                  <a:rPr lang="en-IN" sz="2400">
                    <a:solidFill>
                      <a:srgbClr val="111827"/>
                    </a:solidFill>
                    <a:latin typeface="Cambria Math" panose="02040503050406030204" pitchFamily="18" charset="0"/>
                  </a:rPr>
                  <a:t>$\frac6{n(n+1)}$</a:t>
                </a:r>
                <a:r>
                  <a:rPr sz="2400" b="0">
                    <a:solidFill>
                      <a:srgbClr val="111827"/>
                    </a:solidFill>
                    <a:latin typeface="Arial"/>
                  </a:rPr>
                  <a:t>: the bracket equals </a:t>
                </a:r>
                <a:r>
                  <a:rPr lang="en-IN" sz="2400">
                    <a:solidFill>
                      <a:srgbClr val="111827"/>
                    </a:solidFill>
                    <a:latin typeface="Cambria Math" panose="02040503050406030204" pitchFamily="18" charset="0"/>
                  </a:rPr>
                  <a:t>$2(2n+1)+3=4n+5$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$40&lt;4n+5&lt;42\Rightarrow35&lt;4n&lt;37$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$8.75&lt;n&lt;9.25$</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is an integer, so </a:t>
                </a:r>
                <a:r>
                  <a:rPr lang="en-IN" sz="2400">
                    <a:solidFill>
                      <a:srgbClr val="111827"/>
                    </a:solidFill>
                    <a:latin typeface="Cambria Math" panose="02040503050406030204" pitchFamily="18" charset="0"/>
                  </a:rPr>
                  <a:t>$n=9$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avoiding the sum of squares.</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$k(2k+1)=2k(k+1)-k$</a:t>
                </a:r>
                <a:r>
                  <a:rPr sz="2400" b="0">
                    <a:solidFill>
                      <a:srgbClr val="78350F"/>
                    </a:solidFill>
                    <a:latin typeface="Arial"/>
                  </a:rPr>
                  <a:t> and use </a:t>
                </a:r>
                <a:r>
                  <a:rPr lang="en-IN" sz="2400">
                    <a:solidFill>
                      <a:srgbClr val="78350F"/>
                    </a:solidFill>
                    <a:latin typeface="Cambria Math" panose="02040503050406030204" pitchFamily="18" charset="0"/>
                  </a:rPr>
                  <a:t>$\sum k(k+1)=\frac{n(n+1)(n+2)}3$</a:t>
                </a:r>
                <a:r>
                  <a:rPr sz="2400" b="0">
                    <a:solidFill>
                      <a:srgbClr val="78350F"/>
                    </a:solidFill>
                    <a:latin typeface="Arial"/>
                  </a:rPr>
                  <a:t>, avoiding the sum of squares.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𝑘</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(telescoping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$S_k=2k^2+k=2k(k+1)-k$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$\sum_{k=1}^{n}k(k+1)=\frac{n(n+1)(n+2)}3$</a:t>
                </a:r>
                <a:r>
                  <a:rPr sz="2400" b="0">
                    <a:solidFill>
                      <a:srgbClr val="111827"/>
                    </a:solidFill>
                    <a:latin typeface="Arial"/>
                  </a:rPr>
                  <a:t> (telescoping </a:t>
                </a:r>
                <a:r>
                  <a:rPr lang="en-IN" sz="2400">
                    <a:solidFill>
                      <a:srgbClr val="111827"/>
                    </a:solidFill>
                    <a:latin typeface="Cambria Math" panose="02040503050406030204" pitchFamily="18" charset="0"/>
                  </a:rPr>
                  <a:t>$k(k+1)=\frac{k(k+1)(k+2)-(k-1)k(k+1)}3$</a:t>
                </a:r>
                <a:r>
                  <a:rPr sz="2400" b="0">
                    <a:solidFill>
                      <a:srgbClr val="111827"/>
                    </a:solidFill>
                    <a:latin typeface="Arial"/>
                  </a:rPr>
                  <a:t>), so </a:t>
                </a:r>
                <a:r>
                  <a:rPr lang="en-IN" sz="2400">
                    <a:solidFill>
                      <a:srgbClr val="111827"/>
                    </a:solidFill>
                    <a:latin typeface="Cambria Math" panose="02040503050406030204" pitchFamily="18" charset="0"/>
                  </a:rPr>
                  <a:t>$\sum S_k=\frac{2n(n+1)(n+2)}{3}-\frac{n(n+1)}2$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$\frac6{n(n+1)}\sum S_k=4(n+2)-3=4n+5$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$40&lt;4n+5&lt;42\Rightarrow n=9$</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oMath>
                </a14:m>
                <a:r>
                  <a:rPr sz="2400" b="0">
                    <a:solidFill>
                      <a:srgbClr val="111827"/>
                    </a:solidFill>
                    <a:latin typeface="Arial"/>
                  </a:rPr>
                  <a:t> (a linear function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 double inequality in an integer unknown: solve the interval, then test the integers in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$S_k=pk^2+qk$</a:t>
                </a:r>
                <a:r>
                  <a:rPr sz="2400" b="0">
                    <a:solidFill>
                      <a:srgbClr val="111827"/>
                    </a:solidFill>
                    <a:latin typeface="Arial"/>
                  </a:rPr>
                  <a:t>, then </a:t>
                </a:r>
                <a:r>
                  <a:rPr lang="en-IN" sz="2400">
                    <a:solidFill>
                      <a:srgbClr val="111827"/>
                    </a:solidFill>
                    <a:latin typeface="Cambria Math" panose="02040503050406030204" pitchFamily="18" charset="0"/>
                  </a:rPr>
                  <a:t>$\frac{6}{n(n+1)}\sum_{k=1}^nS_k=p(2n+1)+3q$</a:t>
                </a:r>
                <a:r>
                  <a:rPr sz="2400" b="0">
                    <a:solidFill>
                      <a:srgbClr val="111827"/>
                    </a:solidFill>
                    <a:latin typeface="Arial"/>
                  </a:rPr>
                  <a:t> (a linear function of </a:t>
                </a:r>
                <a:r>
                  <a:rPr lang="en-IN" sz="2400">
                    <a:solidFill>
                      <a:srgbClr val="111827"/>
                    </a:solidFill>
                    <a:latin typeface="Cambria Math" panose="02040503050406030204" pitchFamily="18" charset="0"/>
                  </a:rPr>
                  <a:t>$n$</a:t>
                </a:r>
                <a:r>
                  <a:rPr sz="2400" b="0">
                    <a:solidFill>
                      <a:srgbClr val="111827"/>
                    </a:solidFill>
                    <a:latin typeface="Arial"/>
                  </a:rPr>
                  <a:t>). Check: </a:t>
                </a:r>
                <a:r>
                  <a:rPr lang="en-IN" sz="2400">
                    <a:solidFill>
                      <a:srgbClr val="111827"/>
                    </a:solidFill>
                    <a:latin typeface="Cambria Math" panose="02040503050406030204" pitchFamily="18" charset="0"/>
                  </a:rPr>
                  <a:t>$p=2,q=1$</a:t>
                </a:r>
                <a:r>
                  <a:rPr sz="2400" b="0">
                    <a:solidFill>
                      <a:srgbClr val="111827"/>
                    </a:solidFill>
                    <a:latin typeface="Arial"/>
                  </a:rPr>
                  <a:t> gives </a:t>
                </a:r>
                <a:r>
                  <a:rPr lang="en-IN" sz="2400">
                    <a:solidFill>
                      <a:srgbClr val="111827"/>
                    </a:solidFill>
                    <a:latin typeface="Cambria Math" panose="02040503050406030204" pitchFamily="18" charset="0"/>
                  </a:rPr>
                  <a:t>$4n+5$</a:t>
                </a:r>
                <a:r>
                  <a:rPr sz="2400" b="0">
                    <a:solidFill>
                      <a:srgbClr val="111827"/>
                    </a:solidFill>
                    <a:latin typeface="Arial"/>
                  </a:rPr>
                  <a:t>;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$S_1=3$</a:t>
                </a:r>
                <a:r>
                  <a:rPr sz="2400" b="0">
                    <a:solidFill>
                      <a:srgbClr val="111827"/>
                    </a:solidFill>
                    <a:latin typeface="Arial"/>
                  </a:rPr>
                  <a:t> and </a:t>
                </a:r>
                <a:r>
                  <a:rPr lang="en-IN" sz="2400">
                    <a:solidFill>
                      <a:srgbClr val="111827"/>
                    </a:solidFill>
                    <a:latin typeface="Cambria Math" panose="02040503050406030204" pitchFamily="18" charset="0"/>
                  </a:rPr>
                  <a:t>$6/2\cdot3=9=4+5$</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k=\frac{n(n+1)}2$</a:t>
                </a:r>
                <a:r>
                  <a:rPr sz="2400" b="0">
                    <a:solidFill>
                      <a:srgbClr val="111827"/>
                    </a:solidFill>
                    <a:latin typeface="Arial"/>
                  </a:rPr>
                  <a:t>, </a:t>
                </a:r>
                <a:r>
                  <a:rPr lang="en-IN" sz="2400">
                    <a:solidFill>
                      <a:srgbClr val="111827"/>
                    </a:solidFill>
                    <a:latin typeface="Cambria Math" panose="02040503050406030204" pitchFamily="18" charset="0"/>
                  </a:rPr>
                  <a:t>$\sum k^2=\frac{n(n+1)(2n+1)}6$</a:t>
                </a:r>
                <a:r>
                  <a:rPr sz="2400" b="0">
                    <a:solidFill>
                      <a:srgbClr val="111827"/>
                    </a:solidFill>
                    <a:latin typeface="Arial"/>
                  </a:rPr>
                  <a:t>, </a:t>
                </a:r>
                <a:r>
                  <a:rPr lang="en-IN" sz="2400">
                    <a:solidFill>
                      <a:srgbClr val="111827"/>
                    </a:solidFill>
                    <a:latin typeface="Cambria Math" panose="02040503050406030204" pitchFamily="18" charset="0"/>
                  </a:rPr>
                  <a:t>$\sum k(k+1)=\frac{n(n+1)(n+2)}3$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 double inequality in an integer unknown: solve the interval, then test the integers in it.</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symmetric matrix such that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7</m:t>
                              </m:r>
                            </m:e>
                          </m:mr>
                        </m:m>
                      </m:e>
                    </m:d>
                  </m:oMath>
                </a14:m>
                <a:r>
                  <a:rPr sz="2400" b="0">
                    <a:solidFill>
                      <a:srgbClr val="111827"/>
                    </a:solidFill>
                    <a:latin typeface="Arial"/>
                  </a:rPr>
                  <a:t> and the determinant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𝐼</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is an identity matrix of order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equals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a </a:t>
                </a:r>
                <a:r>
                  <a:rPr lang="en-IN" sz="2400">
                    <a:solidFill>
                      <a:srgbClr val="111827"/>
                    </a:solidFill>
                    <a:latin typeface="Cambria Math" panose="02040503050406030204" pitchFamily="18" charset="0"/>
                  </a:rPr>
                  <a:t>$2\times2$</a:t>
                </a:r>
                <a:r>
                  <a:rPr sz="2400" b="0">
                    <a:solidFill>
                      <a:srgbClr val="111827"/>
                    </a:solidFill>
                    <a:latin typeface="Arial"/>
                  </a:rPr>
                  <a:t> symmetric matrix such that </a:t>
                </a:r>
                <a:r>
                  <a:rPr lang="en-IN" sz="2400">
                    <a:solidFill>
                      <a:srgbClr val="111827"/>
                    </a:solidFill>
                    <a:latin typeface="Cambria Math" panose="02040503050406030204" pitchFamily="18" charset="0"/>
                  </a:rPr>
                  <a:t>$A\begin{pmatrix}1\\1\end{pmatrix}=\begin{pmatrix}3\\7\end{pmatrix}$</a:t>
                </a:r>
                <a:r>
                  <a:rPr sz="2400" b="0">
                    <a:solidFill>
                      <a:srgbClr val="111827"/>
                    </a:solidFill>
                    <a:latin typeface="Arial"/>
                  </a:rPr>
                  <a:t> and the determinant of </a:t>
                </a:r>
                <a:r>
                  <a:rPr lang="en-IN" sz="2400">
                    <a:solidFill>
                      <a:srgbClr val="111827"/>
                    </a:solidFill>
                    <a:latin typeface="Cambria Math" panose="02040503050406030204" pitchFamily="18" charset="0"/>
                  </a:rPr>
                  <a:t>$A$</a:t>
                </a:r>
                <a:r>
                  <a:rPr sz="2400" b="0">
                    <a:solidFill>
                      <a:srgbClr val="111827"/>
                    </a:solidFill>
                    <a:latin typeface="Arial"/>
                  </a:rPr>
                  <a:t> be </a:t>
                </a:r>
                <a:r>
                  <a:rPr lang="en-IN" sz="2400">
                    <a:solidFill>
                      <a:srgbClr val="111827"/>
                    </a:solidFill>
                    <a:latin typeface="Cambria Math" panose="02040503050406030204" pitchFamily="18" charset="0"/>
                  </a:rPr>
                  <a:t>$1$</a:t>
                </a:r>
                <a:r>
                  <a:rPr sz="2400" b="0">
                    <a:solidFill>
                      <a:srgbClr val="111827"/>
                    </a:solidFill>
                    <a:latin typeface="Arial"/>
                  </a:rPr>
                  <a:t>. If </a:t>
                </a:r>
                <a:r>
                  <a:rPr lang="en-IN" sz="2400">
                    <a:solidFill>
                      <a:srgbClr val="111827"/>
                    </a:solidFill>
                    <a:latin typeface="Cambria Math" panose="02040503050406030204" pitchFamily="18" charset="0"/>
                  </a:rPr>
                  <a:t>$A^{-1}=\alpha A+\beta I$</a:t>
                </a:r>
                <a:r>
                  <a:rPr sz="2400" b="0">
                    <a:solidFill>
                      <a:srgbClr val="111827"/>
                    </a:solidFill>
                    <a:latin typeface="Arial"/>
                  </a:rPr>
                  <a:t>, where </a:t>
                </a:r>
                <a:r>
                  <a:rPr lang="en-IN" sz="2400">
                    <a:solidFill>
                      <a:srgbClr val="111827"/>
                    </a:solidFill>
                    <a:latin typeface="Cambria Math" panose="02040503050406030204" pitchFamily="18" charset="0"/>
                  </a:rPr>
                  <a:t>$I$</a:t>
                </a:r>
                <a:r>
                  <a:rPr sz="2400" b="0">
                    <a:solidFill>
                      <a:srgbClr val="111827"/>
                    </a:solidFill>
                    <a:latin typeface="Arial"/>
                  </a:rPr>
                  <a:t> is an identity matrix of order </a:t>
                </a:r>
                <a:r>
                  <a:rPr lang="en-IN" sz="2400">
                    <a:solidFill>
                      <a:srgbClr val="111827"/>
                    </a:solidFill>
                    <a:latin typeface="Cambria Math" panose="02040503050406030204" pitchFamily="18" charset="0"/>
                  </a:rPr>
                  <a:t>$2\times2$</a:t>
                </a:r>
                <a:r>
                  <a:rPr sz="2400" b="0">
                    <a:solidFill>
                      <a:srgbClr val="111827"/>
                    </a:solidFill>
                    <a:latin typeface="Arial"/>
                  </a:rPr>
                  <a:t>, then </a:t>
                </a:r>
                <a:r>
                  <a:rPr lang="en-IN" sz="2400">
                    <a:solidFill>
                      <a:srgbClr val="111827"/>
                    </a:solidFill>
                    <a:latin typeface="Cambria Math" panose="02040503050406030204" pitchFamily="18" charset="0"/>
                  </a:rPr>
                  <a:t>$\alpha+\beta$</a:t>
                </a:r>
                <a:r>
                  <a:rPr sz="2400" b="0">
                    <a:solidFill>
                      <a:srgbClr val="111827"/>
                    </a:solidFill>
                    <a:latin typeface="Arial"/>
                  </a:rPr>
                  <a:t> equals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Symmetric matrix and inverse of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Symmetric matrix and inverse of a </a:t>
                </a:r>
                <a:r>
                  <a:rPr lang="en-IN" sz="2400">
                    <a:solidFill>
                      <a:srgbClr val="111827"/>
                    </a:solidFill>
                    <a:latin typeface="Cambria Math" panose="02040503050406030204" pitchFamily="18" charset="0"/>
                  </a:rPr>
                  <a:t>$2\times2$</a:t>
                </a:r>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matrix has three unknowns; the two row sums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fix them, then compare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a:rPr lang="en-IN" sz="2400" i="1">
                        <a:solidFill>
                          <a:srgbClr val="78350F"/>
                        </a:solidFill>
                        <a:latin typeface="Cambria Math" panose="02040503050406030204" pitchFamily="18" charset="0"/>
                      </a:rPr>
                      <m:t>𝐼</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a:t>
                </a:r>
                <a:r>
                  <a:rPr lang="en-IN" sz="2400">
                    <a:solidFill>
                      <a:srgbClr val="78350F"/>
                    </a:solidFill>
                    <a:latin typeface="Cambria Math" panose="02040503050406030204" pitchFamily="18" charset="0"/>
                  </a:rPr>
                  <a:t>$2\times2$</a:t>
                </a:r>
                <a:r>
                  <a:rPr sz="2400" b="0">
                    <a:solidFill>
                      <a:srgbClr val="78350F"/>
                    </a:solidFill>
                    <a:latin typeface="Arial"/>
                  </a:rPr>
                  <a:t> matrix has three unknowns; the two row sums and </a:t>
                </a:r>
                <a:r>
                  <a:rPr lang="en-IN" sz="2400">
                    <a:solidFill>
                      <a:srgbClr val="78350F"/>
                    </a:solidFill>
                    <a:latin typeface="Cambria Math" panose="02040503050406030204" pitchFamily="18" charset="0"/>
                  </a:rPr>
                  <a:t>$|A|=1$</a:t>
                </a:r>
                <a:r>
                  <a:rPr sz="2400" b="0">
                    <a:solidFill>
                      <a:srgbClr val="78350F"/>
                    </a:solidFill>
                    <a:latin typeface="Arial"/>
                  </a:rPr>
                  <a:t> fix them, then compare </a:t>
                </a:r>
                <a:r>
                  <a:rPr lang="en-IN" sz="2400">
                    <a:solidFill>
                      <a:srgbClr val="78350F"/>
                    </a:solidFill>
                    <a:latin typeface="Cambria Math" panose="02040503050406030204" pitchFamily="18" charset="0"/>
                  </a:rPr>
                  <a:t>$A^{-1}$</a:t>
                </a:r>
                <a:r>
                  <a:rPr sz="2400" b="0">
                    <a:solidFill>
                      <a:srgbClr val="78350F"/>
                    </a:solidFill>
                    <a:latin typeface="Arial"/>
                  </a:rPr>
                  <a:t> with </a:t>
                </a:r>
                <a:r>
                  <a:rPr lang="en-IN" sz="2400">
                    <a:solidFill>
                      <a:srgbClr val="78350F"/>
                    </a:solidFill>
                    <a:latin typeface="Cambria Math" panose="02040503050406030204" pitchFamily="18" charset="0"/>
                  </a:rPr>
                  <a:t>$\alpha A+\beta 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𝑏</m:t>
                              </m:r>
                            </m:e>
                            <m:e>
                              <m:r>
                                <a:rPr lang="en-IN" sz="2400" i="1">
                                  <a:solidFill>
                                    <a:srgbClr val="111827"/>
                                  </a:solidFill>
                                  <a:latin typeface="Cambria Math" panose="02040503050406030204" pitchFamily="18" charset="0"/>
                                </a:rPr>
                                <m:t>𝑑</m:t>
                              </m:r>
                            </m:e>
                          </m:mr>
                        </m:m>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7</m:t>
                              </m:r>
                            </m:e>
                          </m:mr>
                        </m:m>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$A=\begin{pmatrix}a&amp;b\\b&amp;d\end{pmatrix}$</a:t>
                </a:r>
                <a:r>
                  <a:rPr sz="2400" b="0">
                    <a:solidFill>
                      <a:srgbClr val="111827"/>
                    </a:solidFill>
                    <a:latin typeface="Arial"/>
                  </a:rPr>
                  <a:t>. Then </a:t>
                </a:r>
                <a:r>
                  <a:rPr lang="en-IN" sz="2400">
                    <a:solidFill>
                      <a:srgbClr val="111827"/>
                    </a:solidFill>
                    <a:latin typeface="Cambria Math" panose="02040503050406030204" pitchFamily="18" charset="0"/>
                  </a:rPr>
                  <a:t>$A\begin{pmatrix}1\\1\end{pmatrix}=\begin{pmatrix}a+b\\b+d\end{pmatrix}=\begin{pmatrix}3\\7\end{pmatrix}$</a:t>
                </a:r>
                <a:r>
                  <a:rPr sz="2400" b="0">
                    <a:solidFill>
                      <a:srgbClr val="111827"/>
                    </a:solidFill>
                    <a:latin typeface="Arial"/>
                  </a:rPr>
                  <a:t>, so </a:t>
                </a:r>
                <a:r>
                  <a:rPr lang="en-IN" sz="2400">
                    <a:solidFill>
                      <a:srgbClr val="111827"/>
                    </a:solidFill>
                    <a:latin typeface="Cambria Math" panose="02040503050406030204" pitchFamily="18" charset="0"/>
                  </a:rPr>
                  <a:t>$a+b=3$</a:t>
                </a:r>
                <a:r>
                  <a:rPr sz="2400" b="0">
                    <a:solidFill>
                      <a:srgbClr val="111827"/>
                    </a:solidFill>
                    <a:latin typeface="Arial"/>
                  </a:rPr>
                  <a:t>, </a:t>
                </a:r>
                <a:r>
                  <a:rPr lang="en-IN" sz="2400">
                    <a:solidFill>
                      <a:srgbClr val="111827"/>
                    </a:solidFill>
                    <a:latin typeface="Cambria Math" panose="02040503050406030204" pitchFamily="18" charset="0"/>
                  </a:rPr>
                  <a:t>$b+d=7$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$|A|=ad-b^2=1$</a:t>
                </a:r>
                <a:r>
                  <a:rPr sz="2400" b="0">
                    <a:solidFill>
                      <a:srgbClr val="111827"/>
                    </a:solidFill>
                    <a:latin typeface="Arial"/>
                  </a:rPr>
                  <a:t>, so </a:t>
                </a:r>
                <a:r>
                  <a:rPr lang="en-IN" sz="2400">
                    <a:solidFill>
                      <a:srgbClr val="111827"/>
                    </a:solidFill>
                    <a:latin typeface="Cambria Math" panose="02040503050406030204" pitchFamily="18" charset="0"/>
                  </a:rPr>
                  <a:t>$(3-b)(7-b)-b^2=1$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$21-10b=1\Rightarrow b=2$</a:t>
                </a:r>
                <a:r>
                  <a:rPr sz="2400" b="0">
                    <a:solidFill>
                      <a:srgbClr val="111827"/>
                    </a:solidFill>
                    <a:latin typeface="Arial"/>
                  </a:rPr>
                  <a:t>, hence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$d=5$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5</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e>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e>
                          </m:mr>
                          <m:m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e>
                            <m:e>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e>
                          </m:mr>
                        </m:m>
                      </m:e>
                    </m:d>
                  </m:oMath>
                </a14:m>
                <a:r>
                  <a:rPr sz="2400" b="0">
                    <a:solidFill>
                      <a:srgbClr val="111827"/>
                    </a:solidFill>
                    <a:latin typeface="Arial"/>
                  </a:rPr>
                  <a:t>; comparing with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the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entry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$A^{-1}=\frac1{|A|}\operatorname{adj}A=\begin{pmatrix}5&amp;-2\\-2&amp;1\end{pmatrix}$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 A+\beta I=\begin{pmatrix}\alpha+\beta&amp;2\alpha\\2\alpha&amp;5\alpha+\beta\end{pmatrix}$</a:t>
                </a:r>
                <a:r>
                  <a:rPr sz="2400" b="0">
                    <a:solidFill>
                      <a:srgbClr val="111827"/>
                    </a:solidFill>
                    <a:latin typeface="Arial"/>
                  </a:rPr>
                  <a:t>; comparing with </a:t>
                </a:r>
                <a:r>
                  <a:rPr lang="en-IN" sz="2400">
                    <a:solidFill>
                      <a:srgbClr val="111827"/>
                    </a:solidFill>
                    <a:latin typeface="Cambria Math" panose="02040503050406030204" pitchFamily="18" charset="0"/>
                  </a:rPr>
                  <a:t>$A^{-1}$</a:t>
                </a:r>
                <a:r>
                  <a:rPr sz="2400" b="0">
                    <a:solidFill>
                      <a:srgbClr val="111827"/>
                    </a:solidFill>
                    <a:latin typeface="Arial"/>
                  </a:rPr>
                  <a:t>, the </a:t>
                </a:r>
                <a:r>
                  <a:rPr lang="en-IN" sz="2400">
                    <a:solidFill>
                      <a:srgbClr val="111827"/>
                    </a:solidFill>
                    <a:latin typeface="Cambria Math" panose="02040503050406030204" pitchFamily="18" charset="0"/>
                  </a:rPr>
                  <a:t>$(1,1)$</a:t>
                </a:r>
                <a:r>
                  <a:rPr sz="2400" b="0">
                    <a:solidFill>
                      <a:srgbClr val="111827"/>
                    </a:solidFill>
                    <a:latin typeface="Arial"/>
                  </a:rPr>
                  <a:t> entry gives </a:t>
                </a:r>
                <a:r>
                  <a:rPr lang="en-IN" sz="2400">
                    <a:solidFill>
                      <a:srgbClr val="111827"/>
                    </a:solidFill>
                    <a:latin typeface="Cambria Math" panose="02040503050406030204" pitchFamily="18" charset="0"/>
                  </a:rPr>
                  <a:t>$\alpha+\beta=5$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a:t>
                </a:r>
                <a:r>
                  <a:rPr lang="en-IN" sz="2400">
                    <a:solidFill>
                      <a:srgbClr val="111827"/>
                    </a:solidFill>
                    <a:latin typeface="Cambria Math" panose="02040503050406030204" pitchFamily="18" charset="0"/>
                  </a:rPr>
                  <a:t>$2\alpha=-2\Rightarrow\alpha=-1$</a:t>
                </a:r>
                <a:r>
                  <a:rPr sz="2400" b="0">
                    <a:solidFill>
                      <a:srgbClr val="111827"/>
                    </a:solidFill>
                    <a:latin typeface="Arial"/>
                  </a:rPr>
                  <a:t>, </a:t>
                </a:r>
                <a:r>
                  <a:rPr lang="en-IN" sz="2400">
                    <a:solidFill>
                      <a:srgbClr val="111827"/>
                    </a:solidFill>
                    <a:latin typeface="Cambria Math" panose="02040503050406030204" pitchFamily="18" charset="0"/>
                  </a:rPr>
                  <a:t>$\beta=6$</a:t>
                </a:r>
                <a:r>
                  <a:rPr sz="2400" b="0">
                    <a:solidFill>
                      <a:srgbClr val="111827"/>
                    </a:solidFill>
                    <a:latin typeface="Arial"/>
                  </a:rPr>
                  <a:t>, and </a:t>
                </a:r>
                <a:r>
                  <a:rPr lang="en-IN" sz="2400">
                    <a:solidFill>
                      <a:srgbClr val="111827"/>
                    </a:solidFill>
                    <a:latin typeface="Cambria Math" panose="02040503050406030204" pitchFamily="18" charset="0"/>
                  </a:rPr>
                  <a:t>$5\alpha+\beta=1$</a:t>
                </a:r>
                <a:r>
                  <a:rPr sz="2400" b="0">
                    <a:solidFill>
                      <a:srgbClr val="111827"/>
                    </a:solidFill>
                    <a:latin typeface="Arial"/>
                  </a:rPr>
                  <a:t> ✓.) So </a:t>
                </a:r>
                <a:r>
                  <a:rPr lang="en-IN" sz="2400">
                    <a:solidFill>
                      <a:srgbClr val="111827"/>
                    </a:solidFill>
                    <a:latin typeface="Cambria Math" panose="02040503050406030204" pitchFamily="18" charset="0"/>
                  </a:rPr>
                  <a:t>$\alpha+\beta=5$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Cayley–Hamilton for a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matrix with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gives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𝑡𝑟</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 at once: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𝑡𝑟</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Cayley–Hamilton for a </a:t>
                </a:r>
                <a:r>
                  <a:rPr lang="en-IN" sz="2400">
                    <a:solidFill>
                      <a:srgbClr val="78350F"/>
                    </a:solidFill>
                    <a:latin typeface="Cambria Math" panose="02040503050406030204" pitchFamily="18" charset="0"/>
                  </a:rPr>
                  <a:t>$2\times2$</a:t>
                </a:r>
                <a:r>
                  <a:rPr sz="2400" b="0">
                    <a:solidFill>
                      <a:srgbClr val="78350F"/>
                    </a:solidFill>
                    <a:latin typeface="Arial"/>
                  </a:rPr>
                  <a:t> matrix with </a:t>
                </a:r>
                <a:r>
                  <a:rPr lang="en-IN" sz="2400">
                    <a:solidFill>
                      <a:srgbClr val="78350F"/>
                    </a:solidFill>
                    <a:latin typeface="Cambria Math" panose="02040503050406030204" pitchFamily="18" charset="0"/>
                  </a:rPr>
                  <a:t>$|A|=1$</a:t>
                </a:r>
                <a:r>
                  <a:rPr sz="2400" b="0">
                    <a:solidFill>
                      <a:srgbClr val="78350F"/>
                    </a:solidFill>
                    <a:latin typeface="Arial"/>
                  </a:rPr>
                  <a:t> gives </a:t>
                </a:r>
                <a:r>
                  <a:rPr lang="en-IN" sz="2400">
                    <a:solidFill>
                      <a:srgbClr val="78350F"/>
                    </a:solidFill>
                    <a:latin typeface="Cambria Math" panose="02040503050406030204" pitchFamily="18" charset="0"/>
                  </a:rPr>
                  <a:t>$A^{-1}=(\text{tr}A)I-A$</a:t>
                </a:r>
                <a:r>
                  <a:rPr sz="2400" b="0">
                    <a:solidFill>
                      <a:srgbClr val="78350F"/>
                    </a:solidFill>
                    <a:latin typeface="Arial"/>
                  </a:rPr>
                  <a:t> at once: </a:t>
                </a:r>
                <a:r>
                  <a:rPr lang="en-IN" sz="2400">
                    <a:solidFill>
                      <a:srgbClr val="78350F"/>
                    </a:solidFill>
                    <a:latin typeface="Cambria Math" panose="02040503050406030204" pitchFamily="18" charset="0"/>
                  </a:rPr>
                  <a:t>$\alpha=-1$</a:t>
                </a:r>
                <a:r>
                  <a:rPr sz="2400" b="0">
                    <a:solidFill>
                      <a:srgbClr val="78350F"/>
                    </a:solidFill>
                    <a:latin typeface="Arial"/>
                  </a:rPr>
                  <a:t>, </a:t>
                </a:r>
                <a:r>
                  <a:rPr lang="en-IN" sz="2400">
                    <a:solidFill>
                      <a:srgbClr val="78350F"/>
                    </a:solidFill>
                    <a:latin typeface="Cambria Math" panose="02040503050406030204" pitchFamily="18" charset="0"/>
                  </a:rPr>
                  <a:t>$\beta=\text{tr}A$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Cayley–Hamilton: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Multiplying by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Cayley–Hamilton: </a:t>
                </a:r>
                <a:r>
                  <a:rPr lang="en-IN" sz="2400">
                    <a:solidFill>
                      <a:srgbClr val="111827"/>
                    </a:solidFill>
                    <a:latin typeface="Cambria Math" panose="02040503050406030204" pitchFamily="18" charset="0"/>
                  </a:rPr>
                  <a:t>$A^2-(\text{tr}A)A+|A|I=O$</a:t>
                </a:r>
                <a:r>
                  <a:rPr sz="2400" b="0">
                    <a:solidFill>
                      <a:srgbClr val="111827"/>
                    </a:solidFill>
                    <a:latin typeface="Arial"/>
                  </a:rPr>
                  <a:t>. Multiplying by </a:t>
                </a:r>
                <a:r>
                  <a:rPr lang="en-IN" sz="2400">
                    <a:solidFill>
                      <a:srgbClr val="111827"/>
                    </a:solidFill>
                    <a:latin typeface="Cambria Math" panose="02040503050406030204" pitchFamily="18" charset="0"/>
                  </a:rPr>
                  <a:t>$A^{-1}$</a:t>
                </a:r>
                <a:r>
                  <a:rPr sz="2400" b="0">
                    <a:solidFill>
                      <a:srgbClr val="111827"/>
                    </a:solidFill>
                    <a:latin typeface="Arial"/>
                  </a:rPr>
                  <a:t> with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$A-(\text{tr}A)I+A^{-1}=O$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$A^{-1}=-A+(\text{tr}A)I$</a:t>
                </a:r>
                <a:r>
                  <a:rPr sz="2400" b="0">
                    <a:solidFill>
                      <a:srgbClr val="111827"/>
                    </a:solidFill>
                    <a:latin typeface="Arial"/>
                  </a:rPr>
                  <a:t>, i.e. </a:t>
                </a:r>
                <a:r>
                  <a:rPr lang="en-IN" sz="2400">
                    <a:solidFill>
                      <a:srgbClr val="111827"/>
                    </a:solidFill>
                    <a:latin typeface="Cambria Math" panose="02040503050406030204" pitchFamily="18" charset="0"/>
                  </a:rPr>
                  <a:t>$\alpha=-1$</a:t>
                </a:r>
                <a:r>
                  <a:rPr sz="2400" b="0">
                    <a:solidFill>
                      <a:srgbClr val="111827"/>
                    </a:solidFill>
                    <a:latin typeface="Arial"/>
                  </a:rPr>
                  <a:t> and </a:t>
                </a:r>
                <a:r>
                  <a:rPr lang="en-IN" sz="2400">
                    <a:solidFill>
                      <a:srgbClr val="111827"/>
                    </a:solidFill>
                    <a:latin typeface="Cambria Math" panose="02040503050406030204" pitchFamily="18" charset="0"/>
                  </a:rPr>
                  <a:t>$\beta=\text{tr}A=a+d$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$a+b=3$</a:t>
                </a:r>
                <a:r>
                  <a:rPr sz="2400" b="0">
                    <a:solidFill>
                      <a:srgbClr val="111827"/>
                    </a:solidFill>
                    <a:latin typeface="Arial"/>
                  </a:rPr>
                  <a:t>, </a:t>
                </a:r>
                <a:r>
                  <a:rPr lang="en-IN" sz="2400">
                    <a:solidFill>
                      <a:srgbClr val="111827"/>
                    </a:solidFill>
                    <a:latin typeface="Cambria Math" panose="02040503050406030204" pitchFamily="18" charset="0"/>
                  </a:rPr>
                  <a:t>$b+d=7$</a:t>
                </a:r>
                <a:r>
                  <a:rPr sz="2400" b="0">
                    <a:solidFill>
                      <a:srgbClr val="111827"/>
                    </a:solidFill>
                    <a:latin typeface="Arial"/>
                  </a:rPr>
                  <a:t>: </a:t>
                </a:r>
                <a:r>
                  <a:rPr lang="en-IN" sz="2400">
                    <a:solidFill>
                      <a:srgbClr val="111827"/>
                    </a:solidFill>
                    <a:latin typeface="Cambria Math" panose="02040503050406030204" pitchFamily="18" charset="0"/>
                  </a:rPr>
                  <a:t>$a+d=10-2b$</a:t>
                </a:r>
                <a:r>
                  <a:rPr sz="2400" b="0">
                    <a:solidFill>
                      <a:srgbClr val="111827"/>
                    </a:solidFill>
                    <a:latin typeface="Arial"/>
                  </a:rPr>
                  <a:t>; and </a:t>
                </a:r>
                <a:r>
                  <a:rPr lang="en-IN" sz="2400">
                    <a:solidFill>
                      <a:srgbClr val="111827"/>
                    </a:solidFill>
                    <a:latin typeface="Cambria Math" panose="02040503050406030204" pitchFamily="18" charset="0"/>
                  </a:rPr>
                  <a:t>$ad-b^2=(3-b)(7-b)-b^2=21-10b=1$</a:t>
                </a:r>
                <a:r>
                  <a:rPr sz="2400" b="0">
                    <a:solidFill>
                      <a:srgbClr val="111827"/>
                    </a:solidFill>
                    <a:latin typeface="Arial"/>
                  </a:rPr>
                  <a:t> gives </a:t>
                </a:r>
                <a:r>
                  <a:rPr lang="en-IN" sz="2400">
                    <a:solidFill>
                      <a:srgbClr val="111827"/>
                    </a:solidFill>
                    <a:latin typeface="Cambria Math" panose="02040503050406030204" pitchFamily="18" charset="0"/>
                  </a:rPr>
                  <a:t>$b=2$</a:t>
                </a:r>
                <a:r>
                  <a:rPr sz="2400" b="0">
                    <a:solidFill>
                      <a:srgbClr val="111827"/>
                    </a:solidFill>
                    <a:latin typeface="Arial"/>
                  </a:rPr>
                  <a:t>, so </a:t>
                </a:r>
                <a:r>
                  <a:rPr lang="en-IN" sz="2400">
                    <a:solidFill>
                      <a:srgbClr val="111827"/>
                    </a:solidFill>
                    <a:latin typeface="Cambria Math" panose="02040503050406030204" pitchFamily="18" charset="0"/>
                  </a:rPr>
                  <a:t>$\text{tr}A=6$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$\alpha+\beta=-1+6=5$</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invertible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hence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𝐼</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gives the row sums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this leaves one quadratic in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(it turned out linear, since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cancels).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adj</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𝑝</m:t>
                              </m:r>
                            </m:e>
                            <m:e>
                              <m:r>
                                <a:rPr lang="en-IN" sz="2400" i="1">
                                  <a:solidFill>
                                    <a:srgbClr val="111827"/>
                                  </a:solidFill>
                                  <a:latin typeface="Cambria Math" panose="02040503050406030204" pitchFamily="18" charset="0"/>
                                </a:rPr>
                                <m:t>𝑞</m:t>
                              </m:r>
                            </m:e>
                          </m:mr>
                          <m:mr>
                            <m:e>
                              <m:r>
                                <a:rPr lang="en-IN" sz="2400" i="1">
                                  <a:solidFill>
                                    <a:srgbClr val="111827"/>
                                  </a:solidFill>
                                  <a:latin typeface="Cambria Math" panose="02040503050406030204" pitchFamily="18" charset="0"/>
                                </a:rPr>
                                <m:t>𝑟</m:t>
                              </m:r>
                            </m:e>
                            <m:e>
                              <m:r>
                                <a:rPr lang="en-IN" sz="2400" i="1">
                                  <a:solidFill>
                                    <a:srgbClr val="111827"/>
                                  </a:solidFill>
                                  <a:latin typeface="Cambria Math" panose="02040503050406030204" pitchFamily="18" charset="0"/>
                                </a:rPr>
                                <m:t>𝑠</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𝑠</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e>
                            <m:e>
                              <m:r>
                                <a:rPr lang="en-IN" sz="2400" i="1">
                                  <a:solidFill>
                                    <a:srgbClr val="111827"/>
                                  </a:solidFill>
                                  <a:latin typeface="Cambria Math" panose="02040503050406030204" pitchFamily="18" charset="0"/>
                                </a:rPr>
                                <m:t>𝑝</m:t>
                              </m:r>
                            </m:e>
                          </m:mr>
                        </m:m>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invertible </a:t>
                </a:r>
                <a:r>
                  <a:rPr lang="en-IN" sz="2400">
                    <a:solidFill>
                      <a:srgbClr val="111827"/>
                    </a:solidFill>
                    <a:latin typeface="Cambria Math" panose="02040503050406030204" pitchFamily="18" charset="0"/>
                  </a:rPr>
                  <a:t>$2\times2$</a:t>
                </a:r>
                <a:r>
                  <a:rPr sz="2400" b="0">
                    <a:solidFill>
                      <a:srgbClr val="111827"/>
                    </a:solidFill>
                    <a:latin typeface="Arial"/>
                  </a:rPr>
                  <a:t> matrix: </a:t>
                </a:r>
                <a:r>
                  <a:rPr lang="en-IN" sz="2400">
                    <a:solidFill>
                      <a:srgbClr val="111827"/>
                    </a:solidFill>
                    <a:latin typeface="Cambria Math" panose="02040503050406030204" pitchFamily="18" charset="0"/>
                  </a:rPr>
                  <a:t>$A^{-1}=\frac{(\text{tr}A)I-A}{|A|}$</a:t>
                </a:r>
                <a:r>
                  <a:rPr sz="2400" b="0">
                    <a:solidFill>
                      <a:srgbClr val="111827"/>
                    </a:solidFill>
                    <a:latin typeface="Arial"/>
                  </a:rPr>
                  <a:t>; hence </a:t>
                </a:r>
                <a:r>
                  <a:rPr lang="en-IN" sz="2400">
                    <a:solidFill>
                      <a:srgbClr val="111827"/>
                    </a:solidFill>
                    <a:latin typeface="Cambria Math" panose="02040503050406030204" pitchFamily="18" charset="0"/>
                  </a:rPr>
                  <a:t>$A^{-1}=\alpha A+\beta I$</a:t>
                </a:r>
                <a:r>
                  <a:rPr sz="2400" b="0">
                    <a:solidFill>
                      <a:srgbClr val="111827"/>
                    </a:solidFill>
                    <a:latin typeface="Arial"/>
                  </a:rPr>
                  <a:t> with </a:t>
                </a:r>
                <a:r>
                  <a:rPr lang="en-IN" sz="2400">
                    <a:solidFill>
                      <a:srgbClr val="111827"/>
                    </a:solidFill>
                    <a:latin typeface="Cambria Math" panose="02040503050406030204" pitchFamily="18" charset="0"/>
                  </a:rPr>
                  <a:t>$\alpha=-\frac1{|A|}$</a:t>
                </a:r>
                <a:r>
                  <a:rPr sz="2400" b="0">
                    <a:solidFill>
                      <a:srgbClr val="111827"/>
                    </a:solidFill>
                    <a:latin typeface="Arial"/>
                  </a:rPr>
                  <a:t>, </a:t>
                </a:r>
                <a:r>
                  <a:rPr lang="en-IN" sz="2400">
                    <a:solidFill>
                      <a:srgbClr val="111827"/>
                    </a:solidFill>
                    <a:latin typeface="Cambria Math" panose="02040503050406030204" pitchFamily="18" charset="0"/>
                  </a:rPr>
                  <a:t>$\beta=\frac{\text{tr}A}{|A|}$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$A\begin{pmatrix}1\\1\end{pmatrix}$</a:t>
                </a:r>
                <a:r>
                  <a:rPr sz="2400" b="0">
                    <a:solidFill>
                      <a:srgbClr val="111827"/>
                    </a:solidFill>
                    <a:latin typeface="Arial"/>
                  </a:rPr>
                  <a:t> gives the row sums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$b+d$</a:t>
                </a:r>
                <a:r>
                  <a:rPr sz="2400" b="0">
                    <a:solidFill>
                      <a:srgbClr val="111827"/>
                    </a:solidFill>
                    <a:latin typeface="Arial"/>
                  </a:rPr>
                  <a:t>; with </a:t>
                </a:r>
                <a:r>
                  <a:rPr lang="en-IN" sz="2400">
                    <a:solidFill>
                      <a:srgbClr val="111827"/>
                    </a:solidFill>
                    <a:latin typeface="Cambria Math" panose="02040503050406030204" pitchFamily="18" charset="0"/>
                  </a:rPr>
                  <a:t>$|A|=1$</a:t>
                </a:r>
                <a:r>
                  <a:rPr sz="2400" b="0">
                    <a:solidFill>
                      <a:srgbClr val="111827"/>
                    </a:solidFill>
                    <a:latin typeface="Arial"/>
                  </a:rPr>
                  <a:t> this leaves one quadratic in </a:t>
                </a:r>
                <a:r>
                  <a:rPr lang="en-IN" sz="2400">
                    <a:solidFill>
                      <a:srgbClr val="111827"/>
                    </a:solidFill>
                    <a:latin typeface="Cambria Math" panose="02040503050406030204" pitchFamily="18" charset="0"/>
                  </a:rPr>
                  <a:t>$b$</a:t>
                </a:r>
                <a:r>
                  <a:rPr sz="2400" b="0">
                    <a:solidFill>
                      <a:srgbClr val="111827"/>
                    </a:solidFill>
                    <a:latin typeface="Arial"/>
                  </a:rPr>
                  <a:t> (it turned out linear, since </a:t>
                </a:r>
                <a:r>
                  <a:rPr lang="en-IN" sz="2400">
                    <a:solidFill>
                      <a:srgbClr val="111827"/>
                    </a:solidFill>
                    <a:latin typeface="Cambria Math" panose="02040503050406030204" pitchFamily="18" charset="0"/>
                  </a:rPr>
                  <a:t>$b^2$</a:t>
                </a:r>
                <a:r>
                  <a:rPr sz="2400" b="0">
                    <a:solidFill>
                      <a:srgbClr val="111827"/>
                    </a:solidFill>
                    <a:latin typeface="Arial"/>
                  </a:rPr>
                  <a:t> cancels).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$\operatorname{adj}\begin{pmatrix}p&amp;q\\r&amp;s\end{pmatrix}=\begin{pmatrix}s&amp;-q\\-r&amp;p\end{pmatrix}$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If the sum of the diagonal elements of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$A=\begin{pmatrix}2&amp;-1\\1&amp;1\end{pmatrix}$</a:t>
                </a:r>
                <a:r>
                  <a:rPr sz="2400" b="0">
                    <a:solidFill>
                      <a:srgbClr val="111827"/>
                    </a:solidFill>
                    <a:latin typeface="Arial"/>
                  </a:rPr>
                  <a:t>. If the sum of the diagonal elements of </a:t>
                </a:r>
                <a:r>
                  <a:rPr lang="en-IN" sz="2400">
                    <a:solidFill>
                      <a:srgbClr val="111827"/>
                    </a:solidFill>
                    <a:latin typeface="Cambria Math" panose="02040503050406030204" pitchFamily="18" charset="0"/>
                  </a:rPr>
                  <a:t>$A^{13}$</a:t>
                </a:r>
                <a:r>
                  <a:rPr sz="2400" b="0">
                    <a:solidFill>
                      <a:srgbClr val="111827"/>
                    </a:solidFill>
                    <a:latin typeface="Arial"/>
                  </a:rPr>
                  <a:t> is </a:t>
                </a:r>
                <a:r>
                  <a:rPr lang="en-IN" sz="2400">
                    <a:solidFill>
                      <a:srgbClr val="111827"/>
                    </a:solidFill>
                    <a:latin typeface="Cambria Math" panose="02040503050406030204" pitchFamily="18" charset="0"/>
                  </a:rPr>
                  <a:t>$3^n$</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Powers of a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
                      <m:dPr>
                        <m:begChr m:val="("/>
                        <m:sepChr m:val=""/>
                        <m:endChr m:val=")"/>
                        <m:grow/>
                        <m:ctrlPr>
                          <a:rPr lang="en-IN" sz="2400" i="1">
                            <a:solidFill>
                              <a:srgbClr val="78350F"/>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78350F"/>
                                </a:solidFill>
                                <a:latin typeface="Cambria Math" panose="02040503050406030204" pitchFamily="18" charset="0"/>
                              </a:rPr>
                            </m:ctrlPr>
                          </m:mPr>
                          <m:mr>
                            <m:e>
                              <m:r>
                                <a:rPr lang="en-IN" sz="2400" i="1">
                                  <a:solidFill>
                                    <a:srgbClr val="78350F"/>
                                  </a:solidFill>
                                  <a:latin typeface="Cambria Math" panose="02040503050406030204" pitchFamily="18" charset="0"/>
                                </a:rPr>
                                <m:t>1</m:t>
                              </m:r>
                            </m:e>
                            <m:e>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mr>
                          <m:mr>
                            <m:e>
                              <m:r>
                                <a:rPr lang="en-IN" sz="2400" i="1">
                                  <a:solidFill>
                                    <a:srgbClr val="78350F"/>
                                  </a:solidFill>
                                  <a:latin typeface="Cambria Math" panose="02040503050406030204" pitchFamily="18" charset="0"/>
                                </a:rPr>
                                <m:t>1</m:t>
                              </m:r>
                            </m:e>
                            <m:e>
                              <m:r>
                                <a:rPr lang="en-IN" sz="2400" i="1">
                                  <a:solidFill>
                                    <a:srgbClr val="78350F"/>
                                  </a:solidFill>
                                  <a:latin typeface="Cambria Math" panose="02040503050406030204" pitchFamily="18" charset="0"/>
                                </a:rPr>
                                <m:t>0</m:t>
                              </m:r>
                            </m:e>
                          </m:mr>
                        </m:m>
                      </m:e>
                    </m:d>
                  </m:oMath>
                </a14:m>
                <a:r>
                  <a:rPr sz="2400" b="0">
                    <a:solidFill>
                      <a:srgbClr val="78350F"/>
                    </a:solidFill>
                    <a:latin typeface="Arial"/>
                  </a:rPr>
                  <a:t> and repeated squaring reaches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12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6</m:t>
                        </m:r>
                      </m:sup>
                    </m:sSup>
                    <m:r>
                      <a:rPr lang="en-IN" sz="2400" i="1">
                        <a:solidFill>
                          <a:srgbClr val="78350F"/>
                        </a:solidFill>
                        <a:latin typeface="Cambria Math" panose="02040503050406030204" pitchFamily="18" charset="0"/>
                      </a:rPr>
                      <m:t>𝐼</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13</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6</m:t>
                        </m:r>
                      </m:sup>
                    </m:sSup>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$A^2=3\begin{pmatrix}1&amp;-1\\1&amp;0\end{pmatrix}$</a:t>
                </a:r>
                <a:r>
                  <a:rPr sz="2400" b="0">
                    <a:solidFill>
                      <a:srgbClr val="78350F"/>
                    </a:solidFill>
                    <a:latin typeface="Arial"/>
                  </a:rPr>
                  <a:t> and repeated squaring reaches </a:t>
                </a:r>
                <a:r>
                  <a:rPr lang="en-IN" sz="2400">
                    <a:solidFill>
                      <a:srgbClr val="78350F"/>
                    </a:solidFill>
                    <a:latin typeface="Cambria Math" panose="02040503050406030204" pitchFamily="18" charset="0"/>
                  </a:rPr>
                  <a:t>$A^{12}=3^6I$</a:t>
                </a:r>
                <a:r>
                  <a:rPr sz="2400" b="0">
                    <a:solidFill>
                      <a:srgbClr val="78350F"/>
                    </a:solidFill>
                    <a:latin typeface="Arial"/>
                  </a:rPr>
                  <a:t>, so </a:t>
                </a:r>
                <a:r>
                  <a:rPr lang="en-IN" sz="2400">
                    <a:solidFill>
                      <a:srgbClr val="78350F"/>
                    </a:solidFill>
                    <a:latin typeface="Cambria Math" panose="02040503050406030204" pitchFamily="18" charset="0"/>
                  </a:rPr>
                  <a:t>$A^{13}=3^6A$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3</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0</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$A^2=\begin{pmatrix}2&amp;-1\\1&amp;1\end{pmatrix}\begin{pmatrix}2&amp;-1\\1&amp;1\end{pmatrix}=\begin{pmatrix}3&amp;-3\\3&amp;0\end{pmatrix}=3\begin{pmatrix}1&amp;-1\\1&amp;0\end{pmatrix}$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$A^4=9\begin{pmatrix}1&amp;-1\\1&amp;0\end{pmatrix}\begin{pmatrix}1&amp;-1\\1&amp;0\end{pmatrix}=9\begin{pmatrix}0&amp;-1\\1&amp;-1\end{pmatrix}$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$A^8=81\begin{pmatrix}0&amp;-1\\1&amp;-1\end{pmatrix}\begin{pmatrix}0&amp;-1\\1&amp;-1\end{pmatrix}=81\begin{pmatrix}-1&amp;1\\-1&amp;0\end{pmatrix}$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12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Trace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$A^{12}=A^4A^8=9\cdot81\begin{pmatrix}0&amp;-1\\1&amp;-1\end{pmatrix}\begin{pmatrix}-1&amp;1\\-1&amp;0\end{pmatrix}=3^6\begin{pmatrix}1&amp;0\\0&amp;1\end{pmatrix}$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$A^{13}=A^{12}A=3^6\begin{pmatrix}2&amp;-1\\1&amp;1\end{pmatrix}$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Trace </a:t>
                </a:r>
                <a:r>
                  <a:rPr lang="en-IN" sz="2400">
                    <a:solidFill>
                      <a:srgbClr val="111827"/>
                    </a:solidFill>
                    <a:latin typeface="Cambria Math" panose="02040503050406030204" pitchFamily="18" charset="0"/>
                  </a:rPr>
                  <a:t>$=3^6(2+1)=3^7$</a:t>
                </a:r>
                <a:r>
                  <a:rPr sz="2400" b="0">
                    <a:solidFill>
                      <a:srgbClr val="111827"/>
                    </a:solidFill>
                    <a:latin typeface="Arial"/>
                  </a:rPr>
                  <a:t>, so </a:t>
                </a:r>
                <a:r>
                  <a:rPr lang="en-IN" sz="2400">
                    <a:solidFill>
                      <a:srgbClr val="111827"/>
                    </a:solidFill>
                    <a:latin typeface="Cambria Math" panose="02040503050406030204" pitchFamily="18" charset="0"/>
                  </a:rPr>
                  <a:t>$n=7$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a:t>
            </a:r>
            <a:endParaRPr sz="2800">
              <a:solidFill>
                <a:srgbClr val="15803D"/>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eigenvalues in polar form: </a:t>
                </a:r>
                <a14:m>
                  <m:oMath xmlns:m="http://schemas.openxmlformats.org/officeDocument/2006/math">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sup>
                    </m:sSup>
                  </m:oMath>
                </a14:m>
                <a:r>
                  <a:rPr sz="2400" b="0">
                    <a:solidFill>
                      <a:srgbClr val="78350F"/>
                    </a:solidFill>
                    <a:latin typeface="Arial"/>
                  </a:rPr>
                  <a:t>, so </a:t>
                </a:r>
                <a14:m>
                  <m:oMath xmlns:m="http://schemas.openxmlformats.org/officeDocument/2006/math">
                    <m:r>
                      <m:rPr>
                        <m:nor/>
                      </m:rPr>
                      <a:rPr lang="en-IN" sz="2400" i="1">
                        <a:solidFill>
                          <a:srgbClr val="78350F"/>
                        </a:solidFill>
                        <a:latin typeface="Cambria Math" panose="02040503050406030204" pitchFamily="18" charset="0"/>
                      </a:rPr>
                      <m:t>𝑡𝑟</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13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cos</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13</m:t>
                        </m:r>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eigenvalues in polar form: </a:t>
                </a:r>
                <a:r>
                  <a:rPr lang="en-IN" sz="2400">
                    <a:solidFill>
                      <a:srgbClr val="78350F"/>
                    </a:solidFill>
                    <a:latin typeface="Cambria Math" panose="02040503050406030204" pitchFamily="18" charset="0"/>
                  </a:rPr>
                  <a:t>$\lambda=\sqrt3\,e^{\pm i\pi/6}$</a:t>
                </a:r>
                <a:r>
                  <a:rPr sz="2400" b="0">
                    <a:solidFill>
                      <a:srgbClr val="78350F"/>
                    </a:solidFill>
                    <a:latin typeface="Arial"/>
                  </a:rPr>
                  <a:t>, so </a:t>
                </a:r>
                <a:r>
                  <a:rPr lang="en-IN" sz="2400">
                    <a:solidFill>
                      <a:srgbClr val="78350F"/>
                    </a:solidFill>
                    <a:latin typeface="Cambria Math" panose="02040503050406030204" pitchFamily="18" charset="0"/>
                  </a:rPr>
                  <a:t>$\text{tr}A^{13}=2\cdot3^{13/2}\cos\frac{13\pi}6$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the eigenvalues satisfy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eigenvalues of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are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𝑡𝑟</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$\text{tr}A=3$</a:t>
                </a:r>
                <a:r>
                  <a:rPr sz="2400" b="0">
                    <a:solidFill>
                      <a:srgbClr val="111827"/>
                    </a:solidFill>
                    <a:latin typeface="Arial"/>
                  </a:rPr>
                  <a:t>, </a:t>
                </a:r>
                <a:r>
                  <a:rPr lang="en-IN" sz="2400">
                    <a:solidFill>
                      <a:srgbClr val="111827"/>
                    </a:solidFill>
                    <a:latin typeface="Cambria Math" panose="02040503050406030204" pitchFamily="18" charset="0"/>
                  </a:rPr>
                  <a:t>$|A|=3$</a:t>
                </a:r>
                <a:r>
                  <a:rPr sz="2400" b="0">
                    <a:solidFill>
                      <a:srgbClr val="111827"/>
                    </a:solidFill>
                    <a:latin typeface="Arial"/>
                  </a:rPr>
                  <a:t>, so the eigenvalues satisfy </a:t>
                </a:r>
                <a:r>
                  <a:rPr lang="en-IN" sz="2400">
                    <a:solidFill>
                      <a:srgbClr val="111827"/>
                    </a:solidFill>
                    <a:latin typeface="Cambria Math" panose="02040503050406030204" pitchFamily="18" charset="0"/>
                  </a:rPr>
                  <a:t>$\lambda^2-3\lambda+3=0$</a:t>
                </a:r>
                <a:r>
                  <a:rPr sz="2400" b="0">
                    <a:solidFill>
                      <a:srgbClr val="111827"/>
                    </a:solidFill>
                    <a:latin typeface="Arial"/>
                  </a:rPr>
                  <a:t>: </a:t>
                </a:r>
                <a:r>
                  <a:rPr lang="en-IN" sz="2400">
                    <a:solidFill>
                      <a:srgbClr val="111827"/>
                    </a:solidFill>
                    <a:latin typeface="Cambria Math" panose="02040503050406030204" pitchFamily="18" charset="0"/>
                  </a:rPr>
                  <a:t>$\lambda=\frac{3\pm i\sqrt3}2=\sqrt3\,e^{\pm i\pi/6}$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eigenvalues of </a:t>
                </a:r>
                <a:r>
                  <a:rPr lang="en-IN" sz="2400">
                    <a:solidFill>
                      <a:srgbClr val="111827"/>
                    </a:solidFill>
                    <a:latin typeface="Cambria Math" panose="02040503050406030204" pitchFamily="18" charset="0"/>
                  </a:rPr>
                  <a:t>$A^{13}$</a:t>
                </a:r>
                <a:r>
                  <a:rPr sz="2400" b="0">
                    <a:solidFill>
                      <a:srgbClr val="111827"/>
                    </a:solidFill>
                    <a:latin typeface="Arial"/>
                  </a:rPr>
                  <a:t> are </a:t>
                </a:r>
                <a:r>
                  <a:rPr lang="en-IN" sz="2400">
                    <a:solidFill>
                      <a:srgbClr val="111827"/>
                    </a:solidFill>
                    <a:latin typeface="Cambria Math" panose="02040503050406030204" pitchFamily="18" charset="0"/>
                  </a:rPr>
                  <a:t>$3^{13/2}e^{\pm i13\pi/6}=3^{13/2}e^{\pm i\pi/6}$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$\text{tr}A^{13}=2\cdot3^{13/2}\cos\frac\pi6=2\cdot3^{13/2}\cdot\frac{\sqrt3}2=3^{13/2}\cdot3^{1/2}=3^7$</a:t>
                </a:r>
                <a:r>
                  <a:rPr sz="2400" b="0">
                    <a:solidFill>
                      <a:srgbClr val="111827"/>
                    </a:solidFill>
                    <a:latin typeface="Arial"/>
                  </a:rPr>
                  <a:t>, so </a:t>
                </a:r>
                <a:r>
                  <a:rPr lang="en-IN" sz="2400">
                    <a:solidFill>
                      <a:srgbClr val="111827"/>
                    </a:solidFill>
                    <a:latin typeface="Cambria Math" panose="02040503050406030204" pitchFamily="18" charset="0"/>
                  </a:rPr>
                  <a:t>$n=7$</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a:t>
            </a:r>
            <a:endParaRPr sz="2800">
              <a:solidFill>
                <a:srgbClr val="15803D"/>
              </a:solidFil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real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 with </a:t>
                </a:r>
                <a14:m>
                  <m:oMath xmlns:m="http://schemas.openxmlformats.org/officeDocument/2006/math">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oMath>
                </a14:m>
                <a:r>
                  <a:rPr sz="2400" b="0">
                    <a:solidFill>
                      <a:srgbClr val="111827"/>
                    </a:solidFill>
                    <a:latin typeface="Arial"/>
                  </a:rPr>
                  <a:t>: eigenvalues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𝑑</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φ</m:t>
                        </m:r>
                      </m:sup>
                    </m:sSup>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𝑑</m:t>
                            </m:r>
                          </m:e>
                        </m:rad>
                      </m:den>
                    </m:f>
                  </m:oMath>
                </a14:m>
                <a:r>
                  <a:rPr sz="2400" b="0">
                    <a:solidFill>
                      <a:srgbClr val="111827"/>
                    </a:solidFill>
                    <a:latin typeface="Arial"/>
                  </a:rPr>
                  <a:t>, and </a:t>
                </a:r>
                <a14:m>
                  <m:oMath xmlns:m="http://schemas.openxmlformats.org/officeDocument/2006/math">
                    <m:r>
                      <m:rPr>
                        <m:nor/>
                      </m:rPr>
                      <a:rPr lang="en-IN" sz="2400" i="1">
                        <a:solidFill>
                          <a:srgbClr val="111827"/>
                        </a:solidFill>
                        <a:latin typeface="Cambria Math" panose="02040503050406030204" pitchFamily="18" charset="0"/>
                      </a:rPr>
                      <m:t>𝑡𝑟</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Traces obey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(Cayley–Hamilton). Here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(matches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φ</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𝐼</m:t>
                    </m:r>
                  </m:oMath>
                </a14:m>
                <a:r>
                  <a:rPr sz="2400" b="0">
                    <a:solidFill>
                      <a:srgbClr val="111827"/>
                    </a:solidFill>
                    <a:latin typeface="Arial"/>
                  </a:rPr>
                  <a:t>: look for such a power to shorten the computation.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real </a:t>
                </a:r>
                <a:r>
                  <a:rPr lang="en-IN" sz="2400">
                    <a:solidFill>
                      <a:srgbClr val="111827"/>
                    </a:solidFill>
                    <a:latin typeface="Cambria Math" panose="02040503050406030204" pitchFamily="18" charset="0"/>
                  </a:rPr>
                  <a:t>$2\times2$</a:t>
                </a:r>
                <a:r>
                  <a:rPr sz="2400" b="0">
                    <a:solidFill>
                      <a:srgbClr val="111827"/>
                    </a:solidFill>
                    <a:latin typeface="Arial"/>
                  </a:rPr>
                  <a:t> matrix with </a:t>
                </a:r>
                <a:r>
                  <a:rPr lang="en-IN" sz="2400">
                    <a:solidFill>
                      <a:srgbClr val="111827"/>
                    </a:solidFill>
                    <a:latin typeface="Cambria Math" panose="02040503050406030204" pitchFamily="18" charset="0"/>
                  </a:rPr>
                  <a:t>$\text{tr}A=t$</a:t>
                </a:r>
                <a:r>
                  <a:rPr sz="2400" b="0">
                    <a:solidFill>
                      <a:srgbClr val="111827"/>
                    </a:solidFill>
                    <a:latin typeface="Arial"/>
                  </a:rPr>
                  <a:t>, </a:t>
                </a:r>
                <a:r>
                  <a:rPr lang="en-IN" sz="2400">
                    <a:solidFill>
                      <a:srgbClr val="111827"/>
                    </a:solidFill>
                    <a:latin typeface="Cambria Math" panose="02040503050406030204" pitchFamily="18" charset="0"/>
                  </a:rPr>
                  <a:t>$\det A=d$</a:t>
                </a:r>
                <a:r>
                  <a:rPr sz="2400" b="0">
                    <a:solidFill>
                      <a:srgbClr val="111827"/>
                    </a:solidFill>
                    <a:latin typeface="Arial"/>
                  </a:rPr>
                  <a:t> and </a:t>
                </a:r>
                <a:r>
                  <a:rPr lang="en-IN" sz="2400">
                    <a:solidFill>
                      <a:srgbClr val="111827"/>
                    </a:solidFill>
                    <a:latin typeface="Cambria Math" panose="02040503050406030204" pitchFamily="18" charset="0"/>
                  </a:rPr>
                  <a:t>$t^2&lt;4d$</a:t>
                </a:r>
                <a:r>
                  <a:rPr sz="2400" b="0">
                    <a:solidFill>
                      <a:srgbClr val="111827"/>
                    </a:solidFill>
                    <a:latin typeface="Arial"/>
                  </a:rPr>
                  <a:t>: eigenvalues </a:t>
                </a:r>
                <a:r>
                  <a:rPr lang="en-IN" sz="2400">
                    <a:solidFill>
                      <a:srgbClr val="111827"/>
                    </a:solidFill>
                    <a:latin typeface="Cambria Math" panose="02040503050406030204" pitchFamily="18" charset="0"/>
                  </a:rPr>
                  <a:t>$\sqrt d\,e^{\pm i\varphi}$</a:t>
                </a:r>
                <a:r>
                  <a:rPr sz="2400" b="0">
                    <a:solidFill>
                      <a:srgbClr val="111827"/>
                    </a:solidFill>
                    <a:latin typeface="Arial"/>
                  </a:rPr>
                  <a:t> with </a:t>
                </a:r>
                <a:r>
                  <a:rPr lang="en-IN" sz="2400">
                    <a:solidFill>
                      <a:srgbClr val="111827"/>
                    </a:solidFill>
                    <a:latin typeface="Cambria Math" panose="02040503050406030204" pitchFamily="18" charset="0"/>
                  </a:rPr>
                  <a:t>$\cos\varphi=\frac{t}{2\sqrt d}$</a:t>
                </a:r>
                <a:r>
                  <a:rPr sz="2400" b="0">
                    <a:solidFill>
                      <a:srgbClr val="111827"/>
                    </a:solidFill>
                    <a:latin typeface="Arial"/>
                  </a:rPr>
                  <a:t>, and </a:t>
                </a:r>
                <a:r>
                  <a:rPr lang="en-IN" sz="2400">
                    <a:solidFill>
                      <a:srgbClr val="111827"/>
                    </a:solidFill>
                    <a:latin typeface="Cambria Math" panose="02040503050406030204" pitchFamily="18" charset="0"/>
                  </a:rPr>
                  <a:t>$\text{tr}A^k=2d^{k/2}\cos k\varphi$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Traces obey </a:t>
                </a:r>
                <a:r>
                  <a:rPr lang="en-IN" sz="2400">
                    <a:solidFill>
                      <a:srgbClr val="111827"/>
                    </a:solidFill>
                    <a:latin typeface="Cambria Math" panose="02040503050406030204" pitchFamily="18" charset="0"/>
                  </a:rPr>
                  <a:t>$t_k=t\,t_{k-1}-d\,t_{k-2}$</a:t>
                </a:r>
                <a:r>
                  <a:rPr sz="2400" b="0">
                    <a:solidFill>
                      <a:srgbClr val="111827"/>
                    </a:solidFill>
                    <a:latin typeface="Arial"/>
                  </a:rPr>
                  <a:t> (Cayley–Hamilton). Here </a:t>
                </a:r>
                <a:r>
                  <a:rPr lang="en-IN" sz="2400">
                    <a:solidFill>
                      <a:srgbClr val="111827"/>
                    </a:solidFill>
                    <a:latin typeface="Cambria Math" panose="02040503050406030204" pitchFamily="18" charset="0"/>
                  </a:rPr>
                  <a:t>$t_0=2,t_1=3,t_2=3,t_3=0,t_4=-9$</a:t>
                </a:r>
                <a:r>
                  <a:rPr sz="2400" b="0">
                    <a:solidFill>
                      <a:srgbClr val="111827"/>
                    </a:solidFill>
                    <a:latin typeface="Arial"/>
                  </a:rPr>
                  <a:t> (matches </a:t>
                </a:r>
                <a:r>
                  <a:rPr lang="en-IN" sz="2400">
                    <a:solidFill>
                      <a:srgbClr val="111827"/>
                    </a:solidFill>
                    <a:latin typeface="Cambria Math" panose="02040503050406030204" pitchFamily="18" charset="0"/>
                  </a:rPr>
                  <a:t>$A^4=9\begin{pmatrix}0&amp;-1\\1&amp;-1\end{pmatrix}$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$k\varphi$</a:t>
                </a:r>
                <a:r>
                  <a:rPr sz="2400" b="0">
                    <a:solidFill>
                      <a:srgbClr val="111827"/>
                    </a:solidFill>
                    <a:latin typeface="Arial"/>
                  </a:rPr>
                  <a:t> is a multiple of </a:t>
                </a:r>
                <a:r>
                  <a:rPr lang="en-IN" sz="2400">
                    <a:solidFill>
                      <a:srgbClr val="111827"/>
                    </a:solidFill>
                    <a:latin typeface="Cambria Math" panose="02040503050406030204" pitchFamily="18" charset="0"/>
                  </a:rPr>
                  <a:t>$2\pi$</a:t>
                </a:r>
                <a:r>
                  <a:rPr sz="2400" b="0">
                    <a:solidFill>
                      <a:srgbClr val="111827"/>
                    </a:solidFill>
                    <a:latin typeface="Arial"/>
                  </a:rPr>
                  <a:t> (</a:t>
                </a:r>
                <a:r>
                  <a:rPr lang="en-IN" sz="2400">
                    <a:solidFill>
                      <a:srgbClr val="111827"/>
                    </a:solidFill>
                    <a:latin typeface="Cambria Math" panose="02040503050406030204" pitchFamily="18" charset="0"/>
                  </a:rPr>
                  <a:t>$\varphi=\pi/6$</a:t>
                </a:r>
                <a:r>
                  <a:rPr sz="2400" b="0">
                    <a:solidFill>
                      <a:srgbClr val="111827"/>
                    </a:solidFill>
                    <a:latin typeface="Arial"/>
                  </a:rPr>
                  <a:t>, </a:t>
                </a:r>
                <a:r>
                  <a:rPr lang="en-IN" sz="2400">
                    <a:solidFill>
                      <a:srgbClr val="111827"/>
                    </a:solidFill>
                    <a:latin typeface="Cambria Math" panose="02040503050406030204" pitchFamily="18" charset="0"/>
                  </a:rPr>
                  <a:t>$k=12$</a:t>
                </a:r>
                <a:r>
                  <a:rPr sz="2400" b="0">
                    <a:solidFill>
                      <a:srgbClr val="111827"/>
                    </a:solidFill>
                    <a:latin typeface="Arial"/>
                  </a:rPr>
                  <a:t>), </a:t>
                </a:r>
                <a:r>
                  <a:rPr lang="en-IN" sz="2400">
                    <a:solidFill>
                      <a:srgbClr val="111827"/>
                    </a:solidFill>
                    <a:latin typeface="Cambria Math" panose="02040503050406030204" pitchFamily="18" charset="0"/>
                  </a:rPr>
                  <a:t>$A^k=d^{k/2}I$</a:t>
                </a:r>
                <a:r>
                  <a:rPr sz="2400" b="0">
                    <a:solidFill>
                      <a:srgbClr val="111827"/>
                    </a:solidFill>
                    <a:latin typeface="Arial"/>
                  </a:rPr>
                  <a:t>: look for such a power to shorten the computation.</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equation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equal roots, where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equation </a:t>
                </a:r>
                <a:r>
                  <a:rPr lang="en-IN" sz="2400">
                    <a:solidFill>
                      <a:srgbClr val="111827"/>
                    </a:solidFill>
                    <a:latin typeface="Cambria Math" panose="02040503050406030204" pitchFamily="18" charset="0"/>
                  </a:rPr>
                  <a:t>$a(b-c)x^2+b(c-a)x+c(a-b)=0$</a:t>
                </a:r>
                <a:r>
                  <a:rPr sz="2400" b="0">
                    <a:solidFill>
                      <a:srgbClr val="111827"/>
                    </a:solidFill>
                    <a:latin typeface="Arial"/>
                  </a:rPr>
                  <a:t> has equal roots, where </a:t>
                </a:r>
                <a:r>
                  <a:rPr lang="en-IN" sz="2400">
                    <a:solidFill>
                      <a:srgbClr val="111827"/>
                    </a:solidFill>
                    <a:latin typeface="Cambria Math" panose="02040503050406030204" pitchFamily="18" charset="0"/>
                  </a:rPr>
                  <a:t>$a+c=15$</a:t>
                </a:r>
                <a:r>
                  <a:rPr sz="2400" b="0">
                    <a:solidFill>
                      <a:srgbClr val="111827"/>
                    </a:solidFill>
                    <a:latin typeface="Arial"/>
                  </a:rPr>
                  <a:t> and </a:t>
                </a:r>
                <a:r>
                  <a:rPr lang="en-IN" sz="2400">
                    <a:solidFill>
                      <a:srgbClr val="111827"/>
                    </a:solidFill>
                    <a:latin typeface="Cambria Math" panose="02040503050406030204" pitchFamily="18" charset="0"/>
                  </a:rPr>
                  <a:t>$b=\frac{36}5$</a:t>
                </a:r>
                <a:r>
                  <a:rPr sz="2400" b="0">
                    <a:solidFill>
                      <a:srgbClr val="111827"/>
                    </a:solidFill>
                    <a:latin typeface="Arial"/>
                  </a:rPr>
                  <a:t>, then </a:t>
                </a:r>
                <a:r>
                  <a:rPr lang="en-IN" sz="2400">
                    <a:solidFill>
                      <a:srgbClr val="111827"/>
                    </a:solidFill>
                    <a:latin typeface="Cambria Math" panose="02040503050406030204" pitchFamily="18" charset="0"/>
                  </a:rPr>
                  <a:t>$a^2+c^2$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Condition for equal roots of a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coefficients sum to zero, so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is a root; equal roots then force the product of roots to be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coefficients sum to zero, so </a:t>
                </a:r>
                <a:r>
                  <a:rPr lang="en-IN" sz="2400">
                    <a:solidFill>
                      <a:srgbClr val="78350F"/>
                    </a:solidFill>
                    <a:latin typeface="Cambria Math" panose="02040503050406030204" pitchFamily="18" charset="0"/>
                  </a:rPr>
                  <a:t>$x=1$</a:t>
                </a:r>
                <a:r>
                  <a:rPr sz="2400" b="0">
                    <a:solidFill>
                      <a:srgbClr val="78350F"/>
                    </a:solidFill>
                    <a:latin typeface="Arial"/>
                  </a:rPr>
                  <a:t> is a root; equal roots then force the product of roots to be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coefficients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one root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the roots are equal, both roots are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the product of roots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roots: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coefficients </a:t>
                </a:r>
                <a:r>
                  <a:rPr lang="en-IN" sz="2400">
                    <a:solidFill>
                      <a:srgbClr val="111827"/>
                    </a:solidFill>
                    <a:latin typeface="Cambria Math" panose="02040503050406030204" pitchFamily="18" charset="0"/>
                  </a:rPr>
                  <a:t>$=a(b-c)+b(c-a)+c(a-b)=ab-ac+bc-ab+ca-cb=0$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one root is </a:t>
                </a:r>
                <a:r>
                  <a:rPr lang="en-IN" sz="2400">
                    <a:solidFill>
                      <a:srgbClr val="111827"/>
                    </a:solidFill>
                    <a:latin typeface="Cambria Math" panose="02040503050406030204" pitchFamily="18" charset="0"/>
                  </a:rPr>
                  <a:t>$x=1$</a:t>
                </a:r>
                <a:r>
                  <a:rPr sz="2400" b="0">
                    <a:solidFill>
                      <a:srgbClr val="111827"/>
                    </a:solidFill>
                    <a:latin typeface="Arial"/>
                  </a:rPr>
                  <a:t>; since the roots are equal, both roots are </a:t>
                </a:r>
                <a:r>
                  <a:rPr lang="en-IN" sz="2400">
                    <a:solidFill>
                      <a:srgbClr val="111827"/>
                    </a:solidFill>
                    <a:latin typeface="Cambria Math" panose="02040503050406030204" pitchFamily="18" charset="0"/>
                  </a:rPr>
                  <a:t>$1$</a:t>
                </a:r>
                <a:r>
                  <a:rPr sz="2400" b="0">
                    <a:solidFill>
                      <a:srgbClr val="111827"/>
                    </a:solidFill>
                    <a:latin typeface="Arial"/>
                  </a:rPr>
                  <a:t> and the product of roots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of roots: </a:t>
                </a:r>
                <a:r>
                  <a:rPr lang="en-IN" sz="2400">
                    <a:solidFill>
                      <a:srgbClr val="111827"/>
                    </a:solidFill>
                    <a:latin typeface="Cambria Math" panose="02040503050406030204" pitchFamily="18" charset="0"/>
                  </a:rPr>
                  <a:t>$\frac{c(a-b)}{a(b-c)}=1$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$ac-bc=ab-ac\Rightarrow2ac=b(a+c)$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$2ac=15b\Rightarrow2ac=15\times\frac{36}5=108\Rightarrow ac=54$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$a^2+c^2=(a+c)^2-2ac=225-108=117$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117</a:t>
            </a:r>
            <a:endParaRPr sz="2800">
              <a:solidFill>
                <a:srgbClr val="15803D"/>
              </a:solidFil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discriminant of this quadratic is a perfect square: </a:t>
                </a:r>
                <a14:m>
                  <m:oMath xmlns:m="http://schemas.openxmlformats.org/officeDocument/2006/math">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so equal roots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is the harmonic mean of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discriminant of this quadratic is a perfect square: </a:t>
                </a:r>
                <a:r>
                  <a:rPr lang="en-IN" sz="2400">
                    <a:solidFill>
                      <a:srgbClr val="78350F"/>
                    </a:solidFill>
                    <a:latin typeface="Cambria Math" panose="02040503050406030204" pitchFamily="18" charset="0"/>
                  </a:rPr>
                  <a:t>$D=\left[b(a+c)-2ac\right]^2$</a:t>
                </a:r>
                <a:r>
                  <a:rPr sz="2400" b="0">
                    <a:solidFill>
                      <a:srgbClr val="78350F"/>
                    </a:solidFill>
                    <a:latin typeface="Arial"/>
                  </a:rPr>
                  <a:t>, so equal roots </a:t>
                </a:r>
                <a:r>
                  <a:rPr lang="en-IN" sz="2400">
                    <a:solidFill>
                      <a:srgbClr val="78350F"/>
                    </a:solidFill>
                    <a:latin typeface="Cambria Math" panose="02040503050406030204" pitchFamily="18" charset="0"/>
                  </a:rPr>
                  <a:t>$\iff b$</a:t>
                </a:r>
                <a:r>
                  <a:rPr sz="2400" b="0">
                    <a:solidFill>
                      <a:srgbClr val="78350F"/>
                    </a:solidFill>
                    <a:latin typeface="Arial"/>
                  </a:rPr>
                  <a:t> is the harmonic mean of </a:t>
                </a:r>
                <a:r>
                  <a:rPr lang="en-IN" sz="2400">
                    <a:solidFill>
                      <a:srgbClr val="78350F"/>
                    </a:solidFill>
                    <a:latin typeface="Cambria Math" panose="02040503050406030204" pitchFamily="18" charset="0"/>
                  </a:rPr>
                  <a:t>$a,c$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Expanding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m:t>
                    </m:r>
                  </m:oMath>
                </a14:m>
                <a:r>
                  <a:rPr sz="2400" b="0">
                    <a:solidFill>
                      <a:srgbClr val="111827"/>
                    </a:solidFill>
                    <a:latin typeface="Arial"/>
                  </a:rPr>
                  <a:t> (the same answer;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$D=b^2(c-a)^2-4ac(a-b)(b-c)$</a:t>
                </a:r>
                <a:r>
                  <a:rPr sz="2400" b="0">
                    <a:solidFill>
                      <a:srgbClr val="111827"/>
                    </a:solidFill>
                    <a:latin typeface="Arial"/>
                  </a:rPr>
                  <a:t>. Expanding </a:t>
                </a:r>
                <a:r>
                  <a:rPr lang="en-IN" sz="2400">
                    <a:solidFill>
                      <a:srgbClr val="111827"/>
                    </a:solidFill>
                    <a:latin typeface="Cambria Math" panose="02040503050406030204" pitchFamily="18" charset="0"/>
                  </a:rPr>
                  <a:t>$(a-b)(b-c)=ab+bc-ac-b^2$</a:t>
                </a:r>
                <a:r>
                  <a:rPr sz="2400" b="0">
                    <a:solidFill>
                      <a:srgbClr val="111827"/>
                    </a:solidFill>
                    <a:latin typeface="Arial"/>
                  </a:rPr>
                  <a:t> gives </a:t>
                </a:r>
                <a:r>
                  <a:rPr lang="en-IN" sz="2400">
                    <a:solidFill>
                      <a:srgbClr val="111827"/>
                    </a:solidFill>
                    <a:latin typeface="Cambria Math" panose="02040503050406030204" pitchFamily="18" charset="0"/>
                  </a:rPr>
                  <a:t>$D=b^2\left[(a-c)^2+4ac\right]-4abc(a+c)+4a^2c^2$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$=b^2(a+c)^2-4abc(a+c)+4a^2c^2=\left[b(a+c)-2ac\right]^2$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$D=0\Rightarrow2ac=b(a+c)=15\cdot\frac{36}5=108$</a:t>
                </a:r>
                <a:r>
                  <a:rPr sz="2400" b="0">
                    <a:solidFill>
                      <a:srgbClr val="111827"/>
                    </a:solidFill>
                    <a:latin typeface="Arial"/>
                  </a:rPr>
                  <a:t>, so </a:t>
                </a:r>
                <a:r>
                  <a:rPr lang="en-IN" sz="2400">
                    <a:solidFill>
                      <a:srgbClr val="111827"/>
                    </a:solidFill>
                    <a:latin typeface="Cambria Math" panose="02040503050406030204" pitchFamily="18" charset="0"/>
                  </a:rPr>
                  <a:t>$ac=54$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$a^2+c^2=15^2-108=117$</a:t>
                </a:r>
                <a:r>
                  <a:rPr sz="2400" b="0">
                    <a:solidFill>
                      <a:srgbClr val="111827"/>
                    </a:solidFill>
                    <a:latin typeface="Arial"/>
                  </a:rPr>
                  <a:t> (the same answer; </a:t>
                </a:r>
                <a:r>
                  <a:rPr lang="en-IN" sz="2400">
                    <a:solidFill>
                      <a:srgbClr val="111827"/>
                    </a:solidFill>
                    <a:latin typeface="Cambria Math" panose="02040503050406030204" pitchFamily="18" charset="0"/>
                  </a:rPr>
                  <a:t>$a,c$</a:t>
                </a:r>
                <a:r>
                  <a:rPr sz="2400" b="0">
                    <a:solidFill>
                      <a:srgbClr val="111827"/>
                    </a:solidFill>
                    <a:latin typeface="Arial"/>
                  </a:rPr>
                  <a:t> are </a:t>
                </a:r>
                <a:r>
                  <a:rPr lang="en-IN" sz="2400">
                    <a:solidFill>
                      <a:srgbClr val="111827"/>
                    </a:solidFill>
                    <a:latin typeface="Cambria Math" panose="02040503050406030204" pitchFamily="18" charset="0"/>
                  </a:rPr>
                  <a:t>$6,9$</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117</a:t>
            </a:r>
            <a:endParaRPr sz="2800">
              <a:solidFill>
                <a:srgbClr val="15803D"/>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coefficients of </a:t>
                </a:r>
                <a14:m>
                  <m:oMath xmlns:m="http://schemas.openxmlformats.org/officeDocument/2006/math">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add up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root and the other root is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equal roots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 H.P.). 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known,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finishes without finding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coefficients of </a:t>
                </a:r>
                <a:r>
                  <a:rPr lang="en-IN" sz="2400">
                    <a:solidFill>
                      <a:srgbClr val="111827"/>
                    </a:solidFill>
                    <a:latin typeface="Cambria Math" panose="02040503050406030204" pitchFamily="18" charset="0"/>
                  </a:rPr>
                  <a:t>$px^2+qx+r$</a:t>
                </a:r>
                <a:r>
                  <a:rPr sz="2400" b="0">
                    <a:solidFill>
                      <a:srgbClr val="111827"/>
                    </a:solidFill>
                    <a:latin typeface="Arial"/>
                  </a:rPr>
                  <a:t> add up to </a:t>
                </a:r>
                <a:r>
                  <a:rPr lang="en-IN" sz="2400">
                    <a:solidFill>
                      <a:srgbClr val="111827"/>
                    </a:solidFill>
                    <a:latin typeface="Cambria Math" panose="02040503050406030204" pitchFamily="18" charset="0"/>
                  </a:rPr>
                  <a:t>$0$</a:t>
                </a:r>
                <a:r>
                  <a:rPr sz="2400" b="0">
                    <a:solidFill>
                      <a:srgbClr val="111827"/>
                    </a:solidFill>
                    <a:latin typeface="Arial"/>
                  </a:rPr>
                  <a:t>, then </a:t>
                </a:r>
                <a:r>
                  <a:rPr lang="en-IN" sz="2400">
                    <a:solidFill>
                      <a:srgbClr val="111827"/>
                    </a:solidFill>
                    <a:latin typeface="Cambria Math" panose="02040503050406030204" pitchFamily="18" charset="0"/>
                  </a:rPr>
                  <a:t>$x=1$</a:t>
                </a:r>
                <a:r>
                  <a:rPr sz="2400" b="0">
                    <a:solidFill>
                      <a:srgbClr val="111827"/>
                    </a:solidFill>
                    <a:latin typeface="Arial"/>
                  </a:rPr>
                  <a:t> is a root and the other root is </a:t>
                </a:r>
                <a:r>
                  <a:rPr lang="en-IN" sz="2400">
                    <a:solidFill>
                      <a:srgbClr val="111827"/>
                    </a:solidFill>
                    <a:latin typeface="Cambria Math" panose="02040503050406030204" pitchFamily="18" charset="0"/>
                  </a:rPr>
                  <a:t>$r/p$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$a(b-c)x^2+b(c-a)x+c(a-b)=0$</a:t>
                </a:r>
                <a:r>
                  <a:rPr sz="2400" b="0">
                    <a:solidFill>
                      <a:srgbClr val="111827"/>
                    </a:solidFill>
                    <a:latin typeface="Arial"/>
                  </a:rPr>
                  <a:t> has equal roots </a:t>
                </a:r>
                <a:r>
                  <a:rPr lang="en-IN" sz="2400">
                    <a:solidFill>
                      <a:srgbClr val="111827"/>
                    </a:solidFill>
                    <a:latin typeface="Cambria Math" panose="02040503050406030204" pitchFamily="18" charset="0"/>
                  </a:rPr>
                  <a:t>$\iff\frac2b=\frac1a+\frac1c$</a:t>
                </a:r>
                <a:r>
                  <a:rPr sz="2400" b="0">
                    <a:solidFill>
                      <a:srgbClr val="111827"/>
                    </a:solidFill>
                    <a:latin typeface="Arial"/>
                  </a:rPr>
                  <a:t> (</a:t>
                </a:r>
                <a:r>
                  <a:rPr lang="en-IN" sz="2400">
                    <a:solidFill>
                      <a:srgbClr val="111827"/>
                    </a:solidFill>
                    <a:latin typeface="Cambria Math" panose="02040503050406030204" pitchFamily="18" charset="0"/>
                  </a:rPr>
                  <a:t>$a,b,c$</a:t>
                </a:r>
                <a:r>
                  <a:rPr sz="2400" b="0">
                    <a:solidFill>
                      <a:srgbClr val="111827"/>
                    </a:solidFill>
                    <a:latin typeface="Arial"/>
                  </a:rPr>
                  <a:t> in H.P.). Check: </a:t>
                </a:r>
                <a:r>
                  <a:rPr lang="en-IN" sz="2400">
                    <a:solidFill>
                      <a:srgbClr val="111827"/>
                    </a:solidFill>
                    <a:latin typeface="Cambria Math" panose="02040503050406030204" pitchFamily="18" charset="0"/>
                  </a:rPr>
                  <a:t>$a=6,c=9,b=7.2$</a:t>
                </a:r>
                <a:r>
                  <a:rPr sz="2400" b="0">
                    <a:solidFill>
                      <a:srgbClr val="111827"/>
                    </a:solidFill>
                    <a:latin typeface="Arial"/>
                  </a:rPr>
                  <a:t> gives </a:t>
                </a:r>
                <a:r>
                  <a:rPr lang="en-IN" sz="2400">
                    <a:solidFill>
                      <a:srgbClr val="111827"/>
                    </a:solidFill>
                    <a:latin typeface="Cambria Math" panose="02040503050406030204" pitchFamily="18" charset="0"/>
                  </a:rPr>
                  <a:t>$-10.8(x-1)^2$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$a+c$</a:t>
                </a:r>
                <a:r>
                  <a:rPr sz="2400" b="0">
                    <a:solidFill>
                      <a:srgbClr val="111827"/>
                    </a:solidFill>
                    <a:latin typeface="Arial"/>
                  </a:rPr>
                  <a:t> and </a:t>
                </a:r>
                <a:r>
                  <a:rPr lang="en-IN" sz="2400">
                    <a:solidFill>
                      <a:srgbClr val="111827"/>
                    </a:solidFill>
                    <a:latin typeface="Cambria Math" panose="02040503050406030204" pitchFamily="18" charset="0"/>
                  </a:rPr>
                  <a:t>$ac$</a:t>
                </a:r>
                <a:r>
                  <a:rPr sz="2400" b="0">
                    <a:solidFill>
                      <a:srgbClr val="111827"/>
                    </a:solidFill>
                    <a:latin typeface="Arial"/>
                  </a:rPr>
                  <a:t> known, </a:t>
                </a:r>
                <a:r>
                  <a:rPr lang="en-IN" sz="2400">
                    <a:solidFill>
                      <a:srgbClr val="111827"/>
                    </a:solidFill>
                    <a:latin typeface="Cambria Math" panose="02040503050406030204" pitchFamily="18" charset="0"/>
                  </a:rPr>
                  <a:t>$a^2+c^2=(a+c)^2-2ac$</a:t>
                </a:r>
                <a:r>
                  <a:rPr sz="2400" b="0">
                    <a:solidFill>
                      <a:srgbClr val="111827"/>
                    </a:solidFill>
                    <a:latin typeface="Arial"/>
                  </a:rPr>
                  <a:t> finishes without finding </a:t>
                </a:r>
                <a:r>
                  <a:rPr lang="en-IN" sz="2400">
                    <a:solidFill>
                      <a:srgbClr val="111827"/>
                    </a:solidFill>
                    <a:latin typeface="Cambria Math" panose="02040503050406030204" pitchFamily="18" charset="0"/>
                  </a:rPr>
                  <a:t>$a,c$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be the roots of the 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m:rPr>
                        <m:nor/>
                      </m:rPr>
                      <a:rPr lang="en-IN" sz="2400" i="1">
                        <a:solidFill>
                          <a:srgbClr val="111827"/>
                        </a:solidFill>
                        <a:latin typeface="Cambria Math" panose="02040503050406030204" pitchFamily="18" charset="0"/>
                      </a:rPr>
                      <m:t>𝐼𝑚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m:rPr>
                        <m:nor/>
                      </m:rPr>
                      <a:rPr lang="en-IN" sz="2400" i="1">
                        <a:solidFill>
                          <a:srgbClr val="111827"/>
                        </a:solidFill>
                        <a:latin typeface="Cambria Math" panose="02040503050406030204" pitchFamily="18" charset="0"/>
                      </a:rPr>
                      <m:t>𝐼𝑚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$\alpha,\beta$</a:t>
                </a:r>
                <a:r>
                  <a:rPr sz="2400" b="0">
                    <a:solidFill>
                      <a:srgbClr val="111827"/>
                    </a:solidFill>
                    <a:latin typeface="Arial"/>
                  </a:rPr>
                  <a:t> be the roots of the equation </a:t>
                </a:r>
                <a:r>
                  <a:rPr lang="en-IN" sz="2400">
                    <a:solidFill>
                      <a:srgbClr val="111827"/>
                    </a:solidFill>
                    <a:latin typeface="Cambria Math" panose="02040503050406030204" pitchFamily="18" charset="0"/>
                  </a:rPr>
                  <a:t>$x^2-ax-b=0$</a:t>
                </a:r>
                <a:r>
                  <a:rPr sz="2400" b="0">
                    <a:solidFill>
                      <a:srgbClr val="111827"/>
                    </a:solidFill>
                    <a:latin typeface="Arial"/>
                  </a:rPr>
                  <a:t> with </a:t>
                </a:r>
                <a:r>
                  <a:rPr lang="en-IN" sz="2400">
                    <a:solidFill>
                      <a:srgbClr val="111827"/>
                    </a:solidFill>
                    <a:latin typeface="Cambria Math" panose="02040503050406030204" pitchFamily="18" charset="0"/>
                  </a:rPr>
                  <a:t>$\text{Im}(\alpha)&lt;\text{Im}(\beta)$</a:t>
                </a:r>
                <a:r>
                  <a:rPr sz="2400" b="0">
                    <a:solidFill>
                      <a:srgbClr val="111827"/>
                    </a:solidFill>
                    <a:latin typeface="Arial"/>
                  </a:rPr>
                  <a:t>. Let </a:t>
                </a:r>
                <a:r>
                  <a:rPr lang="en-IN" sz="2400">
                    <a:solidFill>
                      <a:srgbClr val="111827"/>
                    </a:solidFill>
                    <a:latin typeface="Cambria Math" panose="02040503050406030204" pitchFamily="18" charset="0"/>
                  </a:rPr>
                  <a:t>$P_n=\alpha^n-\beta^n$</a:t>
                </a:r>
                <a:r>
                  <a:rPr sz="2400" b="0">
                    <a:solidFill>
                      <a:srgbClr val="111827"/>
                    </a:solidFill>
                    <a:latin typeface="Arial"/>
                  </a:rPr>
                  <a:t>. If </a:t>
                </a:r>
                <a:r>
                  <a:rPr lang="en-IN" sz="2400">
                    <a:solidFill>
                      <a:srgbClr val="111827"/>
                    </a:solidFill>
                    <a:latin typeface="Cambria Math" panose="02040503050406030204" pitchFamily="18" charset="0"/>
                  </a:rPr>
                  <a:t>$P_3=-5\sqrt7\,i$</a:t>
                </a:r>
                <a:r>
                  <a:rPr sz="2400" b="0">
                    <a:solidFill>
                      <a:srgbClr val="111827"/>
                    </a:solidFill>
                    <a:latin typeface="Arial"/>
                  </a:rPr>
                  <a:t>, </a:t>
                </a:r>
                <a:r>
                  <a:rPr lang="en-IN" sz="2400">
                    <a:solidFill>
                      <a:srgbClr val="111827"/>
                    </a:solidFill>
                    <a:latin typeface="Cambria Math" panose="02040503050406030204" pitchFamily="18" charset="0"/>
                  </a:rPr>
                  <a:t>$P_4=-3\sqrt7\,i$</a:t>
                </a:r>
                <a:r>
                  <a:rPr sz="2400" b="0">
                    <a:solidFill>
                      <a:srgbClr val="111827"/>
                    </a:solidFill>
                    <a:latin typeface="Arial"/>
                  </a:rPr>
                  <a:t>, </a:t>
                </a:r>
                <a:r>
                  <a:rPr lang="en-IN" sz="2400">
                    <a:solidFill>
                      <a:srgbClr val="111827"/>
                    </a:solidFill>
                    <a:latin typeface="Cambria Math" panose="02040503050406030204" pitchFamily="18" charset="0"/>
                  </a:rPr>
                  <a:t>$P_5=11\sqrt7\,i$</a:t>
                </a:r>
                <a:r>
                  <a:rPr sz="2400" b="0">
                    <a:solidFill>
                      <a:srgbClr val="111827"/>
                    </a:solidFill>
                    <a:latin typeface="Arial"/>
                  </a:rPr>
                  <a:t> and </a:t>
                </a:r>
                <a:r>
                  <a:rPr lang="en-IN" sz="2400">
                    <a:solidFill>
                      <a:srgbClr val="111827"/>
                    </a:solidFill>
                    <a:latin typeface="Cambria Math" panose="02040503050406030204" pitchFamily="18" charset="0"/>
                  </a:rPr>
                  <a:t>$P_6=45\sqrt7\,i$</a:t>
                </a:r>
                <a:r>
                  <a:rPr sz="2400" b="0">
                    <a:solidFill>
                      <a:srgbClr val="111827"/>
                    </a:solidFill>
                    <a:latin typeface="Arial"/>
                  </a:rPr>
                  <a:t>, then </a:t>
                </a:r>
                <a:r>
                  <a:rPr lang="en-IN" sz="2400">
                    <a:solidFill>
                      <a:srgbClr val="111827"/>
                    </a:solidFill>
                    <a:latin typeface="Cambria Math" panose="02040503050406030204" pitchFamily="18" charset="0"/>
                  </a:rPr>
                  <a:t>$|\alpha^4+\beta^4|$</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Quadratic equation: power sums and recurrence of roots, Complex numbers: modulus and imaginary part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Sub>
                  </m:oMath>
                </a14:m>
                <a:r>
                  <a:rPr sz="2400" b="0">
                    <a:solidFill>
                      <a:srgbClr val="78350F"/>
                    </a:solidFill>
                    <a:latin typeface="Arial"/>
                  </a:rPr>
                  <a:t> for roots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two instances fix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β</m:t>
                        </m:r>
                      </m:e>
                      <m:sup>
                        <m:r>
                          <a:rPr lang="en-IN" sz="2400" i="1">
                            <a:solidFill>
                              <a:srgbClr val="78350F"/>
                            </a:solidFill>
                            <a:latin typeface="Cambria Math" panose="02040503050406030204" pitchFamily="18" charset="0"/>
                          </a:rPr>
                          <m:t>4</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4</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$P_n=aP_{n-1}+bP_{n-2}$</a:t>
                </a:r>
                <a:r>
                  <a:rPr sz="2400" b="0">
                    <a:solidFill>
                      <a:srgbClr val="78350F"/>
                    </a:solidFill>
                    <a:latin typeface="Arial"/>
                  </a:rPr>
                  <a:t> for roots of </a:t>
                </a:r>
                <a:r>
                  <a:rPr lang="en-IN" sz="2400">
                    <a:solidFill>
                      <a:srgbClr val="78350F"/>
                    </a:solidFill>
                    <a:latin typeface="Cambria Math" panose="02040503050406030204" pitchFamily="18" charset="0"/>
                  </a:rPr>
                  <a:t>$x^2=ax+b$</a:t>
                </a:r>
                <a:r>
                  <a:rPr sz="2400" b="0">
                    <a:solidFill>
                      <a:srgbClr val="78350F"/>
                    </a:solidFill>
                    <a:latin typeface="Arial"/>
                  </a:rPr>
                  <a:t>; two instances fix </a:t>
                </a:r>
                <a:r>
                  <a:rPr lang="en-IN" sz="2400">
                    <a:solidFill>
                      <a:srgbClr val="78350F"/>
                    </a:solidFill>
                    <a:latin typeface="Cambria Math" panose="02040503050406030204" pitchFamily="18" charset="0"/>
                  </a:rPr>
                  <a:t>$a,b$</a:t>
                </a:r>
                <a:r>
                  <a:rPr sz="2400" b="0">
                    <a:solidFill>
                      <a:srgbClr val="78350F"/>
                    </a:solidFill>
                    <a:latin typeface="Arial"/>
                  </a:rPr>
                  <a:t>, and </a:t>
                </a:r>
                <a:r>
                  <a:rPr lang="en-IN" sz="2400">
                    <a:solidFill>
                      <a:srgbClr val="78350F"/>
                    </a:solidFill>
                    <a:latin typeface="Cambria Math" panose="02040503050406030204" pitchFamily="18" charset="0"/>
                  </a:rPr>
                  <a:t>$(\alpha^4+\beta^4)^2=P_4^2+4(\alpha\beta)^4$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we get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𝑏</m:t>
                    </m:r>
                  </m:oMath>
                </a14:m>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$\alpha+\beta=a$</a:t>
                </a:r>
                <a:r>
                  <a:rPr sz="2400" b="0">
                    <a:solidFill>
                      <a:srgbClr val="111827"/>
                    </a:solidFill>
                    <a:latin typeface="Arial"/>
                  </a:rPr>
                  <a:t> and </a:t>
                </a:r>
                <a:r>
                  <a:rPr lang="en-IN" sz="2400">
                    <a:solidFill>
                      <a:srgbClr val="111827"/>
                    </a:solidFill>
                    <a:latin typeface="Cambria Math" panose="02040503050406030204" pitchFamily="18" charset="0"/>
                  </a:rPr>
                  <a:t>$\alpha\beta=-b$</a:t>
                </a:r>
                <a:r>
                  <a:rPr sz="2400" b="0">
                    <a:solidFill>
                      <a:srgbClr val="111827"/>
                    </a:solidFill>
                    <a:latin typeface="Arial"/>
                  </a:rPr>
                  <a:t>. Since </a:t>
                </a:r>
                <a:r>
                  <a:rPr lang="en-IN" sz="2400">
                    <a:solidFill>
                      <a:srgbClr val="111827"/>
                    </a:solidFill>
                    <a:latin typeface="Cambria Math" panose="02040503050406030204" pitchFamily="18" charset="0"/>
                  </a:rPr>
                  <a:t>$\alpha^2=a\alpha+b$</a:t>
                </a:r>
                <a:r>
                  <a:rPr sz="2400" b="0">
                    <a:solidFill>
                      <a:srgbClr val="111827"/>
                    </a:solidFill>
                    <a:latin typeface="Arial"/>
                  </a:rPr>
                  <a:t> and </a:t>
                </a:r>
                <a:r>
                  <a:rPr lang="en-IN" sz="2400">
                    <a:solidFill>
                      <a:srgbClr val="111827"/>
                    </a:solidFill>
                    <a:latin typeface="Cambria Math" panose="02040503050406030204" pitchFamily="18" charset="0"/>
                  </a:rPr>
                  <a:t>$\beta^2=a\beta+b$</a:t>
                </a:r>
                <a:r>
                  <a:rPr sz="2400" b="0">
                    <a:solidFill>
                      <a:srgbClr val="111827"/>
                    </a:solidFill>
                    <a:latin typeface="Arial"/>
                  </a:rPr>
                  <a:t>, we get </a:t>
                </a:r>
                <a:r>
                  <a:rPr lang="en-IN" sz="2400">
                    <a:solidFill>
                      <a:srgbClr val="111827"/>
                    </a:solidFill>
                    <a:latin typeface="Cambria Math" panose="02040503050406030204" pitchFamily="18" charset="0"/>
                  </a:rPr>
                  <a:t>$P_n=aP_{n-1}+bP_{n-2}$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$P_6=aP_5+bP_4$</a:t>
                </a:r>
                <a:r>
                  <a:rPr sz="2400" b="0">
                    <a:solidFill>
                      <a:srgbClr val="111827"/>
                    </a:solidFill>
                    <a:latin typeface="Arial"/>
                  </a:rPr>
                  <a:t>: </a:t>
                </a:r>
                <a:r>
                  <a:rPr lang="en-IN" sz="2400">
                    <a:solidFill>
                      <a:srgbClr val="111827"/>
                    </a:solidFill>
                    <a:latin typeface="Cambria Math" panose="02040503050406030204" pitchFamily="18" charset="0"/>
                  </a:rPr>
                  <a:t>$45\sqrt7\,i=a\cdot11\sqrt7\,i+b(-3\sqrt7\,i)\Rightarrow11a-3b=45$</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$P_5=aP_4+bP_3$</a:t>
                </a:r>
                <a:r>
                  <a:rPr sz="2400" b="0">
                    <a:solidFill>
                      <a:srgbClr val="111827"/>
                    </a:solidFill>
                    <a:latin typeface="Arial"/>
                  </a:rPr>
                  <a:t>: </a:t>
                </a:r>
                <a:r>
                  <a:rPr lang="en-IN" sz="2400">
                    <a:solidFill>
                      <a:srgbClr val="111827"/>
                    </a:solidFill>
                    <a:latin typeface="Cambria Math" panose="02040503050406030204" pitchFamily="18" charset="0"/>
                  </a:rPr>
                  <a:t>$11\sqrt7\,i=a(-3\sqrt7\,i)+b(-5\sqrt7\,i)\Rightarrow11=-3a-5b$</a:t>
                </a:r>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(i) and (ii):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$b=-4$</a:t>
                </a:r>
                <a:r>
                  <a:rPr sz="2400" b="0">
                    <a:solidFill>
                      <a:srgbClr val="111827"/>
                    </a:solidFill>
                    <a:latin typeface="Arial"/>
                  </a:rPr>
                  <a:t> (check: </a:t>
                </a:r>
                <a:r>
                  <a:rPr lang="en-IN" sz="2400">
                    <a:solidFill>
                      <a:srgbClr val="111827"/>
                    </a:solidFill>
                    <a:latin typeface="Cambria Math" panose="02040503050406030204" pitchFamily="18" charset="0"/>
                  </a:rPr>
                  <a:t>$33+12=45$</a:t>
                </a:r>
                <a:r>
                  <a:rPr sz="2400" b="0">
                    <a:solidFill>
                      <a:srgbClr val="111827"/>
                    </a:solidFill>
                    <a:latin typeface="Arial"/>
                  </a:rPr>
                  <a:t>, </a:t>
                </a:r>
                <a:r>
                  <a:rPr lang="en-IN" sz="2400">
                    <a:solidFill>
                      <a:srgbClr val="111827"/>
                    </a:solidFill>
                    <a:latin typeface="Cambria Math" panose="02040503050406030204" pitchFamily="18" charset="0"/>
                  </a:rPr>
                  <a:t>$-9+20=11$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e>
                    </m:rad>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961</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$|\alpha^4+\beta^4|=\sqrt{(\alpha^4-\beta^4)^2+4(\alpha\beta)^4}$</a:t>
                </a:r>
                <a:r>
                  <a:rPr sz="2400" b="0">
                    <a:solidFill>
                      <a:srgbClr val="111827"/>
                    </a:solidFill>
                    <a:latin typeface="Arial"/>
                  </a:rPr>
                  <a:t>, since </a:t>
                </a:r>
                <a:r>
                  <a:rPr lang="en-IN" sz="2400">
                    <a:solidFill>
                      <a:srgbClr val="111827"/>
                    </a:solidFill>
                    <a:latin typeface="Cambria Math" panose="02040503050406030204" pitchFamily="18" charset="0"/>
                  </a:rPr>
                  <a:t>$(u+v)^2=(u-v)^2+4uv$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$(\alpha^4-\beta^4)^2=P_4^2=(-3\sqrt7\,i)^2=-63$</a:t>
                </a:r>
                <a:r>
                  <a:rPr sz="2400" b="0">
                    <a:solidFill>
                      <a:srgbClr val="111827"/>
                    </a:solidFill>
                    <a:latin typeface="Arial"/>
                  </a:rPr>
                  <a:t> and </a:t>
                </a:r>
                <a:r>
                  <a:rPr lang="en-IN" sz="2400">
                    <a:solidFill>
                      <a:srgbClr val="111827"/>
                    </a:solidFill>
                    <a:latin typeface="Cambria Math" panose="02040503050406030204" pitchFamily="18" charset="0"/>
                  </a:rPr>
                  <a:t>$4(\alpha\beta)^4=4(-b)^4=4\cdot256=1024$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$|\alpha^4+\beta^4|=\sqrt{-63+1024}=\sqrt{961}=31$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31</a:t>
            </a:r>
            <a:endParaRPr sz="2800">
              <a:solidFill>
                <a:srgbClr val="15803D"/>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Once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are known, use symmetric functions: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and Newton's identities for </a:t>
                </a:r>
                <a14:m>
                  <m:oMath xmlns:m="http://schemas.openxmlformats.org/officeDocument/2006/math">
                    <m:sSup>
                      <m:e>
                        <m:r>
                          <a:rPr lang="en-IN" sz="2400" i="1">
                            <a:solidFill>
                              <a:srgbClr val="78350F"/>
                            </a:solidFill>
                            <a:latin typeface="Cambria Math" panose="02040503050406030204" pitchFamily="18" charset="0"/>
                          </a:rPr>
                          <m:t>α</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β</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Once </a:t>
                </a:r>
                <a:r>
                  <a:rPr lang="en-IN" sz="2400">
                    <a:solidFill>
                      <a:srgbClr val="78350F"/>
                    </a:solidFill>
                    <a:latin typeface="Cambria Math" panose="02040503050406030204" pitchFamily="18" charset="0"/>
                  </a:rPr>
                  <a:t>$a=3,b=-4$</a:t>
                </a:r>
                <a:r>
                  <a:rPr sz="2400" b="0">
                    <a:solidFill>
                      <a:srgbClr val="78350F"/>
                    </a:solidFill>
                    <a:latin typeface="Arial"/>
                  </a:rPr>
                  <a:t> are known, use symmetric functions: </a:t>
                </a:r>
                <a:r>
                  <a:rPr lang="en-IN" sz="2400">
                    <a:solidFill>
                      <a:srgbClr val="78350F"/>
                    </a:solidFill>
                    <a:latin typeface="Cambria Math" panose="02040503050406030204" pitchFamily="18" charset="0"/>
                  </a:rPr>
                  <a:t>$\alpha+\beta=3$</a:t>
                </a:r>
                <a:r>
                  <a:rPr sz="2400" b="0">
                    <a:solidFill>
                      <a:srgbClr val="78350F"/>
                    </a:solidFill>
                    <a:latin typeface="Arial"/>
                  </a:rPr>
                  <a:t>, </a:t>
                </a:r>
                <a:r>
                  <a:rPr lang="en-IN" sz="2400">
                    <a:solidFill>
                      <a:srgbClr val="78350F"/>
                    </a:solidFill>
                    <a:latin typeface="Cambria Math" panose="02040503050406030204" pitchFamily="18" charset="0"/>
                  </a:rPr>
                  <a:t>$\alpha\beta=4$</a:t>
                </a:r>
                <a:r>
                  <a:rPr sz="2400" b="0">
                    <a:solidFill>
                      <a:srgbClr val="78350F"/>
                    </a:solidFill>
                    <a:latin typeface="Arial"/>
                  </a:rPr>
                  <a:t>, and Newton's identities for </a:t>
                </a:r>
                <a:r>
                  <a:rPr lang="en-IN" sz="2400">
                    <a:solidFill>
                      <a:srgbClr val="78350F"/>
                    </a:solidFill>
                    <a:latin typeface="Cambria Math" panose="02040503050406030204" pitchFamily="18" charset="0"/>
                  </a:rPr>
                  <a:t>$\alpha^4+\beta^4$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recurrence on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 (the same answer; the roots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consistent with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recurrence on </a:t>
                </a:r>
                <a:r>
                  <a:rPr lang="en-IN" sz="2400">
                    <a:solidFill>
                      <a:srgbClr val="111827"/>
                    </a:solidFill>
                    <a:latin typeface="Cambria Math" panose="02040503050406030204" pitchFamily="18" charset="0"/>
                  </a:rPr>
                  <a:t>$P_6,P_5,P_4,P_3$</a:t>
                </a:r>
                <a:r>
                  <a:rPr sz="2400" b="0">
                    <a:solidFill>
                      <a:srgbClr val="111827"/>
                    </a:solidFill>
                    <a:latin typeface="Arial"/>
                  </a:rPr>
                  <a:t>: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$b=-4$</a:t>
                </a:r>
                <a:r>
                  <a:rPr sz="2400" b="0">
                    <a:solidFill>
                      <a:srgbClr val="111827"/>
                    </a:solidFill>
                    <a:latin typeface="Arial"/>
                  </a:rPr>
                  <a:t>, so </a:t>
                </a:r>
                <a:r>
                  <a:rPr lang="en-IN" sz="2400">
                    <a:solidFill>
                      <a:srgbClr val="111827"/>
                    </a:solidFill>
                    <a:latin typeface="Cambria Math" panose="02040503050406030204" pitchFamily="18" charset="0"/>
                  </a:rPr>
                  <a:t>$\alpha+\beta=3$</a:t>
                </a:r>
                <a:r>
                  <a:rPr sz="2400" b="0">
                    <a:solidFill>
                      <a:srgbClr val="111827"/>
                    </a:solidFill>
                    <a:latin typeface="Arial"/>
                  </a:rPr>
                  <a:t> and </a:t>
                </a:r>
                <a:r>
                  <a:rPr lang="en-IN" sz="2400">
                    <a:solidFill>
                      <a:srgbClr val="111827"/>
                    </a:solidFill>
                    <a:latin typeface="Cambria Math" panose="02040503050406030204" pitchFamily="18" charset="0"/>
                  </a:rPr>
                  <a:t>$\alpha\beta=-b=4$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$\alpha^2+\beta^2=(\alpha+\beta)^2-2\alpha\beta=9-8=1$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$\alpha^4+\beta^4=(\alpha^2+\beta^2)^2-2(\alpha\beta)^2=1-32=-31$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$|\alpha^4+\beta^4|=31$</a:t>
                </a:r>
                <a:r>
                  <a:rPr sz="2400" b="0">
                    <a:solidFill>
                      <a:srgbClr val="111827"/>
                    </a:solidFill>
                    <a:latin typeface="Arial"/>
                  </a:rPr>
                  <a:t> (the same answer; the roots are </a:t>
                </a:r>
                <a:r>
                  <a:rPr lang="en-IN" sz="2400">
                    <a:solidFill>
                      <a:srgbClr val="111827"/>
                    </a:solidFill>
                    <a:latin typeface="Cambria Math" panose="02040503050406030204" pitchFamily="18" charset="0"/>
                  </a:rPr>
                  <a:t>$\frac{3\mp i\sqrt7}2$</a:t>
                </a:r>
                <a:r>
                  <a:rPr sz="2400" b="0">
                    <a:solidFill>
                      <a:srgbClr val="111827"/>
                    </a:solidFill>
                    <a:latin typeface="Arial"/>
                  </a:rPr>
                  <a:t>, consistent with </a:t>
                </a:r>
                <a:r>
                  <a:rPr lang="en-IN" sz="2400">
                    <a:solidFill>
                      <a:srgbClr val="111827"/>
                    </a:solidFill>
                    <a:latin typeface="Cambria Math" panose="02040503050406030204" pitchFamily="18" charset="0"/>
                  </a:rPr>
                  <a:t>$P_3=-5\sqrt7\,i$</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31</a:t>
            </a:r>
            <a:endParaRPr sz="2800">
              <a:solidFill>
                <a:srgbClr val="15803D"/>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roots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both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satisfy </a:t>
                </a:r>
                <a14:m>
                  <m:oMath xmlns:m="http://schemas.openxmlformats.org/officeDocument/2006/math">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𝑋</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two consecutive relations determine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𝑛</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961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roots of </a:t>
                </a:r>
                <a:r>
                  <a:rPr lang="en-IN" sz="2400">
                    <a:solidFill>
                      <a:srgbClr val="111827"/>
                    </a:solidFill>
                    <a:latin typeface="Cambria Math" panose="02040503050406030204" pitchFamily="18" charset="0"/>
                  </a:rPr>
                  <a:t>$x^2=ax+b$</a:t>
                </a:r>
                <a:r>
                  <a:rPr sz="2400" b="0">
                    <a:solidFill>
                      <a:srgbClr val="111827"/>
                    </a:solidFill>
                    <a:latin typeface="Arial"/>
                  </a:rPr>
                  <a:t>, both </a:t>
                </a:r>
                <a:r>
                  <a:rPr lang="en-IN" sz="2400">
                    <a:solidFill>
                      <a:srgbClr val="111827"/>
                    </a:solidFill>
                    <a:latin typeface="Cambria Math" panose="02040503050406030204" pitchFamily="18" charset="0"/>
                  </a:rPr>
                  <a:t>$P_n=\alpha^n-\beta^n$</a:t>
                </a:r>
                <a:r>
                  <a:rPr sz="2400" b="0">
                    <a:solidFill>
                      <a:srgbClr val="111827"/>
                    </a:solidFill>
                    <a:latin typeface="Arial"/>
                  </a:rPr>
                  <a:t> and </a:t>
                </a:r>
                <a:r>
                  <a:rPr lang="en-IN" sz="2400">
                    <a:solidFill>
                      <a:srgbClr val="111827"/>
                    </a:solidFill>
                    <a:latin typeface="Cambria Math" panose="02040503050406030204" pitchFamily="18" charset="0"/>
                  </a:rPr>
                  <a:t>$S_n=\alpha^n+\beta^n$</a:t>
                </a:r>
                <a:r>
                  <a:rPr sz="2400" b="0">
                    <a:solidFill>
                      <a:srgbClr val="111827"/>
                    </a:solidFill>
                    <a:latin typeface="Arial"/>
                  </a:rPr>
                  <a:t> satisfy </a:t>
                </a:r>
                <a:r>
                  <a:rPr lang="en-IN" sz="2400">
                    <a:solidFill>
                      <a:srgbClr val="111827"/>
                    </a:solidFill>
                    <a:latin typeface="Cambria Math" panose="02040503050406030204" pitchFamily="18" charset="0"/>
                  </a:rPr>
                  <a:t>$X_n=aX_{n-1}+bX_{n-2}$</a:t>
                </a:r>
                <a:r>
                  <a:rPr sz="2400" b="0">
                    <a:solidFill>
                      <a:srgbClr val="111827"/>
                    </a:solidFill>
                    <a:latin typeface="Arial"/>
                  </a:rPr>
                  <a:t>; two consecutive relations determine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$S_n^2-P_n^2=4(\alpha\beta)^n$</a:t>
                </a:r>
                <a:r>
                  <a:rPr sz="2400" b="0">
                    <a:solidFill>
                      <a:srgbClr val="111827"/>
                    </a:solidFill>
                    <a:latin typeface="Arial"/>
                  </a:rPr>
                  <a:t>. Check: </a:t>
                </a:r>
                <a:r>
                  <a:rPr lang="en-IN" sz="2400">
                    <a:solidFill>
                      <a:srgbClr val="111827"/>
                    </a:solidFill>
                    <a:latin typeface="Cambria Math" panose="02040503050406030204" pitchFamily="18" charset="0"/>
                  </a:rPr>
                  <a:t>$961-(-63)=1024=4\cdot4^4$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$\alpha^2+\beta^2=a^2+2b$</a:t>
                </a:r>
                <a:r>
                  <a:rPr sz="2400" b="0">
                    <a:solidFill>
                      <a:srgbClr val="111827"/>
                    </a:solidFill>
                    <a:latin typeface="Arial"/>
                  </a:rPr>
                  <a:t> and </a:t>
                </a:r>
                <a:r>
                  <a:rPr lang="en-IN" sz="2400">
                    <a:solidFill>
                      <a:srgbClr val="111827"/>
                    </a:solidFill>
                    <a:latin typeface="Cambria Math" panose="02040503050406030204" pitchFamily="18" charset="0"/>
                  </a:rPr>
                  <a:t>$\alpha^4+\beta^4=(\alpha^2+\beta^2)^2-2(\alpha\beta)^2$</a:t>
                </a:r>
                <a:r>
                  <a:rPr sz="2400" b="0">
                    <a:solidFill>
                      <a:srgbClr val="111827"/>
                    </a:solidFill>
                    <a:latin typeface="Arial"/>
                  </a:rPr>
                  <a:t> for </a:t>
                </a:r>
                <a:r>
                  <a:rPr lang="en-IN" sz="2400">
                    <a:solidFill>
                      <a:srgbClr val="111827"/>
                    </a:solidFill>
                    <a:latin typeface="Cambria Math" panose="02040503050406030204" pitchFamily="18" charset="0"/>
                  </a:rPr>
                  <a:t>$x^2-ax-b$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singular matrices of order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whose elements are from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singular matrices of order </a:t>
                </a:r>
                <a:r>
                  <a:rPr lang="en-IN" sz="2400">
                    <a:solidFill>
                      <a:srgbClr val="111827"/>
                    </a:solidFill>
                    <a:latin typeface="Cambria Math" panose="02040503050406030204" pitchFamily="18" charset="0"/>
                  </a:rPr>
                  <a:t>$2$</a:t>
                </a:r>
                <a:r>
                  <a:rPr sz="2400" b="0">
                    <a:solidFill>
                      <a:srgbClr val="111827"/>
                    </a:solidFill>
                    <a:latin typeface="Arial"/>
                  </a:rPr>
                  <a:t>, whose elements are from the set </a:t>
                </a:r>
                <a:r>
                  <a:rPr lang="en-IN" sz="2400">
                    <a:solidFill>
                      <a:srgbClr val="111827"/>
                    </a:solidFill>
                    <a:latin typeface="Cambria Math" panose="02040503050406030204" pitchFamily="18" charset="0"/>
                  </a:rPr>
                  <a:t>$\{2,3,6,9\}$</a:t>
                </a:r>
                <a:r>
                  <a:rPr sz="2400" b="0">
                    <a:solidFill>
                      <a:srgbClr val="111827"/>
                    </a:solidFill>
                    <a:latin typeface="Arial"/>
                  </a:rPr>
                  <a:t>, is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Singular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matrices, Counting with repetition and casework</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Singular </a:t>
                </a:r>
                <a:r>
                  <a:rPr lang="en-IN" sz="2400">
                    <a:solidFill>
                      <a:srgbClr val="111827"/>
                    </a:solidFill>
                    <a:latin typeface="Cambria Math" panose="02040503050406030204" pitchFamily="18" charset="0"/>
                  </a:rPr>
                  <a:t>$2\times2$</a:t>
                </a:r>
                <a:r>
                  <a:rPr sz="2400" b="0">
                    <a:solidFill>
                      <a:srgbClr val="111827"/>
                    </a:solidFill>
                    <a:latin typeface="Arial"/>
                  </a:rPr>
                  <a:t> matrices, Counting with repetition and casework</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matrix is singular iff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oMath>
                </a14:m>
                <a:r>
                  <a:rPr sz="2400" b="0">
                    <a:solidFill>
                      <a:srgbClr val="78350F"/>
                    </a:solidFill>
                    <a:latin typeface="Arial"/>
                  </a:rPr>
                  <a:t>; classify by how many distinct numbers it uses.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a:t>
                </a:r>
                <a:r>
                  <a:rPr lang="en-IN" sz="2400">
                    <a:solidFill>
                      <a:srgbClr val="78350F"/>
                    </a:solidFill>
                    <a:latin typeface="Cambria Math" panose="02040503050406030204" pitchFamily="18" charset="0"/>
                  </a:rPr>
                  <a:t>$2\times2$</a:t>
                </a:r>
                <a:r>
                  <a:rPr sz="2400" b="0">
                    <a:solidFill>
                      <a:srgbClr val="78350F"/>
                    </a:solidFill>
                    <a:latin typeface="Arial"/>
                  </a:rPr>
                  <a:t> matrix is singular iff </a:t>
                </a:r>
                <a:r>
                  <a:rPr lang="en-IN" sz="2400">
                    <a:solidFill>
                      <a:srgbClr val="78350F"/>
                    </a:solidFill>
                    <a:latin typeface="Cambria Math" panose="02040503050406030204" pitchFamily="18" charset="0"/>
                  </a:rPr>
                  <a:t>$ad=bc$</a:t>
                </a:r>
                <a:r>
                  <a:rPr sz="2400" b="0">
                    <a:solidFill>
                      <a:srgbClr val="78350F"/>
                    </a:solidFill>
                    <a:latin typeface="Arial"/>
                  </a:rPr>
                  <a:t>; classify by how many distinct numbers it uses.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𝑐</m:t>
                              </m:r>
                            </m:e>
                            <m:e>
                              <m:r>
                                <a:rPr lang="en-IN" sz="2400" i="1">
                                  <a:solidFill>
                                    <a:srgbClr val="111827"/>
                                  </a:solidFill>
                                  <a:latin typeface="Cambria Math" panose="02040503050406030204" pitchFamily="18" charset="0"/>
                                </a:rPr>
                                <m:t>𝑑</m:t>
                              </m:r>
                            </m:e>
                          </m:mr>
                        </m:m>
                      </m:e>
                    </m:d>
                  </m:oMath>
                </a14:m>
                <a:r>
                  <a:rPr sz="2400" b="0">
                    <a:solidFill>
                      <a:srgbClr val="111827"/>
                    </a:solidFill>
                    <a:latin typeface="Arial"/>
                  </a:rPr>
                  <a:t>: singular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exactly one number used: all four entries equal,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holds;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matrices.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exactly two distinct numbers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(product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matrices per pair;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$\begin{pmatrix}a&amp;b\\c&amp;d\end{pmatrix}$</a:t>
                </a:r>
                <a:r>
                  <a:rPr sz="2400" b="0">
                    <a:solidFill>
                      <a:srgbClr val="111827"/>
                    </a:solidFill>
                    <a:latin typeface="Arial"/>
                  </a:rPr>
                  <a:t>: singular </a:t>
                </a:r>
                <a:r>
                  <a:rPr lang="en-IN" sz="2400">
                    <a:solidFill>
                      <a:srgbClr val="111827"/>
                    </a:solidFill>
                    <a:latin typeface="Cambria Math" panose="02040503050406030204" pitchFamily="18" charset="0"/>
                  </a:rPr>
                  <a:t>$\iff ad-bc=0\iff ad=bc$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exactly one number used: all four entries equal, </a:t>
                </a:r>
                <a:r>
                  <a:rPr lang="en-IN" sz="2400">
                    <a:solidFill>
                      <a:srgbClr val="111827"/>
                    </a:solidFill>
                    <a:latin typeface="Cambria Math" panose="02040503050406030204" pitchFamily="18" charset="0"/>
                  </a:rPr>
                  <a:t>$ad=bc$</a:t>
                </a:r>
                <a:r>
                  <a:rPr sz="2400" b="0">
                    <a:solidFill>
                      <a:srgbClr val="111827"/>
                    </a:solidFill>
                    <a:latin typeface="Arial"/>
                  </a:rPr>
                  <a:t> holds; </a:t>
                </a:r>
                <a:r>
                  <a:rPr lang="en-IN" sz="2400">
                    <a:solidFill>
                      <a:srgbClr val="111827"/>
                    </a:solidFill>
                    <a:latin typeface="Cambria Math" panose="02040503050406030204" pitchFamily="18" charset="0"/>
                  </a:rPr>
                  <a:t>$\binom41=4$</a:t>
                </a:r>
                <a:r>
                  <a:rPr sz="2400" b="0">
                    <a:solidFill>
                      <a:srgbClr val="111827"/>
                    </a:solidFill>
                    <a:latin typeface="Arial"/>
                  </a:rPr>
                  <a:t> matrices.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exactly two distinct numbers </a:t>
                </a:r>
                <a:r>
                  <a:rPr lang="en-IN" sz="2400">
                    <a:solidFill>
                      <a:srgbClr val="111827"/>
                    </a:solidFill>
                    <a:latin typeface="Cambria Math" panose="02040503050406030204" pitchFamily="18" charset="0"/>
                  </a:rPr>
                  <a:t>$x,y$</a:t>
                </a:r>
                <a:r>
                  <a:rPr sz="2400" b="0">
                    <a:solidFill>
                      <a:srgbClr val="111827"/>
                    </a:solidFill>
                    <a:latin typeface="Arial"/>
                  </a:rPr>
                  <a:t>: </a:t>
                </a:r>
                <a:r>
                  <a:rPr lang="en-IN" sz="2400">
                    <a:solidFill>
                      <a:srgbClr val="111827"/>
                    </a:solidFill>
                    <a:latin typeface="Cambria Math" panose="02040503050406030204" pitchFamily="18" charset="0"/>
                  </a:rPr>
                  <a:t>$ad=bc$</a:t>
                </a:r>
                <a:r>
                  <a:rPr sz="2400" b="0">
                    <a:solidFill>
                      <a:srgbClr val="111827"/>
                    </a:solidFill>
                    <a:latin typeface="Arial"/>
                  </a:rPr>
                  <a:t> forces </a:t>
                </a:r>
                <a:r>
                  <a:rPr lang="en-IN" sz="2400">
                    <a:solidFill>
                      <a:srgbClr val="111827"/>
                    </a:solidFill>
                    <a:latin typeface="Cambria Math" panose="02040503050406030204" pitchFamily="18" charset="0"/>
                  </a:rPr>
                  <a:t>$\{a,d\}=\{b,c\}=\{x,y\}$</a:t>
                </a:r>
                <a:r>
                  <a:rPr sz="2400" b="0">
                    <a:solidFill>
                      <a:srgbClr val="111827"/>
                    </a:solidFill>
                    <a:latin typeface="Arial"/>
                  </a:rPr>
                  <a:t> (product </a:t>
                </a:r>
                <a:r>
                  <a:rPr lang="en-IN" sz="2400">
                    <a:solidFill>
                      <a:srgbClr val="111827"/>
                    </a:solidFill>
                    <a:latin typeface="Cambria Math" panose="02040503050406030204" pitchFamily="18" charset="0"/>
                  </a:rPr>
                  <a:t>$xy$</a:t>
                </a:r>
                <a:r>
                  <a:rPr sz="2400" b="0">
                    <a:solidFill>
                      <a:srgbClr val="111827"/>
                    </a:solidFill>
                    <a:latin typeface="Arial"/>
                  </a:rPr>
                  <a:t>), giving </a:t>
                </a:r>
                <a:r>
                  <a:rPr lang="en-IN" sz="2400">
                    <a:solidFill>
                      <a:srgbClr val="111827"/>
                    </a:solidFill>
                    <a:latin typeface="Cambria Math" panose="02040503050406030204" pitchFamily="18" charset="0"/>
                  </a:rPr>
                  <a:t>$2\times2=4$</a:t>
                </a:r>
                <a:r>
                  <a:rPr sz="2400" b="0">
                    <a:solidFill>
                      <a:srgbClr val="111827"/>
                    </a:solidFill>
                    <a:latin typeface="Arial"/>
                  </a:rPr>
                  <a:t> matrices per pair; </a:t>
                </a:r>
                <a:r>
                  <a:rPr lang="en-IN" sz="2400">
                    <a:solidFill>
                      <a:srgbClr val="111827"/>
                    </a:solidFill>
                    <a:latin typeface="Cambria Math" panose="02040503050406030204" pitchFamily="18" charset="0"/>
                  </a:rPr>
                  <a:t>$\binom42\times4=24$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exactly three distinct numbers: none is singular (a repeated number in the same product gives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needing two other distinct numbers with product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impossible; in different products it forces the other two entries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IV, all four numbers used: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either order: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exactly three distinct numbers: none is singular (a repeated number in the same product gives </a:t>
                </a:r>
                <a:r>
                  <a:rPr lang="en-IN" sz="2400">
                    <a:solidFill>
                      <a:srgbClr val="111827"/>
                    </a:solidFill>
                    <a:latin typeface="Cambria Math" panose="02040503050406030204" pitchFamily="18" charset="0"/>
                  </a:rPr>
                  <a:t>$ad=x^2=bc$</a:t>
                </a:r>
                <a:r>
                  <a:rPr sz="2400" b="0">
                    <a:solidFill>
                      <a:srgbClr val="111827"/>
                    </a:solidFill>
                    <a:latin typeface="Arial"/>
                  </a:rPr>
                  <a:t>, needing two other distinct numbers with product </a:t>
                </a:r>
                <a:r>
                  <a:rPr lang="en-IN" sz="2400">
                    <a:solidFill>
                      <a:srgbClr val="111827"/>
                    </a:solidFill>
                    <a:latin typeface="Cambria Math" panose="02040503050406030204" pitchFamily="18" charset="0"/>
                  </a:rPr>
                  <a:t>$x^2$</a:t>
                </a:r>
                <a:r>
                  <a:rPr sz="2400" b="0">
                    <a:solidFill>
                      <a:srgbClr val="111827"/>
                    </a:solidFill>
                    <a:latin typeface="Arial"/>
                  </a:rPr>
                  <a:t>, impossible; in different products it forces the other two entries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IV, all four numbers used: </a:t>
                </a:r>
                <a:r>
                  <a:rPr lang="en-IN" sz="2400">
                    <a:solidFill>
                      <a:srgbClr val="111827"/>
                    </a:solidFill>
                    <a:latin typeface="Cambria Math" panose="02040503050406030204" pitchFamily="18" charset="0"/>
                  </a:rPr>
                  <a:t>$ad=bc$</a:t>
                </a:r>
                <a:r>
                  <a:rPr sz="2400" b="0">
                    <a:solidFill>
                      <a:srgbClr val="111827"/>
                    </a:solidFill>
                    <a:latin typeface="Arial"/>
                  </a:rPr>
                  <a:t> needs </a:t>
                </a:r>
                <a:r>
                  <a:rPr lang="en-IN" sz="2400">
                    <a:solidFill>
                      <a:srgbClr val="111827"/>
                    </a:solidFill>
                    <a:latin typeface="Cambria Math" panose="02040503050406030204" pitchFamily="18" charset="0"/>
                  </a:rPr>
                  <a:t>$2\times9=3\times6$</a:t>
                </a:r>
                <a:r>
                  <a:rPr sz="2400" b="0">
                    <a:solidFill>
                      <a:srgbClr val="111827"/>
                    </a:solidFill>
                    <a:latin typeface="Arial"/>
                  </a:rPr>
                  <a:t>, so </a:t>
                </a:r>
                <a:r>
                  <a:rPr lang="en-IN" sz="2400">
                    <a:solidFill>
                      <a:srgbClr val="111827"/>
                    </a:solidFill>
                    <a:latin typeface="Cambria Math" panose="02040503050406030204" pitchFamily="18" charset="0"/>
                  </a:rPr>
                  <a:t>$\{a,d\},\{b,c\}$</a:t>
                </a:r>
                <a:r>
                  <a:rPr sz="2400" b="0">
                    <a:solidFill>
                      <a:srgbClr val="111827"/>
                    </a:solidFill>
                    <a:latin typeface="Arial"/>
                  </a:rPr>
                  <a:t> are </a:t>
                </a:r>
                <a:r>
                  <a:rPr lang="en-IN" sz="2400">
                    <a:solidFill>
                      <a:srgbClr val="111827"/>
                    </a:solidFill>
                    <a:latin typeface="Cambria Math" panose="02040503050406030204" pitchFamily="18" charset="0"/>
                  </a:rPr>
                  <a:t>$\{2,9\},\{3,6\}$</a:t>
                </a:r>
                <a:r>
                  <a:rPr sz="2400" b="0">
                    <a:solidFill>
                      <a:srgbClr val="111827"/>
                    </a:solidFill>
                    <a:latin typeface="Arial"/>
                  </a:rPr>
                  <a:t> in either order: </a:t>
                </a:r>
                <a:r>
                  <a:rPr lang="en-IN" sz="2400">
                    <a:solidFill>
                      <a:srgbClr val="111827"/>
                    </a:solidFill>
                    <a:latin typeface="Cambria Math" panose="02040503050406030204" pitchFamily="18" charset="0"/>
                  </a:rPr>
                  <a:t>$2\times2\times2=8$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$=4+24+0+8=36$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a:t>
                </a:r>
                <a14:m>
                  <m:oMath xmlns:m="http://schemas.openxmlformats.org/officeDocument/2006/math">
                    <m:r>
                      <a:rPr lang="en-IN" sz="2400" i="1">
                        <a:solidFill>
                          <a:srgbClr val="78350F"/>
                        </a:solidFill>
                        <a:latin typeface="Cambria Math" panose="02040503050406030204" pitchFamily="18" charset="0"/>
                      </a:rPr>
                      <m:t>16</m:t>
                    </m:r>
                  </m:oMath>
                </a14:m>
                <a:r>
                  <a:rPr sz="2400" b="0">
                    <a:solidFill>
                      <a:srgbClr val="78350F"/>
                    </a:solidFill>
                    <a:latin typeface="Arial"/>
                  </a:rPr>
                  <a:t> ordered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by their product; matrices with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oMath>
                </a14:m>
                <a:r>
                  <a:rPr sz="2400" b="0">
                    <a:solidFill>
                      <a:srgbClr val="78350F"/>
                    </a:solidFill>
                    <a:latin typeface="Arial"/>
                  </a:rPr>
                  <a:t> number </a:t>
                </a:r>
                <a14:m>
                  <m:oMath xmlns:m="http://schemas.openxmlformats.org/officeDocument/2006/math">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𝑝</m:t>
                        </m:r>
                      </m:sub>
                      <m:sup>
                        <m:r>
                          <a:rPr lang="en-IN" sz="2400" i="1">
                            <a:solidFill>
                              <a:srgbClr val="78350F"/>
                            </a:solidFill>
                            <a:latin typeface="Cambria Math" panose="02040503050406030204" pitchFamily="18" charset="0"/>
                          </a:rPr>
                          <m:t>2</m:t>
                        </m:r>
                      </m:sup>
                    </m:sSub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a:t>
                </a:r>
                <a:r>
                  <a:rPr lang="en-IN" sz="2400">
                    <a:solidFill>
                      <a:srgbClr val="78350F"/>
                    </a:solidFill>
                    <a:latin typeface="Cambria Math" panose="02040503050406030204" pitchFamily="18" charset="0"/>
                  </a:rPr>
                  <a:t>$16$</a:t>
                </a:r>
                <a:r>
                  <a:rPr sz="2400" b="0">
                    <a:solidFill>
                      <a:srgbClr val="78350F"/>
                    </a:solidFill>
                    <a:latin typeface="Arial"/>
                  </a:rPr>
                  <a:t> ordered pairs </a:t>
                </a:r>
                <a:r>
                  <a:rPr lang="en-IN" sz="2400">
                    <a:solidFill>
                      <a:srgbClr val="78350F"/>
                    </a:solidFill>
                    <a:latin typeface="Cambria Math" panose="02040503050406030204" pitchFamily="18" charset="0"/>
                  </a:rPr>
                  <a:t>$(a,d)$</a:t>
                </a:r>
                <a:r>
                  <a:rPr sz="2400" b="0">
                    <a:solidFill>
                      <a:srgbClr val="78350F"/>
                    </a:solidFill>
                    <a:latin typeface="Arial"/>
                  </a:rPr>
                  <a:t> by their product; matrices with </a:t>
                </a:r>
                <a:r>
                  <a:rPr lang="en-IN" sz="2400">
                    <a:solidFill>
                      <a:srgbClr val="78350F"/>
                    </a:solidFill>
                    <a:latin typeface="Cambria Math" panose="02040503050406030204" pitchFamily="18" charset="0"/>
                  </a:rPr>
                  <a:t>$ad=bc$</a:t>
                </a:r>
                <a:r>
                  <a:rPr sz="2400" b="0">
                    <a:solidFill>
                      <a:srgbClr val="78350F"/>
                    </a:solidFill>
                    <a:latin typeface="Arial"/>
                  </a:rPr>
                  <a:t> number </a:t>
                </a:r>
                <a:r>
                  <a:rPr lang="en-IN" sz="2400">
                    <a:solidFill>
                      <a:srgbClr val="78350F"/>
                    </a:solidFill>
                    <a:latin typeface="Cambria Math" panose="02040503050406030204" pitchFamily="18" charset="0"/>
                  </a:rPr>
                  <a:t>$\sum N_p^2$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Singular iff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𝑝</m:t>
                        </m:r>
                      </m:sub>
                    </m:sSub>
                  </m:oMath>
                </a14:m>
                <a:r>
                  <a:rPr sz="2400" b="0">
                    <a:solidFill>
                      <a:srgbClr val="111827"/>
                    </a:solidFill>
                    <a:latin typeface="Arial"/>
                  </a:rPr>
                  <a:t> be the number of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27</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counts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𝑝</m:t>
                        </m:r>
                      </m:sub>
                    </m:sSub>
                  </m:oMath>
                </a14:m>
                <a:r>
                  <a:rPr sz="2400" b="0">
                    <a:solidFill>
                      <a:srgbClr val="111827"/>
                    </a:solidFill>
                    <a:latin typeface="Arial"/>
                  </a:rPr>
                  <a:t> add to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Singular iff </a:t>
                </a:r>
                <a:r>
                  <a:rPr lang="en-IN" sz="2400">
                    <a:solidFill>
                      <a:srgbClr val="111827"/>
                    </a:solidFill>
                    <a:latin typeface="Cambria Math" panose="02040503050406030204" pitchFamily="18" charset="0"/>
                  </a:rPr>
                  <a:t>$ad=bc$</a:t>
                </a:r>
                <a:r>
                  <a:rPr sz="2400" b="0">
                    <a:solidFill>
                      <a:srgbClr val="111827"/>
                    </a:solidFill>
                    <a:latin typeface="Arial"/>
                  </a:rPr>
                  <a:t>. Let </a:t>
                </a:r>
                <a:r>
                  <a:rPr lang="en-IN" sz="2400">
                    <a:solidFill>
                      <a:srgbClr val="111827"/>
                    </a:solidFill>
                    <a:latin typeface="Cambria Math" panose="02040503050406030204" pitchFamily="18" charset="0"/>
                  </a:rPr>
                  <a:t>$N_p$</a:t>
                </a:r>
                <a:r>
                  <a:rPr sz="2400" b="0">
                    <a:solidFill>
                      <a:srgbClr val="111827"/>
                    </a:solidFill>
                    <a:latin typeface="Arial"/>
                  </a:rPr>
                  <a:t> be the number of ordered pairs </a:t>
                </a:r>
                <a:r>
                  <a:rPr lang="en-IN" sz="2400">
                    <a:solidFill>
                      <a:srgbClr val="111827"/>
                    </a:solidFill>
                    <a:latin typeface="Cambria Math" panose="02040503050406030204" pitchFamily="18" charset="0"/>
                  </a:rPr>
                  <a:t>$(x,y)$</a:t>
                </a:r>
                <a:r>
                  <a:rPr sz="2400" b="0">
                    <a:solidFill>
                      <a:srgbClr val="111827"/>
                    </a:solidFill>
                    <a:latin typeface="Arial"/>
                  </a:rPr>
                  <a:t> from </a:t>
                </a:r>
                <a:r>
                  <a:rPr lang="en-IN" sz="2400">
                    <a:solidFill>
                      <a:srgbClr val="111827"/>
                    </a:solidFill>
                    <a:latin typeface="Cambria Math" panose="02040503050406030204" pitchFamily="18" charset="0"/>
                  </a:rPr>
                  <a:t>$\{2,3,6,9\}$</a:t>
                </a:r>
                <a:r>
                  <a:rPr sz="2400" b="0">
                    <a:solidFill>
                      <a:srgbClr val="111827"/>
                    </a:solidFill>
                    <a:latin typeface="Arial"/>
                  </a:rPr>
                  <a:t> with </a:t>
                </a:r>
                <a:r>
                  <a:rPr lang="en-IN" sz="2400">
                    <a:solidFill>
                      <a:srgbClr val="111827"/>
                    </a:solidFill>
                    <a:latin typeface="Cambria Math" panose="02040503050406030204" pitchFamily="18" charset="0"/>
                  </a:rPr>
                  <a:t>$xy=p$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Products: </a:t>
                </a:r>
                <a:r>
                  <a:rPr lang="en-IN" sz="2400">
                    <a:solidFill>
                      <a:srgbClr val="111827"/>
                    </a:solidFill>
                    <a:latin typeface="Cambria Math" panose="02040503050406030204" pitchFamily="18" charset="0"/>
                  </a:rPr>
                  <a:t>$4\,(1),\ 6\,(2),\ 9\,(1),\ 12\,(2),\ 18\,(4:(2,9),(9,2),(3,6),(6,3)),\ 27\,(2),\ 36\,(1),\ 54\,(2),\ 81\,(1)$</a:t>
                </a:r>
                <a:r>
                  <a:rPr sz="2400" b="0">
                    <a:solidFill>
                      <a:srgbClr val="111827"/>
                    </a:solidFill>
                    <a:latin typeface="Arial"/>
                  </a:rPr>
                  <a:t>; the counts </a:t>
                </a:r>
                <a:r>
                  <a:rPr lang="en-IN" sz="2400">
                    <a:solidFill>
                      <a:srgbClr val="111827"/>
                    </a:solidFill>
                    <a:latin typeface="Cambria Math" panose="02040503050406030204" pitchFamily="18" charset="0"/>
                  </a:rPr>
                  <a:t>$N_p$</a:t>
                </a:r>
                <a:r>
                  <a:rPr sz="2400" b="0">
                    <a:solidFill>
                      <a:srgbClr val="111827"/>
                    </a:solidFill>
                    <a:latin typeface="Arial"/>
                  </a:rPr>
                  <a:t> add to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choice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equal products is a singular matrix, so the count is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𝑝</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choice of </a:t>
                </a:r>
                <a:r>
                  <a:rPr lang="en-IN" sz="2400">
                    <a:solidFill>
                      <a:srgbClr val="111827"/>
                    </a:solidFill>
                    <a:latin typeface="Cambria Math" panose="02040503050406030204" pitchFamily="18" charset="0"/>
                  </a:rPr>
                  <a:t>$(a,d)$</a:t>
                </a:r>
                <a:r>
                  <a:rPr sz="2400" b="0">
                    <a:solidFill>
                      <a:srgbClr val="111827"/>
                    </a:solidFill>
                    <a:latin typeface="Arial"/>
                  </a:rPr>
                  <a:t> and </a:t>
                </a:r>
                <a:r>
                  <a:rPr lang="en-IN" sz="2400">
                    <a:solidFill>
                      <a:srgbClr val="111827"/>
                    </a:solidFill>
                    <a:latin typeface="Cambria Math" panose="02040503050406030204" pitchFamily="18" charset="0"/>
                  </a:rPr>
                  <a:t>$(b,c)$</a:t>
                </a:r>
                <a:r>
                  <a:rPr sz="2400" b="0">
                    <a:solidFill>
                      <a:srgbClr val="111827"/>
                    </a:solidFill>
                    <a:latin typeface="Arial"/>
                  </a:rPr>
                  <a:t> with equal products is a singular matrix, so the count is </a:t>
                </a:r>
                <a:r>
                  <a:rPr lang="en-IN" sz="2400">
                    <a:solidFill>
                      <a:srgbClr val="111827"/>
                    </a:solidFill>
                    <a:latin typeface="Cambria Math" panose="02040503050406030204" pitchFamily="18" charset="0"/>
                  </a:rPr>
                  <a:t>$\sum N_p^2=1+4+1+4+16+4+1+4+1=36$</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36</a:t>
            </a:r>
            <a:endParaRPr sz="2800">
              <a:solidFill>
                <a:srgbClr val="15803D"/>
              </a:solidFil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matrices with entries in a set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equals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𝑝</m:t>
                        </m:r>
                      </m:sub>
                      <m:sup>
                        <m:r>
                          <a:rPr lang="en-IN" sz="2400" i="1">
                            <a:solidFill>
                              <a:srgbClr val="111827"/>
                            </a:solidFill>
                            <a:latin typeface="Cambria Math" panose="02040503050406030204" pitchFamily="18" charset="0"/>
                          </a:rPr>
                          <m:t>​</m:t>
                        </m:r>
                      </m:sup>
                      <m:e>
                        <m:sSubSup>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𝑝</m:t>
                            </m:r>
                          </m:sub>
                          <m:sup>
                            <m:r>
                              <a:rPr lang="en-IN" sz="2400" i="1">
                                <a:solidFill>
                                  <a:srgbClr val="111827"/>
                                </a:solidFill>
                                <a:latin typeface="Cambria Math" panose="02040503050406030204" pitchFamily="18" charset="0"/>
                              </a:rPr>
                              <m:t>2</m:t>
                            </m:r>
                          </m:sup>
                        </m:sSubSup>
                      </m:e>
                    </m:nary>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𝑝</m:t>
                        </m:r>
                      </m:sub>
                    </m:sSub>
                  </m:oMath>
                </a14:m>
                <a:r>
                  <a:rPr sz="2400" b="0">
                    <a:solidFill>
                      <a:srgbClr val="111827"/>
                    </a:solidFill>
                    <a:latin typeface="Arial"/>
                  </a:rPr>
                  <a:t> is the number of ordered pairs in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with product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distinct numbers the only way for two different unordered pairs to have equal products is a coincidence like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otherwise only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works.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pairs give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singular matrices out of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(verified by listing).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t>
                </a:r>
                <a:r>
                  <a:rPr lang="en-IN" sz="2400">
                    <a:solidFill>
                      <a:srgbClr val="111827"/>
                    </a:solidFill>
                    <a:latin typeface="Cambria Math" panose="02040503050406030204" pitchFamily="18" charset="0"/>
                  </a:rPr>
                  <a:t>$2\times2$</a:t>
                </a:r>
                <a:r>
                  <a:rPr sz="2400" b="0">
                    <a:solidFill>
                      <a:srgbClr val="111827"/>
                    </a:solidFill>
                    <a:latin typeface="Arial"/>
                  </a:rPr>
                  <a:t> matrices with entries in a set </a:t>
                </a:r>
                <a:r>
                  <a:rPr lang="en-IN" sz="2400">
                    <a:solidFill>
                      <a:srgbClr val="111827"/>
                    </a:solidFill>
                    <a:latin typeface="Cambria Math" panose="02040503050406030204" pitchFamily="18" charset="0"/>
                  </a:rPr>
                  <a:t>$S$</a:t>
                </a:r>
                <a:r>
                  <a:rPr sz="2400" b="0">
                    <a:solidFill>
                      <a:srgbClr val="111827"/>
                    </a:solidFill>
                    <a:latin typeface="Arial"/>
                  </a:rPr>
                  <a:t> and </a:t>
                </a:r>
                <a:r>
                  <a:rPr lang="en-IN" sz="2400">
                    <a:solidFill>
                      <a:srgbClr val="111827"/>
                    </a:solidFill>
                    <a:latin typeface="Cambria Math" panose="02040503050406030204" pitchFamily="18" charset="0"/>
                  </a:rPr>
                  <a:t>$ad=bc$</a:t>
                </a:r>
                <a:r>
                  <a:rPr sz="2400" b="0">
                    <a:solidFill>
                      <a:srgbClr val="111827"/>
                    </a:solidFill>
                    <a:latin typeface="Arial"/>
                  </a:rPr>
                  <a:t> equals </a:t>
                </a:r>
                <a:r>
                  <a:rPr lang="en-IN" sz="2400">
                    <a:solidFill>
                      <a:srgbClr val="111827"/>
                    </a:solidFill>
                    <a:latin typeface="Cambria Math" panose="02040503050406030204" pitchFamily="18" charset="0"/>
                  </a:rPr>
                  <a:t>$\sum_pN_p^2$</a:t>
                </a:r>
                <a:r>
                  <a:rPr sz="2400" b="0">
                    <a:solidFill>
                      <a:srgbClr val="111827"/>
                    </a:solidFill>
                    <a:latin typeface="Arial"/>
                  </a:rPr>
                  <a:t>, where </a:t>
                </a:r>
                <a:r>
                  <a:rPr lang="en-IN" sz="2400">
                    <a:solidFill>
                      <a:srgbClr val="111827"/>
                    </a:solidFill>
                    <a:latin typeface="Cambria Math" panose="02040503050406030204" pitchFamily="18" charset="0"/>
                  </a:rPr>
                  <a:t>$N_p$</a:t>
                </a:r>
                <a:r>
                  <a:rPr sz="2400" b="0">
                    <a:solidFill>
                      <a:srgbClr val="111827"/>
                    </a:solidFill>
                    <a:latin typeface="Arial"/>
                  </a:rPr>
                  <a:t> is the number of ordered pairs in </a:t>
                </a:r>
                <a:r>
                  <a:rPr lang="en-IN" sz="2400">
                    <a:solidFill>
                      <a:srgbClr val="111827"/>
                    </a:solidFill>
                    <a:latin typeface="Cambria Math" panose="02040503050406030204" pitchFamily="18" charset="0"/>
                  </a:rPr>
                  <a:t>$S$</a:t>
                </a:r>
                <a:r>
                  <a:rPr sz="2400" b="0">
                    <a:solidFill>
                      <a:srgbClr val="111827"/>
                    </a:solidFill>
                    <a:latin typeface="Arial"/>
                  </a:rPr>
                  <a:t> with product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distinct numbers the only way for two different unordered pairs to have equal products is a coincidence like </a:t>
                </a:r>
                <a:r>
                  <a:rPr lang="en-IN" sz="2400">
                    <a:solidFill>
                      <a:srgbClr val="111827"/>
                    </a:solidFill>
                    <a:latin typeface="Cambria Math" panose="02040503050406030204" pitchFamily="18" charset="0"/>
                  </a:rPr>
                  <a:t>$2\cdot9=3\cdot6$</a:t>
                </a:r>
                <a:r>
                  <a:rPr sz="2400" b="0">
                    <a:solidFill>
                      <a:srgbClr val="111827"/>
                    </a:solidFill>
                    <a:latin typeface="Arial"/>
                  </a:rPr>
                  <a:t>; otherwise only </a:t>
                </a:r>
                <a:r>
                  <a:rPr lang="en-IN" sz="2400">
                    <a:solidFill>
                      <a:srgbClr val="111827"/>
                    </a:solidFill>
                    <a:latin typeface="Cambria Math" panose="02040503050406030204" pitchFamily="18" charset="0"/>
                  </a:rPr>
                  <a:t>$\{a,d\}=\{b,c\}$</a:t>
                </a:r>
                <a:r>
                  <a:rPr sz="2400" b="0">
                    <a:solidFill>
                      <a:srgbClr val="111827"/>
                    </a:solidFill>
                    <a:latin typeface="Arial"/>
                  </a:rPr>
                  <a:t> works.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$S=\{1,2\}$</a:t>
                </a:r>
                <a:r>
                  <a:rPr sz="2400" b="0">
                    <a:solidFill>
                      <a:srgbClr val="111827"/>
                    </a:solidFill>
                    <a:latin typeface="Arial"/>
                  </a:rPr>
                  <a:t>: pairs give </a:t>
                </a:r>
                <a:r>
                  <a:rPr lang="en-IN" sz="2400">
                    <a:solidFill>
                      <a:srgbClr val="111827"/>
                    </a:solidFill>
                    <a:latin typeface="Cambria Math" panose="02040503050406030204" pitchFamily="18" charset="0"/>
                  </a:rPr>
                  <a:t>$N_1=1,N_2=2,N_4=1$</a:t>
                </a:r>
                <a:r>
                  <a:rPr sz="2400" b="0">
                    <a:solidFill>
                      <a:srgbClr val="111827"/>
                    </a:solidFill>
                    <a:latin typeface="Arial"/>
                  </a:rPr>
                  <a:t>, so </a:t>
                </a:r>
                <a:r>
                  <a:rPr lang="en-IN" sz="2400">
                    <a:solidFill>
                      <a:srgbClr val="111827"/>
                    </a:solidFill>
                    <a:latin typeface="Cambria Math" panose="02040503050406030204" pitchFamily="18" charset="0"/>
                  </a:rPr>
                  <a:t>$1+4+1=6$</a:t>
                </a:r>
                <a:r>
                  <a:rPr sz="2400" b="0">
                    <a:solidFill>
                      <a:srgbClr val="111827"/>
                    </a:solidFill>
                    <a:latin typeface="Arial"/>
                  </a:rPr>
                  <a:t> singular matrices out of </a:t>
                </a:r>
                <a:r>
                  <a:rPr lang="en-IN" sz="2400">
                    <a:solidFill>
                      <a:srgbClr val="111827"/>
                    </a:solidFill>
                    <a:latin typeface="Cambria Math" panose="02040503050406030204" pitchFamily="18" charset="0"/>
                  </a:rPr>
                  <a:t>$16$</a:t>
                </a:r>
                <a:r>
                  <a:rPr sz="2400" b="0">
                    <a:solidFill>
                      <a:srgbClr val="111827"/>
                    </a:solidFill>
                    <a:latin typeface="Arial"/>
                  </a:rPr>
                  <a:t> (verified by listing).</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be roots of the 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assumes the minimum possible value, then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$\alpha,\beta\in\mathbb N$</a:t>
                </a:r>
                <a:r>
                  <a:rPr sz="2400" b="0">
                    <a:solidFill>
                      <a:srgbClr val="111827"/>
                    </a:solidFill>
                    <a:latin typeface="Arial"/>
                  </a:rPr>
                  <a:t> be roots of the equation </a:t>
                </a:r>
                <a:r>
                  <a:rPr lang="en-IN" sz="2400">
                    <a:solidFill>
                      <a:srgbClr val="111827"/>
                    </a:solidFill>
                    <a:latin typeface="Cambria Math" panose="02040503050406030204" pitchFamily="18" charset="0"/>
                  </a:rPr>
                  <a:t>$x^2-70x+\lambda=0$</a:t>
                </a:r>
                <a:r>
                  <a:rPr sz="2400" b="0">
                    <a:solidFill>
                      <a:srgbClr val="111827"/>
                    </a:solidFill>
                    <a:latin typeface="Arial"/>
                  </a:rPr>
                  <a:t>, where </a:t>
                </a:r>
                <a:r>
                  <a:rPr lang="en-IN" sz="2400">
                    <a:solidFill>
                      <a:srgbClr val="111827"/>
                    </a:solidFill>
                    <a:latin typeface="Cambria Math" panose="02040503050406030204" pitchFamily="18" charset="0"/>
                  </a:rPr>
                  <a:t>$\frac\lambda2,\frac\lambda3\notin\mathbb N$</a:t>
                </a:r>
                <a:r>
                  <a:rPr sz="2400" b="0">
                    <a:solidFill>
                      <a:srgbClr val="111827"/>
                    </a:solidFill>
                    <a:latin typeface="Arial"/>
                  </a:rPr>
                  <a:t>. If </a:t>
                </a:r>
                <a:r>
                  <a:rPr lang="en-IN" sz="2400">
                    <a:solidFill>
                      <a:srgbClr val="111827"/>
                    </a:solidFill>
                    <a:latin typeface="Cambria Math" panose="02040503050406030204" pitchFamily="18" charset="0"/>
                  </a:rPr>
                  <a:t>$\lambda$</a:t>
                </a:r>
                <a:r>
                  <a:rPr sz="2400" b="0">
                    <a:solidFill>
                      <a:srgbClr val="111827"/>
                    </a:solidFill>
                    <a:latin typeface="Arial"/>
                  </a:rPr>
                  <a:t> assumes the minimum possible value, then </a:t>
                </a:r>
                <a:r>
                  <a:rPr lang="en-IN" sz="2400">
                    <a:solidFill>
                      <a:srgbClr val="111827"/>
                    </a:solidFill>
                    <a:latin typeface="Cambria Math" panose="02040503050406030204" pitchFamily="18" charset="0"/>
                  </a:rPr>
                  <a:t>$\frac{\left(\sqrt{\alpha-1}+\sqrt{\beta-1}\right)(\lambda+35)}{|\alpha-\beta|}$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421792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Quadratic equation with natural-number roots, Divisibility conditions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oMath>
                </a14:m>
                <a:r>
                  <a:rPr sz="2400" b="0">
                    <a:solidFill>
                      <a:srgbClr val="78350F"/>
                    </a:solidFill>
                    <a:latin typeface="Arial"/>
                  </a:rPr>
                  <a:t> must be coprime to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 is smallest when the roots are furthest apart.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$\alpha+\beta=70$</a:t>
                </a:r>
                <a:r>
                  <a:rPr sz="2400" b="0">
                    <a:solidFill>
                      <a:srgbClr val="78350F"/>
                    </a:solidFill>
                    <a:latin typeface="Arial"/>
                  </a:rPr>
                  <a:t> and </a:t>
                </a:r>
                <a:r>
                  <a:rPr lang="en-IN" sz="2400">
                    <a:solidFill>
                      <a:srgbClr val="78350F"/>
                    </a:solidFill>
                    <a:latin typeface="Cambria Math" panose="02040503050406030204" pitchFamily="18" charset="0"/>
                  </a:rPr>
                  <a:t>$\lambda=\alpha\beta$</a:t>
                </a:r>
                <a:r>
                  <a:rPr sz="2400" b="0">
                    <a:solidFill>
                      <a:srgbClr val="78350F"/>
                    </a:solidFill>
                    <a:latin typeface="Arial"/>
                  </a:rPr>
                  <a:t> must be coprime to </a:t>
                </a:r>
                <a:r>
                  <a:rPr lang="en-IN" sz="2400">
                    <a:solidFill>
                      <a:srgbClr val="78350F"/>
                    </a:solidFill>
                    <a:latin typeface="Cambria Math" panose="02040503050406030204" pitchFamily="18" charset="0"/>
                  </a:rPr>
                  <a:t>$6$</a:t>
                </a:r>
                <a:r>
                  <a:rPr sz="2400" b="0">
                    <a:solidFill>
                      <a:srgbClr val="78350F"/>
                    </a:solidFill>
                    <a:latin typeface="Arial"/>
                  </a:rPr>
                  <a:t>; </a:t>
                </a:r>
                <a:r>
                  <a:rPr lang="en-IN" sz="2400">
                    <a:solidFill>
                      <a:srgbClr val="78350F"/>
                    </a:solidFill>
                    <a:latin typeface="Cambria Math" panose="02040503050406030204" pitchFamily="18" charset="0"/>
                  </a:rPr>
                  <a:t>$\lambda$</a:t>
                </a:r>
                <a:r>
                  <a:rPr sz="2400" b="0">
                    <a:solidFill>
                      <a:srgbClr val="78350F"/>
                    </a:solidFill>
                    <a:latin typeface="Arial"/>
                  </a:rPr>
                  <a:t> is smallest when the roots are furthest apart.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oMath>
                </a14:m>
                <a:r>
                  <a:rPr sz="2400" b="0">
                    <a:solidFill>
                      <a:srgbClr val="111827"/>
                    </a:solidFill>
                    <a:latin typeface="Arial"/>
                  </a:rPr>
                  <a:t>: both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must be odd and not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smallest for the smallest admissible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$x^2-70x+\lambda=0$</a:t>
                </a:r>
                <a:r>
                  <a:rPr sz="2400" b="0">
                    <a:solidFill>
                      <a:srgbClr val="111827"/>
                    </a:solidFill>
                    <a:latin typeface="Arial"/>
                  </a:rPr>
                  <a:t> gives </a:t>
                </a:r>
                <a:r>
                  <a:rPr lang="en-IN" sz="2400">
                    <a:solidFill>
                      <a:srgbClr val="111827"/>
                    </a:solidFill>
                    <a:latin typeface="Cambria Math" panose="02040503050406030204" pitchFamily="18" charset="0"/>
                  </a:rPr>
                  <a:t>$\alpha+\beta=70$</a:t>
                </a:r>
                <a:r>
                  <a:rPr sz="2400" b="0">
                    <a:solidFill>
                      <a:srgbClr val="111827"/>
                    </a:solidFill>
                    <a:latin typeface="Arial"/>
                  </a:rPr>
                  <a:t> and </a:t>
                </a:r>
                <a:r>
                  <a:rPr lang="en-IN" sz="2400">
                    <a:solidFill>
                      <a:srgbClr val="111827"/>
                    </a:solidFill>
                    <a:latin typeface="Cambria Math" panose="02040503050406030204" pitchFamily="18" charset="0"/>
                  </a:rPr>
                  <a:t>$\alpha\beta=\lambda$</a:t>
                </a:r>
                <a:r>
                  <a:rPr sz="2400" b="0">
                    <a:solidFill>
                      <a:srgbClr val="111827"/>
                    </a:solidFill>
                    <a:latin typeface="Arial"/>
                  </a:rPr>
                  <a:t>, so </a:t>
                </a:r>
                <a:r>
                  <a:rPr lang="en-IN" sz="2400">
                    <a:solidFill>
                      <a:srgbClr val="111827"/>
                    </a:solidFill>
                    <a:latin typeface="Cambria Math" panose="02040503050406030204" pitchFamily="18" charset="0"/>
                  </a:rPr>
                  <a:t>$\lambda=\alpha(70-\alpha)$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$\frac\lambda2,\frac\lambda3\notin\mathbb N$</a:t>
                </a:r>
                <a:r>
                  <a:rPr sz="2400" b="0">
                    <a:solidFill>
                      <a:srgbClr val="111827"/>
                    </a:solidFill>
                    <a:latin typeface="Arial"/>
                  </a:rPr>
                  <a:t> means </a:t>
                </a:r>
                <a:r>
                  <a:rPr lang="en-IN" sz="2400">
                    <a:solidFill>
                      <a:srgbClr val="111827"/>
                    </a:solidFill>
                    <a:latin typeface="Cambria Math" panose="02040503050406030204" pitchFamily="18" charset="0"/>
                  </a:rPr>
                  <a:t>$2\nmid\lambda$</a:t>
                </a:r>
                <a:r>
                  <a:rPr sz="2400" b="0">
                    <a:solidFill>
                      <a:srgbClr val="111827"/>
                    </a:solidFill>
                    <a:latin typeface="Arial"/>
                  </a:rPr>
                  <a:t> and </a:t>
                </a:r>
                <a:r>
                  <a:rPr lang="en-IN" sz="2400">
                    <a:solidFill>
                      <a:srgbClr val="111827"/>
                    </a:solidFill>
                    <a:latin typeface="Cambria Math" panose="02040503050406030204" pitchFamily="18" charset="0"/>
                  </a:rPr>
                  <a:t>$3\nmid\lambda$</a:t>
                </a:r>
                <a:r>
                  <a:rPr sz="2400" b="0">
                    <a:solidFill>
                      <a:srgbClr val="111827"/>
                    </a:solidFill>
                    <a:latin typeface="Arial"/>
                  </a:rPr>
                  <a:t>: both </a:t>
                </a:r>
                <a:r>
                  <a:rPr lang="en-IN" sz="2400">
                    <a:solidFill>
                      <a:srgbClr val="111827"/>
                    </a:solidFill>
                    <a:latin typeface="Cambria Math" panose="02040503050406030204" pitchFamily="18" charset="0"/>
                  </a:rPr>
                  <a:t>$\alpha,\beta$</a:t>
                </a:r>
                <a:r>
                  <a:rPr sz="2400" b="0">
                    <a:solidFill>
                      <a:srgbClr val="111827"/>
                    </a:solidFill>
                    <a:latin typeface="Arial"/>
                  </a:rPr>
                  <a:t> must be odd and not multiples of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$\lambda=\alpha(70-\alpha)=1225-(\alpha-35)^2$</a:t>
                </a:r>
                <a:r>
                  <a:rPr sz="2400" b="0">
                    <a:solidFill>
                      <a:srgbClr val="111827"/>
                    </a:solidFill>
                    <a:latin typeface="Arial"/>
                  </a:rPr>
                  <a:t> is smallest for the smallest admissible </a:t>
                </a:r>
                <a:r>
                  <a:rPr lang="en-IN" sz="2400">
                    <a:solidFill>
                      <a:srgbClr val="111827"/>
                    </a:solidFill>
                    <a:latin typeface="Cambria Math" panose="02040503050406030204" pitchFamily="18" charset="0"/>
                  </a:rPr>
                  <a:t>$\alpha&lt;35$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m:t>
                    </m:r>
                  </m:oMath>
                </a14:m>
                <a:r>
                  <a:rPr sz="2400" b="0">
                    <a:solidFill>
                      <a:srgbClr val="111827"/>
                    </a:solidFill>
                    <a:latin typeface="Arial"/>
                  </a:rPr>
                  <a:t>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even;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325</m:t>
                    </m:r>
                  </m:oMath>
                </a14:m>
                <a:r>
                  <a:rPr sz="2400" b="0">
                    <a:solidFill>
                      <a:srgbClr val="111827"/>
                    </a:solidFill>
                    <a:latin typeface="Arial"/>
                  </a:rPr>
                  <a:t>, not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64</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num>
                      <m:den>
                        <m:r>
                          <a:rPr lang="en-IN" sz="2400" i="1">
                            <a:solidFill>
                              <a:srgbClr val="111827"/>
                            </a:solidFill>
                            <a:latin typeface="Cambria Math" panose="02040503050406030204" pitchFamily="18" charset="0"/>
                          </a:rPr>
                          <m:t>60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a:t>
                </a:r>
                <a:r>
                  <a:rPr sz="2400" b="0">
                    <a:solidFill>
                      <a:srgbClr val="111827"/>
                    </a:solidFill>
                    <a:latin typeface="Arial"/>
                  </a:rPr>
                  <a:t>: </a:t>
                </a:r>
                <a:r>
                  <a:rPr lang="en-IN" sz="2400">
                    <a:solidFill>
                      <a:srgbClr val="111827"/>
                    </a:solidFill>
                    <a:latin typeface="Cambria Math" panose="02040503050406030204" pitchFamily="18" charset="0"/>
                  </a:rPr>
                  <a:t>$\lambda=69$</a:t>
                </a:r>
                <a:r>
                  <a:rPr sz="2400" b="0">
                    <a:solidFill>
                      <a:srgbClr val="111827"/>
                    </a:solidFill>
                    <a:latin typeface="Arial"/>
                  </a:rPr>
                  <a:t> (divisible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$\alpha=2,4$</a:t>
                </a:r>
                <a:r>
                  <a:rPr sz="2400" b="0">
                    <a:solidFill>
                      <a:srgbClr val="111827"/>
                    </a:solidFill>
                    <a:latin typeface="Arial"/>
                  </a:rPr>
                  <a:t>: even; </a:t>
                </a:r>
                <a:r>
                  <a:rPr lang="en-IN" sz="2400">
                    <a:solidFill>
                      <a:srgbClr val="111827"/>
                    </a:solidFill>
                    <a:latin typeface="Cambria Math" panose="02040503050406030204" pitchFamily="18" charset="0"/>
                  </a:rPr>
                  <a:t>$\alpha=3$</a:t>
                </a:r>
                <a:r>
                  <a:rPr sz="2400" b="0">
                    <a:solidFill>
                      <a:srgbClr val="111827"/>
                    </a:solidFill>
                    <a:latin typeface="Arial"/>
                  </a:rPr>
                  <a:t>: multiple of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$\alpha=5$</a:t>
                </a:r>
                <a:r>
                  <a:rPr sz="2400" b="0">
                    <a:solidFill>
                      <a:srgbClr val="111827"/>
                    </a:solidFill>
                    <a:latin typeface="Arial"/>
                  </a:rPr>
                  <a:t>: </a:t>
                </a:r>
                <a:r>
                  <a:rPr lang="en-IN" sz="2400">
                    <a:solidFill>
                      <a:srgbClr val="111827"/>
                    </a:solidFill>
                    <a:latin typeface="Cambria Math" panose="02040503050406030204" pitchFamily="18" charset="0"/>
                  </a:rPr>
                  <a:t>$\lambda=5\cdot65=325$</a:t>
                </a:r>
                <a:r>
                  <a:rPr sz="2400" b="0">
                    <a:solidFill>
                      <a:srgbClr val="111827"/>
                    </a:solidFill>
                    <a:latin typeface="Arial"/>
                  </a:rPr>
                  <a:t>, not divisible by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$\alpha=5$</a:t>
                </a:r>
                <a:r>
                  <a:rPr sz="2400" b="0">
                    <a:solidFill>
                      <a:srgbClr val="111827"/>
                    </a:solidFill>
                    <a:latin typeface="Arial"/>
                  </a:rPr>
                  <a:t>, </a:t>
                </a:r>
                <a:r>
                  <a:rPr lang="en-IN" sz="2400">
                    <a:solidFill>
                      <a:srgbClr val="111827"/>
                    </a:solidFill>
                    <a:latin typeface="Cambria Math" panose="02040503050406030204" pitchFamily="18" charset="0"/>
                  </a:rPr>
                  <a:t>$\beta=65$</a:t>
                </a:r>
                <a:r>
                  <a:rPr sz="2400" b="0">
                    <a:solidFill>
                      <a:srgbClr val="111827"/>
                    </a:solidFill>
                    <a:latin typeface="Arial"/>
                  </a:rPr>
                  <a:t>, </a:t>
                </a:r>
                <a:r>
                  <a:rPr lang="en-IN" sz="2400">
                    <a:solidFill>
                      <a:srgbClr val="111827"/>
                    </a:solidFill>
                    <a:latin typeface="Cambria Math" panose="02040503050406030204" pitchFamily="18" charset="0"/>
                  </a:rPr>
                  <a:t>$\lambda=325$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$\frac{(\sqrt4+\sqrt{64})(325+35)}{|5-65|}=\frac{(2+8)\cdot360}{60}=60$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60</a:t>
            </a:r>
            <a:endParaRPr sz="2800">
              <a:solidFill>
                <a:srgbClr val="15803D"/>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Numbers coprime to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are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both must be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Numbers coprime to </a:t>
                </a:r>
                <a:r>
                  <a:rPr lang="en-IN" sz="2400">
                    <a:solidFill>
                      <a:srgbClr val="78350F"/>
                    </a:solidFill>
                    <a:latin typeface="Cambria Math" panose="02040503050406030204" pitchFamily="18" charset="0"/>
                  </a:rPr>
                  <a:t>$6$</a:t>
                </a:r>
                <a:r>
                  <a:rPr sz="2400" b="0">
                    <a:solidFill>
                      <a:srgbClr val="78350F"/>
                    </a:solidFill>
                    <a:latin typeface="Arial"/>
                  </a:rPr>
                  <a:t> are </a:t>
                </a:r>
                <a:r>
                  <a:rPr lang="en-IN" sz="2400">
                    <a:solidFill>
                      <a:srgbClr val="78350F"/>
                    </a:solidFill>
                    <a:latin typeface="Cambria Math" panose="02040503050406030204" pitchFamily="18" charset="0"/>
                  </a:rPr>
                  <a:t>$\equiv\pm1 \pmod 6$</a:t>
                </a:r>
                <a:r>
                  <a:rPr sz="2400" b="0">
                    <a:solidFill>
                      <a:srgbClr val="78350F"/>
                    </a:solidFill>
                    <a:latin typeface="Arial"/>
                  </a:rPr>
                  <a:t>; with </a:t>
                </a:r>
                <a:r>
                  <a:rPr lang="en-IN" sz="2400">
                    <a:solidFill>
                      <a:srgbClr val="78350F"/>
                    </a:solidFill>
                    <a:latin typeface="Cambria Math" panose="02040503050406030204" pitchFamily="18" charset="0"/>
                  </a:rPr>
                  <a:t>$\alpha+\beta=70\equiv4 \pmod 6$</a:t>
                </a:r>
                <a:r>
                  <a:rPr sz="2400" b="0">
                    <a:solidFill>
                      <a:srgbClr val="78350F"/>
                    </a:solidFill>
                    <a:latin typeface="Arial"/>
                  </a:rPr>
                  <a:t> both must be </a:t>
                </a:r>
                <a:r>
                  <a:rPr lang="en-IN" sz="2400">
                    <a:solidFill>
                      <a:srgbClr val="78350F"/>
                    </a:solidFill>
                    <a:latin typeface="Cambria Math" panose="02040503050406030204" pitchFamily="18" charset="0"/>
                  </a:rPr>
                  <a:t>$\equiv5 \pmod 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oMath>
                </a14:m>
                <a:r>
                  <a:rPr sz="2400" b="0">
                    <a:solidFill>
                      <a:srgbClr val="111827"/>
                    </a:solidFill>
                    <a:latin typeface="Arial"/>
                  </a:rPr>
                  <a:t> is coprime to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iff both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Smallest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gives the maximum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num>
                      <m:den>
                        <m:r>
                          <a:rPr lang="en-IN" sz="2400" i="1">
                            <a:solidFill>
                              <a:srgbClr val="111827"/>
                            </a:solidFill>
                            <a:latin typeface="Cambria Math" panose="02040503050406030204" pitchFamily="18" charset="0"/>
                          </a:rPr>
                          <m:t>60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$\lambda=\alpha\beta$</a:t>
                </a:r>
                <a:r>
                  <a:rPr sz="2400" b="0">
                    <a:solidFill>
                      <a:srgbClr val="111827"/>
                    </a:solidFill>
                    <a:latin typeface="Arial"/>
                  </a:rPr>
                  <a:t> is coprime to </a:t>
                </a:r>
                <a:r>
                  <a:rPr lang="en-IN" sz="2400">
                    <a:solidFill>
                      <a:srgbClr val="111827"/>
                    </a:solidFill>
                    <a:latin typeface="Cambria Math" panose="02040503050406030204" pitchFamily="18" charset="0"/>
                  </a:rPr>
                  <a:t>$6$</a:t>
                </a:r>
                <a:r>
                  <a:rPr sz="2400" b="0">
                    <a:solidFill>
                      <a:srgbClr val="111827"/>
                    </a:solidFill>
                    <a:latin typeface="Arial"/>
                  </a:rPr>
                  <a:t> iff both </a:t>
                </a:r>
                <a:r>
                  <a:rPr lang="en-IN" sz="2400">
                    <a:solidFill>
                      <a:srgbClr val="111827"/>
                    </a:solidFill>
                    <a:latin typeface="Cambria Math" panose="02040503050406030204" pitchFamily="18" charset="0"/>
                  </a:rPr>
                  <a:t>$\alpha,\beta\equiv1$</a:t>
                </a:r>
                <a:r>
                  <a:rPr sz="2400" b="0">
                    <a:solidFill>
                      <a:srgbClr val="111827"/>
                    </a:solidFill>
                    <a:latin typeface="Arial"/>
                  </a:rPr>
                  <a:t> or </a:t>
                </a:r>
                <a:r>
                  <a:rPr lang="en-IN" sz="2400">
                    <a:solidFill>
                      <a:srgbClr val="111827"/>
                    </a:solidFill>
                    <a:latin typeface="Cambria Math" panose="02040503050406030204" pitchFamily="18" charset="0"/>
                  </a:rPr>
                  <a:t>$5 \pmod 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$\alpha+\beta=70\equiv4 \pmod 6$</a:t>
                </a:r>
                <a:r>
                  <a:rPr sz="2400" b="0">
                    <a:solidFill>
                      <a:srgbClr val="111827"/>
                    </a:solidFill>
                    <a:latin typeface="Arial"/>
                  </a:rPr>
                  <a:t>: </a:t>
                </a:r>
                <a:r>
                  <a:rPr lang="en-IN" sz="2400">
                    <a:solidFill>
                      <a:srgbClr val="111827"/>
                    </a:solidFill>
                    <a:latin typeface="Cambria Math" panose="02040503050406030204" pitchFamily="18" charset="0"/>
                  </a:rPr>
                  <a:t>$1+1=2$</a:t>
                </a:r>
                <a:r>
                  <a:rPr sz="2400" b="0">
                    <a:solidFill>
                      <a:srgbClr val="111827"/>
                    </a:solidFill>
                    <a:latin typeface="Arial"/>
                  </a:rPr>
                  <a:t>, </a:t>
                </a:r>
                <a:r>
                  <a:rPr lang="en-IN" sz="2400">
                    <a:solidFill>
                      <a:srgbClr val="111827"/>
                    </a:solidFill>
                    <a:latin typeface="Cambria Math" panose="02040503050406030204" pitchFamily="18" charset="0"/>
                  </a:rPr>
                  <a:t>$1+5=0$</a:t>
                </a:r>
                <a:r>
                  <a:rPr sz="2400" b="0">
                    <a:solidFill>
                      <a:srgbClr val="111827"/>
                    </a:solidFill>
                    <a:latin typeface="Arial"/>
                  </a:rPr>
                  <a:t>, </a:t>
                </a:r>
                <a:r>
                  <a:rPr lang="en-IN" sz="2400">
                    <a:solidFill>
                      <a:srgbClr val="111827"/>
                    </a:solidFill>
                    <a:latin typeface="Cambria Math" panose="02040503050406030204" pitchFamily="18" charset="0"/>
                  </a:rPr>
                  <a:t>$5+5=4$</a:t>
                </a:r>
                <a:r>
                  <a:rPr sz="2400" b="0">
                    <a:solidFill>
                      <a:srgbClr val="111827"/>
                    </a:solidFill>
                    <a:latin typeface="Arial"/>
                  </a:rPr>
                  <a:t>, so </a:t>
                </a:r>
                <a:r>
                  <a:rPr lang="en-IN" sz="2400">
                    <a:solidFill>
                      <a:srgbClr val="111827"/>
                    </a:solidFill>
                    <a:latin typeface="Cambria Math" panose="02040503050406030204" pitchFamily="18" charset="0"/>
                  </a:rPr>
                  <a:t>$\alpha\equiv\beta\equiv5 \pmod 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Smallest </a:t>
                </a:r>
                <a:r>
                  <a:rPr lang="en-IN" sz="2400">
                    <a:solidFill>
                      <a:srgbClr val="111827"/>
                    </a:solidFill>
                    <a:latin typeface="Cambria Math" panose="02040503050406030204" pitchFamily="18" charset="0"/>
                  </a:rPr>
                  <a:t>$\alpha=5$</a:t>
                </a:r>
                <a:r>
                  <a:rPr sz="2400" b="0">
                    <a:solidFill>
                      <a:srgbClr val="111827"/>
                    </a:solidFill>
                    <a:latin typeface="Arial"/>
                  </a:rPr>
                  <a:t> (</a:t>
                </a:r>
                <a:r>
                  <a:rPr lang="en-IN" sz="2400">
                    <a:solidFill>
                      <a:srgbClr val="111827"/>
                    </a:solidFill>
                    <a:latin typeface="Cambria Math" panose="02040503050406030204" pitchFamily="18" charset="0"/>
                  </a:rPr>
                  <a:t>$\alpha=35$</a:t>
                </a:r>
                <a:r>
                  <a:rPr sz="2400" b="0">
                    <a:solidFill>
                      <a:srgbClr val="111827"/>
                    </a:solidFill>
                    <a:latin typeface="Arial"/>
                  </a:rPr>
                  <a:t> gives the maximum </a:t>
                </a:r>
                <a:r>
                  <a:rPr lang="en-IN" sz="2400">
                    <a:solidFill>
                      <a:srgbClr val="111827"/>
                    </a:solidFill>
                    <a:latin typeface="Cambria Math" panose="02040503050406030204" pitchFamily="18" charset="0"/>
                  </a:rPr>
                  <a:t>$\lambda=1225$</a:t>
                </a:r>
                <a:r>
                  <a:rPr sz="2400" b="0">
                    <a:solidFill>
                      <a:srgbClr val="111827"/>
                    </a:solidFill>
                    <a:latin typeface="Arial"/>
                  </a:rPr>
                  <a:t>), so </a:t>
                </a:r>
                <a:r>
                  <a:rPr lang="en-IN" sz="2400">
                    <a:solidFill>
                      <a:srgbClr val="111827"/>
                    </a:solidFill>
                    <a:latin typeface="Cambria Math" panose="02040503050406030204" pitchFamily="18" charset="0"/>
                  </a:rPr>
                  <a:t>$\beta=65$</a:t>
                </a:r>
                <a:r>
                  <a:rPr sz="2400" b="0">
                    <a:solidFill>
                      <a:srgbClr val="111827"/>
                    </a:solidFill>
                    <a:latin typeface="Arial"/>
                  </a:rPr>
                  <a:t>, </a:t>
                </a:r>
                <a:r>
                  <a:rPr lang="en-IN" sz="2400">
                    <a:solidFill>
                      <a:srgbClr val="111827"/>
                    </a:solidFill>
                    <a:latin typeface="Cambria Math" panose="02040503050406030204" pitchFamily="18" charset="0"/>
                  </a:rPr>
                  <a:t>$\lambda=325$</a:t>
                </a:r>
                <a:r>
                  <a:rPr sz="2400" b="0">
                    <a:solidFill>
                      <a:srgbClr val="111827"/>
                    </a:solidFill>
                    <a:latin typeface="Arial"/>
                  </a:rPr>
                  <a:t>, </a:t>
                </a:r>
                <a:r>
                  <a:rPr lang="en-IN" sz="2400">
                    <a:solidFill>
                      <a:srgbClr val="111827"/>
                    </a:solidFill>
                    <a:latin typeface="Cambria Math" panose="02040503050406030204" pitchFamily="18" charset="0"/>
                  </a:rPr>
                  <a:t>$|\alpha-\beta|=60$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 </a:t>
                </a:r>
                <a:r>
                  <a:rPr lang="en-IN" sz="2400">
                    <a:solidFill>
                      <a:srgbClr val="111827"/>
                    </a:solidFill>
                    <a:latin typeface="Cambria Math" panose="02040503050406030204" pitchFamily="18" charset="0"/>
                  </a:rPr>
                  <a:t>$=\frac{(2+8)\cdot360}{60}=60$</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60</a:t>
            </a:r>
            <a:endParaRPr sz="2800">
              <a:solidFill>
                <a:srgbClr val="15803D"/>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fixed sum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𝑆</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product is smallest when the roots are far apart (here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the smallest admissible).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Integers coprime to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possible residue pairs of their sum 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which tells which pairs are admissible.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coprime to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is the same as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fixed sum </a:t>
                </a:r>
                <a:r>
                  <a:rPr lang="en-IN" sz="2400">
                    <a:solidFill>
                      <a:srgbClr val="111827"/>
                    </a:solidFill>
                    <a:latin typeface="Cambria Math" panose="02040503050406030204" pitchFamily="18" charset="0"/>
                  </a:rPr>
                  <a:t>$S=\alpha+\beta$</a:t>
                </a:r>
                <a:r>
                  <a:rPr sz="2400" b="0">
                    <a:solidFill>
                      <a:srgbClr val="111827"/>
                    </a:solidFill>
                    <a:latin typeface="Arial"/>
                  </a:rPr>
                  <a:t>, </a:t>
                </a:r>
                <a:r>
                  <a:rPr lang="en-IN" sz="2400">
                    <a:solidFill>
                      <a:srgbClr val="111827"/>
                    </a:solidFill>
                    <a:latin typeface="Cambria Math" panose="02040503050406030204" pitchFamily="18" charset="0"/>
                  </a:rPr>
                  <a:t>$\alpha\beta=\frac{S^2}4-\left(\frac{\alpha-\beta}2\right)^2$</a:t>
                </a:r>
                <a:r>
                  <a:rPr sz="2400" b="0">
                    <a:solidFill>
                      <a:srgbClr val="111827"/>
                    </a:solidFill>
                    <a:latin typeface="Arial"/>
                  </a:rPr>
                  <a:t>: the product is smallest when the roots are far apart (here </a:t>
                </a:r>
                <a:r>
                  <a:rPr lang="en-IN" sz="2400">
                    <a:solidFill>
                      <a:srgbClr val="111827"/>
                    </a:solidFill>
                    <a:latin typeface="Cambria Math" panose="02040503050406030204" pitchFamily="18" charset="0"/>
                  </a:rPr>
                  <a:t>$\alpha=5$</a:t>
                </a:r>
                <a:r>
                  <a:rPr sz="2400" b="0">
                    <a:solidFill>
                      <a:srgbClr val="111827"/>
                    </a:solidFill>
                    <a:latin typeface="Arial"/>
                  </a:rPr>
                  <a:t> is the smallest admissible).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Integers coprime to </a:t>
                </a:r>
                <a:r>
                  <a:rPr lang="en-IN" sz="2400">
                    <a:solidFill>
                      <a:srgbClr val="111827"/>
                    </a:solidFill>
                    <a:latin typeface="Cambria Math" panose="02040503050406030204" pitchFamily="18" charset="0"/>
                  </a:rPr>
                  <a:t>$6$</a:t>
                </a:r>
                <a:r>
                  <a:rPr sz="2400" b="0">
                    <a:solidFill>
                      <a:srgbClr val="111827"/>
                    </a:solidFill>
                    <a:latin typeface="Arial"/>
                  </a:rPr>
                  <a:t> are </a:t>
                </a:r>
                <a:r>
                  <a:rPr lang="en-IN" sz="2400">
                    <a:solidFill>
                      <a:srgbClr val="111827"/>
                    </a:solidFill>
                    <a:latin typeface="Cambria Math" panose="02040503050406030204" pitchFamily="18" charset="0"/>
                  </a:rPr>
                  <a:t>$\equiv\pm1 \pmod 6$</a:t>
                </a:r>
                <a:r>
                  <a:rPr sz="2400" b="0">
                    <a:solidFill>
                      <a:srgbClr val="111827"/>
                    </a:solidFill>
                    <a:latin typeface="Arial"/>
                  </a:rPr>
                  <a:t>; the possible residue pairs of their sum are </a:t>
                </a:r>
                <a:r>
                  <a:rPr lang="en-IN" sz="2400">
                    <a:solidFill>
                      <a:srgbClr val="111827"/>
                    </a:solidFill>
                    <a:latin typeface="Cambria Math" panose="02040503050406030204" pitchFamily="18" charset="0"/>
                  </a:rPr>
                  <a:t>$2,0,4$</a:t>
                </a:r>
                <a:r>
                  <a:rPr sz="2400" b="0">
                    <a:solidFill>
                      <a:srgbClr val="111827"/>
                    </a:solidFill>
                    <a:latin typeface="Arial"/>
                  </a:rPr>
                  <a:t>, which tells which pairs are admissible.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a:t>
                </a:r>
                <a:r>
                  <a:rPr sz="2400" b="0">
                    <a:solidFill>
                      <a:srgbClr val="111827"/>
                    </a:solidFill>
                    <a:latin typeface="Arial"/>
                  </a:rPr>
                  <a:t> coprime to </a:t>
                </a:r>
                <a:r>
                  <a:rPr lang="en-IN" sz="2400">
                    <a:solidFill>
                      <a:srgbClr val="111827"/>
                    </a:solidFill>
                    <a:latin typeface="Cambria Math" panose="02040503050406030204" pitchFamily="18" charset="0"/>
                  </a:rPr>
                  <a:t>$6$</a:t>
                </a:r>
                <a:r>
                  <a:rPr sz="2400" b="0">
                    <a:solidFill>
                      <a:srgbClr val="111827"/>
                    </a:solidFill>
                    <a:latin typeface="Arial"/>
                  </a:rPr>
                  <a:t> is the same as '</a:t>
                </a:r>
                <a:r>
                  <a:rPr lang="en-IN" sz="2400">
                    <a:solidFill>
                      <a:srgbClr val="111827"/>
                    </a:solidFill>
                    <a:latin typeface="Cambria Math" panose="02040503050406030204" pitchFamily="18" charset="0"/>
                  </a:rPr>
                  <a:t>$\lambda/2,\lambda/3\notin\mathbb 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be the lengths of three sides of a triangle satisfying the condition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the set of all possible values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a:t>
                </a:r>
                <a:r>
                  <a:rPr sz="2400" b="0">
                    <a:solidFill>
                      <a:srgbClr val="111827"/>
                    </a:solidFill>
                    <a:latin typeface="Arial"/>
                  </a:rPr>
                  <a:t> be the lengths of three sides of a triangle satisfying the condition </a:t>
                </a:r>
                <a:r>
                  <a:rPr lang="en-IN" sz="2400">
                    <a:solidFill>
                      <a:srgbClr val="111827"/>
                    </a:solidFill>
                    <a:latin typeface="Cambria Math" panose="02040503050406030204" pitchFamily="18" charset="0"/>
                  </a:rPr>
                  <a:t>$(a^2+b^2)x^2-2b(a+c)x+(b^2+c^2)=0$</a:t>
                </a:r>
                <a:r>
                  <a:rPr sz="2400" b="0">
                    <a:solidFill>
                      <a:srgbClr val="111827"/>
                    </a:solidFill>
                    <a:latin typeface="Arial"/>
                  </a:rPr>
                  <a:t>. If the set of all possible values of </a:t>
                </a:r>
                <a:r>
                  <a:rPr lang="en-IN" sz="2400">
                    <a:solidFill>
                      <a:srgbClr val="111827"/>
                    </a:solidFill>
                    <a:latin typeface="Cambria Math" panose="02040503050406030204" pitchFamily="18" charset="0"/>
                  </a:rPr>
                  <a:t>$x$</a:t>
                </a:r>
                <a:r>
                  <a:rPr sz="2400" b="0">
                    <a:solidFill>
                      <a:srgbClr val="111827"/>
                    </a:solidFill>
                    <a:latin typeface="Arial"/>
                  </a:rPr>
                  <a:t> is the interval </a:t>
                </a:r>
                <a:r>
                  <a:rPr lang="en-IN" sz="2400">
                    <a:solidFill>
                      <a:srgbClr val="111827"/>
                    </a:solidFill>
                    <a:latin typeface="Cambria Math" panose="02040503050406030204" pitchFamily="18" charset="0"/>
                  </a:rPr>
                  <a:t>$(\alpha,\beta)$</a:t>
                </a:r>
                <a:r>
                  <a:rPr sz="2400" b="0">
                    <a:solidFill>
                      <a:srgbClr val="111827"/>
                    </a:solidFill>
                    <a:latin typeface="Arial"/>
                  </a:rPr>
                  <a:t>, then </a:t>
                </a:r>
                <a:r>
                  <a:rPr lang="en-IN" sz="2400">
                    <a:solidFill>
                      <a:srgbClr val="111827"/>
                    </a:solidFill>
                    <a:latin typeface="Cambria Math" panose="02040503050406030204" pitchFamily="18" charset="0"/>
                  </a:rPr>
                  <a:t>$12(\alpha^2+\beta^2)$</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Quadratic equation: sum of squares and real roots, Triangle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quadratic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forcing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into a G.P. with ratio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then use the triangle inequalities.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quadratic is </a:t>
                </a:r>
                <a:r>
                  <a:rPr lang="en-IN" sz="2400">
                    <a:solidFill>
                      <a:srgbClr val="78350F"/>
                    </a:solidFill>
                    <a:latin typeface="Cambria Math" panose="02040503050406030204" pitchFamily="18" charset="0"/>
                  </a:rPr>
                  <a:t>$(ax-b)^2+(bx-c)^2=0$</a:t>
                </a:r>
                <a:r>
                  <a:rPr sz="2400" b="0">
                    <a:solidFill>
                      <a:srgbClr val="78350F"/>
                    </a:solidFill>
                    <a:latin typeface="Arial"/>
                  </a:rPr>
                  <a:t>, forcing </a:t>
                </a:r>
                <a:r>
                  <a:rPr lang="en-IN" sz="2400">
                    <a:solidFill>
                      <a:srgbClr val="78350F"/>
                    </a:solidFill>
                    <a:latin typeface="Cambria Math" panose="02040503050406030204" pitchFamily="18" charset="0"/>
                  </a:rPr>
                  <a:t>$a,b,c$</a:t>
                </a:r>
                <a:r>
                  <a:rPr sz="2400" b="0">
                    <a:solidFill>
                      <a:srgbClr val="78350F"/>
                    </a:solidFill>
                    <a:latin typeface="Arial"/>
                  </a:rPr>
                  <a:t> into a G.P. with ratio </a:t>
                </a:r>
                <a:r>
                  <a:rPr lang="en-IN" sz="2400">
                    <a:solidFill>
                      <a:srgbClr val="78350F"/>
                    </a:solidFill>
                    <a:latin typeface="Cambria Math" panose="02040503050406030204" pitchFamily="18" charset="0"/>
                  </a:rPr>
                  <a:t>$x$</a:t>
                </a:r>
                <a:r>
                  <a:rPr sz="2400" b="0">
                    <a:solidFill>
                      <a:srgbClr val="78350F"/>
                    </a:solidFill>
                    <a:latin typeface="Arial"/>
                  </a:rPr>
                  <a:t>; then use the triangle inequalities.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(real numbers)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the sides are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$(a^2+b^2)x^2-2b(a+c)x+(b^2+c^2)=(a^2x^2-2abx+b^2)+(b^2x^2-2bcx+c^2)$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$=(ax-b)^2+(bx-c)^2=0$</a:t>
                </a:r>
                <a:r>
                  <a:rPr sz="2400" b="0">
                    <a:solidFill>
                      <a:srgbClr val="111827"/>
                    </a:solidFill>
                    <a:latin typeface="Arial"/>
                  </a:rPr>
                  <a:t>, so (real numbers) </a:t>
                </a:r>
                <a:r>
                  <a:rPr lang="en-IN" sz="2400">
                    <a:solidFill>
                      <a:srgbClr val="111827"/>
                    </a:solidFill>
                    <a:latin typeface="Cambria Math" panose="02040503050406030204" pitchFamily="18" charset="0"/>
                  </a:rPr>
                  <a:t>$x=\frac ba$</a:t>
                </a:r>
                <a:r>
                  <a:rPr sz="2400" b="0">
                    <a:solidFill>
                      <a:srgbClr val="111827"/>
                    </a:solidFill>
                    <a:latin typeface="Arial"/>
                  </a:rPr>
                  <a:t> and </a:t>
                </a:r>
                <a:r>
                  <a:rPr lang="en-IN" sz="2400">
                    <a:solidFill>
                      <a:srgbClr val="111827"/>
                    </a:solidFill>
                    <a:latin typeface="Cambria Math" panose="02040503050406030204" pitchFamily="18" charset="0"/>
                  </a:rPr>
                  <a:t>$x=\frac 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 ba=\frac cb$</a:t>
                </a:r>
                <a:r>
                  <a:rPr sz="2400" b="0">
                    <a:solidFill>
                      <a:srgbClr val="111827"/>
                    </a:solidFill>
                    <a:latin typeface="Arial"/>
                  </a:rPr>
                  <a:t>, i.e. </a:t>
                </a:r>
                <a:r>
                  <a:rPr lang="en-IN" sz="2400">
                    <a:solidFill>
                      <a:srgbClr val="111827"/>
                    </a:solidFill>
                    <a:latin typeface="Cambria Math" panose="02040503050406030204" pitchFamily="18" charset="0"/>
                  </a:rPr>
                  <a:t>$b^2=ac$</a:t>
                </a:r>
                <a:r>
                  <a:rPr sz="2400" b="0">
                    <a:solidFill>
                      <a:srgbClr val="111827"/>
                    </a:solidFill>
                    <a:latin typeface="Arial"/>
                  </a:rPr>
                  <a:t>: the sides are </a:t>
                </a:r>
                <a:r>
                  <a:rPr lang="en-IN" sz="2400">
                    <a:solidFill>
                      <a:srgbClr val="111827"/>
                    </a:solidFill>
                    <a:latin typeface="Cambria Math" panose="02040503050406030204" pitchFamily="18" charset="0"/>
                  </a:rPr>
                  <a:t>$a,\ b=ax,\ c=bx=ax^2$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$a+b&gt;c\Rightarrow a+ax&gt;ax^2\Rightarrow x^2-x-1&lt;0$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always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(every such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occurs, e.g.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$b+c&gt;a\Rightarrow ax+ax^2&gt;a\Rightarrow x^2+x-1&gt;0$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$c+a&gt;b\Rightarrow x^2-x+1&gt;0$</a:t>
                </a:r>
                <a:r>
                  <a:rPr sz="2400" b="0">
                    <a:solidFill>
                      <a:srgbClr val="111827"/>
                    </a:solidFill>
                    <a:latin typeface="Arial"/>
                  </a:rPr>
                  <a:t>, always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$x\in\left(\frac{\sqrt5-1}2,\frac{\sqrt5+1}2\right)$</a:t>
                </a:r>
                <a:r>
                  <a:rPr sz="2400" b="0">
                    <a:solidFill>
                      <a:srgbClr val="111827"/>
                    </a:solidFill>
                    <a:latin typeface="Arial"/>
                  </a:rPr>
                  <a:t> (every such </a:t>
                </a:r>
                <a:r>
                  <a:rPr lang="en-IN" sz="2400">
                    <a:solidFill>
                      <a:srgbClr val="111827"/>
                    </a:solidFill>
                    <a:latin typeface="Cambria Math" panose="02040503050406030204" pitchFamily="18" charset="0"/>
                  </a:rPr>
                  <a:t>$x$</a:t>
                </a:r>
                <a:r>
                  <a:rPr sz="2400" b="0">
                    <a:solidFill>
                      <a:srgbClr val="111827"/>
                    </a:solidFill>
                    <a:latin typeface="Arial"/>
                  </a:rPr>
                  <a:t> occurs, e.g. </a:t>
                </a:r>
                <a:r>
                  <a:rPr lang="en-IN" sz="2400">
                    <a:solidFill>
                      <a:srgbClr val="111827"/>
                    </a:solidFill>
                    <a:latin typeface="Cambria Math" panose="02040503050406030204" pitchFamily="18" charset="0"/>
                  </a:rPr>
                  <a:t>$a=1,b=x,c=x^2$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$\alpha^2+\beta^2=\left(\frac{\sqrt5-1}2\right)^2+\left(\frac{\sqrt5+1}2\right)^2=3$</a:t>
                </a:r>
                <a:r>
                  <a:rPr sz="2400" b="0">
                    <a:solidFill>
                      <a:srgbClr val="111827"/>
                    </a:solidFill>
                    <a:latin typeface="Arial"/>
                  </a:rPr>
                  <a:t>, so </a:t>
                </a:r>
                <a:r>
                  <a:rPr lang="en-IN" sz="2400">
                    <a:solidFill>
                      <a:srgbClr val="111827"/>
                    </a:solidFill>
                    <a:latin typeface="Cambria Math" panose="02040503050406030204" pitchFamily="18" charset="0"/>
                  </a:rPr>
                  <a:t>$12(\alpha^2+\beta^2)=36$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triangle with sides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the same as with sides </a:t>
                </a:r>
                <a14:m>
                  <m:oMath xmlns:m="http://schemas.openxmlformats.org/officeDocument/2006/math">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so the interval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β</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e>
                    </m:d>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β</m:t>
                    </m:r>
                  </m:oMath>
                </a14:m>
                <a:r>
                  <a:rPr sz="2400" b="0">
                    <a:solidFill>
                      <a:srgbClr val="78350F"/>
                    </a:solidFill>
                    <a:latin typeface="Arial"/>
                  </a:rPr>
                  <a:t> the golden ratio.</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triangle with sides </a:t>
                </a:r>
                <a:r>
                  <a:rPr lang="en-IN" sz="2400">
                    <a:solidFill>
                      <a:srgbClr val="78350F"/>
                    </a:solidFill>
                    <a:latin typeface="Cambria Math" panose="02040503050406030204" pitchFamily="18" charset="0"/>
                  </a:rPr>
                  <a:t>$a,ax,ax^2$</a:t>
                </a:r>
                <a:r>
                  <a:rPr sz="2400" b="0">
                    <a:solidFill>
                      <a:srgbClr val="78350F"/>
                    </a:solidFill>
                    <a:latin typeface="Arial"/>
                  </a:rPr>
                  <a:t> is the same as with sides </a:t>
                </a:r>
                <a:r>
                  <a:rPr lang="en-IN" sz="2400">
                    <a:solidFill>
                      <a:srgbClr val="78350F"/>
                    </a:solidFill>
                    <a:latin typeface="Cambria Math" panose="02040503050406030204" pitchFamily="18" charset="0"/>
                  </a:rPr>
                  <a:t>$ax^2,ax,a$</a:t>
                </a:r>
                <a:r>
                  <a:rPr sz="2400" b="0">
                    <a:solidFill>
                      <a:srgbClr val="78350F"/>
                    </a:solidFill>
                    <a:latin typeface="Arial"/>
                  </a:rPr>
                  <a:t> (</a:t>
                </a:r>
                <a:r>
                  <a:rPr lang="en-IN" sz="2400">
                    <a:solidFill>
                      <a:srgbClr val="78350F"/>
                    </a:solidFill>
                    <a:latin typeface="Cambria Math" panose="02040503050406030204" pitchFamily="18" charset="0"/>
                  </a:rPr>
                  <a:t>$x\to1/x$</a:t>
                </a:r>
                <a:r>
                  <a:rPr sz="2400" b="0">
                    <a:solidFill>
                      <a:srgbClr val="78350F"/>
                    </a:solidFill>
                    <a:latin typeface="Arial"/>
                  </a:rPr>
                  <a:t>), so the interval is </a:t>
                </a:r>
                <a:r>
                  <a:rPr lang="en-IN" sz="2400">
                    <a:solidFill>
                      <a:srgbClr val="78350F"/>
                    </a:solidFill>
                    <a:latin typeface="Cambria Math" panose="02040503050406030204" pitchFamily="18" charset="0"/>
                  </a:rPr>
                  <a:t>$\left(\frac1\beta,\beta\right)$</a:t>
                </a:r>
                <a:r>
                  <a:rPr sz="2400" b="0">
                    <a:solidFill>
                      <a:srgbClr val="78350F"/>
                    </a:solidFill>
                    <a:latin typeface="Arial"/>
                  </a:rPr>
                  <a:t> with </a:t>
                </a:r>
                <a:r>
                  <a:rPr lang="en-IN" sz="2400">
                    <a:solidFill>
                      <a:srgbClr val="78350F"/>
                    </a:solidFill>
                    <a:latin typeface="Cambria Math" panose="02040503050406030204" pitchFamily="18" charset="0"/>
                  </a:rPr>
                  <a:t>$\beta$</a:t>
                </a:r>
                <a:r>
                  <a:rPr sz="2400" b="0">
                    <a:solidFill>
                      <a:srgbClr val="78350F"/>
                    </a:solidFill>
                    <a:latin typeface="Arial"/>
                  </a:rPr>
                  <a:t> the golden ratio.</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the sides are in G.P. with ratio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Reversing the order gives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the same triangle, so the set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symmetric under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largest side is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the only condition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$b^2=ac$</a:t>
                </a:r>
                <a:r>
                  <a:rPr sz="2400" b="0">
                    <a:solidFill>
                      <a:srgbClr val="111827"/>
                    </a:solidFill>
                    <a:latin typeface="Arial"/>
                  </a:rPr>
                  <a:t> the sides are in G.P. with ratio </a:t>
                </a:r>
                <a:r>
                  <a:rPr lang="en-IN" sz="2400">
                    <a:solidFill>
                      <a:srgbClr val="111827"/>
                    </a:solidFill>
                    <a:latin typeface="Cambria Math" panose="02040503050406030204" pitchFamily="18" charset="0"/>
                  </a:rPr>
                  <a:t>$x&gt;0$</a:t>
                </a:r>
                <a:r>
                  <a:rPr sz="2400" b="0">
                    <a:solidFill>
                      <a:srgbClr val="111827"/>
                    </a:solidFill>
                    <a:latin typeface="Arial"/>
                  </a:rPr>
                  <a:t>. Reversing the order gives ratio </a:t>
                </a:r>
                <a:r>
                  <a:rPr lang="en-IN" sz="2400">
                    <a:solidFill>
                      <a:srgbClr val="111827"/>
                    </a:solidFill>
                    <a:latin typeface="Cambria Math" panose="02040503050406030204" pitchFamily="18" charset="0"/>
                  </a:rPr>
                  <a:t>$1/x$</a:t>
                </a:r>
                <a:r>
                  <a:rPr sz="2400" b="0">
                    <a:solidFill>
                      <a:srgbClr val="111827"/>
                    </a:solidFill>
                    <a:latin typeface="Arial"/>
                  </a:rPr>
                  <a:t> and the same triangle, so the set of </a:t>
                </a:r>
                <a:r>
                  <a:rPr lang="en-IN" sz="2400">
                    <a:solidFill>
                      <a:srgbClr val="111827"/>
                    </a:solidFill>
                    <a:latin typeface="Cambria Math" panose="02040503050406030204" pitchFamily="18" charset="0"/>
                  </a:rPr>
                  <a:t>$x$</a:t>
                </a:r>
                <a:r>
                  <a:rPr sz="2400" b="0">
                    <a:solidFill>
                      <a:srgbClr val="111827"/>
                    </a:solidFill>
                    <a:latin typeface="Arial"/>
                  </a:rPr>
                  <a:t> is symmetric under </a:t>
                </a:r>
                <a:r>
                  <a:rPr lang="en-IN" sz="2400">
                    <a:solidFill>
                      <a:srgbClr val="111827"/>
                    </a:solidFill>
                    <a:latin typeface="Cambria Math" panose="02040503050406030204" pitchFamily="18" charset="0"/>
                  </a:rPr>
                  <a:t>$x\to\frac1x$</a:t>
                </a:r>
                <a:r>
                  <a:rPr sz="2400" b="0">
                    <a:solidFill>
                      <a:srgbClr val="111827"/>
                    </a:solidFill>
                    <a:latin typeface="Arial"/>
                  </a:rPr>
                  <a:t>: </a:t>
                </a:r>
                <a:r>
                  <a:rPr lang="en-IN" sz="2400">
                    <a:solidFill>
                      <a:srgbClr val="111827"/>
                    </a:solidFill>
                    <a:latin typeface="Cambria Math" panose="02040503050406030204" pitchFamily="18" charset="0"/>
                  </a:rPr>
                  <a:t>$\alpha\beta=1$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$x\ge1$</a:t>
                </a:r>
                <a:r>
                  <a:rPr sz="2400" b="0">
                    <a:solidFill>
                      <a:srgbClr val="111827"/>
                    </a:solidFill>
                    <a:latin typeface="Arial"/>
                  </a:rPr>
                  <a:t> the largest side is </a:t>
                </a:r>
                <a:r>
                  <a:rPr lang="en-IN" sz="2400">
                    <a:solidFill>
                      <a:srgbClr val="111827"/>
                    </a:solidFill>
                    <a:latin typeface="Cambria Math" panose="02040503050406030204" pitchFamily="18" charset="0"/>
                  </a:rPr>
                  <a:t>$ax^2$</a:t>
                </a:r>
                <a:r>
                  <a:rPr sz="2400" b="0">
                    <a:solidFill>
                      <a:srgbClr val="111827"/>
                    </a:solidFill>
                    <a:latin typeface="Arial"/>
                  </a:rPr>
                  <a:t>, and the only condition is </a:t>
                </a:r>
                <a:r>
                  <a:rPr lang="en-IN" sz="2400">
                    <a:solidFill>
                      <a:srgbClr val="111827"/>
                    </a:solidFill>
                    <a:latin typeface="Cambria Math" panose="02040503050406030204" pitchFamily="18" charset="0"/>
                  </a:rPr>
                  <a:t>$a+ax&gt;ax^2$</a:t>
                </a:r>
                <a:r>
                  <a:rPr sz="2400" b="0">
                    <a:solidFill>
                      <a:srgbClr val="111827"/>
                    </a:solidFill>
                    <a:latin typeface="Arial"/>
                  </a:rPr>
                  <a:t>, i.e. </a:t>
                </a:r>
                <a:r>
                  <a:rPr lang="en-IN" sz="2400">
                    <a:solidFill>
                      <a:srgbClr val="111827"/>
                    </a:solidFill>
                    <a:latin typeface="Cambria Math" panose="02040503050406030204" pitchFamily="18" charset="0"/>
                  </a:rPr>
                  <a:t>$x&lt;\beta$</a:t>
                </a:r>
                <a:r>
                  <a:rPr sz="2400" b="0">
                    <a:solidFill>
                      <a:srgbClr val="111827"/>
                    </a:solidFill>
                    <a:latin typeface="Arial"/>
                  </a:rPr>
                  <a:t> with </a:t>
                </a:r>
                <a:r>
                  <a:rPr lang="en-IN" sz="2400">
                    <a:solidFill>
                      <a:srgbClr val="111827"/>
                    </a:solidFill>
                    <a:latin typeface="Cambria Math" panose="02040503050406030204" pitchFamily="18" charset="0"/>
                  </a:rPr>
                  <a:t>$\beta^2-\beta-1=0$</a:t>
                </a:r>
                <a:r>
                  <a:rPr sz="2400" b="0">
                    <a:solidFill>
                      <a:srgbClr val="111827"/>
                    </a:solidFill>
                    <a:latin typeface="Arial"/>
                  </a:rPr>
                  <a:t>, </a:t>
                </a:r>
                <a:r>
                  <a:rPr lang="en-IN" sz="2400">
                    <a:solidFill>
                      <a:srgbClr val="111827"/>
                    </a:solidFill>
                    <a:latin typeface="Cambria Math" panose="02040503050406030204" pitchFamily="18" charset="0"/>
                  </a:rPr>
                  <a:t>$\beta=\frac{1+\sqrt5}2$</a:t>
                </a:r>
                <a:r>
                  <a:rPr sz="2400" b="0">
                    <a:solidFill>
                      <a:srgbClr val="111827"/>
                    </a:solidFill>
                    <a:latin typeface="Arial"/>
                  </a:rPr>
                  <a:t>; so </a:t>
                </a:r>
                <a:r>
                  <a:rPr lang="en-IN" sz="2400">
                    <a:solidFill>
                      <a:srgbClr val="111827"/>
                    </a:solidFill>
                    <a:latin typeface="Cambria Math" panose="02040503050406030204" pitchFamily="18" charset="0"/>
                  </a:rPr>
                  <a:t>$\alpha=\frac1\beta=\frac{\sqrt5-1}2$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$\alpha+\beta=\sqrt5$</a:t>
                </a:r>
                <a:r>
                  <a:rPr sz="2400" b="0">
                    <a:solidFill>
                      <a:srgbClr val="111827"/>
                    </a:solidFill>
                    <a:latin typeface="Arial"/>
                  </a:rPr>
                  <a:t> and </a:t>
                </a:r>
                <a:r>
                  <a:rPr lang="en-IN" sz="2400">
                    <a:solidFill>
                      <a:srgbClr val="111827"/>
                    </a:solidFill>
                    <a:latin typeface="Cambria Math" panose="02040503050406030204" pitchFamily="18" charset="0"/>
                  </a:rPr>
                  <a:t>$\alpha\beta=1$</a:t>
                </a:r>
                <a:r>
                  <a:rPr sz="2400" b="0">
                    <a:solidFill>
                      <a:srgbClr val="111827"/>
                    </a:solidFill>
                    <a:latin typeface="Arial"/>
                  </a:rPr>
                  <a:t>, so </a:t>
                </a:r>
                <a:r>
                  <a:rPr lang="en-IN" sz="2400">
                    <a:solidFill>
                      <a:srgbClr val="111827"/>
                    </a:solidFill>
                    <a:latin typeface="Cambria Math" panose="02040503050406030204" pitchFamily="18" charset="0"/>
                  </a:rPr>
                  <a:t>$\alpha^2+\beta^2=5-2=3$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$12(\alpha^2+\beta^2)=36$</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36</a:t>
            </a:r>
            <a:endParaRPr sz="2800">
              <a:solidFill>
                <a:srgbClr val="15803D"/>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sum of squares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𝑞</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𝑞</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over the reals forces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𝑞</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𝑞</m:t>
                            </m:r>
                          </m:e>
                          <m:sub>
                            <m:r>
                              <a:rPr lang="en-IN" sz="2400" i="1">
                                <a:solidFill>
                                  <a:srgbClr val="111827"/>
                                </a:solidFill>
                                <a:latin typeface="Cambria Math" panose="02040503050406030204" pitchFamily="18" charset="0"/>
                              </a:rPr>
                              <m:t>2</m:t>
                            </m:r>
                          </m:sub>
                        </m:sSub>
                      </m:num>
                      <m:den>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look for such a hidden sum of squares when the quadratic has a form like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sides in G.P. of ratio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exists iff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φ</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oMath>
                </a14:m>
                <a:r>
                  <a:rPr sz="2400" b="0">
                    <a:solidFill>
                      <a:srgbClr val="111827"/>
                    </a:solidFill>
                    <a:latin typeface="Arial"/>
                  </a:rPr>
                  <a:t> is a triangle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oMath>
                </a14:m>
                <a:r>
                  <a:rPr sz="2400" b="0">
                    <a:solidFill>
                      <a:srgbClr val="111827"/>
                    </a:solidFill>
                    <a:latin typeface="Arial"/>
                  </a:rPr>
                  <a:t> is not (</a:t>
                </a:r>
                <a14:m>
                  <m:oMath xmlns:m="http://schemas.openxmlformats.org/officeDocument/2006/math">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sides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only the inequality involving the largest side needs checking.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sum of squares </a:t>
                </a:r>
                <a:r>
                  <a:rPr lang="en-IN" sz="2400">
                    <a:solidFill>
                      <a:srgbClr val="111827"/>
                    </a:solidFill>
                    <a:latin typeface="Cambria Math" panose="02040503050406030204" pitchFamily="18" charset="0"/>
                  </a:rPr>
                  <a:t>$(p_1x-q_1)^2+(p_2x-q_2)^2=0$</a:t>
                </a:r>
                <a:r>
                  <a:rPr sz="2400" b="0">
                    <a:solidFill>
                      <a:srgbClr val="111827"/>
                    </a:solidFill>
                    <a:latin typeface="Arial"/>
                  </a:rPr>
                  <a:t> over the reals forces </a:t>
                </a:r>
                <a:r>
                  <a:rPr lang="en-IN" sz="2400">
                    <a:solidFill>
                      <a:srgbClr val="111827"/>
                    </a:solidFill>
                    <a:latin typeface="Cambria Math" panose="02040503050406030204" pitchFamily="18" charset="0"/>
                  </a:rPr>
                  <a:t>$x=\frac{q_1}{p_1}=\frac{q_2}{p_2}$</a:t>
                </a:r>
                <a:r>
                  <a:rPr sz="2400" b="0">
                    <a:solidFill>
                      <a:srgbClr val="111827"/>
                    </a:solidFill>
                    <a:latin typeface="Arial"/>
                  </a:rPr>
                  <a:t>: look for such a hidden sum of squares when the quadratic has a form like </a:t>
                </a:r>
                <a:r>
                  <a:rPr lang="en-IN" sz="2400">
                    <a:solidFill>
                      <a:srgbClr val="111827"/>
                    </a:solidFill>
                    <a:latin typeface="Cambria Math" panose="02040503050406030204" pitchFamily="18" charset="0"/>
                  </a:rPr>
                  <a:t>$(a^2+b^2)x^2-2b(a+c)x+(b^2+c^2)$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sides in G.P. of ratio </a:t>
                </a:r>
                <a:r>
                  <a:rPr lang="en-IN" sz="2400">
                    <a:solidFill>
                      <a:srgbClr val="111827"/>
                    </a:solidFill>
                    <a:latin typeface="Cambria Math" panose="02040503050406030204" pitchFamily="18" charset="0"/>
                  </a:rPr>
                  <a:t>$r$</a:t>
                </a:r>
                <a:r>
                  <a:rPr sz="2400" b="0">
                    <a:solidFill>
                      <a:srgbClr val="111827"/>
                    </a:solidFill>
                    <a:latin typeface="Arial"/>
                  </a:rPr>
                  <a:t> exists iff </a:t>
                </a:r>
                <a:r>
                  <a:rPr lang="en-IN" sz="2400">
                    <a:solidFill>
                      <a:srgbClr val="111827"/>
                    </a:solidFill>
                    <a:latin typeface="Cambria Math" panose="02040503050406030204" pitchFamily="18" charset="0"/>
                  </a:rPr>
                  <a:t>$\frac1\varphi&lt;r&lt;\varphi$</a:t>
                </a:r>
                <a:r>
                  <a:rPr sz="2400" b="0">
                    <a:solidFill>
                      <a:srgbClr val="111827"/>
                    </a:solidFill>
                    <a:latin typeface="Arial"/>
                  </a:rPr>
                  <a:t>, </a:t>
                </a:r>
                <a:r>
                  <a:rPr lang="en-IN" sz="2400">
                    <a:solidFill>
                      <a:srgbClr val="111827"/>
                    </a:solidFill>
                    <a:latin typeface="Cambria Math" panose="02040503050406030204" pitchFamily="18" charset="0"/>
                  </a:rPr>
                  <a:t>$\varphi=\frac{1+\sqrt5}2$</a:t>
                </a:r>
                <a:r>
                  <a:rPr sz="2400" b="0">
                    <a:solidFill>
                      <a:srgbClr val="111827"/>
                    </a:solidFill>
                    <a:latin typeface="Arial"/>
                  </a:rPr>
                  <a:t>. Check: </a:t>
                </a:r>
                <a:r>
                  <a:rPr lang="en-IN" sz="2400">
                    <a:solidFill>
                      <a:srgbClr val="111827"/>
                    </a:solidFill>
                    <a:latin typeface="Cambria Math" panose="02040503050406030204" pitchFamily="18" charset="0"/>
                  </a:rPr>
                  <a:t>$1,1.5,2.25$</a:t>
                </a:r>
                <a:r>
                  <a:rPr sz="2400" b="0">
                    <a:solidFill>
                      <a:srgbClr val="111827"/>
                    </a:solidFill>
                    <a:latin typeface="Arial"/>
                  </a:rPr>
                  <a:t> is a triangle (</a:t>
                </a:r>
                <a:r>
                  <a:rPr lang="en-IN" sz="2400">
                    <a:solidFill>
                      <a:srgbClr val="111827"/>
                    </a:solidFill>
                    <a:latin typeface="Cambria Math" panose="02040503050406030204" pitchFamily="18" charset="0"/>
                  </a:rPr>
                  <a:t>$2.5&gt;2.25$</a:t>
                </a:r>
                <a:r>
                  <a:rPr sz="2400" b="0">
                    <a:solidFill>
                      <a:srgbClr val="111827"/>
                    </a:solidFill>
                    <a:latin typeface="Arial"/>
                  </a:rPr>
                  <a:t>); </a:t>
                </a:r>
                <a:r>
                  <a:rPr lang="en-IN" sz="2400">
                    <a:solidFill>
                      <a:srgbClr val="111827"/>
                    </a:solidFill>
                    <a:latin typeface="Cambria Math" panose="02040503050406030204" pitchFamily="18" charset="0"/>
                  </a:rPr>
                  <a:t>$1,1.7,2.89$</a:t>
                </a:r>
                <a:r>
                  <a:rPr sz="2400" b="0">
                    <a:solidFill>
                      <a:srgbClr val="111827"/>
                    </a:solidFill>
                    <a:latin typeface="Arial"/>
                  </a:rPr>
                  <a:t> is not (</a:t>
                </a:r>
                <a:r>
                  <a:rPr lang="en-IN" sz="2400">
                    <a:solidFill>
                      <a:srgbClr val="111827"/>
                    </a:solidFill>
                    <a:latin typeface="Cambria Math" panose="02040503050406030204" pitchFamily="18" charset="0"/>
                  </a:rPr>
                  <a:t>$2.7&lt;2.89$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sides </a:t>
                </a:r>
                <a:r>
                  <a:rPr lang="en-IN" sz="2400">
                    <a:solidFill>
                      <a:srgbClr val="111827"/>
                    </a:solidFill>
                    <a:latin typeface="Cambria Math" panose="02040503050406030204" pitchFamily="18" charset="0"/>
                  </a:rPr>
                  <a:t>$a,ar,ar^2$</a:t>
                </a:r>
                <a:r>
                  <a:rPr sz="2400" b="0">
                    <a:solidFill>
                      <a:srgbClr val="111827"/>
                    </a:solidFill>
                    <a:latin typeface="Arial"/>
                  </a:rPr>
                  <a:t> only the inequality involving the largest side needs checking.</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matrix of non-negative real elements such that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Then the maximum value of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a </a:t>
                </a:r>
                <a:r>
                  <a:rPr lang="en-IN" sz="2400">
                    <a:solidFill>
                      <a:srgbClr val="111827"/>
                    </a:solidFill>
                    <a:latin typeface="Cambria Math" panose="02040503050406030204" pitchFamily="18" charset="0"/>
                  </a:rPr>
                  <a:t>$3\times3$</a:t>
                </a:r>
                <a:r>
                  <a:rPr sz="2400" b="0">
                    <a:solidFill>
                      <a:srgbClr val="111827"/>
                    </a:solidFill>
                    <a:latin typeface="Arial"/>
                  </a:rPr>
                  <a:t> matrix of non-negative real elements such that </a:t>
                </a:r>
                <a:r>
                  <a:rPr lang="en-IN" sz="2400">
                    <a:solidFill>
                      <a:srgbClr val="111827"/>
                    </a:solidFill>
                    <a:latin typeface="Cambria Math" panose="02040503050406030204" pitchFamily="18" charset="0"/>
                  </a:rPr>
                  <a:t>$A\begin{pmatrix}1\\1\\1\end{pmatrix}=3\begin{pmatrix}1\\1\\1\end{pmatrix}$</a:t>
                </a:r>
                <a:r>
                  <a:rPr sz="2400" b="0">
                    <a:solidFill>
                      <a:srgbClr val="111827"/>
                    </a:solidFill>
                    <a:latin typeface="Arial"/>
                  </a:rPr>
                  <a:t>. Then the maximum value of </a:t>
                </a:r>
                <a:r>
                  <a:rPr lang="en-IN" sz="2400">
                    <a:solidFill>
                      <a:srgbClr val="111827"/>
                    </a:solidFill>
                    <a:latin typeface="Cambria Math" panose="02040503050406030204" pitchFamily="18" charset="0"/>
                  </a:rPr>
                  <a:t>$\det(A)$</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5168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value of a determinant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says every row of non-negative entries sums to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bound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det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by the product of the row lengths (Hadamard).</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says every row of non-negative entries sums to </a:t>
                </a:r>
                <a:r>
                  <a:rPr lang="en-IN" sz="2400">
                    <a:solidFill>
                      <a:srgbClr val="78350F"/>
                    </a:solidFill>
                    <a:latin typeface="Cambria Math" panose="02040503050406030204" pitchFamily="18" charset="0"/>
                  </a:rPr>
                  <a:t>$3$</a:t>
                </a:r>
                <a:r>
                  <a:rPr sz="2400" b="0">
                    <a:solidFill>
                      <a:srgbClr val="78350F"/>
                    </a:solidFill>
                    <a:latin typeface="Arial"/>
                  </a:rPr>
                  <a:t>; bound </a:t>
                </a:r>
                <a:r>
                  <a:rPr lang="en-IN" sz="2400">
                    <a:solidFill>
                      <a:srgbClr val="78350F"/>
                    </a:solidFill>
                    <a:latin typeface="Cambria Math" panose="02040503050406030204" pitchFamily="18" charset="0"/>
                  </a:rPr>
                  <a:t>$|\det A|$</a:t>
                </a:r>
                <a:r>
                  <a:rPr sz="2400" b="0">
                    <a:solidFill>
                      <a:srgbClr val="78350F"/>
                    </a:solidFill>
                    <a:latin typeface="Arial"/>
                  </a:rPr>
                  <a:t> by the product of the row lengths (Hadamard).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every row sums 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maximum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oMath>
                </a14:m>
                <a:r>
                  <a:rPr sz="2400" b="0">
                    <a:solidFill>
                      <a:srgbClr val="111827"/>
                    </a:solidFill>
                    <a:latin typeface="Arial"/>
                  </a:rPr>
                  <a:t> take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oMath>
                </a14:m>
                <a:r>
                  <a:rPr sz="2400" b="0">
                    <a:solidFill>
                      <a:srgbClr val="111827"/>
                    </a:solidFill>
                    <a:latin typeface="Arial"/>
                  </a:rPr>
                  <a:t> (the PDF's claim).</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$A=(a_{ij})$</a:t>
                </a:r>
                <a:r>
                  <a:rPr sz="2400" b="0">
                    <a:solidFill>
                      <a:srgbClr val="111827"/>
                    </a:solidFill>
                    <a:latin typeface="Arial"/>
                  </a:rPr>
                  <a:t> with </a:t>
                </a:r>
                <a:r>
                  <a:rPr lang="en-IN" sz="2400">
                    <a:solidFill>
                      <a:srgbClr val="111827"/>
                    </a:solidFill>
                    <a:latin typeface="Cambria Math" panose="02040503050406030204" pitchFamily="18" charset="0"/>
                  </a:rPr>
                  <a:t>$a_{ij}\ge0$</a:t>
                </a:r>
                <a:r>
                  <a:rPr sz="2400" b="0">
                    <a:solidFill>
                      <a:srgbClr val="111827"/>
                    </a:solidFill>
                    <a:latin typeface="Arial"/>
                  </a:rPr>
                  <a:t>. </a:t>
                </a:r>
                <a:r>
                  <a:rPr lang="en-IN" sz="2400">
                    <a:solidFill>
                      <a:srgbClr val="111827"/>
                    </a:solidFill>
                    <a:latin typeface="Cambria Math" panose="02040503050406030204" pitchFamily="18" charset="0"/>
                  </a:rPr>
                  <a:t>$A\begin{pmatrix}1\\1\\1\end{pmatrix}=3\begin{pmatrix}1\\1\\1\end{pmatrix}$</a:t>
                </a:r>
                <a:r>
                  <a:rPr sz="2400" b="0">
                    <a:solidFill>
                      <a:srgbClr val="111827"/>
                    </a:solidFill>
                    <a:latin typeface="Arial"/>
                  </a:rPr>
                  <a:t> gives </a:t>
                </a:r>
                <a:r>
                  <a:rPr lang="en-IN" sz="2400">
                    <a:solidFill>
                      <a:srgbClr val="111827"/>
                    </a:solidFill>
                    <a:latin typeface="Cambria Math" panose="02040503050406030204" pitchFamily="18" charset="0"/>
                  </a:rPr>
                  <a:t>$a_{11}+a_{12}+a_{13}=3$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$a_{21}+a_{22}+a_{23}=3$</a:t>
                </a:r>
                <a:r>
                  <a:rPr sz="2400" b="0">
                    <a:solidFill>
                      <a:srgbClr val="111827"/>
                    </a:solidFill>
                    <a:latin typeface="Arial"/>
                  </a:rPr>
                  <a:t> and </a:t>
                </a:r>
                <a:r>
                  <a:rPr lang="en-IN" sz="2400">
                    <a:solidFill>
                      <a:srgbClr val="111827"/>
                    </a:solidFill>
                    <a:latin typeface="Cambria Math" panose="02040503050406030204" pitchFamily="18" charset="0"/>
                  </a:rPr>
                  <a:t>$a_{31}+a_{32}+a_{33}=3$</a:t>
                </a:r>
                <a:r>
                  <a:rPr sz="2400" b="0">
                    <a:solidFill>
                      <a:srgbClr val="111827"/>
                    </a:solidFill>
                    <a:latin typeface="Arial"/>
                  </a:rPr>
                  <a:t>: every row sums to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maximum </a:t>
                </a:r>
                <a:r>
                  <a:rPr lang="en-IN" sz="2400">
                    <a:solidFill>
                      <a:srgbClr val="111827"/>
                    </a:solidFill>
                    <a:latin typeface="Cambria Math" panose="02040503050406030204" pitchFamily="18" charset="0"/>
                  </a:rPr>
                  <a:t>$\det A$</a:t>
                </a:r>
                <a:r>
                  <a:rPr sz="2400" b="0">
                    <a:solidFill>
                      <a:srgbClr val="111827"/>
                    </a:solidFill>
                    <a:latin typeface="Arial"/>
                  </a:rPr>
                  <a:t> take </a:t>
                </a:r>
                <a:r>
                  <a:rPr lang="en-IN" sz="2400">
                    <a:solidFill>
                      <a:srgbClr val="111827"/>
                    </a:solidFill>
                    <a:latin typeface="Cambria Math" panose="02040503050406030204" pitchFamily="18" charset="0"/>
                  </a:rPr>
                  <a:t>$a_{ij}=0$</a:t>
                </a:r>
                <a:r>
                  <a:rPr sz="2400" b="0">
                    <a:solidFill>
                      <a:srgbClr val="111827"/>
                    </a:solidFill>
                    <a:latin typeface="Arial"/>
                  </a:rPr>
                  <a:t> for </a:t>
                </a:r>
                <a:r>
                  <a:rPr lang="en-IN" sz="2400">
                    <a:solidFill>
                      <a:srgbClr val="111827"/>
                    </a:solidFill>
                    <a:latin typeface="Cambria Math" panose="02040503050406030204" pitchFamily="18" charset="0"/>
                  </a:rPr>
                  <a:t>$i\ne j$</a:t>
                </a:r>
                <a:r>
                  <a:rPr sz="2400" b="0">
                    <a:solidFill>
                      <a:srgbClr val="111827"/>
                    </a:solidFill>
                    <a:latin typeface="Arial"/>
                  </a:rPr>
                  <a:t> and </a:t>
                </a:r>
                <a:r>
                  <a:rPr lang="en-IN" sz="2400">
                    <a:solidFill>
                      <a:srgbClr val="111827"/>
                    </a:solidFill>
                    <a:latin typeface="Cambria Math" panose="02040503050406030204" pitchFamily="18" charset="0"/>
                  </a:rPr>
                  <a:t>$a_{ij}=3$</a:t>
                </a:r>
                <a:r>
                  <a:rPr sz="2400" b="0">
                    <a:solidFill>
                      <a:srgbClr val="111827"/>
                    </a:solidFill>
                    <a:latin typeface="Arial"/>
                  </a:rPr>
                  <a:t> for </a:t>
                </a:r>
                <a:r>
                  <a:rPr lang="en-IN" sz="2400">
                    <a:solidFill>
                      <a:srgbClr val="111827"/>
                    </a:solidFill>
                    <a:latin typeface="Cambria Math" panose="02040503050406030204" pitchFamily="18" charset="0"/>
                  </a:rPr>
                  <a:t>$i=j$</a:t>
                </a:r>
                <a:r>
                  <a:rPr sz="2400" b="0">
                    <a:solidFill>
                      <a:srgbClr val="111827"/>
                    </a:solidFill>
                    <a:latin typeface="Arial"/>
                  </a:rPr>
                  <a:t> (the PDF's claim).</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Why this is the maximum: for a row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with non-negative entries,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Hadamard's inequality gives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holds for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oMath>
                </a14:m>
                <a:r>
                  <a:rPr sz="2400" b="0">
                    <a:solidFill>
                      <a:srgbClr val="111827"/>
                    </a:solidFill>
                    <a:latin typeface="Arial"/>
                  </a:rPr>
                  <a:t>, so the maximum value is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$|A|=3\cdot3\cdot3=27$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Why this is the maximum: for a row </a:t>
                </a:r>
                <a:r>
                  <a:rPr lang="en-IN" sz="2400">
                    <a:solidFill>
                      <a:srgbClr val="111827"/>
                    </a:solidFill>
                    <a:latin typeface="Cambria Math" panose="02040503050406030204" pitchFamily="18" charset="0"/>
                  </a:rPr>
                  <a:t>$r_i$</a:t>
                </a:r>
                <a:r>
                  <a:rPr sz="2400" b="0">
                    <a:solidFill>
                      <a:srgbClr val="111827"/>
                    </a:solidFill>
                    <a:latin typeface="Arial"/>
                  </a:rPr>
                  <a:t> with non-negative entries, </a:t>
                </a:r>
                <a:r>
                  <a:rPr lang="en-IN" sz="2400">
                    <a:solidFill>
                      <a:srgbClr val="111827"/>
                    </a:solidFill>
                    <a:latin typeface="Cambria Math" panose="02040503050406030204" pitchFamily="18" charset="0"/>
                  </a:rPr>
                  <a:t>$\|r_i\|^2=\sum a_{ij}^2\le\left(\sum a_{ij}\right)^2=9$</a:t>
                </a:r>
                <a:r>
                  <a:rPr sz="2400" b="0">
                    <a:solidFill>
                      <a:srgbClr val="111827"/>
                    </a:solidFill>
                    <a:latin typeface="Arial"/>
                  </a:rPr>
                  <a:t>, so </a:t>
                </a:r>
                <a:r>
                  <a:rPr lang="en-IN" sz="2400">
                    <a:solidFill>
                      <a:srgbClr val="111827"/>
                    </a:solidFill>
                    <a:latin typeface="Cambria Math" panose="02040503050406030204" pitchFamily="18" charset="0"/>
                  </a:rPr>
                  <a:t>$\|r_i\|\le3$</a:t>
                </a:r>
                <a:r>
                  <a:rPr sz="2400" b="0">
                    <a:solidFill>
                      <a:srgbClr val="111827"/>
                    </a:solidFill>
                    <a:latin typeface="Arial"/>
                  </a:rPr>
                  <a:t>; Hadamard's inequality gives </a:t>
                </a:r>
                <a:r>
                  <a:rPr lang="en-IN" sz="2400">
                    <a:solidFill>
                      <a:srgbClr val="111827"/>
                    </a:solidFill>
                    <a:latin typeface="Cambria Math" panose="02040503050406030204" pitchFamily="18" charset="0"/>
                  </a:rPr>
                  <a:t>$|\det A|\le\|r_1\|\|r_2\|\|r_3\|\le27$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holds for </a:t>
                </a:r>
                <a:r>
                  <a:rPr lang="en-IN" sz="2400">
                    <a:solidFill>
                      <a:srgbClr val="111827"/>
                    </a:solidFill>
                    <a:latin typeface="Cambria Math" panose="02040503050406030204" pitchFamily="18" charset="0"/>
                  </a:rPr>
                  <a:t>$A=3I$</a:t>
                </a:r>
                <a:r>
                  <a:rPr sz="2400" b="0">
                    <a:solidFill>
                      <a:srgbClr val="111827"/>
                    </a:solidFill>
                    <a:latin typeface="Arial"/>
                  </a:rPr>
                  <a:t>, so the maximum value is </a:t>
                </a:r>
                <a:r>
                  <a:rPr lang="en-IN" sz="2400">
                    <a:solidFill>
                      <a:srgbClr val="111827"/>
                    </a:solidFill>
                    <a:latin typeface="Cambria Math" panose="02040503050406030204" pitchFamily="18" charset="0"/>
                  </a:rPr>
                  <a:t>$27$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27</a:t>
            </a:r>
            <a:endParaRPr sz="2800">
              <a:solidFill>
                <a:srgbClr val="15803D"/>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is an eigenvalue (eigenvector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𝑇</m:t>
                        </m:r>
                      </m:sup>
                    </m:sSup>
                  </m:oMath>
                </a14:m>
                <a:r>
                  <a:rPr sz="2400" b="0">
                    <a:solidFill>
                      <a:srgbClr val="78350F"/>
                    </a:solidFill>
                    <a:latin typeface="Arial"/>
                  </a:rPr>
                  <a:t>) and every eigenvalue satisfies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max row sum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det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λ</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$3$</a:t>
                </a:r>
                <a:r>
                  <a:rPr sz="2400" b="0">
                    <a:solidFill>
                      <a:srgbClr val="78350F"/>
                    </a:solidFill>
                    <a:latin typeface="Arial"/>
                  </a:rPr>
                  <a:t> is an eigenvalue (eigenvector </a:t>
                </a:r>
                <a:r>
                  <a:rPr lang="en-IN" sz="2400">
                    <a:solidFill>
                      <a:srgbClr val="78350F"/>
                    </a:solidFill>
                    <a:latin typeface="Cambria Math" panose="02040503050406030204" pitchFamily="18" charset="0"/>
                  </a:rPr>
                  <a:t>$(1,1,1)^T$</a:t>
                </a:r>
                <a:r>
                  <a:rPr sz="2400" b="0">
                    <a:solidFill>
                      <a:srgbClr val="78350F"/>
                    </a:solidFill>
                    <a:latin typeface="Arial"/>
                  </a:rPr>
                  <a:t>) and every eigenvalue satisfies </a:t>
                </a:r>
                <a:r>
                  <a:rPr lang="en-IN" sz="2400">
                    <a:solidFill>
                      <a:srgbClr val="78350F"/>
                    </a:solidFill>
                    <a:latin typeface="Cambria Math" panose="02040503050406030204" pitchFamily="18" charset="0"/>
                  </a:rPr>
                  <a:t>$|\lambda|\le$</a:t>
                </a:r>
                <a:r>
                  <a:rPr sz="2400" b="0">
                    <a:solidFill>
                      <a:srgbClr val="78350F"/>
                    </a:solidFill>
                    <a:latin typeface="Arial"/>
                  </a:rPr>
                  <a:t> max row sum </a:t>
                </a:r>
                <a:r>
                  <a:rPr lang="en-IN" sz="2400">
                    <a:solidFill>
                      <a:srgbClr val="78350F"/>
                    </a:solidFill>
                    <a:latin typeface="Cambria Math" panose="02040503050406030204" pitchFamily="18" charset="0"/>
                  </a:rPr>
                  <a:t>$=3$</a:t>
                </a:r>
                <a:r>
                  <a:rPr sz="2400" b="0">
                    <a:solidFill>
                      <a:srgbClr val="78350F"/>
                    </a:solidFill>
                    <a:latin typeface="Arial"/>
                  </a:rPr>
                  <a:t>, so </a:t>
                </a:r>
                <a:r>
                  <a:rPr lang="en-IN" sz="2400">
                    <a:solidFill>
                      <a:srgbClr val="78350F"/>
                    </a:solidFill>
                    <a:latin typeface="Cambria Math" panose="02040503050406030204" pitchFamily="18" charset="0"/>
                  </a:rPr>
                  <a:t>$|\det A|=\prod|\lambda_i|\le27$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b"/>
                      </m:rPr>
                      <a:rPr lang="en-IN" sz="2400">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b"/>
                      </m:rPr>
                      <a:rPr lang="en-IN" sz="2400">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an eigenvalue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eigenvalue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with eigenvector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 take the component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of largest modulus: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e>
                        </m:nary>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𝑗</m:t>
                            </m:r>
                          </m:sub>
                        </m:sSub>
                      </m:e>
                    </m:d>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with equality for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oMath>
                </a14:m>
                <a:r>
                  <a:rPr sz="2400" b="0">
                    <a:solidFill>
                      <a:srgbClr val="111827"/>
                    </a:solidFill>
                    <a:latin typeface="Arial"/>
                  </a:rPr>
                  <a:t> (the same answer,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$A\mathbf 1=3\mathbf 1$</a:t>
                </a:r>
                <a:r>
                  <a:rPr sz="2400" b="0">
                    <a:solidFill>
                      <a:srgbClr val="111827"/>
                    </a:solidFill>
                    <a:latin typeface="Arial"/>
                  </a:rPr>
                  <a:t>, so </a:t>
                </a:r>
                <a:r>
                  <a:rPr lang="en-IN" sz="2400">
                    <a:solidFill>
                      <a:srgbClr val="111827"/>
                    </a:solidFill>
                    <a:latin typeface="Cambria Math" panose="02040503050406030204" pitchFamily="18" charset="0"/>
                  </a:rPr>
                  <a:t>$3$</a:t>
                </a:r>
                <a:r>
                  <a:rPr sz="2400" b="0">
                    <a:solidFill>
                      <a:srgbClr val="111827"/>
                    </a:solidFill>
                    <a:latin typeface="Arial"/>
                  </a:rPr>
                  <a:t> is an eigenvalue of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eigenvalue </a:t>
                </a:r>
                <a:r>
                  <a:rPr lang="en-IN" sz="2400">
                    <a:solidFill>
                      <a:srgbClr val="111827"/>
                    </a:solidFill>
                    <a:latin typeface="Cambria Math" panose="02040503050406030204" pitchFamily="18" charset="0"/>
                  </a:rPr>
                  <a:t>$\lambda$</a:t>
                </a:r>
                <a:r>
                  <a:rPr sz="2400" b="0">
                    <a:solidFill>
                      <a:srgbClr val="111827"/>
                    </a:solidFill>
                    <a:latin typeface="Arial"/>
                  </a:rPr>
                  <a:t> with eigenvector </a:t>
                </a:r>
                <a:r>
                  <a:rPr lang="en-IN" sz="2400">
                    <a:solidFill>
                      <a:srgbClr val="111827"/>
                    </a:solidFill>
                    <a:latin typeface="Cambria Math" panose="02040503050406030204" pitchFamily="18" charset="0"/>
                  </a:rPr>
                  <a:t>$v$</a:t>
                </a:r>
                <a:r>
                  <a:rPr sz="2400" b="0">
                    <a:solidFill>
                      <a:srgbClr val="111827"/>
                    </a:solidFill>
                    <a:latin typeface="Arial"/>
                  </a:rPr>
                  <a:t>, take the component </a:t>
                </a:r>
                <a:r>
                  <a:rPr lang="en-IN" sz="2400">
                    <a:solidFill>
                      <a:srgbClr val="111827"/>
                    </a:solidFill>
                    <a:latin typeface="Cambria Math" panose="02040503050406030204" pitchFamily="18" charset="0"/>
                  </a:rPr>
                  <a:t>$v_i$</a:t>
                </a:r>
                <a:r>
                  <a:rPr sz="2400" b="0">
                    <a:solidFill>
                      <a:srgbClr val="111827"/>
                    </a:solidFill>
                    <a:latin typeface="Arial"/>
                  </a:rPr>
                  <a:t> of largest modulus: </a:t>
                </a:r>
                <a:r>
                  <a:rPr lang="en-IN" sz="2400">
                    <a:solidFill>
                      <a:srgbClr val="111827"/>
                    </a:solidFill>
                    <a:latin typeface="Cambria Math" panose="02040503050406030204" pitchFamily="18" charset="0"/>
                  </a:rPr>
                  <a:t>$|\lambda||v_i|=\left|\sum_ja_{ij}v_j\right|\le\sum_ja_{ij}|v_i|=3|v_i|$</a:t>
                </a:r>
                <a:r>
                  <a:rPr sz="2400" b="0">
                    <a:solidFill>
                      <a:srgbClr val="111827"/>
                    </a:solidFill>
                    <a:latin typeface="Arial"/>
                  </a:rPr>
                  <a:t>, so </a:t>
                </a:r>
                <a:r>
                  <a:rPr lang="en-IN" sz="2400">
                    <a:solidFill>
                      <a:srgbClr val="111827"/>
                    </a:solidFill>
                    <a:latin typeface="Cambria Math" panose="02040503050406030204" pitchFamily="18" charset="0"/>
                  </a:rPr>
                  <a:t>$|\lambda|\le3$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$|\det A|=|\lambda_1\lambda_2\lambda_3|\le3\cdot3\cdot3=27$</a:t>
                </a:r>
                <a:r>
                  <a:rPr sz="2400" b="0">
                    <a:solidFill>
                      <a:srgbClr val="111827"/>
                    </a:solidFill>
                    <a:latin typeface="Arial"/>
                  </a:rPr>
                  <a:t>, with equality for </a:t>
                </a:r>
                <a:r>
                  <a:rPr lang="en-IN" sz="2400">
                    <a:solidFill>
                      <a:srgbClr val="111827"/>
                    </a:solidFill>
                    <a:latin typeface="Cambria Math" panose="02040503050406030204" pitchFamily="18" charset="0"/>
                  </a:rPr>
                  <a:t>$A=3I$</a:t>
                </a:r>
                <a:r>
                  <a:rPr sz="2400" b="0">
                    <a:solidFill>
                      <a:srgbClr val="111827"/>
                    </a:solidFill>
                    <a:latin typeface="Arial"/>
                  </a:rPr>
                  <a:t> (the same answer, </a:t>
                </a:r>
                <a:r>
                  <a:rPr lang="en-IN" sz="2400">
                    <a:solidFill>
                      <a:srgbClr val="111827"/>
                    </a:solidFill>
                    <a:latin typeface="Cambria Math" panose="02040503050406030204" pitchFamily="18" charset="0"/>
                  </a:rPr>
                  <a:t>$27$</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27</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non-negative matrix has all row sums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is an eigenvalue and every eigenvalue has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equality for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(permutation matrix).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Hadamard's inequality: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for non-negative rows,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all-ones matrix times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(rows sum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has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while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non-negative matrix has all row sums </a:t>
                </a:r>
                <a:r>
                  <a:rPr lang="en-IN" sz="2400">
                    <a:solidFill>
                      <a:srgbClr val="111827"/>
                    </a:solidFill>
                    <a:latin typeface="Cambria Math" panose="02040503050406030204" pitchFamily="18" charset="0"/>
                  </a:rPr>
                  <a:t>$s$</a:t>
                </a:r>
                <a:r>
                  <a:rPr sz="2400" b="0">
                    <a:solidFill>
                      <a:srgbClr val="111827"/>
                    </a:solidFill>
                    <a:latin typeface="Arial"/>
                  </a:rPr>
                  <a:t>, then </a:t>
                </a:r>
                <a:r>
                  <a:rPr lang="en-IN" sz="2400">
                    <a:solidFill>
                      <a:srgbClr val="111827"/>
                    </a:solidFill>
                    <a:latin typeface="Cambria Math" panose="02040503050406030204" pitchFamily="18" charset="0"/>
                  </a:rPr>
                  <a:t>$s$</a:t>
                </a:r>
                <a:r>
                  <a:rPr sz="2400" b="0">
                    <a:solidFill>
                      <a:srgbClr val="111827"/>
                    </a:solidFill>
                    <a:latin typeface="Arial"/>
                  </a:rPr>
                  <a:t> is an eigenvalue and every eigenvalue has </a:t>
                </a:r>
                <a:r>
                  <a:rPr lang="en-IN" sz="2400">
                    <a:solidFill>
                      <a:srgbClr val="111827"/>
                    </a:solidFill>
                    <a:latin typeface="Cambria Math" panose="02040503050406030204" pitchFamily="18" charset="0"/>
                  </a:rPr>
                  <a:t>$|\lambda|\le s$</a:t>
                </a:r>
                <a:r>
                  <a:rPr sz="2400" b="0">
                    <a:solidFill>
                      <a:srgbClr val="111827"/>
                    </a:solidFill>
                    <a:latin typeface="Arial"/>
                  </a:rPr>
                  <a:t>; hence </a:t>
                </a:r>
                <a:r>
                  <a:rPr lang="en-IN" sz="2400">
                    <a:solidFill>
                      <a:srgbClr val="111827"/>
                    </a:solidFill>
                    <a:latin typeface="Cambria Math" panose="02040503050406030204" pitchFamily="18" charset="0"/>
                  </a:rPr>
                  <a:t>$|\det A|\le s^n$</a:t>
                </a:r>
                <a:r>
                  <a:rPr sz="2400" b="0">
                    <a:solidFill>
                      <a:srgbClr val="111827"/>
                    </a:solidFill>
                    <a:latin typeface="Arial"/>
                  </a:rPr>
                  <a:t>, with equality for </a:t>
                </a:r>
                <a:r>
                  <a:rPr lang="en-IN" sz="2400">
                    <a:solidFill>
                      <a:srgbClr val="111827"/>
                    </a:solidFill>
                    <a:latin typeface="Cambria Math" panose="02040503050406030204" pitchFamily="18" charset="0"/>
                  </a:rPr>
                  <a:t>$s\cdot$</a:t>
                </a:r>
                <a:r>
                  <a:rPr sz="2400" b="0">
                    <a:solidFill>
                      <a:srgbClr val="111827"/>
                    </a:solidFill>
                    <a:latin typeface="Arial"/>
                  </a:rPr>
                  <a:t>(permutation matrix).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Hadamard's inequality: </a:t>
                </a:r>
                <a:r>
                  <a:rPr lang="en-IN" sz="2400">
                    <a:solidFill>
                      <a:srgbClr val="111827"/>
                    </a:solidFill>
                    <a:latin typeface="Cambria Math" panose="02040503050406030204" pitchFamily="18" charset="0"/>
                  </a:rPr>
                  <a:t>$|\det A|\le\prod\|r_i\|_2$</a:t>
                </a:r>
                <a:r>
                  <a:rPr sz="2400" b="0">
                    <a:solidFill>
                      <a:srgbClr val="111827"/>
                    </a:solidFill>
                    <a:latin typeface="Arial"/>
                  </a:rPr>
                  <a:t>; and for non-negative rows, </a:t>
                </a:r>
                <a:r>
                  <a:rPr lang="en-IN" sz="2400">
                    <a:solidFill>
                      <a:srgbClr val="111827"/>
                    </a:solidFill>
                    <a:latin typeface="Cambria Math" panose="02040503050406030204" pitchFamily="18" charset="0"/>
                  </a:rPr>
                  <a:t>$\|r\|_2\le\|r\|_1$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all-ones matrix times </a:t>
                </a:r>
                <a:r>
                  <a:rPr lang="en-IN" sz="2400">
                    <a:solidFill>
                      <a:srgbClr val="111827"/>
                    </a:solidFill>
                    <a:latin typeface="Cambria Math" panose="02040503050406030204" pitchFamily="18" charset="0"/>
                  </a:rPr>
                  <a:t>$1$</a:t>
                </a:r>
                <a:r>
                  <a:rPr sz="2400" b="0">
                    <a:solidFill>
                      <a:srgbClr val="111827"/>
                    </a:solidFill>
                    <a:latin typeface="Arial"/>
                  </a:rPr>
                  <a:t> (rows sum </a:t>
                </a:r>
                <a:r>
                  <a:rPr lang="en-IN" sz="2400">
                    <a:solidFill>
                      <a:srgbClr val="111827"/>
                    </a:solidFill>
                    <a:latin typeface="Cambria Math" panose="02040503050406030204" pitchFamily="18" charset="0"/>
                  </a:rPr>
                  <a:t>$3$</a:t>
                </a:r>
                <a:r>
                  <a:rPr sz="2400" b="0">
                    <a:solidFill>
                      <a:srgbClr val="111827"/>
                    </a:solidFill>
                    <a:latin typeface="Arial"/>
                  </a:rPr>
                  <a:t>) has </a:t>
                </a:r>
                <a:r>
                  <a:rPr lang="en-IN" sz="2400">
                    <a:solidFill>
                      <a:srgbClr val="111827"/>
                    </a:solidFill>
                    <a:latin typeface="Cambria Math" panose="02040503050406030204" pitchFamily="18" charset="0"/>
                  </a:rPr>
                  <a:t>$\det=0\le27$</a:t>
                </a:r>
                <a:r>
                  <a:rPr sz="2400" b="0">
                    <a:solidFill>
                      <a:srgbClr val="111827"/>
                    </a:solidFill>
                    <a:latin typeface="Arial"/>
                  </a:rPr>
                  <a:t>, while </a:t>
                </a:r>
                <a:r>
                  <a:rPr lang="en-IN" sz="2400">
                    <a:solidFill>
                      <a:srgbClr val="111827"/>
                    </a:solidFill>
                    <a:latin typeface="Cambria Math" panose="02040503050406030204" pitchFamily="18" charset="0"/>
                  </a:rPr>
                  <a:t>$A=3I$</a:t>
                </a:r>
                <a:r>
                  <a:rPr sz="2400" b="0">
                    <a:solidFill>
                      <a:srgbClr val="111827"/>
                    </a:solidFill>
                    <a:latin typeface="Arial"/>
                  </a:rPr>
                  <a:t> gives </a:t>
                </a:r>
                <a:r>
                  <a:rPr lang="en-IN" sz="2400">
                    <a:solidFill>
                      <a:srgbClr val="111827"/>
                    </a:solidFill>
                    <a:latin typeface="Cambria Math" panose="02040503050406030204" pitchFamily="18" charset="0"/>
                  </a:rPr>
                  <a:t>$27$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are column matrices and </a:t>
                </a:r>
                <a14:m>
                  <m:oMath xmlns:m="http://schemas.openxmlformats.org/officeDocument/2006/math">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is the sum of all the diagonal elements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$A=\begin{pmatrix}2&amp;0&amp;1\\1&amp;1&amp;0\\1&amp;0&amp;1\end{pmatrix}$</a:t>
                </a:r>
                <a:r>
                  <a:rPr sz="2400" b="0">
                    <a:solidFill>
                      <a:srgbClr val="111827"/>
                    </a:solidFill>
                    <a:latin typeface="Arial"/>
                  </a:rPr>
                  <a:t>, </a:t>
                </a:r>
                <a:r>
                  <a:rPr lang="en-IN" sz="2400">
                    <a:solidFill>
                      <a:srgbClr val="111827"/>
                    </a:solidFill>
                    <a:latin typeface="Cambria Math" panose="02040503050406030204" pitchFamily="18" charset="0"/>
                  </a:rPr>
                  <a:t>$B=[B_1,B_2,B_3]$</a:t>
                </a:r>
                <a:r>
                  <a:rPr sz="2400" b="0">
                    <a:solidFill>
                      <a:srgbClr val="111827"/>
                    </a:solidFill>
                    <a:latin typeface="Arial"/>
                  </a:rPr>
                  <a:t>, where </a:t>
                </a:r>
                <a:r>
                  <a:rPr lang="en-IN" sz="2400">
                    <a:solidFill>
                      <a:srgbClr val="111827"/>
                    </a:solidFill>
                    <a:latin typeface="Cambria Math" panose="02040503050406030204" pitchFamily="18" charset="0"/>
                  </a:rPr>
                  <a:t>$B_1,B_2,B_3$</a:t>
                </a:r>
                <a:r>
                  <a:rPr sz="2400" b="0">
                    <a:solidFill>
                      <a:srgbClr val="111827"/>
                    </a:solidFill>
                    <a:latin typeface="Arial"/>
                  </a:rPr>
                  <a:t> are column matrices and </a:t>
                </a:r>
                <a:r>
                  <a:rPr lang="en-IN" sz="2400">
                    <a:solidFill>
                      <a:srgbClr val="111827"/>
                    </a:solidFill>
                    <a:latin typeface="Cambria Math" panose="02040503050406030204" pitchFamily="18" charset="0"/>
                  </a:rPr>
                  <a:t>$AB_1=\begin{pmatrix}1\\0\\0\end{pmatrix}$</a:t>
                </a:r>
                <a:r>
                  <a:rPr sz="2400" b="0">
                    <a:solidFill>
                      <a:srgbClr val="111827"/>
                    </a:solidFill>
                    <a:latin typeface="Arial"/>
                  </a:rPr>
                  <a:t>, </a:t>
                </a:r>
                <a:r>
                  <a:rPr lang="en-IN" sz="2400">
                    <a:solidFill>
                      <a:srgbClr val="111827"/>
                    </a:solidFill>
                    <a:latin typeface="Cambria Math" panose="02040503050406030204" pitchFamily="18" charset="0"/>
                  </a:rPr>
                  <a:t>$AB_2=\begin{pmatrix}2\\3\\0\end{pmatrix}$</a:t>
                </a:r>
                <a:r>
                  <a:rPr sz="2400" b="0">
                    <a:solidFill>
                      <a:srgbClr val="111827"/>
                    </a:solidFill>
                    <a:latin typeface="Arial"/>
                  </a:rPr>
                  <a:t>, </a:t>
                </a:r>
                <a:r>
                  <a:rPr lang="en-IN" sz="2400">
                    <a:solidFill>
                      <a:srgbClr val="111827"/>
                    </a:solidFill>
                    <a:latin typeface="Cambria Math" panose="02040503050406030204" pitchFamily="18" charset="0"/>
                  </a:rPr>
                  <a:t>$AB_3=\begin{pmatrix}3\\2\\1\end{pmatrix}$</a:t>
                </a:r>
                <a:r>
                  <a:rPr sz="2400" b="0">
                    <a:solidFill>
                      <a:srgbClr val="111827"/>
                    </a:solidFill>
                    <a:latin typeface="Arial"/>
                  </a:rPr>
                  <a:t>. If </a:t>
                </a:r>
                <a:r>
                  <a:rPr lang="en-IN" sz="2400">
                    <a:solidFill>
                      <a:srgbClr val="111827"/>
                    </a:solidFill>
                    <a:latin typeface="Cambria Math" panose="02040503050406030204" pitchFamily="18" charset="0"/>
                  </a:rPr>
                  <a:t>$\alpha=|B|$</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is the sum of all the diagonal elements of </a:t>
                </a:r>
                <a:r>
                  <a:rPr lang="en-IN" sz="2400">
                    <a:solidFill>
                      <a:srgbClr val="111827"/>
                    </a:solidFill>
                    <a:latin typeface="Cambria Math" panose="02040503050406030204" pitchFamily="18" charset="0"/>
                  </a:rPr>
                  <a:t>$B$</a:t>
                </a:r>
                <a:r>
                  <a:rPr sz="2400" b="0">
                    <a:solidFill>
                      <a:srgbClr val="111827"/>
                    </a:solidFill>
                    <a:latin typeface="Arial"/>
                  </a:rPr>
                  <a:t>, then </a:t>
                </a:r>
                <a:r>
                  <a:rPr lang="en-IN" sz="2400">
                    <a:solidFill>
                      <a:srgbClr val="111827"/>
                    </a:solidFill>
                    <a:latin typeface="Cambria Math" panose="02040503050406030204" pitchFamily="18" charset="0"/>
                  </a:rPr>
                  <a:t>$\alpha^3+\beta^3$</a:t>
                </a:r>
                <a:r>
                  <a:rPr sz="2400" b="0">
                    <a:solidFill>
                      <a:srgbClr val="111827"/>
                    </a:solidFill>
                    <a:latin typeface="Arial"/>
                  </a:rPr>
                  <a:t> is equal to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Inverse of a matrix and solving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determinant and trace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Inverse of a matrix and solving </a:t>
                </a:r>
                <a:r>
                  <a:rPr lang="en-IN" sz="2400">
                    <a:solidFill>
                      <a:srgbClr val="111827"/>
                    </a:solidFill>
                    <a:latin typeface="Cambria Math" panose="02040503050406030204" pitchFamily="18" charset="0"/>
                  </a:rPr>
                  <a:t>$AX=B$</a:t>
                </a:r>
                <a:r>
                  <a:rPr sz="2400" b="0">
                    <a:solidFill>
                      <a:srgbClr val="111827"/>
                    </a:solidFill>
                    <a:latin typeface="Arial"/>
                  </a:rPr>
                  <a:t>; determinant and trace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14:m>
                  <m:oMath xmlns:m="http://schemas.openxmlformats.org/officeDocument/2006/math">
                    <m:r>
                      <a:rPr lang="en-IN" sz="2400" i="1">
                        <a:solidFill>
                          <a:srgbClr val="78350F"/>
                        </a:solidFill>
                        <a:latin typeface="Cambria Math" panose="02040503050406030204" pitchFamily="18" charset="0"/>
                      </a:rPr>
                      <m:t>𝐴</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𝑗</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given column for each column of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(three small systems), then read off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nor/>
                      </m:rPr>
                      <a:rPr lang="en-IN" sz="2400" i="1">
                        <a:solidFill>
                          <a:srgbClr val="78350F"/>
                        </a:solidFill>
                        <a:latin typeface="Cambria Math" panose="02040503050406030204" pitchFamily="18" charset="0"/>
                      </a:rPr>
                      <m:t>𝑡𝑟</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r>
                  <a:rPr lang="en-IN" sz="2400">
                    <a:solidFill>
                      <a:srgbClr val="78350F"/>
                    </a:solidFill>
                    <a:latin typeface="Cambria Math" panose="02040503050406030204" pitchFamily="18" charset="0"/>
                  </a:rPr>
                  <a:t>$AB_j=$</a:t>
                </a:r>
                <a:r>
                  <a:rPr sz="2400" b="0">
                    <a:solidFill>
                      <a:srgbClr val="78350F"/>
                    </a:solidFill>
                    <a:latin typeface="Arial"/>
                  </a:rPr>
                  <a:t> given column for each column of </a:t>
                </a:r>
                <a:r>
                  <a:rPr lang="en-IN" sz="2400">
                    <a:solidFill>
                      <a:srgbClr val="78350F"/>
                    </a:solidFill>
                    <a:latin typeface="Cambria Math" panose="02040503050406030204" pitchFamily="18" charset="0"/>
                  </a:rPr>
                  <a:t>$B$</a:t>
                </a:r>
                <a:r>
                  <a:rPr sz="2400" b="0">
                    <a:solidFill>
                      <a:srgbClr val="78350F"/>
                    </a:solidFill>
                    <a:latin typeface="Arial"/>
                  </a:rPr>
                  <a:t> (three small systems), then read off </a:t>
                </a:r>
                <a:r>
                  <a:rPr lang="en-IN" sz="2400">
                    <a:solidFill>
                      <a:srgbClr val="78350F"/>
                    </a:solidFill>
                    <a:latin typeface="Cambria Math" panose="02040503050406030204" pitchFamily="18" charset="0"/>
                  </a:rPr>
                  <a:t>$|B|$</a:t>
                </a:r>
                <a:r>
                  <a:rPr sz="2400" b="0">
                    <a:solidFill>
                      <a:srgbClr val="78350F"/>
                    </a:solidFill>
                    <a:latin typeface="Arial"/>
                  </a:rPr>
                  <a:t> and </a:t>
                </a:r>
                <a:r>
                  <a:rPr lang="en-IN" sz="2400">
                    <a:solidFill>
                      <a:srgbClr val="78350F"/>
                    </a:solidFill>
                    <a:latin typeface="Cambria Math" panose="02040503050406030204" pitchFamily="18" charset="0"/>
                  </a:rPr>
                  <a:t>$\text{tr}B$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𝑝</m:t>
                              </m:r>
                            </m:e>
                          </m:mr>
                          <m:mr>
                            <m:e>
                              <m:r>
                                <a:rPr lang="en-IN" sz="2400" i="1">
                                  <a:solidFill>
                                    <a:srgbClr val="111827"/>
                                  </a:solidFill>
                                  <a:latin typeface="Cambria Math" panose="02040503050406030204" pitchFamily="18" charset="0"/>
                                </a:rPr>
                                <m:t>𝑞</m:t>
                              </m:r>
                            </m:e>
                          </m:mr>
                          <m:mr>
                            <m:e>
                              <m:r>
                                <a:rPr lang="en-IN" sz="2400" i="1">
                                  <a:solidFill>
                                    <a:srgbClr val="111827"/>
                                  </a:solidFill>
                                  <a:latin typeface="Cambria Math" panose="02040503050406030204" pitchFamily="18" charset="0"/>
                                </a:rPr>
                                <m:t>𝑟</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𝑥</m:t>
                              </m:r>
                            </m:e>
                          </m:mr>
                          <m:mr>
                            <m:e>
                              <m:r>
                                <a:rPr lang="en-IN" sz="2400" i="1">
                                  <a:solidFill>
                                    <a:srgbClr val="111827"/>
                                  </a:solidFill>
                                  <a:latin typeface="Cambria Math" panose="02040503050406030204" pitchFamily="18" charset="0"/>
                                </a:rPr>
                                <m:t>𝑦</m:t>
                              </m:r>
                            </m:e>
                          </m:mr>
                          <m:mr>
                            <m:e>
                              <m:r>
                                <a:rPr lang="en-IN" sz="2400" i="1">
                                  <a:solidFill>
                                    <a:srgbClr val="111827"/>
                                  </a:solidFill>
                                  <a:latin typeface="Cambria Math" panose="02040503050406030204" pitchFamily="18" charset="0"/>
                                </a:rPr>
                                <m:t>𝑧</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𝑢</m:t>
                              </m:r>
                            </m:e>
                          </m:mr>
                          <m:mr>
                            <m:e>
                              <m:r>
                                <a:rPr lang="en-IN" sz="2400" i="1">
                                  <a:solidFill>
                                    <a:srgbClr val="111827"/>
                                  </a:solidFill>
                                  <a:latin typeface="Cambria Math" panose="02040503050406030204" pitchFamily="18" charset="0"/>
                                </a:rPr>
                                <m:t>𝑣</m:t>
                              </m:r>
                            </m:e>
                          </m:mr>
                          <m:mr>
                            <m:e>
                              <m:r>
                                <a:rPr lang="en-IN" sz="2400" i="1">
                                  <a:solidFill>
                                    <a:srgbClr val="111827"/>
                                  </a:solidFill>
                                  <a:latin typeface="Cambria Math" panose="02040503050406030204" pitchFamily="18" charset="0"/>
                                </a:rPr>
                                <m:t>𝑤</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0</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$B_1=\begin{pmatrix}p\\q\\r\end{pmatrix}$</a:t>
                </a:r>
                <a:r>
                  <a:rPr sz="2400" b="0">
                    <a:solidFill>
                      <a:srgbClr val="111827"/>
                    </a:solidFill>
                    <a:latin typeface="Arial"/>
                  </a:rPr>
                  <a:t>. </a:t>
                </a:r>
                <a:r>
                  <a:rPr lang="en-IN" sz="2400">
                    <a:solidFill>
                      <a:srgbClr val="111827"/>
                    </a:solidFill>
                    <a:latin typeface="Cambria Math" panose="02040503050406030204" pitchFamily="18" charset="0"/>
                  </a:rPr>
                  <a:t>$AB_1=\begin{pmatrix}1\\0\\0\end{pmatrix}$</a:t>
                </a:r>
                <a:r>
                  <a:rPr sz="2400" b="0">
                    <a:solidFill>
                      <a:srgbClr val="111827"/>
                    </a:solidFill>
                    <a:latin typeface="Arial"/>
                  </a:rPr>
                  <a:t> gives </a:t>
                </a:r>
                <a:r>
                  <a:rPr lang="en-IN" sz="2400">
                    <a:solidFill>
                      <a:srgbClr val="111827"/>
                    </a:solidFill>
                    <a:latin typeface="Cambria Math" panose="02040503050406030204" pitchFamily="18" charset="0"/>
                  </a:rPr>
                  <a:t>$2p+r=1$</a:t>
                </a:r>
                <a:r>
                  <a:rPr sz="2400" b="0">
                    <a:solidFill>
                      <a:srgbClr val="111827"/>
                    </a:solidFill>
                    <a:latin typeface="Arial"/>
                  </a:rPr>
                  <a:t>, </a:t>
                </a:r>
                <a:r>
                  <a:rPr lang="en-IN" sz="2400">
                    <a:solidFill>
                      <a:srgbClr val="111827"/>
                    </a:solidFill>
                    <a:latin typeface="Cambria Math" panose="02040503050406030204" pitchFamily="18" charset="0"/>
                  </a:rPr>
                  <a:t>$p+q=0$</a:t>
                </a:r>
                <a:r>
                  <a:rPr sz="2400" b="0">
                    <a:solidFill>
                      <a:srgbClr val="111827"/>
                    </a:solidFill>
                    <a:latin typeface="Arial"/>
                  </a:rPr>
                  <a:t>, </a:t>
                </a:r>
                <a:r>
                  <a:rPr lang="en-IN" sz="2400">
                    <a:solidFill>
                      <a:srgbClr val="111827"/>
                    </a:solidFill>
                    <a:latin typeface="Cambria Math" panose="02040503050406030204" pitchFamily="18" charset="0"/>
                  </a:rPr>
                  <a:t>$p+r=0$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$p=1$</a:t>
                </a:r>
                <a:r>
                  <a:rPr sz="2400" b="0">
                    <a:solidFill>
                      <a:srgbClr val="111827"/>
                    </a:solidFill>
                    <a:latin typeface="Arial"/>
                  </a:rPr>
                  <a:t>, </a:t>
                </a:r>
                <a:r>
                  <a:rPr lang="en-IN" sz="2400">
                    <a:solidFill>
                      <a:srgbClr val="111827"/>
                    </a:solidFill>
                    <a:latin typeface="Cambria Math" panose="02040503050406030204" pitchFamily="18" charset="0"/>
                  </a:rPr>
                  <a:t>$q=-1$</a:t>
                </a:r>
                <a:r>
                  <a:rPr sz="2400" b="0">
                    <a:solidFill>
                      <a:srgbClr val="111827"/>
                    </a:solidFill>
                    <a:latin typeface="Arial"/>
                  </a:rPr>
                  <a:t>, </a:t>
                </a:r>
                <a:r>
                  <a:rPr lang="en-IN" sz="2400">
                    <a:solidFill>
                      <a:srgbClr val="111827"/>
                    </a:solidFill>
                    <a:latin typeface="Cambria Math" panose="02040503050406030204" pitchFamily="18" charset="0"/>
                  </a:rPr>
                  <a:t>$r=-1$</a:t>
                </a:r>
                <a:r>
                  <a:rPr sz="2400" b="0">
                    <a:solidFill>
                      <a:srgbClr val="111827"/>
                    </a:solidFill>
                    <a:latin typeface="Arial"/>
                  </a:rPr>
                  <a:t>: </a:t>
                </a:r>
                <a:r>
                  <a:rPr lang="en-IN" sz="2400">
                    <a:solidFill>
                      <a:srgbClr val="111827"/>
                    </a:solidFill>
                    <a:latin typeface="Cambria Math" panose="02040503050406030204" pitchFamily="18" charset="0"/>
                  </a:rPr>
                  <a:t>$B_1=\begin{pmatrix}1\\-1\\-1\end{pmatrix}$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$B_2=\begin{pmatrix}x\\y\\z\end{pmatrix}$</a:t>
                </a:r>
                <a:r>
                  <a:rPr sz="2400" b="0">
                    <a:solidFill>
                      <a:srgbClr val="111827"/>
                    </a:solidFill>
                    <a:latin typeface="Arial"/>
                  </a:rPr>
                  <a:t>. </a:t>
                </a:r>
                <a:r>
                  <a:rPr lang="en-IN" sz="2400">
                    <a:solidFill>
                      <a:srgbClr val="111827"/>
                    </a:solidFill>
                    <a:latin typeface="Cambria Math" panose="02040503050406030204" pitchFamily="18" charset="0"/>
                  </a:rPr>
                  <a:t>$AB_2=\begin{pmatrix}2\\3\\0\end{pmatrix}$</a:t>
                </a:r>
                <a:r>
                  <a:rPr sz="2400" b="0">
                    <a:solidFill>
                      <a:srgbClr val="111827"/>
                    </a:solidFill>
                    <a:latin typeface="Arial"/>
                  </a:rPr>
                  <a:t> gives </a:t>
                </a:r>
                <a:r>
                  <a:rPr lang="en-IN" sz="2400">
                    <a:solidFill>
                      <a:srgbClr val="111827"/>
                    </a:solidFill>
                    <a:latin typeface="Cambria Math" panose="02040503050406030204" pitchFamily="18" charset="0"/>
                  </a:rPr>
                  <a:t>$2x+z=2$</a:t>
                </a:r>
                <a:r>
                  <a:rPr sz="2400" b="0">
                    <a:solidFill>
                      <a:srgbClr val="111827"/>
                    </a:solidFill>
                    <a:latin typeface="Arial"/>
                  </a:rPr>
                  <a:t>, </a:t>
                </a:r>
                <a:r>
                  <a:rPr lang="en-IN" sz="2400">
                    <a:solidFill>
                      <a:srgbClr val="111827"/>
                    </a:solidFill>
                    <a:latin typeface="Cambria Math" panose="02040503050406030204" pitchFamily="18" charset="0"/>
                  </a:rPr>
                  <a:t>$x+y=3$</a:t>
                </a:r>
                <a:r>
                  <a:rPr sz="2400" b="0">
                    <a:solidFill>
                      <a:srgbClr val="111827"/>
                    </a:solidFill>
                    <a:latin typeface="Arial"/>
                  </a:rPr>
                  <a:t>, </a:t>
                </a:r>
                <a:r>
                  <a:rPr lang="en-IN" sz="2400">
                    <a:solidFill>
                      <a:srgbClr val="111827"/>
                    </a:solidFill>
                    <a:latin typeface="Cambria Math" panose="02040503050406030204" pitchFamily="18" charset="0"/>
                  </a:rPr>
                  <a:t>$x+z=0$</a:t>
                </a:r>
                <a:r>
                  <a:rPr sz="2400" b="0">
                    <a:solidFill>
                      <a:srgbClr val="111827"/>
                    </a:solidFill>
                    <a:latin typeface="Arial"/>
                  </a:rPr>
                  <a:t>, so </a:t>
                </a:r>
                <a:r>
                  <a:rPr lang="en-IN" sz="2400">
                    <a:solidFill>
                      <a:srgbClr val="111827"/>
                    </a:solidFill>
                    <a:latin typeface="Cambria Math" panose="02040503050406030204" pitchFamily="18" charset="0"/>
                  </a:rPr>
                  <a:t>$x=2,y=1,z=-2$</a:t>
                </a:r>
                <a:r>
                  <a:rPr sz="2400" b="0">
                    <a:solidFill>
                      <a:srgbClr val="111827"/>
                    </a:solidFill>
                    <a:latin typeface="Arial"/>
                  </a:rPr>
                  <a:t>: </a:t>
                </a:r>
                <a:r>
                  <a:rPr lang="en-IN" sz="2400">
                    <a:solidFill>
                      <a:srgbClr val="111827"/>
                    </a:solidFill>
                    <a:latin typeface="Cambria Math" panose="02040503050406030204" pitchFamily="18" charset="0"/>
                  </a:rPr>
                  <a:t>$B_2=\begin{pmatrix}2\\1\\-2\end{pmatrix}$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$B_3=\begin{pmatrix}u\\v\\w\end{pmatrix}$</a:t>
                </a:r>
                <a:r>
                  <a:rPr sz="2400" b="0">
                    <a:solidFill>
                      <a:srgbClr val="111827"/>
                    </a:solidFill>
                    <a:latin typeface="Arial"/>
                  </a:rPr>
                  <a:t>. </a:t>
                </a:r>
                <a:r>
                  <a:rPr lang="en-IN" sz="2400">
                    <a:solidFill>
                      <a:srgbClr val="111827"/>
                    </a:solidFill>
                    <a:latin typeface="Cambria Math" panose="02040503050406030204" pitchFamily="18" charset="0"/>
                  </a:rPr>
                  <a:t>$AB_3=\begin{pmatrix}3\\2\\1\end{pmatrix}$</a:t>
                </a:r>
                <a:r>
                  <a:rPr sz="2400" b="0">
                    <a:solidFill>
                      <a:srgbClr val="111827"/>
                    </a:solidFill>
                    <a:latin typeface="Arial"/>
                  </a:rPr>
                  <a:t> gives </a:t>
                </a:r>
                <a:r>
                  <a:rPr lang="en-IN" sz="2400">
                    <a:solidFill>
                      <a:srgbClr val="111827"/>
                    </a:solidFill>
                    <a:latin typeface="Cambria Math" panose="02040503050406030204" pitchFamily="18" charset="0"/>
                  </a:rPr>
                  <a:t>$2u+w=3$</a:t>
                </a:r>
                <a:r>
                  <a:rPr sz="2400" b="0">
                    <a:solidFill>
                      <a:srgbClr val="111827"/>
                    </a:solidFill>
                    <a:latin typeface="Arial"/>
                  </a:rPr>
                  <a:t>, </a:t>
                </a:r>
                <a:r>
                  <a:rPr lang="en-IN" sz="2400">
                    <a:solidFill>
                      <a:srgbClr val="111827"/>
                    </a:solidFill>
                    <a:latin typeface="Cambria Math" panose="02040503050406030204" pitchFamily="18" charset="0"/>
                  </a:rPr>
                  <a:t>$u+v=2$</a:t>
                </a:r>
                <a:r>
                  <a:rPr sz="2400" b="0">
                    <a:solidFill>
                      <a:srgbClr val="111827"/>
                    </a:solidFill>
                    <a:latin typeface="Arial"/>
                  </a:rPr>
                  <a:t>, </a:t>
                </a:r>
                <a:r>
                  <a:rPr lang="en-IN" sz="2400">
                    <a:solidFill>
                      <a:srgbClr val="111827"/>
                    </a:solidFill>
                    <a:latin typeface="Cambria Math" panose="02040503050406030204" pitchFamily="18" charset="0"/>
                  </a:rPr>
                  <a:t>$u+w=1$</a:t>
                </a:r>
                <a:r>
                  <a:rPr sz="2400" b="0">
                    <a:solidFill>
                      <a:srgbClr val="111827"/>
                    </a:solidFill>
                    <a:latin typeface="Arial"/>
                  </a:rPr>
                  <a:t>, so </a:t>
                </a:r>
                <a:r>
                  <a:rPr lang="en-IN" sz="2400">
                    <a:solidFill>
                      <a:srgbClr val="111827"/>
                    </a:solidFill>
                    <a:latin typeface="Cambria Math" panose="02040503050406030204" pitchFamily="18" charset="0"/>
                  </a:rPr>
                  <a:t>$u=2,v=0,w=-1$</a:t>
                </a:r>
                <a:r>
                  <a:rPr sz="2400" b="0">
                    <a:solidFill>
                      <a:srgbClr val="111827"/>
                    </a:solidFill>
                    <a:latin typeface="Arial"/>
                  </a:rPr>
                  <a:t>: </a:t>
                </a:r>
                <a:r>
                  <a:rPr lang="en-IN" sz="2400">
                    <a:solidFill>
                      <a:srgbClr val="111827"/>
                    </a:solidFill>
                    <a:latin typeface="Cambria Math" panose="02040503050406030204" pitchFamily="18" charset="0"/>
                  </a:rPr>
                  <a:t>$B_3=\begin{pmatrix}2\\0\\-1\end{pmatrix}$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2</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$B=\begin{pmatrix}1&amp;2&amp;2\\-1&amp;1&amp;0\\-1&amp;-2&amp;-1\end{pmatrix}$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$\alpha=|B|=1(-1-0)-2(1-0)+2(2+1)=-1-2+6=3$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$\beta=1+1-1=1$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$\alpha^3+\beta^3=27+1=28$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28</a:t>
            </a:r>
            <a:endParaRPr sz="2800">
              <a:solidFill>
                <a:srgbClr val="15803D"/>
              </a:solidFil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upper triangular, so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without solving for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$AB=C$</a:t>
                </a:r>
                <a:r>
                  <a:rPr sz="2400" b="0">
                    <a:solidFill>
                      <a:srgbClr val="78350F"/>
                    </a:solidFill>
                    <a:latin typeface="Arial"/>
                  </a:rPr>
                  <a:t> with </a:t>
                </a:r>
                <a:r>
                  <a:rPr lang="en-IN" sz="2400">
                    <a:solidFill>
                      <a:srgbClr val="78350F"/>
                    </a:solidFill>
                    <a:latin typeface="Cambria Math" panose="02040503050406030204" pitchFamily="18" charset="0"/>
                  </a:rPr>
                  <a:t>$C=[AB_1,AB_2,AB_3]$</a:t>
                </a:r>
                <a:r>
                  <a:rPr sz="2400" b="0">
                    <a:solidFill>
                      <a:srgbClr val="78350F"/>
                    </a:solidFill>
                    <a:latin typeface="Arial"/>
                  </a:rPr>
                  <a:t> upper triangular, so </a:t>
                </a:r>
                <a:r>
                  <a:rPr lang="en-IN" sz="2400">
                    <a:solidFill>
                      <a:srgbClr val="78350F"/>
                    </a:solidFill>
                    <a:latin typeface="Cambria Math" panose="02040503050406030204" pitchFamily="18" charset="0"/>
                  </a:rPr>
                  <a:t>$|B|=\frac{|C|}{|A|}$</a:t>
                </a:r>
                <a:r>
                  <a:rPr sz="2400" b="0">
                    <a:solidFill>
                      <a:srgbClr val="78350F"/>
                    </a:solidFill>
                    <a:latin typeface="Arial"/>
                  </a:rPr>
                  <a:t> without solving for </a:t>
                </a:r>
                <a:r>
                  <a:rPr lang="en-IN" sz="2400">
                    <a:solidFill>
                      <a:srgbClr val="78350F"/>
                    </a:solidFill>
                    <a:latin typeface="Cambria Math" panose="02040503050406030204" pitchFamily="18" charset="0"/>
                  </a:rPr>
                  <a:t>$B$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(the given columns).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(triangular).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$AB=C=\begin{pmatrix}1&amp;2&amp;3\\0&amp;3&amp;2\\0&amp;0&amp;1\end{pmatrix}$</a:t>
                </a:r>
                <a:r>
                  <a:rPr sz="2400" b="0">
                    <a:solidFill>
                      <a:srgbClr val="111827"/>
                    </a:solidFill>
                    <a:latin typeface="Arial"/>
                  </a:rPr>
                  <a:t> (the given columns). </a:t>
                </a:r>
                <a:r>
                  <a:rPr lang="en-IN" sz="2400">
                    <a:solidFill>
                      <a:srgbClr val="111827"/>
                    </a:solidFill>
                    <a:latin typeface="Cambria Math" panose="02040503050406030204" pitchFamily="18" charset="0"/>
                  </a:rPr>
                  <a:t>$|C|=1\cdot3\cdot1=3$</a:t>
                </a:r>
                <a:r>
                  <a:rPr sz="2400" b="0">
                    <a:solidFill>
                      <a:srgbClr val="111827"/>
                    </a:solidFill>
                    <a:latin typeface="Arial"/>
                  </a:rPr>
                  <a:t> (triangular).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$|A|=2(1)-0+1(0-1)=1$</a:t>
                </a:r>
                <a:r>
                  <a:rPr sz="2400" b="0">
                    <a:solidFill>
                      <a:srgbClr val="111827"/>
                    </a:solidFill>
                    <a:latin typeface="Arial"/>
                  </a:rPr>
                  <a:t>, so </a:t>
                </a:r>
                <a:r>
                  <a:rPr lang="en-IN" sz="2400">
                    <a:solidFill>
                      <a:srgbClr val="111827"/>
                    </a:solidFill>
                    <a:latin typeface="Cambria Math" panose="02040503050406030204" pitchFamily="18" charset="0"/>
                  </a:rPr>
                  <a:t>$\alpha=|B|=\frac{|C|}{|A|}=3$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2</m:t>
                              </m:r>
                            </m:e>
                          </m:mr>
                        </m:m>
                      </m:e>
                    </m:d>
                  </m:oMath>
                </a14:m>
                <a:r>
                  <a:rPr sz="2400" b="0">
                    <a:solidFill>
                      <a:srgbClr val="111827"/>
                    </a:solidFill>
                    <a:latin typeface="Arial"/>
                  </a:rPr>
                  <a:t>; the diagonal entries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(row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of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(column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$B=A^{-1}C$</a:t>
                </a:r>
                <a:r>
                  <a:rPr sz="2400" b="0">
                    <a:solidFill>
                      <a:srgbClr val="111827"/>
                    </a:solidFill>
                    <a:latin typeface="Arial"/>
                  </a:rPr>
                  <a:t> with </a:t>
                </a:r>
                <a:r>
                  <a:rPr lang="en-IN" sz="2400">
                    <a:solidFill>
                      <a:srgbClr val="111827"/>
                    </a:solidFill>
                    <a:latin typeface="Cambria Math" panose="02040503050406030204" pitchFamily="18" charset="0"/>
                  </a:rPr>
                  <a:t>$A^{-1}=\begin{pmatrix}1&amp;0&amp;-1\\-1&amp;1&amp;1\\-1&amp;0&amp;2\end{pmatrix}$</a:t>
                </a:r>
                <a:r>
                  <a:rPr sz="2400" b="0">
                    <a:solidFill>
                      <a:srgbClr val="111827"/>
                    </a:solidFill>
                    <a:latin typeface="Arial"/>
                  </a:rPr>
                  <a:t>; the diagonal entries of </a:t>
                </a:r>
                <a:r>
                  <a:rPr lang="en-IN" sz="2400">
                    <a:solidFill>
                      <a:srgbClr val="111827"/>
                    </a:solidFill>
                    <a:latin typeface="Cambria Math" panose="02040503050406030204" pitchFamily="18" charset="0"/>
                  </a:rPr>
                  <a:t>$B$</a:t>
                </a:r>
                <a:r>
                  <a:rPr sz="2400" b="0">
                    <a:solidFill>
                      <a:srgbClr val="111827"/>
                    </a:solidFill>
                    <a:latin typeface="Arial"/>
                  </a:rPr>
                  <a:t> are (row </a:t>
                </a:r>
                <a:r>
                  <a:rPr lang="en-IN" sz="2400">
                    <a:solidFill>
                      <a:srgbClr val="111827"/>
                    </a:solidFill>
                    <a:latin typeface="Cambria Math" panose="02040503050406030204" pitchFamily="18" charset="0"/>
                  </a:rPr>
                  <a:t>$i$</a:t>
                </a:r>
                <a:r>
                  <a:rPr sz="2400" b="0">
                    <a:solidFill>
                      <a:srgbClr val="111827"/>
                    </a:solidFill>
                    <a:latin typeface="Arial"/>
                  </a:rPr>
                  <a:t> of </a:t>
                </a:r>
                <a:r>
                  <a:rPr lang="en-IN" sz="2400">
                    <a:solidFill>
                      <a:srgbClr val="111827"/>
                    </a:solidFill>
                    <a:latin typeface="Cambria Math" panose="02040503050406030204" pitchFamily="18" charset="0"/>
                  </a:rPr>
                  <a:t>$A^{-1}$</a:t>
                </a:r>
                <a:r>
                  <a:rPr sz="2400" b="0">
                    <a:solidFill>
                      <a:srgbClr val="111827"/>
                    </a:solidFill>
                    <a:latin typeface="Arial"/>
                  </a:rPr>
                  <a:t>)</a:t>
                </a:r>
                <a:r>
                  <a:rPr lang="en-IN" sz="2400">
                    <a:solidFill>
                      <a:srgbClr val="111827"/>
                    </a:solidFill>
                    <a:latin typeface="Cambria Math" panose="02040503050406030204" pitchFamily="18" charset="0"/>
                  </a:rPr>
                  <a:t>$\cdot$</a:t>
                </a:r>
                <a:r>
                  <a:rPr sz="2400" b="0">
                    <a:solidFill>
                      <a:srgbClr val="111827"/>
                    </a:solidFill>
                    <a:latin typeface="Arial"/>
                  </a:rPr>
                  <a:t>(column </a:t>
                </a:r>
                <a:r>
                  <a:rPr lang="en-IN" sz="2400">
                    <a:solidFill>
                      <a:srgbClr val="111827"/>
                    </a:solidFill>
                    <a:latin typeface="Cambria Math" panose="02040503050406030204" pitchFamily="18" charset="0"/>
                  </a:rPr>
                  <a:t>$i$</a:t>
                </a:r>
                <a:r>
                  <a:rPr sz="2400" b="0">
                    <a:solidFill>
                      <a:srgbClr val="111827"/>
                    </a:solidFill>
                    <a:latin typeface="Arial"/>
                  </a:rPr>
                  <a:t> of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$=1,\ -2+3=1,\ -3+2=-1$</a:t>
                </a:r>
                <a:r>
                  <a:rPr sz="2400" b="0">
                    <a:solidFill>
                      <a:srgbClr val="111827"/>
                    </a:solidFill>
                    <a:latin typeface="Arial"/>
                  </a:rPr>
                  <a:t>, so </a:t>
                </a:r>
                <a:r>
                  <a:rPr lang="en-IN" sz="2400">
                    <a:solidFill>
                      <a:srgbClr val="111827"/>
                    </a:solidFill>
                    <a:latin typeface="Cambria Math" panose="02040503050406030204" pitchFamily="18" charset="0"/>
                  </a:rPr>
                  <a:t>$\beta=1$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$\alpha^3+\beta^3=28$</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28</a:t>
            </a:r>
            <a:endParaRPr sz="2800">
              <a:solidFill>
                <a:srgbClr val="15803D"/>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oMath>
                </a14:m>
                <a:r>
                  <a:rPr sz="2400" b="0">
                    <a:solidFill>
                      <a:srgbClr val="111827"/>
                    </a:solidFill>
                    <a:latin typeface="Arial"/>
                  </a:rPr>
                  <a:t>: columns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times the columns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determinant of a triangular matrix is the product of its diagonal entries; </a:t>
                </a:r>
                <a14:m>
                  <m:oMath xmlns:m="http://schemas.openxmlformats.org/officeDocument/2006/math">
                    <m:r>
                      <m:rPr>
                        <m:nor/>
                      </m:rPr>
                      <a:rPr lang="en-IN" sz="2400" i="1">
                        <a:solidFill>
                          <a:srgbClr val="111827"/>
                        </a:solidFill>
                        <a:latin typeface="Cambria Math" panose="02040503050406030204" pitchFamily="18" charset="0"/>
                      </a:rPr>
                      <m:t>𝑡𝑟</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𝑗</m:t>
                        </m:r>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 so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oMath>
                </a14:m>
                <a:r>
                  <a:rPr sz="2400" b="0">
                    <a:solidFill>
                      <a:srgbClr val="111827"/>
                    </a:solidFill>
                    <a:latin typeface="Arial"/>
                  </a:rPr>
                  <a:t> and both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have integer entries, so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an integer matrix.</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$AB=C$</a:t>
                </a:r>
                <a:r>
                  <a:rPr sz="2400" b="0">
                    <a:solidFill>
                      <a:srgbClr val="111827"/>
                    </a:solidFill>
                    <a:latin typeface="Arial"/>
                  </a:rPr>
                  <a:t> then </a:t>
                </a:r>
                <a:r>
                  <a:rPr lang="en-IN" sz="2400">
                    <a:solidFill>
                      <a:srgbClr val="111827"/>
                    </a:solidFill>
                    <a:latin typeface="Cambria Math" panose="02040503050406030204" pitchFamily="18" charset="0"/>
                  </a:rPr>
                  <a:t>$|B|=\frac{|C|}{|A|}$</a:t>
                </a:r>
                <a:r>
                  <a:rPr sz="2400" b="0">
                    <a:solidFill>
                      <a:srgbClr val="111827"/>
                    </a:solidFill>
                    <a:latin typeface="Arial"/>
                  </a:rPr>
                  <a:t> and </a:t>
                </a:r>
                <a:r>
                  <a:rPr lang="en-IN" sz="2400">
                    <a:solidFill>
                      <a:srgbClr val="111827"/>
                    </a:solidFill>
                    <a:latin typeface="Cambria Math" panose="02040503050406030204" pitchFamily="18" charset="0"/>
                  </a:rPr>
                  <a:t>$B=A^{-1}C$</a:t>
                </a:r>
                <a:r>
                  <a:rPr sz="2400" b="0">
                    <a:solidFill>
                      <a:srgbClr val="111827"/>
                    </a:solidFill>
                    <a:latin typeface="Arial"/>
                  </a:rPr>
                  <a:t>: columns of </a:t>
                </a:r>
                <a:r>
                  <a:rPr lang="en-IN" sz="2400">
                    <a:solidFill>
                      <a:srgbClr val="111827"/>
                    </a:solidFill>
                    <a:latin typeface="Cambria Math" panose="02040503050406030204" pitchFamily="18" charset="0"/>
                  </a:rPr>
                  <a:t>$B$</a:t>
                </a:r>
                <a:r>
                  <a:rPr sz="2400" b="0">
                    <a:solidFill>
                      <a:srgbClr val="111827"/>
                    </a:solidFill>
                    <a:latin typeface="Arial"/>
                  </a:rPr>
                  <a:t> are </a:t>
                </a:r>
                <a:r>
                  <a:rPr lang="en-IN" sz="2400">
                    <a:solidFill>
                      <a:srgbClr val="111827"/>
                    </a:solidFill>
                    <a:latin typeface="Cambria Math" panose="02040503050406030204" pitchFamily="18" charset="0"/>
                  </a:rPr>
                  <a:t>$A^{-1}$</a:t>
                </a:r>
                <a:r>
                  <a:rPr sz="2400" b="0">
                    <a:solidFill>
                      <a:srgbClr val="111827"/>
                    </a:solidFill>
                    <a:latin typeface="Arial"/>
                  </a:rPr>
                  <a:t> times the columns of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determinant of a triangular matrix is the product of its diagonal entries; </a:t>
                </a:r>
                <a:r>
                  <a:rPr lang="en-IN" sz="2400">
                    <a:solidFill>
                      <a:srgbClr val="111827"/>
                    </a:solidFill>
                    <a:latin typeface="Cambria Math" panose="02040503050406030204" pitchFamily="18" charset="0"/>
                  </a:rPr>
                  <a:t>$\text{tr}(A^{-1}C)=\sum_{i,j}(A^{-1})_{ij}C_{ji}$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$|A|=1$</a:t>
                </a:r>
                <a:r>
                  <a:rPr sz="2400" b="0">
                    <a:solidFill>
                      <a:srgbClr val="111827"/>
                    </a:solidFill>
                    <a:latin typeface="Arial"/>
                  </a:rPr>
                  <a:t> here, so </a:t>
                </a:r>
                <a:r>
                  <a:rPr lang="en-IN" sz="2400">
                    <a:solidFill>
                      <a:srgbClr val="111827"/>
                    </a:solidFill>
                    <a:latin typeface="Cambria Math" panose="02040503050406030204" pitchFamily="18" charset="0"/>
                  </a:rPr>
                  <a:t>$A^{-1}=\operatorname{adj}A$</a:t>
                </a:r>
                <a:r>
                  <a:rPr sz="2400" b="0">
                    <a:solidFill>
                      <a:srgbClr val="111827"/>
                    </a:solidFill>
                    <a:latin typeface="Arial"/>
                  </a:rPr>
                  <a:t> and both </a:t>
                </a:r>
                <a:r>
                  <a:rPr lang="en-IN" sz="2400">
                    <a:solidFill>
                      <a:srgbClr val="111827"/>
                    </a:solidFill>
                    <a:latin typeface="Cambria Math" panose="02040503050406030204" pitchFamily="18" charset="0"/>
                  </a:rPr>
                  <a:t>$A,A^{-1}$</a:t>
                </a:r>
                <a:r>
                  <a:rPr sz="2400" b="0">
                    <a:solidFill>
                      <a:srgbClr val="111827"/>
                    </a:solidFill>
                    <a:latin typeface="Arial"/>
                  </a:rPr>
                  <a:t> have integer entries, so </a:t>
                </a:r>
                <a:r>
                  <a:rPr lang="en-IN" sz="2400">
                    <a:solidFill>
                      <a:srgbClr val="111827"/>
                    </a:solidFill>
                    <a:latin typeface="Cambria Math" panose="02040503050406030204" pitchFamily="18" charset="0"/>
                  </a:rPr>
                  <a:t>$B$</a:t>
                </a:r>
                <a:r>
                  <a:rPr sz="2400" b="0">
                    <a:solidFill>
                      <a:srgbClr val="111827"/>
                    </a:solidFill>
                    <a:latin typeface="Arial"/>
                  </a:rPr>
                  <a:t> is an integer matrix.</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e>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e>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e>
                          </m:mr>
                        </m:m>
                      </m:e>
                    </m:d>
                  </m:oMath>
                </a14:m>
                <a:r>
                  <a:rPr sz="2400" b="0">
                    <a:solidFill>
                      <a:srgbClr val="111827"/>
                    </a:solidFill>
                    <a:latin typeface="Arial"/>
                  </a:rPr>
                  <a:t>. If for some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then the sum of the diagonal elements of the matrix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𝐴</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$A=\begin{pmatrix}\cos\theta&amp;0&amp;-\sin\theta\\0&amp;1&amp;0\\\sin\theta&amp;0&amp;\cos\theta\end{pmatrix}$</a:t>
                </a:r>
                <a:r>
                  <a:rPr sz="2400" b="0">
                    <a:solidFill>
                      <a:srgbClr val="111827"/>
                    </a:solidFill>
                    <a:latin typeface="Arial"/>
                  </a:rPr>
                  <a:t>. If for some </a:t>
                </a:r>
                <a:r>
                  <a:rPr lang="en-IN" sz="2400">
                    <a:solidFill>
                      <a:srgbClr val="111827"/>
                    </a:solidFill>
                    <a:latin typeface="Cambria Math" panose="02040503050406030204" pitchFamily="18" charset="0"/>
                  </a:rPr>
                  <a:t>$\theta\in(0,\pi)$</a:t>
                </a:r>
                <a:r>
                  <a:rPr sz="2400" b="0">
                    <a:solidFill>
                      <a:srgbClr val="111827"/>
                    </a:solidFill>
                    <a:latin typeface="Arial"/>
                  </a:rPr>
                  <a:t>, </a:t>
                </a:r>
                <a:r>
                  <a:rPr lang="en-IN" sz="2400">
                    <a:solidFill>
                      <a:srgbClr val="111827"/>
                    </a:solidFill>
                    <a:latin typeface="Cambria Math" panose="02040503050406030204" pitchFamily="18" charset="0"/>
                  </a:rPr>
                  <a:t>$A^2=A^T$</a:t>
                </a:r>
                <a:r>
                  <a:rPr sz="2400" b="0">
                    <a:solidFill>
                      <a:srgbClr val="111827"/>
                    </a:solidFill>
                    <a:latin typeface="Arial"/>
                  </a:rPr>
                  <a:t>, then the sum of the diagonal elements of the matrix </a:t>
                </a:r>
                <a:r>
                  <a:rPr lang="en-IN" sz="2400">
                    <a:solidFill>
                      <a:srgbClr val="111827"/>
                    </a:solidFill>
                    <a:latin typeface="Cambria Math" panose="02040503050406030204" pitchFamily="18" charset="0"/>
                  </a:rPr>
                  <a:t>$(A+I)^3+(A-I)^3-6A$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Orthogonal matrices, powers and trace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is orthogonal, so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𝑇</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gives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oMath>
                </a14:m>
                <a:r>
                  <a:rPr sz="2400" b="0">
                    <a:solidFill>
                      <a:srgbClr val="78350F"/>
                    </a:solidFill>
                    <a:latin typeface="Arial"/>
                  </a:rPr>
                  <a:t>; the given expression collapses to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a:t>
                </a:r>
                <a:r>
                  <a:rPr sz="2400" b="0">
                    <a:solidFill>
                      <a:srgbClr val="78350F"/>
                    </a:solidFill>
                    <a:latin typeface="Arial"/>
                  </a:rPr>
                  <a:t> is orthogonal, so </a:t>
                </a:r>
                <a:r>
                  <a:rPr lang="en-IN" sz="2400">
                    <a:solidFill>
                      <a:srgbClr val="78350F"/>
                    </a:solidFill>
                    <a:latin typeface="Cambria Math" panose="02040503050406030204" pitchFamily="18" charset="0"/>
                  </a:rPr>
                  <a:t>$A^2=A^T=A^{-1}$</a:t>
                </a:r>
                <a:r>
                  <a:rPr sz="2400" b="0">
                    <a:solidFill>
                      <a:srgbClr val="78350F"/>
                    </a:solidFill>
                    <a:latin typeface="Arial"/>
                  </a:rPr>
                  <a:t> gives </a:t>
                </a:r>
                <a:r>
                  <a:rPr lang="en-IN" sz="2400">
                    <a:solidFill>
                      <a:srgbClr val="78350F"/>
                    </a:solidFill>
                    <a:latin typeface="Cambria Math" panose="02040503050406030204" pitchFamily="18" charset="0"/>
                  </a:rPr>
                  <a:t>$A^3=I$</a:t>
                </a:r>
                <a:r>
                  <a:rPr sz="2400" b="0">
                    <a:solidFill>
                      <a:srgbClr val="78350F"/>
                    </a:solidFill>
                    <a:latin typeface="Arial"/>
                  </a:rPr>
                  <a:t>; the given expression collapses to </a:t>
                </a:r>
                <a:r>
                  <a:rPr lang="en-IN" sz="2400">
                    <a:solidFill>
                      <a:srgbClr val="78350F"/>
                    </a:solidFill>
                    <a:latin typeface="Cambria Math" panose="02040503050406030204" pitchFamily="18" charset="0"/>
                  </a:rPr>
                  <a:t>$2A^3$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rows (and columns)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are orthonormal, so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orthogonal: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(checked directly: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(this happens 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𝐼</m:t>
                    </m:r>
                  </m:oMath>
                </a14:m>
                <a:r>
                  <a:rPr sz="2400" b="0">
                    <a:solidFill>
                      <a:srgbClr val="111827"/>
                    </a:solidFill>
                    <a:latin typeface="Arial"/>
                  </a:rPr>
                  <a:t>, so the trace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rows (and columns) of </a:t>
                </a:r>
                <a:r>
                  <a:rPr lang="en-IN" sz="2400">
                    <a:solidFill>
                      <a:srgbClr val="111827"/>
                    </a:solidFill>
                    <a:latin typeface="Cambria Math" panose="02040503050406030204" pitchFamily="18" charset="0"/>
                  </a:rPr>
                  <a:t>$A$</a:t>
                </a:r>
                <a:r>
                  <a:rPr sz="2400" b="0">
                    <a:solidFill>
                      <a:srgbClr val="111827"/>
                    </a:solidFill>
                    <a:latin typeface="Arial"/>
                  </a:rPr>
                  <a:t> are orthonormal, so </a:t>
                </a:r>
                <a:r>
                  <a:rPr lang="en-IN" sz="2400">
                    <a:solidFill>
                      <a:srgbClr val="111827"/>
                    </a:solidFill>
                    <a:latin typeface="Cambria Math" panose="02040503050406030204" pitchFamily="18" charset="0"/>
                  </a:rPr>
                  <a:t>$A$</a:t>
                </a:r>
                <a:r>
                  <a:rPr sz="2400" b="0">
                    <a:solidFill>
                      <a:srgbClr val="111827"/>
                    </a:solidFill>
                    <a:latin typeface="Arial"/>
                  </a:rPr>
                  <a:t> is orthogonal: </a:t>
                </a:r>
                <a:r>
                  <a:rPr lang="en-IN" sz="2400">
                    <a:solidFill>
                      <a:srgbClr val="111827"/>
                    </a:solidFill>
                    <a:latin typeface="Cambria Math" panose="02040503050406030204" pitchFamily="18" charset="0"/>
                  </a:rPr>
                  <a:t>$A^T=A^{-1}$</a:t>
                </a:r>
                <a:r>
                  <a:rPr sz="2400" b="0">
                    <a:solidFill>
                      <a:srgbClr val="111827"/>
                    </a:solidFill>
                    <a:latin typeface="Arial"/>
                  </a:rPr>
                  <a:t> (checked directly: </a:t>
                </a:r>
                <a:r>
                  <a:rPr lang="en-IN" sz="2400">
                    <a:solidFill>
                      <a:srgbClr val="111827"/>
                    </a:solidFill>
                    <a:latin typeface="Cambria Math" panose="02040503050406030204" pitchFamily="18" charset="0"/>
                  </a:rPr>
                  <a:t>$AA^T=I$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$A^2=A^T=A^{-1}\Rightarrow A^3=I$</a:t>
                </a:r>
                <a:r>
                  <a:rPr sz="2400" b="0">
                    <a:solidFill>
                      <a:srgbClr val="111827"/>
                    </a:solidFill>
                    <a:latin typeface="Arial"/>
                  </a:rPr>
                  <a:t> (this happens for </a:t>
                </a:r>
                <a:r>
                  <a:rPr lang="en-IN" sz="2400">
                    <a:solidFill>
                      <a:srgbClr val="111827"/>
                    </a:solidFill>
                    <a:latin typeface="Cambria Math" panose="02040503050406030204" pitchFamily="18" charset="0"/>
                  </a:rPr>
                  <a:t>$\theta=\frac{2\pi}3\in(0,\pi)$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$(A+I)^3=A^3+3A^2+3A+I$</a:t>
                </a:r>
                <a:r>
                  <a:rPr sz="2400" b="0">
                    <a:solidFill>
                      <a:srgbClr val="111827"/>
                    </a:solidFill>
                    <a:latin typeface="Arial"/>
                  </a:rPr>
                  <a:t> and </a:t>
                </a:r>
                <a:r>
                  <a:rPr lang="en-IN" sz="2400">
                    <a:solidFill>
                      <a:srgbClr val="111827"/>
                    </a:solidFill>
                    <a:latin typeface="Cambria Math" panose="02040503050406030204" pitchFamily="18" charset="0"/>
                  </a:rPr>
                  <a:t>$(A-I)^3=A^3-3A^2+3A-I$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$(A+I)^3+(A-I)^3=2A^3+6A$</a:t>
                </a:r>
                <a:r>
                  <a:rPr sz="2400" b="0">
                    <a:solidFill>
                      <a:srgbClr val="111827"/>
                    </a:solidFill>
                    <a:latin typeface="Arial"/>
                  </a:rPr>
                  <a:t>, so </a:t>
                </a:r>
                <a:r>
                  <a:rPr lang="en-IN" sz="2400">
                    <a:solidFill>
                      <a:srgbClr val="111827"/>
                    </a:solidFill>
                    <a:latin typeface="Cambria Math" panose="02040503050406030204" pitchFamily="18" charset="0"/>
                  </a:rPr>
                  <a:t>$B=(A+I)^3+(A-I)^3-6A=2A^3$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$B=2A^3=2I$</a:t>
                </a:r>
                <a:r>
                  <a:rPr sz="2400" b="0">
                    <a:solidFill>
                      <a:srgbClr val="111827"/>
                    </a:solidFill>
                    <a:latin typeface="Arial"/>
                  </a:rPr>
                  <a:t>, so the trace of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$2+2+2=6$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a:t>
            </a:r>
            <a:endParaRPr sz="2800">
              <a:solidFill>
                <a:srgbClr val="15803D"/>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the polynomial to the eigenvalues: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λ</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and </a:t>
                </a:r>
                <a14:m>
                  <m:oMath xmlns:m="http://schemas.openxmlformats.org/officeDocument/2006/math">
                    <m:r>
                      <m:rPr>
                        <m:nor/>
                      </m:rPr>
                      <a:rPr lang="en-IN" sz="2400" i="1">
                        <a:solidFill>
                          <a:srgbClr val="78350F"/>
                        </a:solidFill>
                        <a:latin typeface="Cambria Math" panose="02040503050406030204" pitchFamily="18" charset="0"/>
                      </a:rPr>
                      <m:t>𝑡𝑟</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λ</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the polynomial to the eigenvalues: </a:t>
                </a:r>
                <a:r>
                  <a:rPr lang="en-IN" sz="2400">
                    <a:solidFill>
                      <a:srgbClr val="78350F"/>
                    </a:solidFill>
                    <a:latin typeface="Cambria Math" panose="02040503050406030204" pitchFamily="18" charset="0"/>
                  </a:rPr>
                  <a:t>$f(\lambda)=(\lambda+1)^3+(\lambda-1)^3-6\lambda=2\lambda^3$</a:t>
                </a:r>
                <a:r>
                  <a:rPr sz="2400" b="0">
                    <a:solidFill>
                      <a:srgbClr val="78350F"/>
                    </a:solidFill>
                    <a:latin typeface="Arial"/>
                  </a:rPr>
                  <a:t> and </a:t>
                </a:r>
                <a:r>
                  <a:rPr lang="en-IN" sz="2400">
                    <a:solidFill>
                      <a:srgbClr val="78350F"/>
                    </a:solidFill>
                    <a:latin typeface="Cambria Math" panose="02040503050406030204" pitchFamily="18" charset="0"/>
                  </a:rPr>
                  <a:t>$\text{tr}f(A)=\sum f(\lambda_i)$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 rotation by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about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eigenvalues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means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the eigenvalues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ω</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is a rotation by </a:t>
                </a:r>
                <a:r>
                  <a:rPr lang="en-IN" sz="2400">
                    <a:solidFill>
                      <a:srgbClr val="111827"/>
                    </a:solidFill>
                    <a:latin typeface="Cambria Math" panose="02040503050406030204" pitchFamily="18" charset="0"/>
                  </a:rPr>
                  <a:t>$\theta$</a:t>
                </a:r>
                <a:r>
                  <a:rPr sz="2400" b="0">
                    <a:solidFill>
                      <a:srgbClr val="111827"/>
                    </a:solidFill>
                    <a:latin typeface="Arial"/>
                  </a:rPr>
                  <a:t> about the </a:t>
                </a:r>
                <a:r>
                  <a:rPr lang="en-IN" sz="2400">
                    <a:solidFill>
                      <a:srgbClr val="111827"/>
                    </a:solidFill>
                    <a:latin typeface="Cambria Math" panose="02040503050406030204" pitchFamily="18" charset="0"/>
                  </a:rPr>
                  <a:t>$y$</a:t>
                </a:r>
                <a:r>
                  <a:rPr sz="2400" b="0">
                    <a:solidFill>
                      <a:srgbClr val="111827"/>
                    </a:solidFill>
                    <a:latin typeface="Arial"/>
                  </a:rPr>
                  <a:t>-axis: eigenvalues </a:t>
                </a:r>
                <a:r>
                  <a:rPr lang="en-IN" sz="2400">
                    <a:solidFill>
                      <a:srgbClr val="111827"/>
                    </a:solidFill>
                    <a:latin typeface="Cambria Math" panose="02040503050406030204" pitchFamily="18" charset="0"/>
                  </a:rPr>
                  <a:t>$1,e^{i\theta},e^{-i\theta}$</a:t>
                </a:r>
                <a:r>
                  <a:rPr sz="2400" b="0">
                    <a:solidFill>
                      <a:srgbClr val="111827"/>
                    </a:solidFill>
                    <a:latin typeface="Arial"/>
                  </a:rPr>
                  <a:t>. </a:t>
                </a:r>
                <a:r>
                  <a:rPr lang="en-IN" sz="2400">
                    <a:solidFill>
                      <a:srgbClr val="111827"/>
                    </a:solidFill>
                    <a:latin typeface="Cambria Math" panose="02040503050406030204" pitchFamily="18" charset="0"/>
                  </a:rPr>
                  <a:t>$A^2=A^T=A^{-1}$</a:t>
                </a:r>
                <a:r>
                  <a:rPr sz="2400" b="0">
                    <a:solidFill>
                      <a:srgbClr val="111827"/>
                    </a:solidFill>
                    <a:latin typeface="Arial"/>
                  </a:rPr>
                  <a:t> means </a:t>
                </a:r>
                <a:r>
                  <a:rPr lang="en-IN" sz="2400">
                    <a:solidFill>
                      <a:srgbClr val="111827"/>
                    </a:solidFill>
                    <a:latin typeface="Cambria Math" panose="02040503050406030204" pitchFamily="18" charset="0"/>
                  </a:rPr>
                  <a:t>$e^{3i\theta}=1$</a:t>
                </a:r>
                <a:r>
                  <a:rPr sz="2400" b="0">
                    <a:solidFill>
                      <a:srgbClr val="111827"/>
                    </a:solidFill>
                    <a:latin typeface="Arial"/>
                  </a:rPr>
                  <a:t>, so </a:t>
                </a:r>
                <a:r>
                  <a:rPr lang="en-IN" sz="2400">
                    <a:solidFill>
                      <a:srgbClr val="111827"/>
                    </a:solidFill>
                    <a:latin typeface="Cambria Math" panose="02040503050406030204" pitchFamily="18" charset="0"/>
                  </a:rPr>
                  <a:t>$\theta=\frac{2\pi}3$</a:t>
                </a:r>
                <a:r>
                  <a:rPr sz="2400" b="0">
                    <a:solidFill>
                      <a:srgbClr val="111827"/>
                    </a:solidFill>
                    <a:latin typeface="Arial"/>
                  </a:rPr>
                  <a:t> and the eigenvalues are </a:t>
                </a:r>
                <a:r>
                  <a:rPr lang="en-IN" sz="2400">
                    <a:solidFill>
                      <a:srgbClr val="111827"/>
                    </a:solidFill>
                    <a:latin typeface="Cambria Math" panose="02040503050406030204" pitchFamily="18" charset="0"/>
                  </a:rPr>
                  <a:t>$1,\omega,\omega^2$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$f(\lambda)=(\lambda+1)^3+(\lambda-1)^3-6\lambda=2\lambda^3$</a:t>
                </a:r>
                <a:r>
                  <a:rPr sz="2400" b="0">
                    <a:solidFill>
                      <a:srgbClr val="111827"/>
                    </a:solidFill>
                    <a:latin typeface="Arial"/>
                  </a:rPr>
                  <a:t>, so </a:t>
                </a:r>
                <a:r>
                  <a:rPr lang="en-IN" sz="2400">
                    <a:solidFill>
                      <a:srgbClr val="111827"/>
                    </a:solidFill>
                    <a:latin typeface="Cambria Math" panose="02040503050406030204" pitchFamily="18" charset="0"/>
                  </a:rPr>
                  <a:t>$\text{tr}f(A)=\sum f(\lambda_i)=2(1^3+\omega^3+\omega^6)=2\cdot3=6$</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a:t>
            </a:r>
            <a:endParaRPr sz="2800">
              <a:solidFill>
                <a:srgbClr val="15803D"/>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𝐴</m:t>
                    </m:r>
                  </m:oMath>
                </a14:m>
                <a:r>
                  <a:rPr sz="2400" b="0">
                    <a:solidFill>
                      <a:srgbClr val="111827"/>
                    </a:solidFill>
                    <a:latin typeface="Arial"/>
                  </a:rPr>
                  <a:t> for any square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(odd powers of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cancel in pairs). Check: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rotation matrix by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orthogonal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satisfies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any polynomial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$(A+I)^3+(A-I)^3=2A^3+6A$</a:t>
                </a:r>
                <a:r>
                  <a:rPr sz="2400" b="0">
                    <a:solidFill>
                      <a:srgbClr val="111827"/>
                    </a:solidFill>
                    <a:latin typeface="Arial"/>
                  </a:rPr>
                  <a:t> for any square </a:t>
                </a:r>
                <a:r>
                  <a:rPr lang="en-IN" sz="2400">
                    <a:solidFill>
                      <a:srgbClr val="111827"/>
                    </a:solidFill>
                    <a:latin typeface="Cambria Math" panose="02040503050406030204" pitchFamily="18" charset="0"/>
                  </a:rPr>
                  <a:t>$A$</a:t>
                </a:r>
                <a:r>
                  <a:rPr sz="2400" b="0">
                    <a:solidFill>
                      <a:srgbClr val="111827"/>
                    </a:solidFill>
                    <a:latin typeface="Arial"/>
                  </a:rPr>
                  <a:t> (odd powers of </a:t>
                </a:r>
                <a:r>
                  <a:rPr lang="en-IN" sz="2400">
                    <a:solidFill>
                      <a:srgbClr val="111827"/>
                    </a:solidFill>
                    <a:latin typeface="Cambria Math" panose="02040503050406030204" pitchFamily="18" charset="0"/>
                  </a:rPr>
                  <a:t>$I$</a:t>
                </a:r>
                <a:r>
                  <a:rPr sz="2400" b="0">
                    <a:solidFill>
                      <a:srgbClr val="111827"/>
                    </a:solidFill>
                    <a:latin typeface="Arial"/>
                  </a:rPr>
                  <a:t> cancel in pairs). Check: </a:t>
                </a:r>
                <a:r>
                  <a:rPr lang="en-IN" sz="2400">
                    <a:solidFill>
                      <a:srgbClr val="111827"/>
                    </a:solidFill>
                    <a:latin typeface="Cambria Math" panose="02040503050406030204" pitchFamily="18" charset="0"/>
                  </a:rPr>
                  <a:t>$A=I$</a:t>
                </a:r>
                <a:r>
                  <a:rPr sz="2400" b="0">
                    <a:solidFill>
                      <a:srgbClr val="111827"/>
                    </a:solidFill>
                    <a:latin typeface="Arial"/>
                  </a:rPr>
                  <a:t> gives </a:t>
                </a:r>
                <a:r>
                  <a:rPr lang="en-IN" sz="2400">
                    <a:solidFill>
                      <a:srgbClr val="111827"/>
                    </a:solidFill>
                    <a:latin typeface="Cambria Math" panose="02040503050406030204" pitchFamily="18" charset="0"/>
                  </a:rPr>
                  <a:t>$8$</a:t>
                </a:r>
                <a:r>
                  <a:rPr sz="2400" b="0">
                    <a:solidFill>
                      <a:srgbClr val="111827"/>
                    </a:solidFill>
                    <a:latin typeface="Arial"/>
                  </a:rPr>
                  <a:t> and </a:t>
                </a:r>
                <a:r>
                  <a:rPr lang="en-IN" sz="2400">
                    <a:solidFill>
                      <a:srgbClr val="111827"/>
                    </a:solidFill>
                    <a:latin typeface="Cambria Math" panose="02040503050406030204" pitchFamily="18" charset="0"/>
                  </a:rPr>
                  <a:t>$2+6=8$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rotation matrix by </a:t>
                </a:r>
                <a:r>
                  <a:rPr lang="en-IN" sz="2400">
                    <a:solidFill>
                      <a:srgbClr val="111827"/>
                    </a:solidFill>
                    <a:latin typeface="Cambria Math" panose="02040503050406030204" pitchFamily="18" charset="0"/>
                  </a:rPr>
                  <a:t>$\theta$</a:t>
                </a:r>
                <a:r>
                  <a:rPr sz="2400" b="0">
                    <a:solidFill>
                      <a:srgbClr val="111827"/>
                    </a:solidFill>
                    <a:latin typeface="Arial"/>
                  </a:rPr>
                  <a:t> has </a:t>
                </a:r>
                <a:r>
                  <a:rPr lang="en-IN" sz="2400">
                    <a:solidFill>
                      <a:srgbClr val="111827"/>
                    </a:solidFill>
                    <a:latin typeface="Cambria Math" panose="02040503050406030204" pitchFamily="18" charset="0"/>
                  </a:rPr>
                  <a:t>$A^k=I\iff k\theta\in2\pi\mathbb Z$</a:t>
                </a:r>
                <a:r>
                  <a:rPr sz="2400" b="0">
                    <a:solidFill>
                      <a:srgbClr val="111827"/>
                    </a:solidFill>
                    <a:latin typeface="Arial"/>
                  </a:rPr>
                  <a:t>; orthogonal </a:t>
                </a:r>
                <a:r>
                  <a:rPr lang="en-IN" sz="2400">
                    <a:solidFill>
                      <a:srgbClr val="111827"/>
                    </a:solidFill>
                    <a:latin typeface="Cambria Math" panose="02040503050406030204" pitchFamily="18" charset="0"/>
                  </a:rPr>
                  <a:t>$A$</a:t>
                </a:r>
                <a:r>
                  <a:rPr sz="2400" b="0">
                    <a:solidFill>
                      <a:srgbClr val="111827"/>
                    </a:solidFill>
                    <a:latin typeface="Arial"/>
                  </a:rPr>
                  <a:t> with </a:t>
                </a:r>
                <a:r>
                  <a:rPr lang="en-IN" sz="2400">
                    <a:solidFill>
                      <a:srgbClr val="111827"/>
                    </a:solidFill>
                    <a:latin typeface="Cambria Math" panose="02040503050406030204" pitchFamily="18" charset="0"/>
                  </a:rPr>
                  <a:t>$A^2=A^T$</a:t>
                </a:r>
                <a:r>
                  <a:rPr sz="2400" b="0">
                    <a:solidFill>
                      <a:srgbClr val="111827"/>
                    </a:solidFill>
                    <a:latin typeface="Arial"/>
                  </a:rPr>
                  <a:t> satisfies </a:t>
                </a:r>
                <a:r>
                  <a:rPr lang="en-IN" sz="2400">
                    <a:solidFill>
                      <a:srgbClr val="111827"/>
                    </a:solidFill>
                    <a:latin typeface="Cambria Math" panose="02040503050406030204" pitchFamily="18" charset="0"/>
                  </a:rPr>
                  <a:t>$A^3=AA^T=I$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$\text{tr}f(A)=\sum f(\lambda_i)$</a:t>
                </a:r>
                <a:r>
                  <a:rPr sz="2400" b="0">
                    <a:solidFill>
                      <a:srgbClr val="111827"/>
                    </a:solidFill>
                    <a:latin typeface="Arial"/>
                  </a:rPr>
                  <a:t> for any polynomial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e>
                    </m:d>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$S=\left\{m\in\mathbb Z:A^{m^2}+A^m=3I-A^{-6}\right\}$</a:t>
                </a:r>
                <a:r>
                  <a:rPr sz="2400" b="0">
                    <a:solidFill>
                      <a:srgbClr val="111827"/>
                    </a:solidFill>
                    <a:latin typeface="Arial"/>
                  </a:rPr>
                  <a:t>, where </a:t>
                </a:r>
                <a:r>
                  <a:rPr lang="en-IN" sz="2400">
                    <a:solidFill>
                      <a:srgbClr val="111827"/>
                    </a:solidFill>
                    <a:latin typeface="Cambria Math" panose="02040503050406030204" pitchFamily="18" charset="0"/>
                  </a:rPr>
                  <a:t>$A=\begin{pmatrix}2&amp;-1\\1&amp;0\end{pmatrix}$</a:t>
                </a:r>
                <a:r>
                  <a:rPr sz="2400" b="0">
                    <a:solidFill>
                      <a:srgbClr val="111827"/>
                    </a:solidFill>
                    <a:latin typeface="Arial"/>
                  </a:rPr>
                  <a:t>. Then </a:t>
                </a:r>
                <a:r>
                  <a:rPr lang="en-IN" sz="2400">
                    <a:solidFill>
                      <a:srgbClr val="111827"/>
                    </a:solidFill>
                    <a:latin typeface="Cambria Math" panose="02040503050406030204" pitchFamily="18" charset="0"/>
                  </a:rPr>
                  <a:t>$n(S)$</a:t>
                </a:r>
                <a:r>
                  <a:rPr sz="2400" b="0">
                    <a:solidFill>
                      <a:srgbClr val="111827"/>
                    </a:solidFill>
                    <a:latin typeface="Arial"/>
                  </a:rPr>
                  <a:t> is equal to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powers of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powers of a </a:t>
                </a:r>
                <a:r>
                  <a:rPr lang="en-IN" sz="2400">
                    <a:solidFill>
                      <a:srgbClr val="111827"/>
                    </a:solidFill>
                    <a:latin typeface="Cambria Math" panose="02040503050406030204" pitchFamily="18" charset="0"/>
                  </a:rPr>
                  <a:t>$2\times2$</a:t>
                </a:r>
                <a:r>
                  <a:rPr sz="2400" b="0">
                    <a:solidFill>
                      <a:srgbClr val="111827"/>
                    </a:solidFill>
                    <a:latin typeface="Arial"/>
                  </a:rPr>
                  <a:t> matrix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𝑁</m:t>
                    </m:r>
                  </m:oMath>
                </a14:m>
                <a:r>
                  <a:rPr sz="2400" b="0">
                    <a:solidFill>
                      <a:srgbClr val="78350F"/>
                    </a:solidFill>
                    <a:latin typeface="Arial"/>
                  </a:rPr>
                  <a:t> with </a:t>
                </a:r>
                <a14:m>
                  <m:oMath xmlns:m="http://schemas.openxmlformats.org/officeDocument/2006/math">
                    <m:sSup>
                      <m:e>
                        <m:r>
                          <a:rPr lang="en-IN" sz="2400" i="1">
                            <a:solidFill>
                              <a:srgbClr val="78350F"/>
                            </a:solidFill>
                            <a:latin typeface="Cambria Math" panose="02040503050406030204" pitchFamily="18" charset="0"/>
                          </a:rPr>
                          <m:t>𝑁</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𝑘</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𝑁</m:t>
                    </m:r>
                  </m:oMath>
                </a14:m>
                <a:r>
                  <a:rPr sz="2400" b="0">
                    <a:solidFill>
                      <a:srgbClr val="78350F"/>
                    </a:solidFill>
                    <a:latin typeface="Arial"/>
                  </a:rPr>
                  <a:t> for every integer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and the equation reduces to </a:t>
                </a:r>
                <a14:m>
                  <m:oMath xmlns:m="http://schemas.openxmlformats.org/officeDocument/2006/math">
                    <m:sSup>
                      <m:e>
                        <m:r>
                          <a:rPr lang="en-IN" sz="2400" i="1">
                            <a:solidFill>
                              <a:srgbClr val="78350F"/>
                            </a:solidFill>
                            <a:latin typeface="Cambria Math" panose="02040503050406030204" pitchFamily="18" charset="0"/>
                          </a:rPr>
                          <m:t>𝑚</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$A=I+N$</a:t>
                </a:r>
                <a:r>
                  <a:rPr sz="2400" b="0">
                    <a:solidFill>
                      <a:srgbClr val="78350F"/>
                    </a:solidFill>
                    <a:latin typeface="Arial"/>
                  </a:rPr>
                  <a:t> with </a:t>
                </a:r>
                <a:r>
                  <a:rPr lang="en-IN" sz="2400">
                    <a:solidFill>
                      <a:srgbClr val="78350F"/>
                    </a:solidFill>
                    <a:latin typeface="Cambria Math" panose="02040503050406030204" pitchFamily="18" charset="0"/>
                  </a:rPr>
                  <a:t>$N^2=O$</a:t>
                </a:r>
                <a:r>
                  <a:rPr sz="2400" b="0">
                    <a:solidFill>
                      <a:srgbClr val="78350F"/>
                    </a:solidFill>
                    <a:latin typeface="Arial"/>
                  </a:rPr>
                  <a:t>, so </a:t>
                </a:r>
                <a:r>
                  <a:rPr lang="en-IN" sz="2400">
                    <a:solidFill>
                      <a:srgbClr val="78350F"/>
                    </a:solidFill>
                    <a:latin typeface="Cambria Math" panose="02040503050406030204" pitchFamily="18" charset="0"/>
                  </a:rPr>
                  <a:t>$A^k=I+kN$</a:t>
                </a:r>
                <a:r>
                  <a:rPr sz="2400" b="0">
                    <a:solidFill>
                      <a:srgbClr val="78350F"/>
                    </a:solidFill>
                    <a:latin typeface="Arial"/>
                  </a:rPr>
                  <a:t> for every integer </a:t>
                </a:r>
                <a:r>
                  <a:rPr lang="en-IN" sz="2400">
                    <a:solidFill>
                      <a:srgbClr val="78350F"/>
                    </a:solidFill>
                    <a:latin typeface="Cambria Math" panose="02040503050406030204" pitchFamily="18" charset="0"/>
                  </a:rPr>
                  <a:t>$k$</a:t>
                </a:r>
                <a:r>
                  <a:rPr sz="2400" b="0">
                    <a:solidFill>
                      <a:srgbClr val="78350F"/>
                    </a:solidFill>
                    <a:latin typeface="Arial"/>
                  </a:rPr>
                  <a:t> and the equation reduces to </a:t>
                </a:r>
                <a:r>
                  <a:rPr lang="en-IN" sz="2400">
                    <a:solidFill>
                      <a:srgbClr val="78350F"/>
                    </a:solidFill>
                    <a:latin typeface="Cambria Math" panose="02040503050406030204" pitchFamily="18" charset="0"/>
                  </a:rPr>
                  <a:t>$m^2+m=6$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adj</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
                      </m:e>
                    </m:d>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mr>
                        </m:m>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4</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5</m:t>
                              </m:r>
                            </m:e>
                          </m:mr>
                        </m:m>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6</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7</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3</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6</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7</m:t>
                              </m:r>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8</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6</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mr>
                        </m:m>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$A=\begin{pmatrix}2&amp;-1\\1&amp;0\end{pmatrix}$</a:t>
                </a:r>
                <a:r>
                  <a:rPr sz="2400" b="0">
                    <a:solidFill>
                      <a:srgbClr val="111827"/>
                    </a:solidFill>
                    <a:latin typeface="Arial"/>
                  </a:rPr>
                  <a:t>,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$\operatorname{adj}A=\begin{pmatrix}0&amp;1\\-1&amp;2\end{pmatrix}$</a:t>
                </a:r>
                <a:r>
                  <a:rPr sz="2400" b="0">
                    <a:solidFill>
                      <a:srgbClr val="111827"/>
                    </a:solidFill>
                    <a:latin typeface="Arial"/>
                  </a:rPr>
                  <a:t>, so </a:t>
                </a:r>
                <a:r>
                  <a:rPr lang="en-IN" sz="2400">
                    <a:solidFill>
                      <a:srgbClr val="111827"/>
                    </a:solidFill>
                    <a:latin typeface="Cambria Math" panose="02040503050406030204" pitchFamily="18" charset="0"/>
                  </a:rPr>
                  <a:t>$A^{-1}=\begin{pmatrix}0&amp;1\\-1&amp;2\end{pmatrix}$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$(A^{-1})^2=\begin{pmatrix}-1&amp;2\\-2&amp;3\end{pmatrix}$</a:t>
                </a:r>
                <a:r>
                  <a:rPr sz="2400" b="0">
                    <a:solidFill>
                      <a:srgbClr val="111827"/>
                    </a:solidFill>
                    <a:latin typeface="Arial"/>
                  </a:rPr>
                  <a:t>, </a:t>
                </a:r>
                <a:r>
                  <a:rPr lang="en-IN" sz="2400">
                    <a:solidFill>
                      <a:srgbClr val="111827"/>
                    </a:solidFill>
                    <a:latin typeface="Cambria Math" panose="02040503050406030204" pitchFamily="18" charset="0"/>
                  </a:rPr>
                  <a:t>$(A^{-1})^4=\begin{pmatrix}-3&amp;4\\-4&amp;5\end{pmatrix}$</a:t>
                </a:r>
                <a:r>
                  <a:rPr sz="2400" b="0">
                    <a:solidFill>
                      <a:srgbClr val="111827"/>
                    </a:solidFill>
                    <a:latin typeface="Arial"/>
                  </a:rPr>
                  <a:t>, </a:t>
                </a:r>
                <a:r>
                  <a:rPr lang="en-IN" sz="2400">
                    <a:solidFill>
                      <a:srgbClr val="111827"/>
                    </a:solidFill>
                    <a:latin typeface="Cambria Math" panose="02040503050406030204" pitchFamily="18" charset="0"/>
                  </a:rPr>
                  <a:t>$(A^{-1})^6=(A^{-1})^4(A^{-1})^2=\begin{pmatrix}-5&amp;6\\-6&amp;7\end{pmatrix}$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$A^{m^2}+A^m=3I-A^{-6}=\begin{pmatrix}3&amp;0\\0&amp;3\end{pmatrix}-\begin{pmatrix}-5&amp;6\\-6&amp;7\end{pmatrix}=\begin{pmatrix}8&amp;-6\\6&amp;-4\end{pmatrix}$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3</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5</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mr>
                          <m:mr>
                            <m:e>
                              <m:r>
                                <a:rPr lang="en-IN" sz="2400" i="1">
                                  <a:solidFill>
                                    <a:srgbClr val="111827"/>
                                  </a:solidFill>
                                  <a:latin typeface="Cambria Math" panose="02040503050406030204" pitchFamily="18" charset="0"/>
                                </a:rPr>
                                <m:t>4</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mr>
                        </m:m>
                      </m:e>
                    </m:d>
                  </m:oMath>
                </a14:m>
                <a:r>
                  <a:rPr sz="2400" b="0">
                    <a:solidFill>
                      <a:srgbClr val="111827"/>
                    </a:solidFill>
                    <a:latin typeface="Arial"/>
                  </a:rPr>
                  <a:t>: the pattern is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e>
                          </m:mr>
                          <m:mr>
                            <m:e>
                              <m:r>
                                <a:rPr lang="en-IN" sz="2400" i="1">
                                  <a:solidFill>
                                    <a:srgbClr val="111827"/>
                                  </a:solidFill>
                                  <a:latin typeface="Cambria Math" panose="02040503050406030204" pitchFamily="18" charset="0"/>
                                </a:rPr>
                                <m:t>𝑚</m:t>
                              </m:r>
                            </m:e>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e>
                          </m:mr>
                        </m:m>
                      </m:e>
                    </m:d>
                  </m:oMath>
                </a14:m>
                <a:r>
                  <a:rPr sz="2400" b="0">
                    <a:solidFill>
                      <a:srgbClr val="111827"/>
                    </a:solidFill>
                    <a:latin typeface="Arial"/>
                  </a:rPr>
                  <a:t> (proved by induction, or by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giving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𝑁</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𝐴</m:t>
                        </m:r>
                      </m:e>
                      <m:sup>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e>
                          </m:mr>
                          <m:mr>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e>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e>
                          </m:mr>
                        </m:m>
                      </m:e>
                    </m:d>
                  </m:oMath>
                </a14:m>
                <a:r>
                  <a:rPr sz="2400" b="0">
                    <a:solidFill>
                      <a:srgbClr val="111827"/>
                    </a:solidFill>
                    <a:latin typeface="Arial"/>
                  </a:rPr>
                  <a:t>, which equals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8</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6</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mr>
                        </m:m>
                      </m:e>
                    </m:d>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(all four entries agree).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$A^2=\begin{pmatrix}3&amp;-2\\2&amp;-1\end{pmatrix}$</a:t>
                </a:r>
                <a:r>
                  <a:rPr sz="2400" b="0">
                    <a:solidFill>
                      <a:srgbClr val="111827"/>
                    </a:solidFill>
                    <a:latin typeface="Arial"/>
                  </a:rPr>
                  <a:t>, </a:t>
                </a:r>
                <a:r>
                  <a:rPr lang="en-IN" sz="2400">
                    <a:solidFill>
                      <a:srgbClr val="111827"/>
                    </a:solidFill>
                    <a:latin typeface="Cambria Math" panose="02040503050406030204" pitchFamily="18" charset="0"/>
                  </a:rPr>
                  <a:t>$A^4=\begin{pmatrix}5&amp;-4\\4&amp;-3\end{pmatrix}$</a:t>
                </a:r>
                <a:r>
                  <a:rPr sz="2400" b="0">
                    <a:solidFill>
                      <a:srgbClr val="111827"/>
                    </a:solidFill>
                    <a:latin typeface="Arial"/>
                  </a:rPr>
                  <a:t>: the pattern is </a:t>
                </a:r>
                <a:r>
                  <a:rPr lang="en-IN" sz="2400">
                    <a:solidFill>
                      <a:srgbClr val="111827"/>
                    </a:solidFill>
                    <a:latin typeface="Cambria Math" panose="02040503050406030204" pitchFamily="18" charset="0"/>
                  </a:rPr>
                  <a:t>$A^m=\begin{pmatrix}m+1&amp;-m\\m&amp;1-m\end{pmatrix}$</a:t>
                </a:r>
                <a:r>
                  <a:rPr sz="2400" b="0">
                    <a:solidFill>
                      <a:srgbClr val="111827"/>
                    </a:solidFill>
                    <a:latin typeface="Arial"/>
                  </a:rPr>
                  <a:t> (proved by induction, or by </a:t>
                </a:r>
                <a:r>
                  <a:rPr lang="en-IN" sz="2400">
                    <a:solidFill>
                      <a:srgbClr val="111827"/>
                    </a:solidFill>
                    <a:latin typeface="Cambria Math" panose="02040503050406030204" pitchFamily="18" charset="0"/>
                  </a:rPr>
                  <a:t>$A=I+N$</a:t>
                </a:r>
                <a:r>
                  <a:rPr sz="2400" b="0">
                    <a:solidFill>
                      <a:srgbClr val="111827"/>
                    </a:solidFill>
                    <a:latin typeface="Arial"/>
                  </a:rPr>
                  <a:t>, </a:t>
                </a:r>
                <a:r>
                  <a:rPr lang="en-IN" sz="2400">
                    <a:solidFill>
                      <a:srgbClr val="111827"/>
                    </a:solidFill>
                    <a:latin typeface="Cambria Math" panose="02040503050406030204" pitchFamily="18" charset="0"/>
                  </a:rPr>
                  <a:t>$N^2=O$</a:t>
                </a:r>
                <a:r>
                  <a:rPr sz="2400" b="0">
                    <a:solidFill>
                      <a:srgbClr val="111827"/>
                    </a:solidFill>
                    <a:latin typeface="Arial"/>
                  </a:rPr>
                  <a:t>, giving </a:t>
                </a:r>
                <a:r>
                  <a:rPr lang="en-IN" sz="2400">
                    <a:solidFill>
                      <a:srgbClr val="111827"/>
                    </a:solidFill>
                    <a:latin typeface="Cambria Math" panose="02040503050406030204" pitchFamily="18" charset="0"/>
                  </a:rPr>
                  <a:t>$A^m=I+mN$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$A^{m^2}+A^m=\begin{pmatrix}m^2+m+2&amp;-(m^2+m)\\m^2+m&amp;2-(m^2+m)\end{pmatrix}$</a:t>
                </a:r>
                <a:r>
                  <a:rPr sz="2400" b="0">
                    <a:solidFill>
                      <a:srgbClr val="111827"/>
                    </a:solidFill>
                    <a:latin typeface="Arial"/>
                  </a:rPr>
                  <a:t>, which equals </a:t>
                </a:r>
                <a:r>
                  <a:rPr lang="en-IN" sz="2400">
                    <a:solidFill>
                      <a:srgbClr val="111827"/>
                    </a:solidFill>
                    <a:latin typeface="Cambria Math" panose="02040503050406030204" pitchFamily="18" charset="0"/>
                  </a:rPr>
                  <a:t>$\begin{pmatrix}8&amp;-6\\6&amp;-4\end{pmatrix}$</a:t>
                </a:r>
                <a:r>
                  <a:rPr sz="2400" b="0">
                    <a:solidFill>
                      <a:srgbClr val="111827"/>
                    </a:solidFill>
                    <a:latin typeface="Arial"/>
                  </a:rPr>
                  <a:t> iff </a:t>
                </a:r>
                <a:r>
                  <a:rPr lang="en-IN" sz="2400">
                    <a:solidFill>
                      <a:srgbClr val="111827"/>
                    </a:solidFill>
                    <a:latin typeface="Cambria Math" panose="02040503050406030204" pitchFamily="18" charset="0"/>
                  </a:rPr>
                  <a:t>$m^2+m=6$</a:t>
                </a:r>
                <a:r>
                  <a:rPr sz="2400" b="0">
                    <a:solidFill>
                      <a:srgbClr val="111827"/>
                    </a:solidFill>
                    <a:latin typeface="Arial"/>
                  </a:rPr>
                  <a:t> (all four entries agree).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$m^2+m-6=0\Rightarrow(m+3)(m-2)=0\Rightarrow m=-3$</a:t>
                </a:r>
                <a:r>
                  <a:rPr sz="2400" b="0">
                    <a:solidFill>
                      <a:srgbClr val="111827"/>
                    </a:solidFill>
                    <a:latin typeface="Arial"/>
                  </a:rPr>
                  <a:t> or </a:t>
                </a:r>
                <a:r>
                  <a:rPr lang="en-IN" sz="2400">
                    <a:solidFill>
                      <a:srgbClr val="111827"/>
                    </a:solidFill>
                    <a:latin typeface="Cambria Math" panose="02040503050406030204" pitchFamily="18" charset="0"/>
                  </a:rPr>
                  <a:t>$m=2$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$S=\{-3,2\}$</a:t>
                </a:r>
                <a:r>
                  <a:rPr sz="2400" b="0">
                    <a:solidFill>
                      <a:srgbClr val="111827"/>
                    </a:solidFill>
                    <a:latin typeface="Arial"/>
                  </a:rPr>
                  <a:t>, so </a:t>
                </a:r>
                <a:r>
                  <a:rPr lang="en-IN" sz="2400">
                    <a:solidFill>
                      <a:srgbClr val="111827"/>
                    </a:solidFill>
                    <a:latin typeface="Cambria Math" panose="02040503050406030204" pitchFamily="18" charset="0"/>
                  </a:rPr>
                  <a:t>$n(S)=2$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entirely with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𝑁</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78350F"/>
                                </a:solidFill>
                                <a:latin typeface="Cambria Math" panose="02040503050406030204" pitchFamily="18" charset="0"/>
                              </a:rPr>
                            </m:ctrlPr>
                          </m:mPr>
                          <m:mr>
                            <m:e>
                              <m:r>
                                <a:rPr lang="en-IN" sz="2400" i="1">
                                  <a:solidFill>
                                    <a:srgbClr val="78350F"/>
                                  </a:solidFill>
                                  <a:latin typeface="Cambria Math" panose="02040503050406030204" pitchFamily="18" charset="0"/>
                                </a:rPr>
                                <m:t>1</m:t>
                              </m:r>
                            </m:e>
                            <m:e>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mr>
                          <m:mr>
                            <m:e>
                              <m:r>
                                <a:rPr lang="en-IN" sz="2400" i="1">
                                  <a:solidFill>
                                    <a:srgbClr val="78350F"/>
                                  </a:solidFill>
                                  <a:latin typeface="Cambria Math" panose="02040503050406030204" pitchFamily="18" charset="0"/>
                                </a:rPr>
                                <m:t>1</m:t>
                              </m:r>
                            </m:e>
                            <m:e>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mr>
                        </m:m>
                      </m:e>
                    </m:d>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𝑁</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oMath>
                </a14:m>
                <a:r>
                  <a:rPr sz="2400" b="0">
                    <a:solidFill>
                      <a:srgbClr val="78350F"/>
                    </a:solidFill>
                    <a:latin typeface="Arial"/>
                  </a:rPr>
                  <a:t>: every power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𝑁</m:t>
                    </m:r>
                  </m:oMath>
                </a14:m>
                <a:r>
                  <a:rPr sz="2400" b="0">
                    <a:solidFill>
                      <a:srgbClr val="78350F"/>
                    </a:solidFill>
                    <a:latin typeface="Arial"/>
                  </a:rPr>
                  <a:t>, so no matrix multiplication is needed.</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entirely with </a:t>
                </a:r>
                <a:r>
                  <a:rPr lang="en-IN" sz="2400">
                    <a:solidFill>
                      <a:srgbClr val="78350F"/>
                    </a:solidFill>
                    <a:latin typeface="Cambria Math" panose="02040503050406030204" pitchFamily="18" charset="0"/>
                  </a:rPr>
                  <a:t>$A=I+N$</a:t>
                </a:r>
                <a:r>
                  <a:rPr sz="2400" b="0">
                    <a:solidFill>
                      <a:srgbClr val="78350F"/>
                    </a:solidFill>
                    <a:latin typeface="Arial"/>
                  </a:rPr>
                  <a:t>, </a:t>
                </a:r>
                <a:r>
                  <a:rPr lang="en-IN" sz="2400">
                    <a:solidFill>
                      <a:srgbClr val="78350F"/>
                    </a:solidFill>
                    <a:latin typeface="Cambria Math" panose="02040503050406030204" pitchFamily="18" charset="0"/>
                  </a:rPr>
                  <a:t>$N=\begin{pmatrix}1&amp;-1\\1&amp;-1\end{pmatrix}$</a:t>
                </a:r>
                <a:r>
                  <a:rPr sz="2400" b="0">
                    <a:solidFill>
                      <a:srgbClr val="78350F"/>
                    </a:solidFill>
                    <a:latin typeface="Arial"/>
                  </a:rPr>
                  <a:t>, </a:t>
                </a:r>
                <a:r>
                  <a:rPr lang="en-IN" sz="2400">
                    <a:solidFill>
                      <a:srgbClr val="78350F"/>
                    </a:solidFill>
                    <a:latin typeface="Cambria Math" panose="02040503050406030204" pitchFamily="18" charset="0"/>
                  </a:rPr>
                  <a:t>$N^2=O$</a:t>
                </a:r>
                <a:r>
                  <a:rPr sz="2400" b="0">
                    <a:solidFill>
                      <a:srgbClr val="78350F"/>
                    </a:solidFill>
                    <a:latin typeface="Arial"/>
                  </a:rPr>
                  <a:t>: every power of </a:t>
                </a:r>
                <a:r>
                  <a:rPr lang="en-IN" sz="2400">
                    <a:solidFill>
                      <a:srgbClr val="78350F"/>
                    </a:solidFill>
                    <a:latin typeface="Cambria Math" panose="02040503050406030204" pitchFamily="18" charset="0"/>
                  </a:rPr>
                  <a:t>$A$</a:t>
                </a:r>
                <a:r>
                  <a:rPr sz="2400" b="0">
                    <a:solidFill>
                      <a:srgbClr val="78350F"/>
                    </a:solidFill>
                    <a:latin typeface="Arial"/>
                  </a:rPr>
                  <a:t> is </a:t>
                </a:r>
                <a:r>
                  <a:rPr lang="en-IN" sz="2400">
                    <a:solidFill>
                      <a:srgbClr val="78350F"/>
                    </a:solidFill>
                    <a:latin typeface="Cambria Math" panose="02040503050406030204" pitchFamily="18" charset="0"/>
                  </a:rPr>
                  <a:t>$I+kN$</a:t>
                </a:r>
                <a:r>
                  <a:rPr sz="2400" b="0">
                    <a:solidFill>
                      <a:srgbClr val="78350F"/>
                    </a:solidFill>
                    <a:latin typeface="Arial"/>
                  </a:rPr>
                  <a:t>, so no matrix multiplication is needed.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theorem (valid also for negative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𝑁</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𝑁</m:t>
                    </m:r>
                  </m:oMath>
                </a14:m>
                <a:r>
                  <a:rPr sz="2400" b="0">
                    <a:solidFill>
                      <a:srgbClr val="111827"/>
                    </a:solidFill>
                    <a:latin typeface="Arial"/>
                  </a:rPr>
                  <a:t>, while </a:t>
                </a:r>
                <a14:m>
                  <m:oMath xmlns:m="http://schemas.openxmlformats.org/officeDocument/2006/math">
                    <m:sSup>
                      <m:e>
                        <m:r>
                          <a:rPr lang="en-IN" sz="2400" i="1">
                            <a:solidFill>
                              <a:srgbClr val="111827"/>
                            </a:solidFill>
                            <a:latin typeface="Cambria Math" panose="02040503050406030204" pitchFamily="18" charset="0"/>
                          </a:rPr>
                          <m:t>𝐴</m:t>
                        </m:r>
                      </m:e>
                      <m:sup>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898648"/>
                <a:ext cx="10725912" cy="28895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$A-I=N=\begin{pmatrix}1&amp;-1\\1&amp;-1\end{pmatrix}$</a:t>
                </a:r>
                <a:r>
                  <a:rPr sz="2400" b="0">
                    <a:solidFill>
                      <a:srgbClr val="111827"/>
                    </a:solidFill>
                    <a:latin typeface="Arial"/>
                  </a:rPr>
                  <a:t> and </a:t>
                </a:r>
                <a:r>
                  <a:rPr lang="en-IN" sz="2400">
                    <a:solidFill>
                      <a:srgbClr val="111827"/>
                    </a:solidFill>
                    <a:latin typeface="Cambria Math" panose="02040503050406030204" pitchFamily="18" charset="0"/>
                  </a:rPr>
                  <a:t>$N^2=O$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theorem (valid also for negative </a:t>
                </a:r>
                <a:r>
                  <a:rPr lang="en-IN" sz="2400">
                    <a:solidFill>
                      <a:srgbClr val="111827"/>
                    </a:solidFill>
                    <a:latin typeface="Cambria Math" panose="02040503050406030204" pitchFamily="18" charset="0"/>
                  </a:rPr>
                  <a:t>$k$</a:t>
                </a:r>
                <a:r>
                  <a:rPr sz="2400" b="0">
                    <a:solidFill>
                      <a:srgbClr val="111827"/>
                    </a:solidFill>
                    <a:latin typeface="Arial"/>
                  </a:rPr>
                  <a:t> because </a:t>
                </a:r>
                <a:r>
                  <a:rPr lang="en-IN" sz="2400">
                    <a:solidFill>
                      <a:srgbClr val="111827"/>
                    </a:solidFill>
                    <a:latin typeface="Cambria Math" panose="02040503050406030204" pitchFamily="18" charset="0"/>
                  </a:rPr>
                  <a:t>$(I+N)(I-N)=I$</a:t>
                </a:r>
                <a:r>
                  <a:rPr sz="2400" b="0">
                    <a:solidFill>
                      <a:srgbClr val="111827"/>
                    </a:solidFill>
                    <a:latin typeface="Arial"/>
                  </a:rPr>
                  <a:t>): </a:t>
                </a:r>
                <a:r>
                  <a:rPr lang="en-IN" sz="2400">
                    <a:solidFill>
                      <a:srgbClr val="111827"/>
                    </a:solidFill>
                    <a:latin typeface="Cambria Math" panose="02040503050406030204" pitchFamily="18" charset="0"/>
                  </a:rPr>
                  <a:t>$A^k=I+kN$</a:t>
                </a:r>
                <a:r>
                  <a:rPr sz="2400" b="0">
                    <a:solidFill>
                      <a:srgbClr val="111827"/>
                    </a:solidFill>
                    <a:latin typeface="Arial"/>
                  </a:rPr>
                  <a:t> for all </a:t>
                </a:r>
                <a:r>
                  <a:rPr lang="en-IN" sz="2400">
                    <a:solidFill>
                      <a:srgbClr val="111827"/>
                    </a:solidFill>
                    <a:latin typeface="Cambria Math" panose="02040503050406030204" pitchFamily="18" charset="0"/>
                  </a:rPr>
                  <a:t>$k\in\mathbb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$3I-A^{-6}=3I-(I-6N)=2I+6N$</a:t>
                </a:r>
                <a:r>
                  <a:rPr sz="2400" b="0">
                    <a:solidFill>
                      <a:srgbClr val="111827"/>
                    </a:solidFill>
                    <a:latin typeface="Arial"/>
                  </a:rPr>
                  <a:t>, while </a:t>
                </a:r>
                <a:r>
                  <a:rPr lang="en-IN" sz="2400">
                    <a:solidFill>
                      <a:srgbClr val="111827"/>
                    </a:solidFill>
                    <a:latin typeface="Cambria Math" panose="02040503050406030204" pitchFamily="18" charset="0"/>
                  </a:rPr>
                  <a:t>$A^{m^2}+A^m=2I+(m^2+m)N$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$N\ne O$</a:t>
                </a:r>
                <a:r>
                  <a:rPr sz="2400" b="0">
                    <a:solidFill>
                      <a:srgbClr val="111827"/>
                    </a:solidFill>
                    <a:latin typeface="Arial"/>
                  </a:rPr>
                  <a:t>: </a:t>
                </a:r>
                <a:r>
                  <a:rPr lang="en-IN" sz="2400">
                    <a:solidFill>
                      <a:srgbClr val="111827"/>
                    </a:solidFill>
                    <a:latin typeface="Cambria Math" panose="02040503050406030204" pitchFamily="18" charset="0"/>
                  </a:rPr>
                  <a:t>$m^2+m=6$</a:t>
                </a:r>
                <a:r>
                  <a:rPr sz="2400" b="0">
                    <a:solidFill>
                      <a:srgbClr val="111827"/>
                    </a:solidFill>
                    <a:latin typeface="Arial"/>
                  </a:rPr>
                  <a:t>, so </a:t>
                </a:r>
                <a:r>
                  <a:rPr lang="en-IN" sz="2400">
                    <a:solidFill>
                      <a:srgbClr val="111827"/>
                    </a:solidFill>
                    <a:latin typeface="Cambria Math" panose="02040503050406030204" pitchFamily="18" charset="0"/>
                  </a:rPr>
                  <a:t>$m=2$</a:t>
                </a:r>
                <a:r>
                  <a:rPr sz="2400" b="0">
                    <a:solidFill>
                      <a:srgbClr val="111827"/>
                    </a:solidFill>
                    <a:latin typeface="Arial"/>
                  </a:rPr>
                  <a:t> or </a:t>
                </a:r>
                <a:r>
                  <a:rPr lang="en-IN" sz="2400">
                    <a:solidFill>
                      <a:srgbClr val="111827"/>
                    </a:solidFill>
                    <a:latin typeface="Cambria Math" panose="02040503050406030204" pitchFamily="18" charset="0"/>
                  </a:rPr>
                  <a:t>$m=-3$</a:t>
                </a:r>
                <a:r>
                  <a:rPr sz="2400" b="0">
                    <a:solidFill>
                      <a:srgbClr val="111827"/>
                    </a:solidFill>
                    <a:latin typeface="Arial"/>
                  </a:rPr>
                  <a:t>, and </a:t>
                </a:r>
                <a:r>
                  <a:rPr lang="en-IN" sz="2400">
                    <a:solidFill>
                      <a:srgbClr val="111827"/>
                    </a:solidFill>
                    <a:latin typeface="Cambria Math" panose="02040503050406030204" pitchFamily="18" charset="0"/>
                  </a:rPr>
                  <a:t>$n(S)=2$</a:t>
                </a:r>
                <a:r>
                  <a:rPr sz="2400" b="0">
                    <a:solidFill>
                      <a:srgbClr val="111827"/>
                    </a:solidFill>
                    <a:latin typeface="Arial"/>
                  </a:rPr>
                  <a:t> (the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a:t>
            </a:r>
            <a:endParaRPr sz="2800">
              <a:solidFill>
                <a:srgbClr val="15803D"/>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𝑁</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(e.g. a shear, a single eigenvalue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with a Jordan block), then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𝑁</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matrix with </a:t>
                </a:r>
                <a14:m>
                  <m:oMath xmlns:m="http://schemas.openxmlformats.org/officeDocument/2006/math">
                    <m:r>
                      <m:rPr>
                        <m:nor/>
                      </m:rPr>
                      <a:rPr lang="en-IN" sz="2400" i="1">
                        <a:solidFill>
                          <a:srgbClr val="111827"/>
                        </a:solidFill>
                        <a:latin typeface="Cambria Math" panose="02040503050406030204" pitchFamily="18" charset="0"/>
                      </a:rPr>
                      <m:t>𝑡𝑟</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characteristic polynomial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oMath>
                </a14:m>
                <a:r>
                  <a:rPr sz="2400" b="0">
                    <a:solidFill>
                      <a:srgbClr val="111827"/>
                    </a:solidFill>
                    <a:latin typeface="Arial"/>
                  </a:rPr>
                  <a:t> by Cayley–Hamilton: here </a:t>
                </a:r>
                <a14:m>
                  <m:oMath xmlns:m="http://schemas.openxmlformats.org/officeDocument/2006/math">
                    <m:r>
                      <m:rPr>
                        <m:nor/>
                      </m:rPr>
                      <a:rPr lang="en-IN" sz="2400" i="1">
                        <a:solidFill>
                          <a:srgbClr val="111827"/>
                        </a:solidFill>
                        <a:latin typeface="Cambria Math" panose="02040503050406030204" pitchFamily="18" charset="0"/>
                      </a:rPr>
                      <m:t>𝑡𝑟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6</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7</m:t>
                              </m:r>
                            </m:e>
                          </m:mr>
                        </m:m>
                      </m:e>
                    </m:d>
                  </m:oMath>
                </a14:m>
                <a:r>
                  <a:rPr sz="2400" b="0">
                    <a:solidFill>
                      <a:srgbClr val="111827"/>
                    </a:solidFill>
                    <a:latin typeface="Arial"/>
                  </a:rPr>
                  <a:t>, as in the direct multiplication.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$A=I+N$</a:t>
                </a:r>
                <a:r>
                  <a:rPr sz="2400" b="0">
                    <a:solidFill>
                      <a:srgbClr val="111827"/>
                    </a:solidFill>
                    <a:latin typeface="Arial"/>
                  </a:rPr>
                  <a:t> with </a:t>
                </a:r>
                <a:r>
                  <a:rPr lang="en-IN" sz="2400">
                    <a:solidFill>
                      <a:srgbClr val="111827"/>
                    </a:solidFill>
                    <a:latin typeface="Cambria Math" panose="02040503050406030204" pitchFamily="18" charset="0"/>
                  </a:rPr>
                  <a:t>$N^2=O$</a:t>
                </a:r>
                <a:r>
                  <a:rPr sz="2400" b="0">
                    <a:solidFill>
                      <a:srgbClr val="111827"/>
                    </a:solidFill>
                    <a:latin typeface="Arial"/>
                  </a:rPr>
                  <a:t> (e.g. a shear, a single eigenvalue </a:t>
                </a:r>
                <a:r>
                  <a:rPr lang="en-IN" sz="2400">
                    <a:solidFill>
                      <a:srgbClr val="111827"/>
                    </a:solidFill>
                    <a:latin typeface="Cambria Math" panose="02040503050406030204" pitchFamily="18" charset="0"/>
                  </a:rPr>
                  <a:t>$1$</a:t>
                </a:r>
                <a:r>
                  <a:rPr sz="2400" b="0">
                    <a:solidFill>
                      <a:srgbClr val="111827"/>
                    </a:solidFill>
                    <a:latin typeface="Arial"/>
                  </a:rPr>
                  <a:t> with a Jordan block), then </a:t>
                </a:r>
                <a:r>
                  <a:rPr lang="en-IN" sz="2400">
                    <a:solidFill>
                      <a:srgbClr val="111827"/>
                    </a:solidFill>
                    <a:latin typeface="Cambria Math" panose="02040503050406030204" pitchFamily="18" charset="0"/>
                  </a:rPr>
                  <a:t>$A^k=I+kN$</a:t>
                </a:r>
                <a:r>
                  <a:rPr sz="2400" b="0">
                    <a:solidFill>
                      <a:srgbClr val="111827"/>
                    </a:solidFill>
                    <a:latin typeface="Arial"/>
                  </a:rPr>
                  <a:t> for all </a:t>
                </a:r>
                <a:r>
                  <a:rPr lang="en-IN" sz="2400">
                    <a:solidFill>
                      <a:srgbClr val="111827"/>
                    </a:solidFill>
                    <a:latin typeface="Cambria Math" panose="02040503050406030204" pitchFamily="18" charset="0"/>
                  </a:rPr>
                  <a:t>$k\in\mathbb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$2\times2$</a:t>
                </a:r>
                <a:r>
                  <a:rPr sz="2400" b="0">
                    <a:solidFill>
                      <a:srgbClr val="111827"/>
                    </a:solidFill>
                    <a:latin typeface="Arial"/>
                  </a:rPr>
                  <a:t> matrix with </a:t>
                </a:r>
                <a:r>
                  <a:rPr lang="en-IN" sz="2400">
                    <a:solidFill>
                      <a:srgbClr val="111827"/>
                    </a:solidFill>
                    <a:latin typeface="Cambria Math" panose="02040503050406030204" pitchFamily="18" charset="0"/>
                  </a:rPr>
                  <a:t>$\text{tr}A=2$</a:t>
                </a:r>
                <a:r>
                  <a:rPr sz="2400" b="0">
                    <a:solidFill>
                      <a:srgbClr val="111827"/>
                    </a:solidFill>
                    <a:latin typeface="Arial"/>
                  </a:rPr>
                  <a:t> and </a:t>
                </a:r>
                <a:r>
                  <a:rPr lang="en-IN" sz="2400">
                    <a:solidFill>
                      <a:srgbClr val="111827"/>
                    </a:solidFill>
                    <a:latin typeface="Cambria Math" panose="02040503050406030204" pitchFamily="18" charset="0"/>
                  </a:rPr>
                  <a:t>$\det A=1$</a:t>
                </a:r>
                <a:r>
                  <a:rPr sz="2400" b="0">
                    <a:solidFill>
                      <a:srgbClr val="111827"/>
                    </a:solidFill>
                    <a:latin typeface="Arial"/>
                  </a:rPr>
                  <a:t> has characteristic polynomial </a:t>
                </a:r>
                <a:r>
                  <a:rPr lang="en-IN" sz="2400">
                    <a:solidFill>
                      <a:srgbClr val="111827"/>
                    </a:solidFill>
                    <a:latin typeface="Cambria Math" panose="02040503050406030204" pitchFamily="18" charset="0"/>
                  </a:rPr>
                  <a:t>$(x-1)^2$</a:t>
                </a:r>
                <a:r>
                  <a:rPr sz="2400" b="0">
                    <a:solidFill>
                      <a:srgbClr val="111827"/>
                    </a:solidFill>
                    <a:latin typeface="Arial"/>
                  </a:rPr>
                  <a:t>, so </a:t>
                </a:r>
                <a:r>
                  <a:rPr lang="en-IN" sz="2400">
                    <a:solidFill>
                      <a:srgbClr val="111827"/>
                    </a:solidFill>
                    <a:latin typeface="Cambria Math" panose="02040503050406030204" pitchFamily="18" charset="0"/>
                  </a:rPr>
                  <a:t>$(A-I)^2=O$</a:t>
                </a:r>
                <a:r>
                  <a:rPr sz="2400" b="0">
                    <a:solidFill>
                      <a:srgbClr val="111827"/>
                    </a:solidFill>
                    <a:latin typeface="Arial"/>
                  </a:rPr>
                  <a:t> by Cayley–Hamilton: here </a:t>
                </a:r>
                <a:r>
                  <a:rPr lang="en-IN" sz="2400">
                    <a:solidFill>
                      <a:srgbClr val="111827"/>
                    </a:solidFill>
                    <a:latin typeface="Cambria Math" panose="02040503050406030204" pitchFamily="18" charset="0"/>
                  </a:rPr>
                  <a:t>$\text{tr}=2$</a:t>
                </a:r>
                <a:r>
                  <a:rPr sz="2400" b="0">
                    <a:solidFill>
                      <a:srgbClr val="111827"/>
                    </a:solidFill>
                    <a:latin typeface="Arial"/>
                  </a:rPr>
                  <a:t>, </a:t>
                </a:r>
                <a:r>
                  <a:rPr lang="en-IN" sz="2400">
                    <a:solidFill>
                      <a:srgbClr val="111827"/>
                    </a:solidFill>
                    <a:latin typeface="Cambria Math" panose="02040503050406030204" pitchFamily="18" charset="0"/>
                  </a:rPr>
                  <a:t>$\det=1$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$m=-6$</a:t>
                </a:r>
                <a:r>
                  <a:rPr sz="2400" b="0">
                    <a:solidFill>
                      <a:srgbClr val="111827"/>
                    </a:solidFill>
                    <a:latin typeface="Arial"/>
                  </a:rPr>
                  <a:t>: </a:t>
                </a:r>
                <a:r>
                  <a:rPr lang="en-IN" sz="2400">
                    <a:solidFill>
                      <a:srgbClr val="111827"/>
                    </a:solidFill>
                    <a:latin typeface="Cambria Math" panose="02040503050406030204" pitchFamily="18" charset="0"/>
                  </a:rPr>
                  <a:t>$A^{-6}=I-6N=\begin{pmatrix}-5&amp;6\\-6&amp;7\end{pmatrix}$</a:t>
                </a:r>
                <a:r>
                  <a:rPr sz="2400" b="0">
                    <a:solidFill>
                      <a:srgbClr val="111827"/>
                    </a:solidFill>
                    <a:latin typeface="Arial"/>
                  </a:rPr>
                  <a:t>, as in the direct multiplication.</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2.25</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2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11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7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JEE Main Question Bank 02 Algebra 01 (Paper 05) Questions 1–20 (printed Q81–Q100) · detailed solutions</a:t>
                      </a:r>
                    </a:p>
                  </a:txBody>
                  <a:tcPr anchor="ctr" marL="137160" marR="137160">
                    <a:solidFill>
                      <a:srgbClr val="E0ECFF"/>
                    </a:solidFill>
                  </a:tcPr>
                </a:tc>
                <a:tc>
                  <a:txBody>
                    <a:bodyPr/>
                    <a:lstStyle/>
                    <a:p>
                      <a:pPr algn="ctr"/>
                      <a:r>
                        <a:rPr sz="2600" b="1">
                          <a:solidFill>
                            <a:srgbClr val="0B1F3A"/>
                          </a:solidFill>
                          <a:latin typeface="Arial"/>
                        </a:rPr>
                        <a:t>2.25</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