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  <p:sldId id="363" r:id="rId115"/>
    <p:sldId id="364" r:id="rId116"/>
    <p:sldId id="365" r:id="rId117"/>
    <p:sldId id="366" r:id="rId118"/>
    <p:sldId id="367" r:id="rId119"/>
    <p:sldId id="368" r:id="rId120"/>
    <p:sldId id="369" r:id="rId121"/>
    <p:sldId id="370" r:id="rId122"/>
    <p:sldId id="371" r:id="rId123"/>
    <p:sldId id="372" r:id="rId124"/>
    <p:sldId id="373" r:id="rId125"/>
    <p:sldId id="374" r:id="rId126"/>
    <p:sldId id="375" r:id="rId127"/>
    <p:sldId id="376" r:id="rId128"/>
    <p:sldId id="377" r:id="rId129"/>
    <p:sldId id="378" r:id="rId130"/>
    <p:sldId id="379" r:id="rId131"/>
    <p:sldId id="380" r:id="rId132"/>
    <p:sldId id="381" r:id="rId133"/>
    <p:sldId id="382" r:id="rId134"/>
    <p:sldId id="383" r:id="rId135"/>
    <p:sldId id="384" r:id="rId136"/>
    <p:sldId id="385" r:id="rId137"/>
    <p:sldId id="386" r:id="rId138"/>
    <p:sldId id="387" r:id="rId139"/>
    <p:sldId id="388" r:id="rId140"/>
    <p:sldId id="389" r:id="rId14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Relationship Id="rId112" Type="http://schemas.openxmlformats.org/officeDocument/2006/relationships/slide" Target="slides/slide105.xml"/><Relationship Id="rId113" Type="http://schemas.openxmlformats.org/officeDocument/2006/relationships/slide" Target="slides/slide106.xml"/><Relationship Id="rId114" Type="http://schemas.openxmlformats.org/officeDocument/2006/relationships/slide" Target="slides/slide107.xml"/><Relationship Id="rId115" Type="http://schemas.openxmlformats.org/officeDocument/2006/relationships/slide" Target="slides/slide108.xml"/><Relationship Id="rId116" Type="http://schemas.openxmlformats.org/officeDocument/2006/relationships/slide" Target="slides/slide109.xml"/><Relationship Id="rId117" Type="http://schemas.openxmlformats.org/officeDocument/2006/relationships/slide" Target="slides/slide110.xml"/><Relationship Id="rId118" Type="http://schemas.openxmlformats.org/officeDocument/2006/relationships/slide" Target="slides/slide111.xml"/><Relationship Id="rId119" Type="http://schemas.openxmlformats.org/officeDocument/2006/relationships/slide" Target="slides/slide112.xml"/><Relationship Id="rId120" Type="http://schemas.openxmlformats.org/officeDocument/2006/relationships/slide" Target="slides/slide113.xml"/><Relationship Id="rId121" Type="http://schemas.openxmlformats.org/officeDocument/2006/relationships/slide" Target="slides/slide114.xml"/><Relationship Id="rId122" Type="http://schemas.openxmlformats.org/officeDocument/2006/relationships/slide" Target="slides/slide115.xml"/><Relationship Id="rId123" Type="http://schemas.openxmlformats.org/officeDocument/2006/relationships/slide" Target="slides/slide116.xml"/><Relationship Id="rId124" Type="http://schemas.openxmlformats.org/officeDocument/2006/relationships/slide" Target="slides/slide117.xml"/><Relationship Id="rId125" Type="http://schemas.openxmlformats.org/officeDocument/2006/relationships/slide" Target="slides/slide118.xml"/><Relationship Id="rId126" Type="http://schemas.openxmlformats.org/officeDocument/2006/relationships/slide" Target="slides/slide119.xml"/><Relationship Id="rId127" Type="http://schemas.openxmlformats.org/officeDocument/2006/relationships/slide" Target="slides/slide120.xml"/><Relationship Id="rId128" Type="http://schemas.openxmlformats.org/officeDocument/2006/relationships/slide" Target="slides/slide121.xml"/><Relationship Id="rId129" Type="http://schemas.openxmlformats.org/officeDocument/2006/relationships/slide" Target="slides/slide122.xml"/><Relationship Id="rId130" Type="http://schemas.openxmlformats.org/officeDocument/2006/relationships/slide" Target="slides/slide123.xml"/><Relationship Id="rId131" Type="http://schemas.openxmlformats.org/officeDocument/2006/relationships/slide" Target="slides/slide124.xml"/><Relationship Id="rId132" Type="http://schemas.openxmlformats.org/officeDocument/2006/relationships/slide" Target="slides/slide125.xml"/><Relationship Id="rId133" Type="http://schemas.openxmlformats.org/officeDocument/2006/relationships/slide" Target="slides/slide126.xml"/><Relationship Id="rId134" Type="http://schemas.openxmlformats.org/officeDocument/2006/relationships/slide" Target="slides/slide127.xml"/><Relationship Id="rId135" Type="http://schemas.openxmlformats.org/officeDocument/2006/relationships/slide" Target="slides/slide128.xml"/><Relationship Id="rId136" Type="http://schemas.openxmlformats.org/officeDocument/2006/relationships/slide" Target="slides/slide129.xml"/><Relationship Id="rId137" Type="http://schemas.openxmlformats.org/officeDocument/2006/relationships/slide" Target="slides/slide130.xml"/><Relationship Id="rId138" Type="http://schemas.openxmlformats.org/officeDocument/2006/relationships/slide" Target="slides/slide131.xml"/><Relationship Id="rId139" Type="http://schemas.openxmlformats.org/officeDocument/2006/relationships/slide" Target="slides/slide132.xml"/><Relationship Id="rId140" Type="http://schemas.openxmlformats.org/officeDocument/2006/relationships/slide" Target="slides/slide133.xml"/><Relationship Id="rId141" Type="http://schemas.openxmlformats.org/officeDocument/2006/relationships/slide" Target="slides/slide13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Level</c:v>
                </c:pt>
              </c:strCache>
            </c:strRef>
          </c:tx>
          <c:dPt>
            <c:idx val="0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2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3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4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5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6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7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8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9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0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1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12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3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4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5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6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7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8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9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cat>
            <c:strRef>
              <c:f>Sheet1!$A$2:$A$21</c:f>
              <c:strCache>
                <c:ptCount val="20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  <c:pt idx="4">
                  <c:v>Q5</c:v>
                </c:pt>
                <c:pt idx="5">
                  <c:v>Q6</c:v>
                </c:pt>
                <c:pt idx="6">
                  <c:v>Q7</c:v>
                </c:pt>
                <c:pt idx="7">
                  <c:v>Q8</c:v>
                </c:pt>
                <c:pt idx="8">
                  <c:v>Q9</c:v>
                </c:pt>
                <c:pt idx="9">
                  <c:v>Q10</c:v>
                </c:pt>
                <c:pt idx="10">
                  <c:v>Q11</c:v>
                </c:pt>
                <c:pt idx="11">
                  <c:v>Q12</c:v>
                </c:pt>
                <c:pt idx="12">
                  <c:v>Q13</c:v>
                </c:pt>
                <c:pt idx="13">
                  <c:v>Q14</c:v>
                </c:pt>
                <c:pt idx="14">
                  <c:v>Q15</c:v>
                </c:pt>
                <c:pt idx="15">
                  <c:v>Q16</c:v>
                </c:pt>
                <c:pt idx="16">
                  <c:v>Q17</c:v>
                </c:pt>
                <c:pt idx="17">
                  <c:v>Q18</c:v>
                </c:pt>
                <c:pt idx="18">
                  <c:v>Q19</c:v>
                </c:pt>
                <c:pt idx="19">
                  <c:v>Q20</c:v>
                </c:pt>
              </c:strCache>
            </c: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2.0</c:v>
                </c:pt>
                <c:pt idx="1">
                  <c:v>3.0</c:v>
                </c:pt>
                <c:pt idx="2">
                  <c:v>2.0</c:v>
                </c:pt>
                <c:pt idx="3">
                  <c:v>3.0</c:v>
                </c:pt>
                <c:pt idx="4">
                  <c:v>2.0</c:v>
                </c:pt>
                <c:pt idx="5">
                  <c:v>2.0</c:v>
                </c:pt>
                <c:pt idx="6">
                  <c:v>1.0</c:v>
                </c:pt>
                <c:pt idx="7">
                  <c:v>2.0</c:v>
                </c:pt>
                <c:pt idx="8">
                  <c:v>3.0</c:v>
                </c:pt>
                <c:pt idx="9">
                  <c:v>2.0</c:v>
                </c:pt>
                <c:pt idx="10">
                  <c:v>2.0</c:v>
                </c:pt>
                <c:pt idx="11">
                  <c:v>1.0</c:v>
                </c:pt>
                <c:pt idx="12">
                  <c:v>2.0</c:v>
                </c:pt>
                <c:pt idx="13">
                  <c:v>3.0</c:v>
                </c:pt>
                <c:pt idx="14">
                  <c:v>3.0</c:v>
                </c:pt>
                <c:pt idx="15">
                  <c:v>3.0</c:v>
                </c:pt>
                <c:pt idx="16">
                  <c:v>3.0</c:v>
                </c:pt>
                <c:pt idx="17">
                  <c:v>3.0</c:v>
                </c:pt>
                <c:pt idx="18">
                  <c:v>3.0</c:v>
                </c:pt>
                <c:pt idx="19">
                  <c:v>2.0</c:v>
                </c:pt>
              </c:numCache>
            </c:numRef>
          </c:val>
        </c:ser>
        <c:dLbls>
          <c:numFmt formatCode="0.0#" sourceLinked="0"/>
          <c:txPr>
            <a:bodyPr/>
            <a:lstStyle/>
            <a:p>
              <a:pPr>
                <a:defRPr sz="2000" b="1">
                  <a:solidFill>
                    <a:srgbClr val="111827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2000" b="1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.5"/>
          <c:min val="0.0"/>
        </c:scaling>
        <c:delete val="0"/>
        <c:axPos val="l"/>
        <c:majorGridlines>
          <c:spPr>
            <a:ln>
              <a:solidFill>
                <a:srgbClr val="D1D5DB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2000"/>
                  <a:t>Level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2000">
                <a:latin typeface="Arial"/>
              </a:defRPr>
            </a:pPr>
          </a:p>
        </c:txPr>
        <c:crossAx val="-2068027336"/>
        <c:crosses val="autoZero"/>
        <c:majorUnit val="1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5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7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 writes the second point of intersection as (-2, 4). From y = 2x it is (-2, -4) (the PDF's own graph shows (-2, -4)). The integral and the answer 4/3 are unaffected.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PDF's Case (i) y&gt;0 states x(x-1)(x-2)/((x-3)(x-4)) &lt; 0 and x in (1,2) U (3,4). The sign scheme gives f &gt; 0 on (0,1) U (2,3) (that is the y&gt;0 case) and f &lt; 0 on (1,2) U (3,4) (the y&lt;0 case). The four-strip integral and the answer 32/3 are unaffected.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PDF's last antiderivative bracket for the integral of sqrt(y) carries limits 0 to 4 instead of 2 to 4, and it writes '80*sqrt2/3 - 16 = 40*sqrt2/3 - 16', which is false (80/3 is not 40/3). The correct value is A = 40*sqrt2/3 - 16 = 80*sqrt2/6 - 16, which gives alpha = 6, beta = 16 as the PDF states. Answer 22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 gets 12 from (1/2)(2)(2) + (1/2)(3)(3) + (1/2)(1)(11) by treating the curved pieces as triangles. The curved pieces are not triangles: on [0,3] the true area is 14/3 (not 9/2) and on [3,4] it is 16/3 (not 11/2); the two errors (+1/6 and -1/6) cancel, so 12 is right but only by coincidence. Replaced by the exact integrals.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/>
          <a:lstStyle>
            <a:lvl1pPr>
              <a:defRPr sz="4000">
                <a:solidFill>
                  <a:srgbClr val="FFFFFF"/>
                </a:solidFill>
              </a:defRPr>
            </a:lvl1pPr>
          </a:lstStyle>
          <a:p>
            <a:pPr algn="ctr">
              <a:defRPr sz="4000">
                <a:solidFill>
                  <a:srgbClr val="FFFFFF"/>
                </a:solidFill>
              </a:defRPr>
            </a:pPr>
            <a:r>
              <a:rPr sz="4000" b="1">
                <a:solidFill>
                  <a:srgbClr val="FFFFFF"/>
                </a:solidFill>
                <a:latin typeface="Arial"/>
              </a:rPr>
              <a:t>JEE Main Question Bank 01 Integral Calculus 09 — Paper Analysis</a:t>
            </a:r>
            <a:endParaRPr sz="4000">
              <a:solidFill>
                <a:srgbClr val="FFFFFF"/>
              </a:solidFill>
            </a:endParaRPr>
          </a:p>
          <a:p>
            <a:pPr algn="ctr"/>
            <a:r>
              <a:rPr sz="2200">
                <a:solidFill>
                  <a:srgbClr val="FFFFFF"/>
                </a:solidFill>
                <a:latin typeface="Arial"/>
              </a:rPr>
              <a:t>Questions 161–180 · detailed solutions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1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Single Correct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Q01 – Q14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Marking not printed in the paper; JEE Advanced default assumed: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+4 if only the correct option is chosen · 0 if unanswered (assumed)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44474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area of the region bounded by the curves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44474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area of the region bounded by the curves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$x(1+y^2)=1$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$2\left(\frac{\pi}{2}-\frac13\right)$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$\frac12\left(\frac{\pi}{2}-\frac13\right)$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$\frac{\pi}{4}-\frac13$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$\frac{\pi}{2}-\frac13$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280160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Area between curves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a function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280160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Area between curves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a function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Both curves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integrate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use the symmetry about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-axis.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Both curves are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$x=g(y)$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integrate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use the symmetry about the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-axis.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684776"/>
                <a:ext cx="10725912" cy="19903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parabola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Intersection: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684776"/>
                <a:ext cx="10725912" cy="19903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$C_1: x(1+y^2)=1$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$1+y^2=\frac1x$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$y^2=\frac1x-1$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parabola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Intersection: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$\frac{1-x}{x}=2x$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$2x^2=1-x$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rejected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both curves),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region is symmetric about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and lies between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(parabola)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with respect to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$2x^2+x-1=0\Rightarrow(2x-1)(x+1)=0$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rejected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both curves),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$y=\pm1$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region is symmetric about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and lies between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$x=\frac{y^2}{2}$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(parabola)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$x=\frac1{1+y^2}$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$-1\le y\le1$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with respect to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$=2\int_0^1\left[\frac1{1+y^2}-\frac{y^2}2\right]dy$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tan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$=2\left[\tan^{-1}y-\frac{y^3}6\right]_0^1$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$=2\left[\frac\pi4-\frac16\right]$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$=\frac\pi2-\frac13$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$\frac{\pi}{2}-\frac13$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Slice vertically (integrate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 and 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instead of the arctan integral.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Slice vertically (integrate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 and use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$x=\cos^2\theta$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instead of the arctan integral.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vertical extent is limited by the parabola: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limited by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ra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den>
                            </m:f>
                          </m:e>
                        </m:ra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First part: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b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$0\le x\le\frac12$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vertical extent is limited by the parabola: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$|y|\le\sqrt{2x}$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$\frac12\le x\le1$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limited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$|y|\le\sqrt{\frac1x-1}$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$=2\int_0^{1/2}\sqrt{2x}\,dx+2\int_{1/2}^1\sqrt{\frac{1-x}{x}}\,dx$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First part: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$2\sqrt2\cdot\frac23x^{3/2}\Big|_0^{1/2}=2\sqrt2\cdot\frac23\cdot\frac1{2\sqrt2}=\frac23$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Second part: 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integrand becomes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nary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Second part: 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$x=\cos^2\theta$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$\sqrt{\frac{1-x}x}=\tan\theta$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$dx=-2\sin\theta\cos\theta\,d\theta$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integrand becomes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$2\sin^2\theta\,d\theta$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$2\int_0^{\pi/4}2\sin^2\theta\,d\theta=2\int_0^{\pi/4}(1-\cos2\theta)\,d\theta=2\left[\frac\pi4-\frac12\right]=\frac\pi2-1$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$=\frac23+\frac\pi2-1=\frac\pi2-\frac13$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$\frac{\pi}{2}-\frac13$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boundaries of the form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integrate along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m:rPr>
                                    <m:nor/>
                                  </m:r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𝑟𝑖𝑔ℎ𝑡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m:rPr>
                                    <m:nor/>
                                  </m:r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𝑙𝑒𝑓𝑡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choose the axis along which each boundary is a single function.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bell-shaped 'witch of Agnesi' type curve) gives arctan integrals: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both curves are symmetric about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the area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upper half.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the curves meet at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bell curve has maximum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parabola opens to the right.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boundaries of the form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$x=g(y)$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integrate along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$=\int_c^d\left[x_{\text{right}}(y)-x_{\text{left}}(y)\right]dy$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choose the axis along which each boundary is a single function.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$x=\frac1{1+y^2}$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bell-shaped 'witch of Agnesi' type curve) gives arctan integrals: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$\int_0^1\frac{dy}{1+y^2}=\frac\pi4$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both curves are symmetric about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$y\to-y$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the area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$2\times$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upper half.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the curves meet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$\left(\frac12,\pm1\right)$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bell curve has maximum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parabola opens to the right.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area of the region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area of the region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$\{(x,y):2y\le x^2+3,\ y+|x|\le3,\ y\ge|x-1|\}$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$14$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Area of a region bounded by lines and a parabola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0725912" cy="1109472"/>
          </a:xfrm>
          <a:prstGeom prst="roundRect">
            <a:avLst>
              <a:gd name="adj" fmla="val 8000"/>
            </a:avLst>
          </a:prstGeom>
          <a:solidFill>
            <a:srgbClr val="FDE68A"/>
          </a:solidFill>
          <a:ln w="317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54864" bIns="73152"/>
          <a:lstStyle>
            <a:lvl1pPr>
              <a:defRPr sz="2400">
                <a:solidFill>
                  <a:srgbClr val="78350F"/>
                </a:solidFill>
              </a:defRPr>
            </a:lvl1pPr>
          </a:lstStyle>
          <a:p>
            <a:pPr algn="l">
              <a:defRPr sz="2400">
                <a:solidFill>
                  <a:srgbClr val="78350F"/>
                </a:solidFill>
              </a:defRPr>
            </a:pPr>
            <a:r>
              <a:rPr sz="2400" b="1">
                <a:solidFill>
                  <a:srgbClr val="78350F"/>
                </a:solidFill>
                <a:latin typeface="Arial"/>
              </a:rPr>
              <a:t>Key idea:  </a:t>
            </a:r>
            <a:r>
              <a:rPr sz="2400" b="0">
                <a:solidFill>
                  <a:srgbClr val="78350F"/>
                </a:solidFill>
                <a:latin typeface="Arial"/>
              </a:rPr>
              <a:t>The two V-shaped line pairs form a rectangle; the parabola cuts a small piece off its top corner.</a:t>
            </a:r>
            <a:endParaRPr sz="24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Boundaries: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(parabola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(lines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(lines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four lines form the rectangle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parabola passes 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Rectangle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sides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its area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part of the rectangle that is cut off is the region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between the parabola and the lines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(it violates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Boundaries: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$y=\frac{x^2+3}2$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(parabola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$x^2=2y-3$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$y=3-|x|$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(lines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$y=3\pm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$y=|x-1|$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(lines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$y=1-x$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four lines form the rectangle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$ABDE$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$A(1,0)$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$B(2,1)$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$D(0,3)$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$E(-1,2)$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parabola passes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$E(-1,2)$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$C(1,2)$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Rectangle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$ABDE$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sides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$AB=\sqrt2$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$AE=2\sqrt2$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its area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part of the rectangle that is cut off is the region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$EDC$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between the parabola and the lines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(it violates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$2y\le x^2+3$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𝑎𝑟𝑒𝑎 𝑜𝑓 𝑟𝑒𝑐𝑡𝑎𝑛𝑔𝑙𝑒 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𝑎𝑟𝑒𝑎 𝑜𝑓 𝑟𝑒𝑔𝑖𝑜𝑛 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$A=\text{area of rectangle }ABDE-\text{area of region }EDC$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$EDC=2\int_0^1\left[(3-x)-\frac{x^2+3}2\right]dx$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$A=4-2\left(3-\frac12-\frac16-\frac32\right)$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$=4-2\cdot\frac56=\frac73$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$6A=14$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14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$14$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Split the cut-off piece by the chord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into a triangle and a parabolic segment, and use Archimedes' formula.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Split the cut-off piece by the chord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$EC$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into a triangle and a parabolic segment, and use Archimedes' formula.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Chord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 splits the cut-off region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into the triangle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(above the chord) and a parabolic segment (between the chord and the parabola).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Triangle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base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height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Parabolic segment under the chord: the parabola has vertex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chord width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maximum gap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Archimedes: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Chord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 splits the cut-off region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$EDC$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into the triangle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$EDC$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(above the chord) and a parabolic segment (between the chord and the parabola).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Triangle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$EDC$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base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$EC=2$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height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$=3-2=1$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$D=(0,3)$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Parabolic segment under the chord: the parabola has vertex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$\left(0,\frac32\right)$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chord width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maximum gap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$2-\frac32=\frac12$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Archimedes: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$\frac23\cdot2\cdot\frac12=\frac23$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Cut-off 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in agreement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Rectangle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area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Cut-off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$=1+\frac23=\frac53$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in agreement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$2\cdot\frac56$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Rectangle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$ABDE$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$\sqrt2\cdot2\sqrt2=4$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$A=4-\frac53=\frac73$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$6A=14$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14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$14$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Archimedes: the area between a parabola and a chord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(horizontal width of the chord)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(maximum vertical gap between chord and parabola); equivalently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 chord at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lines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have slopes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they meet at right angles: look for squares and rectangles rotated by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use geometry rather than integration.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region below the 'roof'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(apex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region above a V with vertex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Strategy for mixed regions: area of the polygon made by the straight boundaries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one small curved piece.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Archimedes: the area between a parabola and a chord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$\frac23\times$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(horizontal width of the chord)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$\times$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(maximum vertical gap between chord and parabola); equivalently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$\frac{|a|(x_2-x_1)^3}6$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$y=ax^2+bx+c$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 chord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$x_1,x_2$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lines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$y=c\pm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$y=\pm(x-d)$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have slopes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$\pm1$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they meet at right angles: look for squares and rectangles rotated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$45^\circ$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use geometry rather than integration.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$y+|x|\le3$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region below the 'roof'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$y=3-|x|$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(apex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$y\ge|x-1|$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region above a V with vertex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Strategy for mixed regions: area of the polygon made by the straight boundaries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one small curved piece.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area enclosed between the curves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integers, then the value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area enclosed between the curves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$|y|=1-x^2$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$9\alpha=\beta\pi+\gamma$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$\beta,\gamma$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integers, then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$|\beta-\gamma|$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$15$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80383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Area between a circle and a modulus curve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Region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unit disc minus the lens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compute one quadrant and multiply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Region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$=$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unit disc minus the lens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$|y|\le1-x^2$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compute one quadrant and multiply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pair of parabolas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lens through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unit circle.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lens lies inside the circle, so the required region is the part of the disc outside the lens.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symmetry in the four quadrants,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𝑎𝑟𝑒𝑎 𝑜𝑓 𝑐𝑖𝑟𝑐𝑙𝑒 𝑖𝑛 1𝑠𝑡 𝑞𝑢𝑎𝑑𝑟𝑎𝑛𝑡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nary>
                          <m:naryPr>
                            <m:chr m:val="∫"/>
                            <m:limLoc m:val="subSup"/>
                            <m:subHide m:val="off"/>
                            <m:supHide m:val="off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</m:e>
                        </m:nary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e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p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p>
                                    </m:sSup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</m:e>
                            </m:d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b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$C_1:|y|=1-x^2$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pair of parabolas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$y=\pm(1-x^2)$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lens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$(\pm1,0)$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$(0,\pm1)$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$C_2:x^2+y^2=1$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unit circle.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lens lies inside the circle, so the required region is the part of the disc outside the lens.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symmetry in the four quadrants,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$\alpha=4\left[\text{area of circle in 1st quadrant}-\int_0^1(1-x^2)\,dx\right]$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$=4\left[\frac\pi4-\left(x-\frac{x^3}3\right)_0^1\right]=4\left[\frac\pi4-\frac23\right]$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Comparing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irrational):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$\alpha=\pi-\frac83$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$3\alpha=3\pi-8$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$9\alpha=9\pi-24$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Comparing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$9\alpha=\beta\pi+\gamma$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irrational):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$\gamma=-24$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$|\beta-\gamma|=33$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33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$33$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lens is two parabolic segments, each with area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𝑏𝑎𝑠𝑒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ℎ𝑒𝑖𝑔ℎ𝑡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(Archimedes).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lens is two parabolic segments, each with area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$\frac23\cdot\text{base}\cdot\text{height}$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(Archimedes).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Required region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disc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lens, where the lens is bounded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lens lies inside the disc: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upper half of the lens is a parabolic segment cut off by the chord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width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height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area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Required region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disc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lens, where the lens is bounded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$y=1-x^2$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$y=-(1-x^2)$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$-1\le x\le1$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lens lies inside the disc: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$y=1-x^2$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$x^2+y^2=1-x^2+x^4\le1$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$|x|\le1$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upper half of the lens is a parabolic segment cut off by the chord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$-1\le x\le1$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width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height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$\frac23\cdot2\cdot1=\frac43$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Lens 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Lens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$=2\cdot\frac43=\frac83$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$\alpha=\pi\cdot1^2-\frac83=\pi-\frac83$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$9\alpha=9\pi-24$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$\gamma=-24$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$|\beta-\gamma|=33$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33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$33$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Parabolic segment (Archimedes): 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𝑏𝑎𝑠𝑒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ℎ𝑒𝑖𝑔ℎ𝑡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segment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/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cut by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region symmetric about both axes, compute the first-quadrant piece and multiply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rational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irrational): coefficients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constants can be read off separately.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makes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integers, which tells you why the question multiplies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would already do).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Parabolic segment (Archimedes):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$=\frac23\times\text{base}\times\text{height}$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segment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$y=h(1-x^2/c^2)$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cut by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$\frac43hc$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$\frac43$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region symmetric about both axes, compute the first-quadrant piece and multiply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$a\pi+b=c\pi+d$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$a,b,c,d$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rational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irrational): coefficients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constants can be read off separately.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$\alpha=\pi-\frac83$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$9\alpha=9\pi-24$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makes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$\beta,\gamma$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integers, which tells you why the question multiplies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would already do).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14452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One of the points of intersection of the curves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the area of the region enclosed by the curves be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ℓ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14452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One of the points of intersection of the curves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$y=1+3x-2x^2$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$y=\frac1x$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$\left(\frac12,2\right)$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the area of the region enclosed by the curves be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$\frac1{24}\left(\ell\sqrt5+m\right)-n\log_e\left(1+\sqrt5\right)$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$\ell,m,n\in\mathbb 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$\ell+m+n$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$30$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653280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Area between a parabola and a hyperbola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cubic from equating the curves has roots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integrate parabola minus hyperbola between them.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cubic from equating the curves has roots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$\frac12,\frac{1+\sqrt5}2$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integrate parabola minus hyperbola between them.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Equate: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negative root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gives regions that run off to infinity (the branch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unbounded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the enclosed region lies between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the parabola above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Equate: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$1+3x-2x^2=\frac1x\Rightarrow2x^3-3x^2-x+1=0$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$(2x-1)(x^2-x-1)=0$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$x=\frac{1\pm\sqrt5}2$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negative root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$\frac{1-\sqrt5}2$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gives regions that run off to infinity (the branch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$y=\frac1x$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unbounded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$x\to0^-$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the enclosed region lies between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$x=\frac{1+\sqrt5}2$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the parabola above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$y=\frac1x$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den>
                            </m:f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bracket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$=\int_{1/2}^{(1+\sqrt5)/2}\left(1+3x-2x^2-\frac1x\right)dx$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$=\left[x+\frac{3x^2}2-\frac{2x^3}3-\ln x\right]_{1/2}^{(1+\sqrt5)/2}$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$=\frac{\sqrt5+1}2+\frac38(\sqrt5+1)^2-\frac1{12}(\sqrt5+1)^3-\ln\frac{\sqrt5+1}2-\left(\frac12+\frac38-\frac1{12}-\ln\frac12\right)$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$=\frac1{24}\left[12(\sqrt5+1)+9(\sqrt5+1)^2-2(\sqrt5+1)^3-12-9+2\right]-\ln\left(\frac{\sqrt5+1}2\cdot2\right)$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$(\sqrt5+1)^2=6+2\sqrt5$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$(\sqrt5+1)^3=8\sqrt5+16$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bracket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$12\sqrt5+12+54+18\sqrt5-16\sqrt5-32-19=14\sqrt5+15$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$=\frac1{24}\left(14\sqrt5+15\right)-\ln\left(1+\sqrt5\right)$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$\ell=14$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$\ell+m+n=30$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30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$30$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Reduce powers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using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φ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instead of expanding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Reduce powers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$\varphi=\frac{1+\sqrt5}2$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using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$\varphi^2=\varphi+1$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instead of expanding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$(\sqrt5+1)^3$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φ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φ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limits are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Antiderivative: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Polynomial part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φ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φ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Polynomial part at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$\varphi=\frac{1+\sqrt5}2$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$\varphi^2=\varphi+1$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$\varphi^3=2\varphi+1$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limits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$\varphi$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Antiderivative: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$F(x)=x+\frac{3x^2}2-\frac{2x^3}3-\ln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Polynomial part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$\varphi$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$\varphi+\frac{3(\varphi+1)}2-\frac{2(2\varphi+1)}3=\frac76\varphi+\frac56=\frac{7(1+\sqrt5)}{12}+\frac{10}{12}=\frac{17+7\sqrt5}{12}$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Polynomial part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$\frac12+\frac38-\frac1{12}=\frac{19}{24}$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Logarithmic part: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Logarithmic part: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$-\ln\varphi+\ln\frac12=-\ln(2\varphi)=-\ln\left(1+\sqrt5\right)$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$=\frac{34+14\sqrt5}{24}-\frac{19}{24}-\ln(1+\sqrt5)=\frac{14\sqrt5+15}{24}-\ln(1+\sqrt5)$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$\ell=14$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$\ell+m+n=30$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30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$30$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φ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φ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(Fibonacci numbers):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φ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Reducing powers this way avoids expanding cubes of surds.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Equating a parabola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a cubic: look for a rational root first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here, given by the point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factor the rest.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logarithmic part depends only on the ratio of the end-points, 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φ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 match a form like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ℓ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match the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part, the rational part and the logarithm part separately.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$\varphi^2=\varphi+1$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$\varphi^n=F_n\varphi+F_{n-1}$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(Fibonacci numbers):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$\varphi^3=2\varphi+1$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Reducing powers this way avoids expanding cubes of surds.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Equating a parabola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$y=\frac1x$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a cubic: look for a rational root first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here, given by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$\left(\frac12,2\right)$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factor the rest.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$\int_a^b\frac{dx}x=\ln\frac ba$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logarithmic part depends only on the ratio of the end-points,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$\ln\frac{\varphi}{1/2}=\ln(1+\sqrt5)$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 match a form like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$\frac1{24}(\ell\sqrt5+m)-n\ln(1+\sqrt5)$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match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part, the rational part and the logarithm part separately.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area enclosed between the curves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area enclosed between the curves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$y=x|x|$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$y=x-|x|$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$\frac43$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$\frac83$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Area between curves involving modulus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both curves piecewise;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they touch only at the origin, so the region lies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both curves piecewise;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they touch only at the origin, so the region lies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$x&lt;0$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curves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 only at the origin, so the enclosed region lies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points of intersection are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$y=x|x|$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$y=x-|x|$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curves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 only at the origin, so the enclosed region lies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$-x^2=2x\Rightarrow 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points of intersection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$(-2,-4)$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 have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b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sq. unit,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$(-2,0)$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 have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$-x^2\ge2x$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$-1&gt;-2$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$=\int_{-2}^0\left(-x^2-2x\right)dx$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$=\left[-\frac{x^3}3-\frac{2x^2}2\right]_{-2}^0$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$=-\left[\frac83-4\right]=\frac43$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sq. unit,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$\frac43$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region is a parabolic segment cut by a line: use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$x&lt;0$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region is a parabolic segment cut by a line: use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$\frac{|a|(x_2-x_1)^3}6$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curves meet only at the origin, so only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matters, where the curves are the parabola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meeting at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Parabola minus line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curves meet only at the origin, so only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matters, where the curves are the parabola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$y=-x^2$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meeting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$x_1=-2$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Parabola minus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$=-x^2-2x=-x(x+2)=(x+2)(-x)$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$[-2,0]$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  <m:sup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area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$\int_{x_1}^{x_2}(x-x_1)(x_2-x)\,dx=\frac{(x_2-x_1)^3}6$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area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$|a|\frac{(x_2-x_1)^3}6$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$=\frac{2^3}6=\frac43$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$\frac43$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Parabola-chord formula: the area between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 line meeting it at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Modulus functions: rewrite piecewise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find where each piece meets the other curve, and discard pieces that meet only at a point.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odd function (graph symmetric about the origin),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zero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which curve is on top on the interval with one test value before integrating.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Parabola-chord formula: the area between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$y=ax^2+bx+c$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 line meeting it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$x_1,x_2$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$\frac{|a|(x_2-x_1)^3}6$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$x_2-x_1=2$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Modulus functions: rewrite piecewise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$x|x|=\pm 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$x-|x|=2\min(x,0)$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find where each piece meets the other curve, and discard pieces that meet only at a point.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$y=x|x|$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odd function (graph symmetric about the origin),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$y=x-|x|=2\min(x,0)$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zero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which curve is on top on the interval with one test value before integrating.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area of the region enclosed by the curves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162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area of the region enclosed by the curves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$y=3x$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$2y=27-3x$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$y=3x-x\sqrt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$184$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$172$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$154$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$162$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Area bounded by two lines and a curve with fractional power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region is a triangle-like figure with the curve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as its base: split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where the two lines meet.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region is a triangle-like figure with the curve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$y=3x-x^{3/2}$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as its base: split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where the two lines meet.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ra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curve rises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a maximum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returns to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lines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curve meets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/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d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27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/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d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27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$y=3x-x^{3/2}$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$y'=3-\frac32\sqrt x=3\left(1-\frac{\sqrt x}2\right)$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$0&lt;x&lt;4$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curve rises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a maximum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returns to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lines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$y=3x$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$2y=27-3x$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$(3,9)$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curve meets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$y=3x$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$2y=27-3x$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$(9,0)$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$=\int_0^3\left[3x-\left(3x-x^{3/2}\right)\right]dx+\int_3^9\left[\frac{27-3x}2-\left(3x-x^{3/2}\right)\right]dx$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$=\int_0^3x^{3/2}dx+\frac12\int_3^9\left(27-9x+2x^{3/2}\right)dx$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den>
                            </m:f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27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den>
                            </m:f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b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729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 cancel: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486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729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972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972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$=\left[\frac25x^{5/2}\right]_0^3+\frac12\left[27x-\frac{9x^2}2+\frac45x^{5/2}\right]_3^9$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$=\frac25\times9\sqrt3+\frac12\left[243-\frac{729}2+\frac45\times243-81+\frac{81}2-\frac45\times9\sqrt3\right]$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 cancel: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$\frac25\cdot9\sqrt3-\frac12\cdot\frac45\cdot9\sqrt3=0$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$=\frac12\left[\frac{486-729-81}2+\frac{972}5\right]=\frac12\left[-162+\frac{972}5\right]=\frac{81}5$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$10A=162$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162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$162$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(triangle under the two lines)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(area under the curve), using the curve as the lower boundary.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Area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$=$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(triangle under the two lines)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$-$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(area under the curve), using the curve as the lower boundary.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region is bounded above by the two lines (meeting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below by the curve, between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area under the two lines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triangle with vertices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curve is above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 area under it is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den>
                            </m:f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486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region is bounded above by the two lines (meeting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$(3,9)$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below by the curve, between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$O(0,0)$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$(9,0)$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area under the two lines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triangle with vertices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$(0,0),(3,9),(9,0)$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$\frac12\cdot9\cdot9=\frac{81}2$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curve is above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$[0,9]$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 area under 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$\int_0^9\left(3x-x^{3/2}\right)dx=\left[\frac{3x^2}2-\frac25x^{5/2}\right]_0^9=\frac{243}2-\frac{486}5=\frac{243}{10}$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405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$A=\frac{81}2-\frac{243}{10}=\frac{405-243}{10}=\frac{81}5$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$10A=162$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162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$162$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under the max-height polygon minus area under a curve is often shorter than splitting at the point where the upper boundaries change: here triangle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minus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meets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has its maximum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write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keep exact radicals;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 frequently cancel.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Two lines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under the max-height polygon minus area under a curve is often shorter than splitting at the point where the upper boundaries change: here triangle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$\frac{81}2$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minus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$\frac{243}{10}$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$y=ax-x^{3/2}$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meets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has its maximum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$x=\frac{4a^2}9$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$\int_0^bx^{3/2}dx=\frac25b^{5/2}$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write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$x\sqrt x=x^{3/2}$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keep exact radicals;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 frequently cancel.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Two lines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$y=mx$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$2y=c-mx$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$mx=\frac{c-mx}2$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 c{3m}$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008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area of the region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: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the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008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area of the region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$\left\{(x,y):\frac a{x^2}\le y\le\frac1x,\ 1\le x\le2,\ 0&lt;a&lt;1\right\}$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$(\log_e2)-\frac17$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$7a-3$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909567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Area between curves with a parameter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Integrate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over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area is linear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equate to the given value.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Integrate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$\frac1x-\frac a{x^2}$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over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$[1,2]$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area is linear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equate to the given value.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upper curve.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Required 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num>
                              <m:den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$1\le x\le2$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$0&lt;a&lt;1$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$\frac1x-\frac a{x^2}=\frac{x-a}{x^2}&gt;0$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$y=\frac1x$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upper curve.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Required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$=\int_1^2\left(\frac1x-\frac a{x^2}\right)dx$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$=\left[\ln x+\frac ax\right]_1^2$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$=\ln2+\frac a2-a$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Given 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this gives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Given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$=\ln2-\frac17$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$\ln2+\frac a2-a=\ln2-\frac17$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a2-a=-\frac a2$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this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a2=\frac17$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$a=\frac27$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$7a-3=-1$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$-1$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two boundaries differ by a term linear in a parameter, the area is linear in that parameter: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here, so equating to a given value gives a linear equation.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Before integrating, check which curve is on top over the whole interval: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intersection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two curves lies outside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because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no splitting is needed.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$\int_p^q\frac{c}{x^2}dx=c\left(\frac1p-\frac1q\right)$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$\int_1^2\frac{dx}{x^2}=\frac12$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two boundaries differ by a term linear in a parameter, the area is linear in that parameter: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$A(a)=\ln2-\frac a2$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here, so equating to a given value gives a linear equation.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Before integrating, check which curve is on top over the whole interval: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$\frac{x-a}{x^2}&gt;0$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$x\ge1&gt;a$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intersection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$(a,\frac1a)$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two curves lies outside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$[1,2]$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because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$0&lt;a&lt;1$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no splitting is needed.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44474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parabola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divides the area of the circle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two parts. The area of the smaller part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rad>
                          </m:den>
                        </m:f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rad>
                          </m:den>
                        </m:f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rad>
                          </m:den>
                        </m:f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rad>
                          </m:den>
                        </m:f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44474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parabola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$y^2=4x$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divides the area of the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two parts. The area of the smaller part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$\frac13+\sqrt5\sin^{-1}\left(\frac2{\sqrt5}\right)$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$\frac13+5\sin^{-1}\left(\frac2{\sqrt5}\right)$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$\frac23+5\sin^{-1}\left(\frac2{\sqrt5}\right)$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$\frac23+\sqrt5\sin^{-1}\left(\frac2{\sqrt5}\right)$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Area of the part of a circle cut off by a parabola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Intersect to get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integrate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between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Intersect to get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$(1,\pm2)$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integrate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between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$x=\frac{y^2}4$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$x=\sqrt{5-y^2}$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794504"/>
                <a:ext cx="10725912" cy="1880615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Intersection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rejected 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794504"/>
                <a:ext cx="10725912" cy="1880615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Intersection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$y^2=4x$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$x^2+4x-5=0$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rejected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$y=\pm2$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$A(1,2)$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$B(1,-2)$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smaller part is the portion of the disc lying inside the parabola, between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of smaller region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(symmetry about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num>
                              <m:den>
                                <m:rad>
                                  <m:radPr>
                                    <m:degHide m:val="on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e>
                                </m:rad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12</m:t>
                                </m:r>
                              </m:den>
                            </m:f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bracket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rad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smaller part is the portion of the disc lying inside the parabola, between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$x=\frac{y^2}4$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$x=\sqrt{5-y^2}$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of smaller region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$=\int_{-2}^2\left(\sqrt{5-y^2}-\frac{y^2}4\right)dy$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$=2\int_0^2\left(\sqrt{5-y^2}-\frac{y^2}4\right)dy$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(symmetry about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$=2\left[\frac y2\sqrt{5-y^2}+\frac52\sin^{-1}\frac y{\sqrt5}-\frac1{12}y^3\right]_0^2$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bracket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$1+\frac52\sin^{-1}\frac2{\sqrt5}-\frac23$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$=2\left[1+\frac52\sin^{-1}\frac2{\sqrt5}-\frac23\right]$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6.20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less than half the disc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7.85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$=\frac23+5\sin^{-1}\frac2{\sqrt5}\approx6.20$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less than half the disc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$\frac{5\pi}2\approx7.85$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800" i="1">
                                    <a:solidFill>
                                      <a:srgbClr val="15803D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800" i="1">
                                    <a:solidFill>
                                      <a:srgbClr val="15803D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rad>
                          </m:den>
                        </m:f>
                      </m:e>
                    </m: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$\frac23+5\sin^{-1}\left(\frac2{\sqrt5}\right)$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Cut the region by the chord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 into a circular segment and a parabolic segment.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Cut the region by the chord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 into a circular segment and a parabolic segment.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chord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splits the smaller part into a circular segment (right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a parabolic segment (between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Circular segment: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distance of the chord from the centre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half-angle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Segment 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chord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$y\in[-2,2]$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splits the smaller part into a circular segment (right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a parabolic segment (between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$x=\frac{y^2}4$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Circular segment: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$r=\sqrt5$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distance of the chord from the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half-angle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$\cos\theta=\frac1{\sqrt5}$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$\sin\theta=\frac2{\sqrt5}$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$\sin2\theta=\frac45$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Segment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$=\frac{r^2}2(2\theta-\sin2\theta)=\frac52\left(2\theta-\frac45\right)=5\theta-2$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Parabolic segment cut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width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depth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Archimedes: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Smaller part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Parabolic segment cut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width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depth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Archimedes: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$\frac23\cdot4\cdot1=\frac83$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Smaller part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$=5\theta-2+\frac83=5\theta+\frac23$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$\theta=\sin^{-1}\frac2{\sqrt5}$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$=\frac23+5\sin^{-1}\frac2{\sqrt5}$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800" i="1">
                                    <a:solidFill>
                                      <a:srgbClr val="15803D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800" i="1">
                                    <a:solidFill>
                                      <a:srgbClr val="15803D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rad>
                          </m:den>
                        </m:f>
                      </m:e>
                    </m: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$\frac23+5\sin^{-1}\left(\frac2{\sqrt5}\right)$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Circular segment cut by a chord at distance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centre of a circle of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Parabolic segment cut by a double ordinate (chord perpendicular to the axis):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𝑏𝑎𝑠𝑒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𝑑𝑒𝑝𝑡ℎ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 decide 'smaller part', compare with half the disc,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7.85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before committing to a region.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Circular segment cut by a chord at distance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centre of a circle of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$=r^2\cos^{-1}\frac dr-d\sqrt{r^2-d^2}$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$5\cos^{-1}\frac1{\sqrt5}-2$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Parabolic segment cut by a double ordinate (chord perpendicular to the axis):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$\frac23\times\text{base}\times\text{depth}$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$\int\sqrt{r^2-y^2}\,dy=\frac y2\sqrt{r^2-y^2}+\frac{r^2}2\sin^{-1}\frac yr$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 decide 'smaller part', compare with half the disc,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$\frac{\pi r^2}2=\frac{5\pi}2\approx7.85$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before committing to a region.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008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area of the region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: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 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&gt;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≠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008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area of the region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$\left\{(x,y):y^2\le4x,\ x&lt;4,\ \frac{xy(x-1)(x-2)}{(x-3)(x-4)}&gt;0,\ x\ne3\right\}$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$\frac{32}3$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$\frac{16}3$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$\frac{64}3$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$\frac83$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909567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Area under a parabola, Sign scheme (wavy curve) of a rational inequality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For each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sign condition keeps exactly one half of the strip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width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For each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sign condition keeps exactly one half of the strip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$|y|\le2\sqrt 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width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$2\sqrt 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forces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also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condition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Wavy curve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(i)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need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region is the upper half-strip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over these intervals.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$y^2\le4x$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$x&lt;4$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forces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$0\le x&lt;4$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also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$x\ne3$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$f(x)=\frac{x(x-1)(x-2)}{(x-3)(x-4)}$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condition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$y\,f(x)&gt;0$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Wavy curve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$0&lt;x&lt;4$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$(0,1)\cup(2,3)$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$(1,2)\cup(3,4)$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(i)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need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$x\in(0,1)\cup(2,3)$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region is the upper half-strip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$0&lt;y\le2\sqrt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over these intervals.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(ii)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need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region is the lower half-strip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over these intervals.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every interval the half-strip has height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taking each piece as a positive area: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sup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ra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</m:sup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ra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sup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ra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42</m:t>
                        </m:r>
                      </m:sup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ra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(ii)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need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$x\in(1,2)\cup(3,4)$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region is the lower half-strip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$-2\sqrt x\le y&lt;0$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over these intervals.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every interval the half-strip has height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$2\sqrt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taking each piece as a positive area: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$=\int_0^12\sqrt x\,dx+\int_1^22\sqrt x\,dx+\int_2^32\sqrt x\,dx+\int_3^42\sqrt x\,dx$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b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$=\frac43\left[x^{3/2}\right]_0^1+\frac43\left[x^{3/2}\right]_1^2+\frac43\left[x^{3/2}\right]_2^3+\frac43\left[x^{3/2}\right]_3^4$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$=\frac43\left(1+2\sqrt2-1+3\sqrt3-2\sqrt2+8-3\sqrt3\right)$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$=\frac43\times8=\frac{32}3$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$\frac{32}3$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sign condition picks exactly one of the two half-strips at every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region has half the area of the full parabolic region.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sign condition picks exactly one of the two half-strips at every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region has half the area of the full parabolic region.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non-zero,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holds for exactly one of the half-strips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at each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allowed vertical length is exactly half of the full chord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points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have zero area.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the area is half of the area of the full region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$x\in(0,4)$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$x\notin\{1,2,3\}$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$f(x)=\frac{x(x-1)(x-2)}{(x-3)(x-4)}$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non-zero,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$y\,f(x)&gt;0$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holds for exactly one of the half-strips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$0&lt;y\le2\sqrt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$-2\sqrt x\le y&lt;0$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at each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allowed vertical length is exactly half of the full chord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$-2\sqrt x\le y\le2\sqrt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points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$x\in\{1,2,3\}$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have zero area.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the area is half of the area of the full region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$\{y^2\le4x,\ x&lt;4\}$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Full region: parabolic segment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cut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width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depth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Archimedes: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Required 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Full region: parabolic segment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$y^2=4x$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cut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width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depth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Archimedes: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$\frac23\cdot8\cdot4=\frac{64}3$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Required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$=\frac12\cdot\frac{64}3=\frac{32}3$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$\frac{32}3$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Wavy-curve (sign-scheme) rule: mark zeros and poles on a line and alternate signs, starting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the right of the largest one (for a positive leading coefficient).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an inequality says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for each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keeps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exactly one of the two half-planes, so the area is half of the region without the condition (whenever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almost everywhere).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Parabolic segment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cut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Lines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(zero set) have zero area and can be ignored.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Wavy-curve (sign-scheme) rule: mark zeros and poles on a line and alternate signs, starting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$+$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the right of the largest one (for a positive leading coefficient).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an inequality says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$y\cdot f(x)&gt;0$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for each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keeps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exactly one of the two half-planes, so the area is half of the region without the condition (whenever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almost everywhere).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Parabolic segment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$y^2=4ax$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cut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$\frac23\cdot2\sqrt{4ah}\cdot 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$\frac{64}3$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Lines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(zero set) have zero area and can be ignored.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area enclosed by the curves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area enclosed by the curves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$xy+4y=16$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$28-30\log_e2$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$32-30\log_e2$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$30-28\log_e2$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$30-32\log_e2$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80383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Area between a hyperbola and a line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Rewrite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they meet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line is on top.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Rewrite as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$y=\frac{16}{x+4}$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$y=6-x$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they meet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$x=-2,4$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line is on top.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Solving: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Both points lie on the branch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hyperbola, and between them the line is above the hyperbola (at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$xy+4y=16\Rightarrow y(x+4)=16$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$x+y=6\Rightarrow y=6-x$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Solving: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$(6-x)(x+4)=16$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$6x-x^2+24-4x=16$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$x^2-2x-8=0\Rightarrow x=-2,\ 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Both points lie on the branch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hyperbola, and between them the line is above the hyperbola (at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$6&gt;4$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16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16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ln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</m:d>
                      </m:e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b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$=\int_{-2}^4\left(6-x-\frac{16}{x+4}\right)dx$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$=\left[6x-\frac{x^2}2-16\ln|x+4|\right]_{-2}^4$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$=\left(24-8-16\ln8\right)-\left(-12-2-16\ln2\right)$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$=30-32\ln2$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30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32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$30-32\log_e2$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Geometry plus a standard log integral: trapezoid under the line minus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ln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(ratio) under the hyperbola.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Geometry plus a standard log integral: trapezoid under the line minus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$c\ln$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(ratio) under the hyperbola.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curves meet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on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heights there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under the line over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trapezoid with parallel sides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width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curves meet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on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$y=6-x$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heights there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under the line over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$[-2,4]$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trapezoid with parallel sides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width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$\frac12(8+2)(6)=30$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under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over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Required 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under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$y=\frac{16}{x+4}$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over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$[-2,4]$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$x+4&gt;0$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$16\ln\frac{4+4}{-2+4}=16\ln4=32\ln2$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Required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$=30-32\ln2$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30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32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$30-32\log_e2$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den>
                        </m:f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valid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keeps one sign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Shifting the origin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turns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into the rectangular hyperbola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intersection with a line reduces to a quadratic.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line-and-hyperbola regions: trapezoid under the line minus the log integral is quicker than integrating the difference.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the logarithm: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net log term of the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$\int_p^q\frac{c}{x+k}dx=c\ln\frac{q+k}{p+k}$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valid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keeps one sign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$[p,q]$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Shifting the origin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$(-4,0)$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turns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$y(x+4)=16$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into the rectangular hyperbola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$XY=16$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intersection with a line reduces to a quadratic.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line-and-hyperbola regions: trapezoid under the line minus the log integral is quicker than integrating the difference.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the logarithm: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$16\ln8-16\ln2=16\ln4=32\ln2$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net log term of the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9192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of the region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9192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of the region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$\{(x,y):x^2+(y-2)^2\le4,\ x^2\ge2y\}$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$2\pi-\frac{16}3$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$\pi+\frac83$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$\pi-\frac83$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$2\pi+\frac{16}3$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427984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Area between a circle and a parabola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region is two symmetric pieces, each a quarter disc minus the area under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region is two symmetric pieces, each a quarter disc minus the area under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$x=\sqrt{2y}$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disc with centre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part outside the parabola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Intersection: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points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region consists of two symmetric pieces, to the left and right of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the right piece,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runs from the parabola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the circle;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quarter of the disc, area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$x^2+(y-2)^2\le4$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disc with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$x^2\ge2y$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part outside the parabola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$x^2=2y$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Intersection: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$2y+(y-2)^2=4\Rightarrow y^2-2y=0$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$y=0,2$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points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$(\pm2,2)$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region consists of two symmetric pieces, to the left and right of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the right piece,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runs from the parabola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$x=\sqrt{2y}$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the circle;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$\int_0^2\sqrt{4-(y-2)^2}\,dy$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quarter of the disc,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nary>
                          <m:naryPr>
                            <m:chr m:val="∫"/>
                            <m:limLoc m:val="subSup"/>
                            <m:subHide m:val="off"/>
                            <m:supHide m:val="off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  <m:e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e>
                        </m:nary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rad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sSub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$=2\left[\frac14\pi(2)^2-\int_0^2\sqrt2\sqrt y\,dy\right]$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$=2\left[\pi-\sqrt2\cdot\frac{y^{3/2}}{3/2}\Big|_0^2\right]$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$=2\left[\pi-\frac{2\sqrt2}3\cdot2\sqrt2\right]$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$=2\left[\pi-\frac83\right]=2\pi-\frac{16}3$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$2\pi-\frac{16}3$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725912" cy="1109472"/>
          </a:xfrm>
          <a:prstGeom prst="roundRect">
            <a:avLst>
              <a:gd name="adj" fmla="val 8000"/>
            </a:avLst>
          </a:prstGeom>
          <a:solidFill>
            <a:srgbClr val="FDE68A"/>
          </a:solidFill>
          <a:ln w="317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54864" bIns="73152"/>
          <a:lstStyle>
            <a:lvl1pPr>
              <a:defRPr sz="2400">
                <a:solidFill>
                  <a:srgbClr val="78350F"/>
                </a:solidFill>
              </a:defRPr>
            </a:lvl1pPr>
          </a:lstStyle>
          <a:p>
            <a:pPr algn="l">
              <a:defRPr sz="2400">
                <a:solidFill>
                  <a:srgbClr val="78350F"/>
                </a:solidFill>
              </a:defRPr>
            </a:pPr>
            <a:r>
              <a:rPr sz="2400" b="1">
                <a:solidFill>
                  <a:srgbClr val="78350F"/>
                </a:solidFill>
                <a:latin typeface="Arial"/>
              </a:rPr>
              <a:t>Idea:  </a:t>
            </a:r>
            <a:r>
              <a:rPr sz="2400" b="0">
                <a:solidFill>
                  <a:srgbClr val="78350F"/>
                </a:solidFill>
                <a:latin typeface="Arial"/>
              </a:rPr>
              <a:t>Subtract from the whole disc the part of the disc inside the parabola, slicing vertically.</a:t>
            </a:r>
            <a:endParaRPr sz="24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Required region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disc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(part of the disc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part of the disc inside the parabola: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runs from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up to the top of the circle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Its 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middle term is a semicircle of area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Required region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disc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(part of the disc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$x^2\le2y$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part of the disc inside the parabola: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$-2\le x\le2$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runs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$\frac{x^2}2$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up to the top of the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$2+\sqrt{4-x^2}$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Its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$=\int_{-2}^2\left[2+\sqrt{4-x^2}-\frac{x^2}2\right]dx=8+2\pi-\frac12\cdot\frac{16}3=2\pi+\frac{16}3$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middle term is a semicircle of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Disc 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Required 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16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Disc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$=\pi\cdot2^2=4\pi$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Required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$=4\pi-\left(2\pi+\frac{16}3\right)=2\pi-\frac{16}3$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$2\pi-\frac{16}3$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Recognise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over a full or half range as a quarter or half disc: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</m:e>
                    </m:nary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'Inside the circle, outside the parabola'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disc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(disc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inside of the parabola); choose whichever piece is simpler.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Substituting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into the circle equation turns the intersection into a quadratic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e>
                    </m:nary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Recognise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$\int\sqrt{r^2-u^2}\,du$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over a full or half range as a quarter or half disc: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$\int_0^r\sqrt{r^2-u^2}\,du=\frac{\pi r^2}4$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$\int_{-r}^r=\frac{\pi r^2}2$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'Inside the circle, outside the parabola'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disc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(disc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$\cap$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inside of the parabola); choose whichever piece is simpler.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$x^2=2y$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into the circle equation turns the intersection into a quadratic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$y^2-2y=0$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$\int_0^2\sqrt2\sqrt y\,dy=\sqrt2\cdot\frac23\cdot2^{3/2}=\frac83$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2910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area of the region enclosed by the curve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its tangent at the 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2910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area of the region enclosed by the curve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its tangent at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$(-1,-1)$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$\frac{23}4$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$\frac{19}4$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$\frac{27}4$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$\frac{31}4$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799839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Area between a cubic and its tangent, Equation of a tangent to a curve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tangent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double root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third intersection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tangent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$x=-1$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double root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$x^3-3x-2$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third intersection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slope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Tangent: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Solve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double root (the point of tangency); with roots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sum of roots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$y=x^3\Rightarrow\frac{dy}{dx}=3x^2$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$(-1,-1)$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slope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$y+1=3(x+1)$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$y=3x+2$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Solve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$x^3-3x-2=0$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double root (the point of tangency); with roots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$-1,-1,\alpha$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sum of roots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$-2+\alpha=0$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tangent meets the curve again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line is above the cubic (at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tangent meets the curve again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$Q(2,8)$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$(-1,2)$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line is above the cubic (at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$=\int_{-1}^2\left(3x+2-x^3\right)dx$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$=\frac32(4-1)+2(2+1)-\frac14(16-1)$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$=\frac92+6-\frac{15}4=\frac{18+24-15}4=\frac{27}4$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$\frac{27}4$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Factor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shift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get a Beta-type integral.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Factor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$x^3-3x-2=(x+1)^2(x-2)$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shift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$t=x+1$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get a Beta-type integral.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tangent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line is above the curve and 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tangent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$(-1,-1)$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$y=3x+2$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$x^3-(3x+2)=x^3-3x-2=(x+1)^2(x-2)$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$[-1,2]$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line is above the curve and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$=\int_{-1}^2(x+1)^2(2-x)\,dx$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b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$t=x+1$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$2-x=3-t$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$=\int_0^3t^2(3-t)\,dt=\left[t^3-\frac{t^4}4\right]_0^3$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$=27-\frac{81}4=\frac{27}4$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$\frac{27}4$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Cubic and its tangent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difference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𝑡𝑎𝑛𝑔𝑒𝑛𝑡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 double root at the point of tangency, and the area between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tangent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meets the curve again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enclosed area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Third root from the sum of roots: for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roots add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sum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Quick check: in the answer options only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Cubic and its tangent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difference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$p(x)-\text{tangent}=k(x-a)^2(x-b)$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 double root at the point of tangency, and the area between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$\frac{|k|(b-a)^4}{12}$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$\int_a^b(x-a)^2(b-x)\,dx=\frac{(b-a)^4}{12}$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tangent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meets the curve again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$x=-2a$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enclosed area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$\frac{27a^4}4$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$\frac{27}4$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Third root from the sum of roots: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$x^3+px^2+\dots=0$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roots add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$x^3-3x-2$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Quick check: in the answer options only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$\frac{27}4$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$\frac{27a^4}4$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$a=\pm1$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area of the region enclosed by the curve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max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area of the region enclosed by the curve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$f(x)=\max\{\sin x,\cos x\}$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$-\pi\le x\le\pi$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$2(\sqrt2+1)$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$2\sqrt2(\sqrt2+1)$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$4\sqrt2$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80383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Area under the maximum of trigonometric functions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split there and at the zeros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add the absolute values.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 x=\cos 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$x=\frac\pi4,-\frac{3\pi}4$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split there and at the zeros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add the absolute values.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there,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below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on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above it on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nary>
                          <m:naryPr>
                            <m:chr m:val="∫"/>
                            <m:limLoc m:val="subSup"/>
                            <m:subHide m:val="off"/>
                            <m:supHide m:val="off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sub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</m:nary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nary>
                          <m:naryPr>
                            <m:chr m:val="∫"/>
                            <m:limLoc m:val="subSup"/>
                            <m:subHide m:val="off"/>
                            <m:supHide m:val="off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</m:nary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$[-\pi,\pi]$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x=\cos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$x=-\frac{3\pi}4$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x&gt;\sin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$\left(-\frac{3\pi}4,\frac\pi4\right)$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$f=\cos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there,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$f=\sin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$\left[-\pi,-\frac{3\pi}4\right]$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$\left[\frac\pi4,\pi\right]$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below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$\left[-\pi,-\frac\pi2\right]$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above it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$\left[-\frac\pi2,\pi\right]$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$=\left|\int_{-\pi}^{-3\pi/4}\sin x\,dx\right|+\left|\int_{-3\pi/4}^{-\pi/2}\cos x\,dx\right|+\int_{-\pi/2}^{\pi/4}\cos x\,dx+\int_{\pi/4}^{\pi}\sin x\,dx$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nary>
                          <m:naryPr>
                            <m:chr m:val="∫"/>
                            <m:limLoc m:val="subSup"/>
                            <m:subHide m:val="off"/>
                            <m:supHide m:val="off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sub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</m:nary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nary>
                          <m:naryPr>
                            <m:chr m:val="∫"/>
                            <m:limLoc m:val="subSup"/>
                            <m:subHide m:val="off"/>
                            <m:supHide m:val="off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</m:nary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$\left|\int_{-\pi}^{-3\pi/4}\sin x\,dx\right|=1-\frac1{\sqrt2}$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$\left|\int_{-3\pi/4}^{-\pi/2}\cos x\,dx\right|=1-\frac1{\sqrt2}$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$\int_{-\pi/2}^{\pi/4}\cos x\,dx=1+\frac1{\sqrt2}$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$\int_{\pi/4}^{\pi}\sin x\,dx=1+\frac1{\sqrt2}$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$4$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max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symmetric about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two half-ranges can be doubled.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$\max\{\sin,\cos\}$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symmetric about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$x=\frac\pi4$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$x=-\frac{3\pi}4$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two half-ranges can be doubled.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reflection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swaps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graph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symmetric about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also swaps them (since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symmetric about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extends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both sides of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its area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reflection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$x\to\frac\pi2-x$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swaps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graph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symmetric about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$x\to-\frac{3\pi}2-x$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also swaps them (since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$\sin\left(-\frac{3\pi}2-x\right)=\cos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symmetric about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$x=-\frac{3\pi}4$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$\left[-\frac\pi2,\pi\right]$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extends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$\frac{3\pi}4$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both sides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its area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$2\int_{\pi/4}^{\pi}\sin x\,dx=2\left(1+\frac1{\sqrt2}\right)=2+\sqrt2$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extends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both sides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its area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$\left[-\pi,-\frac\pi2\right]$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extends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both sides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$-\frac{3\pi}4$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its area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$2\int_{-3\pi/4}^{-\pi/2}|\cos x|\,dx=2\left(1-\frac1{\sqrt2}\right)=2-\sqrt2$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$=(2+\sqrt2)+(2-\sqrt2)=4$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$4$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max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Reflections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swap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max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min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symmetric about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halves the work.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max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over a full period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max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min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enclose the same area with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(used in the last question).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Split the integral at the zeros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well as at the crossings of the two curves, and take absolute values piece by piece.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x=\cos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$x=\frac\pi4+k\pi$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$\max\{\sin x,\cos x\}=\frac{\sin x+\cos x}2+\frac{|\sin x-\cos x|}2$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Reflections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$x\to\frac\pi2-x$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$x\to-\frac{3\pi}2-x$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swap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$\min$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symmetric about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$x=\frac\pi4+k\pi$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halves the work.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$\min\{\sin(x+\pi),\cos(x+\pi)\}=-\max\{\sin x,\cos x\}$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over a full period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$\min$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enclose the same area with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(used in the last question).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Split the integral at the zeros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well as at the crossings of the two curves, and take absolute values piece by piece.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14452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One of the points of intersection of the curves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the area of the region enclosed by the curves be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ℓ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14452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One of the points of intersection of the curves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$y=1+3x-2x^2$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$y=\frac1x$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$\left(\frac12,2\right)$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the area of the region enclosed by the curves be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$\frac1{24}\left(\ell\sqrt5+m\right)-n\log_e\left(1+\sqrt5\right)$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$\ell,m,n\in\mathbb 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$\ell+m+n$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$30$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653280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Area between a parabola and a hyperbola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cubic from equating the curves has roots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integrate parabola minus hyperbola between them.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cubic from equating the curves has roots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$\frac12,\frac{1+\sqrt5}2$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integrate parabola minus hyperbola between them.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Equate: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negative root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gives regions that run off to infinity (the branch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unbounded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the enclosed region lies between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the parabola above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Equate: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$1+3x-2x^2=\frac1x\Rightarrow2x^3-3x^2-x+1=0$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$(2x-1)(x^2-x-1)=0$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$x=\frac{1\pm\sqrt5}2$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negative root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$\frac{1-\sqrt5}2$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gives regions that run off to infinity (the branch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$y=\frac1x$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unbounded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$x\to0^-$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the enclosed region lies between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$x=\frac{1+\sqrt5}2$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the parabola above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$y=\frac1x$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den>
                            </m:f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bracket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$=\int_{1/2}^{(1+\sqrt5)/2}\left(1+3x-2x^2-\frac1x\right)dx$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$=\left[x+\frac{3x^2}2-\frac{2x^3}3-\ln x\right]_{1/2}^{(1+\sqrt5)/2}$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$=\frac{\sqrt5+1}2+\frac38(\sqrt5+1)^2-\frac1{12}(\sqrt5+1)^3-\ln\frac{\sqrt5+1}2-\left(\frac12+\frac38-\frac1{12}-\ln\frac12\right)$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$=\frac1{24}\left[12(\sqrt5+1)+9(\sqrt5+1)^2-2(\sqrt5+1)^3-12-9+2\right]-\ln\left(\frac{\sqrt5+1}2\cdot2\right)$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$(\sqrt5+1)^2=6+2\sqrt5$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$(\sqrt5+1)^3=8\sqrt5+16$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bracket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$12\sqrt5+12+54+18\sqrt5-16\sqrt5-32-19=14\sqrt5+15$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$=\frac1{24}\left(14\sqrt5+15\right)-\ln\left(1+\sqrt5\right)$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$\ell=14$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$\ell+m+n=30$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30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$30$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Simpson's rule is exact for the quadratic part,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the logarithm directly.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Simpson's rule is exact for the quadratic part,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$\int\frac{dx}x$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the logarithm directly.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φ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φ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Second integral: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φ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First integral by Simpson's rule (exact for polynomials of degree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$\varphi=\frac{1+\sqrt5}2$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$g(x)=1+3x-2x^2$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$=\int_{1/2}^{\varphi}g(x)\,dx-\int_{1/2}^{\varphi}\frac{dx}x$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Second integral: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$\ln\frac{\varphi}{1/2}=\ln(2\varphi)=\ln\left(1+\sqrt5\right)$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First integral by Simpson's rule (exact for polynomials of degree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$\frac{b-a}6\left[g(a)+4g\left(\frac{a+b}2\right)+g(b)\right]$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$b=\varphi$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φ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curves meet there); the midpoint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First integral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$g(a)=2$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$g(b)=\frac1\varphi=\frac{\sqrt5-1}2$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curves meet there); the midpoint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$m=\frac{2+\sqrt5}4$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$g(m)=\frac{11+2\sqrt5}8$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$g(a)+4g(m)+g(b)=2+\frac{11+2\sqrt5}2+\frac{\sqrt5-1}2=\frac{14+3\sqrt5}2$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$\frac{b-a}6=\frac{\sqrt5}{12}$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First integral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$=\frac{\sqrt5}{12}\cdot\frac{14+3\sqrt5}2=\frac{14\sqrt5+15}{24}$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$=\frac1{24}\left(14\sqrt5+15\right)-\ln(1+\sqrt5)$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$\ell+m+n=14+15+1=30$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30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$30$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Simpson's rule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exact for every polynomial of degree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it replaces antiderivatives by three function values.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an intersection point the two curves have the same height: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φ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using the other curve's value avoids substituting a surd into a quadratic.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Simpson's rule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$\int_a^bP=\frac{b-a}6\left[P(a)+4P\left(\frac{a+b}2\right)+P(b)\right]$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exact for every polynomial of degree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it replaces antiderivatives by three function values.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an intersection point the two curves have the same height: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$g(\varphi)=\frac1\varphi=\varphi-1$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using the other curve's value avoids substituting a surd into a quadratic.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logarithmic part depends only on the ratio of the end-points.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Only consecutive roots of the intersection equation enclose a bounded region; a root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cannot, because that branch is unbounded near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$\int_a^b\frac{dx}x=\ln\frac ba$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logarithmic part depends only on the ratio of the end-points.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Only consecutive roots of the intersection equation enclose a bounded region; a root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$y=\frac1x$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cannot, because that branch is unbounded near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$x=0^-$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2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Numerical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Q15 – Q20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Marking not printed in the paper; JEE Advanced default assumed: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+4 for the correct numerical value · 0 if unanswered (assumed)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4599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area of the region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80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bi"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4599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area of the region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$\{(x,y):|4-x^2|\le y\le x^2,\ y\le4,\ x\ge0\}$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$\left(\frac{80\sqrt2}{\alpha}-\beta\right)$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$\alpha,\beta\in\mathbf 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54755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Area of a region bounded by parabolas with modulus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means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integrate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the lower boundary switching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$|4-x^2|\le 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means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$4-y\le x^2\le4+y$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integrate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the lower boundary switching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conditions are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runs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max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ra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curves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cross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ra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ra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ra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sSup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/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sSup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/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/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b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conditions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$|4-x^2|\le y\le 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$y\le4$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$|4-x^2|\le y\iff4-y\le x^2\le4+y$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runs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$\max\left(\sqrt y,\sqrt{4-y}\right)$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$\sqrt{4+y}$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$0\le y\le4$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$\sqrt{4-y}\ge\sqrt 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$y\le2$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 y\ge\sqrt{4-y}$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$y\ge2$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curves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$y=4-x^2$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cross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$A=\int_0^4\sqrt{4+y}\,dy-\int_0^2\sqrt{4-y}\,dy-\int_2^4\sqrt y\,dy$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$=\left[\frac{(4+y)^{3/2}}{3/2}\right]_0^4+\left[\frac{(4-y)^{3/2}}{3/2}\right]_0^2-\left[\frac{y^{3/2}}{3/2}\right]_2^4$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three parts are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(to be subtracted)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40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80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Comparing with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80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three parts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$\frac23\left(16\sqrt2-8\right)$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$\frac23\left(2\sqrt2-8\right)$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(to be subtracted)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$\frac23\left(8-2\sqrt2\right)$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$A=\frac23\left[16\sqrt2-8+2\sqrt2-8-8+2\sqrt2\right]=\frac23\left(20\sqrt2-24\right)$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$A=\frac{40\sqrt2}3-16=\frac{80\sqrt2}6-16$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Comparing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$\frac{80\sqrt2}\alpha-\beta$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$\alpha+\beta=22$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22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Slice vertically: no region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two simple strips for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Slice vertically: no region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$x&lt;\sqrt2$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two simple strips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$\sqrt2\le x\le2$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$2\le x\le2\sqrt2$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no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the conditions; the region starts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runs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a length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runs from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cap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now below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a length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beyond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strip is empty.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$0\le x&lt;\sqrt2$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$x^2&lt;4-x^2$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$|4-x^2|=4-x^2&gt;x^2$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no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the conditions; the region starts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$\sqrt2\le x\le2$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runs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$4-x^2$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$x^2\le4$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a length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$2x^2-4$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$2\le x\le2\sqrt2$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runs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cap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$y\le4$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now below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a length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$8-x^2$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beyond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$x^2-4&gt;4$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strip is empty.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$A=\int_{\sqrt2}^2\left(2x^2-4\right)dx+\int_2^{2\sqrt2}\left(8-x^2\right)dx$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First: </a:t>
                </a:r>
                <a14:m>
                  <m:oMath xmlns:m="http://schemas.openxmlformats.org/officeDocument/2006/math"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sub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16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Second: </a:t>
                </a:r>
                <a14:m>
                  <m:oMath xmlns:m="http://schemas.openxmlformats.org/officeDocument/2006/math"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16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40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80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First: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$\left[\frac{2x^3}3-4x\right]_{\sqrt2}^2=\left(\frac{16}3-8\right)-\left(\frac{4\sqrt2}3-4\sqrt2\right)=\frac{8\sqrt2}3-\frac83$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Second: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$\left[8x-\frac{x^3}3\right]_2^{2\sqrt2}=\left(16\sqrt2-\frac{16\sqrt2}3\right)-\left(16-\frac83\right)=\frac{32\sqrt2}3-\frac{40}3$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$A=\frac{40\sqrt2}3-16=\frac{80\sqrt2}6-16$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$\alpha+\beta=22$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22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- a modulus inequality becomes a two-sided bound on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Regions bounded by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linear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often easier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-strips (one formula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per side) - but check the vertical slicing too; here it needs only two simple pieces.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parabolas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mark these critical points before integrating.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 read off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80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rewrite your result with numerator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80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40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80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$|u|\le y\iff-y\le u\le 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$|4-x^2|\le y\iff4-y\le x^2\le4+y$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- a modulus inequality becomes a two-sided bound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Regions bounded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$x^2=$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linear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often easier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-strips (one formula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$\sqrt{\cdot}$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per side) - but check the vertical slicing too; here it needs only two simple pieces.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parabolas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$y=4-x^2$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$(\pm\sqrt2,2)$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$y=x^2-4$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mark these critical points before integrating.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 read off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$\frac{80\sqrt2}\alpha-\beta$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rewrite your result with numerator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$80\sqrt2$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$\frac{40\sqrt2}3=\frac{80\sqrt2}6$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area of the region bounded by the curve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max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and the lines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area of the region bounded by the curve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$y=\max\{|x|,\ x|x-2|\}$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and the lines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Area under the maximum of two functions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Find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cross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); the maximum is then a different piece on each interval.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Find where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$x|x-2|$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$|x|$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cross (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$x=0,1,3$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); the maximum is then a different piece on each interval.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since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$x|x-2|&lt;0\le|x|$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$y=|x|=-x$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$0\le x\le1$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$x|x-2|=2x-x^2\ge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$y=2x-x^2$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$1\le x\le3$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$|x|=x\ge x|x-2|$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$[1,2]$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$2x-x^2\le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$[2,3]$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$x^2-2x\le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$x\ge3$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$x|x-2|=x^2-2x\ge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$y=x^2-2x$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All pieces are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area is the integral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All pieces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area is the integral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$=\int_{-2}^0(-x)\,dx+\int_0^1(2x-x^2)\,dx+\int_1^3x\,dx+\int_3^4(x^2-2x)\,dx$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$\int_{-2}^0(-x)\,dx=2$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$\int_0^1(2x-x^2)\,dx=\frac23$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$\int_1^3x\,dx=4$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$\int_3^4(x^2-2x)\,dx=\frac{37}3-7=\frac{16}3$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$=2+\frac23+4+\frac{16}3=12$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12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max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area under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plus the area of the excess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$\max\{f,g\}=f+(g-f)^+$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area under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$|x|$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plus the area of the excess where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$x|x-2|&gt;|x|$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max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</m:d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max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excess is positive only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(difference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(difference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$\max\{|x|,x|x-2|\}=|x|+\left(x|x-2|-|x|\right)^+$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$u^+=\max(u,0)$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$\int_{-2}^4|x|\,dx=2+8=10$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excess is positive only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$x\in(0,1)$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(difference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(difference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$x^2-3x$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$x|x-2|&lt;0$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$[1,3]$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Excess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Excess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$=\int_0^1(x-x^2)\,dx+\int_3^4(x^2-3x)\,dx=\frac16+\frac{11}6=2$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$=10+2=12$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12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max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area under a maximum is the area under one function plus the 'excess' integral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Find the crossings first: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(two triangles):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Don't replace curved pieces by triangles unless the pieces are straight: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wrong individually and only their sum matches.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$\max\{f,g\}=f+(g-f)^+=\frac{f+g}2+\frac{|f-g|}2$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area under a maximum is the area under one function plus the 'excess' integral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$(g-f)^+$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Find the crossings first: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$x|x-2|=|x|\iff 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$|x-2|=1$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$x=1,3$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$\int_a^b|x|\,dx=\frac{b^2+a^2}2$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$a&lt;0&lt;b$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(two triangles):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$\frac{16+4}2=10$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Don't replace curved pieces by triangles unless the pieces are straight: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$9/2$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$11/2$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wrong individually and only their sum matches.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area of the bounded region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area of the bounded region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$\{(x,y):0\le9x\le y^2,\ y\ge3x-6\}$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Area of a region bounded by a parabola and a line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region meets the origin only at a point; the bounded piece below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-axis has the line on the boundary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region meets the origin only at a point; the bounded piece below the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-axis has the line on the boundary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$y\le-3$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part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left of the parabola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part above the line through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Intersection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points are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region touches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only at the origin: the piece above it is unbounded, so the bounded region is the shaded piece below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$0\le9x\le y^2$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part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left of the parabola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$y^2=9x$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$y\ge3x-6$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part above the line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$(0,-6)$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Intersection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$y^2=9x$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$x=\frac{y+6}3$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$y^2=3y+18$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points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$(1,-3)$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$(4,6)$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region touches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only at the origin: the piece above it is unbounded, so the bounded region is the shaded piece below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right boundary is the line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and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the parabola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the left boundary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the second term is the triangle with vertices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(base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-axis, height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27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$-6\le y\le-3$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right boundary is the line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$x=\frac{y+6}3$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and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$-3\le y\le0$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the parabola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$x=\frac{y^2}9$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the left boundary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$A=\int_{-3}^0\left(\frac{y^2}9-0\right)dy+\frac12\cdot1\cdot3$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the second term is the triangle with vertices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$(0,-6),(0,-3),(1,-3)$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(base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-axis, height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$A=\left[\frac{y^3}{27}\right]_{-3}^0+\frac32=1+\frac32=\frac52$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$6A=15$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15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Slice vertically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strips between the line (bottom) and the lower arm of the parabola (top).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Slice vertically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$0\le x\le1$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strips between the line (bottom) and the lower arm of the parabola (top).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bounded piece lies below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-axis, between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-axis, the lower arm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parabola (since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two curves meet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each vertical strip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runs from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(bottom) up to the parabola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(top).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bounded piece lies below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-axis, between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-axis, the lower arm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$y=-3\sqrt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parabola (since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$y^2\ge9x$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$y\le0$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$y\le-3\sqrt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$y=3x-6$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$y\ge3x-6$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two curves meet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$(1,-3)$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$0\le x\le1$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each vertical strip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runs from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$y=3x-6$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(bottom) up to the parabola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$y=-3\sqrt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(top).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$A=\int_0^1\left(-3\sqrt x-3x+6\right)dx=-2-\frac32+6=\frac52$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$6A=15$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15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parabola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integrate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'outside' the parabola (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means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parameterisation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convenient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-strips.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Boundedness check: look at where each inequality still allows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Pieces of a region that meet only at a point are separate regions; 'the bounded region' is the finite one.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different slicing can turn a two-piece integral into one: here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parabola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$y^2=9x$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$x=\frac{y^2}9$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integrate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'outside' the parabola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$y^2\ge9x$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means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$x\le\frac{y^2}9$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$y=3x-6$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$y^2=9x$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$(1,-3)$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$(4,6)$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parameterisation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$x=\frac{y+6}3$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convenient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-strips.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Boundedness check: look at where each inequality still allows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$y\to\infty$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Pieces of a region that meet only at a point are separate regions; 'the bounded region' is the finite one.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different slicing can turn a two-piece integral into one: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$\int_0^1(6-3x-3\sqrt x)\,dx=\frac52$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3799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≥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differentiable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area of the region enclosed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Z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3799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$f(x)=\begin{cases}-3ax^2-2, &amp; x&lt;1\\ a^2+bx, &amp; x\ge1\end{cases}$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differentiable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$x\in\mathbb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$b\in\mathbb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area of the region enclosed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$y=-20$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$\alpha+\beta\sqrt3$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$\alpha,\beta\in\mathbb 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888739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Area between a piecewise curve and a line, Continuity and differentiability of a piecewise function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Continuity and equal derivatives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split the area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Continuity and equal derivatives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$a=2$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$b=-12$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split the area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differentiable, hence continuous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 left and right derivatives are equal there.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Continuity: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Derivatives: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parabola piece meets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line piece meets it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differentiable, hence continuous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 left and right derivatives are equal there.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Continuity: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$-3a-2=a^2+b$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Derivatives: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$-6a=b$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$-6ax$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$b=-6a$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$a^2-3a+2=0$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$b=-12$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$f(x)=-6x^2-2$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$f(x)=4-12x$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$x\ge1$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$f(1)=-8$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parabola piece meets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$y=-20$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$-6x^2-2=-20$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line piece meets it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$4-12x=-20$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20</m:t>
                            </m:r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20</m:t>
                            </m:r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First: </a:t>
                </a:r>
                <a14:m>
                  <m:oMath xmlns:m="http://schemas.openxmlformats.org/officeDocument/2006/math"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18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e>
                        </m:d>
                      </m:e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Second: </a:t>
                </a:r>
                <a14:m>
                  <m:oMath xmlns:m="http://schemas.openxmlformats.org/officeDocument/2006/math"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24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$=\int_{-\sqrt3}^1\left(-6x^2-2+20\right)dx+\int_1^2\left(4-12x+20\right)dx$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First: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$\left[18x-2x^3\right]_{-\sqrt3}^1=(18-2)-\left(-18\sqrt3+6\sqrt3\right)=16+12\sqrt3$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Second: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$\left[24x-6x^2\right]_1^2=(48-24)-(24-6)=6$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$=22+12\sqrt3$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$\alpha=22$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$\alpha+\beta=34$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34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725912" cy="1109472"/>
          </a:xfrm>
          <a:prstGeom prst="roundRect">
            <a:avLst>
              <a:gd name="adj" fmla="val 8000"/>
            </a:avLst>
          </a:prstGeom>
          <a:solidFill>
            <a:srgbClr val="FDE68A"/>
          </a:solidFill>
          <a:ln w="317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54864" bIns="73152"/>
          <a:lstStyle>
            <a:lvl1pPr>
              <a:defRPr sz="2400">
                <a:solidFill>
                  <a:srgbClr val="78350F"/>
                </a:solidFill>
              </a:defRPr>
            </a:lvl1pPr>
          </a:lstStyle>
          <a:p>
            <a:pPr algn="l">
              <a:defRPr sz="2400">
                <a:solidFill>
                  <a:srgbClr val="78350F"/>
                </a:solidFill>
              </a:defRPr>
            </a:pPr>
            <a:r>
              <a:rPr sz="2400" b="1">
                <a:solidFill>
                  <a:srgbClr val="78350F"/>
                </a:solidFill>
                <a:latin typeface="Arial"/>
              </a:rPr>
              <a:t>Idea:  </a:t>
            </a:r>
            <a:r>
              <a:rPr sz="2400" b="0">
                <a:solidFill>
                  <a:srgbClr val="78350F"/>
                </a:solidFill>
                <a:latin typeface="Arial"/>
              </a:rPr>
              <a:t>Complete the parabolic segment (Archimedes) and remove the extra piece; the right part is a triangle.</a:t>
            </a:r>
            <a:endParaRPr sz="24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before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left arc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meeting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 right part is the line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full parabolic segment between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over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width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height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Archimedes: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Remove the part over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18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before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$b=-12$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left arc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$y=-6x^2-2$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meeting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$y=-20$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$x=\pm\sqrt3$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 right part is the line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$(1,-8)$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$(2,-20)$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full parabolic segment between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$y=-6x^2-2$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$y=-20$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over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$[-\sqrt3,\sqrt3]$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width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height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Archimedes: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$\frac23\cdot2\sqrt3\cdot18=24\sqrt3$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Remove the part over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$[1,\sqrt3]$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$\int_1^{\sqrt3}(18-6x^2)\,dx=\left[18x-2x^3\right]_1^{\sqrt3}=12\sqrt3-16$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Left piece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Right piece: the triangle with vertices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area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Left piece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$=24\sqrt3-\left(12\sqrt3-16\right)=16+12\sqrt3$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Right piece: the triangle with vertices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$(1,-20),(1,-8),(2,-20)$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$\frac12\cdot12\cdot1=6$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$=22+12\sqrt3$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$\alpha+\beta=34$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34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piecewise function is differentiable at the junction iff the values match (continuity) and the one-sided derivatives match: two equations for two unknowns.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area between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den>
                        </m:f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shifted to the axis).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irrational,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integers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unique representation, so terms in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rational terms can be matched separately.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Shift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(add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before integrating; the integrand becomes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piecewise function is differentiable at the junction iff the values match (continuity) and the one-sided derivatives match: two equations for two unknowns.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area between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$y=c-kx^2$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$\frac{4c}3\sqrt{\frac ck}$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$24\sqrt3$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$y=-20$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shifted to the axis).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irrational,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$\alpha+\beta\sqrt3$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integers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$\alpha,\beta$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unique representation, so terms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rational terms can be matched separately.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Shift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$y=-20$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(add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before integrating; the integrand becomes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$-6x^2+18$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$24-12x$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4599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area of the larger portion bounded between the curves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4599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area of the larger portion bounded between the curves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$x^2+y^2=25$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$y=|x-1|$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$\frac14(b\pi+c)$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$b,c\in\mathbb 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54755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Area of a circular portion cut by a modulus line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V cuts off the smaller region above it; take circle area minus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V cuts off the smaller region above it; take circle area minus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$\int(\sqrt{25-x^2}-|x-1|)\,dx$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circle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V with vertex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rejected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the 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V cuts off the smaller region above it, so the larger area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25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25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25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25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b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circle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$x^2+y^2=25$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$y=|x-1|$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V with vertex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$y=1-x$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$x^2+(1-x)^2=25\Rightarrow x^2-x-12=0$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rejected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$(-3,4)$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$x\ge1$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$(4,3)$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V cuts off the smaller region above it, so the larger area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$A=25\pi-\int_{-3}^4\left(\sqrt{25-x^2}-|x-1|\right)dx$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$\int_{-3}^4\sqrt{25-x^2}\,dx=\left[\frac x2\sqrt{25-x^2}+\frac{25}2\sin^{-1}\frac x5\right]_{-3}^4$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25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$=\left(6+\frac{25}2\sin^{-1}\frac45\right)-\left(-6-\frac{25}2\sin^{-1}\frac35\right)=12+\frac{25}2\cdot\frac\pi2=12+\frac{25\pi}4$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$\int_{-3}^4|x-1|\,dx=\int_{-3}^1(1-x)\,dx+\int_1^4(x-1)\,dx=8+\frac92$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$A=25\pi-\left[12+\frac{25\pi}4\right]+8+\frac92=25\pi-\frac{25\pi}4+\frac12=\frac14(75\pi+2)$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$b=75$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$b+c=77$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77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chord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subtends a right angle at the centre: smaller portion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circular segment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triangle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chord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subtends a right angle at the centre: smaller portion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$=$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circular segment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$+$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triangle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$APB$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vertex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Circular segment cut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side away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sector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minus triangle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below the chord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region between the chord and the V is triangle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$A(-3,4)$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$B(4,3)$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vertex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$P(1,0)$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$\vec{OA}\cdot\vec{OB}=(-3)(4)+(4)(3)=0$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$\angle AOB=90^\circ$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Circular segment cut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side away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sector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$\frac14\pi\cdot25$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minus triangle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$\frac12\cdot5\cdot5$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$=\frac{25\pi}4-\frac{25}2$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below the chord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region between the chord and the V is triangle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$APB$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$=\frac12\left|(-3)(0-3)+1(3-4)+4(4-0)\right|=\frac12(24)=12$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Smaller portion (above the V)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Larger portion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Smaller portion (above the V)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$=\frac{25\pi}4-\frac{25}2+12=\frac{25\pi}4-\frac12$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Larger portion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$=25\pi-\frac{25\pi}4+\frac12=\frac{75\pi+2}4$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$b=75$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$b+c=77$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77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Circular segment cut by a chord that subtends 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the centre: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chord of length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subtends a right angle at the centre; check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the two end-points.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of a triangle from vertices: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'Larger portion'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smaller portion; the portion on the side of the V not containing the centre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below the V) is the smaller one.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Circular segment cut by a chord that subtends 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the centre: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$\frac{r^2}2(\theta-\sin\theta)$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$\frac{r^2}4(\pi-2)$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$\frac{25}4(\pi-2)$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chord of length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subtends a right angle at the centre; check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$\vec{OA}\cdot\vec{OB}=0$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the two end-points.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of a triangle from vertices: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$\frac12\left|x_1(y_2-y_3)+x_2(y_3-y_1)+x_3(y_1-y_2)\right|$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'Larger portion'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$=\pi r^2-$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smaller portion; the portion on the side of the V not containing the centre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below the V) is the smaller one.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area of the region enclosed by the curve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between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area of the region enclosed by the curve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$y=\min\{\sin x,\cos x\}$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between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Area under the minimum of trigonometric functions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min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outside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inside; split also at the zeros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of the pieces.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$\min=\cos 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outside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$\left(-\frac{3\pi}4,\frac\pi4\right)$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 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inside; split also at the zeros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$0,\frac\pi2$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of the pieces.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on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Signs: the curve is negative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positive on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x=\cos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$x=-\frac{3\pi}4$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$[-\pi,\pi]$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$\min=\cos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$\left[-\pi,-\frac{3\pi}4\right]$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$\left[\frac\pi4,\pi\right]$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$\min=\sin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$\left[-\frac{3\pi}4,\frac\pi4\right]$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Signs: the curve is negative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$[-\pi,0]$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$\left[\frac\pi2,\pi\right]$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positive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$\left[0,\frac\pi2\right]$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$A=-\int_{-\pi}^{-3\pi/4}\cos x\,dx-\int_{-3\pi/4}^0\sin x\,dx+\int_0^{\pi/4}\sin x\,dx+\int_{\pi/4}^{\pi/2}\cos x\,dx-\int_{\pi/2}^\pi\cos x\,dx$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$=\frac1{\sqrt2}+\left(1+\frac1{\sqrt2}\right)+\left(1-\frac1{\sqrt2}\right)+\left(1-\frac1{\sqrt2}\right)+1$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$A^2=16$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16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shift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turns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min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max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area equals that of the max-curve.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shift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$\pi$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turns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$\min\{\sin,\cos\}$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$-\max\{\sin,\cos\}$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area equals that of the max-curve.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max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Both functions have period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max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the max-curve use the symmetry about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(it swaps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over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area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$\sin(x+\pi)=-\sin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$\cos(x+\pi)=-\cos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$\min\{\sin(x+\pi),\cos(x+\pi)\}=-\max\{\sin x,\cos x\}$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Both functions have period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$\int_{-\pi}^{\pi}|\min\{\sin x,\cos x\}|\,dx=\int_{-\pi}^{\pi}|\max\{\sin x,\cos x\}|\,dx$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the max-curve use the symmetry about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(it swaps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over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$\left[-\frac\pi2,\pi\right]$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area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$2\int_{\pi/4}^\pi\sin x\,dx=2+\sqrt2$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Over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use the symmetry about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Over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$\left[-\pi,-\frac\pi2\right]$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use the symmetry about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$x=-\frac{3\pi}4$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$=2\int_{-3\pi/4}^{-\pi/2}|\cos x|\,dx=2-\sqrt2$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$A=(2+\sqrt2)+(2-\sqrt2)=4$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$A^2=16$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16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max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over a full period the areas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min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max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are equal.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(mod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Split the integral at the zeros of the function (here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as well as at the crossings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take absolute values piece by piece.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over a quarter period (zero to maximum)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pieces such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arise from the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crossings.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$\min\{\sin(x+\pi),\cos(x+\pi)\}=-\max\{\sin x,\cos x\}$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over a full period the areas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$\min$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are equal.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$\min\{\sin x,\cos x\}=\cos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x&lt;\sin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$x\in\left(\frac\pi4,\frac{5\pi}4\right)$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(mod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Split the integral at the zeros of the function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$\pm\frac\pi2$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as well as at the crossings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$x=\frac\pi4+k\pi$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take absolute values piece by piece.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over a quarter period (zero to maximum)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pieces such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$1\pm\frac1{\sqrt2}$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arise from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$45^\circ$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crossings.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(1/4)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(2/4)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(3/4)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(4/4)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31520" y="1417320"/>
            <a:ext cx="4754880" cy="3291840"/>
          </a:xfrm>
          <a:prstGeom prst="roundRect">
            <a:avLst>
              <a:gd name="adj" fmla="val 8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37160" bIns="73152"/>
          <a:lstStyle>
            <a:lvl1pPr>
              <a:defRPr sz="3000">
                <a:solidFill>
                  <a:srgbClr val="0B1F3A"/>
                </a:solidFill>
              </a:defRPr>
            </a:lvl1pPr>
          </a:lstStyle>
          <a:p>
            <a:pPr algn="ctr">
              <a:defRPr sz="3000">
                <a:solidFill>
                  <a:srgbClr val="0B1F3A"/>
                </a:solidFill>
              </a:defRPr>
            </a:pPr>
            <a:r>
              <a:rPr sz="3000" b="1">
                <a:solidFill>
                  <a:srgbClr val="0B1F3A"/>
                </a:solidFill>
                <a:latin typeface="Arial"/>
              </a:rPr>
              <a:t>Difficulty Index</a:t>
            </a:r>
            <a:endParaRPr sz="3000">
              <a:solidFill>
                <a:srgbClr val="0B1F3A"/>
              </a:solidFill>
            </a:endParaRPr>
          </a:p>
          <a:p>
            <a:pPr algn="ctr">
              <a:defRPr sz="3000">
                <a:solidFill>
                  <a:srgbClr val="0B1F3A"/>
                </a:solidFill>
              </a:defRPr>
            </a:pPr>
            <a:r>
              <a:rPr sz="8800" b="1">
                <a:solidFill>
                  <a:srgbClr val="0B1F3A"/>
                </a:solidFill>
                <a:latin typeface="Arial"/>
              </a:rPr>
              <a:t>2.35</a:t>
            </a:r>
            <a:endParaRPr sz="3000">
              <a:solidFill>
                <a:srgbClr val="0B1F3A"/>
              </a:solidFill>
            </a:endParaRPr>
          </a:p>
          <a:p>
            <a:pPr algn="ctr">
              <a:defRPr sz="3000">
                <a:solidFill>
                  <a:srgbClr val="0B1F3A"/>
                </a:solidFill>
              </a:defRPr>
            </a:pPr>
            <a:r>
              <a:rPr sz="2400" b="0">
                <a:solidFill>
                  <a:srgbClr val="0B1F3A"/>
                </a:solidFill>
                <a:latin typeface="Arial"/>
              </a:rPr>
              <a:t>out of 5</a:t>
            </a:r>
            <a:endParaRPr sz="3000">
              <a:solidFill>
                <a:srgbClr val="0B1F3A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852160" y="1417320"/>
            <a:ext cx="5605272" cy="603504"/>
          </a:xfrm>
          <a:prstGeom prst="rect">
            <a:avLst/>
          </a:prstGeom>
          <a:solidFill>
            <a:srgbClr val="93C47D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JEE Main or easier:  2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852160" y="2093976"/>
            <a:ext cx="5605272" cy="603504"/>
          </a:xfrm>
          <a:prstGeom prst="rect">
            <a:avLst/>
          </a:prstGeom>
          <a:solidFill>
            <a:srgbClr val="FFD966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Below average:  9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852160" y="2770632"/>
            <a:ext cx="5605272" cy="603504"/>
          </a:xfrm>
          <a:prstGeom prst="rect">
            <a:avLst/>
          </a:prstGeom>
          <a:solidFill>
            <a:srgbClr val="F6B26B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Average Advanced:  9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852160" y="3447288"/>
            <a:ext cx="5605272" cy="603504"/>
          </a:xfrm>
          <a:prstGeom prst="rect">
            <a:avLst/>
          </a:prstGeom>
          <a:solidFill>
            <a:srgbClr val="E88080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Above average:  0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852160" y="4123944"/>
            <a:ext cx="5605272" cy="603504"/>
          </a:xfrm>
          <a:prstGeom prst="rect">
            <a:avLst/>
          </a:prstGeom>
          <a:solidFill>
            <a:srgbClr val="CC4125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 algn="l">
              <a:defRPr sz="2400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  <a:latin typeface="Arial"/>
              </a:rPr>
              <a:t>Very difficult:  0 questions</a:t>
            </a:r>
            <a:endParaRPr sz="2400">
              <a:solidFill>
                <a:srgbClr val="FFFFFF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31520" y="5029200"/>
            <a:ext cx="10725912" cy="1097280"/>
          </a:xfrm>
          <a:prstGeom prst="rect">
            <a:avLst/>
          </a:prstGeom>
          <a:solidFill>
            <a:srgbClr val="FFFFFF"/>
          </a:solidFill>
          <a:ln w="190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Total: 20 questions, 80 marks.  Index = Σ(marks × level) ÷ Σ marks, on the 0-5 scale.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Difficulty Profile of the Paper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280160"/>
          <a:ext cx="11274552" cy="5349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Comparison with JEE Advanced Papers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661007" y="1371600"/>
          <a:ext cx="886968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0720"/>
                <a:gridCol w="3108960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Paper</a:t>
                      </a:r>
                    </a:p>
                  </a:txBody>
                  <a:tcPr anchor="ctr" marL="137160" marR="13716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Difficulty Index</a:t>
                      </a:r>
                    </a:p>
                  </a:txBody>
                  <a:tcPr anchor="ctr" marL="137160" marR="137160">
                    <a:solidFill>
                      <a:srgbClr val="0B1F3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2.76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2023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3.19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2024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2.59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2025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2026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3.02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1">
                          <a:solidFill>
                            <a:srgbClr val="0B1F3A"/>
                          </a:solidFill>
                          <a:latin typeface="Arial"/>
                        </a:rPr>
                        <a:t>JEE Main Question Bank 01 Integral Calculus 09 Questions 161–180 · detailed solutions</a:t>
                      </a:r>
                    </a:p>
                  </a:txBody>
                  <a:tcPr anchor="ctr" marL="137160" marR="137160">
                    <a:solidFill>
                      <a:srgbClr val="E0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0B1F3A"/>
                          </a:solidFill>
                          <a:latin typeface="Arial"/>
                        </a:rPr>
                        <a:t>2.35</a:t>
                      </a:r>
                    </a:p>
                  </a:txBody>
                  <a:tcPr anchor="ctr" marL="137160" marR="137160">
                    <a:solidFill>
                      <a:srgbClr val="E0EC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6080759"/>
            <a:ext cx="1072591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>
              <a:defRPr sz="2000">
                <a:solidFill>
                  <a:srgbClr val="111827"/>
                </a:solidFill>
              </a:defRPr>
            </a:lvl1pPr>
          </a:lstStyle>
          <a:p>
            <a:pPr algn="ctr">
              <a:defRPr sz="2000">
                <a:solidFill>
                  <a:srgbClr val="111827"/>
                </a:solidFill>
              </a:defRPr>
            </a:pPr>
            <a:r>
              <a:rPr sz="2000" b="0">
                <a:solidFill>
                  <a:srgbClr val="111827"/>
                </a:solidFill>
                <a:latin typeface="Arial"/>
              </a:rPr>
              <a:t>Marks-weighted difficulty index on the 0-5 scale</a:t>
            </a:r>
            <a:endParaRPr sz="20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