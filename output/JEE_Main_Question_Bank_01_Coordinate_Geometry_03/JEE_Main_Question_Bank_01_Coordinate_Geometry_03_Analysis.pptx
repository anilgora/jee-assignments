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  <c:pt idx="8">
                  <c:v>1.0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writes the circle as $(x-4)^2+(y-2)^2=20$; completing squares on $x^2-16x$ gives $(x-8)^2+(y-2)^2=68$. The PDF's next line already uses the correct centre $(8,2)$, so the answer 18 is unaffected. A check that $m&lt;0$ and that the critical point is a minimum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For $\alpha=\frac{28}{3}$ the PDF gives the centre $\left(\frac{28}{3},-\frac{109}{2}\right)$ and radius $\approx49.78$. With $\beta=\frac{1-4\alpha}{3}$ the correct values are $\beta=-\frac{109}{9}$ and $r=\frac{80}{9}\approx8.89$. This root is still rejected by $r&lt;8$, so the answer 7 is unchanged. The intermediate equation $|25\alpha-100|=|7\alpha+68|$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third line writes the second and third terms both as $\cos^2\frac{\theta_2}{2}$ (they should be $\cos^2\frac{\theta_2}{2}$ and $\cos^2\frac{\theta_3}{2}$), and its last line concludes '$\therefore\theta_3=\frac\pi2$'; the quantity asked is $\theta_2=\frac\pi2$ ($\theta_3$ is given as $\frac{2\pi}{3}$). The answer (D)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does not say which circle is meant. Three lines have four tangent circles (incircle and three excircles): the incentre and the excentre opposite $A$ both lie on $x+y=5$ ($h+k=5$), the excentre opposite $B$ gives $h+k=5+5\sqrt2$ and the one opposite $C$ gives $5-5\sqrt2$. The PDF's working is only valid for the incircle, so a step stating that the centre is on the bisector of $\angle A$ was added. The key (A) $5$ is kept, but the question is 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Circle (PDF Q41–Q60, numbered 1–20)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of the circle, which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cuts off an intercept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lies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of the circle, which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cuts off an intercept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lies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$(2a,b^2)$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$(\alpha,\beta^2-4\gamma)$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$(\gamma,\beta^2-4\alpha)$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$(\gamma,\beta^2+4\alpha)$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$(\alpha,\beta^2+4\gamma)$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an axis and intercept on the other axis, General equation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it puts the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coefficients with the general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it puts the centre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coefficients with the general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below it, so its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chord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half-length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Pythagoras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below it, so 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chord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half-length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Pythagoras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$r^2=a^2+\frac{b^2}{4}$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$r=\frac{\sqrt{4a^2+b^2}}{2}$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$(x-a)^2+(y+r)^2=r^2$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Pythagoras relation,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$x^2+y^2-2ax+2ry+a^2=0$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$\alpha=2a,\ \beta=2r,\ \gamma=a^2$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Pythagoras relation,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$b^2=4r^2-4a^2=\beta^2-4\gamma$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$(2a,b^2)=(\alpha,\beta^2-4\gamma)$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$(\alpha,\beta^2-4\gamma)$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in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touches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$g^2=c$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cuts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in a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$2\sqrt{f^2-c}$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circle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circle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$a=-g=\frac{\alpha}{2}$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$b=2\sqrt{f^2-c}$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$b^2=4(f^2-c)=4\left(\frac{\beta^2}{4}-\gamma\right)=\beta^2-4\gamma$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$(2a,b^2)=(\alpha,\beta^2-4\gamma)$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$(\alpha,\beta^2-4\gamma)$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intercept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intercept relation reads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intercept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$2\sqrt{g^2-c}$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intercept relation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$b^2=\beta^2-4\gamma$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mid point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mid point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circle and its perpendicular bisector, Area of a quadrilateral with perpendicular diagonals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through the midpoint of a chord passes through the 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through the midpoint of a chord passes through the centre,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$CD\perp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it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$\frac{x-0}{1}=\frac{y-0}{1}=-\frac{0+0-1}{2}$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it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$y-\frac12=x-\frac12$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$p=\frac{|0+0-1|}{\sqrt2}=\frac{1}{\sqrt2}$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$AB=2\sqrt{r^2-p^2}=2\sqrt{4-\frac12}=2\sqrt{\frac72}=\sqrt{14}$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 d_1d_2=\frac12\times4\times\sqrt{14}=2\sqrt{14}$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the area of a quadrilateral as half the cross product of its diagonal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the area of a quadrilateral as half the cross product of its diagonal vectors.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$xy=\frac{(x+y)^2-(x^2+y^2)}{2}=-\frac32$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$(x-y)^2=1+6=7$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$A=\left(\frac{1+\sqrt7}{2},\frac{1-\sqrt7}{2}\right)$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$B=\left(\frac{1-\sqrt7}{2},\frac{1+\sqrt7}{2}\right)$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$\vec{AB}=(-\sqrt7,\sqrt7)$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$C=(\sqrt2,\sqrt2)$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$D=(-\sqrt2,-\sqrt2)$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$\vec{CD}=(-2\sqrt2,-2\sqrt2)$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$=\frac12\left|\vec{AB}\times\vec{CD}\right|$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$\vec{AB}\times\vec{CD}=(-\sqrt7)(-2\sqrt2)-(\sqrt7)(-2\sqrt2)=4\sqrt{14}$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$=\frac12\cdot4\sqrt{14}=2\sqrt{14}$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through the mid-point of any chord passes through the centre (perpendicular bisector of a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any quadrilateral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diagonals;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they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through the mid-point of any chord passes through the centre (perpendicular bisector of a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any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 d_1d_2\sin\theta$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diagonals;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they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$p=\frac{|c|}{\sqrt{a^2+b^2}}$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centre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length of the chord,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mid-point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centre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length of the chord,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through two points with centre on a line, Length of a chord with given mid-point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lies on the perpendicular bisector of the chord joining the two given points, here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lies on the perpendicular bisector of the chord joining the two given points, here the vertical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its perpendicular bisector, which is vertical through the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vertical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its perpendicular bisector, which is vertical through the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$\left(\alpha,\frac{-2-3\alpha}{2}\right)$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the required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$r=OA=\sqrt{(2-4)^2+(-4-2)^2}=\sqrt{40}$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the required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$ON=\sqrt{(2-1)^2+(-4-2)^2}=\sqrt{37}$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$=2\sqrt{r^2-ON^2}=2\sqrt{40-37}=2\sqrt3$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chord with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half-chord squared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negative of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chord with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half-chord squared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$-S(N)$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negative of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$x^2+y^2-4x+8y+c=0$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$4+16+c=0$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$S(N)=1+4-4+16-20=-3$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a chord, then (half chord)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a chord, then (half chord)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$=NP\cdot NQ=-S(N)=3$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a circle through two points lies on the perpendicular bisector of the segment joining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with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circle: (half chord)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half chord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a circle through two points lies on the perpendicular bisector of the segment joining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circle: (half chord)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$^2=r^2-ON^2=-S(N)$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$=2\sqrt{-S_{11}}$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$S(1,2)=-3$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half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$r^2-ON^2=40-37$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side of this square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the square,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$x^2+y^2-10x-6y+30=0$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side of this square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$(x_i,y_i)$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the square,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$\sum\left(x_i^2+y_i^2\right)$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Square inscribed in a circle, Parallel lines at a given distance from the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side of the inscribed square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centre, which fixes the two parallel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side of the inscribed square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$r/\sqrt2$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centre, which fixes the two parallel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half-diagonal of the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from the centre to a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$r^2=25+9-30=4$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half-diagonal of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from the centre to a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$\frac{|5-3+c|}{\sqrt2}=\sqrt2$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$|c+2|=2$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each with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each with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$\sum(x_i^2+y_i^2)=18+50+26+58=152$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square,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any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$c+r\,u_i$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u_i=0$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square,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$\sum|v_i|^2=4(|c|^2+r^2)$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any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vertices of an inscribed square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vectors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vertices of an inscribed square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$v_i=c+r\,u_i$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$u_i=\pm u,\pm u^{\perp}$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$\sum|v_i|^2=\sum\left(|c|^2+2r\,c\cdot u_i+r^2\right)=4|c|^2+2r\,c\cdot\sum u_i+4r^2=4\left(|c|^2+r^2\right)$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the side (parallel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$|c|^2=25+9=34$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$4(34+4)=152$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the side (parallel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(or regular polygon) inscribed in a circle of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centre to a side of an inscribed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side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(or regular polygon) inscribed in a circle of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$\sum|v_i|^2=n\left(|c|^2+r^2\right)$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centre to a side of an inscribed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$r/\sqrt2$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side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with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centre at the origin.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and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distance (in units) between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centre at the origin.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distance (in units) between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circle and distance from the centre, Distance between parallel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$MN\parallel 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x^2+y^2=10$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$AN=\frac{MN}{2}=1$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$OA\perp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$ON^2=OA^2+AN^2$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$10=OA^2+1$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the centre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parallel; the distance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depending on the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the centre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$\frac{|0+0-2|}{\sqrt2}=\sqrt2$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parallel; the distance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$|OA-\sqrt2|$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depending on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impose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algebraically; the distance between the parallel lines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impose chord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algebraically; the distance between the parallel lines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$\frac{|k-2|}{\sqrt2}$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line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$2x^2-2kx+k^2-10=0$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$x_1x_2=\frac{k^2-10}{2}$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$(x_1-x_2)^2=k^2-2(k^2-10)=20-k^2$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line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$MN^2=2(x_1-x_2)^2=2(20-k^2)=4$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$\frac{|k-2|}{\sqrt2}=\frac{|\pm3\sqrt2-2|}{\sqrt2}$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chords lie at signed distances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gap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sides) - check both against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$\sqrt{R^2-\ell^2/4}$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chords lie at signed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gap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$|d_1-d_2|$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sides) - check both against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$\frac{|c_1-c_2|}{\sqrt{a^2+b^2}}$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closer to the origin be such that the lines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coordinate axes touch it. Then the shortest distance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closer to the origin be such that the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coordinate axes touch it. Then the shortest distance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lines, Shortest distance of a point from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 the centre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both; the shortest distance to an outside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 the centre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both; the shortest distance to an outside 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touch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closest to the origin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outside the circle, so the minimum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touch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$(3\pm1,\,2\pm1)$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closest to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$\sqrt{(5-2)^2+(5-1)^2}=5$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outside the circle, so the minimum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an outside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longest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possible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an outside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longest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$(p\pm r,\,q\pm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possible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respectively. Then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respectively. Then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$2r^2-8r+7=0$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$2r^2-4r+1=0$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perpendicular lines, Squares and diagonals (coordinate geometry)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$CF=r\sqrt2+r$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centre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and on the diagonal, on the side of the centre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$CF=4\sqrt2-2\sqrt2=2\sqrt2$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centre on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and on the diagonal, on the side of the centre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$CF=r\sqrt2+r$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$r+r\sqrt2=2\sqrt2$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$r=\frac{2\sqrt2}{1+\sqrt2}=2\sqrt2(\sqrt2-1)=4-2\sqrt2$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$(r-4)^2=8$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$r^2-8r+8=0$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origin: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the circle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origin: the 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$(4-r,4-r)$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the circle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inside the square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inside the square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$(4-r,4-r)$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$(2-(4-r))^2+(2-(4-r))^2=r^2$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$2(r-2)^2=r^2$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put the centre outside the square,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$2r^2-8r+8=r^2$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$4\pm2\sqrt2$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$4+2\sqrt2&gt;4$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put the centre outside the square,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$r^2-8r+8=0$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two intersecting lines has its centre on an angle bisector; for perpendicular lines the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of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on the diagonal is easiest to handle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circle in the corner of a square: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two intersecting lines has its centre on an angle bisector; for perpendicular lines the 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of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on the diagonal is easiest to handle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circle in the corner of a square: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$(s-r,s-r)$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$2(s-r-p)^2=r^2$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having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of common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$C_1:\ x^2+y^2-2(x+y)+1=0$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having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of common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Radical axis (common chord) of two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$4x+2y-4=0$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$\sqrt{(1-0)^2+(1-2)^2}$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radical axis has equal powers with respect to both circles; impose this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radical axis has equal powers with respect to both circles; impose this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$P=(0,y)$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common chord the powers are 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$S_1(0,y)=y^2-2y+1=(y-1)^2$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$S_2(0,y)=y^2-3$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common chord the powers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$(y-1)^2=y^2-3$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$-2y+1=-3$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intersecting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common chord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the radical axis has equal power with respect to both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and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in two points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intersecting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common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the radical axis has equal power with respect to both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and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in two points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$|r_1-r_2|&lt;d&lt;r_1+r_2$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$1&lt;\sqrt5&lt;3$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is inscribed in an equilateral triangle of side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and perimeter of any square inscribed in this circle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is inscribed in an equilateral triangle of side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and perimeter of any square inscribed in this circle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Incircle of an equilateral triangle, Square inscribed in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square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$r=\Delta/s$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square in a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semi-perimeter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square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diagonal is the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$\Delta=\frac{\sqrt3}{4}\cdot12^2=36\sqrt3$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semi-perimeter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$r=\frac{\Delta}{s}=\frac{36\sqrt3}{18}=2\sqrt3$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square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diagonal is the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$a^2=2r^2=24$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$n=4a=4\sqrt{24}$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$n^2=16\times24$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$m+n^2=24+16\times24=17\times24=408$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𝑠𝑖𝑑𝑒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$m=2r^2$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$n^2=32r^2$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$m+n^2=34r^2$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$r=\frac{\text{side}}{2\sqrt3}$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$r=\frac{12}{2\sqrt3}=2\sqrt3$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$n^2=32r^2$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$m+n^2=34r^2$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$34\times12=408$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any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any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$r=\Delta/s$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 externally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joining the centres of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$C_1:(x-\alpha)^2+(y-\beta)^2=r_1^2$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$C_2:(x-8)^2+\left(y-\frac{15}{2}\right)^2=r_2^2$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 externally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joining the centres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$(\alpha+\beta)+4\left(r_1^2+r_2^2\right)$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Externally touching circles, Section formula (internal division)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point of contact lies on the line of centres, so the section formula gives the unknown centre.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$C_2\left(8,\frac{15}{2}\right)$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$\frac{\alpha\cdot1+8\cdot2}{1+2}=6$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$\frac{\beta\cdot1+\frac{15}{2}\cdot2}{1+2}=6$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$r_1=\sqrt{(6-2)^2+(6-3)^2}=\sqrt{25}=5$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$r_2=\sqrt{(8-6)^2+\left(\frac{15}{2}-6\right)^2}=\frac52$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$(\alpha+\beta)+4\left(r_1^2+r_2^2\right)=2+3+4\left(25+\frac{25}{4}\right)=5+4\cdot\frac{125}{4}=130$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externally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of centres and divides it internally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internal touching it divides externally in this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touching externally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of centres and divides it internally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$C_1P:PC_2=r_1:r_2$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internal touching it divides externally in this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$5=2\times\frac52$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$C_1C_2=7.5=r_1+r_2$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$P=\frac{mC_2+nC_1}{m+n}$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$C_1P:PC_2=m:n$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variable line passing through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positive co-ordinate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variable line passing through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$x^2+y^2-16x-4y=0$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positive co-ordinate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 form of a line and minimisation (application of derivatives), Centre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sum of intercepts of a line through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sum of intercepts of a line through the fixed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meet the positive axes the slope must be negative,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$x^2+y^2-16x-4y=0\Rightarrow(x-8)^2+(y-2)^2=68$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$y-2=m(x-8)$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meet the positive axes the slope must be negative,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$OA=8-\frac2m$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$OB=2-8m$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$OA+OB=-\frac2m+8-8m+2=f(m)$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$f'(m)=\frac{2}{m^2}-8=0\Rightarrow m^2=\frac14\Rightarrow 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$f''(m)=-\frac{4}{m^3}&gt;0$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$f\left(-\frac12\right)=4+8+4+2=18$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Cauchy-Schwarz / AM-GM bound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Cauchy-Schwarz / AM-GM bound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intercepts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intercepts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$a=OA&gt;0$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$b=OB&gt;0$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$\frac8a+\frac2b=1$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$a+b=(a+b)\left(\frac8a+\frac2b\right)=10+\frac{8b}{a}+\frac{2a}{b}$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$\frac{8b}{a}+\frac{2a}{b}\ge2\sqrt{16}=8$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$a+b\ge18$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calculus method).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$\frac{8b}{a}=\frac{2a}{b}$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$\frac{4}{b}+\frac2b=1$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$=-\frac{6}{12}=-\frac12$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calculus method).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the minimum of the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minimum of the segment length uses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$\min(a+b)=\left(\sqrt p+\sqrt q\right)^2$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$a=p+\sqrt{pq}$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$b=q+\sqrt{pq}$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$(\sqrt8+\sqrt2)^2=18$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$a=8+4=12$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$b=2+4=6$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the minimum of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minimum of the segment length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$\left(p^{2/3}+q^{2/3}\right)^{3/2}$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locus of the midpoints of the chords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from the origin intersect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locus of the midpoints of the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from the origin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mid-points of chords of a circle, Length of a chord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through the origin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its mid-point; the origin on it gives the locus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through the origin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its mid-point; the origin on it gives the locus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the chord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origin: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the chord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$hx+ky-(y+k)=h^2+k^2-2k$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$-k=h^2+k^2-2k$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its centre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its centre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$p=\frac{\left|0+\frac12-1\right|}{\sqrt2}=\frac{1}{2\sqrt2}$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$PQ=2\sqrt{r^2-p^2}=2\sqrt{\frac14-\frac18}=\frac{1}{\sqrt2}$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centre),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$CM\perp OM$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centre),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given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from the centre to the mid-point is perpendicular to the chord: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given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from the centre to the mid-point is perpendicular to the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OMC=90^\circ$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$PQ=2\sqrt{\frac14-\frac18}=\frac{1}{\sqrt2}$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Mid-points of chords of a circle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centre).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mid-points of chords of fixed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concentric circle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Mid-points of chords of a circle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centre).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mid-points of chords of fixed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concentric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$\sqrt{R^2-\ell^2/4}$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such that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 on the periphery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the point that divides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such that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 on the periphery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the point that divides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$\frac{\sqrt{19}}{7}\lambda$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moving chord in a ratio, Parametric form of a point on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equal to the radius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equal to the radius subtends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$\cos(\theta_1-\theta_2)=\frac12$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centre at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centre at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$A=(\lambda\cos\theta_2,\lambda\sin\theta_2)$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$B=(\lambda\cos\theta_1,\lambda\sin\theta_1)$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$AB^2=\lambda^2\left[2-2\cos(\theta_1-\theta_2)\right]=\lambda^2$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$\cos(\theta_1-\theta_2)=\frac12$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$h=\frac{2\lambda\cos\theta_1+3\lambda\cos\theta_2}{5}$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$k=\frac{2\lambda\sin\theta_1+3\lambda\sin\theta_2}{5}$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$h^2+k^2=\frac{\lambda^2}{25}\left[4+9+12\cos(\theta_1-\theta_2)\right]$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$=\frac{\lambda^2}{25}\cdot19$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$h^2+k^2=\frac{19\lambda^2}{25}$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$\frac{\lambda}{5}\sqrt{19}$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equilateral; drop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Pythagoras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equilateral; drop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$OM\perp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Pythagoras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$OA=OB=AB=\lambda$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$OM=\frac{\sqrt3}{2}\lambda$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$AP=\frac25\lambda$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$AM=\frac12\lambda$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$MP=\frac12\lambda-\frac25\lambda=\frac{\lambda}{10}$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circle of that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$OP^2=OM^2+MP^2=\frac34\lambda^2+\frac{1}{100}\lambda^2=\frac{76}{100}\lambda^2=\frac{19}{25}\lambda^2$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$OP=\frac{\sqrt{19}}{5}\lambda$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circle of that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equal to the radius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(equilateral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locus is a concentric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equal to the radius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(equilateral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$OP^2=R^2-\frac{mn}{(m+n)^2}\ell^2$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locus is a concentric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$\lambda^2-\frac{6}{25}\lambda^2=\frac{19}{25}\lambda^2$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divides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divides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$\frac{2\sqrt5}{5}$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chord in a ratio, Parametric form of a point on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scaled copy of the circle, so its centre is easy to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$P=A+\frac35(B-A)$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scaled copy of the circle, so its centre is easy to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$B=(4\cos\theta,4\sin\theta)$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$P=\frac{3B+2A}{5}$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$h=\frac{12\cos\theta+2}{5}$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$k=\frac{12\sin\theta+4}{5}$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$5h-2=12\cos\theta$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$5k-4=12\sin\theta$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adding: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adding: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$(5x-2)^2+(5y-4)^2=144$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$C\left(\frac25,\frac45\right)$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$AC=\sqrt{\left(1-\frac25\right)^2+\left(2-\frac45\right)^2}=\sqrt{\frac{9}{25}+\frac{36}{25}}=\sqrt{\frac{45}{25}}=\frac{3}{\sqrt5}=\frac{3\sqrt5}{5}$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$\frac{3\sqrt5}{5}$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a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circle goes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$P=A+\frac35(B-A)$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a homothety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circle goes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sends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$B\mapsto P=A+\frac35(B-A)$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homothety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sends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$C=A+\frac35(O-A)=\frac25A=\left(\frac25,\frac45\right)$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$AC=\frac35\,AO=\frac35\sqrt{1^2+2^2}=\frac{3\sqrt5}{5}$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$\frac{3\sqrt5}{5}$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Homothety maps circles to circles and centres to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$\frac{nA+mO}{m+n}$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$\frac{m}{m+n}R$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$\frac{2A+3O}{5}=\left(\frac25,\frac45\right)$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$\frac35\cdot4=\frac{12}{5}$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$(5x-2)^2+(5y-4)^2=144$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Homothety maps circles to circles and centres to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tangents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tangents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and normal of a circle,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equidistant from the two tangents and lies on the normal; reject the second solution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equidistant from the two tangents and lies on the normal; reject the second solution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normals are perpendicular,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contact of that tangent).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to the two tangents are equal: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multiplying both sides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normals are perpendicular,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contact of that tangent).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$4\alpha+3\beta=1$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$\beta=\frac{1-4\alpha}{3}$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to the two tangents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$\frac{|3\alpha-4\beta-32|}{5}=\frac{|3\alpha+4\beta-24|}{5}$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$|25\alpha-100|=|7\alpha+68|$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multiplying both sides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$r=\frac{|3-4-24|}{5}=5$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$\left(\frac{28}{3},-\frac{109}{9}\right)$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$r=\frac{80}{9}\approx8.89&gt;8$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\beta=-1,\ 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tangents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angle bisectors are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their meeting point; the centre is on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tangents have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angle bisectors are 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$x=\frac{28}{3}$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their meeting point; the centre is on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subtracting the tangents: 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slopes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horizontal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angle bisectors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subtracting the tangents: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$T\left(\frac{28}{3},-1\right)$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horizontal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angle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a bisector and on 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between the tangents and the horizontal bisector: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with the vertical bisector has sine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a bisector and on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$\left(\frac{28}{3},-\frac{109}{9}\right)$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between the tangents and the horizontal bisector: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$TC=\frac{25}{3}$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$r=TC\sin\varphi=5$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$TC=\frac{100}{9}$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with the vertical bisector has 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$r=\frac{80}{9}&gt;8$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$\alpha-\beta+r=1+1+5=7$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touching two lines lies on one of the two angle bisectors of the lines; the bisectors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a circle passes through its centre; if it is perpendicular to a tangent it meets it at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meeting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bisector.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touching two lines lies on one of the two angle bisectors of the lines; the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$\frac{L_1}{\sqrt{a_1^2+b_1^2}}=\pm\frac{L_2}{\sqrt{a_2^2+b_2^2}}$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a circle passes through its centre; if it is perpendicular to a tangent it meets it at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$r=TC\sin\varphi$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bisector.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 points of the chords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subtend an 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 points of the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$C_1:(x-4)^2+(y-5)^2=4$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subtend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$\theta_3=\frac{2\pi}{3}$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mid-points of chords subtending a given angle at the centre,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of a chord subtending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of a chord subtending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$R\cos\frac\theta2$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 locus of its mid-point is a circle of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 locus of its mid-point is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$r_i=R\cos\frac{\theta_i}{2}$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$\cos^2\frac{\theta_1}{2}=\cos^2\frac{\theta_2}{2}+\cos^2\frac{\theta_3}{2}$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$\cos^2\frac\pi6=\cos^2\frac{\theta_2}{2}+\cos^2\frac\pi3$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$\frac34=\frac14+\cos^2\frac{\theta_2}{2}$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$\cos^2\frac{\theta_2}{2}=\frac12$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$\cos\frac{\theta_2}{2}=\frac{1}{\sqrt2}$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$\frac{\theta_2}{2}=\frac\pi4$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condition becomes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$\cos^2\frac\theta2=\frac{1+\cos\theta}{2}$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condition becomes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angle subtended by a chord,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$r_i=R\cos\frac{\theta_i}{2}$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$r_i^2=R^2\cdot\frac{1+\cos\theta_i}{2}$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$1+\cos\theta_1=(1+\cos\theta_2)+(1+\cos\theta_3)$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$\cos\theta_2=\cos\theta_1-\cos\theta_3-1=\frac12-\left(-\frac12\right)-1=0$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angle subtended by a chord,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$0&lt;\theta_2&lt;\pi$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a chord subtending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locus is a concentric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sums of squares of half-angle cosines into sums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mid-points of chords of fixed length is likewise a concentric circle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a chord subtending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$R\cos\frac\theta2$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locus is a concentric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$\cos^2\frac\theta2=\frac{1+\cos\theta}{2}$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sums of squares of half-angle cosines into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mid-points of chords of fixed length is likewise a concentric circle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intersection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image of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intersection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image of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$x^2+y^2+3x+3y+4=0$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$x^2+y^2+3x+5y+8=0$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$x^2+y^2-5x-5y+12=0$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with a given diameter, Image (reflection) of a circle in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circle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circle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the line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not be on the circle),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the line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not be on the circle),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$1+\beta^2-2=0$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 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the centre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unchanged: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the centre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$\frac{x-\frac12}{1}=\frac{y-\frac12}{1}=-2\cdot\frac{\frac12+\frac12+2}{2}=-3$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$\left(-\frac52,-\frac52\right)$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unchanged: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$\left(x+\frac52\right)^2+\left(y+\frac52\right)^2=\frac12$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end-points of the diameter and write the circle in diameter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end-points of the diameter and write the circle in diameter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reflect them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reflect them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$A'=(0,0)-2\cdot\frac22(1,1)=(-2,-2)$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$B'=(1,1)-2\cdot\frac42(1,1)=(-3,-3)$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the image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the image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$(x+2)(x+3)+(y+2)(y+3)=0$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circle in a line is a circle of the same radius whose centre is the image of the centre; reflect only the centre (or two ends of 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ends of a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circle in a line is a circle of the same radius whose centre is the image of the centre; reflect only the centre (or two ends of a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$\frac{x-x_1}{a}=\frac{y-y_1}{b}=-\frac{2(ax_1+by_1+c)}{a^2+b^2}$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ends of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of the circle, whose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tangent,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$B(8,-5)$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$x^2+y^2-3x+10y-15=0$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of the circle, whose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tangent,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tangents and chord of contact (pole and polar),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(chord of contact)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it with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(chord of contact)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it with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$C(h,k)$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$\frac{-5+11}{8-4}=\frac32$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$y+5=\frac32(x-8)$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$2y+10=3x-24$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$3x-2y-34=0$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$hx+ky-\frac32(x+h)+5(y+k)-15=0$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$x\left(h-\frac32\right)+y(k+5)-\frac32h+5k-15=0$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(1) and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equal to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$\frac{h-\frac32}{3}=\frac{k+5}{-2}=\frac{-\frac32h+5k-15}{-34}$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$(h,k)=\left(8,-\frac{28}{3}\right)$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equal to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$\frac{|3\cdot8+\frac{56}{3}-34|}{\sqrt{13}}=\frac{26/3}{\sqrt{13}}=\frac{2\sqrt{13}}{3}$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$\frac{2\sqrt{13}}{3}$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foot of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foot of the altitude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$AM^2=OM\cdot MC$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given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given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$O\left(\frac32,-5\right)$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$R^2=\frac94+25+15=\frac{169}{4}$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$AB=\sqrt{4^2+6^2}=2\sqrt{13}$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$OM=\sqrt{R^2-AM^2}=\sqrt{\frac{169}{4}-13}=\frac{3\sqrt{13}}{2}$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required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$CA\perp 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$AM\perp 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$AM^2=OM\cdot MC$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$MC=\frac{13}{\frac{3\sqrt{13}}{2}}=\frac{26}{3\sqrt{13}}=\frac{2\sqrt{13}}{3}$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required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$\frac{2\sqrt{13}}{3}$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(polar) of an external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find the pole of a given chord,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its chord of contact: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length squared over the distance to the centre).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(polar) of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find the pole of a given chord,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$OM\cdot OC=R^2$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$AM^2=OM\cdot MC$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its chord of contact: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$CM=\frac{CA^2}{CO}$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length squared over the distance to the centre).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tangent lines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tangent lines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$5(1+\sqrt2)$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three lines (incircle of a triangle), Angle bisector and altitude of an isosceles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lines form an isosceles triangle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and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lines form an isosceles triangle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bisector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and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$AB=\sqrt{16+9}=5$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$AC=\sqrt{9+16}=5$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(in)circle lies on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(in)circle lies on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Bisect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the bisectors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without finding any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Bisect the pair of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$3x-4y+6=0$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$4x-3y+1=0$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the bisectors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without finding any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Equal-distance condition for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have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bisector is parallel to the third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it), which would force excircles with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Equal-distance condition for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$3x-4y+6=\pm(4x-3y+1)$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bisector is parallel to the third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it), which would force excircles with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in-circle (and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-excircle)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incentre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in-circle (and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-excircle)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incentre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$I=\frac{7\sqrt2(2,3)+5(-2,0)+5(5,7)}{7\sqrt2+10}$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$h+k=\frac{35\sqrt2+50}{7\sqrt2+10}=5$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in general position have four tangent circles: the incircle and three excircles of the triangle they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median and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in general position have four tangent circles: the incircle and three excircles of the triangle they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median and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$\frac{a_1x+b_1y+c_1}{\sqrt{a_1^2+b_1^2}}=\pm\frac{a_2x+b_2y+c_2}{\sqrt{a_2^2+b_2^2}}$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on rolling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on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feet of perpendiculars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area of the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on rolling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on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feet of perpendiculars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area of the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$2\left(2+\sqrt2\right)$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$2\left(1+\sqrt2\right)$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 and rolling along it, Reflection (image) of a point in a line, Area of a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Rolling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the centre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Rolling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the centre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$B=A+2r\hat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$r=\sqrt{4+9-11}=\sqrt2$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$T:\ 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Rolling upwards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the centre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(PDF: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Rolling upwards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the centre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$4\cdot\frac{1}{\sqrt2}(1,1)$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$A=\left(2+2\sqrt2,\,3+2\sqrt2\right)$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$B=A+2\sqrt2\cdot\frac{(1,-1)}{\sqrt2}=A+(2,-2)$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$B=\left(4+2\sqrt2,\,1+2\sqrt2\right)$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(PDF: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$\frac{x-(2+2\sqrt2)}{1}=\frac{y-(3+2\sqrt2)}{-1}=2$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trapezium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$M=(2+2\sqrt2,0)$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$N=(4+2\sqrt2,0)$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$BN=1+2\sqrt2$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$=\frac12(AM+BN)\cdot MN=\frac12\left(4+4\sqrt2\right)\cdot2=4\left(1+\sqrt2\right)$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$4\left(1+\sqrt2\right)$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$AM\parallel BN$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$MN=x_B-x_A=2$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$\frac12(y_A+y_B)\cdot2=y_A+y_B$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opposite sides,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parallel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opposite sides,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$\vec{AB}=2\sqrt2\cdot\frac{(1,-1)}{\sqrt2}=(2,-2)$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parallel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$AM=y_A$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$BN=y_B=y_A-2$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$MN=x_B-x_A=2$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$=\frac12(y_A+y_A-2)\cdot2=2y_A-2$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$y_A=3+2\sqrt2$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$=2\left(3+2\sqrt2\right)-2=4+4\sqrt2=4(1+\sqrt2)$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$4\left(1+\sqrt2\right)$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Rolling a circle along a tangent line moves its centre parallel to the line, keeping it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line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 side, along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sides perpendicular to an axis, the height is the 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Rolling a circle along a tangent line moves its centre parallel to the line, keeping it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line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 side, along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$B=A\pm2d\,\hat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trapezium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$\frac12(p+q)h$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sides perpendicular to an axis, the height is the 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03 Circle (PDF Q41–Q60, numbered 1–20)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